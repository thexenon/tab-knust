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A2F8-FEE1-4038-942C-08D316C71EAA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1BC-3FD5-4B01-9DBA-3513477AB26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64BB-F1D3-4AF9-8075-CE6758B5117E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4E30-96CF-42EC-B385-0AE77F920A98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7A105-3846-445D-A863-4C178E95FDF6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B411-F1C1-4592-8286-CB16BB19A838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144C-BACD-4D3D-AE81-5926017FAC58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9C1CF-55A4-44E4-90A6-093D49915D8A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5718-BA44-4F88-9684-D99030D9EDCB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DBE8-A9D6-46BB-B92C-74A9E9130D49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0B0D-31E6-4290-AE9A-B523E3E2D919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4552E-5AF3-4488-B53D-E5C447653CDA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/>
  </p:transition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4e.plantphys.net/image.php?id=374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4.0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MINERAL NUTRITION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839200" cy="457200"/>
          </a:xfrm>
        </p:spPr>
        <p:txBody>
          <a:bodyPr>
            <a:noAutofit/>
          </a:bodyPr>
          <a:lstStyle/>
          <a:p>
            <a:pPr marL="63500" indent="0" algn="just">
              <a:buNone/>
            </a:pPr>
            <a:r>
              <a:rPr lang="en-US" sz="25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4.4	 Symptoms of Mineral Deficiency</a:t>
            </a:r>
            <a:r>
              <a:rPr lang="en-US" sz="25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5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500" b="1" dirty="0" smtClean="0">
                <a:latin typeface="Times New Roman" pitchFamily="18" charset="0"/>
                <a:cs typeface="Times New Roman" pitchFamily="18" charset="0"/>
              </a:rPr>
              <a:t>Macronutrients</a:t>
            </a:r>
          </a:p>
          <a:p>
            <a:pPr marL="63500" indent="0" algn="just">
              <a:buNone/>
            </a:pPr>
            <a:endParaRPr lang="en-US" sz="25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E30E-DB18-4A0E-AABE-9EED71C70EF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grpSp>
        <p:nvGrpSpPr>
          <p:cNvPr id="5" name="Group 13"/>
          <p:cNvGrpSpPr/>
          <p:nvPr/>
        </p:nvGrpSpPr>
        <p:grpSpPr>
          <a:xfrm>
            <a:off x="152400" y="914400"/>
            <a:ext cx="4343400" cy="5486400"/>
            <a:chOff x="152400" y="914400"/>
            <a:chExt cx="4343400" cy="5486400"/>
          </a:xfrm>
        </p:grpSpPr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152400" y="914400"/>
              <a:ext cx="43434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200" b="1" dirty="0" smtClean="0">
                  <a:latin typeface="Times New Roman" pitchFamily="18" charset="0"/>
                  <a:cs typeface="Times New Roman" pitchFamily="18" charset="0"/>
                </a:rPr>
                <a:t>Calcium (Ca) 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200" dirty="0" smtClean="0">
                  <a:latin typeface="Times New Roman" pitchFamily="18" charset="0"/>
                  <a:cs typeface="Times New Roman" pitchFamily="18" charset="0"/>
                </a:rPr>
                <a:t>New leaves are distorted or hook shaped. 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200" dirty="0" smtClean="0">
                  <a:latin typeface="Times New Roman" pitchFamily="18" charset="0"/>
                  <a:cs typeface="Times New Roman" pitchFamily="18" charset="0"/>
                </a:rPr>
                <a:t>The growing tip may die.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200" dirty="0" smtClean="0">
                  <a:latin typeface="Times New Roman" pitchFamily="18" charset="0"/>
                  <a:cs typeface="Times New Roman" pitchFamily="18" charset="0"/>
                </a:rPr>
                <a:t>Contributes to blossom end rot in tomatoes, tip burn of cabbage. </a:t>
              </a:r>
            </a:p>
            <a:p>
              <a:pPr algn="just"/>
              <a:endParaRPr lang="en-GB" sz="1200" b="1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2050" name="Picture 2" descr="Web Figure 5.2.I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" y="3352800"/>
              <a:ext cx="3886200" cy="2971800"/>
            </a:xfrm>
            <a:prstGeom prst="rect">
              <a:avLst/>
            </a:prstGeom>
            <a:noFill/>
          </p:spPr>
        </p:pic>
      </p:grpSp>
      <p:grpSp>
        <p:nvGrpSpPr>
          <p:cNvPr id="6" name="Group 14"/>
          <p:cNvGrpSpPr/>
          <p:nvPr/>
        </p:nvGrpSpPr>
        <p:grpSpPr>
          <a:xfrm>
            <a:off x="4572000" y="914400"/>
            <a:ext cx="4495800" cy="5486400"/>
            <a:chOff x="4572000" y="914400"/>
            <a:chExt cx="4495800" cy="5486400"/>
          </a:xfrm>
        </p:grpSpPr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572000" y="914400"/>
              <a:ext cx="44958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Nitrogen (N) 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200" dirty="0" smtClean="0">
                  <a:latin typeface="Times New Roman" pitchFamily="18" charset="0"/>
                  <a:cs typeface="Times New Roman" pitchFamily="18" charset="0"/>
                </a:rPr>
                <a:t>Older leaves, generally at the bottom of the plant, will yellow. 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200" dirty="0" smtClean="0">
                  <a:latin typeface="Times New Roman" pitchFamily="18" charset="0"/>
                  <a:cs typeface="Times New Roman" pitchFamily="18" charset="0"/>
                </a:rPr>
                <a:t>Remaining foliage is often light green. 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200" dirty="0" smtClean="0">
                  <a:latin typeface="Times New Roman" pitchFamily="18" charset="0"/>
                  <a:cs typeface="Times New Roman" pitchFamily="18" charset="0"/>
                </a:rPr>
                <a:t>Stems may also yellow and may become spindly. Stunted growth. </a:t>
              </a:r>
            </a:p>
            <a:p>
              <a:pPr marL="0" lvl="1"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3" name="Picture 2" descr="Web Figure 5.1.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29200" y="3429000"/>
              <a:ext cx="3657600" cy="28956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4.0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MINERAL NUTRITION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839200" cy="457200"/>
          </a:xfrm>
        </p:spPr>
        <p:txBody>
          <a:bodyPr>
            <a:noAutofit/>
          </a:bodyPr>
          <a:lstStyle/>
          <a:p>
            <a:pPr marL="63500" indent="0" algn="just">
              <a:buNone/>
            </a:pPr>
            <a:r>
              <a:rPr lang="en-US" sz="25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4.4	 Symptoms of Mineral Deficiency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GB" sz="2500" b="1" dirty="0" smtClean="0">
                <a:latin typeface="Times New Roman" pitchFamily="18" charset="0"/>
                <a:cs typeface="Times New Roman" pitchFamily="18" charset="0"/>
              </a:rPr>
              <a:t>Macronutrients</a:t>
            </a:r>
          </a:p>
          <a:p>
            <a:pPr marL="63500" indent="0" algn="just">
              <a:buNone/>
            </a:pPr>
            <a:endParaRPr lang="en-US" sz="25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E30E-DB18-4A0E-AABE-9EED71C70EF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grpSp>
        <p:nvGrpSpPr>
          <p:cNvPr id="5" name="Group 13"/>
          <p:cNvGrpSpPr/>
          <p:nvPr/>
        </p:nvGrpSpPr>
        <p:grpSpPr>
          <a:xfrm>
            <a:off x="152400" y="914400"/>
            <a:ext cx="4419600" cy="5486400"/>
            <a:chOff x="152400" y="914400"/>
            <a:chExt cx="4419600" cy="5486400"/>
          </a:xfrm>
        </p:grpSpPr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152400" y="914400"/>
              <a:ext cx="44196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Magnesium (Mg) 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Slow growth and leaves turn pale yellow, sometimes just on the outer edges. </a:t>
              </a:r>
            </a:p>
            <a:p>
              <a:pPr marL="268288" lvl="1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Mottled chlorosis with veins green and leaf tissues yellow or white. Necrotic spots may develop.</a:t>
              </a:r>
            </a:p>
            <a:p>
              <a:pPr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3" name="Picture 2" descr="Web Figure 5.1.A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9600" y="3276600"/>
              <a:ext cx="3595607" cy="3047999"/>
            </a:xfrm>
            <a:prstGeom prst="rect">
              <a:avLst/>
            </a:prstGeom>
            <a:noFill/>
          </p:spPr>
        </p:pic>
      </p:grpSp>
      <p:grpSp>
        <p:nvGrpSpPr>
          <p:cNvPr id="6" name="Group 14"/>
          <p:cNvGrpSpPr/>
          <p:nvPr/>
        </p:nvGrpSpPr>
        <p:grpSpPr>
          <a:xfrm>
            <a:off x="4648200" y="914400"/>
            <a:ext cx="4419600" cy="5486400"/>
            <a:chOff x="4648200" y="914400"/>
            <a:chExt cx="4419600" cy="5486400"/>
          </a:xfrm>
        </p:grpSpPr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4648200" y="914400"/>
              <a:ext cx="44196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Phosphorus (P)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300" dirty="0" smtClean="0">
                  <a:latin typeface="Times New Roman" pitchFamily="18" charset="0"/>
                  <a:cs typeface="Times New Roman" pitchFamily="18" charset="0"/>
                </a:rPr>
                <a:t>Small leaves that may take on a reddish-purple tint.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300" dirty="0" smtClean="0">
                  <a:latin typeface="Times New Roman" pitchFamily="18" charset="0"/>
                  <a:cs typeface="Times New Roman" pitchFamily="18" charset="0"/>
                </a:rPr>
                <a:t>Leaf tips can look burnt and older leaves become almost black.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300" dirty="0" smtClean="0">
                  <a:latin typeface="Times New Roman" pitchFamily="18" charset="0"/>
                  <a:cs typeface="Times New Roman" pitchFamily="18" charset="0"/>
                </a:rPr>
                <a:t>Reduced fruit or seed production. </a:t>
              </a:r>
            </a:p>
            <a:p>
              <a:pPr marL="0" lvl="1"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4628" name="Picture 4" descr="Web Figure 5.1.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105400" y="3200400"/>
              <a:ext cx="3581400" cy="31242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4.0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MINERAL NUTRITION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839200" cy="457200"/>
          </a:xfrm>
        </p:spPr>
        <p:txBody>
          <a:bodyPr>
            <a:noAutofit/>
          </a:bodyPr>
          <a:lstStyle/>
          <a:p>
            <a:pPr marL="63500" indent="0" algn="just">
              <a:buNone/>
            </a:pPr>
            <a:r>
              <a:rPr lang="en-US" sz="25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4.4	 Symptoms of Mineral Deficiency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GB" sz="2500" b="1" dirty="0" smtClean="0">
                <a:latin typeface="Times New Roman" pitchFamily="18" charset="0"/>
                <a:cs typeface="Times New Roman" pitchFamily="18" charset="0"/>
              </a:rPr>
              <a:t>Macronutrients</a:t>
            </a:r>
          </a:p>
          <a:p>
            <a:pPr marL="63500" indent="0" algn="just">
              <a:buNone/>
            </a:pPr>
            <a:endParaRPr lang="en-US" sz="25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E30E-DB18-4A0E-AABE-9EED71C70EF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grpSp>
        <p:nvGrpSpPr>
          <p:cNvPr id="5" name="Group 13"/>
          <p:cNvGrpSpPr/>
          <p:nvPr/>
        </p:nvGrpSpPr>
        <p:grpSpPr>
          <a:xfrm>
            <a:off x="152400" y="914400"/>
            <a:ext cx="4419600" cy="5486400"/>
            <a:chOff x="152400" y="914400"/>
            <a:chExt cx="4419600" cy="5486400"/>
          </a:xfrm>
        </p:grpSpPr>
        <p:sp>
          <p:nvSpPr>
            <p:cNvPr id="13" name="Content Placeholder 2"/>
            <p:cNvSpPr txBox="1">
              <a:spLocks/>
            </p:cNvSpPr>
            <p:nvPr/>
          </p:nvSpPr>
          <p:spPr>
            <a:xfrm>
              <a:off x="152400" y="914400"/>
              <a:ext cx="44196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Potassium (K)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Older leaves may look scorched around the edges and/or wilted.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Interveinal chlorosis (yellowing between the leaf veins) develops.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Stunted growth, little/no flowering. </a:t>
              </a:r>
            </a:p>
            <a:p>
              <a:pPr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3604" name="Picture 4" descr="Web Figure 5.1.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1000" y="3048000"/>
              <a:ext cx="3962400" cy="3267075"/>
            </a:xfrm>
            <a:prstGeom prst="rect">
              <a:avLst/>
            </a:prstGeom>
            <a:noFill/>
          </p:spPr>
        </p:pic>
      </p:grpSp>
      <p:grpSp>
        <p:nvGrpSpPr>
          <p:cNvPr id="6" name="Group 14"/>
          <p:cNvGrpSpPr/>
          <p:nvPr/>
        </p:nvGrpSpPr>
        <p:grpSpPr>
          <a:xfrm>
            <a:off x="4648200" y="914400"/>
            <a:ext cx="4419600" cy="5486400"/>
            <a:chOff x="4648200" y="914400"/>
            <a:chExt cx="4419600" cy="5486400"/>
          </a:xfrm>
        </p:grpSpPr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648200" y="914400"/>
              <a:ext cx="44196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Sulphur (S)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New growth turns pale yellow, with red or purple pigmentation, older growth stays green.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Stunted growth, marked decrease in leaf size. Fruit formation suppressed.  </a:t>
              </a:r>
            </a:p>
            <a:p>
              <a:pPr marL="0" lvl="1"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3606" name="Picture 6" descr="Web Figure 5.1.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76800" y="3048000"/>
              <a:ext cx="3962400" cy="32766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4.0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MINERAL NUTRITION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839200" cy="457200"/>
          </a:xfrm>
        </p:spPr>
        <p:txBody>
          <a:bodyPr>
            <a:noAutofit/>
          </a:bodyPr>
          <a:lstStyle/>
          <a:p>
            <a:pPr marL="63500" indent="0" algn="just">
              <a:buNone/>
            </a:pPr>
            <a:r>
              <a:rPr lang="en-US" sz="25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4.4	 Symptoms of Mineral Deficiency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GB" sz="25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Micronutrients</a:t>
            </a:r>
          </a:p>
          <a:p>
            <a:pPr marL="63500" indent="0" algn="just">
              <a:buNone/>
            </a:pPr>
            <a:endParaRPr lang="en-US" sz="25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E30E-DB18-4A0E-AABE-9EED71C70EF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grpSp>
        <p:nvGrpSpPr>
          <p:cNvPr id="5" name="Group 13"/>
          <p:cNvGrpSpPr/>
          <p:nvPr/>
        </p:nvGrpSpPr>
        <p:grpSpPr>
          <a:xfrm>
            <a:off x="152400" y="914400"/>
            <a:ext cx="4419600" cy="5486400"/>
            <a:chOff x="152400" y="914400"/>
            <a:chExt cx="4194875" cy="5486400"/>
          </a:xfrm>
        </p:grpSpPr>
        <p:sp>
          <p:nvSpPr>
            <p:cNvPr id="13" name="Content Placeholder 2"/>
            <p:cNvSpPr txBox="1">
              <a:spLocks/>
            </p:cNvSpPr>
            <p:nvPr/>
          </p:nvSpPr>
          <p:spPr>
            <a:xfrm>
              <a:off x="152400" y="914400"/>
              <a:ext cx="4194875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Boron (B)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Dwarf plant, poor stem and root growth.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Leaves become twisted and necrotic.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Stalk finally die from terminal bud end.</a:t>
              </a:r>
            </a:p>
            <a:p>
              <a:pPr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5650" name="Picture 2" descr="Web Figure 5.1.H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8600" y="3000374"/>
              <a:ext cx="3886200" cy="3324226"/>
            </a:xfrm>
            <a:prstGeom prst="rect">
              <a:avLst/>
            </a:prstGeom>
            <a:noFill/>
          </p:spPr>
        </p:pic>
      </p:grpSp>
      <p:grpSp>
        <p:nvGrpSpPr>
          <p:cNvPr id="6" name="Group 14"/>
          <p:cNvGrpSpPr/>
          <p:nvPr/>
        </p:nvGrpSpPr>
        <p:grpSpPr>
          <a:xfrm>
            <a:off x="4648200" y="914400"/>
            <a:ext cx="4419600" cy="5486400"/>
            <a:chOff x="4576915" y="914400"/>
            <a:chExt cx="4490883" cy="5486400"/>
          </a:xfrm>
        </p:grpSpPr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576915" y="914400"/>
              <a:ext cx="4490883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Copper (Cu)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Stunted growth, leaves can become limp, curl, or drop (permanently wilted) without spotting.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Seed stalks also become limp and bend over (unable to stand erect). </a:t>
              </a:r>
            </a:p>
            <a:p>
              <a:pPr marL="0" lvl="1"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5652" name="Picture 4" descr="Web Figure 5.1.K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36241" y="3048000"/>
              <a:ext cx="4076699" cy="3276601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4.0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MINERAL NUTRITION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839200" cy="457200"/>
          </a:xfrm>
        </p:spPr>
        <p:txBody>
          <a:bodyPr>
            <a:noAutofit/>
          </a:bodyPr>
          <a:lstStyle/>
          <a:p>
            <a:pPr marL="63500" indent="0" algn="just">
              <a:buNone/>
            </a:pPr>
            <a:r>
              <a:rPr lang="en-US" sz="25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4.4	 Symptoms of Mineral Deficiency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GB" sz="25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Micronutrients</a:t>
            </a:r>
          </a:p>
          <a:p>
            <a:pPr marL="63500" indent="0" algn="just">
              <a:buNone/>
            </a:pPr>
            <a:endParaRPr lang="en-US" sz="25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E30E-DB18-4A0E-AABE-9EED71C70EF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grpSp>
        <p:nvGrpSpPr>
          <p:cNvPr id="5" name="Group 13"/>
          <p:cNvGrpSpPr/>
          <p:nvPr/>
        </p:nvGrpSpPr>
        <p:grpSpPr>
          <a:xfrm>
            <a:off x="152400" y="914400"/>
            <a:ext cx="4572000" cy="5486400"/>
            <a:chOff x="152400" y="914400"/>
            <a:chExt cx="4572000" cy="5486400"/>
          </a:xfrm>
        </p:grpSpPr>
        <p:sp>
          <p:nvSpPr>
            <p:cNvPr id="13" name="Content Placeholder 2"/>
            <p:cNvSpPr txBox="1">
              <a:spLocks/>
            </p:cNvSpPr>
            <p:nvPr/>
          </p:nvSpPr>
          <p:spPr>
            <a:xfrm>
              <a:off x="152400" y="914400"/>
              <a:ext cx="45720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Manganese (Mn)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000" dirty="0" smtClean="0">
                  <a:latin typeface="Times New Roman" pitchFamily="18" charset="0"/>
                  <a:cs typeface="Times New Roman" pitchFamily="18" charset="0"/>
                </a:rPr>
                <a:t>Chlorosis of young leaves with spots of dead tissues scattered over leaf.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000" dirty="0" smtClean="0">
                  <a:latin typeface="Times New Roman" pitchFamily="18" charset="0"/>
                  <a:cs typeface="Times New Roman" pitchFamily="18" charset="0"/>
                </a:rPr>
                <a:t>Leaves take on a gray sheen, develop dark freckled and necrotic spots along veins with increased deficiency.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000" dirty="0" smtClean="0">
                  <a:latin typeface="Times New Roman" pitchFamily="18" charset="0"/>
                  <a:cs typeface="Times New Roman" pitchFamily="18" charset="0"/>
                </a:rPr>
                <a:t>Leaves, shoots and fruit diminished in size. Failure to bloom. </a:t>
              </a:r>
            </a:p>
            <a:p>
              <a:pPr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6674" name="Picture 2" descr="Web Figure 5.1.B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3400" y="3429000"/>
              <a:ext cx="3886200" cy="2895600"/>
            </a:xfrm>
            <a:prstGeom prst="rect">
              <a:avLst/>
            </a:prstGeom>
            <a:noFill/>
          </p:spPr>
        </p:pic>
      </p:grpSp>
      <p:grpSp>
        <p:nvGrpSpPr>
          <p:cNvPr id="6" name="Group 14"/>
          <p:cNvGrpSpPr/>
          <p:nvPr/>
        </p:nvGrpSpPr>
        <p:grpSpPr>
          <a:xfrm>
            <a:off x="4800600" y="914400"/>
            <a:ext cx="4267200" cy="5486400"/>
            <a:chOff x="4800600" y="914400"/>
            <a:chExt cx="4267200" cy="5486400"/>
          </a:xfrm>
        </p:grpSpPr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800600" y="914400"/>
              <a:ext cx="42672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Molybdenum (Mo)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50" dirty="0" smtClean="0">
                  <a:latin typeface="Times New Roman" pitchFamily="18" charset="0"/>
                  <a:cs typeface="Times New Roman" pitchFamily="18" charset="0"/>
                </a:rPr>
                <a:t>Older leaves mottled yellow, remaining foliage turns light green.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50" dirty="0" smtClean="0">
                  <a:latin typeface="Times New Roman" pitchFamily="18" charset="0"/>
                  <a:cs typeface="Times New Roman" pitchFamily="18" charset="0"/>
                </a:rPr>
                <a:t>Leaves can become narrow and distorted. </a:t>
              </a:r>
            </a:p>
            <a:p>
              <a:pPr marL="0" lvl="1"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6676" name="Picture 4" descr="Web Figure 5.1.C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972050" y="2971800"/>
              <a:ext cx="4019550" cy="3352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4.0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MINERAL NUTRITION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839200" cy="457200"/>
          </a:xfrm>
        </p:spPr>
        <p:txBody>
          <a:bodyPr>
            <a:noAutofit/>
          </a:bodyPr>
          <a:lstStyle/>
          <a:p>
            <a:pPr marL="63500" indent="0" algn="just">
              <a:buNone/>
            </a:pPr>
            <a:r>
              <a:rPr lang="en-US" sz="25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4.4	 Symptoms of Mineral Deficiency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GB" sz="25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Micronutrients</a:t>
            </a:r>
          </a:p>
          <a:p>
            <a:pPr marL="63500" indent="0" algn="just">
              <a:buNone/>
            </a:pPr>
            <a:endParaRPr lang="en-US" sz="25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E30E-DB18-4A0E-AABE-9EED71C70EF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grpSp>
        <p:nvGrpSpPr>
          <p:cNvPr id="5" name="Group 13"/>
          <p:cNvGrpSpPr/>
          <p:nvPr/>
        </p:nvGrpSpPr>
        <p:grpSpPr>
          <a:xfrm>
            <a:off x="152400" y="914400"/>
            <a:ext cx="4648200" cy="5486400"/>
            <a:chOff x="152400" y="914400"/>
            <a:chExt cx="4648200" cy="5486400"/>
          </a:xfrm>
        </p:grpSpPr>
        <p:sp>
          <p:nvSpPr>
            <p:cNvPr id="13" name="Content Placeholder 2"/>
            <p:cNvSpPr txBox="1">
              <a:spLocks/>
            </p:cNvSpPr>
            <p:nvPr/>
          </p:nvSpPr>
          <p:spPr>
            <a:xfrm>
              <a:off x="152400" y="914400"/>
              <a:ext cx="46482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300" b="1" dirty="0" smtClean="0">
                  <a:latin typeface="Times New Roman" pitchFamily="18" charset="0"/>
                  <a:cs typeface="Times New Roman" pitchFamily="18" charset="0"/>
                </a:rPr>
                <a:t>Zinc (Zn)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Necrotic spots large and spreading to veins.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Leaves become leathery, margins twisted.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100" dirty="0" smtClean="0">
                  <a:latin typeface="Times New Roman" pitchFamily="18" charset="0"/>
                  <a:cs typeface="Times New Roman" pitchFamily="18" charset="0"/>
                </a:rPr>
                <a:t>Terminal (end) leaves may form a rosette. </a:t>
              </a:r>
            </a:p>
            <a:p>
              <a:pPr algn="just"/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7698" name="Picture 2" descr="1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9600" y="3276600"/>
              <a:ext cx="3733800" cy="3038476"/>
            </a:xfrm>
            <a:prstGeom prst="rect">
              <a:avLst/>
            </a:prstGeom>
            <a:noFill/>
          </p:spPr>
        </p:pic>
      </p:grpSp>
      <p:grpSp>
        <p:nvGrpSpPr>
          <p:cNvPr id="6" name="Group 14"/>
          <p:cNvGrpSpPr/>
          <p:nvPr/>
        </p:nvGrpSpPr>
        <p:grpSpPr>
          <a:xfrm>
            <a:off x="4876800" y="914400"/>
            <a:ext cx="4191000" cy="5486400"/>
            <a:chOff x="4876800" y="914400"/>
            <a:chExt cx="4191000" cy="5486400"/>
          </a:xfrm>
        </p:grpSpPr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876800" y="914400"/>
              <a:ext cx="41910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marL="540385" indent="-540385" algn="just">
                <a:lnSpc>
                  <a:spcPct val="115000"/>
                </a:lnSpc>
                <a:spcAft>
                  <a:spcPts val="0"/>
                </a:spcAft>
              </a:pPr>
              <a:r>
                <a:rPr lang="en-GB" sz="2300" b="1" dirty="0" smtClean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Iron (Fe) </a:t>
              </a:r>
            </a:p>
            <a:p>
              <a:pPr marL="268288" indent="-268288" algn="just">
                <a:spcAft>
                  <a:spcPts val="0"/>
                </a:spcAft>
                <a:buBlip>
                  <a:blip r:embed="rId2"/>
                </a:buBlip>
              </a:pPr>
              <a:r>
                <a:rPr lang="en-GB" sz="2200" dirty="0" smtClean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Leaves show strong chlorosis at the base with some green netting.</a:t>
              </a:r>
            </a:p>
            <a:p>
              <a:pPr marL="268288" indent="-268288" algn="just">
                <a:spcAft>
                  <a:spcPts val="0"/>
                </a:spcAft>
                <a:buBlip>
                  <a:blip r:embed="rId2"/>
                </a:buBlip>
              </a:pPr>
              <a:r>
                <a:rPr lang="en-GB" sz="2200" dirty="0" smtClean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Interveinal chlorosis of the youngest leaves, bleached leaf.</a:t>
              </a:r>
              <a:endParaRPr lang="en-GB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7700" name="Picture 4" descr="Figure 5.1.L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81600" y="3124200"/>
              <a:ext cx="3657600" cy="319087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4.0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MINERAL NUTRITION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839200" cy="457200"/>
          </a:xfrm>
        </p:spPr>
        <p:txBody>
          <a:bodyPr>
            <a:noAutofit/>
          </a:bodyPr>
          <a:lstStyle/>
          <a:p>
            <a:pPr marL="63500" indent="0" algn="just">
              <a:buNone/>
            </a:pPr>
            <a:r>
              <a:rPr lang="en-US" sz="25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4.4	 Symptoms of Mineral Deficiency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GB" sz="25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Micronutrients</a:t>
            </a:r>
          </a:p>
          <a:p>
            <a:pPr marL="63500" indent="0" algn="just">
              <a:buNone/>
            </a:pPr>
            <a:endParaRPr lang="en-US" sz="25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3E30E-DB18-4A0E-AABE-9EED71C70EFC}" type="datetime2">
              <a:rPr lang="en-GB" smtClean="0"/>
              <a:pPr/>
              <a:t>Wednesday, 28 March 2012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grpSp>
        <p:nvGrpSpPr>
          <p:cNvPr id="5" name="Group 10"/>
          <p:cNvGrpSpPr/>
          <p:nvPr/>
        </p:nvGrpSpPr>
        <p:grpSpPr>
          <a:xfrm>
            <a:off x="152400" y="914400"/>
            <a:ext cx="4419600" cy="5486400"/>
            <a:chOff x="152400" y="914400"/>
            <a:chExt cx="4419600" cy="5486400"/>
          </a:xfrm>
        </p:grpSpPr>
        <p:sp>
          <p:nvSpPr>
            <p:cNvPr id="13" name="Content Placeholder 2"/>
            <p:cNvSpPr txBox="1">
              <a:spLocks/>
            </p:cNvSpPr>
            <p:nvPr/>
          </p:nvSpPr>
          <p:spPr>
            <a:xfrm>
              <a:off x="152400" y="914400"/>
              <a:ext cx="44196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C00000"/>
              </a:solidFill>
            </a:ln>
          </p:spPr>
          <p:txBody>
            <a:bodyPr vert="horz" lIns="91440" tIns="45720" rIns="91440" bIns="45720" rtlCol="0">
              <a:noAutofit/>
            </a:bodyPr>
            <a:lstStyle/>
            <a:p>
              <a:pPr algn="just"/>
              <a:r>
                <a:rPr lang="en-GB" sz="2400" b="1" dirty="0" smtClean="0">
                  <a:solidFill>
                    <a:srgbClr val="000000"/>
                  </a:solidFill>
                  <a:latin typeface="Times New Roman"/>
                  <a:ea typeface="Calibri"/>
                </a:rPr>
                <a:t>Chloride (Cl) </a:t>
              </a:r>
            </a:p>
            <a:p>
              <a:pPr marL="268288" indent="-268288" algn="just">
                <a:buBlip>
                  <a:blip r:embed="rId2"/>
                </a:buBlip>
              </a:pPr>
              <a:r>
                <a:rPr lang="en-GB" sz="2400" dirty="0" smtClean="0">
                  <a:solidFill>
                    <a:srgbClr val="000000"/>
                  </a:solidFill>
                  <a:latin typeface="Times New Roman"/>
                  <a:ea typeface="Calibri"/>
                </a:rPr>
                <a:t>Leaves have abnormal shapes, with distinct interveinal chlorosis and wilting of the young leaves.</a:t>
              </a:r>
            </a:p>
            <a:p>
              <a:pPr algn="just"/>
              <a:r>
                <a:rPr lang="en-GB" sz="2400" dirty="0" smtClean="0">
                  <a:solidFill>
                    <a:srgbClr val="000000"/>
                  </a:solidFill>
                  <a:latin typeface="Times New Roman"/>
                  <a:ea typeface="Calibri"/>
                </a:rPr>
                <a:t> </a:t>
              </a:r>
              <a:r>
                <a:rPr lang="en-GB" sz="2400" dirty="0" smtClean="0">
                  <a:latin typeface="Times New Roman" pitchFamily="18" charset="0"/>
                  <a:cs typeface="Times New Roman" pitchFamily="18" charset="0"/>
                </a:rPr>
                <a:t/>
              </a:r>
              <a:br>
                <a:rPr lang="en-GB" sz="2400" dirty="0" smtClean="0">
                  <a:latin typeface="Times New Roman" pitchFamily="18" charset="0"/>
                  <a:cs typeface="Times New Roman" pitchFamily="18" charset="0"/>
                </a:rPr>
              </a:br>
              <a:endParaRPr lang="en-GB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58722" name="Picture 2" descr="Web Figure 5.1.J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" y="3048001"/>
              <a:ext cx="3886200" cy="32766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448</Words>
  <Application>Microsoft Office PowerPoint</Application>
  <PresentationFormat>On-screen Show (4:3)</PresentationFormat>
  <Paragraphs>93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1_Office Theme</vt:lpstr>
      <vt:lpstr>4.0 MINERAL NUTRITION</vt:lpstr>
      <vt:lpstr>4.0 MINERAL NUTRITION</vt:lpstr>
      <vt:lpstr>4.0 MINERAL NUTRITION</vt:lpstr>
      <vt:lpstr>4.0 MINERAL NUTRITION</vt:lpstr>
      <vt:lpstr>4.0 MINERAL NUTRITION</vt:lpstr>
      <vt:lpstr>4.0 MINERAL NUTRITION</vt:lpstr>
      <vt:lpstr>4.0 MINERAL NUTRITION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 Photosynthesis contd.</dc:title>
  <dc:creator>EJDBelford</dc:creator>
  <cp:lastModifiedBy>EJDBelford</cp:lastModifiedBy>
  <cp:revision>16</cp:revision>
  <dcterms:created xsi:type="dcterms:W3CDTF">2011-02-10T10:58:41Z</dcterms:created>
  <dcterms:modified xsi:type="dcterms:W3CDTF">2012-03-28T10:00:01Z</dcterms:modified>
</cp:coreProperties>
</file>