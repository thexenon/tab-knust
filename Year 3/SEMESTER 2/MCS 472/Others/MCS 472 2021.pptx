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Default ContentType="image/x-emf" Extension="emf"/>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Lst>
  <p:sldSz cy="6858000" cx="9144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4" Type="http://schemas.openxmlformats.org/officeDocument/2006/relationships/slide" Target="slides/slide209.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2BFFAB-ADCA-4048-9EFB-234DBFBFA829}" type="datetimeFigureOut">
              <a:rPr lang="en-US" smtClean="0"/>
              <a:t>7/16/2021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DE25BE-5CD0-4C78-90AC-8E5D792FAF0F}" type="slidenum">
              <a:rPr lang="en-US" smtClean="0"/>
              <a:t>‹#›</a:t>
            </a:fld>
            <a:endParaRPr lang="en-US"/>
          </a:p>
        </p:txBody>
      </p:sp>
    </p:spTree>
    <p:extLst>
      <p:ext uri="{BB962C8B-B14F-4D97-AF65-F5344CB8AC3E}">
        <p14:creationId xmlns:p14="http://schemas.microsoft.com/office/powerpoint/2010/main" val="4006228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E25BE-5CD0-4C78-90AC-8E5D792FAF0F}" type="slidenum">
              <a:rPr lang="en-US" smtClean="0"/>
              <a:t>63</a:t>
            </a:fld>
            <a:endParaRPr lang="en-US"/>
          </a:p>
        </p:txBody>
      </p:sp>
    </p:spTree>
    <p:extLst>
      <p:ext uri="{BB962C8B-B14F-4D97-AF65-F5344CB8AC3E}">
        <p14:creationId xmlns:p14="http://schemas.microsoft.com/office/powerpoint/2010/main" val="2660164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E25BE-5CD0-4C78-90AC-8E5D792FAF0F}" type="slidenum">
              <a:rPr lang="en-US" smtClean="0"/>
              <a:t>99</a:t>
            </a:fld>
            <a:endParaRPr lang="en-US"/>
          </a:p>
        </p:txBody>
      </p:sp>
    </p:spTree>
    <p:extLst>
      <p:ext uri="{BB962C8B-B14F-4D97-AF65-F5344CB8AC3E}">
        <p14:creationId xmlns:p14="http://schemas.microsoft.com/office/powerpoint/2010/main" val="10985850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6F83BA5E-CACD-4529-874B-8E4745E6EFD4}" type="datetime1">
              <a:rPr lang="en-US" smtClean="0"/>
              <a:t>7/16/2021</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r>
              <a:rPr lang="da-DK"/>
              <a:t>Longenecker et. al. (2008).  A. Sardiya (2019)</a:t>
            </a:r>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6B15712-EEA9-46AC-8040-9050E294BF93}"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373889-4E3A-4FA9-A4F5-A3E52D52307C}" type="datetime1">
              <a:rPr lang="en-US" smtClean="0"/>
              <a:t>7/16/2021</a:t>
            </a:fld>
            <a:endParaRPr lang="en-US"/>
          </a:p>
        </p:txBody>
      </p:sp>
      <p:sp>
        <p:nvSpPr>
          <p:cNvPr id="5" name="Footer Placeholder 4"/>
          <p:cNvSpPr>
            <a:spLocks noGrp="1"/>
          </p:cNvSpPr>
          <p:nvPr>
            <p:ph type="ftr" sz="quarter" idx="11"/>
          </p:nvPr>
        </p:nvSpPr>
        <p:spPr/>
        <p:txBody>
          <a:bodyPr/>
          <a:lstStyle/>
          <a:p>
            <a:r>
              <a:rPr lang="da-DK"/>
              <a:t>Longenecker et. al. (2008).  A. Sardiya (2019)</a:t>
            </a:r>
            <a:endParaRPr lang="en-US"/>
          </a:p>
        </p:txBody>
      </p:sp>
      <p:sp>
        <p:nvSpPr>
          <p:cNvPr id="6" name="Slide Number Placeholder 5"/>
          <p:cNvSpPr>
            <a:spLocks noGrp="1"/>
          </p:cNvSpPr>
          <p:nvPr>
            <p:ph type="sldNum" sz="quarter" idx="12"/>
          </p:nvPr>
        </p:nvSpPr>
        <p:spPr/>
        <p:txBody>
          <a:bodyPr/>
          <a:lstStyle/>
          <a:p>
            <a:fld id="{E6B15712-EEA9-46AC-8040-9050E294BF93}" type="slidenum">
              <a:rPr lang="en-US" smtClean="0"/>
              <a:t>‹#›</a:t>
            </a:fld>
            <a:endParaRPr lang="en-US"/>
          </a:p>
        </p:txBody>
      </p:sp>
      <p:sp>
        <p:nvSpPr>
          <p:cNvPr id="11" name="Title 10"/>
          <p:cNvSpPr>
            <a:spLocks noGrp="1"/>
          </p:cNvSpPr>
          <p:nvPr>
            <p:ph type="title"/>
          </p:nvPr>
        </p:nvSpPr>
        <p:spPr/>
        <p:txBody>
          <a:bodyPr/>
          <a:lstStyle/>
          <a:p>
            <a:r>
              <a:rPr lang="en-US"/>
              <a:t>Click to edit Master title style</a:t>
            </a:r>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211B2-1252-4D2F-BA2E-4AF19465C05F}" type="datetime1">
              <a:rPr lang="en-US" smtClean="0"/>
              <a:t>7/16/2021</a:t>
            </a:fld>
            <a:endParaRPr lang="en-US"/>
          </a:p>
        </p:txBody>
      </p:sp>
      <p:sp>
        <p:nvSpPr>
          <p:cNvPr id="5" name="Footer Placeholder 4"/>
          <p:cNvSpPr>
            <a:spLocks noGrp="1"/>
          </p:cNvSpPr>
          <p:nvPr>
            <p:ph type="ftr" sz="quarter" idx="11"/>
          </p:nvPr>
        </p:nvSpPr>
        <p:spPr/>
        <p:txBody>
          <a:bodyPr/>
          <a:lstStyle/>
          <a:p>
            <a:r>
              <a:rPr lang="da-DK"/>
              <a:t>Longenecker et. al. (2008).  A. Sardiya (2019)</a:t>
            </a:r>
            <a:endParaRPr lang="en-US"/>
          </a:p>
        </p:txBody>
      </p:sp>
      <p:sp>
        <p:nvSpPr>
          <p:cNvPr id="6" name="Slide Number Placeholder 5"/>
          <p:cNvSpPr>
            <a:spLocks noGrp="1"/>
          </p:cNvSpPr>
          <p:nvPr>
            <p:ph type="sldNum" sz="quarter" idx="12"/>
          </p:nvPr>
        </p:nvSpPr>
        <p:spPr/>
        <p:txBody>
          <a:bodyPr/>
          <a:lstStyle/>
          <a:p>
            <a:fld id="{E6B15712-EEA9-46AC-8040-9050E294BF93}"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9954D64-79F3-4C62-BD03-66B955379655}" type="datetime1">
              <a:rPr lang="en-US" smtClean="0"/>
              <a:t>7/16/2021</a:t>
            </a:fld>
            <a:endParaRPr lang="en-US"/>
          </a:p>
        </p:txBody>
      </p:sp>
      <p:sp>
        <p:nvSpPr>
          <p:cNvPr id="6" name="Footer Placeholder 5"/>
          <p:cNvSpPr>
            <a:spLocks noGrp="1"/>
          </p:cNvSpPr>
          <p:nvPr>
            <p:ph type="ftr" sz="quarter" idx="11"/>
          </p:nvPr>
        </p:nvSpPr>
        <p:spPr/>
        <p:txBody>
          <a:bodyPr/>
          <a:lstStyle/>
          <a:p>
            <a:r>
              <a:rPr lang="da-DK"/>
              <a:t>Longenecker et. al. (2008).  A. Sardiya (2019)</a:t>
            </a:r>
            <a:endParaRPr lang="en-US"/>
          </a:p>
        </p:txBody>
      </p:sp>
      <p:sp>
        <p:nvSpPr>
          <p:cNvPr id="7" name="Slide Number Placeholder 6"/>
          <p:cNvSpPr>
            <a:spLocks noGrp="1"/>
          </p:cNvSpPr>
          <p:nvPr>
            <p:ph type="sldNum" sz="quarter" idx="12"/>
          </p:nvPr>
        </p:nvSpPr>
        <p:spPr/>
        <p:txBody>
          <a:bodyPr/>
          <a:lstStyle/>
          <a:p>
            <a:fld id="{E6B15712-EEA9-46AC-8040-9050E294BF93}"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4645151"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21ACA2-7C64-4960-B960-FEE4D072F3B9}" type="datetime1">
              <a:rPr lang="en-US" smtClean="0"/>
              <a:t>7/16/2021</a:t>
            </a:fld>
            <a:endParaRPr lang="en-US"/>
          </a:p>
        </p:txBody>
      </p:sp>
      <p:sp>
        <p:nvSpPr>
          <p:cNvPr id="8" name="Footer Placeholder 7"/>
          <p:cNvSpPr>
            <a:spLocks noGrp="1"/>
          </p:cNvSpPr>
          <p:nvPr>
            <p:ph type="ftr" sz="quarter" idx="11"/>
          </p:nvPr>
        </p:nvSpPr>
        <p:spPr/>
        <p:txBody>
          <a:bodyPr/>
          <a:lstStyle/>
          <a:p>
            <a:r>
              <a:rPr lang="da-DK"/>
              <a:t>Longenecker et. al. (2008).  A. Sardiya (2019)</a:t>
            </a:r>
            <a:endParaRPr lang="en-US"/>
          </a:p>
        </p:txBody>
      </p:sp>
      <p:sp>
        <p:nvSpPr>
          <p:cNvPr id="9" name="Slide Number Placeholder 8"/>
          <p:cNvSpPr>
            <a:spLocks noGrp="1"/>
          </p:cNvSpPr>
          <p:nvPr>
            <p:ph type="sldNum" sz="quarter" idx="12"/>
          </p:nvPr>
        </p:nvSpPr>
        <p:spPr/>
        <p:txBody>
          <a:bodyPr/>
          <a:lstStyle/>
          <a:p>
            <a:fld id="{E6B15712-EEA9-46AC-8040-9050E294BF93}"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E3B708-676C-4AD5-ADF4-71A7141A7049}" type="datetime1">
              <a:rPr lang="en-US" smtClean="0"/>
              <a:t>7/16/2021</a:t>
            </a:fld>
            <a:endParaRPr lang="en-US"/>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5" name="Slide Number Placeholder 4"/>
          <p:cNvSpPr>
            <a:spLocks noGrp="1"/>
          </p:cNvSpPr>
          <p:nvPr>
            <p:ph type="sldNum" sz="quarter" idx="12"/>
          </p:nvPr>
        </p:nvSpPr>
        <p:spPr/>
        <p:txBody>
          <a:bodyPr/>
          <a:lstStyle/>
          <a:p>
            <a:fld id="{E6B15712-EEA9-46AC-8040-9050E294BF93}"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1A4F65-12E5-4139-8F84-4E2D0EA8A608}" type="datetime1">
              <a:rPr lang="en-US" smtClean="0"/>
              <a:t>7/16/2021</a:t>
            </a:fld>
            <a:endParaRPr lang="en-US"/>
          </a:p>
        </p:txBody>
      </p:sp>
      <p:sp>
        <p:nvSpPr>
          <p:cNvPr id="3" name="Footer Placeholder 2"/>
          <p:cNvSpPr>
            <a:spLocks noGrp="1"/>
          </p:cNvSpPr>
          <p:nvPr>
            <p:ph type="ftr" sz="quarter" idx="11"/>
          </p:nvPr>
        </p:nvSpPr>
        <p:spPr/>
        <p:txBody>
          <a:bodyPr/>
          <a:lstStyle/>
          <a:p>
            <a:r>
              <a:rPr lang="da-DK"/>
              <a:t>Longenecker et. al. (2008).  A. Sardiya (2019)</a:t>
            </a:r>
            <a:endParaRPr lang="en-US"/>
          </a:p>
        </p:txBody>
      </p:sp>
      <p:sp>
        <p:nvSpPr>
          <p:cNvPr id="4" name="Slide Number Placeholder 3"/>
          <p:cNvSpPr>
            <a:spLocks noGrp="1"/>
          </p:cNvSpPr>
          <p:nvPr>
            <p:ph type="sldNum" sz="quarter" idx="12"/>
          </p:nvPr>
        </p:nvSpPr>
        <p:spPr/>
        <p:txBody>
          <a:bodyPr/>
          <a:lstStyle/>
          <a:p>
            <a:fld id="{E6B15712-EEA9-46AC-8040-9050E294BF9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a:t>Click to edit Master title style</a:t>
            </a:r>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92862C-3538-45CA-8611-CEBB6B98A691}" type="datetime1">
              <a:rPr lang="en-US" smtClean="0"/>
              <a:t>7/16/2021</a:t>
            </a:fld>
            <a:endParaRPr lang="en-US"/>
          </a:p>
        </p:txBody>
      </p:sp>
      <p:sp>
        <p:nvSpPr>
          <p:cNvPr id="6" name="Footer Placeholder 5"/>
          <p:cNvSpPr>
            <a:spLocks noGrp="1"/>
          </p:cNvSpPr>
          <p:nvPr>
            <p:ph type="ftr" sz="quarter" idx="11"/>
          </p:nvPr>
        </p:nvSpPr>
        <p:spPr/>
        <p:txBody>
          <a:bodyPr/>
          <a:lstStyle/>
          <a:p>
            <a:r>
              <a:rPr lang="da-DK"/>
              <a:t>Longenecker et. al. (2008).  A. Sardiya (2019)</a:t>
            </a:r>
            <a:endParaRPr lang="en-US"/>
          </a:p>
        </p:txBody>
      </p:sp>
      <p:sp>
        <p:nvSpPr>
          <p:cNvPr id="7" name="Slide Number Placeholder 6"/>
          <p:cNvSpPr>
            <a:spLocks noGrp="1"/>
          </p:cNvSpPr>
          <p:nvPr>
            <p:ph type="sldNum" sz="quarter" idx="12"/>
          </p:nvPr>
        </p:nvSpPr>
        <p:spPr/>
        <p:txBody>
          <a:bodyPr/>
          <a:lstStyle/>
          <a:p>
            <a:fld id="{E6B15712-EEA9-46AC-8040-9050E294BF9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a:t>Click to edit Master title style</a:t>
            </a:r>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1D38B9-61F1-4AAC-A96A-9CB56008AEF7}" type="datetime1">
              <a:rPr lang="en-US" smtClean="0"/>
              <a:t>7/16/2021</a:t>
            </a:fld>
            <a:endParaRPr lang="en-US"/>
          </a:p>
        </p:txBody>
      </p:sp>
      <p:sp>
        <p:nvSpPr>
          <p:cNvPr id="6" name="Footer Placeholder 5"/>
          <p:cNvSpPr>
            <a:spLocks noGrp="1"/>
          </p:cNvSpPr>
          <p:nvPr>
            <p:ph type="ftr" sz="quarter" idx="11"/>
          </p:nvPr>
        </p:nvSpPr>
        <p:spPr/>
        <p:txBody>
          <a:bodyPr/>
          <a:lstStyle/>
          <a:p>
            <a:r>
              <a:rPr lang="da-DK"/>
              <a:t>Longenecker et. al. (2008).  A. Sardiya (2019)</a:t>
            </a:r>
            <a:endParaRPr lang="en-US"/>
          </a:p>
        </p:txBody>
      </p:sp>
      <p:sp>
        <p:nvSpPr>
          <p:cNvPr id="7" name="Slide Number Placeholder 6"/>
          <p:cNvSpPr>
            <a:spLocks noGrp="1"/>
          </p:cNvSpPr>
          <p:nvPr>
            <p:ph type="sldNum" sz="quarter" idx="12"/>
          </p:nvPr>
        </p:nvSpPr>
        <p:spPr/>
        <p:txBody>
          <a:bodyPr/>
          <a:lstStyle/>
          <a:p>
            <a:fld id="{E6B15712-EEA9-46AC-8040-9050E294BF9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6E465A-519D-4374-86B7-E7F2C549E529}" type="datetime1">
              <a:rPr lang="en-US" smtClean="0"/>
              <a:t>7/16/2021</a:t>
            </a:fld>
            <a:endParaRPr lang="en-US"/>
          </a:p>
        </p:txBody>
      </p:sp>
      <p:sp>
        <p:nvSpPr>
          <p:cNvPr id="5" name="Footer Placeholder 4"/>
          <p:cNvSpPr>
            <a:spLocks noGrp="1"/>
          </p:cNvSpPr>
          <p:nvPr>
            <p:ph type="ftr" sz="quarter" idx="11"/>
          </p:nvPr>
        </p:nvSpPr>
        <p:spPr/>
        <p:txBody>
          <a:bodyPr/>
          <a:lstStyle/>
          <a:p>
            <a:r>
              <a:rPr lang="da-DK"/>
              <a:t>Longenecker et. al. (2008).  A. Sardiya (2019)</a:t>
            </a:r>
            <a:endParaRPr lang="en-US"/>
          </a:p>
        </p:txBody>
      </p:sp>
      <p:sp>
        <p:nvSpPr>
          <p:cNvPr id="6" name="Slide Number Placeholder 5"/>
          <p:cNvSpPr>
            <a:spLocks noGrp="1"/>
          </p:cNvSpPr>
          <p:nvPr>
            <p:ph type="sldNum" sz="quarter" idx="12"/>
          </p:nvPr>
        </p:nvSpPr>
        <p:spPr/>
        <p:txBody>
          <a:bodyPr/>
          <a:lstStyle/>
          <a:p>
            <a:fld id="{E6B15712-EEA9-46AC-8040-9050E294BF93}"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161BEC-567F-4FA8-A81D-20C2D62FB384}" type="datetime1">
              <a:rPr lang="en-US" smtClean="0"/>
              <a:t>7/16/2021</a:t>
            </a:fld>
            <a:endParaRPr lang="en-US"/>
          </a:p>
        </p:txBody>
      </p:sp>
      <p:sp>
        <p:nvSpPr>
          <p:cNvPr id="5" name="Footer Placeholder 4"/>
          <p:cNvSpPr>
            <a:spLocks noGrp="1"/>
          </p:cNvSpPr>
          <p:nvPr>
            <p:ph type="ftr" sz="quarter" idx="11"/>
          </p:nvPr>
        </p:nvSpPr>
        <p:spPr/>
        <p:txBody>
          <a:bodyPr/>
          <a:lstStyle/>
          <a:p>
            <a:r>
              <a:rPr lang="da-DK"/>
              <a:t>Longenecker et. al. (2008).  A. Sardiya (2019)</a:t>
            </a:r>
            <a:endParaRPr lang="en-US"/>
          </a:p>
        </p:txBody>
      </p:sp>
      <p:sp>
        <p:nvSpPr>
          <p:cNvPr id="6" name="Slide Number Placeholder 5"/>
          <p:cNvSpPr>
            <a:spLocks noGrp="1"/>
          </p:cNvSpPr>
          <p:nvPr>
            <p:ph type="sldNum" sz="quarter" idx="12"/>
          </p:nvPr>
        </p:nvSpPr>
        <p:spPr/>
        <p:txBody>
          <a:bodyPr/>
          <a:lstStyle/>
          <a:p>
            <a:fld id="{E6B15712-EEA9-46AC-8040-9050E294BF93}"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2D6791EB-0106-474A-8ED1-429F686459BD}" type="datetime1">
              <a:rPr lang="en-US" smtClean="0"/>
              <a:t>7/16/2021</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r>
              <a:rPr lang="da-DK"/>
              <a:t>Longenecker et. al. (2008).  A. Sardiya (2019)</a:t>
            </a:r>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E6B15712-EEA9-46AC-8040-9050E294BF9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dt="0"/>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mailto:alimatusardiya@yahoo.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ctrTitle"/>
          </p:nvPr>
        </p:nvSpPr>
        <p:spPr/>
        <p:txBody>
          <a:bodyPr/>
          <a:lstStyle/>
          <a:p>
            <a:r>
              <a:rPr lang="en-US" dirty="0"/>
              <a:t>Management II</a:t>
            </a:r>
          </a:p>
        </p:txBody>
      </p:sp>
      <p:sp>
        <p:nvSpPr>
          <p:cNvPr id="3" name="Subtitle 2"/>
          <p:cNvSpPr>
            <a:spLocks noGrp="1"/>
          </p:cNvSpPr>
          <p:nvPr>
            <p:ph type="subTitle" idx="1"/>
          </p:nvPr>
        </p:nvSpPr>
        <p:spPr/>
        <p:txBody>
          <a:bodyPr/>
          <a:lstStyle/>
          <a:p>
            <a:r>
              <a:rPr lang="en-US" dirty="0"/>
              <a:t>2021</a:t>
            </a:r>
          </a:p>
        </p:txBody>
      </p:sp>
    </p:spTree>
    <p:extLst>
      <p:ext uri="{BB962C8B-B14F-4D97-AF65-F5344CB8AC3E}">
        <p14:creationId xmlns:p14="http://schemas.microsoft.com/office/powerpoint/2010/main" val="194434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34400" cy="6354762"/>
          </a:xfrm>
        </p:spPr>
        <p:txBody>
          <a:bodyPr>
            <a:normAutofit fontScale="90000"/>
          </a:bodyPr>
          <a:lstStyle/>
          <a:p>
            <a:r>
              <a:rPr lang="en-US" sz="3600" dirty="0"/>
              <a:t>KWAME NKRUMAH UNIVERSITY OF SCIENCE AND TECHNOLOGY</a:t>
            </a:r>
            <a:br>
              <a:rPr lang="en-US" sz="3600" dirty="0"/>
            </a:br>
            <a:r>
              <a:rPr lang="en-US" sz="3600" dirty="0"/>
              <a:t>COLLEGE OF HUMANITIES AND SOCIAL SCIENCES</a:t>
            </a:r>
            <a:br>
              <a:rPr lang="en-US" sz="3600" dirty="0"/>
            </a:br>
            <a:r>
              <a:rPr lang="en-US" sz="3600" dirty="0"/>
              <a:t>SCHOOL OF BUSINESS</a:t>
            </a:r>
            <a:br>
              <a:rPr lang="en-US" sz="3600" dirty="0"/>
            </a:br>
            <a:r>
              <a:rPr lang="en-US" sz="3600" dirty="0"/>
              <a:t>DEPARTMENT OF HUMAN RESOURCE AND ORGANISATIONAL DEVELOPMENT</a:t>
            </a:r>
            <a:br>
              <a:rPr lang="en-US" sz="3600" dirty="0"/>
            </a:br>
            <a:r>
              <a:rPr lang="en-US" sz="4000" dirty="0">
                <a:solidFill>
                  <a:srgbClr val="00B050"/>
                </a:solidFill>
              </a:rPr>
              <a:t>Management II </a:t>
            </a:r>
            <a:br>
              <a:rPr lang="en-US" sz="4000" dirty="0">
                <a:solidFill>
                  <a:srgbClr val="00B050"/>
                </a:solidFill>
              </a:rPr>
            </a:br>
            <a:br>
              <a:rPr lang="en-US" dirty="0"/>
            </a:br>
            <a:endParaRPr lang="en-US" dirty="0"/>
          </a:p>
        </p:txBody>
      </p:sp>
      <p:sp>
        <p:nvSpPr>
          <p:cNvPr id="3" name="Footer Placeholder 2"/>
          <p:cNvSpPr>
            <a:spLocks noGrp="1"/>
          </p:cNvSpPr>
          <p:nvPr>
            <p:ph type="ftr" sz="quarter" idx="11"/>
          </p:nvPr>
        </p:nvSpPr>
        <p:spPr/>
        <p:txBody>
          <a:bodyPr/>
          <a:lstStyle/>
          <a:p>
            <a:r>
              <a:rPr lang="da-DK"/>
              <a:t>Longenecker et. al. (2008).  A. Sardiya (2019)</a:t>
            </a:r>
            <a:endParaRPr lang="en-US"/>
          </a:p>
        </p:txBody>
      </p:sp>
    </p:spTree>
    <p:extLst>
      <p:ext uri="{BB962C8B-B14F-4D97-AF65-F5344CB8AC3E}">
        <p14:creationId xmlns:p14="http://schemas.microsoft.com/office/powerpoint/2010/main" val="662580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gn="just">
              <a:buNone/>
            </a:pPr>
            <a:r>
              <a:rPr lang="en-US" sz="2000" dirty="0"/>
              <a:t>Management II is an introductory course which exposes students to practical  and compelling contexts, processes and approaches adopted in entrepreneurship and small business management. </a:t>
            </a:r>
          </a:p>
          <a:p>
            <a:pPr marL="0" indent="0" algn="just">
              <a:buNone/>
            </a:pPr>
            <a:r>
              <a:rPr lang="en-US" sz="2000" dirty="0"/>
              <a:t>This course has been designed following the calls to link academia with industry and the need to harness job-creation cum self-employment thinking among graduates. </a:t>
            </a:r>
          </a:p>
          <a:p>
            <a:pPr marL="0" indent="0" algn="just">
              <a:buNone/>
            </a:pPr>
            <a:r>
              <a:rPr lang="en-US" sz="2000" dirty="0"/>
              <a:t>The main focus of the course is to expose students to the realities of being an entrepreneur. The course aims to provide an understanding of how small businesses organizations can be managed more effectively while at the same time helping students connect with their entrepreneurial traits.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normAutofit fontScale="90000"/>
          </a:bodyPr>
          <a:lstStyle/>
          <a:p>
            <a:r>
              <a:rPr lang="en-US" dirty="0"/>
              <a:t>COURSE DESCRIPTION &amp; OBJECTIVES</a:t>
            </a:r>
          </a:p>
        </p:txBody>
      </p:sp>
    </p:spTree>
    <p:extLst>
      <p:ext uri="{BB962C8B-B14F-4D97-AF65-F5344CB8AC3E}">
        <p14:creationId xmlns:p14="http://schemas.microsoft.com/office/powerpoint/2010/main" val="1744092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86000"/>
            <a:ext cx="7745505" cy="3877815"/>
          </a:xfrm>
        </p:spPr>
        <p:txBody>
          <a:bodyPr>
            <a:normAutofit fontScale="92500" lnSpcReduction="20000"/>
          </a:bodyPr>
          <a:lstStyle/>
          <a:p>
            <a:pPr marL="0" indent="0" algn="just">
              <a:buNone/>
            </a:pPr>
            <a:r>
              <a:rPr lang="en-US" dirty="0">
                <a:solidFill>
                  <a:srgbClr val="00B050"/>
                </a:solidFill>
              </a:rPr>
              <a:t>Understanding small business and entrepreneurship;</a:t>
            </a:r>
          </a:p>
          <a:p>
            <a:pPr algn="just"/>
            <a:r>
              <a:rPr lang="en-US" dirty="0"/>
              <a:t>Small business in the economy</a:t>
            </a:r>
          </a:p>
          <a:p>
            <a:pPr algn="just"/>
            <a:r>
              <a:rPr lang="en-US" dirty="0"/>
              <a:t>Entrepreneurship, the entrepreneur and the owner-manager</a:t>
            </a:r>
          </a:p>
          <a:p>
            <a:pPr marL="0" indent="0" algn="just">
              <a:buNone/>
            </a:pPr>
            <a:r>
              <a:rPr lang="en-US" dirty="0">
                <a:solidFill>
                  <a:srgbClr val="00B050"/>
                </a:solidFill>
              </a:rPr>
              <a:t>Creating the entrepreneurial small business</a:t>
            </a:r>
          </a:p>
          <a:p>
            <a:pPr algn="just"/>
            <a:r>
              <a:rPr lang="en-US" dirty="0"/>
              <a:t>Business planning</a:t>
            </a:r>
          </a:p>
          <a:p>
            <a:pPr algn="just"/>
            <a:r>
              <a:rPr lang="en-US" dirty="0"/>
              <a:t>Successful small business strategies</a:t>
            </a:r>
          </a:p>
          <a:p>
            <a:pPr algn="just"/>
            <a:r>
              <a:rPr lang="en-US" dirty="0"/>
              <a:t>Start-ups and franchises</a:t>
            </a:r>
          </a:p>
          <a:p>
            <a:pPr algn="just"/>
            <a:r>
              <a:rPr lang="en-US" dirty="0"/>
              <a:t>Buying an existing business</a:t>
            </a:r>
          </a:p>
          <a:p>
            <a:pPr algn="just"/>
            <a:r>
              <a:rPr lang="en-US" dirty="0"/>
              <a:t>Starting a business in Ghana</a:t>
            </a:r>
          </a:p>
          <a:p>
            <a:pPr algn="just"/>
            <a:r>
              <a:rPr lang="en-US" dirty="0"/>
              <a:t>Family Business</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COURSE CONTENT</a:t>
            </a:r>
          </a:p>
        </p:txBody>
      </p:sp>
    </p:spTree>
    <p:extLst>
      <p:ext uri="{BB962C8B-B14F-4D97-AF65-F5344CB8AC3E}">
        <p14:creationId xmlns:p14="http://schemas.microsoft.com/office/powerpoint/2010/main" val="1115355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solidFill>
                  <a:srgbClr val="00B050"/>
                </a:solidFill>
              </a:rPr>
              <a:t>Managing the entrepreneurial small business</a:t>
            </a:r>
          </a:p>
          <a:p>
            <a:pPr algn="just"/>
            <a:r>
              <a:rPr lang="en-US" dirty="0"/>
              <a:t>Managing people and resources </a:t>
            </a:r>
          </a:p>
          <a:p>
            <a:pPr algn="just"/>
            <a:r>
              <a:rPr lang="en-US" dirty="0"/>
              <a:t>E-business </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normAutofit/>
          </a:bodyPr>
          <a:lstStyle/>
          <a:p>
            <a:r>
              <a:rPr lang="en-US" dirty="0"/>
              <a:t>Course content</a:t>
            </a:r>
          </a:p>
        </p:txBody>
      </p:sp>
    </p:spTree>
    <p:extLst>
      <p:ext uri="{BB962C8B-B14F-4D97-AF65-F5344CB8AC3E}">
        <p14:creationId xmlns:p14="http://schemas.microsoft.com/office/powerpoint/2010/main" val="944311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lgn="just"/>
            <a:r>
              <a:rPr lang="en-US" sz="3600" dirty="0"/>
              <a:t>Stokes, D., Wilson, N., &amp; Wilson, N. (2010). </a:t>
            </a:r>
            <a:r>
              <a:rPr lang="en-US" sz="3600" i="1" dirty="0"/>
              <a:t>Small business management and entrepreneurship</a:t>
            </a:r>
            <a:r>
              <a:rPr lang="en-US" sz="3600" dirty="0"/>
              <a:t>. </a:t>
            </a:r>
            <a:r>
              <a:rPr lang="en-US" sz="3600" dirty="0" err="1"/>
              <a:t>Cengage</a:t>
            </a:r>
            <a:r>
              <a:rPr lang="en-US" sz="3600" dirty="0"/>
              <a:t> Learning </a:t>
            </a:r>
            <a:r>
              <a:rPr lang="en-US" sz="3600" dirty="0" err="1"/>
              <a:t>EMEA</a:t>
            </a:r>
            <a:r>
              <a:rPr lang="en-US" sz="3600" dirty="0"/>
              <a:t>.</a:t>
            </a:r>
          </a:p>
          <a:p>
            <a:pPr marL="0" marR="0" algn="just">
              <a:spcBef>
                <a:spcPts val="0"/>
              </a:spcBef>
              <a:spcAft>
                <a:spcPts val="0"/>
              </a:spcAft>
            </a:pPr>
            <a:r>
              <a:rPr lang="en-US" sz="3600" dirty="0">
                <a:effectLst/>
              </a:rPr>
              <a:t>Burns, P. (2014). </a:t>
            </a:r>
            <a:r>
              <a:rPr lang="en-US" sz="3600" i="1" dirty="0">
                <a:effectLst/>
              </a:rPr>
              <a:t>New Venture Creation: A Framework for Entrepreneurial Start-Ups</a:t>
            </a:r>
            <a:r>
              <a:rPr lang="en-US" sz="3600" dirty="0">
                <a:effectLst/>
              </a:rPr>
              <a:t>. Palgrave Macmillan.</a:t>
            </a:r>
          </a:p>
          <a:p>
            <a:pPr marL="0" marR="0" indent="0" algn="just">
              <a:spcBef>
                <a:spcPts val="0"/>
              </a:spcBef>
              <a:spcAft>
                <a:spcPts val="0"/>
              </a:spcAft>
              <a:buNone/>
            </a:pPr>
            <a:endParaRPr lang="en-US" sz="3600" dirty="0">
              <a:effectLst/>
            </a:endParaRPr>
          </a:p>
          <a:p>
            <a:pPr algn="just"/>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Recommended Text</a:t>
            </a:r>
          </a:p>
        </p:txBody>
      </p:sp>
    </p:spTree>
    <p:extLst>
      <p:ext uri="{BB962C8B-B14F-4D97-AF65-F5344CB8AC3E}">
        <p14:creationId xmlns:p14="http://schemas.microsoft.com/office/powerpoint/2010/main" val="873718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3200" dirty="0"/>
              <a:t>Mode of instruction is a two hour face-to-face lecture per week.</a:t>
            </a:r>
          </a:p>
          <a:p>
            <a:pPr marL="0" indent="0">
              <a:buNone/>
            </a:pPr>
            <a:r>
              <a:rPr lang="en-US" sz="3200" dirty="0"/>
              <a:t>Real life case studies will be discussed in class from time to time.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normAutofit/>
          </a:bodyPr>
          <a:lstStyle/>
          <a:p>
            <a:r>
              <a:rPr lang="en-US" dirty="0"/>
              <a:t>COURSE STRUCTURE</a:t>
            </a:r>
          </a:p>
        </p:txBody>
      </p:sp>
    </p:spTree>
    <p:extLst>
      <p:ext uri="{BB962C8B-B14F-4D97-AF65-F5344CB8AC3E}">
        <p14:creationId xmlns:p14="http://schemas.microsoft.com/office/powerpoint/2010/main" val="2509214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Attendance                       5%</a:t>
            </a:r>
          </a:p>
          <a:p>
            <a:pPr marL="0" indent="0" algn="just">
              <a:buNone/>
            </a:pPr>
            <a:r>
              <a:rPr lang="en-US" dirty="0"/>
              <a:t>Mini-project                      15%</a:t>
            </a:r>
          </a:p>
          <a:p>
            <a:pPr marL="0" indent="0" algn="just">
              <a:buNone/>
            </a:pPr>
            <a:r>
              <a:rPr lang="en-US" dirty="0"/>
              <a:t>Mid-semester exams       10%</a:t>
            </a:r>
          </a:p>
          <a:p>
            <a:pPr marL="0" indent="0" algn="just">
              <a:buNone/>
            </a:pPr>
            <a:r>
              <a:rPr lang="en-US" dirty="0"/>
              <a:t>End-of Semester exams  70%</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Assessment</a:t>
            </a:r>
          </a:p>
        </p:txBody>
      </p:sp>
    </p:spTree>
    <p:extLst>
      <p:ext uri="{BB962C8B-B14F-4D97-AF65-F5344CB8AC3E}">
        <p14:creationId xmlns:p14="http://schemas.microsoft.com/office/powerpoint/2010/main" val="4089874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Students can always contact me via e-mail through </a:t>
            </a:r>
            <a:r>
              <a:rPr lang="en-US" dirty="0">
                <a:hlinkClick r:id="rId2"/>
              </a:rPr>
              <a:t>alimatusardiya@yahoo.com</a:t>
            </a:r>
            <a:endParaRPr lang="en-US" dirty="0"/>
          </a:p>
          <a:p>
            <a:pPr marL="0" indent="0">
              <a:buNone/>
            </a:pPr>
            <a:r>
              <a:rPr lang="en-US" dirty="0"/>
              <a:t>I would respond to emails as quickly as practical. </a:t>
            </a:r>
          </a:p>
          <a:p>
            <a:pPr marL="0" indent="0">
              <a:buNone/>
            </a:pPr>
            <a:r>
              <a:rPr lang="en-US" dirty="0"/>
              <a:t> </a:t>
            </a:r>
          </a:p>
          <a:p>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normAutofit fontScale="90000"/>
          </a:bodyPr>
          <a:lstStyle/>
          <a:p>
            <a:r>
              <a:rPr lang="en-US" dirty="0"/>
              <a:t>APPOINTMENT TIME</a:t>
            </a:r>
            <a:br>
              <a:rPr lang="en-US" dirty="0"/>
            </a:br>
            <a:endParaRPr lang="en-US" dirty="0"/>
          </a:p>
        </p:txBody>
      </p:sp>
    </p:spTree>
    <p:extLst>
      <p:ext uri="{BB962C8B-B14F-4D97-AF65-F5344CB8AC3E}">
        <p14:creationId xmlns:p14="http://schemas.microsoft.com/office/powerpoint/2010/main" val="386066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da-DK"/>
              <a:t>Longenecker et. al. (2008).  A. Sardiya (2019)</a:t>
            </a:r>
            <a:endParaRPr lang="en-US" dirty="0"/>
          </a:p>
        </p:txBody>
      </p:sp>
      <p:sp>
        <p:nvSpPr>
          <p:cNvPr id="2" name="Title 1"/>
          <p:cNvSpPr>
            <a:spLocks noGrp="1"/>
          </p:cNvSpPr>
          <p:nvPr>
            <p:ph type="ctrTitle"/>
          </p:nvPr>
        </p:nvSpPr>
        <p:spPr/>
        <p:txBody>
          <a:bodyPr>
            <a:normAutofit fontScale="90000"/>
          </a:bodyPr>
          <a:lstStyle/>
          <a:p>
            <a:br>
              <a:rPr lang="en-US" dirty="0"/>
            </a:br>
            <a:br>
              <a:rPr lang="en-US" dirty="0"/>
            </a:br>
            <a:br>
              <a:rPr lang="en-US" dirty="0"/>
            </a:br>
            <a:br>
              <a:rPr lang="en-US" dirty="0"/>
            </a:br>
            <a:br>
              <a:rPr lang="en-US" dirty="0"/>
            </a:br>
            <a:br>
              <a:rPr lang="en-US" dirty="0"/>
            </a:br>
            <a:r>
              <a:rPr lang="en-US" dirty="0"/>
              <a:t>LESSON ONE</a:t>
            </a:r>
            <a:br>
              <a:rPr lang="en-US" dirty="0"/>
            </a:br>
            <a:endParaRPr lang="en-US" dirty="0"/>
          </a:p>
        </p:txBody>
      </p:sp>
      <p:sp>
        <p:nvSpPr>
          <p:cNvPr id="3" name="Subtitle 2"/>
          <p:cNvSpPr>
            <a:spLocks noGrp="1"/>
          </p:cNvSpPr>
          <p:nvPr>
            <p:ph type="subTitle" idx="1"/>
          </p:nvPr>
        </p:nvSpPr>
        <p:spPr/>
        <p:txBody>
          <a:bodyPr>
            <a:normAutofit/>
          </a:bodyPr>
          <a:lstStyle/>
          <a:p>
            <a:r>
              <a:rPr lang="en-US" sz="3600" dirty="0"/>
              <a:t>SMALL BUSINESS AND THE ECONOMY</a:t>
            </a:r>
          </a:p>
        </p:txBody>
      </p:sp>
    </p:spTree>
    <p:extLst>
      <p:ext uri="{BB962C8B-B14F-4D97-AF65-F5344CB8AC3E}">
        <p14:creationId xmlns:p14="http://schemas.microsoft.com/office/powerpoint/2010/main" val="1025074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US" dirty="0"/>
              <a:t>By the end of this lecture, students should be able to;</a:t>
            </a:r>
          </a:p>
          <a:p>
            <a:pPr marL="0" indent="0" algn="just">
              <a:buNone/>
            </a:pPr>
            <a:r>
              <a:rPr lang="en-US" dirty="0"/>
              <a:t>&gt; Critically </a:t>
            </a:r>
            <a:r>
              <a:rPr lang="en-US" dirty="0" err="1"/>
              <a:t>analyse</a:t>
            </a:r>
            <a:r>
              <a:rPr lang="en-US" dirty="0"/>
              <a:t> the changing commercial environment and how it impacts on entrepreneurship;</a:t>
            </a:r>
          </a:p>
          <a:p>
            <a:pPr marL="0" indent="0" algn="just">
              <a:buNone/>
            </a:pPr>
            <a:r>
              <a:rPr lang="en-US" dirty="0"/>
              <a:t>&gt; Explain how the approach entrepreneurs take to management in a risky, uncertain environment differs from ‘traditional’ management.</a:t>
            </a:r>
          </a:p>
          <a:p>
            <a:pPr marL="0" indent="0" algn="just">
              <a:buNone/>
            </a:pPr>
            <a:r>
              <a:rPr lang="en-US" dirty="0"/>
              <a:t>&gt; Explain why entrepreneurs and small firms are so important to the economies of modern countries.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406802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905000"/>
            <a:ext cx="8001000" cy="4221163"/>
          </a:xfrm>
        </p:spPr>
        <p:txBody>
          <a:bodyPr>
            <a:normAutofit fontScale="92500" lnSpcReduction="10000"/>
          </a:bodyPr>
          <a:lstStyle/>
          <a:p>
            <a:pPr marL="0" indent="0" algn="just">
              <a:buNone/>
            </a:pPr>
            <a:endParaRPr lang="en-US" sz="2800" dirty="0"/>
          </a:p>
          <a:p>
            <a:pPr marL="0" indent="0" algn="just">
              <a:buNone/>
            </a:pPr>
            <a:r>
              <a:rPr lang="en-US" sz="2800" dirty="0"/>
              <a:t>So far the 21st century has seen enormous turbulence and disruption. </a:t>
            </a:r>
          </a:p>
          <a:p>
            <a:pPr marL="0" indent="0" algn="just">
              <a:buNone/>
            </a:pPr>
            <a:r>
              <a:rPr lang="en-US" sz="2800" dirty="0"/>
              <a:t>The old world order has changed and continues to change. Economic power is moving east from the USA and Europe to China and India. </a:t>
            </a:r>
          </a:p>
          <a:p>
            <a:pPr marL="0" indent="0" algn="just">
              <a:buNone/>
            </a:pPr>
            <a:r>
              <a:rPr lang="en-US" sz="2800" dirty="0"/>
              <a:t>If the most startling evidence of this was the financial</a:t>
            </a:r>
          </a:p>
          <a:p>
            <a:pPr marL="0" indent="0" algn="just">
              <a:buNone/>
            </a:pPr>
            <a:r>
              <a:rPr lang="en-US" sz="2800" dirty="0"/>
              <a:t> crisis of 2008 that plunged the mature Western economies into recession, the seeds of change were</a:t>
            </a:r>
          </a:p>
          <a:p>
            <a:pPr marL="0" indent="0" algn="just">
              <a:buNone/>
            </a:pPr>
            <a:r>
              <a:rPr lang="en-US" sz="2800" dirty="0"/>
              <a:t>sown much earlier.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a:xfrm>
            <a:off x="457200" y="274638"/>
            <a:ext cx="8229600" cy="1630362"/>
          </a:xfrm>
        </p:spPr>
        <p:txBody>
          <a:bodyPr>
            <a:normAutofit fontScale="90000"/>
          </a:bodyPr>
          <a:lstStyle/>
          <a:p>
            <a:r>
              <a:rPr lang="en-US" dirty="0"/>
              <a:t>SMALL BUSINESS IN THE ECONOMY</a:t>
            </a:r>
            <a:br>
              <a:rPr lang="en-US" dirty="0"/>
            </a:br>
            <a:r>
              <a:rPr lang="en-US" dirty="0"/>
              <a:t>Introduction</a:t>
            </a:r>
          </a:p>
        </p:txBody>
      </p:sp>
    </p:spTree>
    <p:extLst>
      <p:ext uri="{BB962C8B-B14F-4D97-AF65-F5344CB8AC3E}">
        <p14:creationId xmlns:p14="http://schemas.microsoft.com/office/powerpoint/2010/main" val="783932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7835153" cy="4152453"/>
          </a:xfrm>
        </p:spPr>
        <p:txBody>
          <a:bodyPr>
            <a:noAutofit/>
          </a:bodyPr>
          <a:lstStyle/>
          <a:p>
            <a:pPr marL="0" indent="0" algn="just">
              <a:buNone/>
            </a:pPr>
            <a:r>
              <a:rPr lang="en-US" sz="2800" dirty="0"/>
              <a:t>More specifically, in the business world, corporate integrity has come to be questioned following what  some spectacular corporate failures, like the most recent Carillion collapse in the UK. </a:t>
            </a:r>
          </a:p>
          <a:p>
            <a:pPr marL="0" indent="0" algn="just">
              <a:buNone/>
            </a:pPr>
            <a:r>
              <a:rPr lang="en-US" sz="2800" dirty="0"/>
              <a:t>In Ghana, the </a:t>
            </a:r>
            <a:r>
              <a:rPr lang="en-US" sz="2800" dirty="0" err="1"/>
              <a:t>DKM</a:t>
            </a:r>
            <a:r>
              <a:rPr lang="en-US" sz="2800" dirty="0"/>
              <a:t> scam, the more recent </a:t>
            </a:r>
            <a:r>
              <a:rPr lang="en-US" sz="2800" dirty="0" err="1"/>
              <a:t>Menzgold</a:t>
            </a:r>
            <a:r>
              <a:rPr lang="en-US" sz="2800" dirty="0"/>
              <a:t> saga and the abrupt liquidation of UT and Capital banks among other who appeared to be doing well are evidences of the changes sweeping through global business environment.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498583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gn="just">
              <a:buNone/>
            </a:pPr>
            <a:r>
              <a:rPr lang="en-US" dirty="0"/>
              <a:t>Underpinning the volatility is the development of global connectivity – an increasingly complex world full of interconnections formed by a truly global marketplace facilitated by exciting technologies that allow instant communication from almost anywhere. </a:t>
            </a:r>
          </a:p>
          <a:p>
            <a:pPr marL="0" indent="0" algn="just">
              <a:buNone/>
            </a:pPr>
            <a:endParaRPr lang="en-US" dirty="0"/>
          </a:p>
          <a:p>
            <a:pPr marL="0" indent="0" algn="just">
              <a:buNone/>
            </a:pPr>
            <a:r>
              <a:rPr lang="en-US" dirty="0"/>
              <a:t>Small changes tend to be amplified in highly connected systems. Actions in one part of a market can have unexpected and rapid consequences in another part of it in a market in a different country or even continent. And nobody, not even sovereign states, seem able to control this.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71697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dirty="0"/>
              <a:t>In the midst of these changes, commercial opportunities remain but competition is now as much about survival as growth. And, as global competition continues to increase, sources of competitive advantage are proving increasingly difficult to sustain over any period of time. </a:t>
            </a:r>
          </a:p>
          <a:p>
            <a:pPr marL="0" indent="0" algn="just">
              <a:buNone/>
            </a:pPr>
            <a:endParaRPr lang="en-US" dirty="0"/>
          </a:p>
          <a:p>
            <a:pPr marL="0" indent="0" algn="just">
              <a:buNone/>
            </a:pPr>
            <a:r>
              <a:rPr lang="en-US" dirty="0"/>
              <a:t>So much so that it is the ability to create new sources of competitive advantage quickly, again and again, that is proving to be the only sustainable source of real competitive advantage.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56548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dirty="0"/>
              <a:t> In the face of these changes, firms must also respond to changes in consumer needs quickly, just as they must react quickly to the actions of competitors.</a:t>
            </a:r>
          </a:p>
          <a:p>
            <a:pPr marL="0" indent="0" algn="just">
              <a:buNone/>
            </a:pPr>
            <a:endParaRPr lang="en-US" dirty="0"/>
          </a:p>
          <a:p>
            <a:pPr marL="0" indent="0" algn="just">
              <a:buNone/>
            </a:pPr>
            <a:r>
              <a:rPr lang="en-US" dirty="0"/>
              <a:t>But for entrepreneurs change presents opportunities – and these changes have meant small entrepreneurial firms have flourished. For entrepreneurs such seeming turbulent disturbances present opportunity to be both ethical and to improve competiveness by differentiating themselves from competitors.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359090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In addition to the changing nature of “Change” Other factors have accelerated the trend towards smaller, more entrepreneurial firms.</a:t>
            </a:r>
          </a:p>
          <a:p>
            <a:pPr algn="just"/>
            <a:r>
              <a:rPr lang="en-US" dirty="0"/>
              <a:t>Technology</a:t>
            </a:r>
          </a:p>
          <a:p>
            <a:pPr algn="just"/>
            <a:r>
              <a:rPr lang="en-US" dirty="0"/>
              <a:t>The move from industrial economy to knowledge economy</a:t>
            </a:r>
          </a:p>
          <a:p>
            <a:pPr algn="just"/>
            <a:r>
              <a:rPr lang="en-US" dirty="0"/>
              <a:t>Changing social trends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a:xfrm>
            <a:off x="1143000" y="-152400"/>
            <a:ext cx="7301753" cy="1776806"/>
          </a:xfrm>
        </p:spPr>
        <p:txBody>
          <a:bodyPr>
            <a:normAutofit/>
          </a:bodyPr>
          <a:lstStyle/>
          <a:p>
            <a:r>
              <a:rPr lang="en-US" sz="3600" dirty="0"/>
              <a:t>Factors that have promoted the growth in entrepreneurship and SMEs</a:t>
            </a:r>
          </a:p>
        </p:txBody>
      </p:sp>
    </p:spTree>
    <p:extLst>
      <p:ext uri="{BB962C8B-B14F-4D97-AF65-F5344CB8AC3E}">
        <p14:creationId xmlns:p14="http://schemas.microsoft.com/office/powerpoint/2010/main" val="1911579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algn="just">
              <a:buNone/>
            </a:pPr>
            <a:r>
              <a:rPr lang="en-US" dirty="0"/>
              <a:t>Technology has played a major role by influencing the trend is three ways.</a:t>
            </a:r>
          </a:p>
          <a:p>
            <a:pPr algn="just"/>
            <a:r>
              <a:rPr lang="en-US" dirty="0"/>
              <a:t>Firstly, the new technologies that swept the late-20th-century business world have been pioneered by new, rapidly growing firms. Small firms have pioneered innovation in computers, the internet and mobile technologies, creating new markets for these innovations.</a:t>
            </a:r>
          </a:p>
          <a:p>
            <a:pPr algn="just"/>
            <a:r>
              <a:rPr lang="en-US" dirty="0"/>
              <a:t>Small firms have been at the forefront of developing mobile applications, or apps, because the costs of doing so are low but the gains from selling to a global market can be enormous</a:t>
            </a:r>
          </a:p>
          <a:p>
            <a:pPr algn="just"/>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Technology</a:t>
            </a:r>
          </a:p>
        </p:txBody>
      </p:sp>
    </p:spTree>
    <p:extLst>
      <p:ext uri="{BB962C8B-B14F-4D97-AF65-F5344CB8AC3E}">
        <p14:creationId xmlns:p14="http://schemas.microsoft.com/office/powerpoint/2010/main" val="1472950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US" dirty="0"/>
              <a:t>Secondly, these technologies have actually facilitated the growth of self-employment and small business by easing communication, encouraging working from home and allowing smaller and smaller market segments to be serviced. </a:t>
            </a:r>
          </a:p>
          <a:p>
            <a:pPr marL="0" indent="0" algn="just">
              <a:buNone/>
            </a:pPr>
            <a:r>
              <a:rPr lang="en-US" dirty="0"/>
              <a:t>Indeed, information has become a product in its own right and one that can be generated anywhere around the world and transported at the touch of a button.</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Technology</a:t>
            </a:r>
          </a:p>
        </p:txBody>
      </p:sp>
    </p:spTree>
    <p:extLst>
      <p:ext uri="{BB962C8B-B14F-4D97-AF65-F5344CB8AC3E}">
        <p14:creationId xmlns:p14="http://schemas.microsoft.com/office/powerpoint/2010/main" val="882862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t>Thirdly, technology has significantly reduced the fixed cost of doing business so that production can be profitable in smaller, more flexible units. </a:t>
            </a:r>
          </a:p>
          <a:p>
            <a:pPr marL="0" indent="0" algn="just">
              <a:buNone/>
            </a:pPr>
            <a:r>
              <a:rPr lang="en-US" dirty="0"/>
              <a:t>They have also simplified the routes to market so that small firms can sell to larger firms or direct to customers around the world, without the expense of putting in place a distribution network. </a:t>
            </a:r>
          </a:p>
          <a:p>
            <a:pPr marL="0" indent="0" algn="just">
              <a:buNone/>
            </a:pPr>
            <a:r>
              <a:rPr lang="en-US" dirty="0"/>
              <a:t>And as large firms increasingly outsource non-core activities, the beneficiaries are often small firms.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Technology</a:t>
            </a:r>
          </a:p>
        </p:txBody>
      </p:sp>
    </p:spTree>
    <p:extLst>
      <p:ext uri="{BB962C8B-B14F-4D97-AF65-F5344CB8AC3E}">
        <p14:creationId xmlns:p14="http://schemas.microsoft.com/office/powerpoint/2010/main" val="4076372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dirty="0"/>
              <a:t>In a knowledge economy, value is increasingly being created, not from physical assets, but from knowledge</a:t>
            </a:r>
          </a:p>
          <a:p>
            <a:pPr marL="0" indent="0" algn="just">
              <a:buNone/>
            </a:pPr>
            <a:r>
              <a:rPr lang="en-US" dirty="0"/>
              <a:t>and the virtual assets it creates – a shift from assets that must be purchased and then restrict flexibility to ones that can be built up over time and used in many different ways. </a:t>
            </a:r>
          </a:p>
          <a:p>
            <a:pPr marL="0" indent="0" algn="just">
              <a:buNone/>
            </a:pPr>
            <a:r>
              <a:rPr lang="en-US" dirty="0"/>
              <a:t>This move means that economies of scale (with costs declining as volumes increase) have become less important as a form of competitive advantage making it possible for small businesses to compete with larger ones.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normAutofit fontScale="90000"/>
          </a:bodyPr>
          <a:lstStyle/>
          <a:p>
            <a:r>
              <a:rPr lang="en-US" dirty="0"/>
              <a:t>Move from Industrial Economy to Knowledge Economy</a:t>
            </a:r>
          </a:p>
        </p:txBody>
      </p:sp>
    </p:spTree>
    <p:extLst>
      <p:ext uri="{BB962C8B-B14F-4D97-AF65-F5344CB8AC3E}">
        <p14:creationId xmlns:p14="http://schemas.microsoft.com/office/powerpoint/2010/main" val="3077220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gn="just">
              <a:buNone/>
            </a:pPr>
            <a:r>
              <a:rPr lang="en-US" dirty="0"/>
              <a:t>Social trends have also accelerated the growth of small firms. People want to control their own destiny more by pursuing freedom . </a:t>
            </a:r>
          </a:p>
          <a:p>
            <a:pPr marL="0" indent="0" algn="just">
              <a:buNone/>
            </a:pPr>
            <a:r>
              <a:rPr lang="en-US" dirty="0"/>
              <a:t>After periods of high unemployment, they see self-employment as more attractive and more secure than employment. </a:t>
            </a:r>
          </a:p>
          <a:p>
            <a:pPr marL="0" indent="0" algn="just">
              <a:buNone/>
            </a:pPr>
            <a:r>
              <a:rPr lang="en-US" dirty="0"/>
              <a:t>Redundancy has pushed many people into self-employment at the same time as the new ‘enterprise culture’ gave it political and social respectability.</a:t>
            </a:r>
          </a:p>
          <a:p>
            <a:pPr marL="0" indent="0" algn="just">
              <a:buNone/>
            </a:pPr>
            <a:r>
              <a:rPr lang="en-US" dirty="0"/>
              <a:t>And finally the role of entrepreneur has become respectable and admired.</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Changing Social Trends</a:t>
            </a:r>
          </a:p>
        </p:txBody>
      </p:sp>
    </p:spTree>
    <p:extLst>
      <p:ext uri="{BB962C8B-B14F-4D97-AF65-F5344CB8AC3E}">
        <p14:creationId xmlns:p14="http://schemas.microsoft.com/office/powerpoint/2010/main" val="388543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sz="2800" b="1" dirty="0"/>
              <a:t>India</a:t>
            </a:r>
          </a:p>
          <a:p>
            <a:pPr marL="0" indent="0" algn="just">
              <a:buNone/>
            </a:pPr>
            <a:r>
              <a:rPr lang="en-US" dirty="0"/>
              <a:t>30 million operators</a:t>
            </a:r>
          </a:p>
          <a:p>
            <a:pPr marL="0" indent="0" algn="just">
              <a:buNone/>
            </a:pPr>
            <a:r>
              <a:rPr lang="en-US" dirty="0"/>
              <a:t>Contribute 20 per cent to GDP</a:t>
            </a:r>
          </a:p>
          <a:p>
            <a:pPr marL="0" indent="0" algn="just">
              <a:buNone/>
            </a:pPr>
            <a:r>
              <a:rPr lang="en-US" dirty="0"/>
              <a:t>45 per cent of industrial output</a:t>
            </a:r>
          </a:p>
          <a:p>
            <a:pPr marL="0" indent="0" algn="just">
              <a:buNone/>
            </a:pPr>
            <a:r>
              <a:rPr lang="en-US" dirty="0"/>
              <a:t>40 per cent of exports</a:t>
            </a:r>
          </a:p>
          <a:p>
            <a:pPr marL="0" indent="0" algn="just">
              <a:buNone/>
            </a:pPr>
            <a:r>
              <a:rPr lang="en-US" dirty="0"/>
              <a:t>Employ 60 million people </a:t>
            </a:r>
          </a:p>
          <a:p>
            <a:pPr marL="0" indent="0" algn="just">
              <a:buNone/>
            </a:pPr>
            <a:r>
              <a:rPr lang="en-US" dirty="0"/>
              <a:t>Create 1.3 million jobs every year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88490" y="556302"/>
            <a:ext cx="7756263" cy="1054250"/>
          </a:xfrm>
        </p:spPr>
        <p:txBody>
          <a:bodyPr/>
          <a:lstStyle/>
          <a:p>
            <a:r>
              <a:rPr lang="en-US" dirty="0"/>
              <a:t> SMEs’ Contribution to the Economy</a:t>
            </a:r>
          </a:p>
        </p:txBody>
      </p:sp>
    </p:spTree>
    <p:extLst>
      <p:ext uri="{BB962C8B-B14F-4D97-AF65-F5344CB8AC3E}">
        <p14:creationId xmlns:p14="http://schemas.microsoft.com/office/powerpoint/2010/main" val="3174536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b="1" dirty="0"/>
              <a:t>Europe(2003)</a:t>
            </a:r>
          </a:p>
          <a:p>
            <a:pPr marL="0" indent="0" algn="just">
              <a:buNone/>
            </a:pPr>
            <a:r>
              <a:rPr lang="en-US" dirty="0"/>
              <a:t>19 million SMEs</a:t>
            </a:r>
          </a:p>
          <a:p>
            <a:pPr marL="0" indent="0" algn="just">
              <a:buNone/>
            </a:pPr>
            <a:r>
              <a:rPr lang="en-US" dirty="0"/>
              <a:t>140 million jobs</a:t>
            </a:r>
          </a:p>
          <a:p>
            <a:pPr marL="0" indent="0" algn="just">
              <a:buNone/>
            </a:pPr>
            <a:r>
              <a:rPr lang="en-US" dirty="0"/>
              <a:t>SMEs percentage  of total businesses is 99.73%</a:t>
            </a:r>
          </a:p>
          <a:p>
            <a:pPr marL="0" indent="0" algn="just">
              <a:buNone/>
            </a:pPr>
            <a:endParaRPr lang="en-US" dirty="0"/>
          </a:p>
          <a:p>
            <a:pPr marL="0" indent="0" algn="just">
              <a:buNone/>
            </a:pPr>
            <a:r>
              <a:rPr lang="en-US" b="1" dirty="0"/>
              <a:t>USA</a:t>
            </a:r>
          </a:p>
          <a:p>
            <a:pPr marL="0" indent="0" algn="just">
              <a:buNone/>
            </a:pPr>
            <a:r>
              <a:rPr lang="en-US" dirty="0"/>
              <a:t>21.2 million SMEs</a:t>
            </a:r>
          </a:p>
          <a:p>
            <a:pPr marL="0" indent="0" algn="just">
              <a:buNone/>
            </a:pPr>
            <a:r>
              <a:rPr lang="en-US" dirty="0"/>
              <a:t>49 million jobs</a:t>
            </a:r>
          </a:p>
          <a:p>
            <a:pPr marL="0" indent="0" algn="just">
              <a:buNone/>
            </a:pPr>
            <a:r>
              <a:rPr lang="en-US" dirty="0"/>
              <a:t>99.72 % of businesses are SMEs</a:t>
            </a:r>
          </a:p>
          <a:p>
            <a:pPr marL="0" indent="0" algn="just">
              <a:buNone/>
            </a:pPr>
            <a:endParaRPr lang="en-US" dirty="0"/>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SMEs’ Contribution to the Economy</a:t>
            </a:r>
          </a:p>
        </p:txBody>
      </p:sp>
    </p:spTree>
    <p:extLst>
      <p:ext uri="{BB962C8B-B14F-4D97-AF65-F5344CB8AC3E}">
        <p14:creationId xmlns:p14="http://schemas.microsoft.com/office/powerpoint/2010/main" val="2091423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b="1" dirty="0"/>
              <a:t>Ghana</a:t>
            </a:r>
          </a:p>
          <a:p>
            <a:pPr marL="0" indent="0" algn="just">
              <a:buNone/>
            </a:pPr>
            <a:r>
              <a:rPr lang="en-US" dirty="0"/>
              <a:t>92 per cent of registered companies are SMEs. </a:t>
            </a:r>
          </a:p>
          <a:p>
            <a:pPr marL="0" indent="0" algn="just">
              <a:buNone/>
            </a:pPr>
            <a:r>
              <a:rPr lang="en-US" dirty="0"/>
              <a:t>SMEs provide 85 per cent of manufacturing employment. </a:t>
            </a:r>
          </a:p>
          <a:p>
            <a:pPr marL="0" indent="0" algn="just">
              <a:buNone/>
            </a:pPr>
            <a:r>
              <a:rPr lang="en-US" dirty="0"/>
              <a:t>Contribute about 70 per cent to Ghana’s GDP.</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SMEs’ Contribution to the Economy</a:t>
            </a:r>
          </a:p>
        </p:txBody>
      </p:sp>
    </p:spTree>
    <p:extLst>
      <p:ext uri="{BB962C8B-B14F-4D97-AF65-F5344CB8AC3E}">
        <p14:creationId xmlns:p14="http://schemas.microsoft.com/office/powerpoint/2010/main" val="4164915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While large firms have increasingly found difficulty in dealing with this new order, start-ups and smaller ventures seem to find opportunities that these larger, more established firms find threatening.</a:t>
            </a:r>
          </a:p>
          <a:p>
            <a:pPr marL="0" indent="0" algn="just">
              <a:buNone/>
            </a:pPr>
            <a:endParaRPr lang="en-US" dirty="0"/>
          </a:p>
          <a:p>
            <a:pPr marL="0" indent="0" algn="just">
              <a:buNone/>
            </a:pPr>
            <a:r>
              <a:rPr lang="en-US" dirty="0"/>
              <a:t>Even in this age of uncertainty and austerity SMEs and entrepreneurs  thrive, despite facing increasingly fierce competition.</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3600" dirty="0"/>
              <a:t>Management in Entrepreneurial Firms and SMEs</a:t>
            </a:r>
          </a:p>
        </p:txBody>
      </p:sp>
    </p:spTree>
    <p:extLst>
      <p:ext uri="{BB962C8B-B14F-4D97-AF65-F5344CB8AC3E}">
        <p14:creationId xmlns:p14="http://schemas.microsoft.com/office/powerpoint/2010/main" val="3919839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McMillan (2004) characterized what she called the ‘traditional, classical, mechanistic’ view of change as abnormal, potentially calamitous, an incremental linear event that is disruptive that can be controlled. </a:t>
            </a:r>
          </a:p>
          <a:p>
            <a:pPr marL="0" indent="0" algn="just">
              <a:buNone/>
            </a:pPr>
            <a:endParaRPr lang="en-US" dirty="0"/>
          </a:p>
          <a:p>
            <a:pPr marL="0" indent="0" algn="just">
              <a:buNone/>
            </a:pPr>
            <a:r>
              <a:rPr lang="en-US" dirty="0"/>
              <a:t>She contrasted this to what she called the ‘new, modern dynamic’ view that change is normal, continuous, turbulent, both revolutionary and incremental, uncontrollable and non-linear but full of opportunities.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000" dirty="0"/>
              <a:t>Management in Entrepreneurial Firms and SMEs</a:t>
            </a:r>
          </a:p>
        </p:txBody>
      </p:sp>
    </p:spTree>
    <p:extLst>
      <p:ext uri="{BB962C8B-B14F-4D97-AF65-F5344CB8AC3E}">
        <p14:creationId xmlns:p14="http://schemas.microsoft.com/office/powerpoint/2010/main" val="2245467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5" y="1828800"/>
            <a:ext cx="8990835"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000" dirty="0"/>
              <a:t>Management in Entrepreneurial Firms and SMEs</a:t>
            </a:r>
          </a:p>
        </p:txBody>
      </p:sp>
    </p:spTree>
    <p:extLst>
      <p:ext uri="{BB962C8B-B14F-4D97-AF65-F5344CB8AC3E}">
        <p14:creationId xmlns:p14="http://schemas.microsoft.com/office/powerpoint/2010/main" val="1758085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buNone/>
            </a:pPr>
            <a:endParaRPr lang="en-US" dirty="0"/>
          </a:p>
          <a:p>
            <a:pPr marL="0" indent="0">
              <a:buNone/>
            </a:pPr>
            <a:r>
              <a:rPr lang="en-US" dirty="0"/>
              <a:t>“</a:t>
            </a:r>
            <a:r>
              <a:rPr lang="en-US" sz="2600" i="1" dirty="0"/>
              <a:t>Sometimes people imagine that going into business is a smooth trajectory from struggling start-up to fully-fledged global brand. But that’s never really the case. Growing a company is all about overcoming endless challenges, big and small. This is also what makes starting a business the most</a:t>
            </a:r>
          </a:p>
          <a:p>
            <a:pPr marL="0" indent="0">
              <a:buNone/>
            </a:pPr>
            <a:r>
              <a:rPr lang="en-US" sz="2600" i="1" dirty="0"/>
              <a:t>exciting adventure anyone can go on</a:t>
            </a:r>
            <a:r>
              <a:rPr lang="en-US" dirty="0"/>
              <a:t>.”</a:t>
            </a:r>
          </a:p>
          <a:p>
            <a:pPr marL="0" indent="0">
              <a:buNone/>
            </a:pPr>
            <a:r>
              <a:rPr lang="en-US" dirty="0"/>
              <a:t>Richard Branson, founder,</a:t>
            </a:r>
          </a:p>
          <a:p>
            <a:pPr marL="0" indent="0">
              <a:buNone/>
            </a:pPr>
            <a:r>
              <a:rPr lang="en-US" dirty="0"/>
              <a:t>Virgin Group, The Sunday</a:t>
            </a:r>
          </a:p>
          <a:p>
            <a:pPr marL="0" indent="0">
              <a:buNone/>
            </a:pPr>
            <a:r>
              <a:rPr lang="en-US" dirty="0"/>
              <a:t>Times, 7 December 2014</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85800" y="533400"/>
            <a:ext cx="7756263" cy="1054250"/>
          </a:xfrm>
        </p:spPr>
        <p:txBody>
          <a:bodyPr/>
          <a:lstStyle/>
          <a:p>
            <a:r>
              <a:rPr lang="en-US" sz="4000" dirty="0"/>
              <a:t>Management in Entrepreneurial Firms and SMEs</a:t>
            </a:r>
          </a:p>
        </p:txBody>
      </p:sp>
    </p:spTree>
    <p:extLst>
      <p:ext uri="{BB962C8B-B14F-4D97-AF65-F5344CB8AC3E}">
        <p14:creationId xmlns:p14="http://schemas.microsoft.com/office/powerpoint/2010/main" val="3157413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0" indent="0" algn="just">
              <a:buNone/>
            </a:pPr>
            <a:r>
              <a:rPr lang="en-US" dirty="0"/>
              <a:t>“</a:t>
            </a:r>
            <a:r>
              <a:rPr lang="en-US" sz="2600" i="1" dirty="0"/>
              <a:t>We stand on the threshold of a new age – the age of revolution. In our minds, we know the new age has already arrived: in our bellies, we’re not sure we like it. </a:t>
            </a:r>
          </a:p>
          <a:p>
            <a:pPr marL="0" indent="0" algn="just">
              <a:buNone/>
            </a:pPr>
            <a:r>
              <a:rPr lang="en-US" sz="2600" i="1" dirty="0"/>
              <a:t>For we know it is going to be an age of upheaval, of tumult, of fortunes made and unmade at </a:t>
            </a:r>
            <a:r>
              <a:rPr lang="en-US" sz="2600" i="1" dirty="0" err="1"/>
              <a:t>headsnapping</a:t>
            </a:r>
            <a:r>
              <a:rPr lang="en-US" sz="2600" i="1" dirty="0"/>
              <a:t> speed. For change has changed. No longer is it additive. No longer does it move in a straight line. In the twenty first century, change is discontinuous, abrupt, seditious.”</a:t>
            </a:r>
          </a:p>
          <a:p>
            <a:pPr marL="0" indent="0" algn="just">
              <a:buNone/>
            </a:pPr>
            <a:r>
              <a:rPr lang="en-US" dirty="0"/>
              <a:t>Gary Hamel, 2000, Leading the</a:t>
            </a:r>
          </a:p>
          <a:p>
            <a:pPr marL="0" indent="0" algn="just">
              <a:buNone/>
            </a:pPr>
            <a:r>
              <a:rPr lang="en-US" dirty="0"/>
              <a:t>Revolution, Boston: Harvard</a:t>
            </a:r>
          </a:p>
          <a:p>
            <a:pPr marL="0" indent="0" algn="just">
              <a:buNone/>
            </a:pPr>
            <a:r>
              <a:rPr lang="en-US" dirty="0"/>
              <a:t>Business School Press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000" dirty="0"/>
              <a:t>Management in Entrepreneurial Firms and SMEs</a:t>
            </a:r>
          </a:p>
        </p:txBody>
      </p:sp>
    </p:spTree>
    <p:extLst>
      <p:ext uri="{BB962C8B-B14F-4D97-AF65-F5344CB8AC3E}">
        <p14:creationId xmlns:p14="http://schemas.microsoft.com/office/powerpoint/2010/main" val="3030510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22594B-7445-4FAE-9B2F-C72441AACCCE}"/>
              </a:ext>
            </a:extLst>
          </p:cNvPr>
          <p:cNvSpPr>
            <a:spLocks noGrp="1"/>
          </p:cNvSpPr>
          <p:nvPr>
            <p:ph idx="1"/>
          </p:nvPr>
        </p:nvSpPr>
        <p:spPr/>
        <p:txBody>
          <a:bodyPr/>
          <a:lstStyle/>
          <a:p>
            <a:pPr marL="0" indent="0">
              <a:buNone/>
            </a:pPr>
            <a:r>
              <a:rPr lang="en-US" dirty="0"/>
              <a:t>“Case Insight -Instagram” Burns (2016)</a:t>
            </a:r>
          </a:p>
        </p:txBody>
      </p:sp>
      <p:sp>
        <p:nvSpPr>
          <p:cNvPr id="3" name="Footer Placeholder 2">
            <a:extLst>
              <a:ext uri="{FF2B5EF4-FFF2-40B4-BE49-F238E27FC236}">
                <a16:creationId xmlns:a16="http://schemas.microsoft.com/office/drawing/2014/main" id="{79A0B7CA-44C9-4F4C-941F-257654EB505D}"/>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5384CD3F-9FB9-4A83-844B-09512C5C6DA5}"/>
              </a:ext>
            </a:extLst>
          </p:cNvPr>
          <p:cNvSpPr>
            <a:spLocks noGrp="1"/>
          </p:cNvSpPr>
          <p:nvPr>
            <p:ph type="title"/>
          </p:nvPr>
        </p:nvSpPr>
        <p:spPr/>
        <p:txBody>
          <a:bodyPr/>
          <a:lstStyle/>
          <a:p>
            <a:r>
              <a:rPr lang="en-US" dirty="0"/>
              <a:t>Case for the Day</a:t>
            </a:r>
          </a:p>
        </p:txBody>
      </p:sp>
    </p:spTree>
    <p:extLst>
      <p:ext uri="{BB962C8B-B14F-4D97-AF65-F5344CB8AC3E}">
        <p14:creationId xmlns:p14="http://schemas.microsoft.com/office/powerpoint/2010/main" val="2173516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ctrTitle"/>
          </p:nvPr>
        </p:nvSpPr>
        <p:spPr/>
        <p:txBody>
          <a:bodyPr/>
          <a:lstStyle/>
          <a:p>
            <a:r>
              <a:rPr lang="en-US" dirty="0"/>
              <a:t>LESSON TWO</a:t>
            </a:r>
          </a:p>
        </p:txBody>
      </p:sp>
      <p:sp>
        <p:nvSpPr>
          <p:cNvPr id="4" name="Subtitle 3"/>
          <p:cNvSpPr>
            <a:spLocks noGrp="1"/>
          </p:cNvSpPr>
          <p:nvPr>
            <p:ph type="subTitle" idx="1"/>
          </p:nvPr>
        </p:nvSpPr>
        <p:spPr/>
        <p:txBody>
          <a:bodyPr/>
          <a:lstStyle/>
          <a:p>
            <a:r>
              <a:rPr lang="en-US" dirty="0"/>
              <a:t>ENTREPRENEURSHIP, THE ENTREPRENEUR AND THE OWNER-MANAGER</a:t>
            </a:r>
          </a:p>
          <a:p>
            <a:endParaRPr lang="en-US" dirty="0"/>
          </a:p>
        </p:txBody>
      </p:sp>
    </p:spTree>
    <p:extLst>
      <p:ext uri="{BB962C8B-B14F-4D97-AF65-F5344CB8AC3E}">
        <p14:creationId xmlns:p14="http://schemas.microsoft.com/office/powerpoint/2010/main" val="207607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By the end of this lesson, students are expected to;</a:t>
            </a:r>
          </a:p>
          <a:p>
            <a:pPr algn="just"/>
            <a:r>
              <a:rPr lang="en-US" dirty="0"/>
              <a:t>Define entrepreneurship understand the various forms that entrepreneurship might take</a:t>
            </a:r>
          </a:p>
          <a:p>
            <a:pPr algn="just"/>
            <a:r>
              <a:rPr lang="en-US" dirty="0"/>
              <a:t>Define SMEs and Understand characteristics of SMEs</a:t>
            </a:r>
          </a:p>
          <a:p>
            <a:pPr algn="just"/>
            <a:r>
              <a:rPr lang="en-US" dirty="0"/>
              <a:t>Understand the management approach(</a:t>
            </a:r>
            <a:r>
              <a:rPr lang="en-US" dirty="0" err="1"/>
              <a:t>es</a:t>
            </a:r>
            <a:r>
              <a:rPr lang="en-US" dirty="0"/>
              <a:t>) of the owner  manager.</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2824733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a:t>
            </a:r>
            <a:r>
              <a:rPr lang="en-US" i="1" dirty="0"/>
              <a:t>The mind-set that in a huge global economy the multinationals dominate world business couldn’t have been more wrong. The bigger and more open the world economy</a:t>
            </a:r>
          </a:p>
          <a:p>
            <a:pPr marL="0" indent="0" algn="just">
              <a:buNone/>
            </a:pPr>
            <a:r>
              <a:rPr lang="en-US" i="1" dirty="0"/>
              <a:t>becomes, the more small and middle-sized companies will</a:t>
            </a:r>
          </a:p>
          <a:p>
            <a:pPr marL="0" indent="0" algn="just">
              <a:buNone/>
            </a:pPr>
            <a:r>
              <a:rPr lang="en-US" i="1" dirty="0"/>
              <a:t>dominate.”</a:t>
            </a:r>
          </a:p>
          <a:p>
            <a:pPr marL="0" indent="0" algn="just">
              <a:buNone/>
            </a:pPr>
            <a:r>
              <a:rPr lang="en-US" dirty="0"/>
              <a:t>John </a:t>
            </a:r>
            <a:r>
              <a:rPr lang="en-US" dirty="0" err="1"/>
              <a:t>Naisbitt</a:t>
            </a:r>
            <a:r>
              <a:rPr lang="en-US" dirty="0"/>
              <a:t>, 1994, Global</a:t>
            </a:r>
          </a:p>
          <a:p>
            <a:pPr marL="0" indent="0" algn="just">
              <a:buNone/>
            </a:pPr>
            <a:r>
              <a:rPr lang="en-US" dirty="0"/>
              <a:t>Paradox: The Bigger the World</a:t>
            </a:r>
          </a:p>
          <a:p>
            <a:pPr marL="0" indent="0" algn="just">
              <a:buNone/>
            </a:pPr>
            <a:r>
              <a:rPr lang="en-US" dirty="0"/>
              <a:t>Economy, the More Powerful Its</a:t>
            </a:r>
          </a:p>
          <a:p>
            <a:pPr marL="0" indent="0" algn="just">
              <a:buNone/>
            </a:pPr>
            <a:r>
              <a:rPr lang="en-US" dirty="0"/>
              <a:t>Smaller Players, London: </a:t>
            </a:r>
            <a:r>
              <a:rPr lang="en-US" dirty="0" err="1"/>
              <a:t>BCA</a:t>
            </a: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623821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Today, some 40 percent of adults say they would like to</a:t>
            </a:r>
          </a:p>
          <a:p>
            <a:pPr marL="0" indent="0" algn="just">
              <a:buNone/>
            </a:pPr>
            <a:r>
              <a:rPr lang="en-US" dirty="0"/>
              <a:t>launch their own company, to call their own shots—and many are doing just that. According to the Small Business Administration, 600,000 businesses are started each year in the</a:t>
            </a:r>
          </a:p>
          <a:p>
            <a:pPr marL="0" indent="0" algn="just">
              <a:buNone/>
            </a:pPr>
            <a:r>
              <a:rPr lang="en-US" dirty="0"/>
              <a:t>United States alone. That’s more than one new company launched every minute! If you dream of owning your own business one day, the time to start preparing is now.</a:t>
            </a:r>
          </a:p>
          <a:p>
            <a:pPr marL="0" indent="0" algn="just">
              <a:buNone/>
            </a:pPr>
            <a:r>
              <a:rPr lang="en-US" dirty="0"/>
              <a:t>An entrepreneurial fever is also sweeping the nation’s campuses, as students take classes to learn how to launch, finance, and run their own companies.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4042583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marL="0" indent="0" algn="just">
              <a:buNone/>
            </a:pPr>
            <a:r>
              <a:rPr lang="en-US" dirty="0"/>
              <a:t>John </a:t>
            </a:r>
            <a:r>
              <a:rPr lang="en-US" dirty="0" err="1"/>
              <a:t>Fernandes</a:t>
            </a:r>
            <a:r>
              <a:rPr lang="en-US" dirty="0"/>
              <a:t>, president and CEO of </a:t>
            </a:r>
            <a:r>
              <a:rPr lang="en-US" dirty="0" err="1"/>
              <a:t>AACSB</a:t>
            </a:r>
            <a:r>
              <a:rPr lang="en-US" dirty="0"/>
              <a:t> International (the organization that accredits business schools around the world), puts it this way, “Entrepreneurship will continue to grow and mature into a distinct management discipline. . . . Elements of entrepreneurship will emerge as essential to any business education.” In other words, in today’s world your business courses, whatever your particular specialty or major, had best include the study of entrepreneurship. Business students, along with engineers, teachers, artists, pharmacists, lawyers, nurses, and many others, are hearing the call to own their own businesses.</a:t>
            </a:r>
          </a:p>
          <a:p>
            <a:pPr marL="0" indent="0" algn="just">
              <a:buNone/>
            </a:pPr>
            <a:r>
              <a:rPr lang="en-US" dirty="0"/>
              <a:t>You are living in a world of entrepreneurial opportunity, one that is an immensely more hospitable place for entrepreneurs than it was 20 years ago!</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8755641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The Oxford English Dictionary defines an entrepreneur as ‘a person who attempts to profit by risk and initiative’. But this definition, while emphasizing risk and initiative, could cover a wide range of professions, including that of a paid assassin.</a:t>
            </a:r>
          </a:p>
          <a:p>
            <a:pPr marL="0" indent="0" algn="just">
              <a:buNone/>
            </a:pPr>
            <a:r>
              <a:rPr lang="en-US" dirty="0"/>
              <a:t>The difference is more than just one of legality.</a:t>
            </a:r>
          </a:p>
          <a:p>
            <a:pPr marL="0" indent="0" algn="just">
              <a:buNone/>
            </a:pPr>
            <a:r>
              <a:rPr lang="en-US" dirty="0"/>
              <a:t>The question to ask is, how do they make profit? The notion of entrepreneur has been crafted over many centuries, starting with </a:t>
            </a:r>
            <a:r>
              <a:rPr lang="en-US" dirty="0" err="1"/>
              <a:t>Cantillon</a:t>
            </a:r>
            <a:r>
              <a:rPr lang="en-US" dirty="0"/>
              <a:t> (1755), and has seen many different emphases.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Entrepreneurs</a:t>
            </a:r>
          </a:p>
        </p:txBody>
      </p:sp>
    </p:spTree>
    <p:extLst>
      <p:ext uri="{BB962C8B-B14F-4D97-AF65-F5344CB8AC3E}">
        <p14:creationId xmlns:p14="http://schemas.microsoft.com/office/powerpoint/2010/main" val="1829607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Over 200 years ago </a:t>
            </a:r>
            <a:r>
              <a:rPr lang="en-US" b="1" dirty="0"/>
              <a:t>Jean-Baptiste Say</a:t>
            </a:r>
            <a:r>
              <a:rPr lang="en-US" dirty="0"/>
              <a:t>, the French economist, said: ‘entrepreneurs shift economic resources from an area of lower productivity into an area of higher productivity and greater yield’ (1803).</a:t>
            </a:r>
          </a:p>
          <a:p>
            <a:pPr marL="0" indent="0" algn="just">
              <a:buNone/>
            </a:pPr>
            <a:r>
              <a:rPr lang="en-US" dirty="0"/>
              <a:t>The perception of entrepreneurs promoting efficiency by shifting resources have been attributed to writers who attempt to explain how entrepreneurial opportunities are created – </a:t>
            </a:r>
          </a:p>
          <a:p>
            <a:pPr algn="just"/>
            <a:r>
              <a:rPr lang="en-US" b="1" dirty="0"/>
              <a:t>The Schumpeterian view and </a:t>
            </a:r>
          </a:p>
          <a:p>
            <a:pPr algn="just"/>
            <a:r>
              <a:rPr lang="en-US" b="1" dirty="0"/>
              <a:t>The </a:t>
            </a:r>
            <a:r>
              <a:rPr lang="en-US" b="1" dirty="0" err="1"/>
              <a:t>Kirznerian</a:t>
            </a:r>
            <a:r>
              <a:rPr lang="en-US" b="1" dirty="0"/>
              <a:t> view</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Entrepreneurs</a:t>
            </a:r>
          </a:p>
        </p:txBody>
      </p:sp>
    </p:spTree>
    <p:extLst>
      <p:ext uri="{BB962C8B-B14F-4D97-AF65-F5344CB8AC3E}">
        <p14:creationId xmlns:p14="http://schemas.microsoft.com/office/powerpoint/2010/main" val="1424069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In the Schumpeterian view, opportunities emerge out of the entrepreneurs’ </a:t>
            </a:r>
            <a:r>
              <a:rPr lang="en-US" b="1" dirty="0"/>
              <a:t>internal disposition </a:t>
            </a:r>
            <a:r>
              <a:rPr lang="en-US" dirty="0"/>
              <a:t>to initiate or create change. They are the </a:t>
            </a:r>
            <a:r>
              <a:rPr lang="en-US" b="1" dirty="0"/>
              <a:t>innovators</a:t>
            </a:r>
            <a:r>
              <a:rPr lang="en-US" dirty="0"/>
              <a:t> who ‘shock’ and disturb the economic equilibrium during times of uncertainty, change and technological upheaval. With Schumpeter the emphasis is on independent firm formation by entrepreneurs leading to this ‘creative destruction’.</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Schumpeterian view </a:t>
            </a:r>
          </a:p>
        </p:txBody>
      </p:sp>
    </p:spTree>
    <p:extLst>
      <p:ext uri="{BB962C8B-B14F-4D97-AF65-F5344CB8AC3E}">
        <p14:creationId xmlns:p14="http://schemas.microsoft.com/office/powerpoint/2010/main" val="3994215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 The </a:t>
            </a:r>
            <a:r>
              <a:rPr lang="en-US" dirty="0" err="1"/>
              <a:t>Kirznerian</a:t>
            </a:r>
            <a:r>
              <a:rPr lang="en-US" dirty="0"/>
              <a:t> view emphasizes opportunity recognition and implies that entrepreneurial profits are secured on the basis of knowledge and information gaps that arise between people in the market – called </a:t>
            </a:r>
            <a:r>
              <a:rPr lang="en-US" b="1" dirty="0"/>
              <a:t>information asymmetry</a:t>
            </a:r>
            <a:r>
              <a:rPr lang="en-US" dirty="0"/>
              <a:t> – all based within the general equilibrium or neoclassical model of economics, originally derived from Marshall (1890). </a:t>
            </a:r>
          </a:p>
          <a:p>
            <a:pPr marL="0" indent="0" algn="just">
              <a:buNone/>
            </a:pPr>
            <a:r>
              <a:rPr lang="en-US" dirty="0"/>
              <a:t>In this view, entrepreneurs are </a:t>
            </a:r>
            <a:r>
              <a:rPr lang="en-US" b="1" dirty="0"/>
              <a:t>alert, discovering opportunities </a:t>
            </a:r>
            <a:r>
              <a:rPr lang="en-US" dirty="0"/>
              <a:t>by acting as an </a:t>
            </a:r>
            <a:r>
              <a:rPr lang="en-US" b="1" dirty="0"/>
              <a:t>arbitrageur or a price adjuster </a:t>
            </a:r>
            <a:r>
              <a:rPr lang="en-US" dirty="0"/>
              <a:t>in the marketplace.</a:t>
            </a:r>
          </a:p>
          <a:p>
            <a:pPr marL="0" indent="0" algn="just">
              <a:buNone/>
            </a:pPr>
            <a:r>
              <a:rPr lang="en-US" dirty="0" err="1"/>
              <a:t>Kirzner’s</a:t>
            </a:r>
            <a:r>
              <a:rPr lang="en-US" dirty="0"/>
              <a:t> work is based on that of Knight, who discussed entrepreneurship’s role in wealth creation with an emphasis on the ability to cope with risk and uncertainty.</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09600" y="152400"/>
            <a:ext cx="7835153" cy="1472006"/>
          </a:xfrm>
        </p:spPr>
        <p:txBody>
          <a:bodyPr/>
          <a:lstStyle/>
          <a:p>
            <a:r>
              <a:rPr lang="en-US" dirty="0" err="1"/>
              <a:t>Kirznerian</a:t>
            </a:r>
            <a:r>
              <a:rPr lang="en-US" dirty="0"/>
              <a:t> view</a:t>
            </a:r>
            <a:br>
              <a:rPr lang="en-US" dirty="0"/>
            </a:br>
            <a:endParaRPr lang="en-US" dirty="0"/>
          </a:p>
        </p:txBody>
      </p:sp>
    </p:spTree>
    <p:extLst>
      <p:ext uri="{BB962C8B-B14F-4D97-AF65-F5344CB8AC3E}">
        <p14:creationId xmlns:p14="http://schemas.microsoft.com/office/powerpoint/2010/main" val="1828686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dirty="0"/>
              <a:t>In reality, both Schumpeter and </a:t>
            </a:r>
            <a:r>
              <a:rPr lang="en-US" dirty="0" err="1"/>
              <a:t>Kirzner</a:t>
            </a:r>
            <a:r>
              <a:rPr lang="en-US" dirty="0"/>
              <a:t> may be right. Because entrepreneurs spot and create opportunities.</a:t>
            </a:r>
          </a:p>
          <a:p>
            <a:pPr marL="0" indent="0">
              <a:buNone/>
            </a:pPr>
            <a:r>
              <a:rPr lang="en-US" dirty="0"/>
              <a:t> </a:t>
            </a:r>
          </a:p>
          <a:p>
            <a:pPr marL="0" indent="0">
              <a:buNone/>
            </a:pPr>
            <a:r>
              <a:rPr lang="en-US" i="1" dirty="0"/>
              <a:t>An entrepreneur creates and/or exploits change for profit by innovating, accepting risk and moving resources to areas of higher return</a:t>
            </a:r>
            <a:r>
              <a:rPr lang="en-US" b="1" i="1" dirty="0"/>
              <a:t>.(Burns, 2016</a:t>
            </a:r>
            <a:r>
              <a:rPr lang="en-US" i="1" dirty="0"/>
              <a:t>)</a:t>
            </a:r>
          </a:p>
          <a:p>
            <a:pPr marL="0" indent="0">
              <a:buNone/>
            </a:pPr>
            <a:endParaRPr lang="en-US" b="1" i="1" dirty="0"/>
          </a:p>
          <a:p>
            <a:pPr marL="0" indent="0">
              <a:buNone/>
            </a:pPr>
            <a:r>
              <a:rPr lang="en-US" b="1" i="1" dirty="0"/>
              <a:t>How will we place Facebook and </a:t>
            </a:r>
            <a:r>
              <a:rPr lang="en-US" b="1" i="1" dirty="0" err="1"/>
              <a:t>Whatsapp</a:t>
            </a:r>
            <a:r>
              <a:rPr lang="en-US" b="1" i="1" dirty="0"/>
              <a:t>? Were the two products as a results of  creating opportunity or spotting opportunity?</a:t>
            </a:r>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dirty="0"/>
          </a:p>
          <a:p>
            <a:pPr marL="0"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Entrepreneurs</a:t>
            </a:r>
          </a:p>
        </p:txBody>
      </p:sp>
    </p:spTree>
    <p:extLst>
      <p:ext uri="{BB962C8B-B14F-4D97-AF65-F5344CB8AC3E}">
        <p14:creationId xmlns:p14="http://schemas.microsoft.com/office/powerpoint/2010/main" val="37757946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Entrepreneurs provide an essential source of new ideas and experimentation that would otherwise remain untapped in the economy (</a:t>
            </a:r>
            <a:r>
              <a:rPr lang="en-US" dirty="0" err="1"/>
              <a:t>Acs</a:t>
            </a:r>
            <a:r>
              <a:rPr lang="en-US" dirty="0"/>
              <a:t> and </a:t>
            </a:r>
            <a:r>
              <a:rPr lang="en-US" dirty="0" err="1"/>
              <a:t>Audretsch,2005</a:t>
            </a:r>
            <a:r>
              <a:rPr lang="en-US" dirty="0"/>
              <a:t>). </a:t>
            </a:r>
          </a:p>
          <a:p>
            <a:pPr marL="0" indent="0" algn="just">
              <a:buNone/>
            </a:pPr>
            <a:r>
              <a:rPr lang="en-US" dirty="0"/>
              <a:t>We call this process </a:t>
            </a:r>
            <a:r>
              <a:rPr lang="en-US" b="1" dirty="0"/>
              <a:t>innovation</a:t>
            </a:r>
            <a:r>
              <a:rPr lang="en-US" dirty="0"/>
              <a:t> and this is an essential tool for entrepreneurs and one that creates wealth for an economy.</a:t>
            </a:r>
          </a:p>
          <a:p>
            <a:pPr marL="0" indent="0" algn="just">
              <a:buNone/>
            </a:pPr>
            <a:r>
              <a:rPr lang="en-US" dirty="0"/>
              <a:t>Entrepreneurs may also create new demand or find new ways of exploiting existing markets. They identify a commercial opportunity and then exploit it. They are agents of change. In essence, an entrepreneur is best defined by his/her actions.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Entrepreneurs</a:t>
            </a:r>
          </a:p>
        </p:txBody>
      </p:sp>
    </p:spTree>
    <p:extLst>
      <p:ext uri="{BB962C8B-B14F-4D97-AF65-F5344CB8AC3E}">
        <p14:creationId xmlns:p14="http://schemas.microsoft.com/office/powerpoint/2010/main" val="39986090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Entrepreneurs create new demand or find new ways of exploiting existing markets. They identify a commercial opportunity and then exploit it.</a:t>
            </a:r>
          </a:p>
          <a:p>
            <a:pPr marL="0" indent="0" algn="just">
              <a:buNone/>
            </a:pPr>
            <a:endParaRPr lang="en-US" dirty="0"/>
          </a:p>
          <a:p>
            <a:pPr algn="just"/>
            <a:r>
              <a:rPr lang="en-US" dirty="0" err="1"/>
              <a:t>Intrapreneurs</a:t>
            </a:r>
            <a:r>
              <a:rPr lang="en-US" dirty="0"/>
              <a:t>: Entrepreneurs could undertake their activities for established, larger firms while remaining in salaried employment, content for the profits (and risks) of their work to go to their employers.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Forms of Entrepreneurship</a:t>
            </a:r>
          </a:p>
        </p:txBody>
      </p:sp>
    </p:spTree>
    <p:extLst>
      <p:ext uri="{BB962C8B-B14F-4D97-AF65-F5344CB8AC3E}">
        <p14:creationId xmlns:p14="http://schemas.microsoft.com/office/powerpoint/2010/main" val="3201358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Owner-managers: They own the business they manage. Sole traders are owner-managers. Managers of companies owning over 50% of the share capital, and thereby controlling the business, are owner-managers. The term is also used loosely when a small group of managers own and control the business. However, </a:t>
            </a:r>
            <a:r>
              <a:rPr lang="en-US" b="1" dirty="0"/>
              <a:t>not</a:t>
            </a:r>
            <a:r>
              <a:rPr lang="en-US" dirty="0"/>
              <a:t> all owner-managers are entrepreneurs.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Forms of Entrepreneurship</a:t>
            </a:r>
          </a:p>
        </p:txBody>
      </p:sp>
    </p:spTree>
    <p:extLst>
      <p:ext uri="{BB962C8B-B14F-4D97-AF65-F5344CB8AC3E}">
        <p14:creationId xmlns:p14="http://schemas.microsoft.com/office/powerpoint/2010/main" val="2085528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gn="just"/>
            <a:r>
              <a:rPr lang="en-US" dirty="0"/>
              <a:t>Social entrepreneurs usually operate as entrepreneurs within organizations whose primary purpose is social rather than economic – called social enterprises. Sometimes they create these organizations themselves but sometimes, like an </a:t>
            </a:r>
            <a:r>
              <a:rPr lang="en-US" dirty="0" err="1"/>
              <a:t>intrapreneur</a:t>
            </a:r>
            <a:r>
              <a:rPr lang="en-US" dirty="0"/>
              <a:t>.</a:t>
            </a:r>
          </a:p>
          <a:p>
            <a:pPr algn="just"/>
            <a:r>
              <a:rPr lang="en-US" dirty="0"/>
              <a:t>Serial entrepreneurs usually start a new business, go on to  sell off the businesses when they become successful businesses and move on to grow another, capitalizing on their ability to start a new venture and creating personal wealth from their sale rather than from its operation.   </a:t>
            </a:r>
          </a:p>
          <a:p>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Forms of Entrepreneurship</a:t>
            </a:r>
          </a:p>
        </p:txBody>
      </p:sp>
    </p:spTree>
    <p:extLst>
      <p:ext uri="{BB962C8B-B14F-4D97-AF65-F5344CB8AC3E}">
        <p14:creationId xmlns:p14="http://schemas.microsoft.com/office/powerpoint/2010/main" val="694815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Entrepreneurship that emphasizes joint economic and ecological value creation only has been called </a:t>
            </a:r>
            <a:r>
              <a:rPr lang="en-US" b="1" dirty="0"/>
              <a:t>environmental entrepreneurship, eco- entrepreneurship and eco-</a:t>
            </a:r>
            <a:r>
              <a:rPr lang="en-US" b="1" dirty="0" err="1"/>
              <a:t>preneurship</a:t>
            </a:r>
            <a:r>
              <a:rPr lang="en-US" b="1" dirty="0"/>
              <a:t>.</a:t>
            </a:r>
          </a:p>
          <a:p>
            <a:pPr algn="just"/>
            <a:r>
              <a:rPr lang="en-US" dirty="0"/>
              <a:t>Another approach to this issue in recent years has been the emergence of what has become known as </a:t>
            </a:r>
            <a:r>
              <a:rPr lang="en-US" b="1" dirty="0"/>
              <a:t>sustainable entrepreneurship </a:t>
            </a:r>
            <a:r>
              <a:rPr lang="en-US" dirty="0"/>
              <a:t>– where issues of CSR(Corporate social responsibility), sustainability, ethics and good corporate governance are at the core of a ‘for-profit’ commercial enterprise.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Forms of Entrepreneurship</a:t>
            </a:r>
          </a:p>
        </p:txBody>
      </p:sp>
    </p:spTree>
    <p:extLst>
      <p:ext uri="{BB962C8B-B14F-4D97-AF65-F5344CB8AC3E}">
        <p14:creationId xmlns:p14="http://schemas.microsoft.com/office/powerpoint/2010/main" val="593460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As you can appreciate, entrepreneurs and the small firms they (most of them) manage are not homogeneous. </a:t>
            </a:r>
          </a:p>
          <a:p>
            <a:pPr marL="0" indent="0" algn="just">
              <a:buNone/>
            </a:pPr>
            <a:r>
              <a:rPr lang="en-US" dirty="0"/>
              <a:t>Some entrepreneurs are successful and some are not. Each small firm is different and every small firm is</a:t>
            </a:r>
          </a:p>
          <a:p>
            <a:pPr marL="0" indent="0" algn="just">
              <a:buNone/>
            </a:pPr>
            <a:r>
              <a:rPr lang="en-US" dirty="0"/>
              <a:t>organic – it will change over time and in different circumstances.</a:t>
            </a:r>
          </a:p>
          <a:p>
            <a:pPr marL="0" indent="0" algn="just">
              <a:buNone/>
            </a:pPr>
            <a:r>
              <a:rPr lang="en-US" dirty="0"/>
              <a:t>What defines the entrepreneur is their willingness to act upon an idea.</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Forms of Entrepreneurship</a:t>
            </a:r>
          </a:p>
        </p:txBody>
      </p:sp>
    </p:spTree>
    <p:extLst>
      <p:ext uri="{BB962C8B-B14F-4D97-AF65-F5344CB8AC3E}">
        <p14:creationId xmlns:p14="http://schemas.microsoft.com/office/powerpoint/2010/main" val="5795047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en-US" dirty="0"/>
              <a:t> Profit is not always the prime motivation for creating a new venture. For some entrepreneurs, it is simply a badge of success and the attraction of being an entrepreneur lies in being your own boss, doing what you want to do rather than what you are told to do.</a:t>
            </a:r>
          </a:p>
          <a:p>
            <a:pPr algn="just"/>
            <a:r>
              <a:rPr lang="en-US" dirty="0"/>
              <a:t>Some people spot a business opportunity – a product or a</a:t>
            </a:r>
          </a:p>
          <a:p>
            <a:pPr marL="0" indent="0" algn="just">
              <a:buNone/>
            </a:pPr>
            <a:r>
              <a:rPr lang="en-US" dirty="0"/>
              <a:t> service that they do not see offered in the market or a way of doing something better or cheaper.</a:t>
            </a:r>
          </a:p>
          <a:p>
            <a:pPr algn="just"/>
            <a:r>
              <a:rPr lang="en-US" dirty="0"/>
              <a:t>Some people might be frustrated by characteristics of current products or services being offered that does not meet their needs.</a:t>
            </a:r>
          </a:p>
          <a:p>
            <a:pPr marL="0" indent="0" algn="just">
              <a:buNone/>
            </a:pPr>
            <a:endParaRPr lang="en-US" dirty="0"/>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What do entrepreneurs do?</a:t>
            </a:r>
          </a:p>
        </p:txBody>
      </p:sp>
    </p:spTree>
    <p:extLst>
      <p:ext uri="{BB962C8B-B14F-4D97-AF65-F5344CB8AC3E}">
        <p14:creationId xmlns:p14="http://schemas.microsoft.com/office/powerpoint/2010/main" val="25552135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Some people, just a few, have a genuine ‘eureka’ moment when they come up with a new invention or have an idea that can revolutionize an industry.</a:t>
            </a:r>
          </a:p>
          <a:p>
            <a:pPr algn="just"/>
            <a:r>
              <a:rPr lang="en-US" dirty="0"/>
              <a:t>Whatever the source of their business idea, they feel motivated to do something about it – perhaps wanting to make a lot of money on the way. What defines the entrepreneur is their willingness to act upon the idea.</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What do entrepreneurs do?</a:t>
            </a:r>
          </a:p>
        </p:txBody>
      </p:sp>
    </p:spTree>
    <p:extLst>
      <p:ext uri="{BB962C8B-B14F-4D97-AF65-F5344CB8AC3E}">
        <p14:creationId xmlns:p14="http://schemas.microsoft.com/office/powerpoint/2010/main" val="3031414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It is important to note that at any given time, many potentially profitable business opportunities exist. But these opportunities must be recognized and grasped by individuals with abilities and desire strong enough to assure success.</a:t>
            </a:r>
          </a:p>
          <a:p>
            <a:pPr marL="0" indent="0" algn="just">
              <a:buNone/>
            </a:pPr>
            <a:r>
              <a:rPr lang="en-US" dirty="0"/>
              <a:t>Many individuals achieve success on a very modest level in business endeavors far different from those described here. Others fail, but a failure in business is not a failure in life. Many learn from</a:t>
            </a:r>
          </a:p>
          <a:p>
            <a:pPr marL="0" indent="0" algn="just">
              <a:buNone/>
            </a:pPr>
            <a:r>
              <a:rPr lang="en-US" dirty="0"/>
              <a:t>the experience and go on to start a successful business.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What do entrepreneurs do?</a:t>
            </a:r>
          </a:p>
        </p:txBody>
      </p:sp>
    </p:spTree>
    <p:extLst>
      <p:ext uri="{BB962C8B-B14F-4D97-AF65-F5344CB8AC3E}">
        <p14:creationId xmlns:p14="http://schemas.microsoft.com/office/powerpoint/2010/main" val="15390150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As with the other terms in humanity, there is no uniformly acceptable definition of SME. </a:t>
            </a:r>
          </a:p>
          <a:p>
            <a:pPr marL="0" indent="0" algn="just">
              <a:buNone/>
            </a:pPr>
            <a:r>
              <a:rPr lang="en-US" dirty="0"/>
              <a:t>Back in 1971, the Bolton Report (Bolton, 1971), which is usually held to be a definitive report on the state of small business in Britain at the time, made heavy weather of providing a statistical definition. Recognizing that one definition would not cover industries as divergent as manufacturing and service, it</a:t>
            </a:r>
          </a:p>
          <a:p>
            <a:pPr marL="0" indent="0" algn="just">
              <a:buNone/>
            </a:pPr>
            <a:r>
              <a:rPr lang="en-US" dirty="0"/>
              <a:t>used </a:t>
            </a:r>
            <a:r>
              <a:rPr lang="en-US" b="1" dirty="0"/>
              <a:t>eight definitions </a:t>
            </a:r>
            <a:r>
              <a:rPr lang="en-US" dirty="0"/>
              <a:t>for various industry groups.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SMEs</a:t>
            </a:r>
          </a:p>
        </p:txBody>
      </p:sp>
    </p:spTree>
    <p:extLst>
      <p:ext uri="{BB962C8B-B14F-4D97-AF65-F5344CB8AC3E}">
        <p14:creationId xmlns:p14="http://schemas.microsoft.com/office/powerpoint/2010/main" val="36267504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lgn="just">
              <a:buNone/>
            </a:pPr>
            <a:r>
              <a:rPr lang="en-US" dirty="0"/>
              <a:t>The European Commission coined the now widely used term ‘small and medium-sized enterprise’ (SME) and in 1996 defined it as an organization employing fewer than 250 people – a criterion that continues to be used for most statistical purposes. It defines these further categories:</a:t>
            </a:r>
          </a:p>
          <a:p>
            <a:pPr marL="0" indent="0" algn="just">
              <a:buNone/>
            </a:pPr>
            <a:r>
              <a:rPr lang="en-US" dirty="0"/>
              <a:t>Number of employees</a:t>
            </a:r>
          </a:p>
          <a:p>
            <a:pPr marL="0" indent="0" algn="just">
              <a:buNone/>
            </a:pPr>
            <a:r>
              <a:rPr lang="en-US" dirty="0"/>
              <a:t>Micro 0–9</a:t>
            </a:r>
          </a:p>
          <a:p>
            <a:pPr marL="0" indent="0" algn="just">
              <a:buNone/>
            </a:pPr>
            <a:r>
              <a:rPr lang="en-US" dirty="0"/>
              <a:t>Small 10–49</a:t>
            </a:r>
          </a:p>
          <a:p>
            <a:pPr marL="0" indent="0" algn="just">
              <a:buNone/>
            </a:pPr>
            <a:r>
              <a:rPr lang="en-US" dirty="0"/>
              <a:t>Medium 50–249</a:t>
            </a:r>
          </a:p>
          <a:p>
            <a:pPr marL="0" indent="0" algn="just">
              <a:buNone/>
            </a:pPr>
            <a:r>
              <a:rPr lang="en-US" dirty="0"/>
              <a:t>Large 250 or more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SMEs</a:t>
            </a:r>
          </a:p>
        </p:txBody>
      </p:sp>
    </p:spTree>
    <p:extLst>
      <p:ext uri="{BB962C8B-B14F-4D97-AF65-F5344CB8AC3E}">
        <p14:creationId xmlns:p14="http://schemas.microsoft.com/office/powerpoint/2010/main" val="24929495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The EU goes further to define the SME as having a turnover of less than 50 million and an annual balance sheet total of Euros 43 million Euros.</a:t>
            </a:r>
          </a:p>
          <a:p>
            <a:pPr marL="0" indent="0" algn="just">
              <a:buNone/>
            </a:pPr>
            <a:endParaRPr lang="en-US" dirty="0"/>
          </a:p>
          <a:p>
            <a:pPr marL="0" indent="0" algn="just">
              <a:buNone/>
            </a:pPr>
            <a:r>
              <a:rPr lang="en-US" dirty="0"/>
              <a:t>In the United States, the Small Business Administration sets small business criteria based on industry, ownership structure, revenue and number of employees.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SMEs</a:t>
            </a:r>
          </a:p>
        </p:txBody>
      </p:sp>
    </p:spTree>
    <p:extLst>
      <p:ext uri="{BB962C8B-B14F-4D97-AF65-F5344CB8AC3E}">
        <p14:creationId xmlns:p14="http://schemas.microsoft.com/office/powerpoint/2010/main" val="25448620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b="1" dirty="0"/>
              <a:t>National Board for Small Scale Industries (Ghana)</a:t>
            </a:r>
          </a:p>
          <a:p>
            <a:pPr marL="0" indent="0" algn="just">
              <a:buNone/>
            </a:pPr>
            <a:r>
              <a:rPr lang="en-US" dirty="0"/>
              <a:t>Less than ten workers and fixed assets not exceeding 10,000 Ghana </a:t>
            </a:r>
            <a:r>
              <a:rPr lang="en-US" dirty="0" err="1"/>
              <a:t>Cedis</a:t>
            </a:r>
            <a:endParaRPr lang="en-US" dirty="0"/>
          </a:p>
          <a:p>
            <a:pPr marL="0" indent="0" algn="just">
              <a:buNone/>
            </a:pPr>
            <a:endParaRPr lang="en-US" dirty="0"/>
          </a:p>
          <a:p>
            <a:pPr marL="0" indent="0" algn="just">
              <a:buNone/>
            </a:pPr>
            <a:r>
              <a:rPr lang="en-US" b="1" dirty="0"/>
              <a:t>Ministry of Trade and Industry (Ghana)</a:t>
            </a:r>
          </a:p>
          <a:p>
            <a:pPr algn="just"/>
            <a:r>
              <a:rPr lang="en-US" dirty="0"/>
              <a:t>Micro: Not more than 5 employees and fixed assets not exceeding $10,000</a:t>
            </a:r>
          </a:p>
          <a:p>
            <a:pPr algn="just"/>
            <a:r>
              <a:rPr lang="en-US" dirty="0"/>
              <a:t>Small: Employs from 6-9 and fixed assets of $100,000</a:t>
            </a:r>
          </a:p>
          <a:p>
            <a:pPr algn="just"/>
            <a:r>
              <a:rPr lang="en-US" dirty="0"/>
              <a:t>Medium: Between 10-99 workers and fixed assets of $1,000,000</a:t>
            </a:r>
          </a:p>
          <a:p>
            <a:pPr marL="0" indent="0" algn="just">
              <a:buNone/>
            </a:pPr>
            <a:endParaRPr lang="en-US" dirty="0"/>
          </a:p>
          <a:p>
            <a:pPr marL="0" indent="0" algn="just">
              <a:buNone/>
            </a:pPr>
            <a:endParaRPr lang="en-US" dirty="0"/>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SMEs</a:t>
            </a:r>
          </a:p>
        </p:txBody>
      </p:sp>
    </p:spTree>
    <p:extLst>
      <p:ext uri="{BB962C8B-B14F-4D97-AF65-F5344CB8AC3E}">
        <p14:creationId xmlns:p14="http://schemas.microsoft.com/office/powerpoint/2010/main" val="13306857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Getting a universal definition to cover all the characteristics of SMEs is as difficult as it is impossible. </a:t>
            </a:r>
          </a:p>
          <a:p>
            <a:pPr marL="0" indent="0" algn="just">
              <a:buNone/>
            </a:pPr>
            <a:r>
              <a:rPr lang="en-US" dirty="0"/>
              <a:t>However, certain characteristics may apply to most (but not all) SMEs:</a:t>
            </a:r>
          </a:p>
          <a:p>
            <a:pPr algn="just"/>
            <a:r>
              <a:rPr lang="en-US" dirty="0"/>
              <a:t>Uncertainty arising from constant structural and market changes.</a:t>
            </a:r>
          </a:p>
          <a:p>
            <a:pPr algn="just"/>
            <a:r>
              <a:rPr lang="en-US" dirty="0"/>
              <a:t>Fewer employees.</a:t>
            </a:r>
          </a:p>
          <a:p>
            <a:pPr algn="just"/>
            <a:r>
              <a:rPr lang="en-US" dirty="0"/>
              <a:t>Geographically </a:t>
            </a:r>
            <a:r>
              <a:rPr lang="en-US" dirty="0" err="1"/>
              <a:t>localised</a:t>
            </a:r>
            <a:r>
              <a:rPr lang="en-US" dirty="0"/>
              <a:t>.</a:t>
            </a:r>
          </a:p>
          <a:p>
            <a:pPr algn="just"/>
            <a:r>
              <a:rPr lang="en-US" dirty="0"/>
              <a:t>Few financiers.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Defining SMEs</a:t>
            </a:r>
          </a:p>
        </p:txBody>
      </p:sp>
    </p:spTree>
    <p:extLst>
      <p:ext uri="{BB962C8B-B14F-4D97-AF65-F5344CB8AC3E}">
        <p14:creationId xmlns:p14="http://schemas.microsoft.com/office/powerpoint/2010/main" val="1188980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Entrepreneurial management is characterized as being</a:t>
            </a:r>
          </a:p>
          <a:p>
            <a:pPr marL="0" indent="0" algn="just">
              <a:buNone/>
            </a:pPr>
            <a:r>
              <a:rPr lang="en-US" dirty="0"/>
              <a:t>a social activity that has a different approach to dealing</a:t>
            </a:r>
          </a:p>
          <a:p>
            <a:pPr marL="0" indent="0" algn="just">
              <a:buNone/>
            </a:pPr>
            <a:r>
              <a:rPr lang="en-US" dirty="0"/>
              <a:t>with risk and uncertainty. </a:t>
            </a:r>
          </a:p>
          <a:p>
            <a:pPr marL="0" indent="0" algn="just">
              <a:buNone/>
            </a:pPr>
            <a:r>
              <a:rPr lang="en-US" dirty="0"/>
              <a:t>Successful entrepreneurs generate strong relationships with stakeholders that allow them to mitigate risk and maintain flexibility of action. </a:t>
            </a:r>
          </a:p>
          <a:p>
            <a:pPr marL="0" indent="0" algn="just">
              <a:buNone/>
            </a:pPr>
            <a:r>
              <a:rPr lang="en-US" dirty="0"/>
              <a:t>They develop strategy differently, creating strategic intent but maintaining a loose, flexible strategy and continuously strategizing and creating as many strategic options as possible.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Entrepreneurial Management</a:t>
            </a:r>
          </a:p>
        </p:txBody>
      </p:sp>
    </p:spTree>
    <p:extLst>
      <p:ext uri="{BB962C8B-B14F-4D97-AF65-F5344CB8AC3E}">
        <p14:creationId xmlns:p14="http://schemas.microsoft.com/office/powerpoint/2010/main" val="39551900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Successful entrepreneurs are good at developing relationships with customers, staff, suppliers and all the stakeholders in the business. They are able to form loyal relationships with customers. </a:t>
            </a:r>
          </a:p>
          <a:p>
            <a:pPr marL="0" indent="0">
              <a:buNone/>
            </a:pPr>
            <a:r>
              <a:rPr lang="en-US" dirty="0"/>
              <a:t>They tend to manage their staff by developing strong personal relationships rather than relying on formal structures and hierarchies.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Entrepreneurial Management</a:t>
            </a:r>
          </a:p>
        </p:txBody>
      </p:sp>
    </p:spTree>
    <p:extLst>
      <p:ext uri="{BB962C8B-B14F-4D97-AF65-F5344CB8AC3E}">
        <p14:creationId xmlns:p14="http://schemas.microsoft.com/office/powerpoint/2010/main" val="14391149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Small firms typically approach decision-making differently than larger firms. They tend to adopt an incremental approach that is often seen as short-term.</a:t>
            </a:r>
          </a:p>
          <a:p>
            <a:pPr marL="0" indent="0" algn="just">
              <a:buNone/>
            </a:pPr>
            <a:r>
              <a:rPr lang="en-US" dirty="0"/>
              <a:t>Entrepreneurs tend to keep capital investment and fixed costs as low as possible, often by subcontracting activities.</a:t>
            </a:r>
          </a:p>
          <a:p>
            <a:pPr marL="0" indent="0" algn="just">
              <a:buNone/>
            </a:pPr>
            <a:r>
              <a:rPr lang="en-US" dirty="0"/>
              <a:t>Also, entrepreneurs are adept at compartmentalizing risk, for example by separating out business ventures into separate legal entities, so that the failure of one does not endanger the survival of the others.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Entrepreneurial Management</a:t>
            </a:r>
          </a:p>
        </p:txBody>
      </p:sp>
    </p:spTree>
    <p:extLst>
      <p:ext uri="{BB962C8B-B14F-4D97-AF65-F5344CB8AC3E}">
        <p14:creationId xmlns:p14="http://schemas.microsoft.com/office/powerpoint/2010/main" val="32758910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Entrepreneurs are high risk takers: the reality is that entrepreneurs are not gamblers. They take calculated risk.</a:t>
            </a:r>
          </a:p>
          <a:p>
            <a:pPr algn="just"/>
            <a:r>
              <a:rPr lang="en-US" dirty="0"/>
              <a:t>Entrepreneurs are born and never made: the reality is that every one can be an entrepreneur.</a:t>
            </a:r>
          </a:p>
          <a:p>
            <a:pPr algn="just"/>
            <a:r>
              <a:rPr lang="en-US" dirty="0"/>
              <a:t>Entrepreneurship should start in mid-life (from 40 years): you can start a business at any age.</a:t>
            </a:r>
          </a:p>
          <a:p>
            <a:pPr algn="just"/>
            <a:r>
              <a:rPr lang="en-US" dirty="0"/>
              <a:t>Entrepreneurs have more control over their schedule than salaried workers : this thinking is false.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Some myths and misconceptions in entrepreneurship</a:t>
            </a:r>
          </a:p>
        </p:txBody>
      </p:sp>
    </p:spTree>
    <p:extLst>
      <p:ext uri="{BB962C8B-B14F-4D97-AF65-F5344CB8AC3E}">
        <p14:creationId xmlns:p14="http://schemas.microsoft.com/office/powerpoint/2010/main" val="28454125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0" indent="0" algn="just">
              <a:buNone/>
            </a:pPr>
            <a:r>
              <a:rPr lang="en-US" dirty="0"/>
              <a:t>One of the most enduring myths in American business is that of the lone entrepreneur who defies the odds by taking a creative business idea and turning it into reality by sheer force of will and personality. It makes a great story, but is that how it usually happens?</a:t>
            </a:r>
          </a:p>
          <a:p>
            <a:pPr marL="0" indent="0" algn="just">
              <a:buNone/>
            </a:pPr>
            <a:r>
              <a:rPr lang="en-US" dirty="0"/>
              <a:t>Most modern businesses’ success depended on collaboration. In many cases, collaboration begins almost from the start, when two or more individuals come together as a team to launch a new enterprise.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Some myths and misconceptions in entrepreneurship</a:t>
            </a:r>
          </a:p>
        </p:txBody>
      </p:sp>
    </p:spTree>
    <p:extLst>
      <p:ext uri="{BB962C8B-B14F-4D97-AF65-F5344CB8AC3E}">
        <p14:creationId xmlns:p14="http://schemas.microsoft.com/office/powerpoint/2010/main" val="16636742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“It is not possible to draw a picture of the universe, but we know it and how fast it is moving and developing. It is like describing the shape of a large cloud in the sky, blown off by a strong wind. Yet we know its shape and where it is because we sense it. Although it is not entirely possible to describe it in a static way, a world-class entrepreneur can describe it and even capture a large chunk of it, converting it into raindrops of profit.”</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Kenichi </a:t>
            </a:r>
            <a:r>
              <a:rPr lang="en-US" dirty="0" err="1"/>
              <a:t>Ohmae</a:t>
            </a:r>
            <a:r>
              <a:rPr lang="en-US" dirty="0"/>
              <a:t> (2005)</a:t>
            </a:r>
          </a:p>
        </p:txBody>
      </p:sp>
    </p:spTree>
    <p:extLst>
      <p:ext uri="{BB962C8B-B14F-4D97-AF65-F5344CB8AC3E}">
        <p14:creationId xmlns:p14="http://schemas.microsoft.com/office/powerpoint/2010/main" val="17307036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69CD7-E85F-41DF-8DE5-44E24EBA6CB6}"/>
              </a:ext>
            </a:extLst>
          </p:cNvPr>
          <p:cNvSpPr>
            <a:spLocks noGrp="1"/>
          </p:cNvSpPr>
          <p:nvPr>
            <p:ph idx="1"/>
          </p:nvPr>
        </p:nvSpPr>
        <p:spPr/>
        <p:txBody>
          <a:bodyPr/>
          <a:lstStyle/>
          <a:p>
            <a:pPr marL="411480" lvl="1" indent="0">
              <a:buNone/>
            </a:pPr>
            <a:r>
              <a:rPr lang="en-US" dirty="0"/>
              <a:t>A from the Dragon </a:t>
            </a:r>
            <a:r>
              <a:rPr lang="en-US"/>
              <a:t>Pitching Show</a:t>
            </a:r>
            <a:endParaRPr lang="en-US" dirty="0"/>
          </a:p>
        </p:txBody>
      </p:sp>
      <p:sp>
        <p:nvSpPr>
          <p:cNvPr id="3" name="Footer Placeholder 2">
            <a:extLst>
              <a:ext uri="{FF2B5EF4-FFF2-40B4-BE49-F238E27FC236}">
                <a16:creationId xmlns:a16="http://schemas.microsoft.com/office/drawing/2014/main" id="{A79C6CA5-42D8-4896-B900-DBA6687D725D}"/>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A8A4F093-2BF9-4196-9141-571C11168ECD}"/>
              </a:ext>
            </a:extLst>
          </p:cNvPr>
          <p:cNvSpPr>
            <a:spLocks noGrp="1"/>
          </p:cNvSpPr>
          <p:nvPr>
            <p:ph type="title"/>
          </p:nvPr>
        </p:nvSpPr>
        <p:spPr/>
        <p:txBody>
          <a:bodyPr/>
          <a:lstStyle/>
          <a:p>
            <a:r>
              <a:rPr lang="en-US" dirty="0"/>
              <a:t>Video case</a:t>
            </a:r>
          </a:p>
        </p:txBody>
      </p:sp>
    </p:spTree>
    <p:extLst>
      <p:ext uri="{BB962C8B-B14F-4D97-AF65-F5344CB8AC3E}">
        <p14:creationId xmlns:p14="http://schemas.microsoft.com/office/powerpoint/2010/main" val="34035737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ctrTitle"/>
          </p:nvPr>
        </p:nvSpPr>
        <p:spPr/>
        <p:txBody>
          <a:bodyPr/>
          <a:lstStyle/>
          <a:p>
            <a:r>
              <a:rPr lang="en-US" dirty="0"/>
              <a:t>Lesson Three</a:t>
            </a:r>
          </a:p>
        </p:txBody>
      </p:sp>
      <p:sp>
        <p:nvSpPr>
          <p:cNvPr id="4" name="Subtitle 3"/>
          <p:cNvSpPr>
            <a:spLocks noGrp="1"/>
          </p:cNvSpPr>
          <p:nvPr>
            <p:ph type="subTitle" idx="1"/>
          </p:nvPr>
        </p:nvSpPr>
        <p:spPr/>
        <p:txBody>
          <a:bodyPr>
            <a:normAutofit/>
          </a:bodyPr>
          <a:lstStyle/>
          <a:p>
            <a:r>
              <a:rPr lang="en-US" sz="2800" dirty="0"/>
              <a:t>PLANNING A BUSINESS</a:t>
            </a:r>
          </a:p>
        </p:txBody>
      </p:sp>
    </p:spTree>
    <p:extLst>
      <p:ext uri="{BB962C8B-B14F-4D97-AF65-F5344CB8AC3E}">
        <p14:creationId xmlns:p14="http://schemas.microsoft.com/office/powerpoint/2010/main" val="397754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By the end of this lesson, students are expected to;</a:t>
            </a:r>
          </a:p>
          <a:p>
            <a:r>
              <a:rPr lang="en-US" dirty="0"/>
              <a:t>Understand the factors which influence the initiation of a business plan</a:t>
            </a:r>
          </a:p>
          <a:p>
            <a:pPr algn="just"/>
            <a:r>
              <a:rPr lang="en-US" dirty="0"/>
              <a:t>Assess the different needs of investors in reviewing the business plan</a:t>
            </a:r>
          </a:p>
          <a:p>
            <a:r>
              <a:rPr lang="en-US" dirty="0"/>
              <a:t>Recognize the key factors for writing a good business plan</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2397702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2209800"/>
            <a:ext cx="7745505" cy="3877815"/>
          </a:xfrm>
        </p:spPr>
        <p:txBody>
          <a:bodyPr/>
          <a:lstStyle/>
          <a:p>
            <a:pPr marL="0" indent="0" algn="just">
              <a:buNone/>
            </a:pPr>
            <a:r>
              <a:rPr lang="en-US" dirty="0"/>
              <a:t>In reality, the process of drafting a business plan and strategy  are inseparable.  It is therefore important to emphasise at the outset that where as written business plan represents a tangible output of the planning process, it should also be seen as an integral tool for SME management, very much part of an iterative and on-going process.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1335194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To this extent, the business plan serves to articulate the strategic vision of the entrepreneurial team and should not be seen as a goal of and in itself. </a:t>
            </a:r>
          </a:p>
          <a:p>
            <a:pPr marL="0" indent="0" algn="just">
              <a:buNone/>
            </a:pPr>
            <a:r>
              <a:rPr lang="en-US" dirty="0"/>
              <a:t>Where this happens, there is the potential danger of investing too much credibility in the detail of the plan, especially the figures contained in the financial section.</a:t>
            </a:r>
          </a:p>
          <a:p>
            <a:pPr marL="0" indent="0" algn="just">
              <a:buNone/>
            </a:pPr>
            <a:r>
              <a:rPr lang="en-US" dirty="0"/>
              <a:t>This can have consequences for the SME owner or entrepreneur.</a:t>
            </a:r>
          </a:p>
          <a:p>
            <a:pPr marL="0" indent="0" algn="just">
              <a:buNone/>
            </a:pPr>
            <a:r>
              <a:rPr lang="en-US" dirty="0"/>
              <a:t>Thus the business plan should be seen as a ‘means’ to an ‘</a:t>
            </a:r>
            <a:r>
              <a:rPr lang="en-US"/>
              <a:t>end’.</a:t>
            </a: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1631238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lgn="just">
              <a:buNone/>
            </a:pPr>
            <a:r>
              <a:rPr lang="en-US" dirty="0"/>
              <a:t>Most entrepreneurs and SME owners consider the business plan is a document primarily used to generate external funding or to attract investors.</a:t>
            </a:r>
          </a:p>
          <a:p>
            <a:pPr marL="0" indent="0" algn="just">
              <a:buNone/>
            </a:pPr>
            <a:r>
              <a:rPr lang="en-US" dirty="0"/>
              <a:t>This thinking is informed by certain reasons including;</a:t>
            </a:r>
          </a:p>
          <a:p>
            <a:pPr algn="just"/>
            <a:r>
              <a:rPr lang="en-US" dirty="0"/>
              <a:t>Lack of understanding of the process and/or benefits of business planning.</a:t>
            </a:r>
          </a:p>
          <a:p>
            <a:pPr algn="just"/>
            <a:r>
              <a:rPr lang="en-US" dirty="0"/>
              <a:t>The pressure on doing rather than thinking or gathering information , in small business environment.</a:t>
            </a:r>
          </a:p>
          <a:p>
            <a:pPr algn="just"/>
            <a:r>
              <a:rPr lang="en-US" dirty="0"/>
              <a:t>The belief that strategic planning is for larger firms with big business resources.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85800" y="533400"/>
            <a:ext cx="7756263" cy="1054250"/>
          </a:xfrm>
        </p:spPr>
        <p:txBody>
          <a:bodyPr/>
          <a:lstStyle/>
          <a:p>
            <a:r>
              <a:rPr lang="en-US" dirty="0"/>
              <a:t>The Purpose of A Business Plan</a:t>
            </a:r>
          </a:p>
        </p:txBody>
      </p:sp>
    </p:spTree>
    <p:extLst>
      <p:ext uri="{BB962C8B-B14F-4D97-AF65-F5344CB8AC3E}">
        <p14:creationId xmlns:p14="http://schemas.microsoft.com/office/powerpoint/2010/main" val="12994020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The question of whether an entrepreneur will consider planning as a first step in the start-up process, has been attributed to some culturally entrenched organisational values including;</a:t>
            </a:r>
          </a:p>
          <a:p>
            <a:pPr marL="0" indent="0" algn="just">
              <a:buNone/>
            </a:pPr>
            <a:r>
              <a:rPr lang="en-US" b="1" dirty="0"/>
              <a:t>Stability</a:t>
            </a:r>
            <a:r>
              <a:rPr lang="en-US" dirty="0"/>
              <a:t>; The desire to maintain the status-quo may discourage entrepreneurs from long-term strategic planning.</a:t>
            </a:r>
          </a:p>
          <a:p>
            <a:pPr marL="0" indent="0" algn="just">
              <a:buNone/>
            </a:pPr>
            <a:r>
              <a:rPr lang="en-US" b="1" dirty="0"/>
              <a:t>Compartmentalization</a:t>
            </a:r>
            <a:r>
              <a:rPr lang="en-US" dirty="0"/>
              <a:t>;  Employees in large firms are compartmentalized to ensure strategic coordination. SME however , tend to have flat and </a:t>
            </a:r>
            <a:r>
              <a:rPr lang="en-US" dirty="0" err="1"/>
              <a:t>fraternalistic</a:t>
            </a:r>
            <a:r>
              <a:rPr lang="en-US" dirty="0"/>
              <a:t> structures.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Purpose of A Business Plan</a:t>
            </a:r>
          </a:p>
        </p:txBody>
      </p:sp>
    </p:spTree>
    <p:extLst>
      <p:ext uri="{BB962C8B-B14F-4D97-AF65-F5344CB8AC3E}">
        <p14:creationId xmlns:p14="http://schemas.microsoft.com/office/powerpoint/2010/main" val="30724661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t>Short-term cost orientation</a:t>
            </a:r>
            <a:r>
              <a:rPr lang="en-US" dirty="0"/>
              <a:t>; A preconceived view as to the effectiveness of cost-cutting as an overall strategy in management’s mind negates the need for any strategic planning.</a:t>
            </a:r>
          </a:p>
          <a:p>
            <a:pPr algn="just"/>
            <a:r>
              <a:rPr lang="en-US" b="1" dirty="0"/>
              <a:t>Internal-orientation</a:t>
            </a:r>
            <a:r>
              <a:rPr lang="en-US" dirty="0"/>
              <a:t>; A firm that is </a:t>
            </a:r>
            <a:r>
              <a:rPr lang="en-US" dirty="0" err="1"/>
              <a:t>characterised</a:t>
            </a:r>
            <a:r>
              <a:rPr lang="en-US" dirty="0"/>
              <a:t> by internal orientation generally holds the view that all company problems are to be found through intra-company analysis. External  analysis therefore becomes no longer legitimate.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Purpose of A Business Plan</a:t>
            </a:r>
          </a:p>
        </p:txBody>
      </p:sp>
    </p:spTree>
    <p:extLst>
      <p:ext uri="{BB962C8B-B14F-4D97-AF65-F5344CB8AC3E}">
        <p14:creationId xmlns:p14="http://schemas.microsoft.com/office/powerpoint/2010/main" val="7671850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b="1" dirty="0"/>
              <a:t>Reactiveness</a:t>
            </a:r>
            <a:r>
              <a:rPr lang="en-US" dirty="0"/>
              <a:t>; While reactiveness is a very important part of the business decision-making process, some managers may consider reactive decisions more appropriate than proactive ones.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Purpose of A Business Plan</a:t>
            </a:r>
          </a:p>
        </p:txBody>
      </p:sp>
    </p:spTree>
    <p:extLst>
      <p:ext uri="{BB962C8B-B14F-4D97-AF65-F5344CB8AC3E}">
        <p14:creationId xmlns:p14="http://schemas.microsoft.com/office/powerpoint/2010/main" val="13253311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lgn="just">
              <a:buNone/>
            </a:pPr>
            <a:r>
              <a:rPr lang="en-US" dirty="0"/>
              <a:t>There are events that may necessitate the need for  a business plan.</a:t>
            </a:r>
          </a:p>
          <a:p>
            <a:pPr marL="0" indent="0" algn="just">
              <a:buNone/>
            </a:pPr>
            <a:r>
              <a:rPr lang="en-US" b="1" dirty="0"/>
              <a:t>Start-up</a:t>
            </a:r>
            <a:r>
              <a:rPr lang="en-US" dirty="0"/>
              <a:t>; After conceiving a business idea and conducting a feasibility study, a new business may require a detailed planning stage to come out with business plan.</a:t>
            </a:r>
          </a:p>
          <a:p>
            <a:pPr marL="0" indent="0" algn="just">
              <a:buNone/>
            </a:pPr>
            <a:r>
              <a:rPr lang="en-US" b="1" dirty="0"/>
              <a:t>Business Purchase</a:t>
            </a:r>
            <a:r>
              <a:rPr lang="en-US" dirty="0"/>
              <a:t>; Buying a new business does not negate the need for a business plan. A business plan which tests the sensitivity of changes to key business variables(such as drop in sales or increase in demand)  helps the new buyer understand the potential risk and returns.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When to Draw a Business Plan</a:t>
            </a:r>
          </a:p>
        </p:txBody>
      </p:sp>
    </p:spTree>
    <p:extLst>
      <p:ext uri="{BB962C8B-B14F-4D97-AF65-F5344CB8AC3E}">
        <p14:creationId xmlns:p14="http://schemas.microsoft.com/office/powerpoint/2010/main" val="40575222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b="1" dirty="0"/>
              <a:t>On-going review</a:t>
            </a:r>
            <a:r>
              <a:rPr lang="en-US" dirty="0"/>
              <a:t>; To have lasting benefits,  a business plan should not be a one-off document but the live, strategic and tactical planning focus of either a start-up or an existing business.</a:t>
            </a:r>
          </a:p>
          <a:p>
            <a:pPr marL="0" indent="0" algn="just">
              <a:buNone/>
            </a:pPr>
            <a:r>
              <a:rPr lang="en-US" b="1" dirty="0"/>
              <a:t>Major decisions</a:t>
            </a:r>
            <a:r>
              <a:rPr lang="en-US" dirty="0"/>
              <a:t>; Even if planning is not done regularly, it is usually prompted in times major changes such as seeking external funding or when considering a merger. </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When to Draw a Business Plan</a:t>
            </a:r>
          </a:p>
        </p:txBody>
      </p:sp>
    </p:spTree>
    <p:extLst>
      <p:ext uri="{BB962C8B-B14F-4D97-AF65-F5344CB8AC3E}">
        <p14:creationId xmlns:p14="http://schemas.microsoft.com/office/powerpoint/2010/main" val="37104816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Three people are likely to benefit from the business plan;</a:t>
            </a:r>
          </a:p>
          <a:p>
            <a:pPr marL="0" indent="0" algn="just">
              <a:buNone/>
            </a:pPr>
            <a:r>
              <a:rPr lang="en-US" b="1" dirty="0"/>
              <a:t>Managers</a:t>
            </a:r>
            <a:r>
              <a:rPr lang="en-US" dirty="0"/>
              <a:t>; Managers may be the producers of the business ideas. The owner-manager or an employed manager both require a business plan to provide strategic focus and direction.</a:t>
            </a:r>
          </a:p>
          <a:p>
            <a:pPr marL="0" indent="0" algn="just">
              <a:buNone/>
            </a:pPr>
            <a:r>
              <a:rPr lang="en-US" b="1" dirty="0"/>
              <a:t>Owners; </a:t>
            </a:r>
            <a:r>
              <a:rPr lang="en-US" dirty="0"/>
              <a:t>A plan may be intended for prospective equity partners, either a sleeping partner  looking for an investment or an active partner looking for a small business to join. Owners may also be lenders, who take a equity stake in return for providing loans.</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Who Can Benefit From The Business Plan?</a:t>
            </a:r>
          </a:p>
        </p:txBody>
      </p:sp>
    </p:spTree>
    <p:extLst>
      <p:ext uri="{BB962C8B-B14F-4D97-AF65-F5344CB8AC3E}">
        <p14:creationId xmlns:p14="http://schemas.microsoft.com/office/powerpoint/2010/main" val="37102109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b="1" dirty="0"/>
              <a:t>Lenders/investors; </a:t>
            </a:r>
            <a:r>
              <a:rPr lang="en-US" dirty="0"/>
              <a:t>The minimum document required by lenders and banks is the business plan.</a:t>
            </a:r>
          </a:p>
          <a:p>
            <a:pPr marL="0" indent="0" algn="just">
              <a:buNone/>
            </a:pPr>
            <a:endParaRPr lang="en-US" dirty="0"/>
          </a:p>
          <a:p>
            <a:pPr marL="0" indent="0" algn="just">
              <a:buNone/>
            </a:pPr>
            <a:r>
              <a:rPr lang="en-US" dirty="0"/>
              <a:t>Research indicates that different investors look for different things in a business plan. Thus the entrepreneur must develop a  business looking to satisfy the particular needs of the concerned stakeholders.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Who Can Benefit From The Business Plan?</a:t>
            </a:r>
          </a:p>
        </p:txBody>
      </p:sp>
    </p:spTree>
    <p:extLst>
      <p:ext uri="{BB962C8B-B14F-4D97-AF65-F5344CB8AC3E}">
        <p14:creationId xmlns:p14="http://schemas.microsoft.com/office/powerpoint/2010/main" val="32351369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Owners, managers and investors are interested in the  business plan for the following reasons;</a:t>
            </a:r>
          </a:p>
          <a:p>
            <a:pPr marL="0" indent="0">
              <a:buNone/>
            </a:pPr>
            <a:r>
              <a:rPr lang="en-US" b="1" dirty="0"/>
              <a:t>Assessing the feasibility and viability of the business.</a:t>
            </a:r>
          </a:p>
          <a:p>
            <a:pPr marL="0" indent="0">
              <a:buNone/>
            </a:pPr>
            <a:r>
              <a:rPr lang="en-US" b="1" dirty="0"/>
              <a:t>Setting objectives and budgets.</a:t>
            </a:r>
          </a:p>
          <a:p>
            <a:pPr marL="0" indent="0">
              <a:buNone/>
            </a:pPr>
            <a:r>
              <a:rPr lang="en-US" b="1" dirty="0"/>
              <a:t>Calculating how much money is needed.</a:t>
            </a:r>
          </a:p>
          <a:p>
            <a:pPr marL="0" indent="0">
              <a:buNone/>
            </a:pPr>
            <a:endParaRPr lang="en-US" b="1" dirty="0"/>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Significance Of A Business Plan</a:t>
            </a:r>
          </a:p>
        </p:txBody>
      </p:sp>
    </p:spTree>
    <p:extLst>
      <p:ext uri="{BB962C8B-B14F-4D97-AF65-F5344CB8AC3E}">
        <p14:creationId xmlns:p14="http://schemas.microsoft.com/office/powerpoint/2010/main" val="25238339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For the manager, the business plan helps;</a:t>
            </a:r>
          </a:p>
          <a:p>
            <a:pPr marL="0" indent="0">
              <a:buNone/>
            </a:pPr>
            <a:r>
              <a:rPr lang="en-US" b="1" dirty="0"/>
              <a:t>Clarify ideas</a:t>
            </a:r>
          </a:p>
          <a:p>
            <a:pPr marL="0" indent="0">
              <a:buNone/>
            </a:pPr>
            <a:r>
              <a:rPr lang="en-US" b="1" dirty="0"/>
              <a:t>In information-gathering</a:t>
            </a:r>
          </a:p>
          <a:p>
            <a:pPr marL="0" indent="0">
              <a:buNone/>
            </a:pPr>
            <a:r>
              <a:rPr lang="en-US" b="1" dirty="0"/>
              <a:t>In building a team.</a:t>
            </a:r>
          </a:p>
          <a:p>
            <a:pPr marL="0"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Significance Of A Business Plan</a:t>
            </a:r>
          </a:p>
        </p:txBody>
      </p:sp>
    </p:spTree>
    <p:extLst>
      <p:ext uri="{BB962C8B-B14F-4D97-AF65-F5344CB8AC3E}">
        <p14:creationId xmlns:p14="http://schemas.microsoft.com/office/powerpoint/2010/main" val="4905993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Three key question are addressed in a business plan. These are;</a:t>
            </a:r>
          </a:p>
          <a:p>
            <a:pPr marL="0" indent="0">
              <a:buNone/>
            </a:pPr>
            <a:r>
              <a:rPr lang="en-US" dirty="0"/>
              <a:t>Where are we now?</a:t>
            </a:r>
          </a:p>
          <a:p>
            <a:pPr marL="0" indent="0">
              <a:buNone/>
            </a:pPr>
            <a:r>
              <a:rPr lang="en-US" dirty="0"/>
              <a:t>Where do we intend going?</a:t>
            </a:r>
          </a:p>
          <a:p>
            <a:pPr marL="0" indent="0">
              <a:buNone/>
            </a:pPr>
            <a:r>
              <a:rPr lang="en-US" dirty="0"/>
              <a:t>How do we get there?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Format Of A Business Plan</a:t>
            </a:r>
          </a:p>
        </p:txBody>
      </p:sp>
    </p:spTree>
    <p:extLst>
      <p:ext uri="{BB962C8B-B14F-4D97-AF65-F5344CB8AC3E}">
        <p14:creationId xmlns:p14="http://schemas.microsoft.com/office/powerpoint/2010/main" val="29356620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b="1" dirty="0"/>
              <a:t>Where are we now?</a:t>
            </a:r>
          </a:p>
          <a:p>
            <a:pPr marL="0" indent="0" algn="just">
              <a:buNone/>
            </a:pPr>
            <a:r>
              <a:rPr lang="en-US" dirty="0"/>
              <a:t>An analysis of the current situation of the marketplace, the competition, the business concept and the people involved is a necessary first step. It will include any historical background relevant to the position to date.</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Format Of A Business Plan</a:t>
            </a:r>
          </a:p>
        </p:txBody>
      </p:sp>
    </p:spTree>
    <p:extLst>
      <p:ext uri="{BB962C8B-B14F-4D97-AF65-F5344CB8AC3E}">
        <p14:creationId xmlns:p14="http://schemas.microsoft.com/office/powerpoint/2010/main" val="41214454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b="1" dirty="0"/>
              <a:t>Where do we intend going?</a:t>
            </a:r>
          </a:p>
          <a:p>
            <a:pPr marL="0" indent="0" algn="just">
              <a:buNone/>
            </a:pPr>
            <a:r>
              <a:rPr lang="en-US" dirty="0"/>
              <a:t>The decision that is intended for the business should be clear and precise, if others are to share in its vision for the future. Also required is the qualitative expression of the objectives and quantifiable targets which will clarify and measure progress towards intended goals. Identification of likely changes to business environment will build on the opportunities outlined, and assess possible threats.</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85800" y="533400"/>
            <a:ext cx="7756263" cy="1054250"/>
          </a:xfrm>
        </p:spPr>
        <p:txBody>
          <a:bodyPr/>
          <a:lstStyle/>
          <a:p>
            <a:r>
              <a:rPr lang="en-US" dirty="0"/>
              <a:t>The Format Of A Business Plan</a:t>
            </a:r>
          </a:p>
        </p:txBody>
      </p:sp>
    </p:spTree>
    <p:extLst>
      <p:ext uri="{BB962C8B-B14F-4D97-AF65-F5344CB8AC3E}">
        <p14:creationId xmlns:p14="http://schemas.microsoft.com/office/powerpoint/2010/main" val="34592479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How do we get there?</a:t>
            </a:r>
          </a:p>
          <a:p>
            <a:pPr marL="0" indent="0" algn="just">
              <a:buNone/>
            </a:pPr>
            <a:r>
              <a:rPr lang="en-US" dirty="0"/>
              <a:t>Although planning is vital to have a clear sense of the chosen destination, it is also important for the entrepreneur to stay flexible and alert to opportunity. Knowing when to stay on the chosen path, when to stay flexible and alert to opportunity. Knowing when to stay on the chosen path, and when to stray off it, is perhaps a key entrepreneurial characteristic.</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Format Of A Business Plan</a:t>
            </a:r>
          </a:p>
        </p:txBody>
      </p:sp>
    </p:spTree>
    <p:extLst>
      <p:ext uri="{BB962C8B-B14F-4D97-AF65-F5344CB8AC3E}">
        <p14:creationId xmlns:p14="http://schemas.microsoft.com/office/powerpoint/2010/main" val="30286307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0" indent="0" algn="just">
              <a:buNone/>
            </a:pPr>
            <a:endParaRPr lang="en-US" sz="2000" dirty="0"/>
          </a:p>
          <a:p>
            <a:pPr marL="0" indent="0" algn="just">
              <a:buNone/>
            </a:pPr>
            <a:r>
              <a:rPr lang="en-US" sz="2000" dirty="0"/>
              <a:t>The precise format of a business plan depends on the particular business and the intended audience of the plan. It is therefore not possible to suggest subject headings for a plan which would have universal application.</a:t>
            </a:r>
          </a:p>
          <a:p>
            <a:pPr marL="0" indent="0" algn="just">
              <a:buNone/>
            </a:pPr>
            <a:r>
              <a:rPr lang="en-US" sz="2000" dirty="0"/>
              <a:t>Whatever the format adopted, it is essential that the separate sections of the plan integrate together into a cohesive whole.</a:t>
            </a:r>
          </a:p>
          <a:p>
            <a:pPr marL="0" indent="0" algn="just">
              <a:buNone/>
            </a:pPr>
            <a:r>
              <a:rPr lang="en-US" sz="2000" dirty="0"/>
              <a:t>Critical to a successful business plan is the presentation of appropriate evidence to demonstrate to the reader that the entrepreneurial team has critically thought through  the business idea and have a clear understanding of its success and risks.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Format Of A Business Plan</a:t>
            </a:r>
          </a:p>
        </p:txBody>
      </p:sp>
    </p:spTree>
    <p:extLst>
      <p:ext uri="{BB962C8B-B14F-4D97-AF65-F5344CB8AC3E}">
        <p14:creationId xmlns:p14="http://schemas.microsoft.com/office/powerpoint/2010/main" val="6439977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buNone/>
            </a:pPr>
            <a:r>
              <a:rPr lang="en-US" dirty="0"/>
              <a:t>“I am often asked what it is to be an entrepreneur and there is no simple answer. It is clear that successful entrepreneurs are vital for a healthy, vibrant and competitive economy. </a:t>
            </a:r>
          </a:p>
          <a:p>
            <a:pPr marL="0" indent="0">
              <a:buNone/>
            </a:pPr>
            <a:r>
              <a:rPr lang="en-US" dirty="0"/>
              <a:t>If you look around you, most of the largest companies have</a:t>
            </a:r>
          </a:p>
          <a:p>
            <a:pPr marL="0" indent="0">
              <a:buNone/>
            </a:pPr>
            <a:r>
              <a:rPr lang="en-US" dirty="0"/>
              <a:t>their foundations in one or two individuals who have the</a:t>
            </a:r>
          </a:p>
          <a:p>
            <a:pPr marL="0" indent="0">
              <a:buNone/>
            </a:pPr>
            <a:r>
              <a:rPr lang="en-US" dirty="0"/>
              <a:t>determination to turn a vision into reality.</a:t>
            </a:r>
          </a:p>
          <a:p>
            <a:pPr marL="0" indent="0">
              <a:buNone/>
            </a:pPr>
            <a:r>
              <a:rPr lang="en-US" dirty="0"/>
              <a:t>Richard Branson, from</a:t>
            </a:r>
          </a:p>
          <a:p>
            <a:pPr marL="0" indent="0">
              <a:buNone/>
            </a:pPr>
            <a:r>
              <a:rPr lang="en-US" dirty="0"/>
              <a:t>Anderson (1995), Local Heroes,</a:t>
            </a:r>
          </a:p>
          <a:p>
            <a:pPr marL="0" indent="0">
              <a:buNone/>
            </a:pPr>
            <a:r>
              <a:rPr lang="en-US" dirty="0"/>
              <a:t>Glasgow: Scottish Enterprise.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endParaRPr lang="en-US" dirty="0"/>
          </a:p>
        </p:txBody>
      </p:sp>
    </p:spTree>
    <p:extLst>
      <p:ext uri="{BB962C8B-B14F-4D97-AF65-F5344CB8AC3E}">
        <p14:creationId xmlns:p14="http://schemas.microsoft.com/office/powerpoint/2010/main" val="5693397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da-DK"/>
              <a:t>Longenecker et. al. (2008).  A. Sardiya (2019)</a:t>
            </a:r>
            <a:endParaRPr lang="en-US"/>
          </a:p>
        </p:txBody>
      </p:sp>
      <p:sp>
        <p:nvSpPr>
          <p:cNvPr id="4" name="Title 3"/>
          <p:cNvSpPr>
            <a:spLocks noGrp="1"/>
          </p:cNvSpPr>
          <p:nvPr>
            <p:ph type="ctrTitle"/>
          </p:nvPr>
        </p:nvSpPr>
        <p:spPr/>
        <p:txBody>
          <a:bodyPr/>
          <a:lstStyle/>
          <a:p>
            <a:r>
              <a:rPr lang="en-US" dirty="0"/>
              <a:t>Lesson Four</a:t>
            </a:r>
          </a:p>
        </p:txBody>
      </p:sp>
      <p:sp>
        <p:nvSpPr>
          <p:cNvPr id="5" name="Subtitle 4"/>
          <p:cNvSpPr>
            <a:spLocks noGrp="1"/>
          </p:cNvSpPr>
          <p:nvPr>
            <p:ph type="subTitle" idx="1"/>
          </p:nvPr>
        </p:nvSpPr>
        <p:spPr/>
        <p:txBody>
          <a:bodyPr>
            <a:normAutofit/>
          </a:bodyPr>
          <a:lstStyle/>
          <a:p>
            <a:r>
              <a:rPr lang="en-US" sz="4400" dirty="0"/>
              <a:t>Successful SME Strategies</a:t>
            </a:r>
          </a:p>
        </p:txBody>
      </p:sp>
    </p:spTree>
    <p:extLst>
      <p:ext uri="{BB962C8B-B14F-4D97-AF65-F5344CB8AC3E}">
        <p14:creationId xmlns:p14="http://schemas.microsoft.com/office/powerpoint/2010/main" val="23428853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By the end of the lesson, students are expected to ;</a:t>
            </a:r>
          </a:p>
          <a:p>
            <a:r>
              <a:rPr lang="en-US" dirty="0"/>
              <a:t>Understand why Strategic management in SMEs and entrepreneurial firms is different.</a:t>
            </a:r>
          </a:p>
          <a:p>
            <a:r>
              <a:rPr lang="en-US" dirty="0"/>
              <a:t>Know the different types of strategies that are applied in SMEs and entrepreneurial firms.</a:t>
            </a:r>
          </a:p>
          <a:p>
            <a:r>
              <a:rPr lang="en-US" dirty="0"/>
              <a:t>Understand the sources of start-up ideas.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18854222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a:t>
            </a:r>
            <a:r>
              <a:rPr lang="en-US" i="1" dirty="0"/>
              <a:t>The guiding principles in a traditional corporate culture are: follow the instructions given; do not make any mistakes; do not fail; do not take initiatives but wait for instructions; stay within your turf; and protect your backside. The restrictive environment is of course not conducive to creativity, flexibility, independence, and risk taking.”</a:t>
            </a:r>
          </a:p>
          <a:p>
            <a:pPr marL="0" indent="0">
              <a:buNone/>
            </a:pPr>
            <a:r>
              <a:rPr lang="en-US" dirty="0" err="1"/>
              <a:t>Hisrich</a:t>
            </a:r>
            <a:r>
              <a:rPr lang="en-US" dirty="0"/>
              <a:t> and Peters, 1992,</a:t>
            </a:r>
          </a:p>
          <a:p>
            <a:pPr marL="0" indent="0">
              <a:buNone/>
            </a:pPr>
            <a:r>
              <a:rPr lang="en-US" dirty="0"/>
              <a:t>Entrepreneurship: Starting,</a:t>
            </a:r>
          </a:p>
          <a:p>
            <a:pPr marL="0" indent="0">
              <a:buNone/>
            </a:pPr>
            <a:r>
              <a:rPr lang="en-US" dirty="0"/>
              <a:t>Developing and Managing a</a:t>
            </a:r>
          </a:p>
          <a:p>
            <a:pPr marL="0" indent="0">
              <a:buNone/>
            </a:pPr>
            <a:r>
              <a:rPr lang="en-US" dirty="0"/>
              <a:t>New Enterprise, Homewood,</a:t>
            </a:r>
          </a:p>
          <a:p>
            <a:pPr marL="0" indent="0">
              <a:buNone/>
            </a:pPr>
            <a:r>
              <a:rPr lang="en-US" dirty="0"/>
              <a:t>IL: Irwin</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8614142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sz="3600" dirty="0"/>
              <a:t>Although strategy is a word more commonly used with large organisations, strategic decisions have been found to be just as significant to the success of SMEs.</a:t>
            </a:r>
          </a:p>
          <a:p>
            <a:pPr marL="0" indent="0" algn="just">
              <a:buNone/>
            </a:pPr>
            <a:r>
              <a:rPr lang="en-US" sz="3600" dirty="0"/>
              <a:t>Strategic management process in SMEs and entrepreneurial firms is different because SMEs are unique.</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5195452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Small firms differ from large ones in a number of key respects. These include;</a:t>
            </a:r>
          </a:p>
          <a:p>
            <a:pPr algn="just"/>
            <a:r>
              <a:rPr lang="en-US" dirty="0"/>
              <a:t>The centrality of the owner-manager</a:t>
            </a:r>
          </a:p>
          <a:p>
            <a:pPr algn="just"/>
            <a:r>
              <a:rPr lang="en-US" dirty="0"/>
              <a:t>The formality of structure</a:t>
            </a:r>
          </a:p>
          <a:p>
            <a:pPr algn="just"/>
            <a:r>
              <a:rPr lang="en-US" dirty="0"/>
              <a:t>The level of resource constraints</a:t>
            </a:r>
          </a:p>
          <a:p>
            <a:pPr algn="just"/>
            <a:r>
              <a:rPr lang="en-US" dirty="0"/>
              <a:t>Vulnerability to external context and change</a:t>
            </a:r>
          </a:p>
          <a:p>
            <a:pPr algn="just"/>
            <a:r>
              <a:rPr lang="en-US" dirty="0"/>
              <a:t>Limited product range  and market focus</a:t>
            </a:r>
          </a:p>
          <a:p>
            <a:pPr marL="0" indent="0" algn="just">
              <a:buNone/>
            </a:pPr>
            <a:r>
              <a:rPr lang="en-US" dirty="0"/>
              <a:t>These and other factors inevitably have a seminal bearing on the strategic management process for SMEs.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8999580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Entrepreneurship requires specific management behaviors that are all about </a:t>
            </a:r>
            <a:r>
              <a:rPr lang="en-US" i="1" dirty="0"/>
              <a:t>doing, enacting and </a:t>
            </a:r>
            <a:r>
              <a:rPr lang="en-US" i="1" dirty="0" err="1"/>
              <a:t>realising</a:t>
            </a:r>
            <a:r>
              <a:rPr lang="en-US" dirty="0"/>
              <a:t> (of ideas), rather than about simply planning and controlling.</a:t>
            </a:r>
          </a:p>
          <a:p>
            <a:pPr marL="0" indent="0" algn="just">
              <a:buNone/>
            </a:pPr>
            <a:r>
              <a:rPr lang="en-US" dirty="0"/>
              <a:t>For the entrepreneur, there is clearly the tension of between being alert to opportunities and holding a vision both of what is to be achieved and how this will be accomplished.</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6783751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For the entrepreneurial firm or SME, strategies can be as a result of a deliberate, consciously intended course of action. They can also emerge as a pattern without prior deliberation. </a:t>
            </a:r>
          </a:p>
          <a:p>
            <a:pPr marL="0" indent="0" algn="just">
              <a:buNone/>
            </a:pPr>
            <a:r>
              <a:rPr lang="en-US" b="1" dirty="0"/>
              <a:t>Deliberate strategy</a:t>
            </a:r>
            <a:r>
              <a:rPr lang="en-US" dirty="0"/>
              <a:t>; Strategies may be formulated as a deliberate plan of stated, or unstated, intentions. Some entrepreneurs produce a business plan before start-up, which sets out its intended course of action. Others do not formally document a plan, but intentions are thought through in advance in a deliberate and purposeful way.</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Types of strategy</a:t>
            </a:r>
          </a:p>
        </p:txBody>
      </p:sp>
    </p:spTree>
    <p:extLst>
      <p:ext uri="{BB962C8B-B14F-4D97-AF65-F5344CB8AC3E}">
        <p14:creationId xmlns:p14="http://schemas.microsoft.com/office/powerpoint/2010/main" val="7357998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lgn="just">
              <a:buNone/>
            </a:pPr>
            <a:r>
              <a:rPr lang="en-US" b="1" dirty="0"/>
              <a:t>Emergent strategy; </a:t>
            </a:r>
            <a:r>
              <a:rPr lang="en-US" dirty="0"/>
              <a:t>Some strategies are not conceived in advance but emerge as a consistent pattern during the course of events. Examples of strategies that emerge as patterns, before conversion to deliberate strategies, include; marketing approaches and human resource management strategies.</a:t>
            </a:r>
          </a:p>
          <a:p>
            <a:pPr marL="0" indent="0" algn="just">
              <a:buNone/>
            </a:pPr>
            <a:r>
              <a:rPr lang="en-US" b="1" dirty="0" err="1"/>
              <a:t>Realised</a:t>
            </a:r>
            <a:r>
              <a:rPr lang="en-US" b="1" dirty="0"/>
              <a:t> Strategy; </a:t>
            </a:r>
            <a:r>
              <a:rPr lang="en-US" dirty="0"/>
              <a:t>In practice, even the most well carefully planned strategy is not fully implemented; there will be emergent aspect to it.  Emergent strategies, once spotted often become subject to some planning. Strategies they are </a:t>
            </a:r>
            <a:r>
              <a:rPr lang="en-US" dirty="0" err="1"/>
              <a:t>realised</a:t>
            </a:r>
            <a:r>
              <a:rPr lang="en-US" dirty="0"/>
              <a:t>, or implemented are a mixture of deliberate and emergent strategies.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Types of strategy</a:t>
            </a:r>
          </a:p>
        </p:txBody>
      </p:sp>
    </p:spTree>
    <p:extLst>
      <p:ext uri="{BB962C8B-B14F-4D97-AF65-F5344CB8AC3E}">
        <p14:creationId xmlns:p14="http://schemas.microsoft.com/office/powerpoint/2010/main" val="38586002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Many startups develop from what we will call </a:t>
            </a:r>
            <a:r>
              <a:rPr lang="en-US" b="1" dirty="0"/>
              <a:t>Type A ideas</a:t>
            </a:r>
            <a:r>
              <a:rPr lang="en-US" dirty="0"/>
              <a:t>—those concerned with providing customers with a product or service that does not exist in a particular market but that exists somewhere else. Many small businesses are built on this platform.</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Types of Startup Ideas.</a:t>
            </a:r>
          </a:p>
        </p:txBody>
      </p:sp>
    </p:spTree>
    <p:extLst>
      <p:ext uri="{BB962C8B-B14F-4D97-AF65-F5344CB8AC3E}">
        <p14:creationId xmlns:p14="http://schemas.microsoft.com/office/powerpoint/2010/main" val="39277042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0" indent="0" algn="just">
              <a:buNone/>
            </a:pPr>
            <a:r>
              <a:rPr lang="en-US" dirty="0"/>
              <a:t>Some startups are based on </a:t>
            </a:r>
            <a:r>
              <a:rPr lang="en-US" b="1" dirty="0"/>
              <a:t>Type B ideas</a:t>
            </a:r>
            <a:r>
              <a:rPr lang="en-US" dirty="0"/>
              <a:t>, which involve new or relatively new technology. This type of startup can be high risk because there is usually no model of success to follow, but it can also have tremendous potential. </a:t>
            </a:r>
          </a:p>
          <a:p>
            <a:pPr marL="0" indent="0" algn="just">
              <a:buNone/>
            </a:pPr>
            <a:r>
              <a:rPr lang="en-US" dirty="0"/>
              <a:t>In 1998, Richard Mayer and Malcolm Currie launched Currie Technologies, a Van Nuys, California, venture that produces electric bicycles and scooters. Within five years, the company was employing 40 people and had revenues of $10 million, but that was only the beginning. With the spike in fuel prices and escalating concerns about global warming, the company’s products make more sense than ever. Perhaps one of Currie’s executives best captured the essence of the business: “Clean, green and no gasoline!”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Types of Startup Ideas.</a:t>
            </a:r>
          </a:p>
        </p:txBody>
      </p:sp>
    </p:spTree>
    <p:extLst>
      <p:ext uri="{BB962C8B-B14F-4D97-AF65-F5344CB8AC3E}">
        <p14:creationId xmlns:p14="http://schemas.microsoft.com/office/powerpoint/2010/main" val="41342002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Type C ideas, those based on offering customers benefits from new and improved ways of performing old functions, probably account for the largest number of startups. </a:t>
            </a:r>
          </a:p>
          <a:p>
            <a:pPr marL="0" indent="0" algn="just">
              <a:buNone/>
            </a:pPr>
            <a:r>
              <a:rPr lang="en-US" dirty="0"/>
              <a:t>In fact, most new ventures, especially in the service industry, are founded on “me, too” strategies—</a:t>
            </a:r>
          </a:p>
          <a:p>
            <a:pPr marL="0" indent="0" algn="just">
              <a:buNone/>
            </a:pPr>
            <a:r>
              <a:rPr lang="en-US" dirty="0"/>
              <a:t>they set themselves apart through features such as superior service or lower prices.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Types of Startup Ideas.</a:t>
            </a:r>
          </a:p>
        </p:txBody>
      </p:sp>
    </p:spTree>
    <p:extLst>
      <p:ext uri="{BB962C8B-B14F-4D97-AF65-F5344CB8AC3E}">
        <p14:creationId xmlns:p14="http://schemas.microsoft.com/office/powerpoint/2010/main" val="9826077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 There are a number of sources you can turn to for inspiration or ideas to start your own business. And if one source fails to lead you to the idea of your dreams, keep looking! Inspiration can come from many different places.</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Source Of Start-up Ideas</a:t>
            </a:r>
          </a:p>
        </p:txBody>
      </p:sp>
    </p:spTree>
    <p:extLst>
      <p:ext uri="{BB962C8B-B14F-4D97-AF65-F5344CB8AC3E}">
        <p14:creationId xmlns:p14="http://schemas.microsoft.com/office/powerpoint/2010/main" val="393114506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PERSONAL EXPERIENCE; The primary source of startup ideas is personal experience, either at work or at home. Knowledge gleaned from a present or former job often allows a person to see possibilities for modifying an existing product, improving a service, or duplicating a business concept in a different location. Or personal contacts may open up conversations with suppliers who are interested in working with you or customers who have needs that are not currently being met. These insights may lead you to an opportunity with tremendous potential.</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Source Of Start-up Ideas</a:t>
            </a:r>
          </a:p>
        </p:txBody>
      </p:sp>
    </p:spTree>
    <p:extLst>
      <p:ext uri="{BB962C8B-B14F-4D97-AF65-F5344CB8AC3E}">
        <p14:creationId xmlns:p14="http://schemas.microsoft.com/office/powerpoint/2010/main" val="15348550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HOBBIES AND PERSONAL INTERESTS ; Sometimes hobbies grow beyond being leisure activities to become businesses. For instance, people who love books might explore concepts that lead to new bookstore businesses.</a:t>
            </a:r>
          </a:p>
          <a:p>
            <a:pPr marL="0" indent="0" algn="just">
              <a:buNone/>
            </a:pPr>
            <a:r>
              <a:rPr lang="en-US" dirty="0"/>
              <a:t>Hobbies and personal interests certainly add passion to the startup process.</a:t>
            </a:r>
          </a:p>
          <a:p>
            <a:pPr marL="0" indent="0" algn="just">
              <a:buNone/>
            </a:pPr>
            <a:r>
              <a:rPr lang="en-US" dirty="0"/>
              <a:t>ACCIDENTAL DISCOVERY ; Another source of new startup ideas—accidental discovery— involves something called serendipity, or a gift for making desirable discoveries by accident.</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Source Of Start-up Ideas</a:t>
            </a:r>
          </a:p>
        </p:txBody>
      </p:sp>
    </p:spTree>
    <p:extLst>
      <p:ext uri="{BB962C8B-B14F-4D97-AF65-F5344CB8AC3E}">
        <p14:creationId xmlns:p14="http://schemas.microsoft.com/office/powerpoint/2010/main" val="15699671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9143999"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da-DK"/>
              <a:t>Longenecker et. al. (2008).  A. Sardiya (2019)</a:t>
            </a:r>
            <a:endParaRPr lang="en-US"/>
          </a:p>
        </p:txBody>
      </p:sp>
    </p:spTree>
    <p:extLst>
      <p:ext uri="{BB962C8B-B14F-4D97-AF65-F5344CB8AC3E}">
        <p14:creationId xmlns:p14="http://schemas.microsoft.com/office/powerpoint/2010/main" val="24094827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ctrTitle"/>
          </p:nvPr>
        </p:nvSpPr>
        <p:spPr/>
        <p:txBody>
          <a:bodyPr/>
          <a:lstStyle/>
          <a:p>
            <a:r>
              <a:rPr lang="en-US" dirty="0"/>
              <a:t>Lesson Five</a:t>
            </a:r>
          </a:p>
        </p:txBody>
      </p:sp>
      <p:sp>
        <p:nvSpPr>
          <p:cNvPr id="3" name="Subtitle 2"/>
          <p:cNvSpPr>
            <a:spLocks noGrp="1"/>
          </p:cNvSpPr>
          <p:nvPr>
            <p:ph type="subTitle" idx="1"/>
          </p:nvPr>
        </p:nvSpPr>
        <p:spPr/>
        <p:txBody>
          <a:bodyPr>
            <a:normAutofit/>
          </a:bodyPr>
          <a:lstStyle/>
          <a:p>
            <a:r>
              <a:rPr lang="en-US" sz="3200" dirty="0"/>
              <a:t>Start-ups and Franchises</a:t>
            </a:r>
          </a:p>
        </p:txBody>
      </p:sp>
    </p:spTree>
    <p:extLst>
      <p:ext uri="{BB962C8B-B14F-4D97-AF65-F5344CB8AC3E}">
        <p14:creationId xmlns:p14="http://schemas.microsoft.com/office/powerpoint/2010/main" val="17695940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By the end of this class, students are expected to be able to;</a:t>
            </a:r>
          </a:p>
          <a:p>
            <a:pPr marL="0" indent="0" algn="just">
              <a:buNone/>
            </a:pPr>
            <a:r>
              <a:rPr lang="en-US" dirty="0"/>
              <a:t>Know how to assess a start-up idea.</a:t>
            </a:r>
          </a:p>
          <a:p>
            <a:pPr marL="0" indent="0" algn="just">
              <a:buNone/>
            </a:pPr>
            <a:r>
              <a:rPr lang="en-US" dirty="0"/>
              <a:t>Appreciate the reasons why some entrepreneurs may prefer start-ups to existing businesses.</a:t>
            </a:r>
          </a:p>
          <a:p>
            <a:pPr marL="0" indent="0" algn="just">
              <a:buNone/>
            </a:pPr>
            <a:r>
              <a:rPr lang="en-US" dirty="0"/>
              <a:t>Identify the major pros and cons of franchising.</a:t>
            </a:r>
          </a:p>
          <a:p>
            <a:pPr marL="0" indent="0" algn="just">
              <a:buNone/>
            </a:pPr>
            <a:r>
              <a:rPr lang="en-US" dirty="0"/>
              <a:t>Explain various franchising options.</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30417499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Perhaps you already have a business idea in mind that you would like to pursue. With good planning and the right strategy, you may soon be well on your way to becoming a successful entrepreneur. </a:t>
            </a:r>
          </a:p>
          <a:p>
            <a:pPr marL="0" indent="0" algn="just">
              <a:buNone/>
            </a:pPr>
            <a:r>
              <a:rPr lang="en-US" dirty="0"/>
              <a:t>On the other hand, maybe you have a passionate desire to start your own company but are not sure you have come up with the right business idea to get you there. Or maybe you have an idea in mind but are not sure if it is a good business opportunity.</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5406891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The identification of potential new products or services that may lead to promising businesses is so central to the entrepreneurial process that it has its own name: </a:t>
            </a:r>
            <a:r>
              <a:rPr lang="en-US" b="1" dirty="0"/>
              <a:t>Opportunity recognition.</a:t>
            </a:r>
          </a:p>
          <a:p>
            <a:pPr marL="0" indent="0" algn="just">
              <a:buNone/>
            </a:pPr>
            <a:r>
              <a:rPr lang="en-US" dirty="0"/>
              <a:t>It is critical to determine whether an idea for a new business actually represents a good opportunity. Many people have ideas about new products or services that seem like winners—but just because something is a good idea does not mean it is a good opportunity. </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85800" y="533400"/>
            <a:ext cx="7756263" cy="1054250"/>
          </a:xfrm>
        </p:spPr>
        <p:txBody>
          <a:bodyPr/>
          <a:lstStyle/>
          <a:p>
            <a:r>
              <a:rPr lang="en-US" dirty="0"/>
              <a:t>Identifying Start-up Ideas</a:t>
            </a:r>
          </a:p>
        </p:txBody>
      </p:sp>
    </p:spTree>
    <p:extLst>
      <p:ext uri="{BB962C8B-B14F-4D97-AF65-F5344CB8AC3E}">
        <p14:creationId xmlns:p14="http://schemas.microsoft.com/office/powerpoint/2010/main" val="12195144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In fact, those who become infatuated with an idea sometimes underestimate the difficulty of tapping into market interest in that idea or building the company required to capture it. This presents a real challenge for start-ups than existing businesses.</a:t>
            </a:r>
          </a:p>
          <a:p>
            <a:pPr marL="0" indent="0" algn="just">
              <a:buNone/>
            </a:pPr>
            <a:r>
              <a:rPr lang="en-US" dirty="0"/>
              <a:t>Many popular frameworks highlight important factors to consider when deciding whether a new business idea can lead to a promising business opportunity. </a:t>
            </a:r>
          </a:p>
          <a:p>
            <a:pPr marL="0" indent="0" algn="just">
              <a:buNone/>
            </a:pPr>
            <a:r>
              <a:rPr lang="en-US" dirty="0"/>
              <a:t>Some of the more important features of these approaches follow.</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85800" y="533400"/>
            <a:ext cx="7756263" cy="1054250"/>
          </a:xfrm>
        </p:spPr>
        <p:txBody>
          <a:bodyPr/>
          <a:lstStyle/>
          <a:p>
            <a:r>
              <a:rPr lang="en-US" dirty="0"/>
              <a:t>Identifying Start-up Ideas</a:t>
            </a:r>
          </a:p>
        </p:txBody>
      </p:sp>
    </p:spTree>
    <p:extLst>
      <p:ext uri="{BB962C8B-B14F-4D97-AF65-F5344CB8AC3E}">
        <p14:creationId xmlns:p14="http://schemas.microsoft.com/office/powerpoint/2010/main" val="17322062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b="1" dirty="0"/>
              <a:t>Market factors. </a:t>
            </a:r>
          </a:p>
          <a:p>
            <a:pPr marL="0" indent="0" algn="just">
              <a:buNone/>
            </a:pPr>
            <a:r>
              <a:rPr lang="en-US" dirty="0"/>
              <a:t>The product or service must meet a clearly defined market need; furthermore, the timing must be right. Even when the concept is good, success requires a window of opportunity that remains open long enough for an entrepreneur to take advantage of it. </a:t>
            </a:r>
          </a:p>
          <a:p>
            <a:pPr marL="0" indent="0" algn="just">
              <a:buNone/>
            </a:pPr>
            <a:r>
              <a:rPr lang="en-US" dirty="0"/>
              <a:t>If the window closes before the enterprise can get established, it is unlikely to survive for long.</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Identifying Start-up Ideas</a:t>
            </a:r>
          </a:p>
        </p:txBody>
      </p:sp>
    </p:spTree>
    <p:extLst>
      <p:ext uri="{BB962C8B-B14F-4D97-AF65-F5344CB8AC3E}">
        <p14:creationId xmlns:p14="http://schemas.microsoft.com/office/powerpoint/2010/main" val="33045566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b="1" dirty="0"/>
              <a:t>Competitive advantage. </a:t>
            </a:r>
          </a:p>
          <a:p>
            <a:pPr marL="0" indent="0" algn="just">
              <a:buNone/>
            </a:pPr>
            <a:r>
              <a:rPr lang="en-US" dirty="0"/>
              <a:t>In practical terms, a competitive advantage exists when a firm offers a product or service that customers perceive to be superior to those offered by competitors. It follows that the business must be able to achieve an edge that can withstand challenges from rival businesses. Many startups fail because entrepreneurs do not understand the nature and importance of a competitive advantage.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85800" y="533400"/>
            <a:ext cx="7756263" cy="1054250"/>
          </a:xfrm>
        </p:spPr>
        <p:txBody>
          <a:bodyPr/>
          <a:lstStyle/>
          <a:p>
            <a:r>
              <a:rPr lang="en-US" dirty="0"/>
              <a:t>Identifying Start-up Ideas</a:t>
            </a:r>
          </a:p>
        </p:txBody>
      </p:sp>
    </p:spTree>
    <p:extLst>
      <p:ext uri="{BB962C8B-B14F-4D97-AF65-F5344CB8AC3E}">
        <p14:creationId xmlns:p14="http://schemas.microsoft.com/office/powerpoint/2010/main" val="41690697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b="1" dirty="0"/>
              <a:t>Management capability. </a:t>
            </a:r>
          </a:p>
          <a:p>
            <a:pPr marL="0" indent="0" algn="just">
              <a:buNone/>
            </a:pPr>
            <a:r>
              <a:rPr lang="en-US" dirty="0"/>
              <a:t>The fit between entrepreneur and opportunity must be good.</a:t>
            </a:r>
          </a:p>
          <a:p>
            <a:pPr marL="0" indent="0" algn="just">
              <a:buNone/>
            </a:pPr>
            <a:r>
              <a:rPr lang="en-US" dirty="0"/>
              <a:t>In other words, a business idea is an opportunity only for the entrepreneur who has the appropriate experience, skills, and access to the resources necessary for the venture’s launch and growth.</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Identifying Start-up Ideas</a:t>
            </a:r>
          </a:p>
        </p:txBody>
      </p:sp>
    </p:spTree>
    <p:extLst>
      <p:ext uri="{BB962C8B-B14F-4D97-AF65-F5344CB8AC3E}">
        <p14:creationId xmlns:p14="http://schemas.microsoft.com/office/powerpoint/2010/main" val="25053523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b="1" dirty="0"/>
              <a:t>Fatal flaws. </a:t>
            </a:r>
          </a:p>
          <a:p>
            <a:pPr marL="0" indent="0" algn="just">
              <a:buNone/>
            </a:pPr>
            <a:r>
              <a:rPr lang="en-US" dirty="0"/>
              <a:t>There must be no fatal flaw in the venture—that is, no circumstance or development that could, in and of itself, make the business unsuccessful. </a:t>
            </a:r>
          </a:p>
          <a:p>
            <a:pPr marL="0" indent="0" algn="just">
              <a:buNone/>
            </a:pPr>
            <a:r>
              <a:rPr lang="en-US" dirty="0"/>
              <a:t>John </a:t>
            </a:r>
            <a:r>
              <a:rPr lang="en-US" dirty="0" err="1"/>
              <a:t>Osher</a:t>
            </a:r>
            <a:r>
              <a:rPr lang="en-US" dirty="0"/>
              <a:t>, serial innovator and entrepreneur, estimates that nine out of ten entrepreneurs fail because their business concept is deficient.</a:t>
            </a:r>
          </a:p>
          <a:p>
            <a:pPr marL="0" indent="0" algn="just">
              <a:buNone/>
            </a:pPr>
            <a:r>
              <a:rPr lang="en-US" dirty="0"/>
              <a:t>It is important to look (honestly) for potential weaknesses in your own startup ideas.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Identifying Start-up Ideas</a:t>
            </a:r>
          </a:p>
        </p:txBody>
      </p:sp>
    </p:spTree>
    <p:extLst>
      <p:ext uri="{BB962C8B-B14F-4D97-AF65-F5344CB8AC3E}">
        <p14:creationId xmlns:p14="http://schemas.microsoft.com/office/powerpoint/2010/main" val="10649214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Several motivations may lead you to start a business from scratch rather than pursuing other alternatives, such as buying a franchise or an existing business or joining a family business. They include the following:</a:t>
            </a:r>
          </a:p>
          <a:p>
            <a:pPr marL="0" indent="0" algn="just">
              <a:buNone/>
            </a:pPr>
            <a:r>
              <a:rPr lang="en-US" dirty="0"/>
              <a:t>1. Having a personal desire to develop the commercial market for a recently invented or newly developed product or service.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Reasons To Start From Scratch</a:t>
            </a:r>
          </a:p>
        </p:txBody>
      </p:sp>
    </p:spTree>
    <p:extLst>
      <p:ext uri="{BB962C8B-B14F-4D97-AF65-F5344CB8AC3E}">
        <p14:creationId xmlns:p14="http://schemas.microsoft.com/office/powerpoint/2010/main" val="190686736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2. Hoping to tap into unique resources that are available, such as an ideal location, new equipment technologies, or exceptional employees, suppliers, and bankers.</a:t>
            </a:r>
          </a:p>
          <a:p>
            <a:pPr marL="0" indent="0" algn="just">
              <a:buNone/>
            </a:pPr>
            <a:r>
              <a:rPr lang="en-US" dirty="0"/>
              <a:t>3. Avoiding undesirable features of existing companies, including unfavorable cultures, policies, procedures, and legal commitments.</a:t>
            </a:r>
          </a:p>
          <a:p>
            <a:pPr marL="0" indent="0" algn="just">
              <a:buNone/>
            </a:pPr>
            <a:r>
              <a:rPr lang="en-US" dirty="0"/>
              <a:t>4. Wanting the challenge of succeeding (or failing) on your own.</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Reasons To Start From Scratch</a:t>
            </a:r>
          </a:p>
        </p:txBody>
      </p:sp>
    </p:spTree>
    <p:extLst>
      <p:ext uri="{BB962C8B-B14F-4D97-AF65-F5344CB8AC3E}">
        <p14:creationId xmlns:p14="http://schemas.microsoft.com/office/powerpoint/2010/main" val="9567700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Franchising  is a marketing system involving a legal agreement, whereby the franchisee conducts business according to terms specified by the franchisor.</a:t>
            </a:r>
          </a:p>
          <a:p>
            <a:pPr marL="0" indent="0" algn="just">
              <a:buNone/>
            </a:pPr>
            <a:r>
              <a:rPr lang="en-US" dirty="0"/>
              <a:t>A Franchisee: is an entrepreneur whose power is limited by a contractual relationship with a Franchisor. </a:t>
            </a:r>
          </a:p>
          <a:p>
            <a:pPr marL="0" indent="0" algn="just">
              <a:buNone/>
            </a:pPr>
            <a:r>
              <a:rPr lang="en-US" dirty="0"/>
              <a:t>Franchisor: The party in a franchise contract that specifies the methods to be followed and the terms to be met by the other party.</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a:t>
            </a:r>
          </a:p>
        </p:txBody>
      </p:sp>
    </p:spTree>
    <p:extLst>
      <p:ext uri="{BB962C8B-B14F-4D97-AF65-F5344CB8AC3E}">
        <p14:creationId xmlns:p14="http://schemas.microsoft.com/office/powerpoint/2010/main" val="27703359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Arrangement where one party (the franchiser) grants another party (the franchisee) the right to use its trademark or trade-name as well as certain business systems and processes, to produce and market a good or service according to certain specifications. </a:t>
            </a:r>
          </a:p>
          <a:p>
            <a:pPr marL="0" indent="0" algn="just">
              <a:buNone/>
            </a:pPr>
            <a:r>
              <a:rPr lang="en-US" dirty="0"/>
              <a:t>The franchisee usually pays a one-time franchise fee plus a percentage of sales revenue as royalty, and gains (1) immediate name recognition, (2) tried and tested products, (3) standard building design and décor, (4) detailed techniques in running and promoting the business, (5) training of employees, and (6) ongoing help in promoting and upgrading of the products.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a:t>
            </a:r>
          </a:p>
        </p:txBody>
      </p:sp>
    </p:spTree>
    <p:extLst>
      <p:ext uri="{BB962C8B-B14F-4D97-AF65-F5344CB8AC3E}">
        <p14:creationId xmlns:p14="http://schemas.microsoft.com/office/powerpoint/2010/main" val="19581116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“Look before you leap” is an old adage that should be heeded by entrepreneurs considering franchising. </a:t>
            </a:r>
          </a:p>
          <a:p>
            <a:pPr marL="0" indent="0" algn="just">
              <a:buNone/>
            </a:pPr>
            <a:r>
              <a:rPr lang="en-US" dirty="0"/>
              <a:t>Entrepreneurs should not let their enthusiasm blind them to the realities of franchising, both good and bad. Weighing the purchase of a franchise against alternative paths to starting a business is an important task, which requires careful consideration of many factors.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The Pros and Cons of Franchising</a:t>
            </a:r>
            <a:br>
              <a:rPr lang="en-US" dirty="0"/>
            </a:br>
            <a:endParaRPr lang="en-US" dirty="0"/>
          </a:p>
        </p:txBody>
      </p:sp>
    </p:spTree>
    <p:extLst>
      <p:ext uri="{BB962C8B-B14F-4D97-AF65-F5344CB8AC3E}">
        <p14:creationId xmlns:p14="http://schemas.microsoft.com/office/powerpoint/2010/main" val="11124653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47799"/>
            <a:ext cx="8763000" cy="5410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4"/>
          <p:cNvSpPr>
            <a:spLocks noGrp="1"/>
          </p:cNvSpPr>
          <p:nvPr>
            <p:ph idx="1"/>
          </p:nvPr>
        </p:nvSpPr>
        <p:spPr/>
        <p:txBody>
          <a:bodyPr/>
          <a:lstStyle/>
          <a:p>
            <a:endParaRPr lang="en-US" dirty="0"/>
          </a:p>
        </p:txBody>
      </p:sp>
      <p:sp>
        <p:nvSpPr>
          <p:cNvPr id="2" name="Footer Placeholder 1"/>
          <p:cNvSpPr>
            <a:spLocks noGrp="1"/>
          </p:cNvSpPr>
          <p:nvPr>
            <p:ph type="ftr" sz="quarter" idx="11"/>
          </p:nvPr>
        </p:nvSpPr>
        <p:spPr/>
        <p:txBody>
          <a:bodyPr/>
          <a:lstStyle/>
          <a:p>
            <a:r>
              <a:rPr lang="da-DK"/>
              <a:t>Longenecker et. al. (2008).  A. Sardiya (2019)</a:t>
            </a:r>
            <a:endParaRPr lang="en-US"/>
          </a:p>
        </p:txBody>
      </p:sp>
      <p:sp>
        <p:nvSpPr>
          <p:cNvPr id="4" name="Title 3"/>
          <p:cNvSpPr>
            <a:spLocks noGrp="1"/>
          </p:cNvSpPr>
          <p:nvPr>
            <p:ph type="title"/>
          </p:nvPr>
        </p:nvSpPr>
        <p:spPr/>
        <p:txBody>
          <a:bodyPr/>
          <a:lstStyle/>
          <a:p>
            <a:r>
              <a:rPr lang="en-US" dirty="0"/>
              <a:t>The Pros and Cons of Franchising</a:t>
            </a:r>
          </a:p>
        </p:txBody>
      </p:sp>
    </p:spTree>
    <p:extLst>
      <p:ext uri="{BB962C8B-B14F-4D97-AF65-F5344CB8AC3E}">
        <p14:creationId xmlns:p14="http://schemas.microsoft.com/office/powerpoint/2010/main" val="18890388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800"/>
            <a:ext cx="8829675"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title"/>
          </p:nvPr>
        </p:nvSpPr>
        <p:spPr/>
        <p:txBody>
          <a:bodyPr/>
          <a:lstStyle/>
          <a:p>
            <a:r>
              <a:rPr lang="en-US" dirty="0"/>
              <a:t>The Pros and Cons of Franchising</a:t>
            </a:r>
          </a:p>
        </p:txBody>
      </p:sp>
    </p:spTree>
    <p:extLst>
      <p:ext uri="{BB962C8B-B14F-4D97-AF65-F5344CB8AC3E}">
        <p14:creationId xmlns:p14="http://schemas.microsoft.com/office/powerpoint/2010/main" val="13008884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Generally speaking, higher costs characterize the better known and more successful franchises. Franchise costs have several components, all of which need to be recognized and considered.</a:t>
            </a:r>
          </a:p>
          <a:p>
            <a:pPr marL="0" indent="0" algn="just">
              <a:buNone/>
            </a:pPr>
            <a:r>
              <a:rPr lang="en-US" dirty="0"/>
              <a:t>1. Initial franchise fee. The total cost of a franchise begins with an initial franchise fee, which may range from several hundred to many thousands of dollars. The initial fee for McDonald’s is $45,000.</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 COSTS </a:t>
            </a:r>
          </a:p>
        </p:txBody>
      </p:sp>
    </p:spTree>
    <p:extLst>
      <p:ext uri="{BB962C8B-B14F-4D97-AF65-F5344CB8AC3E}">
        <p14:creationId xmlns:p14="http://schemas.microsoft.com/office/powerpoint/2010/main" val="172122434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dirty="0"/>
              <a:t>2. Investment costs; Significant costs may be involved in renting or building an outlet and stocking it with inventory and other equipment. Also, certain insurance</a:t>
            </a:r>
          </a:p>
          <a:p>
            <a:pPr marL="0" indent="0">
              <a:buNone/>
            </a:pPr>
            <a:r>
              <a:rPr lang="en-US" dirty="0"/>
              <a:t>premiums, legal fees, and other startup expenses must be paid. It is often recommended that funds be available to cover personal expenses and emergencies for at least six months.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 COSTS </a:t>
            </a:r>
          </a:p>
        </p:txBody>
      </p:sp>
    </p:spTree>
    <p:extLst>
      <p:ext uri="{BB962C8B-B14F-4D97-AF65-F5344CB8AC3E}">
        <p14:creationId xmlns:p14="http://schemas.microsoft.com/office/powerpoint/2010/main" val="260673318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3. Royalty payments. A common practice is for the franchisor to receive continuing royalty payments, calculated as a percentage of the franchisee’s gross income.</a:t>
            </a:r>
          </a:p>
          <a:p>
            <a:pPr marL="0" indent="0">
              <a:buNone/>
            </a:pPr>
            <a:r>
              <a:rPr lang="en-US" dirty="0"/>
              <a:t>McDonald’s currently charges a “service fee” of 4 percent of monthly sales plus the greater of (a) a monthly base rent or (b) a percentage rent based on monthly sales.</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 COSTS </a:t>
            </a:r>
          </a:p>
        </p:txBody>
      </p:sp>
    </p:spTree>
    <p:extLst>
      <p:ext uri="{BB962C8B-B14F-4D97-AF65-F5344CB8AC3E}">
        <p14:creationId xmlns:p14="http://schemas.microsoft.com/office/powerpoint/2010/main" val="306041586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dirty="0"/>
              <a:t>KFC (2014)</a:t>
            </a:r>
          </a:p>
          <a:p>
            <a:pPr marL="0" indent="0">
              <a:buNone/>
            </a:pPr>
            <a:endParaRPr lang="en-US" dirty="0"/>
          </a:p>
          <a:p>
            <a:pPr marL="0" indent="0">
              <a:buNone/>
            </a:pPr>
            <a:r>
              <a:rPr lang="en-US" dirty="0"/>
              <a:t>Franchise fee: $40,000 per restaurant </a:t>
            </a:r>
          </a:p>
          <a:p>
            <a:pPr marL="0" indent="0">
              <a:buNone/>
            </a:pPr>
            <a:endParaRPr lang="en-US" dirty="0"/>
          </a:p>
          <a:p>
            <a:pPr marL="0" indent="0">
              <a:buNone/>
            </a:pPr>
            <a:r>
              <a:rPr lang="en-US" dirty="0"/>
              <a:t>Royalty fee: 4% of gross sales </a:t>
            </a:r>
          </a:p>
          <a:p>
            <a:pPr marL="0" indent="0">
              <a:buNone/>
            </a:pPr>
            <a:endParaRPr lang="en-US" dirty="0"/>
          </a:p>
          <a:p>
            <a:pPr marL="0" indent="0">
              <a:buNone/>
            </a:pPr>
            <a:r>
              <a:rPr lang="en-US" dirty="0"/>
              <a:t>Advertising fee: 4% of gross sales </a:t>
            </a:r>
          </a:p>
          <a:p>
            <a:pPr marL="0" indent="0">
              <a:buNone/>
            </a:pPr>
            <a:endParaRPr lang="en-US" dirty="0"/>
          </a:p>
          <a:p>
            <a:pPr marL="0" indent="0">
              <a:buNone/>
            </a:pPr>
            <a:r>
              <a:rPr lang="en-US" dirty="0"/>
              <a:t>Average sales per unit in 2013:$1.5 million</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 COSTS </a:t>
            </a:r>
          </a:p>
        </p:txBody>
      </p:sp>
    </p:spTree>
    <p:extLst>
      <p:ext uri="{BB962C8B-B14F-4D97-AF65-F5344CB8AC3E}">
        <p14:creationId xmlns:p14="http://schemas.microsoft.com/office/powerpoint/2010/main" val="30890226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The potential value of any franchising arrangement is defined by the rights contained in a legal agreement known as the </a:t>
            </a:r>
            <a:r>
              <a:rPr lang="en-US" b="1" dirty="0"/>
              <a:t>franchise contract</a:t>
            </a:r>
            <a:r>
              <a:rPr lang="en-US" dirty="0"/>
              <a:t>; the rights it conveys are called the </a:t>
            </a:r>
            <a:r>
              <a:rPr lang="en-US" b="1" dirty="0"/>
              <a:t>franchise</a:t>
            </a:r>
            <a:r>
              <a:rPr lang="en-US" dirty="0"/>
              <a:t>.</a:t>
            </a:r>
          </a:p>
          <a:p>
            <a:pPr marL="0" indent="0" algn="just">
              <a:buNone/>
            </a:pPr>
            <a:r>
              <a:rPr lang="en-US" dirty="0"/>
              <a:t>The extent and importance of these rights may be quite varied.</a:t>
            </a:r>
          </a:p>
          <a:p>
            <a:pPr marL="0" indent="0" algn="just">
              <a:buNone/>
            </a:pPr>
            <a:r>
              <a:rPr lang="en-US" dirty="0"/>
              <a:t>When the main benefit the franchisee receives is the privilege of using a widely recognized product name, the arrangement between the franchisor (supplier) and the franchisee (buyer) is called </a:t>
            </a:r>
            <a:r>
              <a:rPr lang="en-US" b="1" dirty="0"/>
              <a:t>product and trade name franchising</a:t>
            </a:r>
            <a:r>
              <a:rPr lang="en-US" dirty="0"/>
              <a:t>.EG. </a:t>
            </a:r>
            <a:r>
              <a:rPr lang="en-US" dirty="0" err="1"/>
              <a:t>TCCBCL</a:t>
            </a: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 Options</a:t>
            </a:r>
            <a:br>
              <a:rPr lang="en-US" dirty="0"/>
            </a:br>
            <a:endParaRPr lang="en-US" dirty="0"/>
          </a:p>
        </p:txBody>
      </p:sp>
    </p:spTree>
    <p:extLst>
      <p:ext uri="{BB962C8B-B14F-4D97-AF65-F5344CB8AC3E}">
        <p14:creationId xmlns:p14="http://schemas.microsoft.com/office/powerpoint/2010/main" val="365168547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Alternatively, entrepreneurs who receive an entire marketing and management system are participating in a broader type of arrangement referred to as </a:t>
            </a:r>
            <a:r>
              <a:rPr lang="en-US" b="1" dirty="0"/>
              <a:t>business format franchising.</a:t>
            </a:r>
          </a:p>
          <a:p>
            <a:pPr marL="0" indent="0" algn="just">
              <a:buNone/>
            </a:pPr>
            <a:r>
              <a:rPr lang="en-US" dirty="0"/>
              <a:t>A </a:t>
            </a:r>
            <a:r>
              <a:rPr lang="en-US" b="1" dirty="0"/>
              <a:t>master licensee </a:t>
            </a:r>
            <a:r>
              <a:rPr lang="en-US" dirty="0"/>
              <a:t>is a firm or individual having a continuing contractual relationship with a franchisor to sell its franchises. This independent company or businessperson is a</a:t>
            </a:r>
          </a:p>
          <a:p>
            <a:pPr marL="0" indent="0" algn="just">
              <a:buNone/>
            </a:pPr>
            <a:r>
              <a:rPr lang="en-US" dirty="0"/>
              <a:t>type of middleman or sales agent. Master licensees are responsible for finding new franchisees within a specified territory. Sometimes, they even provide support services such as training and warehousing, which are more traditionally provided by the franchisor.</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 Options</a:t>
            </a:r>
          </a:p>
        </p:txBody>
      </p:sp>
    </p:spTree>
    <p:extLst>
      <p:ext uri="{BB962C8B-B14F-4D97-AF65-F5344CB8AC3E}">
        <p14:creationId xmlns:p14="http://schemas.microsoft.com/office/powerpoint/2010/main" val="117070136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Also gaining widespread usage is </a:t>
            </a:r>
            <a:r>
              <a:rPr lang="en-US" b="1" dirty="0"/>
              <a:t>multiple-unit ownership</a:t>
            </a:r>
            <a:r>
              <a:rPr lang="en-US" dirty="0"/>
              <a:t>, in which a single franchisee owns more than one unit of the franchised business. Some of these franchisees are </a:t>
            </a:r>
            <a:r>
              <a:rPr lang="en-US" b="1" dirty="0"/>
              <a:t>area developers</a:t>
            </a:r>
            <a:r>
              <a:rPr lang="en-US" dirty="0"/>
              <a:t>—individuals or firms that obtain the legal right to open several outlets in a given area.</a:t>
            </a:r>
          </a:p>
          <a:p>
            <a:pPr marL="0" indent="0" algn="just">
              <a:buNone/>
            </a:pPr>
            <a:r>
              <a:rPr lang="en-US" b="1" dirty="0"/>
              <a:t>Piggyback franchising </a:t>
            </a:r>
            <a:r>
              <a:rPr lang="en-US" dirty="0"/>
              <a:t>refers to the operation of a retail franchise within the physical facilities of a host store.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Franchising Options</a:t>
            </a:r>
          </a:p>
        </p:txBody>
      </p:sp>
    </p:spTree>
    <p:extLst>
      <p:ext uri="{BB962C8B-B14F-4D97-AF65-F5344CB8AC3E}">
        <p14:creationId xmlns:p14="http://schemas.microsoft.com/office/powerpoint/2010/main" val="143263728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8817002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ctrTitle"/>
          </p:nvPr>
        </p:nvSpPr>
        <p:spPr/>
        <p:txBody>
          <a:bodyPr/>
          <a:lstStyle/>
          <a:p>
            <a:r>
              <a:rPr lang="en-US" dirty="0"/>
              <a:t>Lesson Six</a:t>
            </a:r>
          </a:p>
        </p:txBody>
      </p:sp>
      <p:sp>
        <p:nvSpPr>
          <p:cNvPr id="3" name="Subtitle 2"/>
          <p:cNvSpPr>
            <a:spLocks noGrp="1"/>
          </p:cNvSpPr>
          <p:nvPr>
            <p:ph type="subTitle" idx="1"/>
          </p:nvPr>
        </p:nvSpPr>
        <p:spPr/>
        <p:txBody>
          <a:bodyPr>
            <a:normAutofit/>
          </a:bodyPr>
          <a:lstStyle/>
          <a:p>
            <a:r>
              <a:rPr lang="en-US" sz="3600" dirty="0"/>
              <a:t>Buying An Existing Business</a:t>
            </a:r>
          </a:p>
        </p:txBody>
      </p:sp>
    </p:spTree>
    <p:extLst>
      <p:ext uri="{BB962C8B-B14F-4D97-AF65-F5344CB8AC3E}">
        <p14:creationId xmlns:p14="http://schemas.microsoft.com/office/powerpoint/2010/main" val="26328829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By the end of this class, students are expected to;</a:t>
            </a:r>
          </a:p>
          <a:p>
            <a:pPr algn="just"/>
            <a:r>
              <a:rPr lang="en-US" dirty="0"/>
              <a:t>Understand the  reasons for buying an existing business </a:t>
            </a:r>
          </a:p>
          <a:p>
            <a:pPr algn="just"/>
            <a:r>
              <a:rPr lang="en-US" dirty="0"/>
              <a:t>Describe the process of evaluating a business </a:t>
            </a:r>
            <a:r>
              <a:rPr lang="en-US"/>
              <a:t>for purchase</a:t>
            </a: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410871977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For would-be entrepreneurs, one alternative to starting from scratch or buying a franchise is to buy an established business. The decision to purchase an existing business should be made only after careful consideration of the advantages and disadvantages.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2217746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lgn="just">
              <a:buNone/>
            </a:pPr>
            <a:r>
              <a:rPr lang="en-US" dirty="0"/>
              <a:t>The reasons for buying an existing business can be condensed into the following four general categories:</a:t>
            </a:r>
          </a:p>
          <a:p>
            <a:pPr marL="0" indent="0" algn="just">
              <a:buNone/>
            </a:pPr>
            <a:r>
              <a:rPr lang="en-US" dirty="0"/>
              <a:t>1. To reduce some of the uncertainties and unknowns that must be faced in starting a business from the ground up.</a:t>
            </a:r>
          </a:p>
          <a:p>
            <a:pPr marL="0" indent="0" algn="just">
              <a:buNone/>
            </a:pPr>
            <a:r>
              <a:rPr lang="en-US" dirty="0"/>
              <a:t>2. To acquire a business with ongoing operations and established relationships with customers and suppliers.</a:t>
            </a:r>
          </a:p>
          <a:p>
            <a:pPr marL="0" indent="0" algn="just">
              <a:buNone/>
            </a:pPr>
            <a:r>
              <a:rPr lang="en-US" dirty="0"/>
              <a:t>3. To obtain an established business at a price below what it would cost to start a new business or to buy a franchise.</a:t>
            </a:r>
          </a:p>
          <a:p>
            <a:pPr marL="0" indent="0" algn="just">
              <a:buNone/>
            </a:pPr>
            <a:r>
              <a:rPr lang="en-US" dirty="0"/>
              <a:t>4. To begin a business more quickly than by starting from scratch.</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Reasons For Buying An Existing Business</a:t>
            </a:r>
          </a:p>
        </p:txBody>
      </p:sp>
    </p:spTree>
    <p:extLst>
      <p:ext uri="{BB962C8B-B14F-4D97-AF65-F5344CB8AC3E}">
        <p14:creationId xmlns:p14="http://schemas.microsoft.com/office/powerpoint/2010/main" val="39176565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0" indent="0" algn="just">
              <a:buNone/>
            </a:pPr>
            <a:r>
              <a:rPr lang="en-US" sz="2000" dirty="0"/>
              <a:t>A successful business has already demonstrated its ability to attract customers, manage costs, and make a profit. Although future operations may be different, the firm’s past record shows what it can do under actual market conditions. Although traffic counts are useful in assessing the value of a potential location, the acid test comes when a business opens its doors at that location. This test has already been met in the case of an existing fi rm. The results are available in the form of sales and profit data. </a:t>
            </a:r>
            <a:r>
              <a:rPr lang="en-US" sz="2000" dirty="0" err="1"/>
              <a:t>Noncompete</a:t>
            </a:r>
            <a:r>
              <a:rPr lang="en-US" sz="2000" dirty="0"/>
              <a:t> agreements are needed, however, to discourage the seller from starting a new company that will compete directly with the one being sold.</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Reduction Of Uncertainties </a:t>
            </a:r>
          </a:p>
        </p:txBody>
      </p:sp>
    </p:spTree>
    <p:extLst>
      <p:ext uri="{BB962C8B-B14F-4D97-AF65-F5344CB8AC3E}">
        <p14:creationId xmlns:p14="http://schemas.microsoft.com/office/powerpoint/2010/main" val="21795750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The buyer of an existing business typically acquires its personnel, inventories, physical facilities, established banking connections, and ongoing relationships with trade suppliers and customers.</a:t>
            </a:r>
          </a:p>
          <a:p>
            <a:pPr marL="0" indent="0" algn="just">
              <a:buNone/>
            </a:pPr>
            <a:r>
              <a:rPr lang="en-US" dirty="0"/>
              <a:t>Extensive time and effort would be required to build these elements from scratch. Of course, the advantage derived from buying an established firm’s assets depends on the nature of the assets.</a:t>
            </a:r>
          </a:p>
          <a:p>
            <a:pPr marL="0" indent="0" algn="just">
              <a:buNone/>
            </a:pPr>
            <a:r>
              <a:rPr lang="en-US" dirty="0"/>
              <a:t>The physical facilities must not be obsolete, and the firm’s relationships with banks, suppliers, and customers must be healthy. In any case, new agreements will probably have to be negotiated with current vendors and leaseholders.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000" dirty="0"/>
              <a:t>Acquisition Of Ongoing Operations And Relationships</a:t>
            </a:r>
            <a:br>
              <a:rPr lang="en-US" dirty="0"/>
            </a:br>
            <a:endParaRPr lang="en-US" dirty="0"/>
          </a:p>
        </p:txBody>
      </p:sp>
    </p:spTree>
    <p:extLst>
      <p:ext uri="{BB962C8B-B14F-4D97-AF65-F5344CB8AC3E}">
        <p14:creationId xmlns:p14="http://schemas.microsoft.com/office/powerpoint/2010/main" val="10245399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lgn="just">
              <a:buNone/>
            </a:pPr>
            <a:r>
              <a:rPr lang="en-US" dirty="0"/>
              <a:t>If the seller is more eager to sell than the buyer is to buy, an existing business may be available at what seems to be a low price. Whether it is actually a good buy, however, must be determined by the prospective new owner. </a:t>
            </a:r>
          </a:p>
          <a:p>
            <a:pPr marL="0" indent="0" algn="just">
              <a:buNone/>
            </a:pPr>
            <a:r>
              <a:rPr lang="en-US" dirty="0"/>
              <a:t>Several factors could make a “bargain price” anything but a bargain. For example, the business may be losing money, the neighborhood location may be deteriorating, or the seller may intend to open a competing business nearby. On the other hand, if research indicates that the business indeed is a bargain, purchasing it is likely to turn out to be a wise investment.</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A Bargain Price </a:t>
            </a:r>
          </a:p>
        </p:txBody>
      </p:sp>
    </p:spTree>
    <p:extLst>
      <p:ext uri="{BB962C8B-B14F-4D97-AF65-F5344CB8AC3E}">
        <p14:creationId xmlns:p14="http://schemas.microsoft.com/office/powerpoint/2010/main" val="286278957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Most entrepreneurs are eager to “get going” in their new business and may not be comfortable waiting the months and years sometimes required to launch a business from scratch. Buying an existing business may be an excellent way to begin operations much more quickly.</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A Quick Start</a:t>
            </a:r>
          </a:p>
        </p:txBody>
      </p:sp>
    </p:spTree>
    <p:extLst>
      <p:ext uri="{BB962C8B-B14F-4D97-AF65-F5344CB8AC3E}">
        <p14:creationId xmlns:p14="http://schemas.microsoft.com/office/powerpoint/2010/main" val="145032970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Sometimes, in the course of day-to-day living and working, a would-be buyer comes across an opportunity to buy an existing business. For example, a sales representative for a manufacturer or a wholesaler may be offered an opportunity to buy a customer’s retail business. In other cases, the prospective buyer needs to search for a business to buy.</a:t>
            </a:r>
          </a:p>
          <a:p>
            <a:pPr marL="0" indent="0" algn="just">
              <a:buNone/>
            </a:pPr>
            <a:r>
              <a:rPr lang="en-US" dirty="0"/>
              <a:t>Sources of leads about businesses available for purchase include suppliers, distributors, trade associations, and even bankers.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Finding A Business To Buy</a:t>
            </a:r>
            <a:br>
              <a:rPr lang="en-US" dirty="0"/>
            </a:br>
            <a:endParaRPr lang="en-US" dirty="0"/>
          </a:p>
        </p:txBody>
      </p:sp>
    </p:spTree>
    <p:extLst>
      <p:ext uri="{BB962C8B-B14F-4D97-AF65-F5344CB8AC3E}">
        <p14:creationId xmlns:p14="http://schemas.microsoft.com/office/powerpoint/2010/main" val="263003223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0" y="2286000"/>
            <a:ext cx="7745505" cy="3877815"/>
          </a:xfrm>
        </p:spPr>
        <p:txBody>
          <a:bodyPr>
            <a:normAutofit/>
          </a:bodyPr>
          <a:lstStyle/>
          <a:p>
            <a:pPr marL="0" indent="0" algn="just">
              <a:buNone/>
            </a:pPr>
            <a:r>
              <a:rPr lang="en-US" dirty="0"/>
              <a:t>Regardless of the source of the lead, a business opportunity requires careful evaluation— what some call due diligence. As a preliminary step, the buyer needs to acquire background information about the business, some of which can be obtained through personal observation or discussion with the seller. </a:t>
            </a:r>
          </a:p>
          <a:p>
            <a:pPr marL="0" indent="0" algn="just">
              <a:buNone/>
            </a:pPr>
            <a:r>
              <a:rPr lang="en-US" dirty="0"/>
              <a:t>Talking with other informed parties, such as suppliers, bankers, employees, and customers of the business, is also important.</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a:xfrm>
            <a:off x="609600" y="533400"/>
            <a:ext cx="7756263" cy="1054250"/>
          </a:xfrm>
        </p:spPr>
        <p:txBody>
          <a:bodyPr/>
          <a:lstStyle/>
          <a:p>
            <a:r>
              <a:rPr lang="en-US" sz="4400" dirty="0"/>
              <a:t>Investigating and Evaluating Available Businesses</a:t>
            </a:r>
            <a:br>
              <a:rPr lang="en-US" dirty="0"/>
            </a:br>
            <a:endParaRPr lang="en-US" dirty="0"/>
          </a:p>
        </p:txBody>
      </p:sp>
    </p:spTree>
    <p:extLst>
      <p:ext uri="{BB962C8B-B14F-4D97-AF65-F5344CB8AC3E}">
        <p14:creationId xmlns:p14="http://schemas.microsoft.com/office/powerpoint/2010/main" val="71605579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RELYING ON PROFESSIONALS </a:t>
            </a:r>
          </a:p>
          <a:p>
            <a:pPr marL="0" indent="0" algn="just">
              <a:buNone/>
            </a:pPr>
            <a:r>
              <a:rPr lang="en-US" dirty="0"/>
              <a:t>Although some aspects of due diligence require personal checking, a buyer can also seek the help of outside experts. The two most valuable sources of outside assistance are accountants and lawyers. It is also wise to seek out others who have acquired a business, in order to learn from their experience. Their perspective will be different from that of a consultant, and it will bring some balance to the counsel received.</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90375053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dirty="0"/>
              <a:t>FINDING OUT WHY THE BUSINESS IS FOR SALE</a:t>
            </a:r>
          </a:p>
          <a:p>
            <a:pPr marL="0" indent="0">
              <a:buNone/>
            </a:pPr>
            <a:r>
              <a:rPr lang="en-US" dirty="0"/>
              <a:t> The seller’s real reasons for selling may or may not be the stated ones. When a business is for sale, always question the owner’s reasons for selling. </a:t>
            </a:r>
          </a:p>
          <a:p>
            <a:pPr marL="0" indent="0">
              <a:buNone/>
            </a:pPr>
            <a:r>
              <a:rPr lang="en-US" dirty="0"/>
              <a:t>There is a real possibility that the firm is not doing well or that underlying problems exist that will affect its future performance. The buyer must be wary, therefore, of taking the seller’s explanations at face value.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392495431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Here are some of the most common reasons that owners offer their businesses for sale:</a:t>
            </a:r>
          </a:p>
          <a:p>
            <a:pPr>
              <a:buFont typeface="Arial" pitchFamily="34" charset="0"/>
              <a:buChar char="•"/>
            </a:pPr>
            <a:r>
              <a:rPr lang="en-US" dirty="0"/>
              <a:t>Old age or illness</a:t>
            </a:r>
          </a:p>
          <a:p>
            <a:pPr>
              <a:buFont typeface="Arial" pitchFamily="34" charset="0"/>
              <a:buChar char="•"/>
            </a:pPr>
            <a:r>
              <a:rPr lang="en-US" dirty="0"/>
              <a:t>Desire to relocate to a different part of the country</a:t>
            </a:r>
          </a:p>
          <a:p>
            <a:pPr>
              <a:buFont typeface="Arial" pitchFamily="34" charset="0"/>
              <a:buChar char="•"/>
            </a:pPr>
            <a:r>
              <a:rPr lang="en-US" dirty="0"/>
              <a:t>Decision to accept a position with another company</a:t>
            </a:r>
          </a:p>
          <a:p>
            <a:pPr>
              <a:buFont typeface="Arial" pitchFamily="34" charset="0"/>
              <a:buChar char="•"/>
            </a:pPr>
            <a:r>
              <a:rPr lang="en-US" dirty="0"/>
              <a:t>Unprofitability of the business</a:t>
            </a:r>
          </a:p>
          <a:p>
            <a:pPr>
              <a:buFont typeface="Arial" pitchFamily="34" charset="0"/>
              <a:buChar char="•"/>
            </a:pPr>
            <a:r>
              <a:rPr lang="en-US" dirty="0"/>
              <a:t>Loss of an exclusive sales franchise</a:t>
            </a:r>
          </a:p>
          <a:p>
            <a:pPr>
              <a:buFont typeface="Arial" pitchFamily="34" charset="0"/>
              <a:buChar char="•"/>
            </a:pPr>
            <a:r>
              <a:rPr lang="en-US" dirty="0"/>
              <a:t>Maturing of the industry and lack of growth potential</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399435926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0" indent="0" algn="just">
              <a:buNone/>
            </a:pPr>
            <a:r>
              <a:rPr lang="en-US" dirty="0"/>
              <a:t>EXAMINING THE FINANCIAL DATA </a:t>
            </a:r>
          </a:p>
          <a:p>
            <a:pPr marL="0" indent="0" algn="just">
              <a:buNone/>
            </a:pPr>
            <a:r>
              <a:rPr lang="en-US" sz="3200" dirty="0"/>
              <a:t>The first stage in evaluating the financial health of a firm is to review the financial statements and tax returns for the past five years or for as many years as they are available. (If these statements are not available, think twice before buying the business.) </a:t>
            </a:r>
          </a:p>
          <a:p>
            <a:pPr marL="0" indent="0" algn="just">
              <a:buNone/>
            </a:pPr>
            <a:r>
              <a:rPr lang="en-US" sz="3200" dirty="0"/>
              <a:t>To determine the history of the business and the direction in which it is moving, the buyer must examine financial data pertaining to the company’s operation. </a:t>
            </a:r>
          </a:p>
          <a:p>
            <a:pPr marL="0" indent="0" algn="just">
              <a:buNone/>
            </a:pPr>
            <a:r>
              <a:rPr lang="en-US" sz="3200" dirty="0"/>
              <a:t>If financial statements are available for the past five years, the buyer can use these to get some idea of trends for the business.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246439986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0" indent="0">
              <a:buNone/>
            </a:pPr>
            <a:r>
              <a:rPr lang="en-US" sz="3400" dirty="0"/>
              <a:t>Valuing the Business</a:t>
            </a:r>
          </a:p>
          <a:p>
            <a:pPr marL="0" indent="0" algn="just">
              <a:buNone/>
            </a:pPr>
            <a:endParaRPr lang="en-US" sz="3200" dirty="0"/>
          </a:p>
          <a:p>
            <a:pPr marL="0" indent="0" algn="just">
              <a:buNone/>
            </a:pPr>
            <a:r>
              <a:rPr lang="en-US" sz="3200" dirty="0"/>
              <a:t>Once the initial investigation and evaluation have been completed, the buyer must arrive at a fair value for the fi rm. Valuing a business is not easy or exact, even in the best of circumstances. Despite the fact that buyers prefer audited financial statements, many firms operate without them. </a:t>
            </a:r>
          </a:p>
          <a:p>
            <a:pPr marL="0" indent="0" algn="just">
              <a:buNone/>
            </a:pPr>
            <a:r>
              <a:rPr lang="en-US" sz="3200" dirty="0"/>
              <a:t>In valuing such firms, the buyer will have to rely on tax returns and sales tax statements. It may also be helpful to scrutinize invoices and receipts—of both customers and suppliers—as well as the firm’s bank statements.</a:t>
            </a:r>
          </a:p>
          <a:p>
            <a:pPr marL="0" indent="0" algn="just">
              <a:buNone/>
            </a:pPr>
            <a:r>
              <a:rPr lang="en-US" dirty="0"/>
              <a:t>.</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103062801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Although numerous techniques are used for valuing a company, they are typically derivations of three basic approaches: </a:t>
            </a:r>
          </a:p>
          <a:p>
            <a:pPr marL="0" indent="0" algn="just">
              <a:buNone/>
            </a:pPr>
            <a:r>
              <a:rPr lang="en-US" dirty="0"/>
              <a:t>(1) asset-based valuation, (2) market-comparable</a:t>
            </a:r>
          </a:p>
          <a:p>
            <a:pPr marL="0" indent="0" algn="just">
              <a:buNone/>
            </a:pPr>
            <a:r>
              <a:rPr lang="en-US" dirty="0"/>
              <a:t>valuation, and (3) cash flow–based valuation</a:t>
            </a:r>
          </a:p>
          <a:p>
            <a:pPr marL="0" indent="0" algn="just">
              <a:buNone/>
            </a:pPr>
            <a:r>
              <a:rPr lang="en-US" dirty="0"/>
              <a:t>There are also some non-quantitative factors that can be used in valuing a business.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408682961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Non-quantitative Factors in Valuing a Business</a:t>
            </a:r>
          </a:p>
          <a:p>
            <a:pPr marL="0" indent="0" algn="just">
              <a:buNone/>
            </a:pPr>
            <a:r>
              <a:rPr lang="en-US" b="1" dirty="0"/>
              <a:t>Competition</a:t>
            </a:r>
            <a:r>
              <a:rPr lang="en-US" dirty="0"/>
              <a:t>. The prospective buyer should look into the extent, intensity, and location of competing businesses. In particular, the buyer should check to see whether the business in question is gaining or losing in its race with competitors.</a:t>
            </a:r>
          </a:p>
          <a:p>
            <a:pPr marL="0" indent="0" algn="just">
              <a:buNone/>
            </a:pPr>
            <a:r>
              <a:rPr lang="en-US" dirty="0"/>
              <a:t>Additionally, new competitors to the marketplace may dramatically change an existing firm’s likelihood of success. Past performance is no guarantee of future performance.</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216470834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Non-quantitative Factors in Valuing a Business</a:t>
            </a:r>
          </a:p>
          <a:p>
            <a:pPr marL="0" indent="0" algn="just">
              <a:buNone/>
            </a:pPr>
            <a:r>
              <a:rPr lang="en-US" b="1" dirty="0"/>
              <a:t>Market. </a:t>
            </a:r>
            <a:r>
              <a:rPr lang="en-US" dirty="0"/>
              <a:t>The ability of the market to support all competing business units, including the one to be purchased, should be determined. This requires marketing research, study of census data, and personal, on-the-spot observation at each competitor’s place of business.</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1785207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buNone/>
            </a:pPr>
            <a:r>
              <a:rPr lang="en-US" b="1" dirty="0"/>
              <a:t>Non-quantitative Factors in Valuing a Business</a:t>
            </a:r>
          </a:p>
          <a:p>
            <a:pPr marL="0" indent="0" algn="just">
              <a:buNone/>
            </a:pPr>
            <a:r>
              <a:rPr lang="en-US" b="1" dirty="0"/>
              <a:t>Future community development. </a:t>
            </a:r>
            <a:r>
              <a:rPr lang="en-US" dirty="0"/>
              <a:t>Examples of future developments in the community that could have an indirect impact on a business include a change in zoning ordinances already enacted but not yet in effect, a change from a two-way traffic flow to a one-way traffic flow, and the widening of a road or construction of an overpass.</a:t>
            </a:r>
          </a:p>
          <a:p>
            <a:pPr marL="0" indent="0" algn="just">
              <a:buNone/>
            </a:pPr>
            <a:r>
              <a:rPr lang="en-US" b="1" dirty="0"/>
              <a:t>Product prices</a:t>
            </a:r>
            <a:r>
              <a:rPr lang="en-US" dirty="0"/>
              <a:t>. The prospective owner should compare the prices of the seller’s products with those listed in manufacturers’ or wholesalers’ catalogs and </a:t>
            </a:r>
            <a:r>
              <a:rPr lang="en-US"/>
              <a:t>also with the </a:t>
            </a:r>
            <a:r>
              <a:rPr lang="en-US" dirty="0"/>
              <a:t>prices of competing products in the locality.</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102854308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Non-quantitative Factors in Valuing a Business</a:t>
            </a:r>
          </a:p>
          <a:p>
            <a:pPr marL="0" indent="0" algn="just">
              <a:buNone/>
            </a:pPr>
            <a:r>
              <a:rPr lang="en-US" b="1" dirty="0"/>
              <a:t>Legal commitments</a:t>
            </a:r>
            <a:r>
              <a:rPr lang="en-US" dirty="0"/>
              <a:t>. Legal commitments may include contingent liabilities, unsettled lawsuits, delinquent tax payments, missed payrolls, overdue rent or installment</a:t>
            </a:r>
          </a:p>
          <a:p>
            <a:pPr marL="0" indent="0" algn="just">
              <a:buNone/>
            </a:pPr>
            <a:r>
              <a:rPr lang="en-US" dirty="0"/>
              <a:t>payments.</a:t>
            </a:r>
          </a:p>
          <a:p>
            <a:pPr marL="0" indent="0" algn="just">
              <a:buNone/>
            </a:pPr>
            <a:r>
              <a:rPr lang="en-US" b="1" dirty="0"/>
              <a:t>Buildings</a:t>
            </a:r>
            <a:r>
              <a:rPr lang="en-US" dirty="0"/>
              <a:t>. The quality of the buildings housing the business should be checked, with particular attention paid to any fire hazards. In addition, the buyer should</a:t>
            </a:r>
          </a:p>
          <a:p>
            <a:pPr marL="0" indent="0" algn="just">
              <a:buNone/>
            </a:pPr>
            <a:r>
              <a:rPr lang="en-US" dirty="0"/>
              <a:t>determine whether there are any restrictions on access to the buildings.</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Investigating and Evaluating Available Businesses</a:t>
            </a:r>
          </a:p>
        </p:txBody>
      </p:sp>
    </p:spTree>
    <p:extLst>
      <p:ext uri="{BB962C8B-B14F-4D97-AF65-F5344CB8AC3E}">
        <p14:creationId xmlns:p14="http://schemas.microsoft.com/office/powerpoint/2010/main" val="168921324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74957038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FB6232-060D-4889-82BA-5424A27F60B1}"/>
              </a:ext>
            </a:extLst>
          </p:cNvPr>
          <p:cNvSpPr>
            <a:spLocks noGrp="1"/>
          </p:cNvSpPr>
          <p:nvPr>
            <p:ph idx="1"/>
          </p:nvPr>
        </p:nvSpPr>
        <p:spPr/>
        <p:txBody>
          <a:bodyPr/>
          <a:lstStyle/>
          <a:p>
            <a:endParaRPr lang="en-US"/>
          </a:p>
        </p:txBody>
      </p:sp>
      <p:sp>
        <p:nvSpPr>
          <p:cNvPr id="3" name="Footer Placeholder 2">
            <a:extLst>
              <a:ext uri="{FF2B5EF4-FFF2-40B4-BE49-F238E27FC236}">
                <a16:creationId xmlns:a16="http://schemas.microsoft.com/office/drawing/2014/main" id="{C2927134-B49D-4C74-AA84-B9FFBED4F03A}"/>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98420F52-7E88-43BE-A69A-62466B0637F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6315229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4CB49D-9DC1-49B6-840A-2B11F3FDCCA2}"/>
              </a:ext>
            </a:extLst>
          </p:cNvPr>
          <p:cNvSpPr>
            <a:spLocks noGrp="1"/>
          </p:cNvSpPr>
          <p:nvPr>
            <p:ph type="ftr" sz="quarter" idx="11"/>
          </p:nvPr>
        </p:nvSpPr>
        <p:spPr/>
        <p:txBody>
          <a:bodyPr/>
          <a:lstStyle/>
          <a:p>
            <a:r>
              <a:rPr lang="da-DK" dirty="0"/>
              <a:t>Longenecker et. al. (2008).  A. Sardiya (2019)</a:t>
            </a:r>
            <a:endParaRPr lang="en-US" dirty="0"/>
          </a:p>
        </p:txBody>
      </p:sp>
      <p:sp>
        <p:nvSpPr>
          <p:cNvPr id="3" name="Title 2">
            <a:extLst>
              <a:ext uri="{FF2B5EF4-FFF2-40B4-BE49-F238E27FC236}">
                <a16:creationId xmlns:a16="http://schemas.microsoft.com/office/drawing/2014/main" id="{9129EE12-6C03-4CA5-A609-F7BEF6E545B5}"/>
              </a:ext>
            </a:extLst>
          </p:cNvPr>
          <p:cNvSpPr>
            <a:spLocks noGrp="1"/>
          </p:cNvSpPr>
          <p:nvPr>
            <p:ph type="ctrTitle"/>
          </p:nvPr>
        </p:nvSpPr>
        <p:spPr/>
        <p:txBody>
          <a:bodyPr/>
          <a:lstStyle/>
          <a:p>
            <a:r>
              <a:rPr lang="en-US" dirty="0"/>
              <a:t>Lesson Seven</a:t>
            </a:r>
          </a:p>
        </p:txBody>
      </p:sp>
      <p:sp>
        <p:nvSpPr>
          <p:cNvPr id="4" name="Subtitle 3">
            <a:extLst>
              <a:ext uri="{FF2B5EF4-FFF2-40B4-BE49-F238E27FC236}">
                <a16:creationId xmlns:a16="http://schemas.microsoft.com/office/drawing/2014/main" id="{A0820E89-05C1-4C19-A54E-E44FED5F6937}"/>
              </a:ext>
            </a:extLst>
          </p:cNvPr>
          <p:cNvSpPr>
            <a:spLocks noGrp="1"/>
          </p:cNvSpPr>
          <p:nvPr>
            <p:ph type="subTitle" idx="1"/>
          </p:nvPr>
        </p:nvSpPr>
        <p:spPr/>
        <p:txBody>
          <a:bodyPr/>
          <a:lstStyle/>
          <a:p>
            <a:r>
              <a:rPr lang="en-US" dirty="0"/>
              <a:t>Family Business</a:t>
            </a:r>
          </a:p>
        </p:txBody>
      </p:sp>
    </p:spTree>
    <p:extLst>
      <p:ext uri="{BB962C8B-B14F-4D97-AF65-F5344CB8AC3E}">
        <p14:creationId xmlns:p14="http://schemas.microsoft.com/office/powerpoint/2010/main" val="246855118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2C0596-3865-41BD-885E-19C7A7C29EB8}"/>
              </a:ext>
            </a:extLst>
          </p:cNvPr>
          <p:cNvSpPr>
            <a:spLocks noGrp="1"/>
          </p:cNvSpPr>
          <p:nvPr>
            <p:ph idx="1"/>
          </p:nvPr>
        </p:nvSpPr>
        <p:spPr/>
        <p:txBody>
          <a:bodyPr/>
          <a:lstStyle/>
          <a:p>
            <a:pPr marL="0" indent="0">
              <a:buNone/>
            </a:pPr>
            <a:r>
              <a:rPr lang="en-US" dirty="0"/>
              <a:t>By the end of this lesson, participants should be able to</a:t>
            </a:r>
          </a:p>
          <a:p>
            <a:r>
              <a:rPr lang="en-US" dirty="0"/>
              <a:t>Define family business and understand its characteristics</a:t>
            </a:r>
          </a:p>
          <a:p>
            <a:r>
              <a:rPr lang="en-US" dirty="0"/>
              <a:t>Understand and appreciate the relative advantages and disadvantages of family business</a:t>
            </a:r>
          </a:p>
        </p:txBody>
      </p:sp>
      <p:sp>
        <p:nvSpPr>
          <p:cNvPr id="3" name="Footer Placeholder 2">
            <a:extLst>
              <a:ext uri="{FF2B5EF4-FFF2-40B4-BE49-F238E27FC236}">
                <a16:creationId xmlns:a16="http://schemas.microsoft.com/office/drawing/2014/main" id="{642CDFC1-2991-4533-A475-C68873C074A9}"/>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59CCC056-8757-4E4D-8BF2-010C91C28787}"/>
              </a:ext>
            </a:extLst>
          </p:cNvPr>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333879474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869A3B-9318-4075-8EA0-67B1FDBFE79F}"/>
              </a:ext>
            </a:extLst>
          </p:cNvPr>
          <p:cNvSpPr>
            <a:spLocks noGrp="1"/>
          </p:cNvSpPr>
          <p:nvPr>
            <p:ph idx="1"/>
          </p:nvPr>
        </p:nvSpPr>
        <p:spPr/>
        <p:txBody>
          <a:bodyPr>
            <a:normAutofit fontScale="92500"/>
          </a:bodyPr>
          <a:lstStyle/>
          <a:p>
            <a:pPr marL="0" indent="0">
              <a:buNone/>
            </a:pPr>
            <a:r>
              <a:rPr lang="en-US" dirty="0"/>
              <a:t>A family business can be defined as a business that is ran and/or managed by more than one member of the same family.</a:t>
            </a:r>
          </a:p>
          <a:p>
            <a:pPr marL="0" indent="0">
              <a:buNone/>
            </a:pPr>
            <a:r>
              <a:rPr lang="en-US" dirty="0"/>
              <a:t>Family businesses vary from one another.</a:t>
            </a:r>
          </a:p>
          <a:p>
            <a:pPr marL="0" indent="0">
              <a:buNone/>
            </a:pPr>
            <a:r>
              <a:rPr lang="en-US" dirty="0"/>
              <a:t>Factors that define the nature of family business include;</a:t>
            </a:r>
          </a:p>
          <a:p>
            <a:pPr marL="0" indent="0">
              <a:buNone/>
            </a:pPr>
            <a:r>
              <a:rPr lang="en-US" dirty="0"/>
              <a:t>Ownership structure</a:t>
            </a:r>
          </a:p>
          <a:p>
            <a:pPr marL="0" indent="0">
              <a:buNone/>
            </a:pPr>
            <a:r>
              <a:rPr lang="en-US" dirty="0"/>
              <a:t>The nature of relationship between the </a:t>
            </a:r>
            <a:r>
              <a:rPr lang="en-US"/>
              <a:t>members involved</a:t>
            </a:r>
            <a:endParaRPr lang="en-US" dirty="0"/>
          </a:p>
          <a:p>
            <a:pPr marL="0" indent="0">
              <a:buNone/>
            </a:pPr>
            <a:r>
              <a:rPr lang="en-US" dirty="0"/>
              <a:t>The number of generations involved</a:t>
            </a:r>
          </a:p>
          <a:p>
            <a:pPr marL="0" indent="0">
              <a:buNone/>
            </a:pPr>
            <a:r>
              <a:rPr lang="en-US" dirty="0"/>
              <a:t>The vision of the founder(s) etc.</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3" name="Footer Placeholder 2">
            <a:extLst>
              <a:ext uri="{FF2B5EF4-FFF2-40B4-BE49-F238E27FC236}">
                <a16:creationId xmlns:a16="http://schemas.microsoft.com/office/drawing/2014/main" id="{DA11A9C1-0835-4592-9FCB-0B51BB3A2820}"/>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1FF5C2C0-CB7E-4424-BA16-C2FB09BF7A09}"/>
              </a:ext>
            </a:extLst>
          </p:cNvPr>
          <p:cNvSpPr>
            <a:spLocks noGrp="1"/>
          </p:cNvSpPr>
          <p:nvPr>
            <p:ph type="title"/>
          </p:nvPr>
        </p:nvSpPr>
        <p:spPr/>
        <p:txBody>
          <a:bodyPr/>
          <a:lstStyle/>
          <a:p>
            <a:r>
              <a:rPr lang="en-US" dirty="0"/>
              <a:t>Definition &amp; Nature of family business</a:t>
            </a:r>
          </a:p>
        </p:txBody>
      </p:sp>
    </p:spTree>
    <p:extLst>
      <p:ext uri="{BB962C8B-B14F-4D97-AF65-F5344CB8AC3E}">
        <p14:creationId xmlns:p14="http://schemas.microsoft.com/office/powerpoint/2010/main" val="92229152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D6CB4B-3243-4DAD-A16E-F8EF08CBF5D8}"/>
              </a:ext>
            </a:extLst>
          </p:cNvPr>
          <p:cNvSpPr>
            <a:spLocks noGrp="1"/>
          </p:cNvSpPr>
          <p:nvPr>
            <p:ph idx="1"/>
          </p:nvPr>
        </p:nvSpPr>
        <p:spPr/>
        <p:txBody>
          <a:bodyPr/>
          <a:lstStyle/>
          <a:p>
            <a:pPr marL="0" indent="0">
              <a:buNone/>
            </a:pPr>
            <a:r>
              <a:rPr lang="en-US" dirty="0"/>
              <a:t>Family businesses ran differently from other SMEs and entrepreneurial firms.  Family businesses also tend not be very public with the matters of their organizations.</a:t>
            </a:r>
          </a:p>
          <a:p>
            <a:pPr marL="0" indent="0">
              <a:buNone/>
            </a:pPr>
            <a:r>
              <a:rPr lang="en-US" dirty="0"/>
              <a:t>However, it is known that family businesses tend to have a positive work culture and may probably have a higher rate of not only succeeding, but growing too.</a:t>
            </a:r>
          </a:p>
          <a:p>
            <a:pPr marL="0" indent="0">
              <a:buNone/>
            </a:pPr>
            <a:endParaRPr lang="en-US" dirty="0"/>
          </a:p>
        </p:txBody>
      </p:sp>
      <p:sp>
        <p:nvSpPr>
          <p:cNvPr id="3" name="Footer Placeholder 2">
            <a:extLst>
              <a:ext uri="{FF2B5EF4-FFF2-40B4-BE49-F238E27FC236}">
                <a16:creationId xmlns:a16="http://schemas.microsoft.com/office/drawing/2014/main" id="{A1F8BAA2-F519-4431-B609-853F5C1B15AE}"/>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B7BD4FC8-E3B1-4231-988B-0A89672D542B}"/>
              </a:ext>
            </a:extLst>
          </p:cNvPr>
          <p:cNvSpPr>
            <a:spLocks noGrp="1"/>
          </p:cNvSpPr>
          <p:nvPr>
            <p:ph type="title"/>
          </p:nvPr>
        </p:nvSpPr>
        <p:spPr/>
        <p:txBody>
          <a:bodyPr/>
          <a:lstStyle/>
          <a:p>
            <a:r>
              <a:rPr lang="en-US" dirty="0"/>
              <a:t>Making a case for family business</a:t>
            </a:r>
          </a:p>
        </p:txBody>
      </p:sp>
    </p:spTree>
    <p:extLst>
      <p:ext uri="{BB962C8B-B14F-4D97-AF65-F5344CB8AC3E}">
        <p14:creationId xmlns:p14="http://schemas.microsoft.com/office/powerpoint/2010/main" val="150885221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32A071-AC6F-4C07-B91E-0822A9187B69}"/>
              </a:ext>
            </a:extLst>
          </p:cNvPr>
          <p:cNvSpPr>
            <a:spLocks noGrp="1"/>
          </p:cNvSpPr>
          <p:nvPr>
            <p:ph idx="1"/>
          </p:nvPr>
        </p:nvSpPr>
        <p:spPr/>
        <p:txBody>
          <a:bodyPr/>
          <a:lstStyle/>
          <a:p>
            <a:pPr marL="0" indent="0">
              <a:buNone/>
            </a:pPr>
            <a:r>
              <a:rPr lang="en-US" dirty="0"/>
              <a:t>The USA Scenario</a:t>
            </a:r>
          </a:p>
          <a:p>
            <a:r>
              <a:rPr lang="en-US" dirty="0"/>
              <a:t>Family businesses account for about 50% of  USA’s GDP</a:t>
            </a:r>
          </a:p>
          <a:p>
            <a:r>
              <a:rPr lang="en-US" dirty="0"/>
              <a:t>About 35% of Fortune 500 companies </a:t>
            </a:r>
          </a:p>
          <a:p>
            <a:r>
              <a:rPr lang="en-US" dirty="0"/>
              <a:t>60 % of jobs and 78% of new jobs</a:t>
            </a:r>
          </a:p>
          <a:p>
            <a:pPr marL="0" indent="0">
              <a:buNone/>
            </a:pPr>
            <a:endParaRPr lang="en-US" dirty="0"/>
          </a:p>
        </p:txBody>
      </p:sp>
      <p:sp>
        <p:nvSpPr>
          <p:cNvPr id="3" name="Footer Placeholder 2">
            <a:extLst>
              <a:ext uri="{FF2B5EF4-FFF2-40B4-BE49-F238E27FC236}">
                <a16:creationId xmlns:a16="http://schemas.microsoft.com/office/drawing/2014/main" id="{97A665B7-80F3-4D74-890D-266EB98A35DA}"/>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2B1CE9BB-D597-413E-B45E-11A5E63033DA}"/>
              </a:ext>
            </a:extLst>
          </p:cNvPr>
          <p:cNvSpPr>
            <a:spLocks noGrp="1"/>
          </p:cNvSpPr>
          <p:nvPr>
            <p:ph type="title"/>
          </p:nvPr>
        </p:nvSpPr>
        <p:spPr/>
        <p:txBody>
          <a:bodyPr/>
          <a:lstStyle/>
          <a:p>
            <a:r>
              <a:rPr lang="en-US" dirty="0"/>
              <a:t>Making a case for family business</a:t>
            </a:r>
          </a:p>
        </p:txBody>
      </p:sp>
    </p:spTree>
    <p:extLst>
      <p:ext uri="{BB962C8B-B14F-4D97-AF65-F5344CB8AC3E}">
        <p14:creationId xmlns:p14="http://schemas.microsoft.com/office/powerpoint/2010/main" val="407431224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255835-00B0-4526-A86B-9853328324A7}"/>
              </a:ext>
            </a:extLst>
          </p:cNvPr>
          <p:cNvSpPr>
            <a:spLocks noGrp="1"/>
          </p:cNvSpPr>
          <p:nvPr>
            <p:ph idx="1"/>
          </p:nvPr>
        </p:nvSpPr>
        <p:spPr/>
        <p:txBody>
          <a:bodyPr>
            <a:normAutofit fontScale="92500" lnSpcReduction="10000"/>
          </a:bodyPr>
          <a:lstStyle/>
          <a:p>
            <a:r>
              <a:rPr lang="en-US" dirty="0"/>
              <a:t>Family businesses are mostly characterized by entrepreneurial spirit, flexibility and opportunism.</a:t>
            </a:r>
          </a:p>
          <a:p>
            <a:r>
              <a:rPr lang="en-US" dirty="0"/>
              <a:t>Family businesses are resilient because the key members have common goals, shared values, and a commitment to brand building. </a:t>
            </a:r>
          </a:p>
          <a:p>
            <a:r>
              <a:rPr lang="en-US" dirty="0"/>
              <a:t>Multiple members of the same family creates a strong support system that promotes solidarity and teamwork</a:t>
            </a:r>
          </a:p>
          <a:p>
            <a:r>
              <a:rPr lang="en-US" dirty="0"/>
              <a:t>Decision making is quicker because the firms are less bureaucratic and have flexible structures.</a:t>
            </a:r>
          </a:p>
          <a:p>
            <a:r>
              <a:rPr lang="en-US" dirty="0"/>
              <a:t>Younger members of the family gain exposure to entrepreneurship</a:t>
            </a:r>
          </a:p>
        </p:txBody>
      </p:sp>
      <p:sp>
        <p:nvSpPr>
          <p:cNvPr id="3" name="Footer Placeholder 2">
            <a:extLst>
              <a:ext uri="{FF2B5EF4-FFF2-40B4-BE49-F238E27FC236}">
                <a16:creationId xmlns:a16="http://schemas.microsoft.com/office/drawing/2014/main" id="{60A9BA9B-8969-4E1E-8023-1945FFAA511C}"/>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71A710F9-CAD6-428E-8B4F-496DE11791A1}"/>
              </a:ext>
            </a:extLst>
          </p:cNvPr>
          <p:cNvSpPr>
            <a:spLocks noGrp="1"/>
          </p:cNvSpPr>
          <p:nvPr>
            <p:ph type="title"/>
          </p:nvPr>
        </p:nvSpPr>
        <p:spPr/>
        <p:txBody>
          <a:bodyPr/>
          <a:lstStyle/>
          <a:p>
            <a:r>
              <a:rPr lang="en-US" dirty="0"/>
              <a:t>Advantages</a:t>
            </a:r>
          </a:p>
        </p:txBody>
      </p:sp>
    </p:spTree>
    <p:extLst>
      <p:ext uri="{BB962C8B-B14F-4D97-AF65-F5344CB8AC3E}">
        <p14:creationId xmlns:p14="http://schemas.microsoft.com/office/powerpoint/2010/main" val="21500739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7BA0A6-6BAF-4616-B583-9BED3F60587B}"/>
              </a:ext>
            </a:extLst>
          </p:cNvPr>
          <p:cNvSpPr>
            <a:spLocks noGrp="1"/>
          </p:cNvSpPr>
          <p:nvPr>
            <p:ph idx="1"/>
          </p:nvPr>
        </p:nvSpPr>
        <p:spPr/>
        <p:txBody>
          <a:bodyPr>
            <a:normAutofit fontScale="92500" lnSpcReduction="20000"/>
          </a:bodyPr>
          <a:lstStyle/>
          <a:p>
            <a:r>
              <a:rPr lang="en-US" dirty="0"/>
              <a:t>Family businesses sometimes have difficulty changing their structure and traditions.</a:t>
            </a:r>
          </a:p>
          <a:p>
            <a:r>
              <a:rPr lang="en-US" dirty="0"/>
              <a:t>The possibility of family feuds, disagreements etc. affecting the business and vice-versa</a:t>
            </a:r>
          </a:p>
          <a:p>
            <a:r>
              <a:rPr lang="en-US" dirty="0"/>
              <a:t>By the third or fourth generation, the ownership strategy gets complicated and strategic control is difficult to capture due to increasing family size.</a:t>
            </a:r>
          </a:p>
          <a:p>
            <a:r>
              <a:rPr lang="en-US" dirty="0"/>
              <a:t>Employees who are family members may interfere with company systems, policies and procedures.</a:t>
            </a:r>
          </a:p>
          <a:p>
            <a:r>
              <a:rPr lang="en-US" dirty="0"/>
              <a:t>Possibility of succession challenges, managerial in competence, difficulty separating family from business etc.</a:t>
            </a:r>
          </a:p>
        </p:txBody>
      </p:sp>
      <p:sp>
        <p:nvSpPr>
          <p:cNvPr id="3" name="Footer Placeholder 2">
            <a:extLst>
              <a:ext uri="{FF2B5EF4-FFF2-40B4-BE49-F238E27FC236}">
                <a16:creationId xmlns:a16="http://schemas.microsoft.com/office/drawing/2014/main" id="{3A71F5D2-4F49-4686-B05B-3077CD1FE895}"/>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6D613CFC-CCDC-4487-8F89-75DB9C931C58}"/>
              </a:ext>
            </a:extLst>
          </p:cNvPr>
          <p:cNvSpPr>
            <a:spLocks noGrp="1"/>
          </p:cNvSpPr>
          <p:nvPr>
            <p:ph type="title"/>
          </p:nvPr>
        </p:nvSpPr>
        <p:spPr/>
        <p:txBody>
          <a:bodyPr/>
          <a:lstStyle/>
          <a:p>
            <a:r>
              <a:rPr lang="en-US" dirty="0"/>
              <a:t>Disadvantages</a:t>
            </a:r>
          </a:p>
        </p:txBody>
      </p:sp>
    </p:spTree>
    <p:extLst>
      <p:ext uri="{BB962C8B-B14F-4D97-AF65-F5344CB8AC3E}">
        <p14:creationId xmlns:p14="http://schemas.microsoft.com/office/powerpoint/2010/main" val="399839385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C8F7C1-972C-4B42-A855-DDAA7B6D8A4B}"/>
              </a:ext>
            </a:extLst>
          </p:cNvPr>
          <p:cNvSpPr>
            <a:spLocks noGrp="1"/>
          </p:cNvSpPr>
          <p:nvPr>
            <p:ph idx="1"/>
          </p:nvPr>
        </p:nvSpPr>
        <p:spPr/>
        <p:txBody>
          <a:bodyPr/>
          <a:lstStyle/>
          <a:p>
            <a:pPr marL="0" indent="0">
              <a:buNone/>
            </a:pPr>
            <a:r>
              <a:rPr lang="en-US" dirty="0" err="1"/>
              <a:t>Aquaspace</a:t>
            </a:r>
            <a:endParaRPr lang="en-US" dirty="0"/>
          </a:p>
          <a:p>
            <a:pPr marL="0" indent="0">
              <a:buNone/>
            </a:pPr>
            <a:r>
              <a:rPr lang="en-US" dirty="0"/>
              <a:t>The Puma and Adidas Rivalry read article from link below</a:t>
            </a:r>
          </a:p>
          <a:p>
            <a:pPr marL="0" indent="0">
              <a:buNone/>
            </a:pPr>
            <a:r>
              <a:rPr lang="en-US" dirty="0"/>
              <a:t>https://www.businessinsider.com/how-puma-and-adidas-rivalry-divided-their-founding-town-for-70-years-2018-10?r=US&amp;IR=T#the-dispute-between-the-dassler-brothers-didnt-just-affect-their-employees-it-affected-the-whole-town-3</a:t>
            </a:r>
          </a:p>
        </p:txBody>
      </p:sp>
      <p:sp>
        <p:nvSpPr>
          <p:cNvPr id="3" name="Footer Placeholder 2">
            <a:extLst>
              <a:ext uri="{FF2B5EF4-FFF2-40B4-BE49-F238E27FC236}">
                <a16:creationId xmlns:a16="http://schemas.microsoft.com/office/drawing/2014/main" id="{0B2DCB49-85D6-4E9A-AE9B-A06D8D49C8B1}"/>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12595652-DBAC-400E-BFF2-CA370D05AF21}"/>
              </a:ext>
            </a:extLst>
          </p:cNvPr>
          <p:cNvSpPr>
            <a:spLocks noGrp="1"/>
          </p:cNvSpPr>
          <p:nvPr>
            <p:ph type="title"/>
          </p:nvPr>
        </p:nvSpPr>
        <p:spPr/>
        <p:txBody>
          <a:bodyPr/>
          <a:lstStyle/>
          <a:p>
            <a:r>
              <a:rPr lang="en-US" dirty="0"/>
              <a:t>Case </a:t>
            </a:r>
          </a:p>
        </p:txBody>
      </p:sp>
    </p:spTree>
    <p:extLst>
      <p:ext uri="{BB962C8B-B14F-4D97-AF65-F5344CB8AC3E}">
        <p14:creationId xmlns:p14="http://schemas.microsoft.com/office/powerpoint/2010/main" val="68855528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271A1E7-B1C0-4B04-8CE1-134BEE362271}"/>
              </a:ext>
            </a:extLst>
          </p:cNvPr>
          <p:cNvSpPr>
            <a:spLocks noGrp="1"/>
          </p:cNvSpPr>
          <p:nvPr>
            <p:ph type="ftr" sz="quarter" idx="11"/>
          </p:nvPr>
        </p:nvSpPr>
        <p:spPr/>
        <p:txBody>
          <a:bodyPr/>
          <a:lstStyle/>
          <a:p>
            <a:r>
              <a:rPr lang="da-DK" dirty="0"/>
              <a:t>Longenecker et. al. (2008); Bygrave &amp; Zacharakis(2010); A. Sardiya (2021)</a:t>
            </a:r>
            <a:endParaRPr lang="en-US" dirty="0"/>
          </a:p>
        </p:txBody>
      </p:sp>
      <p:sp>
        <p:nvSpPr>
          <p:cNvPr id="3" name="Title 2">
            <a:extLst>
              <a:ext uri="{FF2B5EF4-FFF2-40B4-BE49-F238E27FC236}">
                <a16:creationId xmlns:a16="http://schemas.microsoft.com/office/drawing/2014/main" id="{E56D9716-484E-4FA8-AB97-5D779443A37B}"/>
              </a:ext>
            </a:extLst>
          </p:cNvPr>
          <p:cNvSpPr>
            <a:spLocks noGrp="1"/>
          </p:cNvSpPr>
          <p:nvPr>
            <p:ph type="ctrTitle"/>
          </p:nvPr>
        </p:nvSpPr>
        <p:spPr/>
        <p:txBody>
          <a:bodyPr/>
          <a:lstStyle/>
          <a:p>
            <a:r>
              <a:rPr lang="en-US" dirty="0"/>
              <a:t>Lesson Eight</a:t>
            </a:r>
          </a:p>
        </p:txBody>
      </p:sp>
      <p:sp>
        <p:nvSpPr>
          <p:cNvPr id="4" name="Subtitle 3">
            <a:extLst>
              <a:ext uri="{FF2B5EF4-FFF2-40B4-BE49-F238E27FC236}">
                <a16:creationId xmlns:a16="http://schemas.microsoft.com/office/drawing/2014/main" id="{FF4BD369-D45F-4433-94D1-E0465A0FCAAC}"/>
              </a:ext>
            </a:extLst>
          </p:cNvPr>
          <p:cNvSpPr>
            <a:spLocks noGrp="1"/>
          </p:cNvSpPr>
          <p:nvPr>
            <p:ph type="subTitle" idx="1"/>
          </p:nvPr>
        </p:nvSpPr>
        <p:spPr/>
        <p:txBody>
          <a:bodyPr/>
          <a:lstStyle/>
          <a:p>
            <a:r>
              <a:rPr lang="en-US" dirty="0"/>
              <a:t>FINANCING ENTREPRENEURIAL BUSINESSES</a:t>
            </a:r>
          </a:p>
          <a:p>
            <a:r>
              <a:rPr lang="en-US" dirty="0"/>
              <a:t>With Bygrave and </a:t>
            </a:r>
            <a:r>
              <a:rPr lang="en-US" dirty="0" err="1"/>
              <a:t>Zacharakis</a:t>
            </a:r>
            <a:r>
              <a:rPr lang="en-US" dirty="0"/>
              <a:t> (2010)</a:t>
            </a:r>
          </a:p>
        </p:txBody>
      </p:sp>
    </p:spTree>
    <p:extLst>
      <p:ext uri="{BB962C8B-B14F-4D97-AF65-F5344CB8AC3E}">
        <p14:creationId xmlns:p14="http://schemas.microsoft.com/office/powerpoint/2010/main" val="48744793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6CA54A-1C20-431B-856D-91D7ACFBAFA4}"/>
              </a:ext>
            </a:extLst>
          </p:cNvPr>
          <p:cNvSpPr>
            <a:spLocks noGrp="1"/>
          </p:cNvSpPr>
          <p:nvPr>
            <p:ph idx="1"/>
          </p:nvPr>
        </p:nvSpPr>
        <p:spPr/>
        <p:txBody>
          <a:bodyPr/>
          <a:lstStyle/>
          <a:p>
            <a:pPr marL="0" indent="0">
              <a:buNone/>
            </a:pPr>
            <a:r>
              <a:rPr lang="en-US" dirty="0"/>
              <a:t>By the end of this lesson, participants should be able to;</a:t>
            </a:r>
          </a:p>
          <a:p>
            <a:pPr>
              <a:buFont typeface="Wingdings" panose="05000000000000000000" pitchFamily="2" charset="2"/>
              <a:buChar char="§"/>
            </a:pPr>
            <a:r>
              <a:rPr lang="en-US" dirty="0"/>
              <a:t>Understand the challenges of financing entrepreneurial firms.</a:t>
            </a:r>
          </a:p>
          <a:p>
            <a:pPr>
              <a:buFont typeface="Wingdings" panose="05000000000000000000" pitchFamily="2" charset="2"/>
              <a:buChar char="§"/>
            </a:pPr>
            <a:r>
              <a:rPr lang="en-US" dirty="0"/>
              <a:t>Know the potential sources of funding for entrepreneurs.</a:t>
            </a:r>
          </a:p>
          <a:p>
            <a:pPr>
              <a:buFont typeface="Wingdings" panose="05000000000000000000" pitchFamily="2" charset="2"/>
              <a:buChar char="§"/>
            </a:pPr>
            <a:r>
              <a:rPr lang="en-US" dirty="0"/>
              <a:t>Explain the benefits and challenges of the various sources of entrepreneurial funding.</a:t>
            </a:r>
          </a:p>
        </p:txBody>
      </p:sp>
      <p:sp>
        <p:nvSpPr>
          <p:cNvPr id="3" name="Footer Placeholder 2">
            <a:extLst>
              <a:ext uri="{FF2B5EF4-FFF2-40B4-BE49-F238E27FC236}">
                <a16:creationId xmlns:a16="http://schemas.microsoft.com/office/drawing/2014/main" id="{F6A73C2A-A79E-44CE-93A5-DE712105DA40}"/>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A4F978DC-83FF-408A-98C9-4E4127E23A11}"/>
              </a:ext>
            </a:extLst>
          </p:cNvPr>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208345100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F9BEBD-79F9-43A1-87D7-7382F6FB803D}"/>
              </a:ext>
            </a:extLst>
          </p:cNvPr>
          <p:cNvSpPr>
            <a:spLocks noGrp="1"/>
          </p:cNvSpPr>
          <p:nvPr>
            <p:ph idx="1"/>
          </p:nvPr>
        </p:nvSpPr>
        <p:spPr/>
        <p:txBody>
          <a:bodyPr>
            <a:normAutofit/>
          </a:bodyPr>
          <a:lstStyle/>
          <a:p>
            <a:pPr marL="0" indent="0" algn="just">
              <a:buNone/>
            </a:pPr>
            <a:r>
              <a:rPr lang="en-US" dirty="0"/>
              <a:t>According to David S. Waddell, an investment strategist in Memphis, a new business searching for capital has no track record to present to potential investors and lenders. All it has is a plan—sometimes written, sometimes not, that projects its future performance. This means that it is very difficult to raise debt financing from conventional banks because they require as many as three years of actual, not projected financial statements and assets that adequately cover the loan. </a:t>
            </a:r>
          </a:p>
        </p:txBody>
      </p:sp>
      <p:sp>
        <p:nvSpPr>
          <p:cNvPr id="3" name="Footer Placeholder 2">
            <a:extLst>
              <a:ext uri="{FF2B5EF4-FFF2-40B4-BE49-F238E27FC236}">
                <a16:creationId xmlns:a16="http://schemas.microsoft.com/office/drawing/2014/main" id="{2733F3C6-E1F8-4140-9D3A-535BA990DB88}"/>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1124857E-510D-4B29-A310-2433ACC71165}"/>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99867703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6833DD-35CE-430F-AB32-B33CA113F832}"/>
              </a:ext>
            </a:extLst>
          </p:cNvPr>
          <p:cNvSpPr>
            <a:spLocks noGrp="1"/>
          </p:cNvSpPr>
          <p:nvPr>
            <p:ph idx="1"/>
          </p:nvPr>
        </p:nvSpPr>
        <p:spPr>
          <a:xfrm>
            <a:off x="699248" y="2260436"/>
            <a:ext cx="7745505" cy="3877815"/>
          </a:xfrm>
        </p:spPr>
        <p:txBody>
          <a:bodyPr>
            <a:normAutofit fontScale="92500" lnSpcReduction="10000"/>
          </a:bodyPr>
          <a:lstStyle/>
          <a:p>
            <a:pPr marL="0" indent="0" algn="just">
              <a:buNone/>
            </a:pPr>
            <a:r>
              <a:rPr lang="en-US" dirty="0"/>
              <a:t>Even established entrepreneurs are now finding that their longtime deposit relationships aren’t proving as useful, as many lenders restrict loan and credit terms to keep more cash on hand. </a:t>
            </a:r>
          </a:p>
          <a:p>
            <a:pPr marL="0" indent="0" algn="just">
              <a:buNone/>
            </a:pPr>
            <a:r>
              <a:rPr lang="en-US" dirty="0"/>
              <a:t>Hence, almost every new business raises its initial money from the founders themselves and what we call informal investors: family, friends, neighbors, work colleagues, and strangers; a few raise it from lending</a:t>
            </a:r>
          </a:p>
          <a:p>
            <a:pPr marL="0" indent="0" algn="just">
              <a:buNone/>
            </a:pPr>
            <a:r>
              <a:rPr lang="en-US" dirty="0"/>
              <a:t>institutions, primarily banks; and a miniscule number raise it from venture capitalists, who are sometimes called formal investors.</a:t>
            </a:r>
          </a:p>
        </p:txBody>
      </p:sp>
      <p:sp>
        <p:nvSpPr>
          <p:cNvPr id="3" name="Footer Placeholder 2">
            <a:extLst>
              <a:ext uri="{FF2B5EF4-FFF2-40B4-BE49-F238E27FC236}">
                <a16:creationId xmlns:a16="http://schemas.microsoft.com/office/drawing/2014/main" id="{2E80F3E2-B88B-4660-B8CD-9B9166F24ACF}"/>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97930F8B-2EC7-4AB9-9053-3EA2001B65DA}"/>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82044929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90CB5C-6D77-45AA-8A39-711B56B5051A}"/>
              </a:ext>
            </a:extLst>
          </p:cNvPr>
          <p:cNvSpPr>
            <a:spLocks noGrp="1"/>
          </p:cNvSpPr>
          <p:nvPr>
            <p:ph idx="1"/>
          </p:nvPr>
        </p:nvSpPr>
        <p:spPr/>
        <p:txBody>
          <a:bodyPr/>
          <a:lstStyle/>
          <a:p>
            <a:pPr marL="0" indent="0">
              <a:buNone/>
            </a:pPr>
            <a:r>
              <a:rPr lang="en-US" dirty="0"/>
              <a:t>According to the Global Entrepreneurship Monitor,  the amount of money needed to start a business is dependent on several factors;</a:t>
            </a:r>
          </a:p>
          <a:p>
            <a:pPr marL="0" indent="0">
              <a:buNone/>
            </a:pPr>
            <a:r>
              <a:rPr lang="en-US" dirty="0"/>
              <a:t>The type of business (service/products)</a:t>
            </a:r>
          </a:p>
          <a:p>
            <a:pPr marL="0" indent="0">
              <a:buNone/>
            </a:pPr>
            <a:r>
              <a:rPr lang="en-US" dirty="0"/>
              <a:t>The ambitions of the entrepreneur</a:t>
            </a:r>
          </a:p>
          <a:p>
            <a:pPr marL="0" indent="0">
              <a:buNone/>
            </a:pPr>
            <a:r>
              <a:rPr lang="en-US" dirty="0"/>
              <a:t>The gender</a:t>
            </a:r>
          </a:p>
          <a:p>
            <a:pPr marL="0" indent="0">
              <a:buNone/>
            </a:pPr>
            <a:r>
              <a:rPr lang="en-US" dirty="0"/>
              <a:t>The location</a:t>
            </a:r>
          </a:p>
          <a:p>
            <a:pPr marL="0" indent="0">
              <a:buNone/>
            </a:pPr>
            <a:r>
              <a:rPr lang="en-US" dirty="0"/>
              <a:t>The country</a:t>
            </a:r>
          </a:p>
          <a:p>
            <a:pPr marL="0" indent="0">
              <a:buNone/>
            </a:pPr>
            <a:endParaRPr lang="en-US" dirty="0"/>
          </a:p>
        </p:txBody>
      </p:sp>
      <p:sp>
        <p:nvSpPr>
          <p:cNvPr id="3" name="Footer Placeholder 2">
            <a:extLst>
              <a:ext uri="{FF2B5EF4-FFF2-40B4-BE49-F238E27FC236}">
                <a16:creationId xmlns:a16="http://schemas.microsoft.com/office/drawing/2014/main" id="{BFE30F32-CBB2-48F1-93F4-626FF9965ECB}"/>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F667789A-6EA1-45DA-ABEE-F05D164B93CF}"/>
              </a:ext>
            </a:extLst>
          </p:cNvPr>
          <p:cNvSpPr>
            <a:spLocks noGrp="1"/>
          </p:cNvSpPr>
          <p:nvPr>
            <p:ph type="title"/>
          </p:nvPr>
        </p:nvSpPr>
        <p:spPr/>
        <p:txBody>
          <a:bodyPr/>
          <a:lstStyle/>
          <a:p>
            <a:r>
              <a:rPr lang="en-US" sz="3200" dirty="0"/>
              <a:t>Amount of capital needed to start a business</a:t>
            </a:r>
          </a:p>
        </p:txBody>
      </p:sp>
    </p:spTree>
    <p:extLst>
      <p:ext uri="{BB962C8B-B14F-4D97-AF65-F5344CB8AC3E}">
        <p14:creationId xmlns:p14="http://schemas.microsoft.com/office/powerpoint/2010/main" val="2875439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71325C-4D1F-43EF-A17F-27152FE3B473}"/>
              </a:ext>
            </a:extLst>
          </p:cNvPr>
          <p:cNvSpPr>
            <a:spLocks noGrp="1"/>
          </p:cNvSpPr>
          <p:nvPr>
            <p:ph idx="1"/>
          </p:nvPr>
        </p:nvSpPr>
        <p:spPr/>
        <p:txBody>
          <a:bodyPr>
            <a:normAutofit/>
          </a:bodyPr>
          <a:lstStyle/>
          <a:p>
            <a:pPr marL="0" indent="0" algn="just">
              <a:buNone/>
            </a:pPr>
            <a:r>
              <a:rPr lang="en-US" dirty="0"/>
              <a:t>Conventional banking is based on the principle that the more you have, the more you can borrow. It relies on collateral, which means that a bank loan must be adequately covered by assets of the business or its owner—or in many cases, both. But half the world’s population is very poor, so about 5 billion people are shut out of banks. </a:t>
            </a:r>
          </a:p>
          <a:p>
            <a:pPr marL="0" indent="0" algn="just">
              <a:buNone/>
            </a:pPr>
            <a:r>
              <a:rPr lang="en-US" dirty="0"/>
              <a:t>For example, fewer than 10% of adults in many African countries have bank accounts. Entrepreneurs in these environments mostly rely on informal financing. </a:t>
            </a:r>
          </a:p>
        </p:txBody>
      </p:sp>
      <p:sp>
        <p:nvSpPr>
          <p:cNvPr id="3" name="Footer Placeholder 2">
            <a:extLst>
              <a:ext uri="{FF2B5EF4-FFF2-40B4-BE49-F238E27FC236}">
                <a16:creationId xmlns:a16="http://schemas.microsoft.com/office/drawing/2014/main" id="{05C8DB95-D3D7-4E5F-BBA5-949403EFBDA3}"/>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F44A202A-2B3A-4277-B0FB-14AA5E963F12}"/>
              </a:ext>
            </a:extLst>
          </p:cNvPr>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Entrepreneurial Financing in Developing Countries</a:t>
            </a:r>
          </a:p>
        </p:txBody>
      </p:sp>
    </p:spTree>
    <p:extLst>
      <p:ext uri="{BB962C8B-B14F-4D97-AF65-F5344CB8AC3E}">
        <p14:creationId xmlns:p14="http://schemas.microsoft.com/office/powerpoint/2010/main" val="28805809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4FEE5D-2319-4891-8E73-6A21FBC27C73}"/>
              </a:ext>
            </a:extLst>
          </p:cNvPr>
          <p:cNvSpPr>
            <a:spLocks noGrp="1"/>
          </p:cNvSpPr>
          <p:nvPr>
            <p:ph idx="1"/>
          </p:nvPr>
        </p:nvSpPr>
        <p:spPr/>
        <p:txBody>
          <a:bodyPr>
            <a:normAutofit fontScale="85000" lnSpcReduction="10000"/>
          </a:bodyPr>
          <a:lstStyle/>
          <a:p>
            <a:pPr marL="0" indent="0" algn="just">
              <a:buNone/>
            </a:pPr>
            <a:r>
              <a:rPr lang="en-US" dirty="0"/>
              <a:t>In 1976, in the village of </a:t>
            </a:r>
            <a:r>
              <a:rPr lang="en-US" dirty="0" err="1"/>
              <a:t>Jobra</a:t>
            </a:r>
            <a:r>
              <a:rPr lang="en-US" dirty="0"/>
              <a:t>, Bangladesh, Muhammad </a:t>
            </a:r>
            <a:r>
              <a:rPr lang="en-US" dirty="0" err="1"/>
              <a:t>Yunus</a:t>
            </a:r>
            <a:r>
              <a:rPr lang="en-US" dirty="0"/>
              <a:t>,</a:t>
            </a:r>
          </a:p>
          <a:p>
            <a:pPr marL="0" indent="0" algn="just">
              <a:buNone/>
            </a:pPr>
            <a:r>
              <a:rPr lang="en-US" dirty="0"/>
              <a:t>an economist, started what today is the Grameen Bank. This was</a:t>
            </a:r>
          </a:p>
          <a:p>
            <a:pPr marL="0" indent="0" algn="just">
              <a:buNone/>
            </a:pPr>
            <a:r>
              <a:rPr lang="en-US" dirty="0"/>
              <a:t>the beginning of the microfinance concept, which is best known</a:t>
            </a:r>
          </a:p>
          <a:p>
            <a:pPr marL="0" indent="0" algn="just">
              <a:buNone/>
            </a:pPr>
            <a:r>
              <a:rPr lang="en-US" dirty="0"/>
              <a:t>for its application in rural areas of Bangladesh but which has now</a:t>
            </a:r>
          </a:p>
          <a:p>
            <a:pPr marL="0" indent="0" algn="just">
              <a:buNone/>
            </a:pPr>
            <a:r>
              <a:rPr lang="en-US" dirty="0"/>
              <a:t>spread throughout the world. </a:t>
            </a:r>
            <a:r>
              <a:rPr lang="en-US" dirty="0" err="1"/>
              <a:t>Yunus</a:t>
            </a:r>
            <a:r>
              <a:rPr lang="en-US" dirty="0"/>
              <a:t> believes that access to credit</a:t>
            </a:r>
          </a:p>
          <a:p>
            <a:pPr marL="0" indent="0" algn="just">
              <a:buNone/>
            </a:pPr>
            <a:r>
              <a:rPr lang="en-US" dirty="0"/>
              <a:t>is a human right. According to him, ‘‘one that does not possess</a:t>
            </a:r>
          </a:p>
          <a:p>
            <a:pPr marL="0" indent="0" algn="just">
              <a:buNone/>
            </a:pPr>
            <a:r>
              <a:rPr lang="en-US" dirty="0"/>
              <a:t>anything gets the highest priority in getting a loan”.</a:t>
            </a:r>
          </a:p>
          <a:p>
            <a:pPr marL="0" indent="0" algn="just">
              <a:buNone/>
            </a:pPr>
            <a:r>
              <a:rPr lang="en-US" dirty="0"/>
              <a:t>Even beggars can get loans from the Grameen Bank. They are not required to give up begging but are encouraged to take up an additional income-generating activity, such as selling popular consumer items door to door or at the place of begging.</a:t>
            </a:r>
          </a:p>
          <a:p>
            <a:pPr marL="0" indent="0" algn="just">
              <a:buNone/>
            </a:pPr>
            <a:endParaRPr lang="en-US" dirty="0"/>
          </a:p>
        </p:txBody>
      </p:sp>
      <p:sp>
        <p:nvSpPr>
          <p:cNvPr id="3" name="Footer Placeholder 2">
            <a:extLst>
              <a:ext uri="{FF2B5EF4-FFF2-40B4-BE49-F238E27FC236}">
                <a16:creationId xmlns:a16="http://schemas.microsoft.com/office/drawing/2014/main" id="{B4CBE92A-26BA-464A-9C74-D1539A1CA75F}"/>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75A91287-87A1-496B-AADD-5B8DE8378F59}"/>
              </a:ext>
            </a:extLst>
          </p:cNvPr>
          <p:cNvSpPr>
            <a:spLocks noGrp="1"/>
          </p:cNvSpPr>
          <p:nvPr>
            <p:ph type="title"/>
          </p:nvPr>
        </p:nvSpPr>
        <p:spPr/>
        <p:txBody>
          <a:bodyPr/>
          <a:lstStyle/>
          <a:p>
            <a:r>
              <a:rPr lang="en-US" dirty="0"/>
              <a:t>Microfinancing</a:t>
            </a:r>
          </a:p>
        </p:txBody>
      </p:sp>
    </p:spTree>
    <p:extLst>
      <p:ext uri="{BB962C8B-B14F-4D97-AF65-F5344CB8AC3E}">
        <p14:creationId xmlns:p14="http://schemas.microsoft.com/office/powerpoint/2010/main" val="368958159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85ED65-6DDA-477F-9D4A-588B06E5FD7A}"/>
              </a:ext>
            </a:extLst>
          </p:cNvPr>
          <p:cNvSpPr>
            <a:spLocks noGrp="1"/>
          </p:cNvSpPr>
          <p:nvPr>
            <p:ph idx="1"/>
          </p:nvPr>
        </p:nvSpPr>
        <p:spPr/>
        <p:txBody>
          <a:bodyPr/>
          <a:lstStyle/>
          <a:p>
            <a:pPr marL="0" indent="0">
              <a:buNone/>
            </a:pPr>
            <a:r>
              <a:rPr lang="en-US" dirty="0"/>
              <a:t>The Grameen Bank now provides microenterprise loans to fast-moving members. The average microenterprise loan is $360 and the largest was around $24,000.</a:t>
            </a:r>
          </a:p>
          <a:p>
            <a:pPr marL="0" indent="0">
              <a:buNone/>
            </a:pPr>
            <a:endParaRPr lang="en-US" dirty="0"/>
          </a:p>
          <a:p>
            <a:pPr marL="0" indent="0">
              <a:buNone/>
            </a:pPr>
            <a:r>
              <a:rPr lang="en-US" dirty="0"/>
              <a:t>Grameen Bank has been operating in Ghana since 2009, it has been in Burkina Faso from 1993, Nigeria and Mali, 2016 . </a:t>
            </a:r>
          </a:p>
          <a:p>
            <a:pPr marL="0" indent="0">
              <a:buNone/>
            </a:pPr>
            <a:r>
              <a:rPr lang="en-US" dirty="0"/>
              <a:t>The recovery rate of loans is 97% which is impressive because is operates on trust, not collateral.</a:t>
            </a:r>
          </a:p>
        </p:txBody>
      </p:sp>
      <p:sp>
        <p:nvSpPr>
          <p:cNvPr id="3" name="Footer Placeholder 2">
            <a:extLst>
              <a:ext uri="{FF2B5EF4-FFF2-40B4-BE49-F238E27FC236}">
                <a16:creationId xmlns:a16="http://schemas.microsoft.com/office/drawing/2014/main" id="{BB710080-D49F-4381-A997-C0980EE7D02B}"/>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C03E0968-82EF-4328-AE7A-21284920E1DC}"/>
              </a:ext>
            </a:extLst>
          </p:cNvPr>
          <p:cNvSpPr>
            <a:spLocks noGrp="1"/>
          </p:cNvSpPr>
          <p:nvPr>
            <p:ph type="title"/>
          </p:nvPr>
        </p:nvSpPr>
        <p:spPr/>
        <p:txBody>
          <a:bodyPr/>
          <a:lstStyle/>
          <a:p>
            <a:r>
              <a:rPr lang="en-US" dirty="0"/>
              <a:t>Microfinancing</a:t>
            </a:r>
          </a:p>
        </p:txBody>
      </p:sp>
    </p:spTree>
    <p:extLst>
      <p:ext uri="{BB962C8B-B14F-4D97-AF65-F5344CB8AC3E}">
        <p14:creationId xmlns:p14="http://schemas.microsoft.com/office/powerpoint/2010/main" val="10131841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A14FEF-4AE2-4900-AA99-99000EEA7D9B}"/>
              </a:ext>
            </a:extLst>
          </p:cNvPr>
          <p:cNvSpPr>
            <a:spLocks noGrp="1"/>
          </p:cNvSpPr>
          <p:nvPr>
            <p:ph idx="1"/>
          </p:nvPr>
        </p:nvSpPr>
        <p:spPr/>
        <p:txBody>
          <a:bodyPr/>
          <a:lstStyle/>
          <a:p>
            <a:pPr marL="0" indent="0">
              <a:buNone/>
            </a:pPr>
            <a:r>
              <a:rPr lang="en-US" dirty="0"/>
              <a:t>Another popular way of financing entrepreneurial firms is micro credit.</a:t>
            </a:r>
          </a:p>
          <a:p>
            <a:pPr marL="0" indent="0">
              <a:buNone/>
            </a:pPr>
            <a:endParaRPr lang="en-US" dirty="0"/>
          </a:p>
          <a:p>
            <a:pPr marL="0" indent="0">
              <a:buNone/>
            </a:pPr>
            <a:r>
              <a:rPr lang="en-US" dirty="0"/>
              <a:t>Micro credits target entrepreneurs from very poor backgrounds and assists them with micro loans to establish or grow their businesses.</a:t>
            </a:r>
          </a:p>
          <a:p>
            <a:pPr marL="0" indent="0">
              <a:buNone/>
            </a:pPr>
            <a:endParaRPr lang="en-US" dirty="0"/>
          </a:p>
          <a:p>
            <a:pPr marL="0" indent="0">
              <a:buNone/>
            </a:pPr>
            <a:r>
              <a:rPr lang="en-US" dirty="0"/>
              <a:t>Micro crediting and microfinancing are popular in Ghana.</a:t>
            </a:r>
          </a:p>
        </p:txBody>
      </p:sp>
      <p:sp>
        <p:nvSpPr>
          <p:cNvPr id="3" name="Footer Placeholder 2">
            <a:extLst>
              <a:ext uri="{FF2B5EF4-FFF2-40B4-BE49-F238E27FC236}">
                <a16:creationId xmlns:a16="http://schemas.microsoft.com/office/drawing/2014/main" id="{4496D8EE-A13F-497D-91C9-042E4377E489}"/>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5EBA7C56-D3D7-4134-842C-BFA860D4BDF8}"/>
              </a:ext>
            </a:extLst>
          </p:cNvPr>
          <p:cNvSpPr>
            <a:spLocks noGrp="1"/>
          </p:cNvSpPr>
          <p:nvPr>
            <p:ph type="title"/>
          </p:nvPr>
        </p:nvSpPr>
        <p:spPr/>
        <p:txBody>
          <a:bodyPr/>
          <a:lstStyle/>
          <a:p>
            <a:r>
              <a:rPr lang="en-US" dirty="0"/>
              <a:t>Micro Credit</a:t>
            </a:r>
          </a:p>
        </p:txBody>
      </p:sp>
    </p:spTree>
    <p:extLst>
      <p:ext uri="{BB962C8B-B14F-4D97-AF65-F5344CB8AC3E}">
        <p14:creationId xmlns:p14="http://schemas.microsoft.com/office/powerpoint/2010/main" val="175695816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ED9B49-4E4F-4D17-8ECE-0858317EE2B8}"/>
              </a:ext>
            </a:extLst>
          </p:cNvPr>
          <p:cNvSpPr>
            <a:spLocks noGrp="1"/>
          </p:cNvSpPr>
          <p:nvPr>
            <p:ph idx="1"/>
          </p:nvPr>
        </p:nvSpPr>
        <p:spPr/>
        <p:txBody>
          <a:bodyPr/>
          <a:lstStyle/>
          <a:p>
            <a:pPr marL="0" indent="0">
              <a:buNone/>
            </a:pPr>
            <a:r>
              <a:rPr lang="en-US" dirty="0"/>
              <a:t>The commonest sources of informal investors are founders, family, friends and investors.</a:t>
            </a:r>
          </a:p>
          <a:p>
            <a:pPr marL="0" indent="0">
              <a:buNone/>
            </a:pPr>
            <a:endParaRPr lang="en-US" dirty="0"/>
          </a:p>
          <a:p>
            <a:pPr marL="0" indent="0">
              <a:buNone/>
            </a:pPr>
            <a:r>
              <a:rPr lang="en-US" dirty="0"/>
              <a:t>Financing from informal investors is a common way of entrepreneurial support. </a:t>
            </a:r>
          </a:p>
          <a:p>
            <a:pPr marL="0" indent="0">
              <a:buNone/>
            </a:pPr>
            <a:endParaRPr lang="en-US" dirty="0"/>
          </a:p>
          <a:p>
            <a:pPr marL="0" indent="0">
              <a:buNone/>
            </a:pPr>
            <a:r>
              <a:rPr lang="en-US" dirty="0"/>
              <a:t>There are benefits and shortfalls to using any of these options</a:t>
            </a:r>
          </a:p>
        </p:txBody>
      </p:sp>
      <p:sp>
        <p:nvSpPr>
          <p:cNvPr id="3" name="Footer Placeholder 2">
            <a:extLst>
              <a:ext uri="{FF2B5EF4-FFF2-40B4-BE49-F238E27FC236}">
                <a16:creationId xmlns:a16="http://schemas.microsoft.com/office/drawing/2014/main" id="{BD9A32D9-0C51-4221-B32B-7679313C3EAC}"/>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3C66E654-10E1-45A8-81AC-7A305D522FE0}"/>
              </a:ext>
            </a:extLst>
          </p:cNvPr>
          <p:cNvSpPr>
            <a:spLocks noGrp="1"/>
          </p:cNvSpPr>
          <p:nvPr>
            <p:ph type="title"/>
          </p:nvPr>
        </p:nvSpPr>
        <p:spPr/>
        <p:txBody>
          <a:bodyPr/>
          <a:lstStyle/>
          <a:p>
            <a:r>
              <a:rPr lang="en-US" dirty="0"/>
              <a:t>Informal Investors</a:t>
            </a:r>
          </a:p>
        </p:txBody>
      </p:sp>
    </p:spTree>
    <p:extLst>
      <p:ext uri="{BB962C8B-B14F-4D97-AF65-F5344CB8AC3E}">
        <p14:creationId xmlns:p14="http://schemas.microsoft.com/office/powerpoint/2010/main" val="309165205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A1DBF8-BC6E-4E77-B1A1-E8A99D989027}"/>
              </a:ext>
            </a:extLst>
          </p:cNvPr>
          <p:cNvSpPr>
            <a:spLocks noGrp="1"/>
          </p:cNvSpPr>
          <p:nvPr>
            <p:ph idx="1"/>
          </p:nvPr>
        </p:nvSpPr>
        <p:spPr/>
        <p:txBody>
          <a:bodyPr/>
          <a:lstStyle/>
          <a:p>
            <a:pPr marL="0" indent="0" algn="just">
              <a:buNone/>
            </a:pPr>
            <a:r>
              <a:rPr lang="en-US" dirty="0"/>
              <a:t>According to the Global Entrepreneurship Monitor (GEM), entrepreneurs around the globe generally generate 65.8% of their start-up capital. The remaining is provided by other informal investors; close family and relatives (49.4%), friends and neighbors (26.4%), other relatives (9.7%), work colleagues(7.9%) and strangers also called business angels (6.9%).</a:t>
            </a:r>
          </a:p>
          <a:p>
            <a:pPr marL="0" indent="0" algn="just">
              <a:buNone/>
            </a:pPr>
            <a:r>
              <a:rPr lang="en-US" dirty="0"/>
              <a:t>For greater success, entrepreneurs looking for funding should target established entrepreneurs among their family, friends and neighbors. </a:t>
            </a:r>
          </a:p>
        </p:txBody>
      </p:sp>
      <p:sp>
        <p:nvSpPr>
          <p:cNvPr id="3" name="Footer Placeholder 2">
            <a:extLst>
              <a:ext uri="{FF2B5EF4-FFF2-40B4-BE49-F238E27FC236}">
                <a16:creationId xmlns:a16="http://schemas.microsoft.com/office/drawing/2014/main" id="{E1B0874F-F2A5-4FE2-AF9F-B41E47F957FD}"/>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C6999310-2AE0-43A5-87AA-818226A47CBE}"/>
              </a:ext>
            </a:extLst>
          </p:cNvPr>
          <p:cNvSpPr>
            <a:spLocks noGrp="1"/>
          </p:cNvSpPr>
          <p:nvPr>
            <p:ph type="title"/>
          </p:nvPr>
        </p:nvSpPr>
        <p:spPr/>
        <p:txBody>
          <a:bodyPr/>
          <a:lstStyle/>
          <a:p>
            <a:r>
              <a:rPr lang="en-US" dirty="0"/>
              <a:t>Informal Investors</a:t>
            </a:r>
          </a:p>
        </p:txBody>
      </p:sp>
    </p:spTree>
    <p:extLst>
      <p:ext uri="{BB962C8B-B14F-4D97-AF65-F5344CB8AC3E}">
        <p14:creationId xmlns:p14="http://schemas.microsoft.com/office/powerpoint/2010/main" val="177891008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1B2FD8-052B-4988-9FEA-A33AC4D0DC64}"/>
              </a:ext>
            </a:extLst>
          </p:cNvPr>
          <p:cNvSpPr>
            <a:spLocks noGrp="1"/>
          </p:cNvSpPr>
          <p:nvPr>
            <p:ph idx="1"/>
          </p:nvPr>
        </p:nvSpPr>
        <p:spPr>
          <a:xfrm>
            <a:off x="699247" y="2248347"/>
            <a:ext cx="8216153" cy="4278220"/>
          </a:xfrm>
        </p:spPr>
        <p:txBody>
          <a:bodyPr>
            <a:normAutofit/>
          </a:bodyPr>
          <a:lstStyle/>
          <a:p>
            <a:pPr marL="0" indent="0" algn="just">
              <a:buNone/>
            </a:pPr>
            <a:r>
              <a:rPr lang="en-US" dirty="0"/>
              <a:t>Mostly, investment from family and friends tend to yield low or negative returns. However, investment from business angels are likely to yield positive returns with tighter pay-back arrangements. </a:t>
            </a:r>
          </a:p>
          <a:p>
            <a:pPr marL="0" indent="0" algn="just">
              <a:buNone/>
            </a:pPr>
            <a:r>
              <a:rPr lang="en-US" dirty="0"/>
              <a:t> Founders are more optimistic about returns from investments they themselves make in their business with most of them expecting a pay-back in two years.  </a:t>
            </a:r>
          </a:p>
        </p:txBody>
      </p:sp>
      <p:sp>
        <p:nvSpPr>
          <p:cNvPr id="3" name="Footer Placeholder 2">
            <a:extLst>
              <a:ext uri="{FF2B5EF4-FFF2-40B4-BE49-F238E27FC236}">
                <a16:creationId xmlns:a16="http://schemas.microsoft.com/office/drawing/2014/main" id="{28FA2562-3700-470B-A8F8-1FB4F379CD1D}"/>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B2AC16C7-5667-4FC9-9F3A-D9030C3519CE}"/>
              </a:ext>
            </a:extLst>
          </p:cNvPr>
          <p:cNvSpPr>
            <a:spLocks noGrp="1"/>
          </p:cNvSpPr>
          <p:nvPr>
            <p:ph type="title"/>
          </p:nvPr>
        </p:nvSpPr>
        <p:spPr/>
        <p:txBody>
          <a:bodyPr/>
          <a:lstStyle/>
          <a:p>
            <a:r>
              <a:rPr lang="en-US" dirty="0"/>
              <a:t>Informal Financing</a:t>
            </a:r>
          </a:p>
        </p:txBody>
      </p:sp>
    </p:spTree>
    <p:extLst>
      <p:ext uri="{BB962C8B-B14F-4D97-AF65-F5344CB8AC3E}">
        <p14:creationId xmlns:p14="http://schemas.microsoft.com/office/powerpoint/2010/main" val="351454062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601D8A-C1E7-4481-9BFA-7B8EE0A4BBFF}"/>
              </a:ext>
            </a:extLst>
          </p:cNvPr>
          <p:cNvSpPr>
            <a:spLocks noGrp="1"/>
          </p:cNvSpPr>
          <p:nvPr>
            <p:ph idx="1"/>
          </p:nvPr>
        </p:nvSpPr>
        <p:spPr/>
        <p:txBody>
          <a:bodyPr>
            <a:normAutofit lnSpcReduction="10000"/>
          </a:bodyPr>
          <a:lstStyle/>
          <a:p>
            <a:pPr marL="0" indent="0" algn="just">
              <a:buNone/>
            </a:pPr>
            <a:r>
              <a:rPr lang="en-US" dirty="0"/>
              <a:t>Venture capital is the most uncommon source of entrepreneurship funding.</a:t>
            </a:r>
          </a:p>
          <a:p>
            <a:pPr marL="0" indent="0" algn="just">
              <a:buNone/>
            </a:pPr>
            <a:r>
              <a:rPr lang="en-US" dirty="0"/>
              <a:t>Businesses that start-up with venture capital is very rare, less than 1 in every 10,000 in the USA.</a:t>
            </a:r>
          </a:p>
          <a:p>
            <a:pPr marL="0" indent="0" algn="just">
              <a:buNone/>
            </a:pPr>
            <a:r>
              <a:rPr lang="en-US" dirty="0"/>
              <a:t>Venture capitalists usually prefer to invest in established businesses.</a:t>
            </a:r>
          </a:p>
          <a:p>
            <a:pPr marL="0" indent="0" algn="just">
              <a:buNone/>
            </a:pPr>
            <a:r>
              <a:rPr lang="en-US" dirty="0"/>
              <a:t>Venture capitalists tend to be more interested in knowledge-based business which have the potential to be disruptive and profitable. </a:t>
            </a:r>
            <a:r>
              <a:rPr lang="en-US" dirty="0" err="1"/>
              <a:t>Eg</a:t>
            </a:r>
            <a:r>
              <a:rPr lang="en-US" dirty="0"/>
              <a:t> Intel, Apple, Twitter, Google, Amazon, </a:t>
            </a:r>
            <a:r>
              <a:rPr lang="en-US" dirty="0" err="1"/>
              <a:t>Ebay</a:t>
            </a:r>
            <a:r>
              <a:rPr lang="en-US" dirty="0"/>
              <a:t>…..</a:t>
            </a:r>
          </a:p>
        </p:txBody>
      </p:sp>
      <p:sp>
        <p:nvSpPr>
          <p:cNvPr id="3" name="Footer Placeholder 2">
            <a:extLst>
              <a:ext uri="{FF2B5EF4-FFF2-40B4-BE49-F238E27FC236}">
                <a16:creationId xmlns:a16="http://schemas.microsoft.com/office/drawing/2014/main" id="{558CB2EB-1329-4077-8722-A94B18466FAD}"/>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CE05CCB5-904D-4E1A-8C7E-5946EF3FF1E8}"/>
              </a:ext>
            </a:extLst>
          </p:cNvPr>
          <p:cNvSpPr>
            <a:spLocks noGrp="1"/>
          </p:cNvSpPr>
          <p:nvPr>
            <p:ph type="title"/>
          </p:nvPr>
        </p:nvSpPr>
        <p:spPr/>
        <p:txBody>
          <a:bodyPr/>
          <a:lstStyle/>
          <a:p>
            <a:r>
              <a:rPr lang="en-US" dirty="0"/>
              <a:t>Venture Capital</a:t>
            </a:r>
          </a:p>
        </p:txBody>
      </p:sp>
    </p:spTree>
    <p:extLst>
      <p:ext uri="{BB962C8B-B14F-4D97-AF65-F5344CB8AC3E}">
        <p14:creationId xmlns:p14="http://schemas.microsoft.com/office/powerpoint/2010/main" val="17927609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936120-DA4F-4022-BC26-0A98A6307372}"/>
              </a:ext>
            </a:extLst>
          </p:cNvPr>
          <p:cNvSpPr>
            <a:spLocks noGrp="1"/>
          </p:cNvSpPr>
          <p:nvPr>
            <p:ph idx="1"/>
          </p:nvPr>
        </p:nvSpPr>
        <p:spPr/>
        <p:txBody>
          <a:bodyPr/>
          <a:lstStyle/>
          <a:p>
            <a:pPr marL="0" indent="0" algn="just">
              <a:buNone/>
            </a:pPr>
            <a:r>
              <a:rPr lang="en-US" dirty="0"/>
              <a:t>For every 10 businesses that receive venture capital,  two become big successes, another two are outright failures, three are walking-wounded (they need another boost of investment to succeed), and three are living dead(maybe viable but have no growth potential).</a:t>
            </a:r>
          </a:p>
          <a:p>
            <a:pPr marL="0" indent="0" algn="just">
              <a:buNone/>
            </a:pPr>
            <a:r>
              <a:rPr lang="en-US" dirty="0"/>
              <a:t> Venture capitalists harvest successful businesses mostly through mergers and acquisitions. </a:t>
            </a:r>
          </a:p>
        </p:txBody>
      </p:sp>
      <p:sp>
        <p:nvSpPr>
          <p:cNvPr id="3" name="Footer Placeholder 2">
            <a:extLst>
              <a:ext uri="{FF2B5EF4-FFF2-40B4-BE49-F238E27FC236}">
                <a16:creationId xmlns:a16="http://schemas.microsoft.com/office/drawing/2014/main" id="{C238C769-EF75-44CA-932E-1526A01C0383}"/>
              </a:ext>
            </a:extLst>
          </p:cNvPr>
          <p:cNvSpPr>
            <a:spLocks noGrp="1"/>
          </p:cNvSpPr>
          <p:nvPr>
            <p:ph type="ftr" sz="quarter" idx="11"/>
          </p:nvPr>
        </p:nvSpPr>
        <p:spPr/>
        <p:txBody>
          <a:bodyPr/>
          <a:lstStyle/>
          <a:p>
            <a:r>
              <a:rPr lang="da-DK" dirty="0"/>
              <a:t>Longenecker et. al. (2008); Bygrave &amp; Zacharakis(2010); A. Sardiya (2021)</a:t>
            </a:r>
            <a:endParaRPr lang="en-US" dirty="0"/>
          </a:p>
          <a:p>
            <a:endParaRPr lang="en-US" dirty="0"/>
          </a:p>
        </p:txBody>
      </p:sp>
      <p:sp>
        <p:nvSpPr>
          <p:cNvPr id="4" name="Title 3">
            <a:extLst>
              <a:ext uri="{FF2B5EF4-FFF2-40B4-BE49-F238E27FC236}">
                <a16:creationId xmlns:a16="http://schemas.microsoft.com/office/drawing/2014/main" id="{134B4888-09A2-46C3-8336-D507C95845C4}"/>
              </a:ext>
            </a:extLst>
          </p:cNvPr>
          <p:cNvSpPr>
            <a:spLocks noGrp="1"/>
          </p:cNvSpPr>
          <p:nvPr>
            <p:ph type="title"/>
          </p:nvPr>
        </p:nvSpPr>
        <p:spPr/>
        <p:txBody>
          <a:bodyPr/>
          <a:lstStyle/>
          <a:p>
            <a:r>
              <a:rPr lang="en-US" dirty="0"/>
              <a:t>Venture Capital</a:t>
            </a:r>
          </a:p>
        </p:txBody>
      </p:sp>
    </p:spTree>
    <p:extLst>
      <p:ext uri="{BB962C8B-B14F-4D97-AF65-F5344CB8AC3E}">
        <p14:creationId xmlns:p14="http://schemas.microsoft.com/office/powerpoint/2010/main" val="26707754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4B67E4-6D50-461E-9A19-E2FB94825BA5}"/>
              </a:ext>
            </a:extLst>
          </p:cNvPr>
          <p:cNvSpPr>
            <a:spLocks noGrp="1"/>
          </p:cNvSpPr>
          <p:nvPr>
            <p:ph idx="1"/>
          </p:nvPr>
        </p:nvSpPr>
        <p:spPr/>
        <p:txBody>
          <a:bodyPr/>
          <a:lstStyle/>
          <a:p>
            <a:pPr marL="0" indent="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Venture Capital in the American Economy; The Google example</a:t>
            </a:r>
            <a:endParaRPr lang="en-US" dirty="0"/>
          </a:p>
        </p:txBody>
      </p:sp>
      <p:sp>
        <p:nvSpPr>
          <p:cNvPr id="3" name="Footer Placeholder 2">
            <a:extLst>
              <a:ext uri="{FF2B5EF4-FFF2-40B4-BE49-F238E27FC236}">
                <a16:creationId xmlns:a16="http://schemas.microsoft.com/office/drawing/2014/main" id="{954DCEA5-1A16-473D-8CCC-1048700597CC}"/>
              </a:ext>
            </a:extLst>
          </p:cNvPr>
          <p:cNvSpPr>
            <a:spLocks noGrp="1"/>
          </p:cNvSpPr>
          <p:nvPr>
            <p:ph type="ftr" sz="quarter" idx="11"/>
          </p:nvPr>
        </p:nvSpPr>
        <p:spPr/>
        <p:txBody>
          <a:bodyPr/>
          <a:lstStyle/>
          <a:p>
            <a:r>
              <a:rPr lang="da-DK"/>
              <a:t>Longenecker et. al. (2008).  A. Sardiya (2019)</a:t>
            </a:r>
            <a:endParaRPr lang="en-US"/>
          </a:p>
        </p:txBody>
      </p:sp>
      <p:sp>
        <p:nvSpPr>
          <p:cNvPr id="4" name="Title 3">
            <a:extLst>
              <a:ext uri="{FF2B5EF4-FFF2-40B4-BE49-F238E27FC236}">
                <a16:creationId xmlns:a16="http://schemas.microsoft.com/office/drawing/2014/main" id="{A711CAA5-777D-4168-9827-62DF2CFD4EA3}"/>
              </a:ext>
            </a:extLst>
          </p:cNvPr>
          <p:cNvSpPr>
            <a:spLocks noGrp="1"/>
          </p:cNvSpPr>
          <p:nvPr>
            <p:ph type="title"/>
          </p:nvPr>
        </p:nvSpPr>
        <p:spPr/>
        <p:txBody>
          <a:bodyPr/>
          <a:lstStyle/>
          <a:p>
            <a:r>
              <a:rPr lang="en-US" dirty="0"/>
              <a:t>Case</a:t>
            </a:r>
          </a:p>
        </p:txBody>
      </p:sp>
    </p:spTree>
    <p:extLst>
      <p:ext uri="{BB962C8B-B14F-4D97-AF65-F5344CB8AC3E}">
        <p14:creationId xmlns:p14="http://schemas.microsoft.com/office/powerpoint/2010/main" val="321349433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da-DK" dirty="0"/>
              <a:t>Longenecker et. al. (2008).  A. Sardiya (2019)</a:t>
            </a:r>
            <a:endParaRPr lang="en-US" dirty="0"/>
          </a:p>
        </p:txBody>
      </p:sp>
      <p:sp>
        <p:nvSpPr>
          <p:cNvPr id="2" name="Title 1"/>
          <p:cNvSpPr>
            <a:spLocks noGrp="1"/>
          </p:cNvSpPr>
          <p:nvPr>
            <p:ph type="ctrTitle"/>
          </p:nvPr>
        </p:nvSpPr>
        <p:spPr/>
        <p:txBody>
          <a:bodyPr/>
          <a:lstStyle/>
          <a:p>
            <a:r>
              <a:rPr lang="en-US" dirty="0"/>
              <a:t>Lesson Nine</a:t>
            </a:r>
          </a:p>
        </p:txBody>
      </p:sp>
      <p:sp>
        <p:nvSpPr>
          <p:cNvPr id="3" name="Subtitle 2"/>
          <p:cNvSpPr>
            <a:spLocks noGrp="1"/>
          </p:cNvSpPr>
          <p:nvPr>
            <p:ph type="subTitle" idx="1"/>
          </p:nvPr>
        </p:nvSpPr>
        <p:spPr/>
        <p:txBody>
          <a:bodyPr/>
          <a:lstStyle/>
          <a:p>
            <a:r>
              <a:rPr lang="en-US" dirty="0"/>
              <a:t>Doing Business in Ghana</a:t>
            </a:r>
          </a:p>
        </p:txBody>
      </p:sp>
    </p:spTree>
    <p:extLst>
      <p:ext uri="{BB962C8B-B14F-4D97-AF65-F5344CB8AC3E}">
        <p14:creationId xmlns:p14="http://schemas.microsoft.com/office/powerpoint/2010/main" val="80400935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By the end of this class, students should be able to;</a:t>
            </a:r>
          </a:p>
          <a:p>
            <a:pPr algn="just"/>
            <a:r>
              <a:rPr lang="en-US" dirty="0"/>
              <a:t>Understand the challenges of doing business in Ghana.</a:t>
            </a:r>
          </a:p>
          <a:p>
            <a:pPr algn="just"/>
            <a:r>
              <a:rPr lang="en-US" dirty="0"/>
              <a:t>Know the types of business entities that can operate in Ghana.</a:t>
            </a:r>
          </a:p>
          <a:p>
            <a:pPr algn="just"/>
            <a:r>
              <a:rPr lang="en-US" dirty="0"/>
              <a:t>Know how the business registration process in Ghana.</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300994395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Ghana is a developing country in West-Africa.  It has a population of about 26 million with a total workforce of about 11 million people.</a:t>
            </a:r>
          </a:p>
          <a:p>
            <a:pPr marL="0" indent="0" algn="just">
              <a:buNone/>
            </a:pPr>
            <a:r>
              <a:rPr lang="en-US" dirty="0"/>
              <a:t>Ghana has been touted as having a favorable climate for business  among her sister countries in the sub-region. This has been generally attributed to the relatively stable political climate the nation enjoys and the friendly nature of Ghanaians as a people.</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78087549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Several factors have been identified as challenges to doing business in Ghana including.</a:t>
            </a:r>
          </a:p>
          <a:p>
            <a:pPr marL="0" indent="0" algn="just">
              <a:buNone/>
            </a:pPr>
            <a:r>
              <a:rPr lang="en-US" b="1" dirty="0"/>
              <a:t>Bureaucracy</a:t>
            </a:r>
          </a:p>
          <a:p>
            <a:pPr marL="0" indent="0" algn="just">
              <a:buNone/>
            </a:pPr>
            <a:r>
              <a:rPr lang="en-US" b="1" dirty="0"/>
              <a:t>Access to funding</a:t>
            </a:r>
          </a:p>
          <a:p>
            <a:pPr marL="0" indent="0" algn="just">
              <a:buNone/>
            </a:pPr>
            <a:r>
              <a:rPr lang="en-US" b="1" dirty="0"/>
              <a:t>Inadequate supply of skilled and talented  human resources</a:t>
            </a:r>
          </a:p>
          <a:p>
            <a:pPr marL="0" indent="0" algn="just">
              <a:buNone/>
            </a:pPr>
            <a:r>
              <a:rPr lang="en-US" b="1" dirty="0"/>
              <a:t>Socio-cultural challenges etc</a:t>
            </a:r>
            <a:r>
              <a:rPr lang="en-US" dirty="0"/>
              <a:t>.</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Challenges to Doing Business in Ghana</a:t>
            </a:r>
          </a:p>
        </p:txBody>
      </p:sp>
    </p:spTree>
    <p:extLst>
      <p:ext uri="{BB962C8B-B14F-4D97-AF65-F5344CB8AC3E}">
        <p14:creationId xmlns:p14="http://schemas.microsoft.com/office/powerpoint/2010/main" val="41633246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Three general types of businesses are recognized under Ghana laws.</a:t>
            </a:r>
          </a:p>
          <a:p>
            <a:pPr marL="0" indent="0">
              <a:buNone/>
            </a:pPr>
            <a:r>
              <a:rPr lang="en-US" b="1" dirty="0"/>
              <a:t>Sole-proprietorship</a:t>
            </a:r>
          </a:p>
          <a:p>
            <a:pPr marL="0" indent="0">
              <a:buNone/>
            </a:pPr>
            <a:r>
              <a:rPr lang="en-US" b="1" dirty="0"/>
              <a:t>Partnership</a:t>
            </a:r>
          </a:p>
          <a:p>
            <a:pPr marL="0" indent="0">
              <a:buNone/>
            </a:pPr>
            <a:r>
              <a:rPr lang="en-US" b="1" dirty="0"/>
              <a:t>Incorporated Company</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Types of Businesses </a:t>
            </a:r>
          </a:p>
        </p:txBody>
      </p:sp>
    </p:spTree>
    <p:extLst>
      <p:ext uri="{BB962C8B-B14F-4D97-AF65-F5344CB8AC3E}">
        <p14:creationId xmlns:p14="http://schemas.microsoft.com/office/powerpoint/2010/main" val="94833820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A sole proprietorship is an unincorporated business usually run by one individual.</a:t>
            </a:r>
          </a:p>
          <a:p>
            <a:pPr marL="0" indent="0" algn="just">
              <a:buNone/>
            </a:pPr>
            <a:r>
              <a:rPr lang="en-US" dirty="0"/>
              <a:t>The liability of a sole proprietor is unlimited. A sole proprietor shall not carry out business in the finance, banking or communications sectors. An individual may carry out business in his/her legal name or under a trade name. A sole proprietor who adopts a trade name must register the name with the Registrar- General's Department and renew the registration.</a:t>
            </a:r>
          </a:p>
          <a:p>
            <a:pPr marL="0" indent="0" algn="just">
              <a:buNone/>
            </a:pPr>
            <a:r>
              <a:rPr lang="en-US" dirty="0"/>
              <a:t>The Sole Proprietor business is the most common form of SME in Ghana. (World Bank Report, 2014).</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Sole Proprietorship </a:t>
            </a:r>
          </a:p>
        </p:txBody>
      </p:sp>
    </p:spTree>
    <p:extLst>
      <p:ext uri="{BB962C8B-B14F-4D97-AF65-F5344CB8AC3E}">
        <p14:creationId xmlns:p14="http://schemas.microsoft.com/office/powerpoint/2010/main" val="378595003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b="1" dirty="0"/>
              <a:t>Advantages</a:t>
            </a:r>
          </a:p>
          <a:p>
            <a:pPr marL="0" indent="0">
              <a:buNone/>
            </a:pPr>
            <a:r>
              <a:rPr lang="en-US" dirty="0"/>
              <a:t>Ease of set-up.</a:t>
            </a:r>
          </a:p>
          <a:p>
            <a:pPr marL="0" indent="0">
              <a:buNone/>
            </a:pPr>
            <a:r>
              <a:rPr lang="en-US" dirty="0"/>
              <a:t>Owner has total control over business.</a:t>
            </a:r>
          </a:p>
          <a:p>
            <a:pPr marL="0" indent="0">
              <a:buNone/>
            </a:pPr>
            <a:r>
              <a:rPr lang="en-US" dirty="0"/>
              <a:t>Fewer legal issues involved.</a:t>
            </a:r>
          </a:p>
          <a:p>
            <a:pPr marL="0" indent="0">
              <a:buNone/>
            </a:pPr>
            <a:r>
              <a:rPr lang="en-US" dirty="0"/>
              <a:t>Owner enjoys all profit.</a:t>
            </a:r>
          </a:p>
          <a:p>
            <a:pPr marL="0" indent="0">
              <a:buNone/>
            </a:pPr>
            <a:r>
              <a:rPr lang="en-US" b="1" dirty="0"/>
              <a:t>Disadvantages</a:t>
            </a:r>
          </a:p>
          <a:p>
            <a:pPr marL="0" indent="0">
              <a:buNone/>
            </a:pPr>
            <a:r>
              <a:rPr lang="en-US" dirty="0"/>
              <a:t>Unlimited liability</a:t>
            </a:r>
          </a:p>
          <a:p>
            <a:pPr marL="0" indent="0">
              <a:buNone/>
            </a:pPr>
            <a:r>
              <a:rPr lang="en-US" dirty="0"/>
              <a:t>Owner can not raise funds through equity</a:t>
            </a:r>
          </a:p>
          <a:p>
            <a:pPr marL="0" indent="0">
              <a:buNone/>
            </a:pPr>
            <a:r>
              <a:rPr lang="en-US" dirty="0"/>
              <a:t>Business usually dies with owner</a:t>
            </a:r>
          </a:p>
          <a:p>
            <a:pPr marL="0" indent="0">
              <a:buNone/>
            </a:pPr>
            <a:endParaRPr lang="en-US" b="1" dirty="0"/>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000" dirty="0"/>
              <a:t>Advantages /Disadvantages of Sole Proprietorship</a:t>
            </a:r>
          </a:p>
        </p:txBody>
      </p:sp>
    </p:spTree>
    <p:extLst>
      <p:ext uri="{BB962C8B-B14F-4D97-AF65-F5344CB8AC3E}">
        <p14:creationId xmlns:p14="http://schemas.microsoft.com/office/powerpoint/2010/main" val="296801941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Partnerships are an association of two or more (up to a maximum of 20) individuals carrying out business jointly for the purpose of making profits.</a:t>
            </a:r>
          </a:p>
          <a:p>
            <a:pPr marL="0" indent="0" algn="just">
              <a:buNone/>
            </a:pPr>
            <a:r>
              <a:rPr lang="en-US" dirty="0"/>
              <a:t>They are a relatively simple and inexpensive way of</a:t>
            </a:r>
          </a:p>
          <a:p>
            <a:pPr marL="0" indent="0" algn="just">
              <a:buNone/>
            </a:pPr>
            <a:r>
              <a:rPr lang="en-US" dirty="0"/>
              <a:t>conducting business. The members of a partnership are</a:t>
            </a:r>
          </a:p>
          <a:p>
            <a:pPr marL="0" indent="0" algn="just">
              <a:buNone/>
            </a:pPr>
            <a:r>
              <a:rPr lang="en-US" dirty="0"/>
              <a:t>“partners” and the terms and conditions of their relationship must be documented in a partnership agreement.</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Partnership</a:t>
            </a:r>
          </a:p>
        </p:txBody>
      </p:sp>
    </p:spTree>
    <p:extLst>
      <p:ext uri="{BB962C8B-B14F-4D97-AF65-F5344CB8AC3E}">
        <p14:creationId xmlns:p14="http://schemas.microsoft.com/office/powerpoint/2010/main" val="144529030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Once a partnership is formally entered into, there is a</a:t>
            </a:r>
          </a:p>
          <a:p>
            <a:pPr marL="0" indent="0" algn="just">
              <a:buNone/>
            </a:pPr>
            <a:r>
              <a:rPr lang="en-US" dirty="0"/>
              <a:t>legal presumption that each partner has the authority</a:t>
            </a:r>
          </a:p>
          <a:p>
            <a:pPr marL="0" indent="0" algn="just">
              <a:buNone/>
            </a:pPr>
            <a:r>
              <a:rPr lang="en-US" dirty="0"/>
              <a:t>to transact the partnership’s authorized business as an</a:t>
            </a:r>
          </a:p>
          <a:p>
            <a:pPr marL="0" indent="0" algn="just">
              <a:buNone/>
            </a:pPr>
            <a:r>
              <a:rPr lang="en-US" dirty="0"/>
              <a:t>agent of the partnership and, for this reason, partnerships are generally bound by any actions taken</a:t>
            </a:r>
          </a:p>
          <a:p>
            <a:pPr marL="0" indent="0" algn="just">
              <a:buNone/>
            </a:pPr>
            <a:r>
              <a:rPr lang="en-US" dirty="0"/>
              <a:t>or decisions made by a partner in the name of the partnership during the usual course of business. A partnership must be registered with the Registrar</a:t>
            </a:r>
          </a:p>
          <a:p>
            <a:pPr marL="0" indent="0" algn="just">
              <a:buNone/>
            </a:pPr>
            <a:r>
              <a:rPr lang="en-US" dirty="0"/>
              <a:t>General’s Department (World Bank Report, 2014).</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Partnership</a:t>
            </a:r>
          </a:p>
        </p:txBody>
      </p:sp>
    </p:spTree>
    <p:extLst>
      <p:ext uri="{BB962C8B-B14F-4D97-AF65-F5344CB8AC3E}">
        <p14:creationId xmlns:p14="http://schemas.microsoft.com/office/powerpoint/2010/main" val="219049005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b="1" dirty="0"/>
              <a:t>Advantages</a:t>
            </a:r>
          </a:p>
          <a:p>
            <a:pPr>
              <a:buFont typeface="Arial" pitchFamily="34" charset="0"/>
              <a:buChar char="•"/>
            </a:pPr>
            <a:r>
              <a:rPr lang="en-US" dirty="0"/>
              <a:t>Business is easier to establish and start-up costs are lower than establishing a company. </a:t>
            </a:r>
          </a:p>
          <a:p>
            <a:pPr>
              <a:buFont typeface="Arial" pitchFamily="34" charset="0"/>
              <a:buChar char="•"/>
            </a:pPr>
            <a:r>
              <a:rPr lang="en-US" dirty="0"/>
              <a:t>More capital is available for the business than in sole-proprietorship.</a:t>
            </a:r>
          </a:p>
          <a:p>
            <a:pPr>
              <a:buFont typeface="Arial" pitchFamily="34" charset="0"/>
              <a:buChar char="•"/>
            </a:pPr>
            <a:r>
              <a:rPr lang="en-US" dirty="0"/>
              <a:t>Partnerships have greater borrowing capacity than sole-proprietorships.</a:t>
            </a:r>
          </a:p>
          <a:p>
            <a:pPr marL="0" indent="0">
              <a:buNone/>
            </a:pPr>
            <a:endParaRPr lang="en-US" b="1"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000" dirty="0"/>
              <a:t>Advantages  of Partnership</a:t>
            </a:r>
          </a:p>
        </p:txBody>
      </p:sp>
    </p:spTree>
    <p:extLst>
      <p:ext uri="{BB962C8B-B14F-4D97-AF65-F5344CB8AC3E}">
        <p14:creationId xmlns:p14="http://schemas.microsoft.com/office/powerpoint/2010/main" val="73788060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gn="just">
              <a:buFont typeface="Arial" pitchFamily="34" charset="0"/>
              <a:buChar char="•"/>
            </a:pPr>
            <a:r>
              <a:rPr lang="en-US" dirty="0"/>
              <a:t>Each partner is ‘jointly and severally’ liable for the partnership’s debts and liabilities; that is, each partner is liable for their share of the partnership debts as well as being liable for all the debts.</a:t>
            </a:r>
          </a:p>
          <a:p>
            <a:pPr algn="just">
              <a:buFont typeface="Arial" pitchFamily="34" charset="0"/>
              <a:buChar char="•"/>
            </a:pPr>
            <a:r>
              <a:rPr lang="en-US" dirty="0"/>
              <a:t>There is a risk of disagreements and friction among partners and management.</a:t>
            </a:r>
          </a:p>
          <a:p>
            <a:pPr algn="just">
              <a:buFont typeface="Arial" pitchFamily="34" charset="0"/>
              <a:buChar char="•"/>
            </a:pPr>
            <a:r>
              <a:rPr lang="en-US" dirty="0"/>
              <a:t>Each partner is an agent of the entire partnership and is therefore liable for the actions of other partners.</a:t>
            </a:r>
          </a:p>
          <a:p>
            <a:pPr algn="just">
              <a:buFont typeface="Arial" pitchFamily="34" charset="0"/>
              <a:buChar char="•"/>
            </a:pPr>
            <a:r>
              <a:rPr lang="en-US" dirty="0"/>
              <a:t>If partners join or leave, you will probably have to value all the partnership assets and re-define the partnership.</a:t>
            </a:r>
          </a:p>
          <a:p>
            <a:pPr>
              <a:buFont typeface="Arial" pitchFamily="34" charset="0"/>
              <a:buChar char="•"/>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Disadvantages of Partnership</a:t>
            </a:r>
          </a:p>
        </p:txBody>
      </p:sp>
    </p:spTree>
    <p:extLst>
      <p:ext uri="{BB962C8B-B14F-4D97-AF65-F5344CB8AC3E}">
        <p14:creationId xmlns:p14="http://schemas.microsoft.com/office/powerpoint/2010/main" val="328134169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Incorporating a company means establishing a legal</a:t>
            </a:r>
          </a:p>
          <a:p>
            <a:pPr marL="0" indent="0" algn="just">
              <a:buNone/>
            </a:pPr>
            <a:r>
              <a:rPr lang="en-US" dirty="0"/>
              <a:t>identity for the company that is separate from the legal</a:t>
            </a:r>
          </a:p>
          <a:p>
            <a:pPr marL="0" indent="0" algn="just">
              <a:buNone/>
            </a:pPr>
            <a:r>
              <a:rPr lang="en-US" dirty="0"/>
              <a:t>identity of its directors or shareholders.</a:t>
            </a:r>
          </a:p>
          <a:p>
            <a:pPr marL="0" indent="0" algn="just">
              <a:buNone/>
            </a:pPr>
            <a:r>
              <a:rPr lang="en-US" dirty="0"/>
              <a:t>Incorporation allows a company to contract in its own name; </a:t>
            </a:r>
          </a:p>
          <a:p>
            <a:pPr marL="0" indent="0" algn="just">
              <a:buNone/>
            </a:pPr>
            <a:r>
              <a:rPr lang="en-US" dirty="0"/>
              <a:t>Limits the liability of the company’s directors and shareholders; and</a:t>
            </a:r>
          </a:p>
          <a:p>
            <a:pPr marL="0" indent="0" algn="just">
              <a:buNone/>
            </a:pPr>
            <a:r>
              <a:rPr lang="en-US" dirty="0"/>
              <a:t>Ensures continuity of the company in the event of the</a:t>
            </a:r>
          </a:p>
          <a:p>
            <a:pPr marL="0" indent="0" algn="just">
              <a:buNone/>
            </a:pPr>
            <a:r>
              <a:rPr lang="en-US" dirty="0"/>
              <a:t>death or bankruptcy of a shareholder.</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Incorporated Companies</a:t>
            </a:r>
          </a:p>
        </p:txBody>
      </p:sp>
    </p:spTree>
    <p:extLst>
      <p:ext uri="{BB962C8B-B14F-4D97-AF65-F5344CB8AC3E}">
        <p14:creationId xmlns:p14="http://schemas.microsoft.com/office/powerpoint/2010/main" val="237575011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The three types of companies that may be incorporated</a:t>
            </a:r>
          </a:p>
          <a:p>
            <a:pPr marL="0" indent="0">
              <a:buNone/>
            </a:pPr>
            <a:r>
              <a:rPr lang="en-US" dirty="0"/>
              <a:t>in Ghana are:</a:t>
            </a:r>
          </a:p>
          <a:p>
            <a:pPr marL="0" indent="0">
              <a:buNone/>
            </a:pPr>
            <a:r>
              <a:rPr lang="en-US" dirty="0"/>
              <a:t>Company limited by shares.</a:t>
            </a:r>
          </a:p>
          <a:p>
            <a:pPr marL="0" indent="0">
              <a:buNone/>
            </a:pPr>
            <a:r>
              <a:rPr lang="en-US" dirty="0"/>
              <a:t>Company limited by guarantee.</a:t>
            </a:r>
          </a:p>
          <a:p>
            <a:pPr marL="0" indent="0">
              <a:buNone/>
            </a:pPr>
            <a:r>
              <a:rPr lang="en-US" dirty="0"/>
              <a:t>External company.</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Incorporated Companies</a:t>
            </a:r>
          </a:p>
        </p:txBody>
      </p:sp>
    </p:spTree>
    <p:extLst>
      <p:ext uri="{BB962C8B-B14F-4D97-AF65-F5344CB8AC3E}">
        <p14:creationId xmlns:p14="http://schemas.microsoft.com/office/powerpoint/2010/main" val="234643522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0" indent="0">
              <a:buNone/>
            </a:pPr>
            <a:r>
              <a:rPr lang="en-US" dirty="0"/>
              <a:t>To incorporate a private company limited by shares, you must:</a:t>
            </a:r>
          </a:p>
          <a:p>
            <a:pPr marL="0" indent="0" algn="just">
              <a:buNone/>
            </a:pPr>
            <a:r>
              <a:rPr lang="en-US" dirty="0"/>
              <a:t>1. Decide who will act as the company’s first directors. A company incorporated and registered in Ghana must have a minimum of two directors, both natural persons over 21 years, one of whom must be a permanent resident of Ghana.</a:t>
            </a:r>
          </a:p>
          <a:p>
            <a:pPr marL="0" indent="0" algn="just">
              <a:buNone/>
            </a:pPr>
            <a:r>
              <a:rPr lang="en-US" dirty="0"/>
              <a:t>The directors appoint the company secretary, who may be a natural person or a corporate body. </a:t>
            </a:r>
          </a:p>
          <a:p>
            <a:pPr marL="0" indent="0" algn="just">
              <a:buNone/>
            </a:pPr>
            <a:r>
              <a:rPr lang="en-US" dirty="0"/>
              <a:t>The directors also appoint the first auditor of the company who, is required, by law, to be a member of the Institute of Chartered Accountants. The auditor must not be an officer or employee of the company.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400" dirty="0"/>
              <a:t>Company Limited by Shares.</a:t>
            </a:r>
            <a:br>
              <a:rPr lang="en-US" dirty="0"/>
            </a:br>
            <a:endParaRPr lang="en-US" dirty="0"/>
          </a:p>
        </p:txBody>
      </p:sp>
    </p:spTree>
    <p:extLst>
      <p:ext uri="{BB962C8B-B14F-4D97-AF65-F5344CB8AC3E}">
        <p14:creationId xmlns:p14="http://schemas.microsoft.com/office/powerpoint/2010/main" val="96559390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2. Register with the Ghana Revenue Authority (</a:t>
            </a:r>
            <a:r>
              <a:rPr lang="en-US" dirty="0" err="1"/>
              <a:t>GRA</a:t>
            </a:r>
            <a:r>
              <a:rPr lang="en-US" dirty="0"/>
              <a:t>).</a:t>
            </a:r>
          </a:p>
          <a:p>
            <a:pPr marL="0" indent="0" algn="just">
              <a:buNone/>
            </a:pPr>
            <a:r>
              <a:rPr lang="en-US" dirty="0"/>
              <a:t>The company must obtain a tax identification number (TIN) for itself and personal </a:t>
            </a:r>
            <a:r>
              <a:rPr lang="en-US" dirty="0" err="1"/>
              <a:t>TINs</a:t>
            </a:r>
            <a:r>
              <a:rPr lang="en-US" dirty="0"/>
              <a:t> for its intended directors and the intended secretary, if they don’t have them already</a:t>
            </a:r>
          </a:p>
          <a:p>
            <a:pPr marL="0" indent="0" algn="just">
              <a:buNone/>
            </a:pPr>
            <a:r>
              <a:rPr lang="en-US" dirty="0"/>
              <a:t>3. Choose a business name. The company must check</a:t>
            </a:r>
          </a:p>
          <a:p>
            <a:pPr marL="0" indent="0" algn="just">
              <a:buNone/>
            </a:pPr>
            <a:r>
              <a:rPr lang="en-US" dirty="0"/>
              <a:t>with the Registrar General’s Department whether their preferred business name is usable. LTD. Should be added to business name.</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Company Limited by Shares.</a:t>
            </a:r>
          </a:p>
        </p:txBody>
      </p:sp>
    </p:spTree>
    <p:extLst>
      <p:ext uri="{BB962C8B-B14F-4D97-AF65-F5344CB8AC3E}">
        <p14:creationId xmlns:p14="http://schemas.microsoft.com/office/powerpoint/2010/main" val="225026682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4. The next step is to prepare the Regulations of the Company. The regulations must state:</a:t>
            </a:r>
          </a:p>
          <a:p>
            <a:pPr marL="0" indent="0" algn="just">
              <a:buNone/>
            </a:pPr>
            <a:r>
              <a:rPr lang="en-US" dirty="0"/>
              <a:t>• the name of the company; • the company’s objects or authorized business;</a:t>
            </a:r>
          </a:p>
          <a:p>
            <a:pPr marL="0" indent="0" algn="just">
              <a:buNone/>
            </a:pPr>
            <a:r>
              <a:rPr lang="en-US" dirty="0"/>
              <a:t>• that the company is able to enter into legally binding agreements (i.e. has full capacity), unless it is restricted from doing so by its regulations; • the names of the first directors of the company; </a:t>
            </a:r>
          </a:p>
          <a:p>
            <a:pPr marL="0" indent="0" algn="just">
              <a:buNone/>
            </a:pPr>
            <a:r>
              <a:rPr lang="en-US" dirty="0"/>
              <a:t>• that the powers of the directors are limited in accordance with the law;</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Company Limited by Shares.</a:t>
            </a:r>
          </a:p>
        </p:txBody>
      </p:sp>
    </p:spTree>
    <p:extLst>
      <p:ext uri="{BB962C8B-B14F-4D97-AF65-F5344CB8AC3E}">
        <p14:creationId xmlns:p14="http://schemas.microsoft.com/office/powerpoint/2010/main" val="65855823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gn="just">
              <a:buFont typeface="Arial" pitchFamily="34" charset="0"/>
              <a:buChar char="•"/>
            </a:pPr>
            <a:r>
              <a:rPr lang="en-US" dirty="0"/>
              <a:t>the number of shares with which the company is registered;</a:t>
            </a:r>
          </a:p>
          <a:p>
            <a:pPr marL="0" indent="0" algn="just">
              <a:buNone/>
            </a:pPr>
            <a:r>
              <a:rPr lang="en-US" dirty="0"/>
              <a:t>• the number of shares each subscriber will own on incorporation and the amount payable for the share(s); and</a:t>
            </a:r>
          </a:p>
          <a:p>
            <a:pPr marL="0" indent="0" algn="just">
              <a:buNone/>
            </a:pPr>
            <a:r>
              <a:rPr lang="en-US" dirty="0"/>
              <a:t>• a declaration that the liability of members is limited.</a:t>
            </a:r>
          </a:p>
          <a:p>
            <a:pPr marL="0" indent="0" algn="just">
              <a:buNone/>
            </a:pPr>
            <a:r>
              <a:rPr lang="en-US" dirty="0"/>
              <a:t>5. If the Registrar is satisfied that the information contained in the application and the supporting documents is accurate, a </a:t>
            </a:r>
            <a:r>
              <a:rPr lang="en-US" b="1" dirty="0"/>
              <a:t>Certificate of Incorporation </a:t>
            </a:r>
            <a:r>
              <a:rPr lang="en-US" dirty="0"/>
              <a:t>and the </a:t>
            </a:r>
            <a:r>
              <a:rPr lang="en-US" b="1" dirty="0"/>
              <a:t>Certificate to Commerce Business </a:t>
            </a:r>
            <a:r>
              <a:rPr lang="en-US" dirty="0"/>
              <a:t>will be issued. (World Bank Report, 2014),</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Company Limited by Shares.</a:t>
            </a:r>
          </a:p>
        </p:txBody>
      </p:sp>
    </p:spTree>
    <p:extLst>
      <p:ext uri="{BB962C8B-B14F-4D97-AF65-F5344CB8AC3E}">
        <p14:creationId xmlns:p14="http://schemas.microsoft.com/office/powerpoint/2010/main" val="250928326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0" indent="0" algn="just">
              <a:buNone/>
            </a:pPr>
            <a:r>
              <a:rPr lang="en-US" dirty="0"/>
              <a:t>This is an incorporated company without share capital. </a:t>
            </a:r>
          </a:p>
          <a:p>
            <a:pPr marL="0" indent="0" algn="just">
              <a:buNone/>
            </a:pPr>
            <a:r>
              <a:rPr lang="en-US" dirty="0"/>
              <a:t>It is a not for profit entity and, as such, its objects must not include the generation of profit. </a:t>
            </a:r>
          </a:p>
          <a:p>
            <a:pPr marL="0" indent="0" algn="just">
              <a:buNone/>
            </a:pPr>
            <a:r>
              <a:rPr lang="en-US" dirty="0"/>
              <a:t>The company has an executive council instead of a board of directors and its members are often referred to as ‘guarantors’. </a:t>
            </a:r>
          </a:p>
          <a:p>
            <a:pPr marL="0" indent="0" algn="just">
              <a:buNone/>
            </a:pPr>
            <a:r>
              <a:rPr lang="en-US" dirty="0"/>
              <a:t>Typically, this type of company is used to protect its officers and members from personal liability in excess of what they</a:t>
            </a:r>
          </a:p>
          <a:p>
            <a:pPr marL="0" indent="0" algn="just">
              <a:buNone/>
            </a:pPr>
            <a:r>
              <a:rPr lang="en-US" dirty="0"/>
              <a:t>consented to contribute towards the company’s assets in the event of the company’s liquidation.</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Company Limited by Guarantee </a:t>
            </a:r>
          </a:p>
        </p:txBody>
      </p:sp>
    </p:spTree>
    <p:extLst>
      <p:ext uri="{BB962C8B-B14F-4D97-AF65-F5344CB8AC3E}">
        <p14:creationId xmlns:p14="http://schemas.microsoft.com/office/powerpoint/2010/main" val="267824844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0" indent="0" algn="just">
              <a:buNone/>
            </a:pPr>
            <a:r>
              <a:rPr lang="en-US" dirty="0"/>
              <a:t>The process of incorporating a company limited by guarantee is broadly similar to the process of incorporating a company limited by shares.</a:t>
            </a:r>
          </a:p>
          <a:p>
            <a:pPr marL="0" indent="0" algn="just">
              <a:buNone/>
            </a:pPr>
            <a:r>
              <a:rPr lang="en-US" dirty="0"/>
              <a:t>The regulations of a company limited by guarantee must state the following;</a:t>
            </a:r>
          </a:p>
          <a:p>
            <a:pPr marL="0" indent="0" algn="just">
              <a:buNone/>
            </a:pPr>
            <a:r>
              <a:rPr lang="en-US" dirty="0"/>
              <a:t>The regulations of the company must state that:</a:t>
            </a:r>
          </a:p>
          <a:p>
            <a:pPr marL="0" indent="0" algn="just">
              <a:buNone/>
            </a:pPr>
            <a:r>
              <a:rPr lang="en-US" dirty="0"/>
              <a:t>• each member’s personal liability is limited;</a:t>
            </a:r>
          </a:p>
          <a:p>
            <a:pPr marL="0" indent="0" algn="just">
              <a:buNone/>
            </a:pPr>
            <a:r>
              <a:rPr lang="en-US" dirty="0"/>
              <a:t>• the income and property of the company shall be applied exclusively for the promotion of its objects;</a:t>
            </a:r>
          </a:p>
          <a:p>
            <a:pPr marL="0" indent="0" algn="just">
              <a:buNone/>
            </a:pPr>
            <a:r>
              <a:rPr lang="en-US" dirty="0"/>
              <a:t>• the company’s assets shall not be given to any member, except as payment provided for in the company’s regulations;</a:t>
            </a:r>
          </a:p>
          <a:p>
            <a:pPr marL="0" indent="0" algn="just">
              <a:buNone/>
            </a:pPr>
            <a:r>
              <a:rPr lang="en-US" dirty="0"/>
              <a:t>• no salaries or fees may be paid to any director, except with the approval of the Registrar of Companies;</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Company Limited by Guarantee </a:t>
            </a:r>
          </a:p>
        </p:txBody>
      </p:sp>
    </p:spTree>
    <p:extLst>
      <p:ext uri="{BB962C8B-B14F-4D97-AF65-F5344CB8AC3E}">
        <p14:creationId xmlns:p14="http://schemas.microsoft.com/office/powerpoint/2010/main" val="159896727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buFont typeface="Arial" pitchFamily="34" charset="0"/>
              <a:buChar char="•"/>
            </a:pPr>
            <a:r>
              <a:rPr lang="en-US" dirty="0"/>
              <a:t>In the event of the company’s liquidation, each member will contribute to the assets of the company a sum up to the limit prescribed by the company’s regulations;</a:t>
            </a:r>
          </a:p>
          <a:p>
            <a:pPr>
              <a:buFont typeface="Arial" pitchFamily="34" charset="0"/>
              <a:buChar char="•"/>
            </a:pPr>
            <a:r>
              <a:rPr lang="en-US" dirty="0"/>
              <a:t> Upon liquidation of the company, the guarantors shall agree on how the remaining company property is to be distributed. The remaining property may be given to another company limited by guarantee with similar objects or applied to a charitable purpose. It must not be distributed to the guarantors on liquidation.</a:t>
            </a:r>
          </a:p>
          <a:p>
            <a:pPr marL="0" indent="0">
              <a:buNone/>
            </a:pPr>
            <a:r>
              <a:rPr lang="en-US" dirty="0"/>
              <a:t>Providing the information given to the Registrar General’s Department is accurate, a certificate of incorporation and a certificate to commerce business are issued.</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Company Limited by Guarantee </a:t>
            </a:r>
          </a:p>
        </p:txBody>
      </p:sp>
    </p:spTree>
    <p:extLst>
      <p:ext uri="{BB962C8B-B14F-4D97-AF65-F5344CB8AC3E}">
        <p14:creationId xmlns:p14="http://schemas.microsoft.com/office/powerpoint/2010/main" val="316815423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dirty="0"/>
              <a:t>As the external company is incorporated outside Ghana is merely being registered in Ghana, that is, no subsidiary has been created, there is no requirement to appoint directors and shareholders or to take any other action normally associated with the incorporation of a new company.</a:t>
            </a:r>
          </a:p>
          <a:p>
            <a:pPr marL="0" indent="0">
              <a:buNone/>
            </a:pPr>
            <a:r>
              <a:rPr lang="en-US" dirty="0"/>
              <a:t>Registration of an external company must be completed within a month of the date of establishment of its place of business in Ghana.</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External Company</a:t>
            </a:r>
          </a:p>
        </p:txBody>
      </p:sp>
    </p:spTree>
    <p:extLst>
      <p:ext uri="{BB962C8B-B14F-4D97-AF65-F5344CB8AC3E}">
        <p14:creationId xmlns:p14="http://schemas.microsoft.com/office/powerpoint/2010/main" val="207747804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The company must </a:t>
            </a:r>
            <a:r>
              <a:rPr lang="en-US" dirty="0" err="1"/>
              <a:t>authorise</a:t>
            </a:r>
            <a:r>
              <a:rPr lang="en-US" dirty="0"/>
              <a:t> at least one person resident in Ghana to manage the business of the company (a ‘local manager’). The company must also</a:t>
            </a:r>
          </a:p>
          <a:p>
            <a:pPr marL="0" indent="0" algn="just">
              <a:buNone/>
            </a:pPr>
            <a:r>
              <a:rPr lang="en-US" dirty="0"/>
              <a:t>have an agent in Ghana who is authorized to accept service of documents on behalf of the company (‘process agent’), which may be a corporate entity.</a:t>
            </a:r>
          </a:p>
          <a:p>
            <a:pPr marL="0" indent="0" algn="just">
              <a:buNone/>
            </a:pPr>
            <a:r>
              <a:rPr lang="en-US"/>
              <a:t>(World Bank Repot, 2014)</a:t>
            </a: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External Company</a:t>
            </a:r>
          </a:p>
        </p:txBody>
      </p:sp>
    </p:spTree>
    <p:extLst>
      <p:ext uri="{BB962C8B-B14F-4D97-AF65-F5344CB8AC3E}">
        <p14:creationId xmlns:p14="http://schemas.microsoft.com/office/powerpoint/2010/main" val="103767334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0" indent="0" algn="just">
              <a:buNone/>
            </a:pPr>
            <a:r>
              <a:rPr lang="en-US" dirty="0"/>
              <a:t>Business Registration Steps</a:t>
            </a:r>
          </a:p>
          <a:p>
            <a:pPr marL="0" indent="0" algn="just">
              <a:buNone/>
            </a:pPr>
            <a:endParaRPr lang="en-US" dirty="0"/>
          </a:p>
          <a:p>
            <a:pPr marL="0" indent="0" algn="just">
              <a:buNone/>
            </a:pPr>
            <a:r>
              <a:rPr lang="en-US" dirty="0"/>
              <a:t> The World Bank has identified the following eight business registration steps  in Ghana.</a:t>
            </a:r>
          </a:p>
          <a:p>
            <a:pPr marL="0" indent="0" algn="just">
              <a:buNone/>
            </a:pPr>
            <a:endParaRPr lang="en-US" dirty="0"/>
          </a:p>
          <a:p>
            <a:pPr marL="0" indent="0" algn="just">
              <a:buNone/>
            </a:pPr>
            <a:r>
              <a:rPr lang="en-US" dirty="0"/>
              <a:t> 1. Check for availability of company name and submit company documents to obtain an incorporation certificate. (1 day)</a:t>
            </a:r>
          </a:p>
          <a:p>
            <a:pPr marL="0" indent="0" algn="just">
              <a:buNone/>
            </a:pPr>
            <a:endParaRPr lang="en-US" dirty="0"/>
          </a:p>
          <a:p>
            <a:pPr marL="0" indent="0" algn="just">
              <a:buNone/>
            </a:pPr>
            <a:r>
              <a:rPr lang="en-US" dirty="0"/>
              <a:t>2. A Commissioner of Oaths authenticates forms required for the certificate to commence business. (1 day)</a:t>
            </a:r>
          </a:p>
          <a:p>
            <a:pPr marL="0" indent="0" algn="just">
              <a:buNone/>
            </a:pPr>
            <a:endParaRPr lang="en-US" dirty="0"/>
          </a:p>
          <a:p>
            <a:pPr marL="0" indent="0" algn="just">
              <a:buNone/>
            </a:pPr>
            <a:r>
              <a:rPr lang="en-US" dirty="0"/>
              <a:t>3. Obtain from the Registrar-General’s Department the certificate to commence business. (2 days)</a:t>
            </a:r>
          </a:p>
          <a:p>
            <a:pPr marL="0"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Registering a Business in Ghana</a:t>
            </a:r>
          </a:p>
        </p:txBody>
      </p:sp>
    </p:spTree>
    <p:extLst>
      <p:ext uri="{BB962C8B-B14F-4D97-AF65-F5344CB8AC3E}">
        <p14:creationId xmlns:p14="http://schemas.microsoft.com/office/powerpoint/2010/main" val="156179793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0" indent="0" algn="just">
              <a:buNone/>
            </a:pPr>
            <a:r>
              <a:rPr lang="en-US" dirty="0"/>
              <a:t>4. The following documents must be presented to deposit paid-in capital in a bank account: copy of company regulations, certificate of incorporation, certificate to commence business, and signatures of the authorized company representatives (1 day)</a:t>
            </a:r>
          </a:p>
          <a:p>
            <a:pPr marL="0" indent="0" algn="just">
              <a:buNone/>
            </a:pPr>
            <a:endParaRPr lang="en-US" dirty="0"/>
          </a:p>
          <a:p>
            <a:pPr marL="0" indent="0" algn="just">
              <a:buNone/>
            </a:pPr>
            <a:r>
              <a:rPr lang="en-US" dirty="0"/>
              <a:t>5. Apply for business license at the Metropolitan Authority. (7 days)</a:t>
            </a:r>
          </a:p>
          <a:p>
            <a:pPr marL="0" indent="0" algn="just">
              <a:buNone/>
            </a:pPr>
            <a:endParaRPr lang="en-US" dirty="0"/>
          </a:p>
          <a:p>
            <a:pPr marL="0" indent="0" algn="just">
              <a:buNone/>
            </a:pPr>
            <a:r>
              <a:rPr lang="en-US" dirty="0"/>
              <a:t>6. Obtain inspection of work premises from the Metropolitan Authority. (1 day)</a:t>
            </a:r>
          </a:p>
          <a:p>
            <a:pPr marL="0" indent="0" algn="just">
              <a:buNone/>
            </a:pPr>
            <a:endParaRPr lang="en-US" dirty="0"/>
          </a:p>
          <a:p>
            <a:pPr marL="0" indent="0" algn="just">
              <a:buNone/>
            </a:pPr>
            <a:r>
              <a:rPr lang="en-US" dirty="0"/>
              <a:t>7. Apply for social security. (1 day)</a:t>
            </a:r>
          </a:p>
          <a:p>
            <a:pPr marL="0" indent="0" algn="just">
              <a:buNone/>
            </a:pPr>
            <a:endParaRPr lang="en-US" dirty="0"/>
          </a:p>
          <a:p>
            <a:pPr marL="0" indent="0" algn="just">
              <a:buNone/>
            </a:pPr>
            <a:r>
              <a:rPr lang="en-US" dirty="0"/>
              <a:t>8. Obtain an environmental certificate the Environmental Protection Agency (EPA). (25 days)</a:t>
            </a:r>
          </a:p>
          <a:p>
            <a:pPr marL="0" indent="0">
              <a:buNone/>
            </a:pPr>
            <a:endParaRPr lang="en-US" dirty="0"/>
          </a:p>
          <a:p>
            <a:pPr marL="0"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Registering a Business in Ghana</a:t>
            </a:r>
          </a:p>
        </p:txBody>
      </p:sp>
    </p:spTree>
    <p:extLst>
      <p:ext uri="{BB962C8B-B14F-4D97-AF65-F5344CB8AC3E}">
        <p14:creationId xmlns:p14="http://schemas.microsoft.com/office/powerpoint/2010/main" val="53138286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2" name="Title 1"/>
          <p:cNvSpPr>
            <a:spLocks noGrp="1"/>
          </p:cNvSpPr>
          <p:nvPr>
            <p:ph type="ctrTitle"/>
          </p:nvPr>
        </p:nvSpPr>
        <p:spPr/>
        <p:txBody>
          <a:bodyPr/>
          <a:lstStyle/>
          <a:p>
            <a:r>
              <a:rPr lang="en-US" dirty="0"/>
              <a:t>Lesson Ten</a:t>
            </a:r>
          </a:p>
        </p:txBody>
      </p:sp>
      <p:sp>
        <p:nvSpPr>
          <p:cNvPr id="3" name="Subtitle 2"/>
          <p:cNvSpPr>
            <a:spLocks noGrp="1"/>
          </p:cNvSpPr>
          <p:nvPr>
            <p:ph type="subTitle" idx="1"/>
          </p:nvPr>
        </p:nvSpPr>
        <p:spPr/>
        <p:txBody>
          <a:bodyPr>
            <a:normAutofit/>
          </a:bodyPr>
          <a:lstStyle/>
          <a:p>
            <a:r>
              <a:rPr lang="en-US" sz="3600" dirty="0"/>
              <a:t>Managing Human Resources</a:t>
            </a:r>
          </a:p>
        </p:txBody>
      </p:sp>
    </p:spTree>
    <p:extLst>
      <p:ext uri="{BB962C8B-B14F-4D97-AF65-F5344CB8AC3E}">
        <p14:creationId xmlns:p14="http://schemas.microsoft.com/office/powerpoint/2010/main" val="204528610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dirty="0"/>
              <a:t>By the end of this class, students are expected to;</a:t>
            </a:r>
          </a:p>
          <a:p>
            <a:pPr marL="0" indent="0">
              <a:buNone/>
            </a:pPr>
            <a:r>
              <a:rPr lang="en-US" dirty="0"/>
              <a:t>Explain the importance of employee recruitment and list some sources that can be useful in finding suitable applicants.</a:t>
            </a:r>
          </a:p>
          <a:p>
            <a:pPr marL="0" indent="0">
              <a:buNone/>
            </a:pPr>
            <a:r>
              <a:rPr lang="en-US" dirty="0"/>
              <a:t>Identify some common job selection tools</a:t>
            </a:r>
          </a:p>
          <a:p>
            <a:pPr marL="0" indent="0">
              <a:buNone/>
            </a:pPr>
            <a:r>
              <a:rPr lang="en-US" dirty="0"/>
              <a:t>Discuss some major issues in the Labour Act</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111831740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“Our people make the difference!” has probably become a cliché in business circles. It is certainly true that good businesses require good people, but is this the way most companies think about their employees or is it just a time-worn, feel-good cliché?</a:t>
            </a:r>
          </a:p>
          <a:p>
            <a:pPr marL="0" indent="0" algn="just">
              <a:buNone/>
            </a:pPr>
            <a:r>
              <a:rPr lang="en-US" dirty="0"/>
              <a:t>Any entrepreneur who wants to build a competitive business needs to think carefully about how to find and hire the best people available and then consider how to hold onto them. Honest, competent, motivated employees are a critical resource for any business; therefore, it is vital that entrepreneurs manage employees competently and efficiently.</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49308733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Research has shown that, compared to large firms, small businesses are much less likely to use professional </a:t>
            </a:r>
            <a:r>
              <a:rPr lang="en-US" dirty="0" err="1"/>
              <a:t>HRM</a:t>
            </a:r>
            <a:r>
              <a:rPr lang="en-US" dirty="0"/>
              <a:t> practices related to recruitment, training, performance assessment, and other processes. This regrettable state of affairs may be the result of a lack of knowledge an expertise on the part of some entrepreneurs.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68009950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Recruitment brings applicants to a business; the goal is to obtain a pool of applicants large enough to contain a number of talented prospects. In a subsequent stage of the selection process, management decides which applicants are “keepers.”</a:t>
            </a:r>
          </a:p>
          <a:p>
            <a:pPr marL="0" indent="0" algn="just">
              <a:buNone/>
            </a:pPr>
            <a:r>
              <a:rPr lang="en-US" dirty="0"/>
              <a:t>Once applicants successfully submit the necessary information to the hiring firm, the recruitment process ends.</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Recruiting Personnel</a:t>
            </a:r>
          </a:p>
        </p:txBody>
      </p:sp>
    </p:spTree>
    <p:extLst>
      <p:ext uri="{BB962C8B-B14F-4D97-AF65-F5344CB8AC3E}">
        <p14:creationId xmlns:p14="http://schemas.microsoft.com/office/powerpoint/2010/main" val="367284936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en-US" dirty="0"/>
              <a:t>For  traditional firms sources of recruitment are;</a:t>
            </a:r>
          </a:p>
          <a:p>
            <a:pPr marL="0" indent="0">
              <a:buNone/>
            </a:pPr>
            <a:r>
              <a:rPr lang="en-US" dirty="0"/>
              <a:t>Internal and external sources.</a:t>
            </a:r>
          </a:p>
          <a:p>
            <a:pPr marL="0" indent="0">
              <a:buNone/>
            </a:pPr>
            <a:r>
              <a:rPr lang="en-US" dirty="0"/>
              <a:t>SMEs however tend to draw applicant mostly from external sources. These may include;</a:t>
            </a:r>
          </a:p>
          <a:p>
            <a:pPr marL="0" indent="0">
              <a:buNone/>
            </a:pPr>
            <a:r>
              <a:rPr lang="en-US" sz="2000" dirty="0"/>
              <a:t>Help-wanted advertising</a:t>
            </a:r>
          </a:p>
          <a:p>
            <a:pPr marL="0" indent="0">
              <a:buNone/>
            </a:pPr>
            <a:r>
              <a:rPr lang="en-US" sz="2000" dirty="0"/>
              <a:t>Walk-ins</a:t>
            </a:r>
          </a:p>
          <a:p>
            <a:pPr marL="0" indent="0">
              <a:buNone/>
            </a:pPr>
            <a:r>
              <a:rPr lang="en-US" sz="2000" dirty="0"/>
              <a:t>Schools</a:t>
            </a:r>
          </a:p>
          <a:p>
            <a:pPr marL="0" indent="0">
              <a:buNone/>
            </a:pPr>
            <a:r>
              <a:rPr lang="en-US" sz="2000" dirty="0"/>
              <a:t>Private employment agencies</a:t>
            </a:r>
          </a:p>
          <a:p>
            <a:pPr marL="0" indent="0">
              <a:buNone/>
            </a:pPr>
            <a:r>
              <a:rPr lang="en-US" sz="2000" dirty="0"/>
              <a:t>Employee referrals</a:t>
            </a:r>
          </a:p>
          <a:p>
            <a:pPr marL="0" indent="0">
              <a:buNone/>
            </a:pPr>
            <a:r>
              <a:rPr lang="en-US" sz="2000" dirty="0"/>
              <a:t>Temporary help agencies</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Sources of Recruitment</a:t>
            </a:r>
          </a:p>
        </p:txBody>
      </p:sp>
    </p:spTree>
    <p:extLst>
      <p:ext uri="{BB962C8B-B14F-4D97-AF65-F5344CB8AC3E}">
        <p14:creationId xmlns:p14="http://schemas.microsoft.com/office/powerpoint/2010/main" val="356066383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Over time, the composition of the workforce has changed with respect to race, ethnicity, gender, and age.</a:t>
            </a:r>
          </a:p>
          <a:p>
            <a:pPr marL="0" indent="0" algn="just">
              <a:buNone/>
            </a:pPr>
            <a:r>
              <a:rPr lang="en-US" dirty="0"/>
              <a:t>The challenge for human resource management is to adapt to a more diverse pool of potential employees. To remain fully competitive, business owners need to step up recruitment of women and minorities and be open to innovative ways to access the available pool of applicants.</a:t>
            </a:r>
          </a:p>
          <a:p>
            <a:pPr marL="0" indent="0" algn="just">
              <a:buNone/>
            </a:pPr>
            <a:r>
              <a:rPr lang="en-US" dirty="0"/>
              <a:t>Adapting to diversity is important not only because the workforce is becoming more diverse but also because diversity in itself can be a good thing, through the innovation it introduces to the workplace and the positive effect it has on problem solving.</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Diversity in the Workforce</a:t>
            </a:r>
          </a:p>
        </p:txBody>
      </p:sp>
    </p:spTree>
    <p:extLst>
      <p:ext uri="{BB962C8B-B14F-4D97-AF65-F5344CB8AC3E}">
        <p14:creationId xmlns:p14="http://schemas.microsoft.com/office/powerpoint/2010/main" val="83058495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buNone/>
            </a:pPr>
            <a:r>
              <a:rPr lang="en-US" dirty="0"/>
              <a:t>To ensure that you get qualified people apply for a role, you first need to conduct a thorough  job analysis. The job analysis will help generate an </a:t>
            </a:r>
            <a:r>
              <a:rPr lang="en-US" b="1" dirty="0"/>
              <a:t>appropriate job description </a:t>
            </a:r>
            <a:r>
              <a:rPr lang="en-US" dirty="0"/>
              <a:t>and a </a:t>
            </a:r>
            <a:r>
              <a:rPr lang="en-US" b="1" dirty="0"/>
              <a:t>job specification </a:t>
            </a:r>
            <a:r>
              <a:rPr lang="en-US" dirty="0"/>
              <a:t>.  This will help the firm get more qualified people applying and at the same time discourage unqualified people from applying.</a:t>
            </a:r>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Job analysis</a:t>
            </a:r>
          </a:p>
        </p:txBody>
      </p:sp>
    </p:spTree>
    <p:extLst>
      <p:ext uri="{BB962C8B-B14F-4D97-AF65-F5344CB8AC3E}">
        <p14:creationId xmlns:p14="http://schemas.microsoft.com/office/powerpoint/2010/main" val="329011556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just">
              <a:buNone/>
            </a:pPr>
            <a:r>
              <a:rPr lang="en-US" dirty="0"/>
              <a:t>Recruitment activities identify prospects for employment. Additional steps are needed to evaluate these candidates and to extend job offers. The evaluative steps used to select a preferred candidate from the pool of applicants is known as selection.</a:t>
            </a:r>
          </a:p>
          <a:p>
            <a:pPr marL="0" indent="0">
              <a:buNone/>
            </a:pPr>
            <a:r>
              <a:rPr lang="en-US" dirty="0"/>
              <a:t>Some commonly used selection tools are;</a:t>
            </a:r>
          </a:p>
          <a:p>
            <a:pPr marL="0" indent="0">
              <a:buNone/>
            </a:pPr>
            <a:r>
              <a:rPr lang="en-US" dirty="0"/>
              <a:t>Application forms.</a:t>
            </a:r>
          </a:p>
          <a:p>
            <a:pPr marL="0" indent="0">
              <a:buNone/>
            </a:pPr>
            <a:r>
              <a:rPr lang="en-US" dirty="0"/>
              <a:t>Interviewing the applicant</a:t>
            </a:r>
          </a:p>
          <a:p>
            <a:pPr marL="0" indent="0">
              <a:buNone/>
            </a:pPr>
            <a:r>
              <a:rPr lang="en-US" dirty="0"/>
              <a:t>Checking references and other Background information</a:t>
            </a:r>
          </a:p>
          <a:p>
            <a:pPr marL="0" indent="0">
              <a:buNone/>
            </a:pPr>
            <a:r>
              <a:rPr lang="en-US" dirty="0"/>
              <a:t>Selection tests etc.</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Evaluating Prospects and Selection</a:t>
            </a:r>
          </a:p>
        </p:txBody>
      </p:sp>
    </p:spTree>
    <p:extLst>
      <p:ext uri="{BB962C8B-B14F-4D97-AF65-F5344CB8AC3E}">
        <p14:creationId xmlns:p14="http://schemas.microsoft.com/office/powerpoint/2010/main" val="171622569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Orientation usually begins with an individual’s first two or three days on the job. It is at this point that the new employee tends to feel lost and confused, confronted with a new physical layout, a different job title, unknown fellow employees, a different type of supervision, changed hours or work schedule, and/or a unique set of personnel policies and procedures. </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Orientation for New Personnel</a:t>
            </a:r>
            <a:br>
              <a:rPr lang="en-US" dirty="0"/>
            </a:br>
            <a:endParaRPr lang="en-US" dirty="0"/>
          </a:p>
        </p:txBody>
      </p:sp>
    </p:spTree>
    <p:extLst>
      <p:ext uri="{BB962C8B-B14F-4D97-AF65-F5344CB8AC3E}">
        <p14:creationId xmlns:p14="http://schemas.microsoft.com/office/powerpoint/2010/main" val="134328845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Any events that conflict with the newcomer’s expectations are interpreted in light of his or her previous work experience, and these interpretations can either foster a strong commitment to the new employer or lead to feelings of alienation.</a:t>
            </a:r>
          </a:p>
          <a:p>
            <a:pPr marL="0" indent="0" algn="just">
              <a:buNone/>
            </a:pPr>
            <a:r>
              <a:rPr lang="en-US" dirty="0"/>
              <a:t>Recognizing the new employee’s sensitivity at this point, the employer can contribute to a positive outcome through proper orientation. Taking steps to help the newcomer adjust will minimize her or his uneasiness in the new setting.</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Orientation for New Personnel</a:t>
            </a:r>
          </a:p>
        </p:txBody>
      </p:sp>
    </p:spTree>
    <p:extLst>
      <p:ext uri="{BB962C8B-B14F-4D97-AF65-F5344CB8AC3E}">
        <p14:creationId xmlns:p14="http://schemas.microsoft.com/office/powerpoint/2010/main" val="391622857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gn="just">
              <a:buNone/>
            </a:pPr>
            <a:r>
              <a:rPr lang="en-US" dirty="0"/>
              <a:t>The main document that regulates employment relations in Ghana is the Labour Act 2003(Act 651).</a:t>
            </a:r>
          </a:p>
          <a:p>
            <a:pPr marL="0" indent="0" algn="just">
              <a:buNone/>
            </a:pPr>
            <a:r>
              <a:rPr lang="en-US" dirty="0"/>
              <a:t>It cover the major employment issues and serves as the benchmark for all employment laws in the country. The following aspects of the Labour act will be highlighted;</a:t>
            </a:r>
          </a:p>
          <a:p>
            <a:pPr algn="just">
              <a:buFont typeface="Wingdings" pitchFamily="2" charset="2"/>
              <a:buChar char="q"/>
            </a:pPr>
            <a:r>
              <a:rPr lang="en-US" dirty="0"/>
              <a:t>Right and responsibilities of the employer and the employee</a:t>
            </a:r>
          </a:p>
          <a:p>
            <a:pPr algn="just">
              <a:buFont typeface="Wingdings" pitchFamily="2" charset="2"/>
              <a:buChar char="q"/>
            </a:pPr>
            <a:r>
              <a:rPr lang="en-US" dirty="0"/>
              <a:t>Employment of women</a:t>
            </a:r>
          </a:p>
          <a:p>
            <a:pPr marL="0" indent="0" algn="just">
              <a:buNone/>
            </a:pPr>
            <a:endParaRPr lang="en-US" dirty="0"/>
          </a:p>
          <a:p>
            <a:pPr marL="0" indent="0" algn="just">
              <a:buNone/>
            </a:pPr>
            <a:endParaRPr lang="en-US" dirty="0"/>
          </a:p>
          <a:p>
            <a:pPr marL="0" indent="0" algn="just">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Employment Relations. (Some Legal Issues)</a:t>
            </a:r>
          </a:p>
        </p:txBody>
      </p:sp>
    </p:spTree>
    <p:extLst>
      <p:ext uri="{BB962C8B-B14F-4D97-AF65-F5344CB8AC3E}">
        <p14:creationId xmlns:p14="http://schemas.microsoft.com/office/powerpoint/2010/main" val="272464748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dirty="0"/>
              <a:t>Subject to the Act and any other enactment, the rights of an employer include the right to</a:t>
            </a:r>
          </a:p>
          <a:p>
            <a:pPr marL="0" indent="0">
              <a:buNone/>
            </a:pPr>
            <a:r>
              <a:rPr lang="en-US" dirty="0"/>
              <a:t>(a) employ a worker, discipline, transfer, promote and terminate the employment of the worker.</a:t>
            </a:r>
          </a:p>
          <a:p>
            <a:pPr marL="0" indent="0">
              <a:buNone/>
            </a:pPr>
            <a:r>
              <a:rPr lang="en-US" dirty="0"/>
              <a:t>(b) formulate policies, execute plans and programmes to set targets.</a:t>
            </a:r>
          </a:p>
          <a:p>
            <a:pPr marL="0" indent="0">
              <a:buNone/>
            </a:pPr>
            <a:r>
              <a:rPr lang="en-US" dirty="0"/>
              <a:t>(c) modify, extend or cease operations; and</a:t>
            </a:r>
          </a:p>
          <a:p>
            <a:pPr marL="0" indent="0">
              <a:buNone/>
            </a:pPr>
            <a:r>
              <a:rPr lang="en-US" dirty="0"/>
              <a:t>(d) determine the type of products to make or sell and the prices of its goods and services.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800" dirty="0"/>
              <a:t>Right And Responsibilities Of The Employer </a:t>
            </a:r>
          </a:p>
        </p:txBody>
      </p:sp>
    </p:spTree>
    <p:extLst>
      <p:ext uri="{BB962C8B-B14F-4D97-AF65-F5344CB8AC3E}">
        <p14:creationId xmlns:p14="http://schemas.microsoft.com/office/powerpoint/2010/main" val="171470139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The duties of an employer include the duty to</a:t>
            </a:r>
          </a:p>
          <a:p>
            <a:pPr marL="0" indent="0" algn="just">
              <a:buNone/>
            </a:pPr>
            <a:r>
              <a:rPr lang="en-US" dirty="0"/>
              <a:t>(a) provide work and appropriate raw materials, machinery,</a:t>
            </a:r>
          </a:p>
          <a:p>
            <a:pPr marL="0" indent="0" algn="just">
              <a:buNone/>
            </a:pPr>
            <a:r>
              <a:rPr lang="en-US" dirty="0"/>
              <a:t>equipment and tools.</a:t>
            </a:r>
          </a:p>
          <a:p>
            <a:pPr marL="0" indent="0" algn="just">
              <a:buNone/>
            </a:pPr>
            <a:r>
              <a:rPr lang="en-US" dirty="0"/>
              <a:t>(b) pay the agreed remuneration at the time and place agreed on in the contact of employment or collective bargaining agreement or by law or agreed between the employer and the worker.</a:t>
            </a:r>
          </a:p>
          <a:p>
            <a:pPr marL="0" indent="0" algn="just">
              <a:buNone/>
            </a:pPr>
            <a:r>
              <a:rPr lang="en-US" dirty="0"/>
              <a:t>(c) take all practicable steps to ensure that the worker is free</a:t>
            </a:r>
          </a:p>
          <a:p>
            <a:pPr marL="0" indent="0" algn="just">
              <a:buNone/>
            </a:pPr>
            <a:r>
              <a:rPr lang="en-US" dirty="0"/>
              <a:t>from risk of personal injury or damage to his or her health</a:t>
            </a:r>
          </a:p>
          <a:p>
            <a:pPr marL="0" indent="0" algn="just">
              <a:buNone/>
            </a:pPr>
            <a:r>
              <a:rPr lang="en-US" dirty="0"/>
              <a:t>during and in the course of the worker’s employment or while lawfully on the employer’s premises.</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sz="4800" dirty="0"/>
              <a:t>Right And Responsibilities Of The Employer </a:t>
            </a:r>
          </a:p>
        </p:txBody>
      </p:sp>
    </p:spTree>
    <p:extLst>
      <p:ext uri="{BB962C8B-B14F-4D97-AF65-F5344CB8AC3E}">
        <p14:creationId xmlns:p14="http://schemas.microsoft.com/office/powerpoint/2010/main" val="192716526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 The rights of a worker include the right to</a:t>
            </a:r>
          </a:p>
          <a:p>
            <a:pPr marL="0" indent="0" algn="just">
              <a:buNone/>
            </a:pPr>
            <a:r>
              <a:rPr lang="en-US" dirty="0"/>
              <a:t>(a) work under satisfactory, safe and healthy conditions.</a:t>
            </a:r>
          </a:p>
          <a:p>
            <a:pPr marL="0" indent="0" algn="just">
              <a:buNone/>
            </a:pPr>
            <a:r>
              <a:rPr lang="en-US" dirty="0"/>
              <a:t>(b) receive equal pay for equal work without distinction of any kind.</a:t>
            </a:r>
          </a:p>
          <a:p>
            <a:pPr marL="0" indent="0" algn="just">
              <a:buNone/>
            </a:pPr>
            <a:r>
              <a:rPr lang="en-US" dirty="0"/>
              <a:t>(c) have rest, leisure and reasonable limitation of working hours and period of holidays with pay as well as remuneration for public holidays;</a:t>
            </a:r>
          </a:p>
          <a:p>
            <a:pPr marL="0" indent="0" algn="just">
              <a:buNone/>
            </a:pPr>
            <a:r>
              <a:rPr lang="en-US" dirty="0"/>
              <a:t>(d) form or join a trade union;</a:t>
            </a:r>
          </a:p>
          <a:p>
            <a:pPr marL="0" indent="0" algn="just">
              <a:buNone/>
            </a:pPr>
            <a:r>
              <a:rPr lang="en-US" dirty="0"/>
              <a:t>(e) be trained and retained for the development of his or her skills; and</a:t>
            </a:r>
          </a:p>
          <a:p>
            <a:pPr marL="0" indent="0" algn="just">
              <a:buNone/>
            </a:pPr>
            <a:r>
              <a:rPr lang="en-US" dirty="0"/>
              <a:t>(f) receive information relevant to his or her work.</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Rights and Duties of a Worker</a:t>
            </a:r>
            <a:br>
              <a:rPr lang="en-US" dirty="0"/>
            </a:br>
            <a:endParaRPr lang="en-US" dirty="0"/>
          </a:p>
        </p:txBody>
      </p:sp>
    </p:spTree>
    <p:extLst>
      <p:ext uri="{BB962C8B-B14F-4D97-AF65-F5344CB8AC3E}">
        <p14:creationId xmlns:p14="http://schemas.microsoft.com/office/powerpoint/2010/main" val="12738943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dirty="0"/>
              <a:t>The duties of a worker in any contract of employment or collective agreement, include the duty to;</a:t>
            </a:r>
          </a:p>
          <a:p>
            <a:pPr marL="0" indent="0" algn="just">
              <a:buNone/>
            </a:pPr>
            <a:r>
              <a:rPr lang="en-US" dirty="0"/>
              <a:t>(A) work conscientiously in the lawfully chosen occupation;</a:t>
            </a:r>
          </a:p>
          <a:p>
            <a:pPr marL="0" indent="0" algn="just">
              <a:buNone/>
            </a:pPr>
            <a:r>
              <a:rPr lang="en-US" dirty="0"/>
              <a:t>(B) report for work regularly and punctually;</a:t>
            </a:r>
          </a:p>
          <a:p>
            <a:pPr marL="0" indent="0" algn="just">
              <a:buNone/>
            </a:pPr>
            <a:r>
              <a:rPr lang="en-US" dirty="0"/>
              <a:t>(C) enhance productivity;</a:t>
            </a:r>
          </a:p>
          <a:p>
            <a:pPr marL="0" indent="0" algn="just">
              <a:buNone/>
            </a:pPr>
            <a:r>
              <a:rPr lang="en-US" dirty="0"/>
              <a:t>(D) exercise due care in the execution of assigned work;</a:t>
            </a:r>
          </a:p>
          <a:p>
            <a:pPr marL="0" indent="0" algn="just">
              <a:buNone/>
            </a:pPr>
            <a:r>
              <a:rPr lang="en-US" dirty="0"/>
              <a:t>(E) obey lawful instructions regarding the organisation and</a:t>
            </a:r>
          </a:p>
          <a:p>
            <a:pPr marL="0" indent="0" algn="just">
              <a:buNone/>
            </a:pPr>
            <a:r>
              <a:rPr lang="en-US" dirty="0"/>
              <a:t>execution of his or her work;</a:t>
            </a:r>
          </a:p>
          <a:p>
            <a:pPr marL="0" indent="0" algn="just">
              <a:buNone/>
            </a:pPr>
            <a:r>
              <a:rPr lang="en-US" dirty="0"/>
              <a:t>(F) take all reasonable care for the safety and health of fellow</a:t>
            </a:r>
          </a:p>
          <a:p>
            <a:pPr marL="0" indent="0" algn="just">
              <a:buNone/>
            </a:pPr>
            <a:r>
              <a:rPr lang="en-US" dirty="0"/>
              <a:t>Workers;</a:t>
            </a:r>
          </a:p>
          <a:p>
            <a:pPr marL="0" indent="0">
              <a:buNone/>
            </a:pPr>
            <a:endParaRPr lang="en-US" dirty="0"/>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Rights and Duties of a Worker</a:t>
            </a:r>
            <a:br>
              <a:rPr lang="en-US" dirty="0"/>
            </a:br>
            <a:endParaRPr lang="en-US" dirty="0"/>
          </a:p>
        </p:txBody>
      </p:sp>
    </p:spTree>
    <p:extLst>
      <p:ext uri="{BB962C8B-B14F-4D97-AF65-F5344CB8AC3E}">
        <p14:creationId xmlns:p14="http://schemas.microsoft.com/office/powerpoint/2010/main" val="338029463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0" indent="0" algn="just">
              <a:buNone/>
            </a:pPr>
            <a:r>
              <a:rPr lang="en-US" b="1" dirty="0"/>
              <a:t>Maximum hours of work</a:t>
            </a:r>
          </a:p>
          <a:p>
            <a:pPr marL="0" indent="0" algn="just">
              <a:buNone/>
            </a:pPr>
            <a:r>
              <a:rPr lang="en-US" dirty="0"/>
              <a:t>The hours of work of a worker shall be a maximum of eight hours a day or forty hours a week except in cases expressly provided for in this Act.</a:t>
            </a:r>
          </a:p>
          <a:p>
            <a:pPr marL="0" indent="0" algn="just">
              <a:buNone/>
            </a:pPr>
            <a:r>
              <a:rPr lang="en-US" b="1" dirty="0"/>
              <a:t>Leave entitlement</a:t>
            </a:r>
          </a:p>
          <a:p>
            <a:pPr marL="0" indent="0" algn="just">
              <a:buNone/>
            </a:pPr>
            <a:r>
              <a:rPr lang="en-US" dirty="0"/>
              <a:t>In any undertaking every worker is entitled to not less than fifteen working days leave with full pay in any calendar year of continuous service.</a:t>
            </a:r>
          </a:p>
          <a:p>
            <a:pPr marL="0" indent="0" algn="just">
              <a:buNone/>
            </a:pPr>
            <a:r>
              <a:rPr lang="en-US" dirty="0"/>
              <a:t> The expression “full pay” means the worker’s normal remuneration, without overtime payment, including the cash equivalent of any remuneration in kind.</a:t>
            </a:r>
          </a:p>
          <a:p>
            <a:pPr marL="0" indent="0" algn="just">
              <a:buNone/>
            </a:pPr>
            <a:r>
              <a:rPr lang="en-US" dirty="0"/>
              <a:t>Any agreement to relinquish the entitlement to annual leave or to forgo such leave is void.</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Rights and Duties of a Worker</a:t>
            </a:r>
          </a:p>
        </p:txBody>
      </p:sp>
    </p:spTree>
    <p:extLst>
      <p:ext uri="{BB962C8B-B14F-4D97-AF65-F5344CB8AC3E}">
        <p14:creationId xmlns:p14="http://schemas.microsoft.com/office/powerpoint/2010/main" val="402816635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Unless with her consent, an employer shall not</a:t>
            </a:r>
          </a:p>
          <a:p>
            <a:pPr marL="0" indent="0">
              <a:buNone/>
            </a:pPr>
            <a:r>
              <a:rPr lang="en-US" dirty="0"/>
              <a:t>(a) assign or employ a pregnant woman worker to do any night work between the hours of ten O’clock in the evening and seven O’clock in the morning;</a:t>
            </a:r>
          </a:p>
          <a:p>
            <a:pPr marL="0" indent="0">
              <a:buNone/>
            </a:pPr>
            <a:r>
              <a:rPr lang="en-US" dirty="0"/>
              <a:t>(b) engage for overtime a pregnant woman worker or a mother of a child of less than eight months old.</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Employment of Women</a:t>
            </a:r>
          </a:p>
        </p:txBody>
      </p:sp>
    </p:spTree>
    <p:extLst>
      <p:ext uri="{BB962C8B-B14F-4D97-AF65-F5344CB8AC3E}">
        <p14:creationId xmlns:p14="http://schemas.microsoft.com/office/powerpoint/2010/main" val="401391259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buNone/>
            </a:pPr>
            <a:r>
              <a:rPr lang="en-US" dirty="0"/>
              <a:t>Maternity, annual and sick leave</a:t>
            </a:r>
          </a:p>
          <a:p>
            <a:pPr marL="0" indent="0" algn="just">
              <a:buNone/>
            </a:pPr>
            <a:r>
              <a:rPr lang="en-US" dirty="0"/>
              <a:t> (1) A woman worker, is entitled to a period of maternity leave of at least twelve weeks in addition to any period of annual leave she is entitled after her period of confinement.</a:t>
            </a:r>
          </a:p>
          <a:p>
            <a:pPr marL="0" indent="0" algn="just">
              <a:buNone/>
            </a:pPr>
            <a:r>
              <a:rPr lang="en-US" dirty="0"/>
              <a:t>(2) A woman worker on maternity leave is entitled to be paid her full remuneration and other benefits to which she is otherwise entitled.</a:t>
            </a:r>
          </a:p>
          <a:p>
            <a:pPr marL="0" indent="0" algn="just">
              <a:buNone/>
            </a:pPr>
            <a:r>
              <a:rPr lang="en-US" dirty="0"/>
              <a:t>(3) The period of maternity leave may be extended for at least two additional weeks where the confinement is abnormal or where in the course of the same confinement two or more babies are born.</a:t>
            </a:r>
          </a:p>
        </p:txBody>
      </p:sp>
      <p:sp>
        <p:nvSpPr>
          <p:cNvPr id="4" name="Footer Placeholder 3"/>
          <p:cNvSpPr>
            <a:spLocks noGrp="1"/>
          </p:cNvSpPr>
          <p:nvPr>
            <p:ph type="ftr" sz="quarter" idx="11"/>
          </p:nvPr>
        </p:nvSpPr>
        <p:spPr/>
        <p:txBody>
          <a:bodyPr/>
          <a:lstStyle/>
          <a:p>
            <a:r>
              <a:rPr lang="da-DK"/>
              <a:t>Longenecker et. al. (2008).  A. Sardiya (2019)</a:t>
            </a:r>
            <a:endParaRPr lang="en-US"/>
          </a:p>
        </p:txBody>
      </p:sp>
      <p:sp>
        <p:nvSpPr>
          <p:cNvPr id="3" name="Title 2"/>
          <p:cNvSpPr>
            <a:spLocks noGrp="1"/>
          </p:cNvSpPr>
          <p:nvPr>
            <p:ph type="title"/>
          </p:nvPr>
        </p:nvSpPr>
        <p:spPr/>
        <p:txBody>
          <a:bodyPr/>
          <a:lstStyle/>
          <a:p>
            <a:r>
              <a:rPr lang="en-US" dirty="0"/>
              <a:t>Employment of Women</a:t>
            </a:r>
          </a:p>
        </p:txBody>
      </p:sp>
    </p:spTree>
    <p:extLst>
      <p:ext uri="{BB962C8B-B14F-4D97-AF65-F5344CB8AC3E}">
        <p14:creationId xmlns:p14="http://schemas.microsoft.com/office/powerpoint/2010/main" val="45108262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