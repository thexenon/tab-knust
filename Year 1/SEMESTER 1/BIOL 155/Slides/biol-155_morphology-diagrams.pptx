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417" r:id="rId2"/>
    <p:sldId id="426" r:id="rId3"/>
    <p:sldId id="418" r:id="rId4"/>
    <p:sldId id="419" r:id="rId5"/>
    <p:sldId id="420" r:id="rId6"/>
    <p:sldId id="421" r:id="rId7"/>
    <p:sldId id="427" r:id="rId8"/>
    <p:sldId id="422" r:id="rId9"/>
    <p:sldId id="423" r:id="rId10"/>
    <p:sldId id="428" r:id="rId11"/>
    <p:sldId id="429" r:id="rId12"/>
    <p:sldId id="430" r:id="rId13"/>
    <p:sldId id="431" r:id="rId14"/>
  </p:sldIdLst>
  <p:sldSz cx="9144000" cy="6858000" type="screen4x3"/>
  <p:notesSz cx="6877050" cy="9653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1" userDrawn="1">
          <p15:clr>
            <a:srgbClr val="A4A3A4"/>
          </p15:clr>
        </p15:guide>
        <p15:guide id="2" pos="216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99"/>
    <a:srgbClr val="993300"/>
    <a:srgbClr val="336600"/>
    <a:srgbClr val="009900"/>
    <a:srgbClr val="00FF00"/>
    <a:srgbClr val="6699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6" autoAdjust="0"/>
    <p:restoredTop sz="94609" autoAdjust="0"/>
  </p:normalViewPr>
  <p:slideViewPr>
    <p:cSldViewPr>
      <p:cViewPr varScale="1">
        <p:scale>
          <a:sx n="67" d="100"/>
          <a:sy n="67" d="100"/>
        </p:scale>
        <p:origin x="11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470" y="-108"/>
      </p:cViewPr>
      <p:guideLst>
        <p:guide orient="horz" pos="3041"/>
        <p:guide pos="216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5404" y="0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r">
              <a:defRPr sz="1200"/>
            </a:lvl1pPr>
          </a:lstStyle>
          <a:p>
            <a:fld id="{3913FED2-230C-49AE-859F-485A49066730}" type="datetimeFigureOut">
              <a:rPr lang="en-GB" smtClean="0"/>
              <a:pPr/>
              <a:t>22/10/2015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69233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5404" y="9169233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r">
              <a:defRPr sz="1200"/>
            </a:lvl1pPr>
          </a:lstStyle>
          <a:p>
            <a:fld id="{4EB9DFC6-661E-45C0-8249-70F4EAB22F2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785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/>
          <a:lstStyle>
            <a:lvl1pPr algn="r">
              <a:defRPr sz="1200"/>
            </a:lvl1pPr>
          </a:lstStyle>
          <a:p>
            <a:fld id="{4AAB02DE-5258-43A7-81B6-04ED5109AAEF}" type="datetimeFigureOut">
              <a:rPr lang="en-US" smtClean="0"/>
              <a:pPr/>
              <a:t>22/10/2015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723900"/>
            <a:ext cx="4826000" cy="3619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58" tIns="47229" rIns="94458" bIns="4722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705" y="4585454"/>
            <a:ext cx="5501640" cy="4344115"/>
          </a:xfrm>
          <a:prstGeom prst="rect">
            <a:avLst/>
          </a:prstGeom>
        </p:spPr>
        <p:txBody>
          <a:bodyPr vert="horz" lIns="94458" tIns="47229" rIns="94458" bIns="4722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69233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5404" y="9169233"/>
            <a:ext cx="2980055" cy="482679"/>
          </a:xfrm>
          <a:prstGeom prst="rect">
            <a:avLst/>
          </a:prstGeom>
        </p:spPr>
        <p:txBody>
          <a:bodyPr vert="horz" lIns="94458" tIns="47229" rIns="94458" bIns="47229" rtlCol="0" anchor="b"/>
          <a:lstStyle>
            <a:lvl1pPr algn="r">
              <a:defRPr sz="1200"/>
            </a:lvl1pPr>
          </a:lstStyle>
          <a:p>
            <a:fld id="{CB6AB2CB-556F-4B43-9A66-06741D834F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6AB2CB-556F-4B43-9A66-06741D834F2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85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6AB2CB-556F-4B43-9A66-06741D834F2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4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A2F8-FEE1-4038-942C-08D316C71EAA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64BB-F1D3-4AF9-8075-CE6758B5117E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4E30-96CF-42EC-B385-0AE77F920A98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7A105-3846-445D-A863-4C178E95FDF6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B411-F1C1-4592-8286-CB16BB19A838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144C-BACD-4D3D-AE81-5926017FAC58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9C1CF-55A4-44E4-90A6-093D49915D8A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5718-BA44-4F88-9684-D99030D9EDCB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DBE8-A9D6-46BB-B92C-74A9E9130D49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0B0D-31E6-4290-AE9A-B523E3E2D919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4552E-5AF3-4488-B53D-E5C447653CDA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45458-0A9D-4F57-94BE-98BB211002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/>
  </p:transition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E2A1-7EFF-4296-AB0B-352E2E78560A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15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EJD BELFORD\Documents\My Scans\scan000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533400"/>
            <a:ext cx="4800600" cy="55626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4800" y="601980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Plant body of an Angiosperm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953000" y="533400"/>
            <a:ext cx="41148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Each plant has an integrated group of </a:t>
            </a:r>
            <a:r>
              <a:rPr kumimoji="0" lang="en-US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organ systems</a:t>
            </a: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Every plant has: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kumimoji="0" lang="en-US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root system</a:t>
            </a: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; </a:t>
            </a: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comprises the whole of the root of a plant and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kumimoji="0" lang="en-US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shoot system</a:t>
            </a: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made up of two main organs:-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- the stem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- the leaves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</a:t>
            </a: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- (the flowers)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6477000" cy="1295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Seed Structure</a:t>
            </a:r>
          </a:p>
          <a:p>
            <a:pPr lvl="0">
              <a:buNone/>
            </a:pPr>
            <a:r>
              <a:rPr lang="en-US" sz="3600" b="1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b="1" u="sng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dicot</a:t>
            </a:r>
            <a:r>
              <a:rPr lang="en-US" sz="3600" b="1" u="sng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embryo</a:t>
            </a:r>
            <a:r>
              <a:rPr lang="en-US" sz="36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Tx/>
              <a:buNone/>
            </a:pPr>
            <a:endParaRPr lang="en-US" sz="3600" b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838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6" descr="http://www.odec.ca/projects/2003/mcleo3l/public_html/images/introd4.jpg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14600"/>
            <a:ext cx="4114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http://generalhorticulture.tamu.edu/HORT604/LectureSuppl/AnatomyOrgans/AnatomyOrgans05_files/image0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514600"/>
            <a:ext cx="4267200" cy="35052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6477000" cy="533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Seed Structure </a:t>
            </a:r>
            <a:r>
              <a:rPr lang="en-US" b="1" i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contd.</a:t>
            </a:r>
            <a:endParaRPr lang="en-US" sz="3600" b="1" i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838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400" y="1447800"/>
            <a:ext cx="4648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monocot embryo</a:t>
            </a:r>
            <a:r>
              <a: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:</a:t>
            </a:r>
            <a:r>
              <a:rPr kumimoji="0" lang="en-US" sz="3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  <p:pic>
        <p:nvPicPr>
          <p:cNvPr id="10" name="Picture 2" descr="C:\Users\EJD BELFORD\Pictures\seeds_14.jpg"/>
          <p:cNvPicPr>
            <a:picLocks noChangeAspect="1" noChangeArrowheads="1"/>
          </p:cNvPicPr>
          <p:nvPr/>
        </p:nvPicPr>
        <p:blipFill>
          <a:blip r:embed="rId2" cstate="print"/>
          <a:srcRect l="5531" t="6734" r="51482" b="52859"/>
          <a:stretch>
            <a:fillRect/>
          </a:stretch>
        </p:blipFill>
        <p:spPr bwMode="auto">
          <a:xfrm>
            <a:off x="2701365" y="2133600"/>
            <a:ext cx="4419599" cy="3886200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229600" cy="533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Seed Structure – Types of Seed Germination</a:t>
            </a:r>
            <a:endParaRPr lang="en-US" sz="3600" b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6858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EJD Belford\Saved Games\Pictures\Plant Mor &amp; Anat\germinationexamp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514600"/>
            <a:ext cx="7848600" cy="3886200"/>
          </a:xfrm>
          <a:prstGeom prst="rect">
            <a:avLst/>
          </a:prstGeom>
          <a:noFill/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52400" y="121920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spcAft>
                <a:spcPts val="1000"/>
              </a:spcAft>
            </a:pPr>
            <a:r>
              <a:rPr lang="en-GB" sz="2800" b="1" dirty="0" smtClean="0">
                <a:latin typeface="Times New Roman"/>
                <a:ea typeface="Calibri"/>
                <a:cs typeface="Times New Roman"/>
              </a:rPr>
              <a:t>There are two types of seed germination –</a:t>
            </a:r>
            <a:r>
              <a:rPr lang="en-GB" sz="2800" dirty="0" smtClean="0">
                <a:latin typeface="Times New Roman"/>
                <a:ea typeface="Calibri"/>
                <a:cs typeface="Times New Roman"/>
              </a:rPr>
              <a:t> </a:t>
            </a:r>
          </a:p>
          <a:p>
            <a:pPr algn="just">
              <a:spcAft>
                <a:spcPts val="1000"/>
              </a:spcAft>
            </a:pPr>
            <a:r>
              <a:rPr lang="en-GB" sz="2800" b="1" dirty="0" smtClean="0">
                <a:solidFill>
                  <a:srgbClr val="99330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Hypogeal germination</a:t>
            </a:r>
            <a:r>
              <a:rPr lang="en-GB" sz="28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		</a:t>
            </a:r>
            <a:r>
              <a:rPr lang="en-GB" sz="2800" b="1" dirty="0" smtClean="0">
                <a:solidFill>
                  <a:srgbClr val="00660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Epigeal germination</a:t>
            </a:r>
            <a:r>
              <a:rPr lang="en-US" sz="28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-7620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09600"/>
            <a:ext cx="8686800" cy="533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Seed Germination – The Root System</a:t>
            </a:r>
            <a:r>
              <a:rPr lang="en-US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b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6096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 b="17455"/>
          <a:stretch>
            <a:fillRect/>
          </a:stretch>
        </p:blipFill>
        <p:spPr>
          <a:xfrm>
            <a:off x="2971800" y="1295400"/>
            <a:ext cx="5486400" cy="5058295"/>
          </a:xfrm>
          <a:prstGeom prst="rect">
            <a:avLst/>
          </a:prstGeom>
          <a:noFill/>
        </p:spPr>
      </p:pic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28600" y="1219200"/>
            <a:ext cx="26670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36538" marR="0" lvl="0" indent="-23653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Tap root system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6477000" cy="533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Root System  </a:t>
            </a:r>
            <a:r>
              <a:rPr lang="en-US" b="1" i="1" u="sng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contd</a:t>
            </a:r>
            <a:r>
              <a:rPr lang="en-US" b="1" u="sng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3600" b="1" u="sng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838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76200" y="1676400"/>
            <a:ext cx="32004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36538" marR="0" lvl="0" indent="-23653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Branch roots, whether arising from root or stem, are </a:t>
            </a:r>
            <a:r>
              <a:rPr lang="en-US" sz="2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endogenous</a:t>
            </a: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> in origin – arise from  within the tissues.</a:t>
            </a:r>
            <a:r>
              <a:rPr kumimoji="0" lang="en-US" sz="2800" b="0" i="0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3" name="Picture 2" descr="C:\Users\EJD Belford\Saved Games\Pictures\Plant Mor &amp; Anat\rootsecondary.jpg"/>
          <p:cNvPicPr>
            <a:picLocks noChangeAspect="1" noChangeArrowheads="1"/>
          </p:cNvPicPr>
          <p:nvPr/>
        </p:nvPicPr>
        <p:blipFill>
          <a:blip r:embed="rId3" cstate="print"/>
          <a:srcRect l="6121" t="8321"/>
          <a:stretch>
            <a:fillRect/>
          </a:stretch>
        </p:blipFill>
        <p:spPr bwMode="auto">
          <a:xfrm>
            <a:off x="3352800" y="1752600"/>
            <a:ext cx="5715000" cy="4785128"/>
          </a:xfrm>
          <a:prstGeom prst="rect">
            <a:avLst/>
          </a:prstGeom>
          <a:noFill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7921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684212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04800" y="1219200"/>
            <a:ext cx="36576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36538" marR="0" lvl="0" indent="-23653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kumimoji="0" lang="en-US" sz="3200" b="1" i="0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ibrous</a:t>
            </a:r>
            <a:r>
              <a:rPr kumimoji="0" lang="en-US" sz="3200" b="1" i="0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root system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52400" y="685800"/>
            <a:ext cx="64770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Root System  </a:t>
            </a:r>
            <a:r>
              <a:rPr kumimoji="0" lang="en-US" sz="3200" b="1" i="1" u="sng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contd</a:t>
            </a:r>
            <a:r>
              <a:rPr kumimoji="0" 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kumimoji="0" lang="en-US" sz="3600" b="1" i="0" u="sng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5" name="Picture 14" descr="C:\Users\EJD BELFORD\Pictures\roottype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295400"/>
            <a:ext cx="3810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715962"/>
          </a:xfrm>
          <a:noFill/>
          <a:ln/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09600"/>
            <a:ext cx="6477000" cy="5334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u="sng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The Shoot System - Structure </a:t>
            </a:r>
            <a:endParaRPr lang="en-US" sz="3600" b="1" u="sng" dirty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F490-B505-43A0-86DF-3C52600C96DD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6096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 cstate="print"/>
          <a:srcRect l="8244"/>
          <a:stretch>
            <a:fillRect/>
          </a:stretch>
        </p:blipFill>
        <p:spPr bwMode="auto">
          <a:xfrm>
            <a:off x="3657600" y="1500094"/>
            <a:ext cx="4495800" cy="4672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52400" y="1219200"/>
            <a:ext cx="64770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Leaf - Structure 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1" grpId="0" build="p"/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609600"/>
          </a:xfrm>
          <a:noFill/>
          <a:ln/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EJD BELFORD\Documents\My Scans\scan000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9723" t="10611" r="5555" b="58883"/>
          <a:stretch>
            <a:fillRect/>
          </a:stretch>
        </p:blipFill>
        <p:spPr bwMode="auto">
          <a:xfrm>
            <a:off x="3429000" y="1066800"/>
            <a:ext cx="2819400" cy="26670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2" descr="C:\Users\EJD BELFORD\Documents\My Scans\scan0003.jpg"/>
          <p:cNvPicPr>
            <a:picLocks noChangeAspect="1" noChangeArrowheads="1"/>
          </p:cNvPicPr>
          <p:nvPr/>
        </p:nvPicPr>
        <p:blipFill>
          <a:blip r:embed="rId3" cstate="print"/>
          <a:srcRect l="7447" t="11528" r="51515" b="58211"/>
          <a:stretch>
            <a:fillRect/>
          </a:stretch>
        </p:blipFill>
        <p:spPr bwMode="auto">
          <a:xfrm>
            <a:off x="76200" y="1066800"/>
            <a:ext cx="3200400" cy="3657600"/>
          </a:xfrm>
          <a:prstGeom prst="rect">
            <a:avLst/>
          </a:prstGeom>
          <a:noFill/>
        </p:spPr>
      </p:pic>
      <p:pic>
        <p:nvPicPr>
          <p:cNvPr id="9" name="Picture 2" descr="C:\Users\EJD BELFORD\Documents\My Scans\scan0003.jpg"/>
          <p:cNvPicPr>
            <a:picLocks noChangeAspect="1" noChangeArrowheads="1"/>
          </p:cNvPicPr>
          <p:nvPr/>
        </p:nvPicPr>
        <p:blipFill>
          <a:blip r:embed="rId2" cstate="print"/>
          <a:srcRect l="50000" t="45606" r="4542" b="26705"/>
          <a:stretch>
            <a:fillRect/>
          </a:stretch>
        </p:blipFill>
        <p:spPr bwMode="auto">
          <a:xfrm>
            <a:off x="6324600" y="3810000"/>
            <a:ext cx="2743200" cy="2590800"/>
          </a:xfrm>
          <a:prstGeom prst="rect">
            <a:avLst/>
          </a:prstGeom>
          <a:noFill/>
        </p:spPr>
      </p:pic>
      <p:pic>
        <p:nvPicPr>
          <p:cNvPr id="10" name="Picture 2" descr="C:\Users\EJD BELFORD\Documents\My Scans\scan0003.jpg"/>
          <p:cNvPicPr>
            <a:picLocks noChangeAspect="1" noChangeArrowheads="1"/>
          </p:cNvPicPr>
          <p:nvPr/>
        </p:nvPicPr>
        <p:blipFill>
          <a:blip r:embed="rId2" cstate="print"/>
          <a:srcRect t="75763" r="60607"/>
          <a:stretch>
            <a:fillRect/>
          </a:stretch>
        </p:blipFill>
        <p:spPr bwMode="auto">
          <a:xfrm>
            <a:off x="3429000" y="3810000"/>
            <a:ext cx="2819400" cy="2590800"/>
          </a:xfrm>
          <a:prstGeom prst="rect">
            <a:avLst/>
          </a:prstGeom>
          <a:noFill/>
        </p:spPr>
      </p:pic>
      <p:pic>
        <p:nvPicPr>
          <p:cNvPr id="11" name="Picture 2" descr="C:\Users\EJD BELFORD\Documents\My Scans\scan0003.jpg"/>
          <p:cNvPicPr>
            <a:picLocks noChangeAspect="1" noChangeArrowheads="1"/>
          </p:cNvPicPr>
          <p:nvPr/>
        </p:nvPicPr>
        <p:blipFill>
          <a:blip r:embed="rId2" cstate="print"/>
          <a:srcRect l="57576" t="76374" r="13634" b="570"/>
          <a:stretch>
            <a:fillRect/>
          </a:stretch>
        </p:blipFill>
        <p:spPr bwMode="auto">
          <a:xfrm>
            <a:off x="6324600" y="1066800"/>
            <a:ext cx="2743200" cy="2667000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>
          <a:xfrm>
            <a:off x="304800" y="5334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" y="53340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Leaf types - </a:t>
            </a:r>
            <a:r>
              <a:rPr lang="en-US" sz="2800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Simple leaves</a:t>
            </a:r>
            <a:endParaRPr lang="en-US" sz="2800" b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" y="47244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Simple Leaf: Entire margin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2800" y="34406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Bilobed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48400" y="62600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Digitately lobed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52800" y="61838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Palmately lobed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48400" y="34406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Pinnately lobed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609600"/>
          </a:xfrm>
          <a:noFill/>
          <a:ln/>
        </p:spPr>
        <p:txBody>
          <a:bodyPr>
            <a:normAutofit/>
          </a:bodyPr>
          <a:lstStyle/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2" descr="C:\Users\EJD BELFORD\Documents\My Scans\scan000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9614" r="51315" b="52725"/>
          <a:stretch>
            <a:fillRect/>
          </a:stretch>
        </p:blipFill>
        <p:spPr bwMode="auto">
          <a:xfrm>
            <a:off x="152400" y="990600"/>
            <a:ext cx="2833117" cy="25146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EJDB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04800" y="531812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" y="5334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Leaf types - </a:t>
            </a:r>
            <a:r>
              <a:rPr lang="en-US" sz="2400" b="1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Compound Leaves</a:t>
            </a:r>
            <a:endParaRPr lang="en-US" sz="2400" b="1" u="sng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C:\Users\EJD BELFORD\Documents\My Scans\scan0001.jpg"/>
          <p:cNvPicPr>
            <a:picLocks noChangeAspect="1" noChangeArrowheads="1"/>
          </p:cNvPicPr>
          <p:nvPr/>
        </p:nvPicPr>
        <p:blipFill>
          <a:blip r:embed="rId3" cstate="print"/>
          <a:srcRect l="52690" t="11150" b="57601"/>
          <a:stretch>
            <a:fillRect/>
          </a:stretch>
        </p:blipFill>
        <p:spPr bwMode="auto">
          <a:xfrm>
            <a:off x="152400" y="3657600"/>
            <a:ext cx="2819400" cy="2743200"/>
          </a:xfrm>
          <a:prstGeom prst="rect">
            <a:avLst/>
          </a:prstGeom>
          <a:noFill/>
        </p:spPr>
      </p:pic>
      <p:pic>
        <p:nvPicPr>
          <p:cNvPr id="13" name="Picture 2" descr="C:\Users\EJD BELFORD\Documents\My Scans\scan0001.jpg"/>
          <p:cNvPicPr>
            <a:picLocks noChangeAspect="1" noChangeArrowheads="1"/>
          </p:cNvPicPr>
          <p:nvPr/>
        </p:nvPicPr>
        <p:blipFill>
          <a:blip r:embed="rId3" cstate="print"/>
          <a:srcRect t="50195" b="3469"/>
          <a:stretch>
            <a:fillRect/>
          </a:stretch>
        </p:blipFill>
        <p:spPr bwMode="auto">
          <a:xfrm>
            <a:off x="3200400" y="1371600"/>
            <a:ext cx="5867400" cy="464820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76200" y="336446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Trifoliolate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" y="618386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Paripinnate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24200" y="45836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Imparipinnate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91400" y="38100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Bipinnate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8200" y="57150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Digitate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4" grpId="0"/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533400"/>
          </a:xfrm>
          <a:noFill/>
          <a:ln/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 descr="C:\Users\EJD BELFORD\Documents\My Scans\scan0005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t="5450" r="48000" b="61713"/>
          <a:stretch>
            <a:fillRect/>
          </a:stretch>
        </p:blipFill>
        <p:spPr bwMode="auto">
          <a:xfrm>
            <a:off x="6172200" y="1066800"/>
            <a:ext cx="2743200" cy="2773363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04800" y="4572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52400" y="457200"/>
            <a:ext cx="86106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Leaf position or arrangement</a:t>
            </a:r>
            <a:endParaRPr kumimoji="0" lang="en-US" sz="2700" b="1" i="0" u="sng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0" y="914400"/>
            <a:ext cx="5867400" cy="556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Phyllotaxy</a:t>
            </a:r>
            <a:r>
              <a:rPr kumimoji="0" lang="en-US" sz="2800" b="1" i="0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is the arrangement of leaves on the stem or branch</a:t>
            </a:r>
            <a:r>
              <a:rPr kumimoji="0" lang="en-US" sz="2800" b="1" i="0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kumimoji="0" lang="en-US" sz="2800" b="1" i="0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4163" indent="-284163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Leaves are said to be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alternate</a:t>
            </a: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when there is one leaf at each node arranged singly and at different levels on either side of the stem of a plant or </a:t>
            </a:r>
          </a:p>
          <a:p>
            <a:pPr marL="284163" indent="-284163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more commonly arranged in a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spiral</a:t>
            </a:r>
            <a:r>
              <a:rPr lang="en-US" sz="2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around the stem, e.g. </a:t>
            </a:r>
            <a:r>
              <a:rPr lang="en-US" sz="28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Hibiscus </a:t>
            </a:r>
            <a:r>
              <a:rPr lang="en-US" sz="28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rosa-sinensis</a:t>
            </a:r>
            <a:r>
              <a:rPr lang="en-US" sz="2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Helianthus </a:t>
            </a:r>
            <a:r>
              <a:rPr lang="en-US" sz="2800" b="1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annuus</a:t>
            </a:r>
            <a:r>
              <a:rPr lang="en-US" sz="28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800" b="1" i="0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3" name="Picture 2" descr="C:\Users\EJD BELFORD\Documents\My Scans\scan0005.jpg"/>
          <p:cNvPicPr>
            <a:picLocks noChangeAspect="1" noChangeArrowheads="1"/>
          </p:cNvPicPr>
          <p:nvPr/>
        </p:nvPicPr>
        <p:blipFill>
          <a:blip r:embed="rId3" cstate="print"/>
          <a:srcRect l="50000" t="5450" b="61713"/>
          <a:stretch>
            <a:fillRect/>
          </a:stretch>
        </p:blipFill>
        <p:spPr bwMode="auto">
          <a:xfrm>
            <a:off x="6172200" y="3962400"/>
            <a:ext cx="2743200" cy="2468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763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build="p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686800" cy="609600"/>
          </a:xfrm>
          <a:noFill/>
          <a:ln/>
        </p:spPr>
        <p:txBody>
          <a:bodyPr>
            <a:normAutofit/>
          </a:bodyPr>
          <a:lstStyle/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Functional Morphology of Angiosperms </a:t>
            </a:r>
            <a:r>
              <a:rPr lang="en-US" sz="3000" b="1" i="1" dirty="0" smtClean="0">
                <a:latin typeface="Times New Roman" pitchFamily="18" charset="0"/>
                <a:cs typeface="Times New Roman" pitchFamily="18" charset="0"/>
              </a:rPr>
              <a:t>cont’d</a:t>
            </a:r>
            <a:endParaRPr lang="en-US" sz="30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2" descr="C:\Users\EJD BELFORD\Documents\My Scans\scan0005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t="72211" r="56685"/>
          <a:stretch>
            <a:fillRect/>
          </a:stretch>
        </p:blipFill>
        <p:spPr bwMode="auto">
          <a:xfrm>
            <a:off x="5423955" y="1066800"/>
            <a:ext cx="3567645" cy="3154363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F1BC-3FD5-4B01-9DBA-3513477AB26C}" type="datetime2">
              <a:rPr lang="en-GB" smtClean="0"/>
              <a:pPr/>
              <a:t>Thursday, 22 October 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EJDB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458-0A9D-4F57-94BE-98BB2110028D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04800" y="533400"/>
            <a:ext cx="84582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0" y="533400"/>
            <a:ext cx="86106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Leaf position or arrangement </a:t>
            </a:r>
            <a:r>
              <a:rPr kumimoji="0" lang="en-US" sz="2800" b="1" i="1" u="sng" strike="noStrike" kern="1200" cap="none" spc="0" normalizeH="0" baseline="0" noProof="0" dirty="0" err="1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cont,d</a:t>
            </a:r>
            <a:endParaRPr kumimoji="0" lang="en-US" sz="2800" b="1" i="1" u="sng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76200" y="990600"/>
            <a:ext cx="52578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4163" indent="-284163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Leaves are said to be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whorled</a:t>
            </a: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when three or more are attached at each node, e.g. 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Nerium oleander</a:t>
            </a: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Alstonia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boonei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Allamanda</a:t>
            </a:r>
            <a:r>
              <a:rPr lang="en-US" sz="24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cathartica</a:t>
            </a: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400" b="1" i="0" strike="noStrike" kern="120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4163" indent="-284163" algn="just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Leaves are said to be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rosette</a:t>
            </a: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when they appear as a cluster at the same node at the base of the stem, e.g. </a:t>
            </a:r>
            <a:r>
              <a:rPr lang="en-US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Acalypha</a:t>
            </a: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Begonia, </a:t>
            </a: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Dandelion, </a:t>
            </a:r>
            <a:r>
              <a:rPr lang="en-US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Agave, </a:t>
            </a: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lettuce (</a:t>
            </a:r>
            <a:r>
              <a:rPr lang="en-US" sz="2400" b="1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Lactuca sativa</a:t>
            </a:r>
            <a:r>
              <a:rPr lang="en-US" sz="24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 cstate="print"/>
          <a:srcRect l="58036" b="14143"/>
          <a:stretch>
            <a:fillRect/>
          </a:stretch>
        </p:blipFill>
        <p:spPr>
          <a:xfrm>
            <a:off x="5410200" y="4267200"/>
            <a:ext cx="3581400" cy="2133600"/>
          </a:xfrm>
          <a:prstGeom prst="rect">
            <a:avLst/>
          </a:prstGeom>
          <a:noFill/>
        </p:spPr>
      </p:pic>
      <p:pic>
        <p:nvPicPr>
          <p:cNvPr id="15" name="Picture 3" descr="C:\Users\EJD BELFORD\Pictures\crastab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4648201"/>
            <a:ext cx="1600199" cy="1752600"/>
          </a:xfrm>
          <a:prstGeom prst="rect">
            <a:avLst/>
          </a:prstGeom>
          <a:noFill/>
        </p:spPr>
      </p:pic>
      <p:pic>
        <p:nvPicPr>
          <p:cNvPr id="16" name="Picture 4" descr="C:\Users\EJD BELFORD\Pictures\180px-Dandilion_plant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81200" y="4648200"/>
            <a:ext cx="1600200" cy="1752600"/>
          </a:xfrm>
          <a:prstGeom prst="rect">
            <a:avLst/>
          </a:prstGeom>
          <a:noFill/>
        </p:spPr>
      </p:pic>
      <p:pic>
        <p:nvPicPr>
          <p:cNvPr id="17" name="Picture 6" descr="C:\Users\EJD BELFORD\Pictures\450px-Agave_americana4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57600" y="4648200"/>
            <a:ext cx="1606378" cy="172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24222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build="p"/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12065</TotalTime>
  <Words>383</Words>
  <Application>Microsoft Office PowerPoint</Application>
  <PresentationFormat>On-screen Show (4:3)</PresentationFormat>
  <Paragraphs>98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  <vt:lpstr>Functional Morphology of Angiosperms cont’d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 155: Plant Morphology and Anatomy</dc:title>
  <dc:creator>EJD BELFORD</dc:creator>
  <cp:lastModifiedBy>Ebenezer Belford</cp:lastModifiedBy>
  <cp:revision>1023</cp:revision>
  <cp:lastPrinted>2015-10-22T13:25:58Z</cp:lastPrinted>
  <dcterms:created xsi:type="dcterms:W3CDTF">2009-08-17T12:15:52Z</dcterms:created>
  <dcterms:modified xsi:type="dcterms:W3CDTF">2015-10-22T13:27:49Z</dcterms:modified>
</cp:coreProperties>
</file>