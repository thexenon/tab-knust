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8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66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54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36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79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94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8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68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15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15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33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7685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579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0520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344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313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37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FCD3F-008B-405F-B856-4268CBF63F7B}" type="datetimeFigureOut">
              <a:rPr lang="en-GB" smtClean="0"/>
              <a:t>26/01/2021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94DB080-56E9-491B-901F-316E075F9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42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50000"/>
                <a:lumOff val="5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AE6335-672B-40F7-8130-91904C37D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PUNCTUATION MARKS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E5FC9A4-7929-453D-B835-E9B987CC38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GB" sz="3600" i="1" dirty="0"/>
              <a:t>Presented by </a:t>
            </a:r>
          </a:p>
          <a:p>
            <a:r>
              <a:rPr lang="en-GB" sz="3600" i="1" dirty="0" smtClean="0"/>
              <a:t>KASIM HAMDAN</a:t>
            </a:r>
            <a:endParaRPr lang="en-GB" sz="3600" i="1" dirty="0"/>
          </a:p>
        </p:txBody>
      </p:sp>
    </p:spTree>
    <p:extLst>
      <p:ext uri="{BB962C8B-B14F-4D97-AF65-F5344CB8AC3E}">
        <p14:creationId xmlns:p14="http://schemas.microsoft.com/office/powerpoint/2010/main" val="279844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ED7472-A9AB-4E36-8325-6C9D17666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930" y="936321"/>
            <a:ext cx="8534400" cy="3615267"/>
          </a:xfrm>
        </p:spPr>
        <p:txBody>
          <a:bodyPr>
            <a:noAutofit/>
          </a:bodyPr>
          <a:lstStyle/>
          <a:p>
            <a:r>
              <a:rPr lang="en-GB" sz="3200" dirty="0"/>
              <a:t>The punctuation marks in English include the period or full stop(.), the comma(,), the semicolon(;), the colon(:), the question mark (?), the exclamation mark (!), the quotation marks – double or single (‘’ ‘’ or ‘ ‘), the apostrophe (‘), the dash (-), the parentheses or brackets [ ] or () and ellipsis (…). Most of these marks have highly specialised functions, and once these are understood, it is easy to use them conventionally.</a:t>
            </a:r>
          </a:p>
        </p:txBody>
      </p:sp>
    </p:spTree>
    <p:extLst>
      <p:ext uri="{BB962C8B-B14F-4D97-AF65-F5344CB8AC3E}">
        <p14:creationId xmlns:p14="http://schemas.microsoft.com/office/powerpoint/2010/main" val="420683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9232D-508E-4BD6-A770-5D2C090C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The Period or Full Stop (.)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AB8361-F8D1-4A19-B3D2-A66C9BE99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171" y="1582455"/>
            <a:ext cx="8915400" cy="3777622"/>
          </a:xfrm>
        </p:spPr>
        <p:txBody>
          <a:bodyPr>
            <a:normAutofit fontScale="92500" lnSpcReduction="10000"/>
          </a:bodyPr>
          <a:lstStyle/>
          <a:p>
            <a:r>
              <a:rPr lang="en-GB" sz="4400" dirty="0"/>
              <a:t>The full stop is used to mark the end of a declarative sentence. Unless a sentence is intended as a question, a command or an exclamation, it is declarative and is closed with a period.</a:t>
            </a:r>
          </a:p>
        </p:txBody>
      </p:sp>
    </p:spTree>
    <p:extLst>
      <p:ext uri="{BB962C8B-B14F-4D97-AF65-F5344CB8AC3E}">
        <p14:creationId xmlns:p14="http://schemas.microsoft.com/office/powerpoint/2010/main" val="56309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588B3D-D3B9-4254-BB50-816F1FEE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3F366A-C8B2-4A0A-B798-2A03F7AA4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333" y="1795397"/>
            <a:ext cx="8915400" cy="377762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4800" dirty="0"/>
              <a:t>I am a student.</a:t>
            </a:r>
          </a:p>
          <a:p>
            <a:pPr marL="514350" indent="-514350">
              <a:buAutoNum type="arabicPeriod"/>
            </a:pPr>
            <a:r>
              <a:rPr lang="en-GB" sz="4800" dirty="0"/>
              <a:t>I need a pen.</a:t>
            </a:r>
          </a:p>
          <a:p>
            <a:pPr marL="514350" indent="-514350">
              <a:buAutoNum type="arabicPeriod"/>
            </a:pPr>
            <a:r>
              <a:rPr lang="en-GB" sz="4800" dirty="0"/>
              <a:t>Today is Sunday.</a:t>
            </a:r>
          </a:p>
        </p:txBody>
      </p:sp>
    </p:spTree>
    <p:extLst>
      <p:ext uri="{BB962C8B-B14F-4D97-AF65-F5344CB8AC3E}">
        <p14:creationId xmlns:p14="http://schemas.microsoft.com/office/powerpoint/2010/main" val="50374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0EAC69-316A-41B8-A3A6-ECE533974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It is used to mark accepted abbreviations. These </a:t>
            </a:r>
            <a:r>
              <a:rPr lang="en-GB" sz="5400" dirty="0" smtClean="0"/>
              <a:t>include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12893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C1B8B8-763F-4616-AAA8-4B385D5C9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4400" dirty="0"/>
              <a:t>Titles : Col. </a:t>
            </a:r>
            <a:r>
              <a:rPr lang="en-GB" sz="4400" dirty="0" err="1"/>
              <a:t>Dr.</a:t>
            </a:r>
            <a:r>
              <a:rPr lang="en-GB" sz="4400" dirty="0"/>
              <a:t> Hon. Rev.</a:t>
            </a:r>
          </a:p>
          <a:p>
            <a:r>
              <a:rPr lang="en-GB" sz="4400" dirty="0"/>
              <a:t>Degrees : B.A.  B.Sc. M.D. Ph.D.</a:t>
            </a:r>
          </a:p>
          <a:p>
            <a:r>
              <a:rPr lang="en-GB" sz="4400" dirty="0"/>
              <a:t>Names: John K. Abugri, Daniel O. Mensah</a:t>
            </a:r>
          </a:p>
          <a:p>
            <a:r>
              <a:rPr lang="en-GB" sz="4400" dirty="0"/>
              <a:t>Miscellaneous: Ave. St. Vol. U.S.A. B.C. A.D.</a:t>
            </a:r>
          </a:p>
          <a:p>
            <a:r>
              <a:rPr lang="en-GB" sz="4400" dirty="0"/>
              <a:t>Hours and minutes represented in figures : 2.30 p.m.</a:t>
            </a:r>
          </a:p>
        </p:txBody>
      </p:sp>
    </p:spTree>
    <p:extLst>
      <p:ext uri="{BB962C8B-B14F-4D97-AF65-F5344CB8AC3E}">
        <p14:creationId xmlns:p14="http://schemas.microsoft.com/office/powerpoint/2010/main" val="253446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70BA8D-BFE2-4B24-A5F9-2FF0C6215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388" y="548954"/>
            <a:ext cx="5248369" cy="1280890"/>
          </a:xfrm>
        </p:spPr>
        <p:txBody>
          <a:bodyPr/>
          <a:lstStyle/>
          <a:p>
            <a:r>
              <a:rPr lang="en-GB" b="1" i="1" u="sng" dirty="0"/>
              <a:t>The Comma (,)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B1C8C0-C527-4F93-A0F2-BF2A65871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442" y="1544876"/>
            <a:ext cx="8915400" cy="3777622"/>
          </a:xfrm>
        </p:spPr>
        <p:txBody>
          <a:bodyPr>
            <a:noAutofit/>
          </a:bodyPr>
          <a:lstStyle/>
          <a:p>
            <a:r>
              <a:rPr lang="en-GB" sz="3200" dirty="0"/>
              <a:t>The comma is used to separate elements which might otherwise seem to run together. </a:t>
            </a:r>
          </a:p>
          <a:p>
            <a:pPr marL="514350" indent="-514350">
              <a:buAutoNum type="alphaLcPeriod"/>
            </a:pPr>
            <a:r>
              <a:rPr lang="en-GB" sz="3200" dirty="0"/>
              <a:t>To prevent a confused or ambiguous sentence or construction</a:t>
            </a:r>
          </a:p>
          <a:p>
            <a:pPr marL="514350" indent="-514350">
              <a:buAutoNum type="arabicPeriod"/>
            </a:pPr>
            <a:r>
              <a:rPr lang="en-GB" sz="3200" dirty="0"/>
              <a:t>Mr Amoako our lecturer has travelled.</a:t>
            </a:r>
          </a:p>
          <a:p>
            <a:pPr marL="514350" indent="-514350">
              <a:buAutoNum type="arabicPeriod"/>
            </a:pPr>
            <a:r>
              <a:rPr lang="en-GB" sz="3200" dirty="0"/>
              <a:t>Mr Amoako , our lecturer has travelled.</a:t>
            </a:r>
          </a:p>
          <a:p>
            <a:pPr marL="514350" indent="-514350">
              <a:buAutoNum type="arabicPeriod"/>
            </a:pPr>
            <a:r>
              <a:rPr lang="en-GB" sz="3200" dirty="0"/>
              <a:t>Mr Amoako, our lecturer, has travelled</a:t>
            </a:r>
          </a:p>
        </p:txBody>
      </p:sp>
    </p:spTree>
    <p:extLst>
      <p:ext uri="{BB962C8B-B14F-4D97-AF65-F5344CB8AC3E}">
        <p14:creationId xmlns:p14="http://schemas.microsoft.com/office/powerpoint/2010/main" val="44988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DB04A4-9FEE-4C1B-954A-1A15C79B1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2911" y="880997"/>
            <a:ext cx="8915400" cy="3777622"/>
          </a:xfrm>
        </p:spPr>
        <p:txBody>
          <a:bodyPr>
            <a:noAutofit/>
          </a:bodyPr>
          <a:lstStyle/>
          <a:p>
            <a:r>
              <a:rPr lang="en-GB" sz="3600" dirty="0"/>
              <a:t>To separate two main clauses joined by a coordinating conjunction</a:t>
            </a:r>
          </a:p>
          <a:p>
            <a:pPr marL="0" indent="0">
              <a:buNone/>
            </a:pPr>
            <a:r>
              <a:rPr lang="en-GB" sz="3600" dirty="0"/>
              <a:t>The coordinating conjunctions are and, or, nor and but. This use of the comma is a style in American English.</a:t>
            </a:r>
          </a:p>
          <a:p>
            <a:pPr marL="514350" indent="-514350">
              <a:buAutoNum type="arabicPeriod"/>
            </a:pPr>
            <a:r>
              <a:rPr lang="en-GB" sz="3600" dirty="0"/>
              <a:t>The minister advised them, and afterward gave them presents.</a:t>
            </a:r>
          </a:p>
          <a:p>
            <a:pPr marL="514350" indent="-514350">
              <a:buAutoNum type="arabicPeriod"/>
            </a:pPr>
            <a:r>
              <a:rPr lang="en-GB" sz="3600" dirty="0"/>
              <a:t>He works very hard, but he was selected for promotion. </a:t>
            </a:r>
          </a:p>
        </p:txBody>
      </p:sp>
    </p:spTree>
    <p:extLst>
      <p:ext uri="{BB962C8B-B14F-4D97-AF65-F5344CB8AC3E}">
        <p14:creationId xmlns:p14="http://schemas.microsoft.com/office/powerpoint/2010/main" val="142952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1919A1-63EA-477F-8D55-821F81597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5400" dirty="0"/>
              <a:t>To separate elements in a series </a:t>
            </a:r>
          </a:p>
          <a:p>
            <a:pPr marL="514350" indent="-514350">
              <a:buAutoNum type="arabicPeriod"/>
            </a:pPr>
            <a:r>
              <a:rPr lang="en-GB" sz="5400" dirty="0" err="1"/>
              <a:t>Esi</a:t>
            </a:r>
            <a:r>
              <a:rPr lang="en-GB" sz="5400" dirty="0"/>
              <a:t> bought tomatoes, pepper and onions.</a:t>
            </a:r>
          </a:p>
          <a:p>
            <a:pPr marL="514350" indent="-514350">
              <a:buAutoNum type="arabicPeriod"/>
            </a:pPr>
            <a:r>
              <a:rPr lang="en-GB" sz="5400" dirty="0"/>
              <a:t>Reading, swimming and dancing are my favourite recreations.</a:t>
            </a:r>
          </a:p>
        </p:txBody>
      </p:sp>
    </p:spTree>
    <p:extLst>
      <p:ext uri="{BB962C8B-B14F-4D97-AF65-F5344CB8AC3E}">
        <p14:creationId xmlns:p14="http://schemas.microsoft.com/office/powerpoint/2010/main" val="137651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6609E7-4646-4A41-98C3-D6B6C3115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4400" dirty="0"/>
              <a:t>To separate contrasted elements in a this, not that construction</a:t>
            </a:r>
          </a:p>
          <a:p>
            <a:pPr marL="514350" indent="-514350">
              <a:buAutoNum type="arabicPeriod"/>
            </a:pPr>
            <a:r>
              <a:rPr lang="en-GB" sz="4400" dirty="0"/>
              <a:t>He is a student, not a lecturer.</a:t>
            </a:r>
          </a:p>
          <a:p>
            <a:pPr marL="514350" indent="-514350">
              <a:buAutoNum type="arabicPeriod"/>
            </a:pPr>
            <a:r>
              <a:rPr lang="en-GB" sz="4400" dirty="0"/>
              <a:t>We are disgusted, not angry.</a:t>
            </a:r>
          </a:p>
          <a:p>
            <a:pPr marL="514350" indent="-514350">
              <a:buAutoNum type="arabicPeriod"/>
            </a:pPr>
            <a:r>
              <a:rPr lang="en-GB" sz="4400" dirty="0"/>
              <a:t>It is a computer, not a television.</a:t>
            </a:r>
          </a:p>
        </p:txBody>
      </p:sp>
    </p:spTree>
    <p:extLst>
      <p:ext uri="{BB962C8B-B14F-4D97-AF65-F5344CB8AC3E}">
        <p14:creationId xmlns:p14="http://schemas.microsoft.com/office/powerpoint/2010/main" val="2394187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7EE3A6-C6E9-4BC2-9F21-7B9539603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4400" dirty="0"/>
              <a:t>To separated a direct quotation from such constructions as he said, she answered, we replied, etc.</a:t>
            </a:r>
          </a:p>
          <a:p>
            <a:pPr marL="514350" indent="-514350">
              <a:buAutoNum type="arabicPeriod"/>
            </a:pPr>
            <a:r>
              <a:rPr lang="en-GB" sz="4400" dirty="0"/>
              <a:t>‘’I am hungry’’, she said.</a:t>
            </a:r>
          </a:p>
          <a:p>
            <a:pPr marL="514350" indent="-514350">
              <a:buAutoNum type="arabicPeriod"/>
            </a:pPr>
            <a:r>
              <a:rPr lang="en-GB" sz="4400" dirty="0"/>
              <a:t>‘’This’’, he said, ‘’is your last chance.’’</a:t>
            </a:r>
          </a:p>
          <a:p>
            <a:pPr marL="514350" indent="-514350">
              <a:buAutoNum type="arabicPeriod"/>
            </a:pPr>
            <a:r>
              <a:rPr lang="en-GB" sz="4400" dirty="0"/>
              <a:t>Jesus advised, ‘’Pray without ceasing.’’</a:t>
            </a:r>
          </a:p>
        </p:txBody>
      </p:sp>
    </p:spTree>
    <p:extLst>
      <p:ext uri="{BB962C8B-B14F-4D97-AF65-F5344CB8AC3E}">
        <p14:creationId xmlns:p14="http://schemas.microsoft.com/office/powerpoint/2010/main" val="311926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E6D614-A97A-452E-8466-99BE60724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To separated elements in dates, addresses and names of places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4000" dirty="0"/>
              <a:t>Dates – May 23, 1950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4000" dirty="0"/>
              <a:t>Addresses – 123 </a:t>
            </a:r>
            <a:r>
              <a:rPr lang="en-GB" sz="4000" dirty="0" err="1"/>
              <a:t>Bomso</a:t>
            </a:r>
            <a:r>
              <a:rPr lang="en-GB" sz="4000" dirty="0"/>
              <a:t> Street, Kumasi, Ghana</a:t>
            </a:r>
          </a:p>
        </p:txBody>
      </p:sp>
    </p:spTree>
    <p:extLst>
      <p:ext uri="{BB962C8B-B14F-4D97-AF65-F5344CB8AC3E}">
        <p14:creationId xmlns:p14="http://schemas.microsoft.com/office/powerpoint/2010/main" val="110338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98CE8F-7086-4FA3-95AE-69A20D1C5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0905" y="1682663"/>
            <a:ext cx="8915400" cy="3777622"/>
          </a:xfrm>
        </p:spPr>
        <p:txBody>
          <a:bodyPr>
            <a:normAutofit fontScale="77500" lnSpcReduction="20000"/>
          </a:bodyPr>
          <a:lstStyle/>
          <a:p>
            <a:r>
              <a:rPr lang="en-GB" sz="3600" dirty="0"/>
              <a:t>Commas are used to set off interrupting constructions. Interrupting constructions disrupt the flow of sentences</a:t>
            </a:r>
            <a:r>
              <a:rPr lang="en-GB" sz="3600" dirty="0" smtClean="0"/>
              <a:t>.</a:t>
            </a:r>
          </a:p>
          <a:p>
            <a:pPr marL="0" indent="0">
              <a:buNone/>
            </a:pPr>
            <a:endParaRPr lang="en-GB" sz="3600" dirty="0"/>
          </a:p>
          <a:p>
            <a:pPr marL="514350" indent="-514350">
              <a:buAutoNum type="alphaLcPeriod"/>
            </a:pPr>
            <a:r>
              <a:rPr lang="en-GB" sz="3800" b="1" u="sng" dirty="0"/>
              <a:t>Appositives</a:t>
            </a:r>
          </a:p>
          <a:p>
            <a:pPr marL="514350" indent="-514350">
              <a:buAutoNum type="arabicPeriod"/>
            </a:pPr>
            <a:r>
              <a:rPr lang="en-GB" sz="3600" dirty="0"/>
              <a:t>Mr Amoako, a senior lecturer,  has been awarded</a:t>
            </a:r>
          </a:p>
          <a:p>
            <a:pPr marL="514350" indent="-514350">
              <a:buAutoNum type="arabicPeriod"/>
            </a:pPr>
            <a:r>
              <a:rPr lang="en-GB" sz="3600" dirty="0"/>
              <a:t>Nelson Mandela, the former president of South Africa, died sometime ago.</a:t>
            </a:r>
          </a:p>
        </p:txBody>
      </p:sp>
    </p:spTree>
    <p:extLst>
      <p:ext uri="{BB962C8B-B14F-4D97-AF65-F5344CB8AC3E}">
        <p14:creationId xmlns:p14="http://schemas.microsoft.com/office/powerpoint/2010/main" val="2660549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01B5A2-2DD0-47D3-AA77-0048FE1E9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b="1" dirty="0" smtClean="0">
                <a:solidFill>
                  <a:schemeClr val="accent1">
                    <a:lumMod val="75000"/>
                  </a:schemeClr>
                </a:solidFill>
              </a:rPr>
              <a:t>b. </a:t>
            </a:r>
            <a:r>
              <a:rPr lang="en-GB" sz="3600" b="1" u="sng" dirty="0" smtClean="0"/>
              <a:t>Nouns </a:t>
            </a:r>
            <a:r>
              <a:rPr lang="en-GB" sz="3600" b="1" u="sng" dirty="0"/>
              <a:t>of address or vocatives </a:t>
            </a:r>
          </a:p>
          <a:p>
            <a:pPr marL="514350" indent="-514350">
              <a:buAutoNum type="arabicPeriod"/>
            </a:pPr>
            <a:r>
              <a:rPr lang="en-GB" sz="4800" dirty="0"/>
              <a:t>Sir, I’d like to ask a question.</a:t>
            </a:r>
          </a:p>
          <a:p>
            <a:pPr marL="514350" indent="-514350">
              <a:buAutoNum type="arabicPeriod"/>
            </a:pPr>
            <a:r>
              <a:rPr lang="en-GB" sz="4800" dirty="0"/>
              <a:t>Madam, I don’t understand it.</a:t>
            </a:r>
          </a:p>
          <a:p>
            <a:pPr marL="514350" indent="-514350">
              <a:buAutoNum type="arabicPeriod"/>
            </a:pPr>
            <a:r>
              <a:rPr lang="en-GB" sz="4800" dirty="0"/>
              <a:t>I am very hungry, Mum.</a:t>
            </a:r>
          </a:p>
        </p:txBody>
      </p:sp>
    </p:spTree>
    <p:extLst>
      <p:ext uri="{BB962C8B-B14F-4D97-AF65-F5344CB8AC3E}">
        <p14:creationId xmlns:p14="http://schemas.microsoft.com/office/powerpoint/2010/main" val="290863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E5F058-842E-4087-B831-5E550843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962" y="1256778"/>
            <a:ext cx="9788546" cy="37776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900" b="1" dirty="0">
                <a:solidFill>
                  <a:schemeClr val="accent1">
                    <a:lumMod val="75000"/>
                  </a:schemeClr>
                </a:solidFill>
              </a:rPr>
              <a:t>c. </a:t>
            </a:r>
            <a:r>
              <a:rPr lang="en-GB" sz="3900" b="1" u="sng" dirty="0"/>
              <a:t>Conjunctive adverbs and other transitional markers.</a:t>
            </a:r>
          </a:p>
          <a:p>
            <a:pPr marL="514350" indent="-514350">
              <a:buAutoNum type="arabicPeriod"/>
            </a:pPr>
            <a:r>
              <a:rPr lang="en-GB" sz="4400" dirty="0"/>
              <a:t>We thought, moreover, that we could get away with it.</a:t>
            </a:r>
          </a:p>
          <a:p>
            <a:pPr marL="514350" indent="-514350">
              <a:buAutoNum type="arabicPeriod"/>
            </a:pPr>
            <a:r>
              <a:rPr lang="en-GB" sz="4400" dirty="0"/>
              <a:t>You must try, first of all, to forgive him.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6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A6D2E7-053D-4332-A453-E70DB6897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489" y="1344461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500" b="1" dirty="0">
                <a:solidFill>
                  <a:schemeClr val="accent1">
                    <a:lumMod val="75000"/>
                  </a:schemeClr>
                </a:solidFill>
              </a:rPr>
              <a:t>d. </a:t>
            </a:r>
            <a:r>
              <a:rPr lang="en-GB" sz="3500" b="1" u="sng" dirty="0"/>
              <a:t>Non- restrictive modifiers or clauses (unessential modifications)</a:t>
            </a:r>
          </a:p>
          <a:p>
            <a:pPr marL="514350" indent="-514350">
              <a:buAutoNum type="arabicPeriod"/>
            </a:pPr>
            <a:r>
              <a:rPr lang="en-GB" sz="4400" dirty="0"/>
              <a:t>The sun, which gives us light during the day, is very bright.</a:t>
            </a:r>
          </a:p>
          <a:p>
            <a:pPr marL="514350" indent="-514350">
              <a:buAutoNum type="arabicPeriod"/>
            </a:pPr>
            <a:r>
              <a:rPr lang="en-GB" sz="4400" dirty="0"/>
              <a:t>Christians, who are followers of Christ, must live exemplary lives.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8657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D6CBB7-B1B4-43CE-A832-8A8E817D7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sz="4400" dirty="0"/>
              <a:t>Long introductory phrases or an adverbial clauses.</a:t>
            </a:r>
          </a:p>
          <a:p>
            <a:pPr marL="514350" indent="-514350">
              <a:buAutoNum type="arabicPeriod"/>
            </a:pPr>
            <a:r>
              <a:rPr lang="en-GB" sz="4400" dirty="0"/>
              <a:t>Having been presented with the cheque, he thanked the organisers.</a:t>
            </a:r>
          </a:p>
          <a:p>
            <a:pPr marL="514350" indent="-514350">
              <a:buAutoNum type="arabicPeriod"/>
            </a:pPr>
            <a:r>
              <a:rPr lang="en-GB" sz="4400" dirty="0"/>
              <a:t>Being ignorant of the facts, I could say nothing.</a:t>
            </a:r>
          </a:p>
        </p:txBody>
      </p:sp>
    </p:spTree>
    <p:extLst>
      <p:ext uri="{BB962C8B-B14F-4D97-AF65-F5344CB8AC3E}">
        <p14:creationId xmlns:p14="http://schemas.microsoft.com/office/powerpoint/2010/main" val="3762396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3211AC-6DD1-42FE-8336-5465ADAF8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Condition </a:t>
            </a:r>
          </a:p>
          <a:p>
            <a:pPr marL="514350" indent="-514350">
              <a:buAutoNum type="arabicPeriod"/>
            </a:pPr>
            <a:r>
              <a:rPr lang="en-GB" sz="4800" dirty="0"/>
              <a:t>If you go, you’ll be sorry.</a:t>
            </a:r>
          </a:p>
          <a:p>
            <a:pPr marL="514350" indent="-514350">
              <a:buAutoNum type="arabicPeriod"/>
            </a:pPr>
            <a:r>
              <a:rPr lang="en-GB" sz="4800" dirty="0"/>
              <a:t>Although he hasn’t eaten for days, he looks very fit.</a:t>
            </a:r>
          </a:p>
        </p:txBody>
      </p:sp>
    </p:spTree>
    <p:extLst>
      <p:ext uri="{BB962C8B-B14F-4D97-AF65-F5344CB8AC3E}">
        <p14:creationId xmlns:p14="http://schemas.microsoft.com/office/powerpoint/2010/main" val="3531471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560E60-DA5B-40C7-8691-D56820992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4400" dirty="0"/>
              <a:t>Parenthetical expressions or  side remarks</a:t>
            </a:r>
          </a:p>
          <a:p>
            <a:pPr marL="514350" indent="-514350">
              <a:buAutoNum type="arabicPeriod"/>
            </a:pPr>
            <a:r>
              <a:rPr lang="en-GB" sz="4400" dirty="0"/>
              <a:t>He was, I am bound to say, extremely convincing.</a:t>
            </a:r>
          </a:p>
          <a:p>
            <a:pPr marL="514350" indent="-514350">
              <a:buAutoNum type="arabicPeriod"/>
            </a:pPr>
            <a:r>
              <a:rPr lang="en-GB" sz="4400" dirty="0"/>
              <a:t>It is a fact, even though most people refuse to accept it, that knowledge is power.</a:t>
            </a:r>
          </a:p>
        </p:txBody>
      </p:sp>
    </p:spTree>
    <p:extLst>
      <p:ext uri="{BB962C8B-B14F-4D97-AF65-F5344CB8AC3E}">
        <p14:creationId xmlns:p14="http://schemas.microsoft.com/office/powerpoint/2010/main" val="2385279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408BEE-3019-4AB3-83D7-5F7CEDC2A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The comma is also used to mark words which are out of the normal order</a:t>
            </a:r>
          </a:p>
          <a:p>
            <a:pPr marL="0" indent="0">
              <a:buNone/>
            </a:pPr>
            <a:r>
              <a:rPr lang="en-GB" sz="5400" dirty="0"/>
              <a:t>1. Away,  it flew.</a:t>
            </a:r>
          </a:p>
        </p:txBody>
      </p:sp>
    </p:spTree>
    <p:extLst>
      <p:ext uri="{BB962C8B-B14F-4D97-AF65-F5344CB8AC3E}">
        <p14:creationId xmlns:p14="http://schemas.microsoft.com/office/powerpoint/2010/main" val="2534886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2DCC28-1FBE-4F27-8202-BF0AEA9E0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884" y="624110"/>
            <a:ext cx="8911687" cy="1280890"/>
          </a:xfrm>
        </p:spPr>
        <p:txBody>
          <a:bodyPr/>
          <a:lstStyle/>
          <a:p>
            <a:r>
              <a:rPr lang="en-GB" b="1" i="1" u="sng" dirty="0"/>
              <a:t>The Question mark (?)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DC9DC9-6267-48C6-94F7-492A09D16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176" y="1695189"/>
            <a:ext cx="8915400" cy="3777622"/>
          </a:xfrm>
        </p:spPr>
        <p:txBody>
          <a:bodyPr>
            <a:normAutofit fontScale="92500" lnSpcReduction="10000"/>
          </a:bodyPr>
          <a:lstStyle/>
          <a:p>
            <a:r>
              <a:rPr lang="en-GB" sz="4400" dirty="0"/>
              <a:t>The question mark is used almost entirely to indicate that a sentence is to be understood as a direct question</a:t>
            </a:r>
          </a:p>
          <a:p>
            <a:pPr marL="514350" indent="-514350">
              <a:buAutoNum type="arabicPeriod"/>
            </a:pPr>
            <a:r>
              <a:rPr lang="en-GB" sz="4400" dirty="0"/>
              <a:t>Where are you?</a:t>
            </a:r>
          </a:p>
          <a:p>
            <a:pPr marL="514350" indent="-514350">
              <a:buAutoNum type="arabicPeriod"/>
            </a:pPr>
            <a:r>
              <a:rPr lang="en-GB" sz="4400" dirty="0"/>
              <a:t>Why did you do that? </a:t>
            </a:r>
          </a:p>
        </p:txBody>
      </p:sp>
    </p:spTree>
    <p:extLst>
      <p:ext uri="{BB962C8B-B14F-4D97-AF65-F5344CB8AC3E}">
        <p14:creationId xmlns:p14="http://schemas.microsoft.com/office/powerpoint/2010/main" val="2328801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3325C9-1880-41C2-8894-D85FD72E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4000" dirty="0"/>
              <a:t>It sometimes used in a parenthesis to question the accuracy of the preceding word.</a:t>
            </a:r>
          </a:p>
          <a:p>
            <a:pPr marL="514350" indent="-514350">
              <a:buAutoNum type="arabicPeriod"/>
            </a:pPr>
            <a:r>
              <a:rPr lang="en-GB" sz="4000" dirty="0"/>
              <a:t>These students (?) make a lot out of sports.</a:t>
            </a:r>
          </a:p>
          <a:p>
            <a:pPr marL="514350" indent="-514350">
              <a:buAutoNum type="arabicPeriod"/>
            </a:pPr>
            <a:r>
              <a:rPr lang="en-GB" sz="4000" dirty="0"/>
              <a:t>His funny (?) remarks were more than I could bear.</a:t>
            </a:r>
          </a:p>
        </p:txBody>
      </p:sp>
    </p:spTree>
    <p:extLst>
      <p:ext uri="{BB962C8B-B14F-4D97-AF65-F5344CB8AC3E}">
        <p14:creationId xmlns:p14="http://schemas.microsoft.com/office/powerpoint/2010/main" val="152603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D7FBCB-C650-40CA-9E3A-DCF04698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The Colon (:)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FCFB48-11F9-441C-B37B-915DD86B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275" y="1670137"/>
            <a:ext cx="8915400" cy="3777622"/>
          </a:xfrm>
        </p:spPr>
        <p:txBody>
          <a:bodyPr>
            <a:normAutofit fontScale="85000" lnSpcReduction="20000"/>
          </a:bodyPr>
          <a:lstStyle/>
          <a:p>
            <a:r>
              <a:rPr lang="en-GB" sz="4400" dirty="0"/>
              <a:t>To introduce a list or enumeration, especially in situations where expressions such as namely, thus and as follows would logically be implied </a:t>
            </a:r>
          </a:p>
          <a:p>
            <a:pPr marL="514350" indent="-514350">
              <a:buAutoNum type="arabicPeriod"/>
            </a:pPr>
            <a:r>
              <a:rPr lang="en-GB" sz="4400" dirty="0"/>
              <a:t>Answer the following:…</a:t>
            </a:r>
          </a:p>
          <a:p>
            <a:pPr marL="514350" indent="-514350">
              <a:buAutoNum type="arabicPeriod"/>
            </a:pPr>
            <a:r>
              <a:rPr lang="en-GB" sz="4400" dirty="0"/>
              <a:t>The interpretation is as follows:…</a:t>
            </a:r>
          </a:p>
        </p:txBody>
      </p:sp>
    </p:spTree>
    <p:extLst>
      <p:ext uri="{BB962C8B-B14F-4D97-AF65-F5344CB8AC3E}">
        <p14:creationId xmlns:p14="http://schemas.microsoft.com/office/powerpoint/2010/main" val="2340812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A87651-1FD9-4975-BEE7-7AB6A349E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4400" dirty="0"/>
              <a:t>To indicate that something is to follow, especially in formal series</a:t>
            </a:r>
          </a:p>
          <a:p>
            <a:pPr marL="0" indent="0">
              <a:buNone/>
            </a:pPr>
            <a:r>
              <a:rPr lang="en-GB" sz="4400" dirty="0"/>
              <a:t>1. The administration has found out that they have to deal with three main problems: unemployment, debt cancellation and economic recovery.</a:t>
            </a:r>
          </a:p>
        </p:txBody>
      </p:sp>
    </p:spTree>
    <p:extLst>
      <p:ext uri="{BB962C8B-B14F-4D97-AF65-F5344CB8AC3E}">
        <p14:creationId xmlns:p14="http://schemas.microsoft.com/office/powerpoint/2010/main" val="3291467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9562EF-0F29-4BE2-98D4-67721962B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4400" dirty="0"/>
              <a:t>To introduce a word, phrase or a clause that illustrates, explains or confirms a statement</a:t>
            </a:r>
          </a:p>
          <a:p>
            <a:pPr marL="514350" indent="-514350">
              <a:buAutoNum type="arabicPeriod"/>
            </a:pPr>
            <a:r>
              <a:rPr lang="en-GB" sz="4400" dirty="0"/>
              <a:t>There is only one wish realisable in life: success</a:t>
            </a:r>
          </a:p>
          <a:p>
            <a:pPr marL="514350" indent="-514350">
              <a:buAutoNum type="arabicPeriod"/>
            </a:pPr>
            <a:r>
              <a:rPr lang="en-GB" sz="4400" dirty="0"/>
              <a:t>Christians have hung their lives upon one hope: meeting their creator.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0911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321314-0F05-4DEC-AB84-725CBBA8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4400" dirty="0"/>
              <a:t>In place of a comma before long or formal direct quotations</a:t>
            </a:r>
          </a:p>
          <a:p>
            <a:pPr marL="0" indent="0">
              <a:buNone/>
            </a:pPr>
            <a:r>
              <a:rPr lang="en-GB" sz="4400" dirty="0"/>
              <a:t>1. In that sermon Jesus said: </a:t>
            </a:r>
            <a:r>
              <a:rPr lang="en-GB" sz="4400" i="1" dirty="0"/>
              <a:t>‘’ Lay not up for yourselves treasures upon earth, where moth and rust doth corrupt, and where thieves break through and steal.’’</a:t>
            </a:r>
          </a:p>
        </p:txBody>
      </p:sp>
    </p:spTree>
    <p:extLst>
      <p:ext uri="{BB962C8B-B14F-4D97-AF65-F5344CB8AC3E}">
        <p14:creationId xmlns:p14="http://schemas.microsoft.com/office/powerpoint/2010/main" val="1282414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86FC53-7CBD-4C65-A4B9-926F1B52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The </a:t>
            </a:r>
            <a:r>
              <a:rPr lang="en-GB" b="1" i="1" u="sng" dirty="0" smtClean="0"/>
              <a:t>Semicolon (;)</a:t>
            </a:r>
            <a:endParaRPr lang="en-GB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FF3155-00D1-4138-9A6D-15DD20351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5645" y="1620033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GB" sz="4300" b="1" dirty="0"/>
              <a:t>To separate closely related independent clauses not connected by a conjunction:</a:t>
            </a:r>
          </a:p>
          <a:p>
            <a:pPr marL="0" indent="0">
              <a:buNone/>
            </a:pPr>
            <a:r>
              <a:rPr lang="en-GB" sz="4800" dirty="0"/>
              <a:t>1.Take this one; it seems to be your colour.</a:t>
            </a:r>
          </a:p>
          <a:p>
            <a:pPr marL="0" indent="0">
              <a:buNone/>
            </a:pPr>
            <a:r>
              <a:rPr lang="en-GB" sz="4800" dirty="0"/>
              <a:t>2. Your shirt is new; mine is old.</a:t>
            </a:r>
          </a:p>
        </p:txBody>
      </p:sp>
    </p:spTree>
    <p:extLst>
      <p:ext uri="{BB962C8B-B14F-4D97-AF65-F5344CB8AC3E}">
        <p14:creationId xmlns:p14="http://schemas.microsoft.com/office/powerpoint/2010/main" val="1626300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ABB50C-17A4-4E5A-84ED-66D72DAC4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961" y="367430"/>
            <a:ext cx="8886671" cy="1987463"/>
          </a:xfrm>
        </p:spPr>
        <p:txBody>
          <a:bodyPr>
            <a:noAutofit/>
          </a:bodyPr>
          <a:lstStyle/>
          <a:p>
            <a:r>
              <a:rPr lang="en-GB" sz="4400" b="1" dirty="0"/>
              <a:t>Before a transitional connective between two main clauses</a:t>
            </a:r>
          </a:p>
          <a:p>
            <a:pPr marL="0" indent="0">
              <a:buNone/>
            </a:pPr>
            <a:r>
              <a:rPr lang="en-GB" sz="4000" dirty="0"/>
              <a:t>The most common transitional connectives are: </a:t>
            </a:r>
            <a:r>
              <a:rPr lang="en-GB" sz="4000" i="1" dirty="0"/>
              <a:t>also, besides, consequently, furthermore, hence, however, likewise, moreover, nevertheless, in addition, so, then, therefore </a:t>
            </a:r>
            <a:r>
              <a:rPr lang="en-GB" sz="4000" dirty="0"/>
              <a:t>and</a:t>
            </a:r>
            <a:r>
              <a:rPr lang="en-GB" sz="4000" i="1" dirty="0"/>
              <a:t> yet.</a:t>
            </a:r>
          </a:p>
        </p:txBody>
      </p:sp>
    </p:spTree>
    <p:extLst>
      <p:ext uri="{BB962C8B-B14F-4D97-AF65-F5344CB8AC3E}">
        <p14:creationId xmlns:p14="http://schemas.microsoft.com/office/powerpoint/2010/main" val="2280159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631E0C-370D-4DEC-88D7-B8F7D75A3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GB" sz="4000" dirty="0"/>
              <a:t>I haven’t time to see the film; </a:t>
            </a:r>
            <a:r>
              <a:rPr lang="en-GB" sz="4000" i="1" dirty="0"/>
              <a:t>besides </a:t>
            </a:r>
            <a:r>
              <a:rPr lang="en-GB" sz="4000" dirty="0"/>
              <a:t>it’s too horrifying. </a:t>
            </a:r>
          </a:p>
          <a:p>
            <a:pPr marL="514350" indent="-514350">
              <a:buAutoNum type="arabicPeriod"/>
            </a:pPr>
            <a:r>
              <a:rPr lang="en-GB" sz="4000" dirty="0"/>
              <a:t>His eyes went bad ; consequently, he had to resign his position as proof reader.</a:t>
            </a:r>
          </a:p>
          <a:p>
            <a:pPr marL="514350" indent="-514350">
              <a:buAutoNum type="arabicPeriod"/>
            </a:pPr>
            <a:r>
              <a:rPr lang="en-GB" sz="4000" dirty="0"/>
              <a:t>Josephine is her youngest child: besides, she has three others.</a:t>
            </a:r>
          </a:p>
          <a:p>
            <a:pPr marL="0" indent="0">
              <a:buNone/>
            </a:pP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218589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6C57D9-6F90-4A6C-BF91-18485E08C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4400" dirty="0"/>
              <a:t>To separate elements in a series when they contain internal punctuation</a:t>
            </a:r>
          </a:p>
          <a:p>
            <a:pPr marL="0" indent="0">
              <a:buNone/>
            </a:pPr>
            <a:r>
              <a:rPr lang="en-GB" sz="4400" dirty="0"/>
              <a:t>1. Among those present were </a:t>
            </a:r>
            <a:r>
              <a:rPr lang="en-GB" sz="4400" dirty="0" err="1"/>
              <a:t>Prof.</a:t>
            </a:r>
            <a:r>
              <a:rPr lang="en-GB" sz="4400" dirty="0"/>
              <a:t> Wilson </a:t>
            </a:r>
            <a:r>
              <a:rPr lang="en-GB" sz="4400" dirty="0" err="1"/>
              <a:t>Agyare</a:t>
            </a:r>
            <a:r>
              <a:rPr lang="en-GB" sz="4400" dirty="0"/>
              <a:t>, Vice Dean of Students; </a:t>
            </a:r>
            <a:r>
              <a:rPr lang="en-GB" sz="4400" dirty="0" err="1"/>
              <a:t>Dr.</a:t>
            </a:r>
            <a:r>
              <a:rPr lang="en-GB" sz="4400" dirty="0"/>
              <a:t> </a:t>
            </a:r>
            <a:r>
              <a:rPr lang="en-GB" sz="4400" dirty="0" err="1"/>
              <a:t>Gikunoo</a:t>
            </a:r>
            <a:r>
              <a:rPr lang="en-GB" sz="4400" dirty="0"/>
              <a:t>, Hall Master, Unity Hall; and Mr Albert </a:t>
            </a:r>
            <a:r>
              <a:rPr lang="en-GB" sz="4400" dirty="0" err="1"/>
              <a:t>Essuman</a:t>
            </a:r>
            <a:r>
              <a:rPr lang="en-GB" sz="4400" dirty="0"/>
              <a:t>, The Senior Tutor, Unity Hall.</a:t>
            </a:r>
          </a:p>
        </p:txBody>
      </p:sp>
    </p:spTree>
    <p:extLst>
      <p:ext uri="{BB962C8B-B14F-4D97-AF65-F5344CB8AC3E}">
        <p14:creationId xmlns:p14="http://schemas.microsoft.com/office/powerpoint/2010/main" val="38749381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18868A-5B47-44F8-93C9-1EF168E7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The Quotation Marks (‘’ ‘’)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5EF192-5627-44A2-BA3E-2358130E6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275" y="1720241"/>
            <a:ext cx="8915400" cy="377762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3800" b="1" dirty="0"/>
              <a:t>a. </a:t>
            </a:r>
            <a:r>
              <a:rPr lang="en-GB" sz="4400" b="1" i="1" dirty="0"/>
              <a:t>The Double Quotation Marks</a:t>
            </a:r>
          </a:p>
          <a:p>
            <a:r>
              <a:rPr lang="en-GB" sz="4400" dirty="0"/>
              <a:t>They are used to enclose the actual words of a speaker (direct discourse):</a:t>
            </a:r>
          </a:p>
          <a:p>
            <a:pPr marL="514350" indent="-514350">
              <a:buAutoNum type="arabicPeriod"/>
            </a:pPr>
            <a:r>
              <a:rPr lang="en-GB" sz="4400" dirty="0"/>
              <a:t>I said, ‘’That’s your problem.’’</a:t>
            </a:r>
          </a:p>
          <a:p>
            <a:pPr marL="514350" indent="-514350">
              <a:buAutoNum type="arabicPeriod"/>
            </a:pPr>
            <a:r>
              <a:rPr lang="en-GB" sz="4400" dirty="0"/>
              <a:t>‘’What is the matter?’’ she asked.</a:t>
            </a:r>
          </a:p>
        </p:txBody>
      </p:sp>
    </p:spTree>
    <p:extLst>
      <p:ext uri="{BB962C8B-B14F-4D97-AF65-F5344CB8AC3E}">
        <p14:creationId xmlns:p14="http://schemas.microsoft.com/office/powerpoint/2010/main" val="817873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C4AB33-1274-408E-B5E1-9679C5F1E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4000" dirty="0"/>
              <a:t>To identify words, phrases or clauses which are being discussed:</a:t>
            </a:r>
          </a:p>
          <a:p>
            <a:pPr marL="514350" indent="-514350">
              <a:buAutoNum type="arabicPeriod"/>
            </a:pPr>
            <a:r>
              <a:rPr lang="en-GB" sz="4000" dirty="0"/>
              <a:t>The word ‘’garage’’ comes from the French; the word ‘’piano’’ comes from the Italian.</a:t>
            </a:r>
          </a:p>
          <a:p>
            <a:pPr marL="514350" indent="-514350">
              <a:buAutoNum type="arabicPeriod"/>
            </a:pPr>
            <a:r>
              <a:rPr lang="en-GB" sz="4000" dirty="0"/>
              <a:t>The phrase ‘’extraordinarily intelligent’’ is an adjective phrase.</a:t>
            </a:r>
          </a:p>
        </p:txBody>
      </p:sp>
    </p:spTree>
    <p:extLst>
      <p:ext uri="{BB962C8B-B14F-4D97-AF65-F5344CB8AC3E}">
        <p14:creationId xmlns:p14="http://schemas.microsoft.com/office/powerpoint/2010/main" val="1388544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F36FD9-0681-475E-B567-F8E4DF3F8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4400" dirty="0"/>
              <a:t>To enclose the titles of short stories, poems , songs, (but not books):</a:t>
            </a:r>
          </a:p>
          <a:p>
            <a:pPr marL="0" indent="0">
              <a:buNone/>
            </a:pPr>
            <a:r>
              <a:rPr lang="en-GB" sz="4400" dirty="0"/>
              <a:t>1. ‘’Venus and Adonis’’ is one of the poems by William Shakespeare.</a:t>
            </a:r>
          </a:p>
        </p:txBody>
      </p:sp>
    </p:spTree>
    <p:extLst>
      <p:ext uri="{BB962C8B-B14F-4D97-AF65-F5344CB8AC3E}">
        <p14:creationId xmlns:p14="http://schemas.microsoft.com/office/powerpoint/2010/main" val="4117311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4FB732-4017-4B8A-861A-C5D04C1D2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598" y="417534"/>
            <a:ext cx="8915400" cy="3777622"/>
          </a:xfrm>
        </p:spPr>
        <p:txBody>
          <a:bodyPr>
            <a:noAutofit/>
          </a:bodyPr>
          <a:lstStyle/>
          <a:p>
            <a:r>
              <a:rPr lang="en-GB" sz="4400" dirty="0"/>
              <a:t>In bibliography, to distinguish the title of a selection from that of a book in which the selection is printed:</a:t>
            </a:r>
          </a:p>
          <a:p>
            <a:pPr marL="0" indent="0">
              <a:buNone/>
            </a:pPr>
            <a:r>
              <a:rPr lang="en-GB" sz="4400" dirty="0"/>
              <a:t>1. Osam E.K. (1998) ‘’Complementation in Akan’’. In Journal of African Languages and Linguistics, Vol 19, No. 1:21 – 43 Mouton de </a:t>
            </a:r>
            <a:r>
              <a:rPr lang="en-GB" sz="4400" dirty="0" err="1"/>
              <a:t>Gruyter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924627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F5A72C-A06C-4B5D-9CA0-A7C0C7610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000" b="1" dirty="0"/>
              <a:t>b. </a:t>
            </a:r>
            <a:r>
              <a:rPr lang="en-GB" sz="4000" b="1" i="1" dirty="0"/>
              <a:t>The Single Quotation marks</a:t>
            </a:r>
          </a:p>
          <a:p>
            <a:pPr marL="0" indent="0">
              <a:buNone/>
            </a:pPr>
            <a:r>
              <a:rPr lang="en-GB" sz="4000" dirty="0"/>
              <a:t> </a:t>
            </a:r>
          </a:p>
          <a:p>
            <a:pPr marL="0" indent="0">
              <a:buNone/>
            </a:pPr>
            <a:r>
              <a:rPr lang="en-GB" sz="4000" dirty="0"/>
              <a:t>These are used to mark quotations within quotations:</a:t>
            </a:r>
          </a:p>
          <a:p>
            <a:pPr marL="0" indent="0">
              <a:buNone/>
            </a:pPr>
            <a:r>
              <a:rPr lang="en-GB" sz="4000" dirty="0"/>
              <a:t>1. The lecturer said, ‘’Let’s continue our discussion of the poems beginning with ‘Ode to a </a:t>
            </a:r>
            <a:r>
              <a:rPr lang="en-GB" sz="4000" dirty="0" err="1"/>
              <a:t>Nightgale</a:t>
            </a:r>
            <a:r>
              <a:rPr lang="en-GB" sz="4000" dirty="0"/>
              <a:t>.’ ‘’</a:t>
            </a:r>
          </a:p>
        </p:txBody>
      </p:sp>
    </p:spTree>
    <p:extLst>
      <p:ext uri="{BB962C8B-B14F-4D97-AF65-F5344CB8AC3E}">
        <p14:creationId xmlns:p14="http://schemas.microsoft.com/office/powerpoint/2010/main" val="1312836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CDB767-ACA6-4E78-91DA-DEC68DA2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2092" y="574006"/>
            <a:ext cx="8911687" cy="1280890"/>
          </a:xfrm>
        </p:spPr>
        <p:txBody>
          <a:bodyPr/>
          <a:lstStyle/>
          <a:p>
            <a:r>
              <a:rPr lang="en-GB" b="1" i="1" u="sng" dirty="0"/>
              <a:t>The Apostrophe (‘)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9C6605-198F-4198-806D-A49A5CD49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807" y="1607506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GB" sz="4400" dirty="0"/>
              <a:t>To indicate the possessive case of nouns </a:t>
            </a:r>
          </a:p>
          <a:p>
            <a:pPr marL="514350" indent="-514350">
              <a:buAutoNum type="arabicPeriod"/>
            </a:pPr>
            <a:r>
              <a:rPr lang="en-GB" sz="4400" dirty="0"/>
              <a:t>man’s</a:t>
            </a:r>
          </a:p>
          <a:p>
            <a:pPr marL="514350" indent="-514350">
              <a:buAutoNum type="arabicPeriod"/>
            </a:pPr>
            <a:r>
              <a:rPr lang="en-GB" sz="4400" dirty="0"/>
              <a:t>Kwaku’s </a:t>
            </a:r>
          </a:p>
          <a:p>
            <a:pPr marL="514350" indent="-514350">
              <a:buAutoNum type="arabicPeriod"/>
            </a:pPr>
            <a:r>
              <a:rPr lang="en-GB" sz="4400" dirty="0"/>
              <a:t>Edith’s</a:t>
            </a:r>
          </a:p>
        </p:txBody>
      </p:sp>
    </p:spTree>
    <p:extLst>
      <p:ext uri="{BB962C8B-B14F-4D97-AF65-F5344CB8AC3E}">
        <p14:creationId xmlns:p14="http://schemas.microsoft.com/office/powerpoint/2010/main" val="1311033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B72279-47DD-4B85-B820-79DAC56AA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In contractions </a:t>
            </a:r>
          </a:p>
          <a:p>
            <a:pPr marL="514350" indent="-514350">
              <a:buAutoNum type="arabicPeriod"/>
            </a:pPr>
            <a:r>
              <a:rPr lang="en-GB" sz="4400" dirty="0"/>
              <a:t>Can’t -  cannot</a:t>
            </a:r>
          </a:p>
          <a:p>
            <a:pPr marL="514350" indent="-514350">
              <a:buAutoNum type="arabicPeriod"/>
            </a:pPr>
            <a:r>
              <a:rPr lang="en-GB" sz="4400" dirty="0"/>
              <a:t>Don’t  - do not</a:t>
            </a:r>
          </a:p>
          <a:p>
            <a:pPr marL="514350" indent="-514350">
              <a:buAutoNum type="arabicPeriod"/>
            </a:pPr>
            <a:r>
              <a:rPr lang="en-GB" sz="4400" dirty="0"/>
              <a:t>Isn’t – is not</a:t>
            </a:r>
          </a:p>
        </p:txBody>
      </p:sp>
    </p:spTree>
    <p:extLst>
      <p:ext uri="{BB962C8B-B14F-4D97-AF65-F5344CB8AC3E}">
        <p14:creationId xmlns:p14="http://schemas.microsoft.com/office/powerpoint/2010/main" val="2601753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605666-24B0-4B38-B103-C4613CA0D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In the formation of the plurals of letters and numbers.</a:t>
            </a:r>
          </a:p>
          <a:p>
            <a:pPr marL="514350" indent="-514350">
              <a:buAutoNum type="arabicPeriod"/>
            </a:pPr>
            <a:r>
              <a:rPr lang="en-GB" sz="4000" dirty="0"/>
              <a:t>Dot your I’s</a:t>
            </a:r>
          </a:p>
          <a:p>
            <a:pPr marL="514350" indent="-514350">
              <a:buAutoNum type="arabicPeriod"/>
            </a:pPr>
            <a:r>
              <a:rPr lang="en-GB" sz="4000" dirty="0"/>
              <a:t>My s’s look like snakes</a:t>
            </a:r>
          </a:p>
          <a:p>
            <a:pPr marL="514350" indent="-514350">
              <a:buAutoNum type="arabicPeriod"/>
            </a:pPr>
            <a:r>
              <a:rPr lang="en-GB" sz="4000" dirty="0"/>
              <a:t>He is in his 90’s</a:t>
            </a:r>
          </a:p>
        </p:txBody>
      </p:sp>
    </p:spTree>
    <p:extLst>
      <p:ext uri="{BB962C8B-B14F-4D97-AF65-F5344CB8AC3E}">
        <p14:creationId xmlns:p14="http://schemas.microsoft.com/office/powerpoint/2010/main" val="3272336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375742-8DCA-4E39-91BF-C722D871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The Dash (-)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5B0FE-6CFA-4090-8953-B375CEF96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431" y="1670137"/>
            <a:ext cx="8915400" cy="3777622"/>
          </a:xfrm>
        </p:spPr>
        <p:txBody>
          <a:bodyPr>
            <a:normAutofit fontScale="85000" lnSpcReduction="10000"/>
          </a:bodyPr>
          <a:lstStyle/>
          <a:p>
            <a:r>
              <a:rPr lang="en-GB" sz="4400" dirty="0"/>
              <a:t>It is used more often in informal domain instead of colon or a semicolon to make the piece of writing more vivid or dramatic</a:t>
            </a:r>
          </a:p>
          <a:p>
            <a:pPr marL="0" indent="0">
              <a:buNone/>
            </a:pPr>
            <a:r>
              <a:rPr lang="en-GB" sz="4400" dirty="0"/>
              <a:t>1. There was a huge explosion, smoke and dust ascended, and people rushed to the scene – it was chaos</a:t>
            </a:r>
          </a:p>
        </p:txBody>
      </p:sp>
    </p:spTree>
    <p:extLst>
      <p:ext uri="{BB962C8B-B14F-4D97-AF65-F5344CB8AC3E}">
        <p14:creationId xmlns:p14="http://schemas.microsoft.com/office/powerpoint/2010/main" val="4082186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DD5D01-D9A0-4745-95DC-4925E0FF5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4000" dirty="0"/>
              <a:t>It is used singly or in pairs to separate extra information, an after- thought or a comment, in a dramatic way, from the rest of the sentence</a:t>
            </a:r>
          </a:p>
          <a:p>
            <a:pPr marL="514350" indent="-514350">
              <a:buAutoNum type="arabicPeriod"/>
            </a:pPr>
            <a:r>
              <a:rPr lang="en-GB" sz="4000" dirty="0"/>
              <a:t>The library is the university student’s companion – so we are told.</a:t>
            </a:r>
          </a:p>
          <a:p>
            <a:pPr marL="514350" indent="-514350">
              <a:buAutoNum type="arabicPeriod"/>
            </a:pPr>
            <a:r>
              <a:rPr lang="en-GB" sz="4000" dirty="0"/>
              <a:t>The library – so we are told- is the university student’s companion.</a:t>
            </a:r>
          </a:p>
        </p:txBody>
      </p:sp>
    </p:spTree>
    <p:extLst>
      <p:ext uri="{BB962C8B-B14F-4D97-AF65-F5344CB8AC3E}">
        <p14:creationId xmlns:p14="http://schemas.microsoft.com/office/powerpoint/2010/main" val="952362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0E17CF-5BE3-4504-A74E-5FD58D68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Ellipsis (…)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A2C66A-2DDD-4AF9-8C61-A83907AE6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754" y="1382039"/>
            <a:ext cx="8915400" cy="3777622"/>
          </a:xfrm>
        </p:spPr>
        <p:txBody>
          <a:bodyPr>
            <a:noAutofit/>
          </a:bodyPr>
          <a:lstStyle/>
          <a:p>
            <a:r>
              <a:rPr lang="en-GB" sz="3600" dirty="0"/>
              <a:t>It is used mostly with quotations to indicate the omission of unnecessary information within a quotation</a:t>
            </a:r>
          </a:p>
          <a:p>
            <a:pPr marL="0" indent="0">
              <a:buNone/>
            </a:pPr>
            <a:r>
              <a:rPr lang="en-GB" sz="3600" dirty="0"/>
              <a:t>Original : ‘’</a:t>
            </a:r>
            <a:r>
              <a:rPr lang="en-GB" sz="3600" dirty="0" err="1"/>
              <a:t>Prof.</a:t>
            </a:r>
            <a:r>
              <a:rPr lang="en-GB" sz="3600" dirty="0"/>
              <a:t> </a:t>
            </a:r>
            <a:r>
              <a:rPr lang="en-GB" sz="3600" dirty="0" err="1"/>
              <a:t>Agyare</a:t>
            </a:r>
            <a:r>
              <a:rPr lang="en-GB" sz="3600" dirty="0"/>
              <a:t>, who was the Hall Master of Unity Hall, has been appointed Vice Dean of Students.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dirty="0"/>
              <a:t>Shortened: </a:t>
            </a:r>
            <a:r>
              <a:rPr lang="en-GB" sz="3600" dirty="0" err="1"/>
              <a:t>Prof.</a:t>
            </a:r>
            <a:r>
              <a:rPr lang="en-GB" sz="3600" dirty="0"/>
              <a:t> </a:t>
            </a:r>
            <a:r>
              <a:rPr lang="en-GB" sz="3600" dirty="0" err="1"/>
              <a:t>Agyare</a:t>
            </a:r>
            <a:r>
              <a:rPr lang="en-GB" sz="3600" dirty="0"/>
              <a:t>,… has been appointed Vice Dean of Students.</a:t>
            </a:r>
          </a:p>
        </p:txBody>
      </p:sp>
    </p:spTree>
    <p:extLst>
      <p:ext uri="{BB962C8B-B14F-4D97-AF65-F5344CB8AC3E}">
        <p14:creationId xmlns:p14="http://schemas.microsoft.com/office/powerpoint/2010/main" val="1368906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FF5D65-0112-422A-AB6C-2979BD5F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13800" b="1" i="1" dirty="0" smtClean="0">
                <a:solidFill>
                  <a:schemeClr val="accent1">
                    <a:lumMod val="75000"/>
                  </a:schemeClr>
                </a:solidFill>
              </a:rPr>
              <a:t>THE END</a:t>
            </a:r>
            <a:endParaRPr lang="en-GB" sz="138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D56A3B-A5CB-4108-B191-D1BA31F9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328" y="3949874"/>
            <a:ext cx="8915400" cy="872647"/>
          </a:xfrm>
        </p:spPr>
        <p:txBody>
          <a:bodyPr>
            <a:normAutofit/>
          </a:bodyPr>
          <a:lstStyle/>
          <a:p>
            <a:pPr marL="1371600" lvl="3" indent="0">
              <a:buNone/>
            </a:pPr>
            <a:r>
              <a:rPr lang="en-GB" sz="4200" b="1" i="1" dirty="0" smtClean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sz="42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229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728</TotalTime>
  <Words>1537</Words>
  <Application>Microsoft Office PowerPoint</Application>
  <PresentationFormat>Widescreen</PresentationFormat>
  <Paragraphs>137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Century Gothic</vt:lpstr>
      <vt:lpstr>Wingdings</vt:lpstr>
      <vt:lpstr>Wingdings 3</vt:lpstr>
      <vt:lpstr>Wisp</vt:lpstr>
      <vt:lpstr>PUNCTUATION MARKS</vt:lpstr>
      <vt:lpstr>PowerPoint Presentation</vt:lpstr>
      <vt:lpstr>The Period or Full Stop (.)</vt:lpstr>
      <vt:lpstr>Examples</vt:lpstr>
      <vt:lpstr>PowerPoint Presentation</vt:lpstr>
      <vt:lpstr>PowerPoint Presentation</vt:lpstr>
      <vt:lpstr>The Comma (,)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Question mark (?)</vt:lpstr>
      <vt:lpstr>PowerPoint Presentation</vt:lpstr>
      <vt:lpstr>The Colon (:)</vt:lpstr>
      <vt:lpstr>PowerPoint Presentation</vt:lpstr>
      <vt:lpstr>PowerPoint Presentation</vt:lpstr>
      <vt:lpstr>PowerPoint Presentation</vt:lpstr>
      <vt:lpstr>The Semicolon (;)</vt:lpstr>
      <vt:lpstr>PowerPoint Presentation</vt:lpstr>
      <vt:lpstr>PowerPoint Presentation</vt:lpstr>
      <vt:lpstr>PowerPoint Presentation</vt:lpstr>
      <vt:lpstr>The Quotation Marks (‘’ ‘’)</vt:lpstr>
      <vt:lpstr>PowerPoint Presentation</vt:lpstr>
      <vt:lpstr>PowerPoint Presentation</vt:lpstr>
      <vt:lpstr>PowerPoint Presentation</vt:lpstr>
      <vt:lpstr>PowerPoint Presentation</vt:lpstr>
      <vt:lpstr>The Apostrophe (‘)</vt:lpstr>
      <vt:lpstr>PowerPoint Presentation</vt:lpstr>
      <vt:lpstr>PowerPoint Presentation</vt:lpstr>
      <vt:lpstr>The Dash (-)</vt:lpstr>
      <vt:lpstr>PowerPoint Presentation</vt:lpstr>
      <vt:lpstr>Ellipsis (…)</vt:lpstr>
      <vt:lpstr>THE END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PUNCTUATION MARKS</dc:title>
  <dc:creator>Henry Adams</dc:creator>
  <cp:lastModifiedBy>MR. UZAIR</cp:lastModifiedBy>
  <cp:revision>28</cp:revision>
  <dcterms:created xsi:type="dcterms:W3CDTF">2017-11-25T11:00:18Z</dcterms:created>
  <dcterms:modified xsi:type="dcterms:W3CDTF">2021-01-26T20:34:31Z</dcterms:modified>
</cp:coreProperties>
</file>