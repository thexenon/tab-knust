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23"/>
  </p:handoutMasterIdLst>
  <p:sldIdLst>
    <p:sldId id="256" r:id="rId2"/>
    <p:sldId id="257" r:id="rId3"/>
    <p:sldId id="258" r:id="rId4"/>
    <p:sldId id="259" r:id="rId5"/>
    <p:sldId id="260" r:id="rId6"/>
    <p:sldId id="261" r:id="rId7"/>
    <p:sldId id="262" r:id="rId8"/>
    <p:sldId id="280" r:id="rId9"/>
    <p:sldId id="278" r:id="rId10"/>
    <p:sldId id="279" r:id="rId11"/>
    <p:sldId id="263" r:id="rId12"/>
    <p:sldId id="281" r:id="rId13"/>
    <p:sldId id="264" r:id="rId14"/>
    <p:sldId id="270" r:id="rId15"/>
    <p:sldId id="272" r:id="rId16"/>
    <p:sldId id="265" r:id="rId17"/>
    <p:sldId id="273" r:id="rId18"/>
    <p:sldId id="274" r:id="rId19"/>
    <p:sldId id="276" r:id="rId20"/>
    <p:sldId id="275" r:id="rId21"/>
    <p:sldId id="277" r:id="rId22"/>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60"/>
  </p:normalViewPr>
  <p:slideViewPr>
    <p:cSldViewPr snapToGrid="0" snapToObjects="1">
      <p:cViewPr>
        <p:scale>
          <a:sx n="77" d="100"/>
          <a:sy n="77" d="100"/>
        </p:scale>
        <p:origin x="1182"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A8F71C89-18EF-4961-BE81-5CD593BA08DF}" type="datetimeFigureOut">
              <a:rPr lang="en-US" smtClean="0"/>
              <a:t>1/5/2021</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DB0F5717-2950-4190-B0FC-7B30A57549A1}" type="slidenum">
              <a:rPr lang="en-US" smtClean="0"/>
              <a:t>‹#›</a:t>
            </a:fld>
            <a:endParaRPr lang="en-US"/>
          </a:p>
        </p:txBody>
      </p:sp>
    </p:spTree>
    <p:extLst>
      <p:ext uri="{BB962C8B-B14F-4D97-AF65-F5344CB8AC3E}">
        <p14:creationId xmlns:p14="http://schemas.microsoft.com/office/powerpoint/2010/main" val="174544113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1/5/2021</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D751C0-DD79-0043-A8DE-0BFEC2DE753E}" type="datetimeFigureOut">
              <a:rPr lang="en-US" smtClean="0"/>
              <a:t>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D751C0-DD79-0043-A8DE-0BFEC2DE753E}" type="datetimeFigureOut">
              <a:rPr lang="en-US" smtClean="0"/>
              <a:t>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E2D751C0-DD79-0043-A8DE-0BFEC2DE753E}" type="datetimeFigureOut">
              <a:rPr lang="en-US" smtClean="0"/>
              <a:t>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t>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t>1/5/2021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308756"/>
            <a:ext cx="7772400" cy="1470025"/>
          </a:xfrm>
        </p:spPr>
        <p:txBody>
          <a:bodyPr>
            <a:noAutofit/>
          </a:bodyPr>
          <a:lstStyle/>
          <a:p>
            <a:r>
              <a:rPr lang="en-US" sz="3200" b="1" dirty="0">
                <a:latin typeface="Helvetica"/>
                <a:cs typeface="Helvetica"/>
              </a:rPr>
              <a:t>COMMUNICATION SKILLS I </a:t>
            </a:r>
            <a:br>
              <a:rPr lang="en-US" sz="3200" b="1" dirty="0">
                <a:latin typeface="Helvetica"/>
                <a:cs typeface="Helvetica"/>
              </a:rPr>
            </a:br>
            <a:r>
              <a:rPr lang="en-US" sz="3200" b="1" dirty="0">
                <a:latin typeface="Helvetica"/>
                <a:cs typeface="Helvetica"/>
              </a:rPr>
              <a:t>(ENGL 157)</a:t>
            </a:r>
            <a:br>
              <a:rPr lang="en-US" sz="3200" b="1" dirty="0">
                <a:latin typeface="Helvetica"/>
                <a:cs typeface="Helvetica"/>
              </a:rPr>
            </a:br>
            <a:r>
              <a:rPr lang="en-US" sz="3200" b="1" dirty="0">
                <a:latin typeface="Helvetica"/>
                <a:cs typeface="Helvetica"/>
              </a:rPr>
              <a:t>DEPARTMENT OF ENGLISH</a:t>
            </a:r>
          </a:p>
        </p:txBody>
      </p:sp>
      <p:sp>
        <p:nvSpPr>
          <p:cNvPr id="5" name="Subtitle 2"/>
          <p:cNvSpPr>
            <a:spLocks noGrp="1"/>
          </p:cNvSpPr>
          <p:nvPr>
            <p:ph type="subTitle" idx="1"/>
          </p:nvPr>
        </p:nvSpPr>
        <p:spPr>
          <a:xfrm>
            <a:off x="1371600" y="4412631"/>
            <a:ext cx="6400800" cy="1599330"/>
          </a:xfrm>
        </p:spPr>
        <p:txBody>
          <a:bodyPr>
            <a:normAutofit/>
          </a:bodyPr>
          <a:lstStyle/>
          <a:p>
            <a:pPr algn="ctr"/>
            <a:r>
              <a:rPr lang="en-US" b="1" dirty="0">
                <a:solidFill>
                  <a:schemeClr val="tx1"/>
                </a:solidFill>
                <a:latin typeface="Helvetica"/>
                <a:cs typeface="Helvetica"/>
              </a:rPr>
              <a:t>ERRORS IN SENTENCES</a:t>
            </a:r>
          </a:p>
          <a:p>
            <a:pPr algn="ctr"/>
            <a:r>
              <a:rPr lang="en-US" sz="2400" b="1" dirty="0">
                <a:latin typeface="Helvetica"/>
                <a:cs typeface="Helvetica"/>
              </a:rPr>
              <a:t>AMBIGUITY</a:t>
            </a:r>
          </a:p>
          <a:p>
            <a:pPr algn="ctr"/>
            <a:r>
              <a:rPr lang="en-US" sz="2400" b="1" dirty="0">
                <a:latin typeface="Helvetica"/>
                <a:cs typeface="Helvetica"/>
              </a:rPr>
              <a:t>MISRELATED/DANGLING MODIFICATION</a:t>
            </a:r>
          </a:p>
        </p:txBody>
      </p: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902998"/>
          </a:xfrm>
        </p:spPr>
        <p:txBody>
          <a:bodyPr/>
          <a:lstStyle/>
          <a:p>
            <a:pPr algn="l"/>
            <a:r>
              <a:rPr lang="en-US" dirty="0">
                <a:solidFill>
                  <a:srgbClr val="008000"/>
                </a:solidFill>
                <a:latin typeface="Helvetica"/>
                <a:cs typeface="Helvetica"/>
              </a:rPr>
              <a:t>AMBIGUITY</a:t>
            </a:r>
            <a:br>
              <a:rPr lang="en-US" dirty="0">
                <a:solidFill>
                  <a:srgbClr val="008000"/>
                </a:solidFill>
                <a:latin typeface="Helvetica"/>
                <a:cs typeface="Helvetica"/>
              </a:rPr>
            </a:br>
            <a:endParaRPr lang="en-US" dirty="0">
              <a:solidFill>
                <a:srgbClr val="008000"/>
              </a:solidFill>
              <a:latin typeface="Helvetica"/>
              <a:cs typeface="Helvetica"/>
            </a:endParaRPr>
          </a:p>
        </p:txBody>
      </p:sp>
      <p:sp>
        <p:nvSpPr>
          <p:cNvPr id="4" name="Content Placeholder 2"/>
          <p:cNvSpPr txBox="1">
            <a:spLocks/>
          </p:cNvSpPr>
          <p:nvPr/>
        </p:nvSpPr>
        <p:spPr>
          <a:xfrm>
            <a:off x="457200" y="1600201"/>
            <a:ext cx="8229600" cy="4284702"/>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0"/>
              </a:spcBef>
              <a:spcAft>
                <a:spcPts val="1800"/>
              </a:spcAft>
              <a:buFont typeface="Wingdings" charset="2"/>
              <a:buChar char="u"/>
            </a:pPr>
            <a:endParaRPr lang="en-US" dirty="0">
              <a:latin typeface="Helvetica"/>
              <a:cs typeface="Helvetica"/>
            </a:endParaRPr>
          </a:p>
        </p:txBody>
      </p:sp>
      <p:sp>
        <p:nvSpPr>
          <p:cNvPr id="2" name="TextBox 1"/>
          <p:cNvSpPr txBox="1"/>
          <p:nvPr/>
        </p:nvSpPr>
        <p:spPr>
          <a:xfrm>
            <a:off x="457200" y="1076465"/>
            <a:ext cx="8229600" cy="5016758"/>
          </a:xfrm>
          <a:prstGeom prst="rect">
            <a:avLst/>
          </a:prstGeom>
          <a:noFill/>
        </p:spPr>
        <p:txBody>
          <a:bodyPr wrap="square" rtlCol="0">
            <a:spAutoFit/>
          </a:bodyPr>
          <a:lstStyle/>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Ambiguity is a language situation where a sentence or a part of it has more than one meaning or can reasonably be given more than one interpretation.</a:t>
            </a:r>
          </a:p>
          <a:p>
            <a:pPr lvl="0"/>
            <a:endParaRPr lang="en-GB" sz="3200"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GB" sz="3200" dirty="0" err="1">
                <a:latin typeface="Helvetica" panose="020B0604020202020204" pitchFamily="34" charset="0"/>
                <a:cs typeface="Helvetica" panose="020B0604020202020204" pitchFamily="34" charset="0"/>
              </a:rPr>
              <a:t>Eg.</a:t>
            </a:r>
            <a:r>
              <a:rPr lang="en-GB" sz="3200" dirty="0">
                <a:latin typeface="Helvetica" panose="020B0604020202020204" pitchFamily="34" charset="0"/>
                <a:cs typeface="Helvetica" panose="020B0604020202020204" pitchFamily="34" charset="0"/>
              </a:rPr>
              <a:t> I met Mr. </a:t>
            </a:r>
            <a:r>
              <a:rPr lang="en-GB" sz="3200" dirty="0" err="1">
                <a:latin typeface="Helvetica" panose="020B0604020202020204" pitchFamily="34" charset="0"/>
                <a:cs typeface="Helvetica" panose="020B0604020202020204" pitchFamily="34" charset="0"/>
              </a:rPr>
              <a:t>Anane</a:t>
            </a:r>
            <a:r>
              <a:rPr lang="en-GB" sz="3200" dirty="0">
                <a:latin typeface="Helvetica" panose="020B0604020202020204" pitchFamily="34" charset="0"/>
                <a:cs typeface="Helvetica" panose="020B0604020202020204" pitchFamily="34" charset="0"/>
              </a:rPr>
              <a:t> at the </a:t>
            </a:r>
            <a:r>
              <a:rPr lang="en-GB" sz="3200" u="sng" dirty="0">
                <a:latin typeface="Helvetica" panose="020B0604020202020204" pitchFamily="34" charset="0"/>
                <a:cs typeface="Helvetica" panose="020B0604020202020204" pitchFamily="34" charset="0"/>
              </a:rPr>
              <a:t>court</a:t>
            </a:r>
            <a:r>
              <a:rPr lang="en-GB" sz="3200" dirty="0">
                <a:latin typeface="Helvetica" panose="020B0604020202020204" pitchFamily="34" charset="0"/>
                <a:cs typeface="Helvetica" panose="020B0604020202020204" pitchFamily="34" charset="0"/>
              </a:rPr>
              <a:t>.</a:t>
            </a:r>
          </a:p>
          <a:p>
            <a:pPr marL="457200" indent="-457200">
              <a:buFont typeface="Arial" panose="020B0604020202020204" pitchFamily="34" charset="0"/>
              <a:buChar char="•"/>
            </a:pPr>
            <a:r>
              <a:rPr lang="en-US" sz="3200" dirty="0">
                <a:latin typeface="Helvetica" panose="020B0604020202020204" pitchFamily="34" charset="0"/>
                <a:cs typeface="Helvetica" panose="020B0604020202020204" pitchFamily="34" charset="0"/>
              </a:rPr>
              <a:t>The possible interpretations to this sentence emanate from the possible uses of “Court”.</a:t>
            </a:r>
          </a:p>
          <a:p>
            <a:pPr marL="457200" indent="-457200">
              <a:buFont typeface="Arial" panose="020B0604020202020204" pitchFamily="34" charset="0"/>
              <a:buChar char="•"/>
            </a:pPr>
            <a:endParaRPr lang="en-US" sz="3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86050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85422"/>
          </a:xfrm>
        </p:spPr>
        <p:txBody>
          <a:bodyPr/>
          <a:lstStyle/>
          <a:p>
            <a:pPr algn="l"/>
            <a:r>
              <a:rPr lang="en-US" dirty="0">
                <a:solidFill>
                  <a:srgbClr val="008000"/>
                </a:solidFill>
                <a:latin typeface="Helvetica"/>
                <a:cs typeface="Helvetica"/>
              </a:rPr>
              <a:t>AMBIGUITY cont’d</a:t>
            </a:r>
            <a:endParaRPr lang="en-US" dirty="0"/>
          </a:p>
        </p:txBody>
      </p:sp>
      <p:sp>
        <p:nvSpPr>
          <p:cNvPr id="3" name="TextBox 2"/>
          <p:cNvSpPr txBox="1"/>
          <p:nvPr/>
        </p:nvSpPr>
        <p:spPr>
          <a:xfrm>
            <a:off x="3588327" y="1417638"/>
            <a:ext cx="184731" cy="369332"/>
          </a:xfrm>
          <a:prstGeom prst="rect">
            <a:avLst/>
          </a:prstGeom>
          <a:noFill/>
        </p:spPr>
        <p:txBody>
          <a:bodyPr wrap="none" rtlCol="0">
            <a:spAutoFit/>
          </a:bodyPr>
          <a:lstStyle/>
          <a:p>
            <a:endParaRPr lang="en-US" dirty="0"/>
          </a:p>
        </p:txBody>
      </p:sp>
      <p:sp>
        <p:nvSpPr>
          <p:cNvPr id="4" name="TextBox 3"/>
          <p:cNvSpPr txBox="1"/>
          <p:nvPr/>
        </p:nvSpPr>
        <p:spPr>
          <a:xfrm>
            <a:off x="637309" y="1417638"/>
            <a:ext cx="7730835" cy="4093428"/>
          </a:xfrm>
          <a:prstGeom prst="rect">
            <a:avLst/>
          </a:prstGeom>
          <a:noFill/>
        </p:spPr>
        <p:txBody>
          <a:bodyPr wrap="square" rtlCol="0">
            <a:spAutoFit/>
          </a:bodyPr>
          <a:lstStyle/>
          <a:p>
            <a:pPr lvl="0"/>
            <a:r>
              <a:rPr lang="en-GB" sz="3200" dirty="0">
                <a:latin typeface="Helvetica" panose="020B0604020202020204" pitchFamily="34" charset="0"/>
                <a:cs typeface="Helvetica" panose="020B0604020202020204" pitchFamily="34" charset="0"/>
              </a:rPr>
              <a:t>Possible uses of “court”</a:t>
            </a:r>
            <a:endParaRPr lang="en-US" sz="3200"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GB" sz="2500" dirty="0">
                <a:latin typeface="Helvetica" panose="020B0604020202020204" pitchFamily="34" charset="0"/>
                <a:cs typeface="Helvetica" panose="020B0604020202020204" pitchFamily="34" charset="0"/>
              </a:rPr>
              <a:t>A place where legal cases are addressed.</a:t>
            </a:r>
          </a:p>
          <a:p>
            <a:pPr marL="457200" lvl="0" indent="-457200">
              <a:buFont typeface="Arial" panose="020B0604020202020204" pitchFamily="34" charset="0"/>
              <a:buChar char="•"/>
            </a:pPr>
            <a:r>
              <a:rPr lang="en-GB" sz="2500" dirty="0">
                <a:latin typeface="Helvetica" panose="020B0604020202020204" pitchFamily="34" charset="0"/>
                <a:cs typeface="Helvetica" panose="020B0604020202020204" pitchFamily="34" charset="0"/>
              </a:rPr>
              <a:t>A space for games (volley, tennis etc.)</a:t>
            </a:r>
          </a:p>
          <a:p>
            <a:pPr marL="457200" lvl="0" indent="-457200">
              <a:buFont typeface="Arial" panose="020B0604020202020204" pitchFamily="34" charset="0"/>
              <a:buChar char="•"/>
            </a:pPr>
            <a:r>
              <a:rPr lang="en-GB" sz="2500" dirty="0">
                <a:latin typeface="Helvetica" panose="020B0604020202020204" pitchFamily="34" charset="0"/>
                <a:cs typeface="Helvetica" panose="020B0604020202020204" pitchFamily="34" charset="0"/>
              </a:rPr>
              <a:t>The official residence of an overlord </a:t>
            </a:r>
          </a:p>
          <a:p>
            <a:pPr marL="457200" lvl="0" indent="-457200">
              <a:buFont typeface="Arial" panose="020B0604020202020204" pitchFamily="34" charset="0"/>
              <a:buChar char="•"/>
            </a:pPr>
            <a:r>
              <a:rPr lang="en-GB" sz="2500" dirty="0">
                <a:latin typeface="Helvetica" panose="020B0604020202020204" pitchFamily="34" charset="0"/>
                <a:cs typeface="Helvetica" panose="020B0604020202020204" pitchFamily="34" charset="0"/>
              </a:rPr>
              <a:t>Or even, any space in a house</a:t>
            </a:r>
          </a:p>
          <a:p>
            <a:pPr lvl="0"/>
            <a:endParaRPr lang="en-GB" sz="3200"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From the sentence, it can be said that the speaker/writer met Mr. </a:t>
            </a:r>
            <a:r>
              <a:rPr lang="en-GB" sz="3200" dirty="0" err="1">
                <a:latin typeface="Helvetica" panose="020B0604020202020204" pitchFamily="34" charset="0"/>
                <a:cs typeface="Helvetica" panose="020B0604020202020204" pitchFamily="34" charset="0"/>
              </a:rPr>
              <a:t>Anane</a:t>
            </a:r>
            <a:r>
              <a:rPr lang="en-GB" sz="3200" dirty="0">
                <a:latin typeface="Helvetica" panose="020B0604020202020204" pitchFamily="34" charset="0"/>
                <a:cs typeface="Helvetica" panose="020B0604020202020204" pitchFamily="34" charset="0"/>
              </a:rPr>
              <a:t> at any of these places.</a:t>
            </a:r>
          </a:p>
        </p:txBody>
      </p:sp>
    </p:spTree>
    <p:extLst>
      <p:ext uri="{BB962C8B-B14F-4D97-AF65-F5344CB8AC3E}">
        <p14:creationId xmlns:p14="http://schemas.microsoft.com/office/powerpoint/2010/main" val="1031166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9035"/>
          </a:xfrm>
        </p:spPr>
        <p:txBody>
          <a:bodyPr/>
          <a:lstStyle/>
          <a:p>
            <a:pPr algn="l"/>
            <a:r>
              <a:rPr lang="en-US" dirty="0">
                <a:solidFill>
                  <a:srgbClr val="008000"/>
                </a:solidFill>
                <a:latin typeface="Helvetica"/>
                <a:cs typeface="Helvetica"/>
              </a:rPr>
              <a:t>AMBIGUITY cont’d</a:t>
            </a:r>
            <a:endParaRPr lang="en-US" dirty="0"/>
          </a:p>
        </p:txBody>
      </p:sp>
      <p:sp>
        <p:nvSpPr>
          <p:cNvPr id="3" name="TextBox 2"/>
          <p:cNvSpPr txBox="1"/>
          <p:nvPr/>
        </p:nvSpPr>
        <p:spPr>
          <a:xfrm>
            <a:off x="457200" y="1012954"/>
            <a:ext cx="8104909" cy="4832092"/>
          </a:xfrm>
          <a:prstGeom prst="rect">
            <a:avLst/>
          </a:prstGeom>
          <a:noFill/>
        </p:spPr>
        <p:txBody>
          <a:bodyPr wrap="square" rtlCol="0">
            <a:spAutoFit/>
          </a:bodyPr>
          <a:lstStyle/>
          <a:p>
            <a:r>
              <a:rPr lang="en-US" sz="2800" dirty="0">
                <a:latin typeface="Helvetica" panose="020B0604020202020204" pitchFamily="34" charset="0"/>
                <a:cs typeface="Helvetica" panose="020B0604020202020204" pitchFamily="34" charset="0"/>
              </a:rPr>
              <a:t>Please note: Intended Vs. Unintended Ambiguity</a:t>
            </a:r>
          </a:p>
          <a:p>
            <a:pPr marL="457200" indent="-457200">
              <a:buFont typeface="Arial" panose="020B0604020202020204" pitchFamily="34" charset="0"/>
              <a:buChar char="•"/>
            </a:pPr>
            <a:r>
              <a:rPr lang="en-US" sz="2800" dirty="0">
                <a:solidFill>
                  <a:srgbClr val="00B050"/>
                </a:solidFill>
                <a:latin typeface="Helvetica" panose="020B0604020202020204" pitchFamily="34" charset="0"/>
                <a:cs typeface="Helvetica" panose="020B0604020202020204" pitchFamily="34" charset="0"/>
              </a:rPr>
              <a:t>Intended Ambiguity</a:t>
            </a:r>
            <a:r>
              <a:rPr lang="en-US" sz="2800" dirty="0">
                <a:latin typeface="Helvetica" panose="020B0604020202020204" pitchFamily="34" charset="0"/>
                <a:cs typeface="Helvetica" panose="020B0604020202020204" pitchFamily="34" charset="0"/>
              </a:rPr>
              <a:t>: This is where a speaker/writer deliberately uses ambiguity for specific purpose/effect. </a:t>
            </a:r>
            <a:r>
              <a:rPr lang="en-US" sz="2800" dirty="0" err="1">
                <a:latin typeface="Helvetica" panose="020B0604020202020204" pitchFamily="34" charset="0"/>
                <a:cs typeface="Helvetica" panose="020B0604020202020204" pitchFamily="34" charset="0"/>
              </a:rPr>
              <a:t>Eg.</a:t>
            </a:r>
            <a:r>
              <a:rPr lang="en-US" sz="2800" dirty="0">
                <a:latin typeface="Helvetica" panose="020B0604020202020204" pitchFamily="34" charset="0"/>
                <a:cs typeface="Helvetica" panose="020B0604020202020204" pitchFamily="34" charset="0"/>
              </a:rPr>
              <a:t> In literature, politics, music etc.</a:t>
            </a: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Consider this, </a:t>
            </a:r>
            <a:r>
              <a:rPr lang="en-US" sz="2800" dirty="0">
                <a:solidFill>
                  <a:srgbClr val="00B050"/>
                </a:solidFill>
                <a:latin typeface="Helvetica" panose="020B0604020202020204" pitchFamily="34" charset="0"/>
                <a:cs typeface="Helvetica" panose="020B0604020202020204" pitchFamily="34" charset="0"/>
              </a:rPr>
              <a:t>“The law is not an empty barrel but the House of Lords (</a:t>
            </a:r>
            <a:r>
              <a:rPr lang="en-US" sz="2800" dirty="0" err="1">
                <a:solidFill>
                  <a:srgbClr val="00B050"/>
                </a:solidFill>
                <a:latin typeface="Helvetica" panose="020B0604020202020204" pitchFamily="34" charset="0"/>
                <a:cs typeface="Helvetica" panose="020B0604020202020204" pitchFamily="34" charset="0"/>
              </a:rPr>
              <a:t>HoLs</a:t>
            </a:r>
            <a:r>
              <a:rPr lang="en-US" sz="2800" dirty="0">
                <a:solidFill>
                  <a:srgbClr val="00B050"/>
                </a:solidFill>
                <a:latin typeface="Helvetica" panose="020B0604020202020204" pitchFamily="34" charset="0"/>
                <a:cs typeface="Helvetica" panose="020B0604020202020204" pitchFamily="34" charset="0"/>
              </a:rPr>
              <a:t>)”.</a:t>
            </a:r>
          </a:p>
          <a:p>
            <a:pPr marL="34290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Meaning 1: The law is not an empty barrel but the law is the </a:t>
            </a:r>
            <a:r>
              <a:rPr lang="en-US" sz="2800" dirty="0" err="1">
                <a:latin typeface="Helvetica" panose="020B0604020202020204" pitchFamily="34" charset="0"/>
                <a:cs typeface="Helvetica" panose="020B0604020202020204" pitchFamily="34" charset="0"/>
              </a:rPr>
              <a:t>HoLs</a:t>
            </a:r>
            <a:r>
              <a:rPr lang="en-US" sz="2800" dirty="0">
                <a:latin typeface="Helvetica" panose="020B0604020202020204" pitchFamily="34" charset="0"/>
                <a:cs typeface="Helvetica" panose="020B0604020202020204" pitchFamily="34" charset="0"/>
              </a:rPr>
              <a:t>.</a:t>
            </a:r>
          </a:p>
          <a:p>
            <a:pPr marL="34290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Meaning 2: The law is not an empty barrel, but the </a:t>
            </a:r>
            <a:r>
              <a:rPr lang="en-US" sz="2800" dirty="0" err="1">
                <a:latin typeface="Helvetica" panose="020B0604020202020204" pitchFamily="34" charset="0"/>
                <a:cs typeface="Helvetica" panose="020B0604020202020204" pitchFamily="34" charset="0"/>
              </a:rPr>
              <a:t>HoLs</a:t>
            </a:r>
            <a:r>
              <a:rPr lang="en-US" sz="2800" dirty="0">
                <a:latin typeface="Helvetica" panose="020B0604020202020204" pitchFamily="34" charset="0"/>
                <a:cs typeface="Helvetica" panose="020B0604020202020204" pitchFamily="34" charset="0"/>
              </a:rPr>
              <a:t> is an empty barrel.</a:t>
            </a:r>
          </a:p>
        </p:txBody>
      </p:sp>
    </p:spTree>
    <p:extLst>
      <p:ext uri="{BB962C8B-B14F-4D97-AF65-F5344CB8AC3E}">
        <p14:creationId xmlns:p14="http://schemas.microsoft.com/office/powerpoint/2010/main" val="3774845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17183"/>
          </a:xfrm>
        </p:spPr>
        <p:txBody>
          <a:bodyPr/>
          <a:lstStyle/>
          <a:p>
            <a:pPr algn="l"/>
            <a:r>
              <a:rPr lang="en-US" dirty="0">
                <a:solidFill>
                  <a:srgbClr val="008000"/>
                </a:solidFill>
                <a:latin typeface="Helvetica"/>
                <a:cs typeface="Helvetica"/>
              </a:rPr>
              <a:t>AMBIGUITY cont’d</a:t>
            </a:r>
            <a:endParaRPr lang="en-US" dirty="0"/>
          </a:p>
        </p:txBody>
      </p:sp>
      <p:sp>
        <p:nvSpPr>
          <p:cNvPr id="3" name="TextBox 2"/>
          <p:cNvSpPr txBox="1"/>
          <p:nvPr/>
        </p:nvSpPr>
        <p:spPr>
          <a:xfrm>
            <a:off x="249383" y="1117387"/>
            <a:ext cx="8437418"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The speaker can refer to M1 to avoid the charge of Contempt of Parliament though he/she may have intended to abuse the </a:t>
            </a:r>
            <a:r>
              <a:rPr lang="en-US" sz="2800" dirty="0" err="1">
                <a:latin typeface="Helvetica" panose="020B0604020202020204" pitchFamily="34" charset="0"/>
                <a:cs typeface="Helvetica" panose="020B0604020202020204" pitchFamily="34" charset="0"/>
              </a:rPr>
              <a:t>HoLs</a:t>
            </a:r>
            <a:r>
              <a:rPr lang="en-US" sz="2800" dirty="0">
                <a:latin typeface="Helvetica" panose="020B0604020202020204" pitchFamily="34" charset="0"/>
                <a:cs typeface="Helvetica" panose="020B0604020202020204" pitchFamily="34" charset="0"/>
              </a:rPr>
              <a:t> with M2.</a:t>
            </a:r>
          </a:p>
          <a:p>
            <a:pPr marL="457200" indent="-457200">
              <a:buFont typeface="Arial" panose="020B0604020202020204" pitchFamily="34" charset="0"/>
              <a:buChar char="•"/>
            </a:pPr>
            <a:r>
              <a:rPr lang="en-US" sz="2800" dirty="0">
                <a:solidFill>
                  <a:srgbClr val="00B050"/>
                </a:solidFill>
                <a:latin typeface="Helvetica" panose="020B0604020202020204" pitchFamily="34" charset="0"/>
                <a:cs typeface="Helvetica" panose="020B0604020202020204" pitchFamily="34" charset="0"/>
              </a:rPr>
              <a:t>Unintended Ambiguity</a:t>
            </a:r>
            <a:r>
              <a:rPr lang="en-US" sz="2800" dirty="0">
                <a:latin typeface="Helvetica" panose="020B0604020202020204" pitchFamily="34" charset="0"/>
                <a:cs typeface="Helvetica" panose="020B0604020202020204" pitchFamily="34" charset="0"/>
              </a:rPr>
              <a:t>: This is where a speaker/writer is not aware that what he/she said or wrote is ambiguous. </a:t>
            </a: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Our concern, on the subject of ambiguity, principally lies on the ambiguous statement which is not intended because it is a feature of bad writing/speech and must be avoided for effective communication. </a:t>
            </a:r>
          </a:p>
        </p:txBody>
      </p:sp>
    </p:spTree>
    <p:extLst>
      <p:ext uri="{BB962C8B-B14F-4D97-AF65-F5344CB8AC3E}">
        <p14:creationId xmlns:p14="http://schemas.microsoft.com/office/powerpoint/2010/main" val="3602907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8126"/>
          </a:xfrm>
        </p:spPr>
        <p:txBody>
          <a:bodyPr/>
          <a:lstStyle/>
          <a:p>
            <a:pPr algn="l"/>
            <a:r>
              <a:rPr lang="en-US" dirty="0">
                <a:solidFill>
                  <a:srgbClr val="008000"/>
                </a:solidFill>
                <a:latin typeface="Helvetica"/>
                <a:cs typeface="Helvetica"/>
              </a:rPr>
              <a:t>TYPES OF AMBIGUITY</a:t>
            </a:r>
            <a:endParaRPr lang="en-US" dirty="0"/>
          </a:p>
        </p:txBody>
      </p:sp>
      <p:sp>
        <p:nvSpPr>
          <p:cNvPr id="3" name="TextBox 2"/>
          <p:cNvSpPr txBox="1"/>
          <p:nvPr/>
        </p:nvSpPr>
        <p:spPr>
          <a:xfrm>
            <a:off x="332509" y="1120401"/>
            <a:ext cx="8132618" cy="4708981"/>
          </a:xfrm>
          <a:prstGeom prst="rect">
            <a:avLst/>
          </a:prstGeom>
          <a:noFill/>
        </p:spPr>
        <p:txBody>
          <a:bodyPr wrap="square" rtlCol="0">
            <a:spAutoFit/>
          </a:bodyPr>
          <a:lstStyle/>
          <a:p>
            <a:pPr marL="45720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Ambiguity may be considered lexical, categorical, conceptual and structural (Afreh 2006).</a:t>
            </a:r>
          </a:p>
          <a:p>
            <a:pPr marL="457200" indent="-457200">
              <a:buFont typeface="Arial" panose="020B0604020202020204" pitchFamily="34" charset="0"/>
              <a:buChar char="•"/>
            </a:pPr>
            <a:r>
              <a:rPr lang="en-US" sz="2500" dirty="0">
                <a:solidFill>
                  <a:srgbClr val="00B050"/>
                </a:solidFill>
                <a:latin typeface="Helvetica" panose="020B0604020202020204" pitchFamily="34" charset="0"/>
                <a:cs typeface="Helvetica" panose="020B0604020202020204" pitchFamily="34" charset="0"/>
              </a:rPr>
              <a:t>Lexical Ambiguity</a:t>
            </a:r>
            <a:r>
              <a:rPr lang="en-US" sz="2500" dirty="0">
                <a:latin typeface="Helvetica" panose="020B0604020202020204" pitchFamily="34" charset="0"/>
                <a:cs typeface="Helvetica" panose="020B0604020202020204" pitchFamily="34" charset="0"/>
              </a:rPr>
              <a:t>: This is where a word can be assigned more than one meaning.</a:t>
            </a:r>
          </a:p>
          <a:p>
            <a:pPr marL="45720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Eg. </a:t>
            </a:r>
            <a:r>
              <a:rPr lang="en-GB" sz="2500" dirty="0">
                <a:latin typeface="Helvetica" panose="020B0604020202020204" pitchFamily="34" charset="0"/>
                <a:cs typeface="Helvetica" panose="020B0604020202020204" pitchFamily="34" charset="0"/>
              </a:rPr>
              <a:t>I met Mr. </a:t>
            </a:r>
            <a:r>
              <a:rPr lang="en-GB" sz="2500" dirty="0" err="1">
                <a:latin typeface="Helvetica" panose="020B0604020202020204" pitchFamily="34" charset="0"/>
                <a:cs typeface="Helvetica" panose="020B0604020202020204" pitchFamily="34" charset="0"/>
              </a:rPr>
              <a:t>Anane</a:t>
            </a:r>
            <a:r>
              <a:rPr lang="en-GB" sz="2500" dirty="0">
                <a:latin typeface="Helvetica" panose="020B0604020202020204" pitchFamily="34" charset="0"/>
                <a:cs typeface="Helvetica" panose="020B0604020202020204" pitchFamily="34" charset="0"/>
              </a:rPr>
              <a:t> at the </a:t>
            </a:r>
            <a:r>
              <a:rPr lang="en-GB" sz="2500" u="sng" dirty="0">
                <a:latin typeface="Helvetica" panose="020B0604020202020204" pitchFamily="34" charset="0"/>
                <a:cs typeface="Helvetica" panose="020B0604020202020204" pitchFamily="34" charset="0"/>
              </a:rPr>
              <a:t>court</a:t>
            </a:r>
            <a:r>
              <a:rPr lang="en-GB" sz="2500" dirty="0">
                <a:latin typeface="Helvetica" panose="020B0604020202020204" pitchFamily="34" charset="0"/>
                <a:cs typeface="Helvetica" panose="020B0604020202020204" pitchFamily="34" charset="0"/>
              </a:rPr>
              <a:t>. (as explained on slide 3)</a:t>
            </a:r>
          </a:p>
          <a:p>
            <a:pPr marL="457200" indent="-457200">
              <a:buFont typeface="Arial" panose="020B0604020202020204" pitchFamily="34" charset="0"/>
              <a:buChar char="•"/>
            </a:pPr>
            <a:r>
              <a:rPr lang="en-US" sz="2500" dirty="0">
                <a:solidFill>
                  <a:srgbClr val="00B050"/>
                </a:solidFill>
                <a:latin typeface="Helvetica" panose="020B0604020202020204" pitchFamily="34" charset="0"/>
                <a:cs typeface="Helvetica" panose="020B0604020202020204" pitchFamily="34" charset="0"/>
              </a:rPr>
              <a:t>Categorical Ambiguity</a:t>
            </a:r>
            <a:r>
              <a:rPr lang="en-US" sz="2500" dirty="0">
                <a:latin typeface="Helvetica" panose="020B0604020202020204" pitchFamily="34" charset="0"/>
                <a:cs typeface="Helvetica" panose="020B0604020202020204" pitchFamily="34" charset="0"/>
              </a:rPr>
              <a:t>: This occurs when a word is used to function differently in different context. </a:t>
            </a:r>
          </a:p>
          <a:p>
            <a:pPr marL="45720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Eg1. Go </a:t>
            </a:r>
            <a:r>
              <a:rPr lang="en-US" sz="2500" u="sng" dirty="0">
                <a:latin typeface="Helvetica" panose="020B0604020202020204" pitchFamily="34" charset="0"/>
                <a:cs typeface="Helvetica" panose="020B0604020202020204" pitchFamily="34" charset="0"/>
              </a:rPr>
              <a:t>round</a:t>
            </a:r>
            <a:r>
              <a:rPr lang="en-US" sz="2500" dirty="0">
                <a:latin typeface="Helvetica" panose="020B0604020202020204" pitchFamily="34" charset="0"/>
                <a:cs typeface="Helvetica" panose="020B0604020202020204" pitchFamily="34" charset="0"/>
              </a:rPr>
              <a:t> the table (adverb)</a:t>
            </a:r>
          </a:p>
          <a:p>
            <a:pPr marL="45720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Eg.2. I have a </a:t>
            </a:r>
            <a:r>
              <a:rPr lang="en-US" sz="2500" u="sng" dirty="0">
                <a:latin typeface="Helvetica" panose="020B0604020202020204" pitchFamily="34" charset="0"/>
                <a:cs typeface="Helvetica" panose="020B0604020202020204" pitchFamily="34" charset="0"/>
              </a:rPr>
              <a:t>round</a:t>
            </a:r>
            <a:r>
              <a:rPr lang="en-US" sz="2500" dirty="0">
                <a:latin typeface="Helvetica" panose="020B0604020202020204" pitchFamily="34" charset="0"/>
                <a:cs typeface="Helvetica" panose="020B0604020202020204" pitchFamily="34" charset="0"/>
              </a:rPr>
              <a:t> table (adjective)</a:t>
            </a:r>
          </a:p>
          <a:p>
            <a:pPr marL="45720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Eg.3. I forfeited the final </a:t>
            </a:r>
            <a:r>
              <a:rPr lang="en-US" sz="2500" u="sng" dirty="0">
                <a:latin typeface="Helvetica" panose="020B0604020202020204" pitchFamily="34" charset="0"/>
                <a:cs typeface="Helvetica" panose="020B0604020202020204" pitchFamily="34" charset="0"/>
              </a:rPr>
              <a:t>round</a:t>
            </a:r>
            <a:r>
              <a:rPr lang="en-US" sz="2500" dirty="0">
                <a:latin typeface="Helvetica" panose="020B0604020202020204" pitchFamily="34" charset="0"/>
                <a:cs typeface="Helvetica" panose="020B0604020202020204" pitchFamily="34" charset="0"/>
              </a:rPr>
              <a:t> of the competition (noun).</a:t>
            </a:r>
          </a:p>
        </p:txBody>
      </p:sp>
    </p:spTree>
    <p:extLst>
      <p:ext uri="{BB962C8B-B14F-4D97-AF65-F5344CB8AC3E}">
        <p14:creationId xmlns:p14="http://schemas.microsoft.com/office/powerpoint/2010/main" val="1106007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71774"/>
          </a:xfrm>
        </p:spPr>
        <p:txBody>
          <a:bodyPr/>
          <a:lstStyle/>
          <a:p>
            <a:pPr algn="l"/>
            <a:r>
              <a:rPr lang="en-US" dirty="0">
                <a:solidFill>
                  <a:srgbClr val="008000"/>
                </a:solidFill>
                <a:latin typeface="Helvetica"/>
                <a:cs typeface="Helvetica"/>
              </a:rPr>
              <a:t>TYPES OF AMBIGUITY cont’d</a:t>
            </a:r>
            <a:endParaRPr lang="en-US" dirty="0"/>
          </a:p>
        </p:txBody>
      </p:sp>
      <p:sp>
        <p:nvSpPr>
          <p:cNvPr id="3" name="TextBox 2"/>
          <p:cNvSpPr txBox="1"/>
          <p:nvPr/>
        </p:nvSpPr>
        <p:spPr>
          <a:xfrm>
            <a:off x="216910" y="1473958"/>
            <a:ext cx="8469890" cy="4247317"/>
          </a:xfrm>
          <a:prstGeom prst="rect">
            <a:avLst/>
          </a:prstGeom>
          <a:noFill/>
        </p:spPr>
        <p:txBody>
          <a:bodyPr wrap="square" rtlCol="0">
            <a:spAutoFit/>
          </a:bodyPr>
          <a:lstStyle/>
          <a:p>
            <a:pPr marL="457200" lvl="0" indent="-457200">
              <a:buFont typeface="Arial" panose="020B0604020202020204" pitchFamily="34" charset="0"/>
              <a:buChar char="•"/>
            </a:pPr>
            <a:r>
              <a:rPr lang="en-GB" sz="3000" dirty="0">
                <a:solidFill>
                  <a:srgbClr val="00B050"/>
                </a:solidFill>
                <a:latin typeface="Helvetica" panose="020B0604020202020204" pitchFamily="34" charset="0"/>
                <a:cs typeface="Helvetica" panose="020B0604020202020204" pitchFamily="34" charset="0"/>
              </a:rPr>
              <a:t>Conceptual Ambiguity</a:t>
            </a:r>
            <a:r>
              <a:rPr lang="en-GB" sz="3000" dirty="0">
                <a:latin typeface="Helvetica" panose="020B0604020202020204" pitchFamily="34" charset="0"/>
                <a:cs typeface="Helvetica" panose="020B0604020202020204" pitchFamily="34" charset="0"/>
              </a:rPr>
              <a:t>: This occurs when a word is used to refer to different concepts</a:t>
            </a:r>
          </a:p>
          <a:p>
            <a:pPr lvl="0"/>
            <a:endParaRPr lang="en-GB" sz="3000"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GB" sz="3000" b="1" dirty="0">
                <a:latin typeface="Helvetica" panose="020B0604020202020204" pitchFamily="34" charset="0"/>
                <a:cs typeface="Helvetica" panose="020B0604020202020204" pitchFamily="34" charset="0"/>
              </a:rPr>
              <a:t>Eg1</a:t>
            </a:r>
            <a:r>
              <a:rPr lang="en-GB" sz="3000" dirty="0">
                <a:latin typeface="Helvetica" panose="020B0604020202020204" pitchFamily="34" charset="0"/>
                <a:cs typeface="Helvetica" panose="020B0604020202020204" pitchFamily="34" charset="0"/>
              </a:rPr>
              <a:t>. The battery was fully </a:t>
            </a:r>
            <a:r>
              <a:rPr lang="en-GB" sz="3000" u="sng" dirty="0">
                <a:latin typeface="Helvetica" panose="020B0604020202020204" pitchFamily="34" charset="0"/>
                <a:cs typeface="Helvetica" panose="020B0604020202020204" pitchFamily="34" charset="0"/>
              </a:rPr>
              <a:t>charged </a:t>
            </a:r>
            <a:r>
              <a:rPr lang="en-GB" sz="3000" dirty="0">
                <a:latin typeface="Helvetica" panose="020B0604020202020204" pitchFamily="34" charset="0"/>
                <a:cs typeface="Helvetica" panose="020B0604020202020204" pitchFamily="34" charset="0"/>
              </a:rPr>
              <a:t>(electricity)</a:t>
            </a:r>
          </a:p>
          <a:p>
            <a:pPr marL="457200" lvl="0" indent="-457200">
              <a:buFont typeface="Arial" panose="020B0604020202020204" pitchFamily="34" charset="0"/>
              <a:buChar char="•"/>
            </a:pPr>
            <a:r>
              <a:rPr lang="en-GB" sz="3000" b="1" dirty="0">
                <a:latin typeface="Helvetica" panose="020B0604020202020204" pitchFamily="34" charset="0"/>
                <a:cs typeface="Helvetica" panose="020B0604020202020204" pitchFamily="34" charset="0"/>
              </a:rPr>
              <a:t>Eg2</a:t>
            </a:r>
            <a:r>
              <a:rPr lang="en-GB" sz="3000" dirty="0">
                <a:latin typeface="Helvetica" panose="020B0604020202020204" pitchFamily="34" charset="0"/>
                <a:cs typeface="Helvetica" panose="020B0604020202020204" pitchFamily="34" charset="0"/>
              </a:rPr>
              <a:t>. He was </a:t>
            </a:r>
            <a:r>
              <a:rPr lang="en-GB" sz="3000" u="sng" dirty="0">
                <a:latin typeface="Helvetica" panose="020B0604020202020204" pitchFamily="34" charset="0"/>
                <a:cs typeface="Helvetica" panose="020B0604020202020204" pitchFamily="34" charset="0"/>
              </a:rPr>
              <a:t>charged</a:t>
            </a:r>
            <a:r>
              <a:rPr lang="en-GB" sz="3000" dirty="0">
                <a:latin typeface="Helvetica" panose="020B0604020202020204" pitchFamily="34" charset="0"/>
                <a:cs typeface="Helvetica" panose="020B0604020202020204" pitchFamily="34" charset="0"/>
              </a:rPr>
              <a:t> with contempt (legal)</a:t>
            </a:r>
          </a:p>
          <a:p>
            <a:pPr marL="457200" lvl="0" indent="-457200">
              <a:buFont typeface="Arial" panose="020B0604020202020204" pitchFamily="34" charset="0"/>
              <a:buChar char="•"/>
            </a:pPr>
            <a:r>
              <a:rPr lang="en-GB" sz="3000" b="1" dirty="0">
                <a:latin typeface="Helvetica" panose="020B0604020202020204" pitchFamily="34" charset="0"/>
                <a:cs typeface="Helvetica" panose="020B0604020202020204" pitchFamily="34" charset="0"/>
              </a:rPr>
              <a:t>Eg3.</a:t>
            </a:r>
            <a:r>
              <a:rPr lang="en-GB" sz="3000" dirty="0">
                <a:latin typeface="Helvetica" panose="020B0604020202020204" pitchFamily="34" charset="0"/>
                <a:cs typeface="Helvetica" panose="020B0604020202020204" pitchFamily="34" charset="0"/>
              </a:rPr>
              <a:t> The Registrar was </a:t>
            </a:r>
            <a:r>
              <a:rPr lang="en-GB" sz="3000" u="sng" dirty="0">
                <a:latin typeface="Helvetica" panose="020B0604020202020204" pitchFamily="34" charset="0"/>
                <a:cs typeface="Helvetica" panose="020B0604020202020204" pitchFamily="34" charset="0"/>
              </a:rPr>
              <a:t>charged</a:t>
            </a:r>
            <a:r>
              <a:rPr lang="en-GB" sz="3000" dirty="0">
                <a:latin typeface="Helvetica" panose="020B0604020202020204" pitchFamily="34" charset="0"/>
                <a:cs typeface="Helvetica" panose="020B0604020202020204" pitchFamily="34" charset="0"/>
              </a:rPr>
              <a:t> with students’ affairs (responsibility)</a:t>
            </a:r>
          </a:p>
          <a:p>
            <a:pPr marL="457200" lvl="0" indent="-457200">
              <a:buFont typeface="Arial" panose="020B0604020202020204" pitchFamily="34" charset="0"/>
              <a:buChar char="•"/>
            </a:pPr>
            <a:endParaRPr lang="en-GB" sz="3000" dirty="0">
              <a:latin typeface="Helvetica" panose="020B0604020202020204" pitchFamily="34" charset="0"/>
              <a:cs typeface="Helvetica" panose="020B0604020202020204" pitchFamily="34" charset="0"/>
            </a:endParaRPr>
          </a:p>
          <a:p>
            <a:pPr lvl="0"/>
            <a:endParaRPr lang="en-GB" sz="3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612633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99BCF-C865-42B7-8B2A-B8411E4D6943}"/>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008000"/>
                </a:solidFill>
                <a:effectLst/>
                <a:uLnTx/>
                <a:uFillTx/>
                <a:latin typeface="Helvetica"/>
                <a:ea typeface="+mj-ea"/>
                <a:cs typeface="Helvetica"/>
              </a:rPr>
              <a:t>TYPES OF AMBIGUITY cont’d</a:t>
            </a:r>
            <a:endParaRPr lang="en-GB" dirty="0"/>
          </a:p>
        </p:txBody>
      </p:sp>
      <p:sp>
        <p:nvSpPr>
          <p:cNvPr id="3" name="TextBox 2">
            <a:extLst>
              <a:ext uri="{FF2B5EF4-FFF2-40B4-BE49-F238E27FC236}">
                <a16:creationId xmlns:a16="http://schemas.microsoft.com/office/drawing/2014/main" id="{53FF0FB1-B2A7-4D12-B395-07C2E4A20B87}"/>
              </a:ext>
            </a:extLst>
          </p:cNvPr>
          <p:cNvSpPr txBox="1"/>
          <p:nvPr/>
        </p:nvSpPr>
        <p:spPr>
          <a:xfrm>
            <a:off x="216910" y="1146412"/>
            <a:ext cx="8469890" cy="3970318"/>
          </a:xfrm>
          <a:prstGeom prst="rect">
            <a:avLst/>
          </a:prstGeom>
          <a:noFill/>
        </p:spPr>
        <p:txBody>
          <a:bodyPr wrap="square" rtlCol="0">
            <a:spAutoFit/>
          </a:bodyPr>
          <a:lstStyle/>
          <a:p>
            <a:pPr marL="457200" lvl="0" indent="-457200">
              <a:buFont typeface="Arial" panose="020B0604020202020204" pitchFamily="34" charset="0"/>
              <a:buChar char="•"/>
            </a:pPr>
            <a:r>
              <a:rPr lang="en-GB" sz="2800" dirty="0">
                <a:solidFill>
                  <a:srgbClr val="00B050"/>
                </a:solidFill>
                <a:latin typeface="Helvetica" panose="020B0604020202020204" pitchFamily="34" charset="0"/>
                <a:cs typeface="Helvetica" panose="020B0604020202020204" pitchFamily="34" charset="0"/>
              </a:rPr>
              <a:t>Structural Ambiguity</a:t>
            </a:r>
            <a:r>
              <a:rPr lang="en-GB" sz="2800" dirty="0">
                <a:latin typeface="Helvetica" panose="020B0604020202020204" pitchFamily="34" charset="0"/>
                <a:cs typeface="Helvetica" panose="020B0604020202020204" pitchFamily="34" charset="0"/>
              </a:rPr>
              <a:t>: This occurs as a result of how words are put together as structures. </a:t>
            </a:r>
          </a:p>
          <a:p>
            <a:pPr marL="457200" lvl="0" indent="-457200">
              <a:buFont typeface="Arial" panose="020B0604020202020204" pitchFamily="34" charset="0"/>
              <a:buChar char="•"/>
            </a:pPr>
            <a:r>
              <a:rPr lang="en-GB" sz="2800" dirty="0">
                <a:latin typeface="Helvetica" panose="020B0604020202020204" pitchFamily="34" charset="0"/>
                <a:cs typeface="Helvetica" panose="020B0604020202020204" pitchFamily="34" charset="0"/>
              </a:rPr>
              <a:t>It occurs from many sources. Some of these are:</a:t>
            </a:r>
          </a:p>
          <a:p>
            <a:pPr lvl="0"/>
            <a:endParaRPr lang="en-GB" sz="2800" dirty="0">
              <a:latin typeface="Helvetica" panose="020B0604020202020204" pitchFamily="34" charset="0"/>
              <a:cs typeface="Helvetica" panose="020B0604020202020204" pitchFamily="34" charset="0"/>
            </a:endParaRPr>
          </a:p>
          <a:p>
            <a:pPr lvl="0" algn="ctr"/>
            <a:r>
              <a:rPr lang="en-GB" sz="2800" dirty="0">
                <a:latin typeface="Helvetica" panose="020B0604020202020204" pitchFamily="34" charset="0"/>
                <a:cs typeface="Helvetica" panose="020B0604020202020204" pitchFamily="34" charset="0"/>
              </a:rPr>
              <a:t>1. Unclear Modification</a:t>
            </a:r>
          </a:p>
          <a:p>
            <a:pPr lvl="0" algn="ctr"/>
            <a:r>
              <a:rPr lang="en-GB" sz="2800" dirty="0">
                <a:latin typeface="Helvetica" panose="020B0604020202020204" pitchFamily="34" charset="0"/>
                <a:cs typeface="Helvetica" panose="020B0604020202020204" pitchFamily="34" charset="0"/>
              </a:rPr>
              <a:t>2. Wrong placement of adverbs of frequency</a:t>
            </a:r>
          </a:p>
          <a:p>
            <a:pPr lvl="0" algn="ctr"/>
            <a:r>
              <a:rPr lang="en-GB" sz="2800" dirty="0">
                <a:latin typeface="Helvetica" panose="020B0604020202020204" pitchFamily="34" charset="0"/>
                <a:cs typeface="Helvetica" panose="020B0604020202020204" pitchFamily="34" charset="0"/>
              </a:rPr>
              <a:t>3. Making clauses nominal			</a:t>
            </a:r>
          </a:p>
          <a:p>
            <a:pPr lvl="0" algn="ctr"/>
            <a:r>
              <a:rPr lang="en-GB" sz="2800" dirty="0">
                <a:latin typeface="Helvetica" panose="020B0604020202020204" pitchFamily="34" charset="0"/>
                <a:cs typeface="Helvetica" panose="020B0604020202020204" pitchFamily="34" charset="0"/>
              </a:rPr>
              <a:t>4. Wrong placement of pronoun</a:t>
            </a:r>
          </a:p>
          <a:p>
            <a:pPr lvl="0" algn="ctr"/>
            <a:endParaRPr lang="en-GB"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55376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7931D-71DB-4999-991C-5CC716218F07}"/>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008000"/>
                </a:solidFill>
                <a:effectLst/>
                <a:uLnTx/>
                <a:uFillTx/>
                <a:latin typeface="Helvetica"/>
                <a:ea typeface="+mj-ea"/>
                <a:cs typeface="Helvetica"/>
              </a:rPr>
              <a:t>TYPES OF AMBIGUITY cont’d</a:t>
            </a:r>
            <a:endParaRPr lang="en-GB" dirty="0"/>
          </a:p>
        </p:txBody>
      </p:sp>
      <p:sp>
        <p:nvSpPr>
          <p:cNvPr id="3" name="TextBox 2">
            <a:extLst>
              <a:ext uri="{FF2B5EF4-FFF2-40B4-BE49-F238E27FC236}">
                <a16:creationId xmlns:a16="http://schemas.microsoft.com/office/drawing/2014/main" id="{47FDB7B5-859E-4C99-92F3-8B96EDA579F0}"/>
              </a:ext>
            </a:extLst>
          </p:cNvPr>
          <p:cNvSpPr txBox="1"/>
          <p:nvPr/>
        </p:nvSpPr>
        <p:spPr>
          <a:xfrm>
            <a:off x="216910" y="1417638"/>
            <a:ext cx="8469890" cy="3939540"/>
          </a:xfrm>
          <a:prstGeom prst="rect">
            <a:avLst/>
          </a:prstGeom>
          <a:noFill/>
        </p:spPr>
        <p:txBody>
          <a:bodyPr wrap="square" rtlCol="0">
            <a:spAutoFit/>
          </a:bodyPr>
          <a:lstStyle/>
          <a:p>
            <a:pPr marL="457200" lvl="0" indent="-457200">
              <a:buFont typeface="Arial" panose="020B0604020202020204" pitchFamily="34" charset="0"/>
              <a:buChar char="•"/>
            </a:pPr>
            <a:r>
              <a:rPr lang="en-GB" sz="2800" b="1" dirty="0">
                <a:latin typeface="Helvetica" panose="020B0604020202020204" pitchFamily="34" charset="0"/>
                <a:cs typeface="Helvetica" panose="020B0604020202020204" pitchFamily="34" charset="0"/>
              </a:rPr>
              <a:t>Unclear Modification:</a:t>
            </a:r>
          </a:p>
          <a:p>
            <a:pPr lvl="0"/>
            <a:endParaRPr lang="en-GB" sz="2800" b="1"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GB" sz="2800" b="1" dirty="0">
                <a:latin typeface="Helvetica" panose="020B0604020202020204" pitchFamily="34" charset="0"/>
                <a:cs typeface="Helvetica" panose="020B0604020202020204" pitchFamily="34" charset="0"/>
              </a:rPr>
              <a:t>Eg1</a:t>
            </a:r>
            <a:r>
              <a:rPr lang="en-GB" sz="2800" dirty="0">
                <a:latin typeface="Helvetica" panose="020B0604020202020204" pitchFamily="34" charset="0"/>
                <a:cs typeface="Helvetica" panose="020B0604020202020204" pitchFamily="34" charset="0"/>
              </a:rPr>
              <a:t>. </a:t>
            </a:r>
            <a:r>
              <a:rPr lang="en-GB" sz="2800" u="sng" dirty="0">
                <a:latin typeface="Helvetica" panose="020B0604020202020204" pitchFamily="34" charset="0"/>
                <a:cs typeface="Helvetica" panose="020B0604020202020204" pitchFamily="34" charset="0"/>
              </a:rPr>
              <a:t>Visiting family members </a:t>
            </a:r>
            <a:r>
              <a:rPr lang="en-GB" sz="2800" dirty="0">
                <a:latin typeface="Helvetica" panose="020B0604020202020204" pitchFamily="34" charset="0"/>
                <a:cs typeface="Helvetica" panose="020B0604020202020204" pitchFamily="34" charset="0"/>
              </a:rPr>
              <a:t>can be dangerous (family members who visit or the act of visiting family members?)</a:t>
            </a:r>
          </a:p>
          <a:p>
            <a:pPr marL="457200" lvl="0" indent="-457200">
              <a:buFont typeface="Arial" panose="020B0604020202020204" pitchFamily="34" charset="0"/>
              <a:buChar char="•"/>
            </a:pPr>
            <a:r>
              <a:rPr lang="en-GB" sz="2800" b="1" dirty="0">
                <a:latin typeface="Helvetica" panose="020B0604020202020204" pitchFamily="34" charset="0"/>
                <a:cs typeface="Helvetica" panose="020B0604020202020204" pitchFamily="34" charset="0"/>
              </a:rPr>
              <a:t>M1</a:t>
            </a:r>
            <a:r>
              <a:rPr lang="en-GB" sz="2800" dirty="0">
                <a:latin typeface="Helvetica" panose="020B0604020202020204" pitchFamily="34" charset="0"/>
                <a:cs typeface="Helvetica" panose="020B0604020202020204" pitchFamily="34" charset="0"/>
              </a:rPr>
              <a:t>: Family members who visit can be dangerous.</a:t>
            </a:r>
          </a:p>
          <a:p>
            <a:pPr marL="457200" lvl="0" indent="-457200">
              <a:buFont typeface="Arial" panose="020B0604020202020204" pitchFamily="34" charset="0"/>
              <a:buChar char="•"/>
            </a:pPr>
            <a:r>
              <a:rPr lang="en-GB" sz="2800" b="1" dirty="0">
                <a:latin typeface="Helvetica" panose="020B0604020202020204" pitchFamily="34" charset="0"/>
                <a:cs typeface="Helvetica" panose="020B0604020202020204" pitchFamily="34" charset="0"/>
              </a:rPr>
              <a:t>M2</a:t>
            </a:r>
            <a:r>
              <a:rPr lang="en-GB" sz="2800" dirty="0">
                <a:latin typeface="Helvetica" panose="020B0604020202020204" pitchFamily="34" charset="0"/>
                <a:cs typeface="Helvetica" panose="020B0604020202020204" pitchFamily="34" charset="0"/>
              </a:rPr>
              <a:t>: To visit family members can be dangerous.</a:t>
            </a:r>
          </a:p>
          <a:p>
            <a:pPr lvl="0"/>
            <a:endParaRPr lang="en-GB" sz="2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745256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B3D26-D7C4-4373-A942-01F9F90909B8}"/>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008000"/>
                </a:solidFill>
                <a:effectLst/>
                <a:uLnTx/>
                <a:uFillTx/>
                <a:latin typeface="Helvetica"/>
                <a:ea typeface="+mj-ea"/>
                <a:cs typeface="Helvetica"/>
              </a:rPr>
              <a:t>TYPES OF AMBIGUITY cont’d</a:t>
            </a:r>
            <a:endParaRPr lang="en-GB" dirty="0"/>
          </a:p>
        </p:txBody>
      </p:sp>
      <p:sp>
        <p:nvSpPr>
          <p:cNvPr id="3" name="TextBox 2">
            <a:extLst>
              <a:ext uri="{FF2B5EF4-FFF2-40B4-BE49-F238E27FC236}">
                <a16:creationId xmlns:a16="http://schemas.microsoft.com/office/drawing/2014/main" id="{761A6EFB-ABB2-4757-ADDE-EE3234EFE6FB}"/>
              </a:ext>
            </a:extLst>
          </p:cNvPr>
          <p:cNvSpPr txBox="1"/>
          <p:nvPr/>
        </p:nvSpPr>
        <p:spPr>
          <a:xfrm>
            <a:off x="216910" y="1417638"/>
            <a:ext cx="8469890" cy="4370427"/>
          </a:xfrm>
          <a:prstGeom prst="rect">
            <a:avLst/>
          </a:prstGeom>
          <a:noFill/>
        </p:spPr>
        <p:txBody>
          <a:bodyPr wrap="square" rtlCol="0">
            <a:spAutoFit/>
          </a:bodyPr>
          <a:lstStyle/>
          <a:p>
            <a:pPr marL="457200" lvl="0" indent="-457200">
              <a:buFont typeface="Arial" panose="020B0604020202020204" pitchFamily="34" charset="0"/>
              <a:buChar char="•"/>
            </a:pPr>
            <a:r>
              <a:rPr lang="en-GB" sz="2800" b="1" dirty="0">
                <a:latin typeface="Helvetica" panose="020B0604020202020204" pitchFamily="34" charset="0"/>
                <a:cs typeface="Helvetica" panose="020B0604020202020204" pitchFamily="34" charset="0"/>
              </a:rPr>
              <a:t>Wrong placement of adverbs of frequency:</a:t>
            </a:r>
          </a:p>
          <a:p>
            <a:pPr lvl="0"/>
            <a:endParaRPr lang="en-GB" sz="2800" b="1" dirty="0">
              <a:latin typeface="Helvetica" panose="020B0604020202020204" pitchFamily="34" charset="0"/>
              <a:cs typeface="Helvetica" panose="020B0604020202020204" pitchFamily="34" charset="0"/>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Eg2</a:t>
            </a:r>
            <a:r>
              <a:rPr kumimoji="0" lang="en-US" sz="28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The lecturers who </a:t>
            </a:r>
            <a:r>
              <a:rPr kumimoji="0" lang="en-US" sz="2800" b="0" i="0" u="sng"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watched</a:t>
            </a:r>
            <a:r>
              <a:rPr kumimoji="0" lang="en-US" sz="28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the movie </a:t>
            </a:r>
            <a:r>
              <a:rPr kumimoji="0" lang="en-US" sz="2800" b="1" i="0" u="sng"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frequently</a:t>
            </a:r>
            <a:r>
              <a:rPr kumimoji="0" lang="en-US" sz="28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a:t>
            </a:r>
            <a:r>
              <a:rPr kumimoji="0" lang="en-US" sz="2800" b="0" i="0" u="sng"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commended</a:t>
            </a:r>
            <a:r>
              <a:rPr kumimoji="0" lang="en-US" sz="28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it. (frequently watched or commended it frequently?)</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1" dirty="0">
                <a:solidFill>
                  <a:prstClr val="black"/>
                </a:solidFill>
                <a:latin typeface="Helvetica" panose="020B0604020202020204" pitchFamily="34" charset="0"/>
                <a:cs typeface="Helvetica" panose="020B0604020202020204" pitchFamily="34" charset="0"/>
              </a:rPr>
              <a:t>M1</a:t>
            </a:r>
            <a:r>
              <a:rPr lang="en-US" sz="2800" dirty="0">
                <a:solidFill>
                  <a:prstClr val="black"/>
                </a:solidFill>
                <a:latin typeface="Helvetica" panose="020B0604020202020204" pitchFamily="34" charset="0"/>
                <a:cs typeface="Helvetica" panose="020B0604020202020204" pitchFamily="34" charset="0"/>
              </a:rPr>
              <a:t>. The lecturers who </a:t>
            </a:r>
            <a:r>
              <a:rPr lang="en-US" sz="2800" b="1" dirty="0">
                <a:solidFill>
                  <a:prstClr val="black"/>
                </a:solidFill>
                <a:latin typeface="Helvetica" panose="020B0604020202020204" pitchFamily="34" charset="0"/>
                <a:cs typeface="Helvetica" panose="020B0604020202020204" pitchFamily="34" charset="0"/>
              </a:rPr>
              <a:t>frequently</a:t>
            </a:r>
            <a:r>
              <a:rPr lang="en-US" sz="2800" dirty="0">
                <a:solidFill>
                  <a:prstClr val="black"/>
                </a:solidFill>
                <a:latin typeface="Helvetica" panose="020B0604020202020204" pitchFamily="34" charset="0"/>
                <a:cs typeface="Helvetica" panose="020B0604020202020204" pitchFamily="34" charset="0"/>
              </a:rPr>
              <a:t> </a:t>
            </a:r>
            <a:r>
              <a:rPr lang="en-US" sz="2800" b="1" dirty="0">
                <a:solidFill>
                  <a:prstClr val="black"/>
                </a:solidFill>
                <a:latin typeface="Helvetica" panose="020B0604020202020204" pitchFamily="34" charset="0"/>
                <a:cs typeface="Helvetica" panose="020B0604020202020204" pitchFamily="34" charset="0"/>
              </a:rPr>
              <a:t>watched</a:t>
            </a:r>
            <a:r>
              <a:rPr lang="en-US" sz="2800" dirty="0">
                <a:solidFill>
                  <a:prstClr val="black"/>
                </a:solidFill>
                <a:latin typeface="Helvetica" panose="020B0604020202020204" pitchFamily="34" charset="0"/>
                <a:cs typeface="Helvetica" panose="020B0604020202020204" pitchFamily="34" charset="0"/>
              </a:rPr>
              <a:t> the movie commended it.</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1" dirty="0">
                <a:solidFill>
                  <a:prstClr val="black"/>
                </a:solidFill>
                <a:latin typeface="Helvetica" panose="020B0604020202020204" pitchFamily="34" charset="0"/>
                <a:cs typeface="Helvetica" panose="020B0604020202020204" pitchFamily="34" charset="0"/>
              </a:rPr>
              <a:t>M2</a:t>
            </a:r>
            <a:r>
              <a:rPr lang="en-US" sz="2800" dirty="0">
                <a:solidFill>
                  <a:prstClr val="black"/>
                </a:solidFill>
                <a:latin typeface="Helvetica" panose="020B0604020202020204" pitchFamily="34" charset="0"/>
                <a:cs typeface="Helvetica" panose="020B0604020202020204" pitchFamily="34" charset="0"/>
              </a:rPr>
              <a:t>. The lecturers who watched the movie </a:t>
            </a:r>
            <a:r>
              <a:rPr lang="en-US" sz="2800" b="1" dirty="0">
                <a:solidFill>
                  <a:prstClr val="black"/>
                </a:solidFill>
                <a:latin typeface="Helvetica" panose="020B0604020202020204" pitchFamily="34" charset="0"/>
                <a:cs typeface="Helvetica" panose="020B0604020202020204" pitchFamily="34" charset="0"/>
              </a:rPr>
              <a:t>commended</a:t>
            </a:r>
            <a:r>
              <a:rPr lang="en-US" sz="2800" dirty="0">
                <a:solidFill>
                  <a:prstClr val="black"/>
                </a:solidFill>
                <a:latin typeface="Helvetica" panose="020B0604020202020204" pitchFamily="34" charset="0"/>
                <a:cs typeface="Helvetica" panose="020B0604020202020204" pitchFamily="34" charset="0"/>
              </a:rPr>
              <a:t> it </a:t>
            </a:r>
            <a:r>
              <a:rPr lang="en-US" sz="2800" b="1" dirty="0">
                <a:solidFill>
                  <a:prstClr val="black"/>
                </a:solidFill>
                <a:latin typeface="Helvetica" panose="020B0604020202020204" pitchFamily="34" charset="0"/>
                <a:cs typeface="Helvetica" panose="020B0604020202020204" pitchFamily="34" charset="0"/>
              </a:rPr>
              <a:t>frequently</a:t>
            </a:r>
            <a:r>
              <a:rPr lang="en-US" sz="2800" dirty="0">
                <a:solidFill>
                  <a:prstClr val="black"/>
                </a:solidFill>
                <a:latin typeface="Helvetica" panose="020B0604020202020204" pitchFamily="34" charset="0"/>
                <a:cs typeface="Helvetica" panose="020B0604020202020204" pitchFamily="34" charset="0"/>
              </a:rPr>
              <a:t>. </a:t>
            </a:r>
            <a:endParaRPr kumimoji="0" lang="en-US" sz="28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457200" lvl="0" indent="-457200">
              <a:buFont typeface="Arial" panose="020B0604020202020204" pitchFamily="34" charset="0"/>
              <a:buChar char="•"/>
            </a:pPr>
            <a:endParaRPr lang="en-GB" sz="2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059902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82553"/>
          </a:xfrm>
        </p:spPr>
        <p:txBody>
          <a:bodyPr/>
          <a:lstStyle/>
          <a:p>
            <a:pPr algn="l"/>
            <a:r>
              <a:rPr lang="en-US" dirty="0">
                <a:solidFill>
                  <a:srgbClr val="008000"/>
                </a:solidFill>
                <a:latin typeface="Helvetica"/>
                <a:cs typeface="Helvetica"/>
              </a:rPr>
              <a:t>TYPES OF AMBIGUITY cont’d</a:t>
            </a:r>
            <a:endParaRPr lang="en-US" dirty="0"/>
          </a:p>
        </p:txBody>
      </p:sp>
      <p:sp>
        <p:nvSpPr>
          <p:cNvPr id="3" name="TextBox 2"/>
          <p:cNvSpPr txBox="1"/>
          <p:nvPr/>
        </p:nvSpPr>
        <p:spPr>
          <a:xfrm>
            <a:off x="303068" y="1157191"/>
            <a:ext cx="8023514"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Making Clauses Nominal</a:t>
            </a:r>
          </a:p>
          <a:p>
            <a:endParaRPr lang="en-US" sz="2800" b="1" dirty="0">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Eg3</a:t>
            </a:r>
            <a:r>
              <a:rPr lang="en-US" sz="2800" dirty="0">
                <a:latin typeface="Helvetica" panose="020B0604020202020204" pitchFamily="34" charset="0"/>
                <a:cs typeface="Helvetica" panose="020B0604020202020204" pitchFamily="34" charset="0"/>
              </a:rPr>
              <a:t>. </a:t>
            </a:r>
            <a:r>
              <a:rPr lang="en-US" sz="2800" u="sng" dirty="0">
                <a:latin typeface="Helvetica" panose="020B0604020202020204" pitchFamily="34" charset="0"/>
                <a:cs typeface="Helvetica" panose="020B0604020202020204" pitchFamily="34" charset="0"/>
              </a:rPr>
              <a:t>The killing of the director </a:t>
            </a:r>
            <a:r>
              <a:rPr lang="en-US" sz="2800" dirty="0">
                <a:latin typeface="Helvetica" panose="020B0604020202020204" pitchFamily="34" charset="0"/>
                <a:cs typeface="Helvetica" panose="020B0604020202020204" pitchFamily="34" charset="0"/>
              </a:rPr>
              <a:t>incited the staff to riot. (did the director do the killing or someone else did?)</a:t>
            </a:r>
          </a:p>
          <a:p>
            <a:pPr marL="45720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M1</a:t>
            </a:r>
            <a:r>
              <a:rPr lang="en-US" sz="2800" dirty="0">
                <a:latin typeface="Helvetica" panose="020B0604020202020204" pitchFamily="34" charset="0"/>
                <a:cs typeface="Helvetica" panose="020B0604020202020204" pitchFamily="34" charset="0"/>
              </a:rPr>
              <a:t>. The killing (done) by the director incited the staff to riot.</a:t>
            </a:r>
          </a:p>
          <a:p>
            <a:pPr marL="45720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M2</a:t>
            </a:r>
            <a:r>
              <a:rPr lang="en-US" sz="2800" dirty="0">
                <a:latin typeface="Helvetica" panose="020B0604020202020204" pitchFamily="34" charset="0"/>
                <a:cs typeface="Helvetica" panose="020B0604020202020204" pitchFamily="34" charset="0"/>
              </a:rPr>
              <a:t>. The CEO’s killing of the director incited the staff to riot.</a:t>
            </a:r>
          </a:p>
        </p:txBody>
      </p:sp>
    </p:spTree>
    <p:extLst>
      <p:ext uri="{BB962C8B-B14F-4D97-AF65-F5344CB8AC3E}">
        <p14:creationId xmlns:p14="http://schemas.microsoft.com/office/powerpoint/2010/main" val="2189736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1F716-BF69-479C-9CC9-056E2A34C79D}"/>
              </a:ext>
            </a:extLst>
          </p:cNvPr>
          <p:cNvSpPr>
            <a:spLocks noGrp="1"/>
          </p:cNvSpPr>
          <p:nvPr>
            <p:ph type="title"/>
          </p:nvPr>
        </p:nvSpPr>
        <p:spPr/>
        <p:txBody>
          <a:bodyPr/>
          <a:lstStyle/>
          <a:p>
            <a:r>
              <a:rPr kumimoji="0" lang="en-US" sz="4400" b="0" i="0" u="none" strike="noStrike" kern="1200" cap="none" spc="0" normalizeH="0" baseline="0" noProof="0" dirty="0">
                <a:ln>
                  <a:noFill/>
                </a:ln>
                <a:solidFill>
                  <a:srgbClr val="008000"/>
                </a:solidFill>
                <a:effectLst/>
                <a:uLnTx/>
                <a:uFillTx/>
                <a:latin typeface="Helvetica"/>
                <a:ea typeface="+mj-ea"/>
                <a:cs typeface="Helvetica"/>
              </a:rPr>
              <a:t>TYPES OF AMBIGUITY cont’d</a:t>
            </a:r>
            <a:endParaRPr lang="en-GB" dirty="0"/>
          </a:p>
        </p:txBody>
      </p:sp>
      <p:sp>
        <p:nvSpPr>
          <p:cNvPr id="3" name="TextBox 2">
            <a:extLst>
              <a:ext uri="{FF2B5EF4-FFF2-40B4-BE49-F238E27FC236}">
                <a16:creationId xmlns:a16="http://schemas.microsoft.com/office/drawing/2014/main" id="{44C09F55-C032-475D-91EF-875943D051DD}"/>
              </a:ext>
            </a:extLst>
          </p:cNvPr>
          <p:cNvSpPr txBox="1"/>
          <p:nvPr/>
        </p:nvSpPr>
        <p:spPr>
          <a:xfrm>
            <a:off x="303068" y="1157191"/>
            <a:ext cx="8023514" cy="3539430"/>
          </a:xfrm>
          <a:prstGeom prst="rect">
            <a:avLst/>
          </a:prstGeom>
          <a:noFill/>
        </p:spPr>
        <p:txBody>
          <a:bodyPr wrap="square" rtlCol="0">
            <a:spAutoFit/>
          </a:bodyPr>
          <a:lstStyle/>
          <a:p>
            <a:pPr marL="45720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Wrong placement or use of pronoun</a:t>
            </a:r>
          </a:p>
          <a:p>
            <a:endParaRPr lang="en-US" sz="2800" b="1" dirty="0">
              <a:latin typeface="Helvetica" panose="020B0604020202020204" pitchFamily="34" charset="0"/>
              <a:cs typeface="Helvetica" panose="020B0604020202020204" pitchFamily="34" charset="0"/>
            </a:endParaRPr>
          </a:p>
          <a:p>
            <a:pPr marL="45720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Eg4</a:t>
            </a:r>
            <a:r>
              <a:rPr lang="en-US" sz="2800" dirty="0">
                <a:latin typeface="Helvetica" panose="020B0604020202020204" pitchFamily="34" charset="0"/>
                <a:cs typeface="Helvetica" panose="020B0604020202020204" pitchFamily="34" charset="0"/>
              </a:rPr>
              <a:t>. Pick the box from the bed and sit on </a:t>
            </a:r>
            <a:r>
              <a:rPr lang="en-US" sz="2800" b="1" dirty="0">
                <a:latin typeface="Helvetica" panose="020B0604020202020204" pitchFamily="34" charset="0"/>
                <a:cs typeface="Helvetica" panose="020B0604020202020204" pitchFamily="34" charset="0"/>
              </a:rPr>
              <a:t>it</a:t>
            </a:r>
            <a:r>
              <a:rPr lang="en-US" sz="2800" dirty="0">
                <a:latin typeface="Helvetica" panose="020B0604020202020204" pitchFamily="34" charset="0"/>
                <a:cs typeface="Helvetica" panose="020B0604020202020204" pitchFamily="34" charset="0"/>
              </a:rPr>
              <a:t>. (sit on the bed or box?)</a:t>
            </a: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M1. Pick the box from the bed and sit on </a:t>
            </a:r>
            <a:r>
              <a:rPr lang="en-US" sz="2800" b="1" dirty="0">
                <a:latin typeface="Helvetica" panose="020B0604020202020204" pitchFamily="34" charset="0"/>
                <a:cs typeface="Helvetica" panose="020B0604020202020204" pitchFamily="34" charset="0"/>
              </a:rPr>
              <a:t>the</a:t>
            </a:r>
            <a:r>
              <a:rPr lang="en-US" sz="2800" dirty="0">
                <a:latin typeface="Helvetica" panose="020B0604020202020204" pitchFamily="34" charset="0"/>
                <a:cs typeface="Helvetica" panose="020B0604020202020204" pitchFamily="34" charset="0"/>
              </a:rPr>
              <a:t> </a:t>
            </a:r>
            <a:r>
              <a:rPr lang="en-US" sz="2800" b="1" dirty="0">
                <a:latin typeface="Helvetica" panose="020B0604020202020204" pitchFamily="34" charset="0"/>
                <a:cs typeface="Helvetica" panose="020B0604020202020204" pitchFamily="34" charset="0"/>
              </a:rPr>
              <a:t>box</a:t>
            </a:r>
            <a:r>
              <a:rPr lang="en-US" sz="2800" dirty="0">
                <a:latin typeface="Helvetica" panose="020B0604020202020204" pitchFamily="34" charset="0"/>
                <a:cs typeface="Helvetica" panose="020B0604020202020204" pitchFamily="34" charset="0"/>
              </a:rPr>
              <a:t>.</a:t>
            </a: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M2. Pick the box from the bed and sit on </a:t>
            </a:r>
            <a:r>
              <a:rPr lang="en-US" sz="2800" b="1" dirty="0">
                <a:latin typeface="Helvetica" panose="020B0604020202020204" pitchFamily="34" charset="0"/>
                <a:cs typeface="Helvetica" panose="020B0604020202020204" pitchFamily="34" charset="0"/>
              </a:rPr>
              <a:t>it</a:t>
            </a:r>
            <a:r>
              <a:rPr lang="en-US" sz="2800" dirty="0">
                <a:latin typeface="Helvetica" panose="020B0604020202020204" pitchFamily="34" charset="0"/>
                <a:cs typeface="Helvetica" panose="020B0604020202020204" pitchFamily="34" charset="0"/>
              </a:rPr>
              <a:t> (</a:t>
            </a:r>
            <a:r>
              <a:rPr lang="en-US" sz="2800" b="1" dirty="0">
                <a:latin typeface="Helvetica" panose="020B0604020202020204" pitchFamily="34" charset="0"/>
                <a:cs typeface="Helvetica" panose="020B0604020202020204" pitchFamily="34" charset="0"/>
              </a:rPr>
              <a:t>the</a:t>
            </a:r>
            <a:r>
              <a:rPr lang="en-US" sz="2800" dirty="0">
                <a:latin typeface="Helvetica" panose="020B0604020202020204" pitchFamily="34" charset="0"/>
                <a:cs typeface="Helvetica" panose="020B0604020202020204" pitchFamily="34" charset="0"/>
              </a:rPr>
              <a:t> </a:t>
            </a:r>
            <a:r>
              <a:rPr lang="en-US" sz="2800" b="1" dirty="0">
                <a:latin typeface="Helvetica" panose="020B0604020202020204" pitchFamily="34" charset="0"/>
                <a:cs typeface="Helvetica" panose="020B0604020202020204" pitchFamily="34" charset="0"/>
              </a:rPr>
              <a:t>bed</a:t>
            </a:r>
            <a:r>
              <a:rPr lang="en-US" sz="28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1577092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6050"/>
            <a:ext cx="8229600" cy="850237"/>
          </a:xfrm>
        </p:spPr>
        <p:txBody>
          <a:bodyPr/>
          <a:lstStyle/>
          <a:p>
            <a:pPr algn="l"/>
            <a:r>
              <a:rPr lang="en-US" dirty="0">
                <a:solidFill>
                  <a:srgbClr val="008000"/>
                </a:solidFill>
                <a:latin typeface="Helvetica"/>
                <a:cs typeface="Helvetica"/>
              </a:rPr>
              <a:t>Exercise</a:t>
            </a:r>
            <a:endParaRPr lang="en-US" dirty="0"/>
          </a:p>
        </p:txBody>
      </p:sp>
      <p:sp>
        <p:nvSpPr>
          <p:cNvPr id="3" name="TextBox 2"/>
          <p:cNvSpPr txBox="1"/>
          <p:nvPr/>
        </p:nvSpPr>
        <p:spPr>
          <a:xfrm>
            <a:off x="334370" y="900753"/>
            <a:ext cx="8229600" cy="5093702"/>
          </a:xfrm>
          <a:prstGeom prst="rect">
            <a:avLst/>
          </a:prstGeom>
          <a:noFill/>
        </p:spPr>
        <p:txBody>
          <a:bodyPr wrap="square" rtlCol="0">
            <a:spAutoFit/>
          </a:bodyPr>
          <a:lstStyle/>
          <a:p>
            <a:pPr lvl="0"/>
            <a:r>
              <a:rPr lang="en-GB" sz="2500" b="1" dirty="0">
                <a:latin typeface="Helvetica" panose="020B0604020202020204" pitchFamily="34" charset="0"/>
                <a:cs typeface="Helvetica" panose="020B0604020202020204" pitchFamily="34" charset="0"/>
              </a:rPr>
              <a:t>Instruction</a:t>
            </a:r>
            <a:r>
              <a:rPr lang="en-GB" sz="2500" dirty="0">
                <a:latin typeface="Helvetica" panose="020B0604020202020204" pitchFamily="34" charset="0"/>
                <a:cs typeface="Helvetica" panose="020B0604020202020204" pitchFamily="34" charset="0"/>
              </a:rPr>
              <a:t>: Each of the following sentences is ambiguous. Rewrite each sentence twice to show two acceptable meanings:</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An advertising agent who had entered the conference hall briskly delivered a talk on laptop computers.</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The </a:t>
            </a:r>
            <a:r>
              <a:rPr lang="en-GB" sz="2500" dirty="0" err="1">
                <a:latin typeface="Helvetica" panose="020B0604020202020204" pitchFamily="34" charset="0"/>
                <a:cs typeface="Helvetica" panose="020B0604020202020204" pitchFamily="34" charset="0"/>
              </a:rPr>
              <a:t>Asafo</a:t>
            </a:r>
            <a:r>
              <a:rPr lang="en-GB" sz="2500" dirty="0">
                <a:latin typeface="Helvetica" panose="020B0604020202020204" pitchFamily="34" charset="0"/>
                <a:cs typeface="Helvetica" panose="020B0604020202020204" pitchFamily="34" charset="0"/>
              </a:rPr>
              <a:t> Company spotted the missing child with a basket of fruit that was going mould.</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At that party I spotted a guest with a smile that quickly captivated me.</a:t>
            </a:r>
            <a:endParaRPr lang="en-US" sz="2500" dirty="0">
              <a:latin typeface="Helvetica" panose="020B0604020202020204" pitchFamily="34" charset="0"/>
              <a:cs typeface="Helvetica" panose="020B0604020202020204" pitchFamily="34" charset="0"/>
            </a:endParaRPr>
          </a:p>
          <a:p>
            <a:pPr marL="514350" lvl="0" indent="-514350">
              <a:buFont typeface="+mj-lt"/>
              <a:buAutoNum type="arabicPeriod"/>
            </a:pPr>
            <a:r>
              <a:rPr lang="en-US" sz="2500" dirty="0">
                <a:latin typeface="Helvetica" panose="020B0604020202020204" pitchFamily="34" charset="0"/>
                <a:cs typeface="Helvetica" panose="020B0604020202020204" pitchFamily="34" charset="0"/>
              </a:rPr>
              <a:t>We were introduced to the manager with a lovely face that we found agreeable.</a:t>
            </a:r>
          </a:p>
          <a:p>
            <a:pPr lvl="0" algn="r"/>
            <a:r>
              <a:rPr lang="en-US" sz="2500" dirty="0">
                <a:latin typeface="Helvetica" panose="020B0604020202020204" pitchFamily="34" charset="0"/>
                <a:cs typeface="Helvetica" panose="020B0604020202020204" pitchFamily="34" charset="0"/>
              </a:rPr>
              <a:t>(Opoku-Agyemang 1998:87-88)</a:t>
            </a:r>
            <a:endParaRPr lang="en-GB"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63339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792796"/>
          </a:xfrm>
        </p:spPr>
        <p:txBody>
          <a:bodyPr/>
          <a:lstStyle/>
          <a:p>
            <a:pPr algn="l"/>
            <a:r>
              <a:rPr lang="en-US" sz="4000" dirty="0">
                <a:solidFill>
                  <a:srgbClr val="008000"/>
                </a:solidFill>
                <a:latin typeface="Helvetica"/>
                <a:cs typeface="Helvetica"/>
              </a:rPr>
              <a:t>Misrelated/Dangling Modification</a:t>
            </a:r>
            <a:endParaRPr lang="en-US" sz="4000" dirty="0"/>
          </a:p>
        </p:txBody>
      </p:sp>
      <p:sp>
        <p:nvSpPr>
          <p:cNvPr id="4" name="Rectangle 3"/>
          <p:cNvSpPr/>
          <p:nvPr/>
        </p:nvSpPr>
        <p:spPr>
          <a:xfrm>
            <a:off x="810491" y="1064694"/>
            <a:ext cx="7523018" cy="4493538"/>
          </a:xfrm>
          <a:prstGeom prst="rect">
            <a:avLst/>
          </a:prstGeom>
        </p:spPr>
        <p:txBody>
          <a:bodyPr wrap="square">
            <a:spAutoFit/>
          </a:bodyPr>
          <a:lstStyle/>
          <a:p>
            <a:pPr marL="45720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It is an absence of clarity normally attributed to the misplacement of the sentence modifier (Opoku-Agyemang 1998).</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This occurs as a result of the construction of sentences in a way that modifiers are attached or attributed to the wrong subject or to a subject which cannot be identified in the sentence (</a:t>
            </a:r>
            <a:r>
              <a:rPr lang="en-GB" sz="2600" dirty="0" err="1">
                <a:latin typeface="Helvetica" panose="020B0604020202020204" pitchFamily="34" charset="0"/>
                <a:cs typeface="Helvetica" panose="020B0604020202020204" pitchFamily="34" charset="0"/>
              </a:rPr>
              <a:t>Sekyi</a:t>
            </a:r>
            <a:r>
              <a:rPr lang="en-GB" sz="2600" dirty="0">
                <a:latin typeface="Helvetica" panose="020B0604020202020204" pitchFamily="34" charset="0"/>
                <a:cs typeface="Helvetica" panose="020B0604020202020204" pitchFamily="34" charset="0"/>
              </a:rPr>
              <a:t>-Baidoo 2003)</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It is the attachment of modifiers to constructions which they (modifiers) are not to modify or qualify (Afreh 2006)</a:t>
            </a:r>
            <a:r>
              <a:rPr lang="en-GB" sz="26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07345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9CBDB-7A82-499A-AFF9-4EE9E53D0CA6}"/>
              </a:ext>
            </a:extLst>
          </p:cNvPr>
          <p:cNvSpPr>
            <a:spLocks noGrp="1"/>
          </p:cNvSpPr>
          <p:nvPr>
            <p:ph type="title"/>
          </p:nvPr>
        </p:nvSpPr>
        <p:spPr>
          <a:xfrm>
            <a:off x="457200" y="274638"/>
            <a:ext cx="8229600" cy="1172025"/>
          </a:xfrm>
        </p:spPr>
        <p:txBody>
          <a:bodyPr/>
          <a:lstStyle/>
          <a:p>
            <a:pPr algn="l"/>
            <a:r>
              <a:rPr lang="en-US" sz="4000" dirty="0">
                <a:solidFill>
                  <a:srgbClr val="008000"/>
                </a:solidFill>
                <a:latin typeface="Helvetica"/>
                <a:cs typeface="Helvetica"/>
              </a:rPr>
              <a:t>Misrelated/Dangling Modification Cont’d</a:t>
            </a:r>
            <a:endParaRPr lang="en-GB" sz="4000" dirty="0"/>
          </a:p>
        </p:txBody>
      </p:sp>
      <p:sp>
        <p:nvSpPr>
          <p:cNvPr id="8" name="TextBox 7">
            <a:extLst>
              <a:ext uri="{FF2B5EF4-FFF2-40B4-BE49-F238E27FC236}">
                <a16:creationId xmlns:a16="http://schemas.microsoft.com/office/drawing/2014/main" id="{4D42BAA5-43B3-4E24-B7E5-8A8F56379D4A}"/>
              </a:ext>
            </a:extLst>
          </p:cNvPr>
          <p:cNvSpPr txBox="1"/>
          <p:nvPr/>
        </p:nvSpPr>
        <p:spPr>
          <a:xfrm>
            <a:off x="457200" y="1736229"/>
            <a:ext cx="8229600" cy="4093428"/>
          </a:xfrm>
          <a:prstGeom prst="rect">
            <a:avLst/>
          </a:prstGeom>
          <a:noFill/>
        </p:spPr>
        <p:txBody>
          <a:bodyPr wrap="square">
            <a:spAutoFit/>
          </a:bodyPr>
          <a:lstStyle/>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6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Eg1: Having finished the assignment</a:t>
            </a:r>
            <a:r>
              <a:rPr kumimoji="0" lang="en-GB"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a:t>
            </a:r>
            <a:r>
              <a:rPr kumimoji="0" lang="en-GB" sz="2600" b="0" i="0" u="sng"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the TV </a:t>
            </a:r>
            <a:r>
              <a:rPr kumimoji="0" lang="en-GB"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was turned on.</a:t>
            </a:r>
            <a:r>
              <a:rPr kumimoji="0" lang="en-GB" sz="26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a:t>
            </a:r>
            <a:r>
              <a:rPr kumimoji="0" lang="en-GB"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(who finished the assignment?)</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Grammar requires that, in most cases, an introductory phrase, such as the highlighted, must relate to the first noun or pronoun or other noun equivalents that follow (the principle of proximity).</a:t>
            </a:r>
          </a:p>
          <a:p>
            <a:pPr marR="0" lvl="0" algn="l" defTabSz="457200" rtl="0" eaLnBrk="1" fontAlgn="auto" latinLnBrk="0" hangingPunct="1">
              <a:lnSpc>
                <a:spcPct val="100000"/>
              </a:lnSpc>
              <a:spcBef>
                <a:spcPts val="0"/>
              </a:spcBef>
              <a:spcAft>
                <a:spcPts val="0"/>
              </a:spcAft>
              <a:buClrTx/>
              <a:buSzTx/>
              <a:tabLst/>
              <a:defRPr/>
            </a:pPr>
            <a:endParaRPr kumimoji="0" lang="en-GB"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6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CEg1: Having finished the assignment</a:t>
            </a:r>
            <a:r>
              <a:rPr kumimoji="0" lang="en-US"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a:t>
            </a:r>
            <a:r>
              <a:rPr kumimoji="0" lang="en-US" sz="2600" b="0" i="0" u="sng"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Elvis</a:t>
            </a:r>
            <a:r>
              <a:rPr kumimoji="0" lang="en-US" sz="26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turned on the TV (Elvis finished the assignment)</a:t>
            </a:r>
          </a:p>
        </p:txBody>
      </p:sp>
    </p:spTree>
    <p:extLst>
      <p:ext uri="{BB962C8B-B14F-4D97-AF65-F5344CB8AC3E}">
        <p14:creationId xmlns:p14="http://schemas.microsoft.com/office/powerpoint/2010/main" val="83554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597333"/>
          </a:xfrm>
        </p:spPr>
        <p:txBody>
          <a:bodyPr/>
          <a:lstStyle/>
          <a:p>
            <a:pPr algn="l"/>
            <a:r>
              <a:rPr lang="en-US" sz="3000" dirty="0">
                <a:solidFill>
                  <a:srgbClr val="008000"/>
                </a:solidFill>
                <a:latin typeface="Helvetica"/>
                <a:cs typeface="Helvetica"/>
              </a:rPr>
              <a:t>Causes of Misrelated/Dangling Modification</a:t>
            </a:r>
            <a:br>
              <a:rPr lang="en-US" dirty="0"/>
            </a:br>
            <a:endParaRPr lang="en-US" dirty="0"/>
          </a:p>
        </p:txBody>
      </p:sp>
      <p:sp>
        <p:nvSpPr>
          <p:cNvPr id="3" name="TextBox 2"/>
          <p:cNvSpPr txBox="1"/>
          <p:nvPr/>
        </p:nvSpPr>
        <p:spPr>
          <a:xfrm>
            <a:off x="328612" y="871970"/>
            <a:ext cx="8358188" cy="5293757"/>
          </a:xfrm>
          <a:prstGeom prst="rect">
            <a:avLst/>
          </a:prstGeom>
          <a:noFill/>
        </p:spPr>
        <p:txBody>
          <a:bodyPr wrap="square" rtlCol="0">
            <a:spAutoFit/>
          </a:bodyPr>
          <a:lstStyle/>
          <a:p>
            <a:pPr marL="457200" indent="-457200">
              <a:buFont typeface="Arial" panose="020B0604020202020204" pitchFamily="34" charset="0"/>
              <a:buChar char="•"/>
            </a:pPr>
            <a:r>
              <a:rPr lang="en-GB" sz="2600" dirty="0">
                <a:solidFill>
                  <a:srgbClr val="00B050"/>
                </a:solidFill>
                <a:latin typeface="Helvetica" panose="020B0604020202020204" pitchFamily="34" charset="0"/>
                <a:cs typeface="Helvetica" panose="020B0604020202020204" pitchFamily="34" charset="0"/>
              </a:rPr>
              <a:t>Misplacement of Subject</a:t>
            </a:r>
            <a:r>
              <a:rPr lang="en-GB" sz="2600" dirty="0">
                <a:latin typeface="Helvetica" panose="020B0604020202020204" pitchFamily="34" charset="0"/>
                <a:cs typeface="Helvetica" panose="020B0604020202020204" pitchFamily="34" charset="0"/>
              </a:rPr>
              <a:t>: </a:t>
            </a:r>
            <a:r>
              <a:rPr lang="en-GB" sz="2600" dirty="0"/>
              <a:t>This is where the subject that is to be modified is wrongly placed or positioned in the sentence.</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Eg1: </a:t>
            </a:r>
            <a:r>
              <a:rPr lang="en-GB" sz="2600" b="1" dirty="0">
                <a:latin typeface="Helvetica" panose="020B0604020202020204" pitchFamily="34" charset="0"/>
                <a:cs typeface="Helvetica" panose="020B0604020202020204" pitchFamily="34" charset="0"/>
              </a:rPr>
              <a:t>Moving towards the hall of residence</a:t>
            </a:r>
            <a:r>
              <a:rPr lang="en-GB" sz="2600" dirty="0">
                <a:latin typeface="Helvetica" panose="020B0604020202020204" pitchFamily="34" charset="0"/>
                <a:cs typeface="Helvetica" panose="020B0604020202020204" pitchFamily="34" charset="0"/>
              </a:rPr>
              <a:t>, </a:t>
            </a:r>
            <a:r>
              <a:rPr lang="en-GB" sz="2600" u="sng" dirty="0">
                <a:latin typeface="Helvetica" panose="020B0604020202020204" pitchFamily="34" charset="0"/>
                <a:cs typeface="Helvetica" panose="020B0604020202020204" pitchFamily="34" charset="0"/>
              </a:rPr>
              <a:t>the goat </a:t>
            </a:r>
            <a:r>
              <a:rPr lang="en-GB" sz="2600" dirty="0">
                <a:latin typeface="Helvetica" panose="020B0604020202020204" pitchFamily="34" charset="0"/>
                <a:cs typeface="Helvetica" panose="020B0604020202020204" pitchFamily="34" charset="0"/>
              </a:rPr>
              <a:t>hit the car.</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Eg2: </a:t>
            </a:r>
            <a:r>
              <a:rPr lang="en-GB" sz="2600" b="1" dirty="0">
                <a:latin typeface="Helvetica" panose="020B0604020202020204" pitchFamily="34" charset="0"/>
                <a:cs typeface="Helvetica" panose="020B0604020202020204" pitchFamily="34" charset="0"/>
              </a:rPr>
              <a:t>As a student</a:t>
            </a:r>
            <a:r>
              <a:rPr lang="en-GB" sz="2600" dirty="0">
                <a:latin typeface="Helvetica" panose="020B0604020202020204" pitchFamily="34" charset="0"/>
                <a:cs typeface="Helvetica" panose="020B0604020202020204" pitchFamily="34" charset="0"/>
              </a:rPr>
              <a:t>, </a:t>
            </a:r>
            <a:r>
              <a:rPr lang="en-GB" sz="2600" u="sng" dirty="0">
                <a:latin typeface="Helvetica" panose="020B0604020202020204" pitchFamily="34" charset="0"/>
                <a:cs typeface="Helvetica" panose="020B0604020202020204" pitchFamily="34" charset="0"/>
              </a:rPr>
              <a:t>the Principal </a:t>
            </a:r>
            <a:r>
              <a:rPr lang="en-GB" sz="2600" dirty="0">
                <a:latin typeface="Helvetica" panose="020B0604020202020204" pitchFamily="34" charset="0"/>
                <a:cs typeface="Helvetica" panose="020B0604020202020204" pitchFamily="34" charset="0"/>
              </a:rPr>
              <a:t>advised George to study hard.</a:t>
            </a:r>
          </a:p>
          <a:p>
            <a:pPr marL="457200" lvl="0" indent="-457200">
              <a:buFont typeface="Arial" panose="020B0604020202020204" pitchFamily="34" charset="0"/>
              <a:buChar char="•"/>
            </a:pPr>
            <a:r>
              <a:rPr lang="en-GB" sz="2600" b="1" dirty="0">
                <a:latin typeface="Helvetica" panose="020B0604020202020204" pitchFamily="34" charset="0"/>
                <a:cs typeface="Helvetica" panose="020B0604020202020204" pitchFamily="34" charset="0"/>
              </a:rPr>
              <a:t>Correction: </a:t>
            </a:r>
            <a:r>
              <a:rPr lang="en-GB" sz="2600" dirty="0">
                <a:latin typeface="Helvetica" panose="020B0604020202020204" pitchFamily="34" charset="0"/>
                <a:cs typeface="Helvetica" panose="020B0604020202020204" pitchFamily="34" charset="0"/>
              </a:rPr>
              <a:t>Place or position the subject in the right position.</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CEg1: Moving towards the hall of residence, the car hit the goat.</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CEg2: As a student, George was advised by the Principal to study hard.</a:t>
            </a:r>
            <a:endParaRPr lang="en-US" sz="3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34791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FCB69-6382-41C2-90C0-5519A9A2E8CE}"/>
              </a:ext>
            </a:extLst>
          </p:cNvPr>
          <p:cNvSpPr>
            <a:spLocks noGrp="1"/>
          </p:cNvSpPr>
          <p:nvPr>
            <p:ph type="title"/>
          </p:nvPr>
        </p:nvSpPr>
        <p:spPr>
          <a:xfrm>
            <a:off x="457200" y="274638"/>
            <a:ext cx="8229600" cy="967308"/>
          </a:xfrm>
        </p:spPr>
        <p:txBody>
          <a:bodyPr/>
          <a:lstStyle/>
          <a:p>
            <a:r>
              <a:rPr lang="en-US" sz="3000" dirty="0">
                <a:solidFill>
                  <a:srgbClr val="008000"/>
                </a:solidFill>
                <a:latin typeface="Helvetica"/>
                <a:cs typeface="Helvetica"/>
              </a:rPr>
              <a:t>Causes of Misrelated/Dangling Modification Cont’d</a:t>
            </a:r>
            <a:endParaRPr lang="en-GB" sz="3000" dirty="0"/>
          </a:p>
        </p:txBody>
      </p:sp>
      <p:sp>
        <p:nvSpPr>
          <p:cNvPr id="4" name="TextBox 3">
            <a:extLst>
              <a:ext uri="{FF2B5EF4-FFF2-40B4-BE49-F238E27FC236}">
                <a16:creationId xmlns:a16="http://schemas.microsoft.com/office/drawing/2014/main" id="{3EE86650-22DA-4C11-8899-37D0FD851732}"/>
              </a:ext>
            </a:extLst>
          </p:cNvPr>
          <p:cNvSpPr txBox="1"/>
          <p:nvPr/>
        </p:nvSpPr>
        <p:spPr>
          <a:xfrm>
            <a:off x="709684" y="1263008"/>
            <a:ext cx="7977116" cy="4493538"/>
          </a:xfrm>
          <a:prstGeom prst="rect">
            <a:avLst/>
          </a:prstGeom>
          <a:noFill/>
        </p:spPr>
        <p:txBody>
          <a:bodyPr wrap="square">
            <a:spAutoFit/>
          </a:bodyPr>
          <a:lstStyle/>
          <a:p>
            <a:pPr marL="457200" indent="-457200">
              <a:buFont typeface="Arial" panose="020B0604020202020204" pitchFamily="34" charset="0"/>
              <a:buChar char="•"/>
            </a:pPr>
            <a:r>
              <a:rPr lang="en-GB" sz="2600" dirty="0">
                <a:solidFill>
                  <a:srgbClr val="00B050"/>
                </a:solidFill>
                <a:latin typeface="Helvetica" panose="020B0604020202020204" pitchFamily="34" charset="0"/>
                <a:cs typeface="Helvetica" panose="020B0604020202020204" pitchFamily="34" charset="0"/>
              </a:rPr>
              <a:t>Omission of Subject</a:t>
            </a:r>
            <a:r>
              <a:rPr lang="en-GB" sz="2600" dirty="0">
                <a:latin typeface="Helvetica" panose="020B0604020202020204" pitchFamily="34" charset="0"/>
                <a:cs typeface="Helvetica" panose="020B0604020202020204" pitchFamily="34" charset="0"/>
              </a:rPr>
              <a:t>: This is where the subject that is to be modified is omitted from the sentence.</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Eg1: </a:t>
            </a:r>
            <a:r>
              <a:rPr lang="en-GB" sz="2600" b="1" dirty="0">
                <a:latin typeface="Helvetica" panose="020B0604020202020204" pitchFamily="34" charset="0"/>
                <a:cs typeface="Helvetica" panose="020B0604020202020204" pitchFamily="34" charset="0"/>
              </a:rPr>
              <a:t>While watching TV</a:t>
            </a:r>
            <a:r>
              <a:rPr lang="en-GB" sz="2600" dirty="0">
                <a:latin typeface="Helvetica" panose="020B0604020202020204" pitchFamily="34" charset="0"/>
                <a:cs typeface="Helvetica" panose="020B0604020202020204" pitchFamily="34" charset="0"/>
              </a:rPr>
              <a:t>, </a:t>
            </a:r>
            <a:r>
              <a:rPr lang="en-GB" sz="2600" u="sng" dirty="0">
                <a:latin typeface="Helvetica" panose="020B0604020202020204" pitchFamily="34" charset="0"/>
                <a:cs typeface="Helvetica" panose="020B0604020202020204" pitchFamily="34" charset="0"/>
              </a:rPr>
              <a:t>the lights</a:t>
            </a:r>
            <a:r>
              <a:rPr lang="en-GB" sz="2600" dirty="0">
                <a:latin typeface="Helvetica" panose="020B0604020202020204" pitchFamily="34" charset="0"/>
                <a:cs typeface="Helvetica" panose="020B0604020202020204" pitchFamily="34" charset="0"/>
              </a:rPr>
              <a:t> went off.</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Eg2: </a:t>
            </a:r>
            <a:r>
              <a:rPr lang="en-GB" sz="2600" b="1" dirty="0">
                <a:latin typeface="Helvetica" panose="020B0604020202020204" pitchFamily="34" charset="0"/>
                <a:cs typeface="Helvetica" panose="020B0604020202020204" pitchFamily="34" charset="0"/>
              </a:rPr>
              <a:t>Running into the room</a:t>
            </a:r>
            <a:r>
              <a:rPr lang="en-GB" sz="2600" dirty="0">
                <a:latin typeface="Helvetica" panose="020B0604020202020204" pitchFamily="34" charset="0"/>
                <a:cs typeface="Helvetica" panose="020B0604020202020204" pitchFamily="34" charset="0"/>
              </a:rPr>
              <a:t>, </a:t>
            </a:r>
            <a:r>
              <a:rPr lang="en-GB" sz="2600" u="sng" dirty="0">
                <a:latin typeface="Helvetica" panose="020B0604020202020204" pitchFamily="34" charset="0"/>
                <a:cs typeface="Helvetica" panose="020B0604020202020204" pitchFamily="34" charset="0"/>
              </a:rPr>
              <a:t>her wedding date</a:t>
            </a:r>
            <a:r>
              <a:rPr lang="en-GB" sz="2600" dirty="0">
                <a:latin typeface="Helvetica" panose="020B0604020202020204" pitchFamily="34" charset="0"/>
                <a:cs typeface="Helvetica" panose="020B0604020202020204" pitchFamily="34" charset="0"/>
              </a:rPr>
              <a:t> was announced.</a:t>
            </a:r>
          </a:p>
          <a:p>
            <a:pPr marL="457200" lvl="0" indent="-457200">
              <a:buFont typeface="Arial" panose="020B0604020202020204" pitchFamily="34" charset="0"/>
              <a:buChar char="•"/>
            </a:pPr>
            <a:r>
              <a:rPr lang="en-GB" sz="2600" b="1" dirty="0">
                <a:latin typeface="Helvetica" panose="020B0604020202020204" pitchFamily="34" charset="0"/>
                <a:cs typeface="Helvetica" panose="020B0604020202020204" pitchFamily="34" charset="0"/>
              </a:rPr>
              <a:t>Correction: </a:t>
            </a:r>
            <a:r>
              <a:rPr lang="en-GB" sz="2600" dirty="0">
                <a:latin typeface="Helvetica" panose="020B0604020202020204" pitchFamily="34" charset="0"/>
                <a:cs typeface="Helvetica" panose="020B0604020202020204" pitchFamily="34" charset="0"/>
              </a:rPr>
              <a:t>Introduce the missing subject.</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CEg1: While </a:t>
            </a:r>
            <a:r>
              <a:rPr lang="en-GB" sz="2600" b="1" dirty="0">
                <a:latin typeface="Helvetica" panose="020B0604020202020204" pitchFamily="34" charset="0"/>
                <a:cs typeface="Helvetica" panose="020B0604020202020204" pitchFamily="34" charset="0"/>
              </a:rPr>
              <a:t>we</a:t>
            </a:r>
            <a:r>
              <a:rPr lang="en-GB" sz="2600" dirty="0">
                <a:latin typeface="Helvetica" panose="020B0604020202020204" pitchFamily="34" charset="0"/>
                <a:cs typeface="Helvetica" panose="020B0604020202020204" pitchFamily="34" charset="0"/>
              </a:rPr>
              <a:t> were watching TV, the lights went off.</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CEg2: Running into the room, </a:t>
            </a:r>
            <a:r>
              <a:rPr lang="en-GB" sz="2600" b="1" dirty="0">
                <a:latin typeface="Helvetica" panose="020B0604020202020204" pitchFamily="34" charset="0"/>
                <a:cs typeface="Helvetica" panose="020B0604020202020204" pitchFamily="34" charset="0"/>
              </a:rPr>
              <a:t>she</a:t>
            </a:r>
            <a:r>
              <a:rPr lang="en-GB" sz="2600" dirty="0">
                <a:latin typeface="Helvetica" panose="020B0604020202020204" pitchFamily="34" charset="0"/>
                <a:cs typeface="Helvetica" panose="020B0604020202020204" pitchFamily="34" charset="0"/>
              </a:rPr>
              <a:t> announced her wedding date.</a:t>
            </a:r>
            <a:endParaRPr lang="en-US" sz="2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514573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143F3-8E09-46A0-9686-34CD45C4B1AE}"/>
              </a:ext>
            </a:extLst>
          </p:cNvPr>
          <p:cNvSpPr>
            <a:spLocks noGrp="1"/>
          </p:cNvSpPr>
          <p:nvPr>
            <p:ph type="title"/>
          </p:nvPr>
        </p:nvSpPr>
        <p:spPr/>
        <p:txBody>
          <a:bodyPr/>
          <a:lstStyle/>
          <a:p>
            <a:r>
              <a:rPr kumimoji="0" lang="en-US" sz="3000" b="0" i="0" u="none" strike="noStrike" kern="1200" cap="none" spc="0" normalizeH="0" baseline="0" noProof="0" dirty="0">
                <a:ln>
                  <a:noFill/>
                </a:ln>
                <a:solidFill>
                  <a:srgbClr val="008000"/>
                </a:solidFill>
                <a:effectLst/>
                <a:uLnTx/>
                <a:uFillTx/>
                <a:latin typeface="Helvetica"/>
                <a:ea typeface="+mj-ea"/>
                <a:cs typeface="Helvetica"/>
              </a:rPr>
              <a:t>Causes of Misrelated/Dangling Modification Cont’d</a:t>
            </a:r>
            <a:endParaRPr lang="en-GB" dirty="0"/>
          </a:p>
        </p:txBody>
      </p:sp>
      <p:sp>
        <p:nvSpPr>
          <p:cNvPr id="4" name="TextBox 3">
            <a:extLst>
              <a:ext uri="{FF2B5EF4-FFF2-40B4-BE49-F238E27FC236}">
                <a16:creationId xmlns:a16="http://schemas.microsoft.com/office/drawing/2014/main" id="{6BB14737-4AC0-4C08-AC83-F918F1A4AD58}"/>
              </a:ext>
            </a:extLst>
          </p:cNvPr>
          <p:cNvSpPr txBox="1"/>
          <p:nvPr/>
        </p:nvSpPr>
        <p:spPr>
          <a:xfrm>
            <a:off x="764275" y="1183143"/>
            <a:ext cx="7547212" cy="4893647"/>
          </a:xfrm>
          <a:prstGeom prst="rect">
            <a:avLst/>
          </a:prstGeom>
          <a:noFill/>
        </p:spPr>
        <p:txBody>
          <a:bodyPr wrap="square">
            <a:spAutoFit/>
          </a:bodyPr>
          <a:lstStyle/>
          <a:p>
            <a:pPr marL="457200" indent="-457200">
              <a:buFont typeface="Arial" panose="020B0604020202020204" pitchFamily="34" charset="0"/>
              <a:buChar char="•"/>
            </a:pPr>
            <a:r>
              <a:rPr lang="en-GB" sz="2600" dirty="0">
                <a:solidFill>
                  <a:srgbClr val="00B050"/>
                </a:solidFill>
                <a:latin typeface="Helvetica" panose="020B0604020202020204" pitchFamily="34" charset="0"/>
                <a:cs typeface="Helvetica" panose="020B0604020202020204" pitchFamily="34" charset="0"/>
              </a:rPr>
              <a:t>Modifiers modifying others</a:t>
            </a:r>
            <a:r>
              <a:rPr lang="en-GB" sz="2600" dirty="0">
                <a:latin typeface="Helvetica" panose="020B0604020202020204" pitchFamily="34" charset="0"/>
                <a:cs typeface="Helvetica" panose="020B0604020202020204" pitchFamily="34" charset="0"/>
              </a:rPr>
              <a:t>: This is where modifiers are not attached to their subjects but to other modifiers.</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Eg1: </a:t>
            </a:r>
            <a:r>
              <a:rPr lang="en-GB" sz="2600" b="1" dirty="0">
                <a:latin typeface="Helvetica" panose="020B0604020202020204" pitchFamily="34" charset="0"/>
                <a:cs typeface="Helvetica" panose="020B0604020202020204" pitchFamily="34" charset="0"/>
              </a:rPr>
              <a:t>Singing a song</a:t>
            </a:r>
            <a:r>
              <a:rPr lang="en-GB" sz="2600" dirty="0">
                <a:latin typeface="Helvetica" panose="020B0604020202020204" pitchFamily="34" charset="0"/>
                <a:cs typeface="Helvetica" panose="020B0604020202020204" pitchFamily="34" charset="0"/>
              </a:rPr>
              <a:t>, </a:t>
            </a:r>
            <a:r>
              <a:rPr lang="en-GB" sz="2600" u="sng" dirty="0">
                <a:latin typeface="Helvetica" panose="020B0604020202020204" pitchFamily="34" charset="0"/>
                <a:cs typeface="Helvetica" panose="020B0604020202020204" pitchFamily="34" charset="0"/>
              </a:rPr>
              <a:t>Andy’s hands</a:t>
            </a:r>
            <a:r>
              <a:rPr lang="en-GB" sz="2600" dirty="0">
                <a:latin typeface="Helvetica" panose="020B0604020202020204" pitchFamily="34" charset="0"/>
                <a:cs typeface="Helvetica" panose="020B0604020202020204" pitchFamily="34" charset="0"/>
              </a:rPr>
              <a:t> began to shake.</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Eg2: </a:t>
            </a:r>
            <a:r>
              <a:rPr lang="en-GB" sz="2600" b="1" dirty="0">
                <a:latin typeface="Helvetica" panose="020B0604020202020204" pitchFamily="34" charset="0"/>
                <a:cs typeface="Helvetica" panose="020B0604020202020204" pitchFamily="34" charset="0"/>
              </a:rPr>
              <a:t>Moving at top speed</a:t>
            </a:r>
            <a:r>
              <a:rPr lang="en-GB" sz="2600" dirty="0">
                <a:latin typeface="Helvetica" panose="020B0604020202020204" pitchFamily="34" charset="0"/>
                <a:cs typeface="Helvetica" panose="020B0604020202020204" pitchFamily="34" charset="0"/>
              </a:rPr>
              <a:t>, </a:t>
            </a:r>
            <a:r>
              <a:rPr lang="en-GB" sz="2600" u="sng" dirty="0">
                <a:latin typeface="Helvetica" panose="020B0604020202020204" pitchFamily="34" charset="0"/>
                <a:cs typeface="Helvetica" panose="020B0604020202020204" pitchFamily="34" charset="0"/>
              </a:rPr>
              <a:t>the taxi’s number plate</a:t>
            </a:r>
            <a:r>
              <a:rPr lang="en-GB" sz="2600" dirty="0">
                <a:latin typeface="Helvetica" panose="020B0604020202020204" pitchFamily="34" charset="0"/>
                <a:cs typeface="Helvetica" panose="020B0604020202020204" pitchFamily="34" charset="0"/>
              </a:rPr>
              <a:t> fell.</a:t>
            </a:r>
          </a:p>
          <a:p>
            <a:pPr marL="457200" lvl="0" indent="-457200">
              <a:buFont typeface="Arial" panose="020B0604020202020204" pitchFamily="34" charset="0"/>
              <a:buChar char="•"/>
            </a:pPr>
            <a:r>
              <a:rPr lang="en-GB" sz="2600" b="1" dirty="0">
                <a:latin typeface="Helvetica" panose="020B0604020202020204" pitchFamily="34" charset="0"/>
                <a:cs typeface="Helvetica" panose="020B0604020202020204" pitchFamily="34" charset="0"/>
              </a:rPr>
              <a:t>Correction: </a:t>
            </a:r>
            <a:r>
              <a:rPr lang="en-GB" sz="2600" dirty="0">
                <a:latin typeface="Helvetica" panose="020B0604020202020204" pitchFamily="34" charset="0"/>
                <a:cs typeface="Helvetica" panose="020B0604020202020204" pitchFamily="34" charset="0"/>
              </a:rPr>
              <a:t>Identify and introduce the subject.</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CEg1: </a:t>
            </a:r>
            <a:r>
              <a:rPr lang="en-GB" sz="2600" b="1" dirty="0">
                <a:latin typeface="Helvetica" panose="020B0604020202020204" pitchFamily="34" charset="0"/>
                <a:cs typeface="Helvetica" panose="020B0604020202020204" pitchFamily="34" charset="0"/>
              </a:rPr>
              <a:t>Andy</a:t>
            </a:r>
            <a:r>
              <a:rPr lang="en-GB" sz="2600" dirty="0">
                <a:latin typeface="Helvetica" panose="020B0604020202020204" pitchFamily="34" charset="0"/>
                <a:cs typeface="Helvetica" panose="020B0604020202020204" pitchFamily="34" charset="0"/>
              </a:rPr>
              <a:t>’s hands began to shake when </a:t>
            </a:r>
            <a:r>
              <a:rPr lang="en-GB" sz="2600" b="1" dirty="0">
                <a:latin typeface="Helvetica" panose="020B0604020202020204" pitchFamily="34" charset="0"/>
                <a:cs typeface="Helvetica" panose="020B0604020202020204" pitchFamily="34" charset="0"/>
              </a:rPr>
              <a:t>he</a:t>
            </a:r>
            <a:r>
              <a:rPr lang="en-GB" sz="2600" dirty="0">
                <a:latin typeface="Helvetica" panose="020B0604020202020204" pitchFamily="34" charset="0"/>
                <a:cs typeface="Helvetica" panose="020B0604020202020204" pitchFamily="34" charset="0"/>
              </a:rPr>
              <a:t> was singing a song.</a:t>
            </a:r>
          </a:p>
          <a:p>
            <a:pPr marL="457200" lvl="0" indent="-457200">
              <a:buFont typeface="Arial" panose="020B0604020202020204" pitchFamily="34" charset="0"/>
              <a:buChar char="•"/>
            </a:pPr>
            <a:r>
              <a:rPr lang="en-GB" sz="2600" dirty="0">
                <a:latin typeface="Helvetica" panose="020B0604020202020204" pitchFamily="34" charset="0"/>
                <a:cs typeface="Helvetica" panose="020B0604020202020204" pitchFamily="34" charset="0"/>
              </a:rPr>
              <a:t>CEg2: The </a:t>
            </a:r>
            <a:r>
              <a:rPr lang="en-GB" sz="2600" b="1" dirty="0">
                <a:latin typeface="Helvetica" panose="020B0604020202020204" pitchFamily="34" charset="0"/>
                <a:cs typeface="Helvetica" panose="020B0604020202020204" pitchFamily="34" charset="0"/>
              </a:rPr>
              <a:t>taxi</a:t>
            </a:r>
            <a:r>
              <a:rPr lang="en-GB" sz="2600" dirty="0">
                <a:latin typeface="Helvetica" panose="020B0604020202020204" pitchFamily="34" charset="0"/>
                <a:cs typeface="Helvetica" panose="020B0604020202020204" pitchFamily="34" charset="0"/>
              </a:rPr>
              <a:t>’s number plate fell as </a:t>
            </a:r>
            <a:r>
              <a:rPr lang="en-GB" sz="2600" b="1" dirty="0">
                <a:latin typeface="Helvetica" panose="020B0604020202020204" pitchFamily="34" charset="0"/>
                <a:cs typeface="Helvetica" panose="020B0604020202020204" pitchFamily="34" charset="0"/>
              </a:rPr>
              <a:t>it</a:t>
            </a:r>
            <a:r>
              <a:rPr lang="en-GB" sz="2600" dirty="0">
                <a:latin typeface="Helvetica" panose="020B0604020202020204" pitchFamily="34" charset="0"/>
                <a:cs typeface="Helvetica" panose="020B0604020202020204" pitchFamily="34" charset="0"/>
              </a:rPr>
              <a:t> was moving at top speed. </a:t>
            </a:r>
            <a:endParaRPr lang="en-GB" sz="2600" dirty="0"/>
          </a:p>
        </p:txBody>
      </p:sp>
    </p:spTree>
    <p:extLst>
      <p:ext uri="{BB962C8B-B14F-4D97-AF65-F5344CB8AC3E}">
        <p14:creationId xmlns:p14="http://schemas.microsoft.com/office/powerpoint/2010/main" val="3865609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C399F-CA78-44BE-B7B6-D4A6F40B405C}"/>
              </a:ext>
            </a:extLst>
          </p:cNvPr>
          <p:cNvSpPr>
            <a:spLocks noGrp="1"/>
          </p:cNvSpPr>
          <p:nvPr>
            <p:ph type="title"/>
          </p:nvPr>
        </p:nvSpPr>
        <p:spPr>
          <a:xfrm>
            <a:off x="457200" y="274638"/>
            <a:ext cx="8229600" cy="789887"/>
          </a:xfrm>
        </p:spPr>
        <p:txBody>
          <a:bodyPr/>
          <a:lstStyle/>
          <a:p>
            <a:pPr algn="l"/>
            <a:r>
              <a:rPr lang="en-US" dirty="0">
                <a:solidFill>
                  <a:srgbClr val="008000"/>
                </a:solidFill>
                <a:latin typeface="Helvetica"/>
                <a:cs typeface="Helvetica"/>
              </a:rPr>
              <a:t>Reading Assignment</a:t>
            </a:r>
            <a:endParaRPr lang="en-GB" dirty="0"/>
          </a:p>
        </p:txBody>
      </p:sp>
      <p:sp>
        <p:nvSpPr>
          <p:cNvPr id="4" name="TextBox 3">
            <a:extLst>
              <a:ext uri="{FF2B5EF4-FFF2-40B4-BE49-F238E27FC236}">
                <a16:creationId xmlns:a16="http://schemas.microsoft.com/office/drawing/2014/main" id="{F5BF44E4-DE7B-463B-B115-68F4535D3E8E}"/>
              </a:ext>
            </a:extLst>
          </p:cNvPr>
          <p:cNvSpPr txBox="1"/>
          <p:nvPr/>
        </p:nvSpPr>
        <p:spPr>
          <a:xfrm>
            <a:off x="457200" y="1069917"/>
            <a:ext cx="7970293" cy="4401205"/>
          </a:xfrm>
          <a:prstGeom prst="rect">
            <a:avLst/>
          </a:prstGeom>
          <a:noFill/>
        </p:spPr>
        <p:txBody>
          <a:bodyPr wrap="square">
            <a:spAutoFit/>
          </a:bodyPr>
          <a:lstStyle/>
          <a:p>
            <a:pPr lvl="0"/>
            <a:r>
              <a:rPr lang="en-US" sz="2800" dirty="0">
                <a:latin typeface="Helvetica" panose="020B0604020202020204" pitchFamily="34" charset="0"/>
                <a:cs typeface="Helvetica" panose="020B0604020202020204" pitchFamily="34" charset="0"/>
              </a:rPr>
              <a:t>Read on the following and make your personal notes on them:</a:t>
            </a: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Forms of Misrelated/Dangling Modification (Afreh 2006; </a:t>
            </a:r>
            <a:r>
              <a:rPr lang="en-US" sz="2800" dirty="0" err="1">
                <a:latin typeface="Helvetica" panose="020B0604020202020204" pitchFamily="34" charset="0"/>
                <a:cs typeface="Helvetica" panose="020B0604020202020204" pitchFamily="34" charset="0"/>
              </a:rPr>
              <a:t>Sekyi</a:t>
            </a:r>
            <a:r>
              <a:rPr lang="en-US" sz="2800" dirty="0">
                <a:latin typeface="Helvetica" panose="020B0604020202020204" pitchFamily="34" charset="0"/>
                <a:cs typeface="Helvetica" panose="020B0604020202020204" pitchFamily="34" charset="0"/>
              </a:rPr>
              <a:t>-Baidoo 2003)</a:t>
            </a:r>
          </a:p>
          <a:p>
            <a:pPr marL="342900" lvl="0" indent="-3429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lvl="0"/>
            <a:endParaRPr lang="en-US" sz="2800" dirty="0">
              <a:latin typeface="Helvetica" panose="020B0604020202020204" pitchFamily="34" charset="0"/>
              <a:cs typeface="Helvetica" panose="020B0604020202020204" pitchFamily="34" charset="0"/>
            </a:endParaRP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Exceptions to the prohibition on misrelated/dangling modification (Afreh 2006) or Acceptable Misrelated/Dangling Modification (</a:t>
            </a:r>
            <a:r>
              <a:rPr lang="en-US" sz="2800" dirty="0" err="1">
                <a:latin typeface="Helvetica" panose="020B0604020202020204" pitchFamily="34" charset="0"/>
                <a:cs typeface="Helvetica" panose="020B0604020202020204" pitchFamily="34" charset="0"/>
              </a:rPr>
              <a:t>Sekyi</a:t>
            </a:r>
            <a:r>
              <a:rPr lang="en-US" sz="2800" dirty="0">
                <a:latin typeface="Helvetica" panose="020B0604020202020204" pitchFamily="34" charset="0"/>
                <a:cs typeface="Helvetica" panose="020B0604020202020204" pitchFamily="34" charset="0"/>
              </a:rPr>
              <a:t>-Baidoo 2003)</a:t>
            </a:r>
            <a:endParaRPr lang="en-GB"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88533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B9C17-2CD3-4815-9F38-A22575D8DA3A}"/>
              </a:ext>
            </a:extLst>
          </p:cNvPr>
          <p:cNvSpPr>
            <a:spLocks noGrp="1"/>
          </p:cNvSpPr>
          <p:nvPr>
            <p:ph type="title"/>
          </p:nvPr>
        </p:nvSpPr>
        <p:spPr>
          <a:xfrm>
            <a:off x="457200" y="274638"/>
            <a:ext cx="8229600" cy="708001"/>
          </a:xfrm>
        </p:spPr>
        <p:txBody>
          <a:bodyPr/>
          <a:lstStyle/>
          <a:p>
            <a:pPr algn="l"/>
            <a:r>
              <a:rPr lang="en-US" dirty="0">
                <a:solidFill>
                  <a:srgbClr val="008000"/>
                </a:solidFill>
                <a:latin typeface="Helvetica"/>
                <a:cs typeface="Helvetica"/>
              </a:rPr>
              <a:t>Exercise</a:t>
            </a:r>
            <a:endParaRPr lang="en-GB" dirty="0"/>
          </a:p>
        </p:txBody>
      </p:sp>
      <p:sp>
        <p:nvSpPr>
          <p:cNvPr id="4" name="TextBox 3">
            <a:extLst>
              <a:ext uri="{FF2B5EF4-FFF2-40B4-BE49-F238E27FC236}">
                <a16:creationId xmlns:a16="http://schemas.microsoft.com/office/drawing/2014/main" id="{CAB6F286-1838-45C2-8921-F0523C9965F5}"/>
              </a:ext>
            </a:extLst>
          </p:cNvPr>
          <p:cNvSpPr txBox="1"/>
          <p:nvPr/>
        </p:nvSpPr>
        <p:spPr>
          <a:xfrm>
            <a:off x="586854" y="986323"/>
            <a:ext cx="7792871" cy="5524589"/>
          </a:xfrm>
          <a:prstGeom prst="rect">
            <a:avLst/>
          </a:prstGeom>
          <a:noFill/>
        </p:spPr>
        <p:txBody>
          <a:bodyPr wrap="square">
            <a:spAutoFit/>
          </a:bodyPr>
          <a:lstStyle/>
          <a:p>
            <a:pPr lvl="0"/>
            <a:r>
              <a:rPr lang="en-GB" sz="2500" b="1" dirty="0">
                <a:latin typeface="Helvetica" panose="020B0604020202020204" pitchFamily="34" charset="0"/>
                <a:cs typeface="Helvetica" panose="020B0604020202020204" pitchFamily="34" charset="0"/>
              </a:rPr>
              <a:t>Instruction</a:t>
            </a:r>
            <a:r>
              <a:rPr lang="en-GB" sz="2500" dirty="0">
                <a:latin typeface="Helvetica" panose="020B0604020202020204" pitchFamily="34" charset="0"/>
                <a:cs typeface="Helvetica" panose="020B0604020202020204" pitchFamily="34" charset="0"/>
              </a:rPr>
              <a:t>: Each of the following sentences has misrelated/dangling modification. Rewrite each into an acceptable form:</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Having arrived late for practice, a written excuse was needed.</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Without knowing his name, it was difficult to introduce him.</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To improve his results, the experiment was done again.</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After reading the original study, the article remains unconvincing.</a:t>
            </a:r>
          </a:p>
          <a:p>
            <a:pPr marL="514350" lvl="0" indent="-514350">
              <a:buFont typeface="+mj-lt"/>
              <a:buAutoNum type="arabicPeriod"/>
            </a:pPr>
            <a:r>
              <a:rPr lang="en-GB" sz="2500" dirty="0">
                <a:latin typeface="Helvetica" panose="020B0604020202020204" pitchFamily="34" charset="0"/>
                <a:cs typeface="Helvetica" panose="020B0604020202020204" pitchFamily="34" charset="0"/>
              </a:rPr>
              <a:t>The experiment was a failure, not having studied the lab manual carefully. </a:t>
            </a:r>
          </a:p>
          <a:p>
            <a:pPr lvl="0"/>
            <a:endParaRPr lang="en-GB"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817603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C0E7-289E-46FC-9A5C-E38C651FB462}"/>
              </a:ext>
            </a:extLst>
          </p:cNvPr>
          <p:cNvSpPr>
            <a:spLocks noGrp="1"/>
          </p:cNvSpPr>
          <p:nvPr>
            <p:ph type="title"/>
          </p:nvPr>
        </p:nvSpPr>
        <p:spPr>
          <a:xfrm>
            <a:off x="457200" y="274638"/>
            <a:ext cx="8229600" cy="994604"/>
          </a:xfrm>
        </p:spPr>
        <p:txBody>
          <a:bodyPr/>
          <a:lstStyle/>
          <a:p>
            <a:pPr algn="l"/>
            <a:r>
              <a:rPr lang="en-US" dirty="0">
                <a:solidFill>
                  <a:srgbClr val="008000"/>
                </a:solidFill>
                <a:latin typeface="Helvetica"/>
                <a:cs typeface="Helvetica"/>
              </a:rPr>
              <a:t>References</a:t>
            </a:r>
            <a:endParaRPr lang="en-GB" dirty="0"/>
          </a:p>
        </p:txBody>
      </p:sp>
      <p:sp>
        <p:nvSpPr>
          <p:cNvPr id="4" name="TextBox 3">
            <a:extLst>
              <a:ext uri="{FF2B5EF4-FFF2-40B4-BE49-F238E27FC236}">
                <a16:creationId xmlns:a16="http://schemas.microsoft.com/office/drawing/2014/main" id="{D9AB0473-D329-45C2-B203-B8630676BC2F}"/>
              </a:ext>
            </a:extLst>
          </p:cNvPr>
          <p:cNvSpPr txBox="1"/>
          <p:nvPr/>
        </p:nvSpPr>
        <p:spPr>
          <a:xfrm>
            <a:off x="457200" y="1028974"/>
            <a:ext cx="7936173" cy="4708981"/>
          </a:xfrm>
          <a:prstGeom prst="rect">
            <a:avLst/>
          </a:prstGeom>
          <a:noFill/>
        </p:spPr>
        <p:txBody>
          <a:bodyPr wrap="square">
            <a:spAutoFit/>
          </a:bodyPr>
          <a:lstStyle/>
          <a:p>
            <a:pPr marL="0" marR="0" algn="just">
              <a:spcBef>
                <a:spcPts val="0"/>
              </a:spcBef>
              <a:spcAft>
                <a:spcPts val="1200"/>
              </a:spcAft>
            </a:pPr>
            <a:r>
              <a:rPr lang="en-US" sz="2800" dirty="0">
                <a:effectLst/>
                <a:latin typeface="Helvetica" panose="020B0604020202020204" pitchFamily="34" charset="0"/>
                <a:ea typeface="MS Mincho" panose="02020609040205080304" pitchFamily="49" charset="-128"/>
                <a:cs typeface="Helvetica" panose="020B0604020202020204" pitchFamily="34" charset="0"/>
              </a:rPr>
              <a:t>Afreh, E. S. (2006). </a:t>
            </a:r>
            <a:r>
              <a:rPr lang="en-US" sz="2800" i="1" dirty="0">
                <a:effectLst/>
                <a:latin typeface="Helvetica" panose="020B0604020202020204" pitchFamily="34" charset="0"/>
                <a:ea typeface="MS Mincho" panose="02020609040205080304" pitchFamily="49" charset="-128"/>
                <a:cs typeface="Helvetica" panose="020B0604020202020204" pitchFamily="34" charset="0"/>
              </a:rPr>
              <a:t>Grammar and usage for tertiary students</a:t>
            </a:r>
            <a:r>
              <a:rPr lang="en-US" sz="2800" dirty="0">
                <a:effectLst/>
                <a:latin typeface="Helvetica" panose="020B0604020202020204" pitchFamily="34" charset="0"/>
                <a:ea typeface="MS Mincho" panose="02020609040205080304" pitchFamily="49" charset="-128"/>
                <a:cs typeface="Helvetica" panose="020B0604020202020204" pitchFamily="34" charset="0"/>
              </a:rPr>
              <a:t>. Kumasi.</a:t>
            </a:r>
            <a:endParaRPr lang="en-GB" sz="2800" dirty="0">
              <a:effectLst/>
              <a:latin typeface="Helvetica" panose="020B0604020202020204" pitchFamily="34" charset="0"/>
              <a:ea typeface="MS Mincho" panose="02020609040205080304" pitchFamily="49" charset="-128"/>
              <a:cs typeface="Helvetica" panose="020B0604020202020204" pitchFamily="34" charset="0"/>
            </a:endParaRPr>
          </a:p>
          <a:p>
            <a:pPr marL="0" marR="0" indent="457200" algn="just">
              <a:spcBef>
                <a:spcPts val="0"/>
              </a:spcBef>
              <a:spcAft>
                <a:spcPts val="0"/>
              </a:spcAft>
            </a:pPr>
            <a:r>
              <a:rPr lang="en-US" sz="2800" b="1" dirty="0">
                <a:effectLst/>
                <a:latin typeface="Helvetica" panose="020B0604020202020204" pitchFamily="34" charset="0"/>
                <a:ea typeface="MS Mincho" panose="02020609040205080304" pitchFamily="49" charset="-128"/>
                <a:cs typeface="Helvetica" panose="020B0604020202020204" pitchFamily="34" charset="0"/>
              </a:rPr>
              <a:t> </a:t>
            </a:r>
            <a:endParaRPr lang="en-GB" sz="2800" dirty="0">
              <a:effectLst/>
              <a:latin typeface="Helvetica" panose="020B0604020202020204" pitchFamily="34" charset="0"/>
              <a:ea typeface="MS Mincho" panose="02020609040205080304" pitchFamily="49" charset="-128"/>
              <a:cs typeface="Helvetica" panose="020B0604020202020204" pitchFamily="34" charset="0"/>
            </a:endParaRPr>
          </a:p>
          <a:p>
            <a:pPr marL="0" marR="0" algn="just">
              <a:spcBef>
                <a:spcPts val="0"/>
              </a:spcBef>
              <a:spcAft>
                <a:spcPts val="1200"/>
              </a:spcAft>
            </a:pPr>
            <a:r>
              <a:rPr lang="en-US" sz="2800" dirty="0">
                <a:effectLst/>
                <a:latin typeface="Helvetica" panose="020B0604020202020204" pitchFamily="34" charset="0"/>
                <a:ea typeface="MS Mincho" panose="02020609040205080304" pitchFamily="49" charset="-128"/>
                <a:cs typeface="Helvetica" panose="020B0604020202020204" pitchFamily="34" charset="0"/>
              </a:rPr>
              <a:t>Opoku-Agyemang, N. J. (1998). </a:t>
            </a:r>
            <a:r>
              <a:rPr lang="en-US" sz="2800" i="1" dirty="0">
                <a:effectLst/>
                <a:latin typeface="Helvetica" panose="020B0604020202020204" pitchFamily="34" charset="0"/>
                <a:ea typeface="MS Mincho" panose="02020609040205080304" pitchFamily="49" charset="-128"/>
                <a:cs typeface="Helvetica" panose="020B0604020202020204" pitchFamily="34" charset="0"/>
              </a:rPr>
              <a:t>A handbook for writing skills</a:t>
            </a:r>
            <a:r>
              <a:rPr lang="en-US" sz="2800" dirty="0">
                <a:effectLst/>
                <a:latin typeface="Helvetica" panose="020B0604020202020204" pitchFamily="34" charset="0"/>
                <a:ea typeface="MS Mincho" panose="02020609040205080304" pitchFamily="49" charset="-128"/>
                <a:cs typeface="Helvetica" panose="020B0604020202020204" pitchFamily="34" charset="0"/>
              </a:rPr>
              <a:t>. Accra: Ghana Universities Press.</a:t>
            </a:r>
          </a:p>
          <a:p>
            <a:pPr marL="0" marR="0" algn="just">
              <a:spcBef>
                <a:spcPts val="0"/>
              </a:spcBef>
              <a:spcAft>
                <a:spcPts val="1200"/>
              </a:spcAft>
            </a:pPr>
            <a:endParaRPr lang="en-GB" sz="2800" dirty="0">
              <a:effectLst/>
              <a:latin typeface="Helvetica" panose="020B0604020202020204" pitchFamily="34" charset="0"/>
              <a:ea typeface="MS Mincho" panose="02020609040205080304" pitchFamily="49" charset="-128"/>
              <a:cs typeface="Helvetica" panose="020B0604020202020204" pitchFamily="34" charset="0"/>
            </a:endParaRPr>
          </a:p>
          <a:p>
            <a:pPr marL="0" marR="0" algn="just">
              <a:spcBef>
                <a:spcPts val="0"/>
              </a:spcBef>
              <a:spcAft>
                <a:spcPts val="0"/>
              </a:spcAft>
            </a:pPr>
            <a:r>
              <a:rPr lang="en-US" sz="2800" dirty="0" err="1">
                <a:effectLst/>
                <a:latin typeface="Helvetica" panose="020B0604020202020204" pitchFamily="34" charset="0"/>
                <a:ea typeface="MS Mincho" panose="02020609040205080304" pitchFamily="49" charset="-128"/>
                <a:cs typeface="Helvetica" panose="020B0604020202020204" pitchFamily="34" charset="0"/>
              </a:rPr>
              <a:t>Sekyi</a:t>
            </a:r>
            <a:r>
              <a:rPr lang="en-US" sz="2800" dirty="0">
                <a:effectLst/>
                <a:latin typeface="Helvetica" panose="020B0604020202020204" pitchFamily="34" charset="0"/>
                <a:ea typeface="MS Mincho" panose="02020609040205080304" pitchFamily="49" charset="-128"/>
                <a:cs typeface="Helvetica" panose="020B0604020202020204" pitchFamily="34" charset="0"/>
              </a:rPr>
              <a:t>-Baidoo, Y. (2003). </a:t>
            </a:r>
            <a:r>
              <a:rPr lang="en-US" sz="2800" i="1" dirty="0">
                <a:effectLst/>
                <a:latin typeface="Helvetica" panose="020B0604020202020204" pitchFamily="34" charset="0"/>
                <a:ea typeface="MS Mincho" panose="02020609040205080304" pitchFamily="49" charset="-128"/>
                <a:cs typeface="Helvetica" panose="020B0604020202020204" pitchFamily="34" charset="0"/>
              </a:rPr>
              <a:t>Learning and communicating (Second Edition)</a:t>
            </a:r>
            <a:r>
              <a:rPr lang="en-US" sz="2800" dirty="0">
                <a:effectLst/>
                <a:latin typeface="Helvetica" panose="020B0604020202020204" pitchFamily="34" charset="0"/>
                <a:ea typeface="MS Mincho" panose="02020609040205080304" pitchFamily="49" charset="-128"/>
                <a:cs typeface="Helvetica" panose="020B0604020202020204" pitchFamily="34" charset="0"/>
              </a:rPr>
              <a:t>. Accra: Infinity Graphics Ltd.</a:t>
            </a:r>
            <a:endParaRPr lang="en-GB" sz="2800" dirty="0">
              <a:effectLst/>
              <a:latin typeface="Helvetica" panose="020B0604020202020204" pitchFamily="34" charset="0"/>
              <a:ea typeface="MS Mincho" panose="02020609040205080304" pitchFamily="49" charset="-128"/>
              <a:cs typeface="Helvetica" panose="020B0604020202020204" pitchFamily="34" charset="0"/>
            </a:endParaRPr>
          </a:p>
          <a:p>
            <a:pPr marL="0" marR="0" indent="457200" algn="just">
              <a:spcBef>
                <a:spcPts val="0"/>
              </a:spcBef>
              <a:spcAft>
                <a:spcPts val="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GB" sz="18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998988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12350</TotalTime>
  <Words>1485</Words>
  <Application>Microsoft Office PowerPoint</Application>
  <PresentationFormat>On-screen Show (4:3)</PresentationFormat>
  <Paragraphs>131</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Cambria</vt:lpstr>
      <vt:lpstr>Helvetica</vt:lpstr>
      <vt:lpstr>Times New Roman</vt:lpstr>
      <vt:lpstr>Wingdings</vt:lpstr>
      <vt:lpstr>Office Theme</vt:lpstr>
      <vt:lpstr>COMMUNICATION SKILLS I  (ENGL 157) DEPARTMENT OF ENGLISH</vt:lpstr>
      <vt:lpstr>AMBIGUITY </vt:lpstr>
      <vt:lpstr>AMBIGUITY cont’d</vt:lpstr>
      <vt:lpstr>AMBIGUITY cont’d</vt:lpstr>
      <vt:lpstr>AMBIGUITY cont’d</vt:lpstr>
      <vt:lpstr>TYPES OF AMBIGUITY</vt:lpstr>
      <vt:lpstr>TYPES OF AMBIGUITY cont’d</vt:lpstr>
      <vt:lpstr>TYPES OF AMBIGUITY cont’d</vt:lpstr>
      <vt:lpstr>TYPES OF AMBIGUITY cont’d</vt:lpstr>
      <vt:lpstr>TYPES OF AMBIGUITY cont’d</vt:lpstr>
      <vt:lpstr>TYPES OF AMBIGUITY cont’d</vt:lpstr>
      <vt:lpstr>TYPES OF AMBIGUITY cont’d</vt:lpstr>
      <vt:lpstr>Exercise</vt:lpstr>
      <vt:lpstr>Misrelated/Dangling Modification</vt:lpstr>
      <vt:lpstr>Misrelated/Dangling Modification Cont’d</vt:lpstr>
      <vt:lpstr>Causes of Misrelated/Dangling Modification </vt:lpstr>
      <vt:lpstr>Causes of Misrelated/Dangling Modification Cont’d</vt:lpstr>
      <vt:lpstr>Causes of Misrelated/Dangling Modification Cont’d</vt:lpstr>
      <vt:lpstr>Reading Assignment</vt:lpstr>
      <vt:lpstr>Exercise</vt:lpstr>
      <vt:lpstr>References</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james gyimah</cp:lastModifiedBy>
  <cp:revision>75</cp:revision>
  <cp:lastPrinted>2017-05-31T15:05:24Z</cp:lastPrinted>
  <dcterms:created xsi:type="dcterms:W3CDTF">2016-11-07T15:28:41Z</dcterms:created>
  <dcterms:modified xsi:type="dcterms:W3CDTF">2021-01-05T14:20:31Z</dcterms:modified>
</cp:coreProperties>
</file>