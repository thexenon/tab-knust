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6"/>
  </p:notesMasterIdLst>
  <p:handoutMasterIdLst>
    <p:handoutMasterId r:id="rId57"/>
  </p:handoutMasterIdLst>
  <p:sldIdLst>
    <p:sldId id="256" r:id="rId2"/>
    <p:sldId id="257" r:id="rId3"/>
    <p:sldId id="258" r:id="rId4"/>
    <p:sldId id="260" r:id="rId5"/>
    <p:sldId id="261" r:id="rId6"/>
    <p:sldId id="262" r:id="rId7"/>
    <p:sldId id="263" r:id="rId8"/>
    <p:sldId id="318" r:id="rId9"/>
    <p:sldId id="264" r:id="rId10"/>
    <p:sldId id="270" r:id="rId11"/>
    <p:sldId id="265" r:id="rId12"/>
    <p:sldId id="267" r:id="rId13"/>
    <p:sldId id="268" r:id="rId14"/>
    <p:sldId id="269" r:id="rId15"/>
    <p:sldId id="271" r:id="rId16"/>
    <p:sldId id="272" r:id="rId17"/>
    <p:sldId id="273" r:id="rId18"/>
    <p:sldId id="274" r:id="rId19"/>
    <p:sldId id="275" r:id="rId20"/>
    <p:sldId id="276" r:id="rId21"/>
    <p:sldId id="313" r:id="rId22"/>
    <p:sldId id="314" r:id="rId23"/>
    <p:sldId id="277" r:id="rId24"/>
    <p:sldId id="315" r:id="rId25"/>
    <p:sldId id="278" r:id="rId26"/>
    <p:sldId id="279" r:id="rId27"/>
    <p:sldId id="280" r:id="rId28"/>
    <p:sldId id="319" r:id="rId29"/>
    <p:sldId id="281" r:id="rId30"/>
    <p:sldId id="282" r:id="rId31"/>
    <p:sldId id="285" r:id="rId32"/>
    <p:sldId id="286" r:id="rId33"/>
    <p:sldId id="287" r:id="rId34"/>
    <p:sldId id="288" r:id="rId35"/>
    <p:sldId id="289" r:id="rId36"/>
    <p:sldId id="290" r:id="rId37"/>
    <p:sldId id="291" r:id="rId38"/>
    <p:sldId id="292" r:id="rId39"/>
    <p:sldId id="293" r:id="rId40"/>
    <p:sldId id="295" r:id="rId41"/>
    <p:sldId id="297" r:id="rId42"/>
    <p:sldId id="299" r:id="rId43"/>
    <p:sldId id="300" r:id="rId44"/>
    <p:sldId id="301" r:id="rId45"/>
    <p:sldId id="302" r:id="rId46"/>
    <p:sldId id="304" r:id="rId47"/>
    <p:sldId id="306" r:id="rId48"/>
    <p:sldId id="307" r:id="rId49"/>
    <p:sldId id="308" r:id="rId50"/>
    <p:sldId id="309" r:id="rId51"/>
    <p:sldId id="310" r:id="rId52"/>
    <p:sldId id="311" r:id="rId53"/>
    <p:sldId id="316" r:id="rId54"/>
    <p:sldId id="317" r:id="rId55"/>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2" d="100"/>
          <a:sy n="72" d="100"/>
        </p:scale>
        <p:origin x="-1104"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A8F71C89-18EF-4961-BE81-5CD593BA08DF}" type="datetimeFigureOut">
              <a:rPr lang="en-US" smtClean="0"/>
              <a:pPr/>
              <a:t>1/15/2021</a:t>
            </a:fld>
            <a:endParaRPr lang="en-US"/>
          </a:p>
        </p:txBody>
      </p:sp>
      <p:sp>
        <p:nvSpPr>
          <p:cNvPr id="4" name="Footer Placeholder 3"/>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DB0F5717-2950-4190-B0FC-7B30A57549A1}" type="slidenum">
              <a:rPr lang="en-US" smtClean="0"/>
              <a:pPr/>
              <a:t>‹#›</a:t>
            </a:fld>
            <a:endParaRPr lang="en-US"/>
          </a:p>
        </p:txBody>
      </p:sp>
    </p:spTree>
    <p:extLst>
      <p:ext uri="{BB962C8B-B14F-4D97-AF65-F5344CB8AC3E}">
        <p14:creationId xmlns:p14="http://schemas.microsoft.com/office/powerpoint/2010/main" xmlns="" val="17454411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D2D43E10-6B5A-476B-8DF3-FF073473FBD4}" type="datetimeFigureOut">
              <a:rPr lang="en-GB" smtClean="0"/>
              <a:pPr/>
              <a:t>15/01/2021</a:t>
            </a:fld>
            <a:endParaRPr lang="en-GB"/>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DAC204ED-BB04-4789-AF99-1A129A512E11}" type="slidenum">
              <a:rPr lang="en-GB" smtClean="0"/>
              <a:pPr/>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smtClean="0"/>
          </a:p>
        </p:txBody>
      </p:sp>
      <p:sp>
        <p:nvSpPr>
          <p:cNvPr id="4" name="Slide Number Placeholder 3"/>
          <p:cNvSpPr>
            <a:spLocks noGrp="1"/>
          </p:cNvSpPr>
          <p:nvPr>
            <p:ph type="sldNum" sz="quarter" idx="10"/>
          </p:nvPr>
        </p:nvSpPr>
        <p:spPr/>
        <p:txBody>
          <a:bodyPr/>
          <a:lstStyle/>
          <a:p>
            <a:fld id="{DAC204ED-BB04-4789-AF99-1A129A512E11}" type="slidenum">
              <a:rPr lang="en-GB" smtClean="0"/>
              <a:pPr/>
              <a:t>29</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2.jpeg"/><Relationship Id="rId4" Type="http://schemas.openxmlformats.org/officeDocument/2006/relationships/hyperlink" Target="https://twitter.com/_knust_"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D751C0-DD79-0043-A8DE-0BFEC2DE753E}" type="datetimeFigureOut">
              <a:rPr lang="en-US" smtClean="0"/>
              <a:pPr/>
              <a:t>1/15/2021</a:t>
            </a:fld>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pPr/>
              <a:t>‹#›</a:t>
            </a:fld>
            <a:endParaRPr lang="en-US"/>
          </a:p>
        </p:txBody>
      </p:sp>
      <p:grpSp>
        <p:nvGrpSpPr>
          <p:cNvPr id="7" name="Group 6"/>
          <p:cNvGrpSpPr/>
          <p:nvPr userDrawn="1"/>
        </p:nvGrpSpPr>
        <p:grpSpPr>
          <a:xfrm>
            <a:off x="0" y="1"/>
            <a:ext cx="9144000" cy="854748"/>
            <a:chOff x="0" y="1"/>
            <a:chExt cx="9144000" cy="854748"/>
          </a:xfrm>
        </p:grpSpPr>
        <p:sp>
          <p:nvSpPr>
            <p:cNvPr id="8" name="Rectangle 7"/>
            <p:cNvSpPr/>
            <p:nvPr/>
          </p:nvSpPr>
          <p:spPr>
            <a:xfrm>
              <a:off x="0" y="1"/>
              <a:ext cx="9144000" cy="854748"/>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p:nvPr/>
          </p:nvSpPr>
          <p:spPr>
            <a:xfrm>
              <a:off x="5487656" y="241270"/>
              <a:ext cx="3445328" cy="523220"/>
            </a:xfrm>
            <a:prstGeom prst="rect">
              <a:avLst/>
            </a:prstGeom>
            <a:noFill/>
          </p:spPr>
          <p:txBody>
            <a:bodyPr wrap="square" rtlCol="0">
              <a:spAutoFit/>
            </a:bodyPr>
            <a:lstStyle/>
            <a:p>
              <a:r>
                <a:rPr lang="en-US" sz="1400" dirty="0" smtClean="0">
                  <a:solidFill>
                    <a:schemeClr val="bg1"/>
                  </a:solidFill>
                  <a:latin typeface="Helvetica"/>
                  <a:cs typeface="Helvetica"/>
                </a:rPr>
                <a:t>Kwame Nkrumah University of </a:t>
              </a:r>
            </a:p>
            <a:p>
              <a:r>
                <a:rPr lang="en-US" sz="1400" dirty="0" smtClean="0">
                  <a:solidFill>
                    <a:schemeClr val="bg1"/>
                  </a:solidFill>
                  <a:latin typeface="Helvetica"/>
                  <a:cs typeface="Helvetica"/>
                </a:rPr>
                <a:t>Science &amp; Technology, Kumasi, Ghana</a:t>
              </a:r>
              <a:endParaRPr lang="en-US" sz="1400" dirty="0">
                <a:solidFill>
                  <a:schemeClr val="bg1"/>
                </a:solidFill>
                <a:latin typeface="Helvetica"/>
                <a:cs typeface="Helvetica"/>
              </a:endParaRPr>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4995789" y="157852"/>
              <a:ext cx="491867" cy="625979"/>
            </a:xfrm>
            <a:prstGeom prst="rect">
              <a:avLst/>
            </a:prstGeom>
          </p:spPr>
        </p:pic>
      </p:grpSp>
      <p:sp>
        <p:nvSpPr>
          <p:cNvPr id="11" name="Title 1"/>
          <p:cNvSpPr>
            <a:spLocks noGrp="1"/>
          </p:cNvSpPr>
          <p:nvPr>
            <p:ph type="ctrTitle"/>
          </p:nvPr>
        </p:nvSpPr>
        <p:spPr>
          <a:xfrm>
            <a:off x="685800" y="2167738"/>
            <a:ext cx="7772400" cy="1470025"/>
          </a:xfrm>
          <a:prstGeom prst="rect">
            <a:avLst/>
          </a:prstGeom>
        </p:spPr>
        <p:txBody>
          <a:bodyPr>
            <a:normAutofit/>
          </a:bodyPr>
          <a:lstStyle/>
          <a:p>
            <a:pPr algn="l"/>
            <a:r>
              <a:rPr lang="en-US" dirty="0" smtClean="0">
                <a:latin typeface="Helvetica"/>
                <a:cs typeface="Helvetica"/>
              </a:rPr>
              <a:t>Title</a:t>
            </a:r>
            <a:endParaRPr lang="en-US" dirty="0">
              <a:latin typeface="Helvetica"/>
              <a:cs typeface="Helvetica"/>
            </a:endParaRPr>
          </a:p>
        </p:txBody>
      </p:sp>
      <p:sp>
        <p:nvSpPr>
          <p:cNvPr id="12" name="Subtitle 2"/>
          <p:cNvSpPr>
            <a:spLocks noGrp="1"/>
          </p:cNvSpPr>
          <p:nvPr>
            <p:ph type="subTitle" idx="1"/>
          </p:nvPr>
        </p:nvSpPr>
        <p:spPr>
          <a:xfrm>
            <a:off x="728506" y="4010849"/>
            <a:ext cx="6400800" cy="1599330"/>
          </a:xfrm>
        </p:spPr>
        <p:txBody>
          <a:bodyPr>
            <a:normAutofit/>
          </a:bodyPr>
          <a:lstStyle>
            <a:lvl1pPr marL="0" indent="0">
              <a:buNone/>
              <a:defRPr>
                <a:solidFill>
                  <a:schemeClr val="bg1">
                    <a:lumMod val="50000"/>
                  </a:schemeClr>
                </a:solidFill>
              </a:defRPr>
            </a:lvl1pPr>
          </a:lstStyle>
          <a:p>
            <a:pPr algn="l"/>
            <a:r>
              <a:rPr lang="en-US" b="1" dirty="0" smtClean="0">
                <a:solidFill>
                  <a:schemeClr val="tx1"/>
                </a:solidFill>
                <a:latin typeface="Helvetica"/>
                <a:cs typeface="Helvetica"/>
              </a:rPr>
              <a:t>Name</a:t>
            </a:r>
          </a:p>
          <a:p>
            <a:pPr algn="l"/>
            <a:r>
              <a:rPr lang="en-US" sz="2400" b="1" dirty="0" smtClean="0">
                <a:latin typeface="Helvetica"/>
                <a:cs typeface="Helvetica"/>
              </a:rPr>
              <a:t>Department</a:t>
            </a:r>
          </a:p>
          <a:p>
            <a:pPr algn="l"/>
            <a:r>
              <a:rPr lang="en-US" sz="2400" b="1" dirty="0" smtClean="0">
                <a:latin typeface="Helvetica"/>
                <a:cs typeface="Helvetica"/>
              </a:rPr>
              <a:t>Faculty &amp; College</a:t>
            </a:r>
          </a:p>
        </p:txBody>
      </p:sp>
    </p:spTree>
    <p:extLst>
      <p:ext uri="{BB962C8B-B14F-4D97-AF65-F5344CB8AC3E}">
        <p14:creationId xmlns:p14="http://schemas.microsoft.com/office/powerpoint/2010/main" xmlns="" val="1026681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D751C0-DD79-0043-A8DE-0BFEC2DE753E}" type="datetimeFigureOut">
              <a:rPr lang="en-US" smtClean="0"/>
              <a:pPr/>
              <a:t>1/15/2021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pPr/>
              <a:t>‹#›</a:t>
            </a:fld>
            <a:endParaRPr lang="en-US"/>
          </a:p>
        </p:txBody>
      </p:sp>
      <p:grpSp>
        <p:nvGrpSpPr>
          <p:cNvPr id="7" name="Group 6"/>
          <p:cNvGrpSpPr/>
          <p:nvPr userDrawn="1"/>
        </p:nvGrpSpPr>
        <p:grpSpPr>
          <a:xfrm>
            <a:off x="0" y="5992943"/>
            <a:ext cx="9144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smtClean="0">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xmlns=""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xmlns="" val="0"/>
                </a:ext>
              </a:extLst>
            </a:blip>
            <a:stretch>
              <a:fillRect/>
            </a:stretch>
          </p:blipFill>
          <p:spPr>
            <a:xfrm>
              <a:off x="6197791" y="6029719"/>
              <a:ext cx="292217" cy="292217"/>
            </a:xfrm>
            <a:prstGeom prst="rect">
              <a:avLst/>
            </a:prstGeom>
          </p:spPr>
        </p:pic>
      </p:grpSp>
      <p:sp>
        <p:nvSpPr>
          <p:cNvPr id="14" name="Title 1"/>
          <p:cNvSpPr>
            <a:spLocks noGrp="1"/>
          </p:cNvSpPr>
          <p:nvPr>
            <p:ph type="title"/>
          </p:nvPr>
        </p:nvSpPr>
        <p:spPr>
          <a:xfrm>
            <a:off x="457200" y="274638"/>
            <a:ext cx="8229600" cy="1143000"/>
          </a:xfrm>
          <a:prstGeom prst="rect">
            <a:avLst/>
          </a:prstGeom>
        </p:spPr>
        <p:txBody>
          <a:bodyPr/>
          <a:lstStyle/>
          <a:p>
            <a:pPr algn="l"/>
            <a:r>
              <a:rPr lang="en-US" dirty="0" smtClean="0">
                <a:solidFill>
                  <a:srgbClr val="008000"/>
                </a:solidFill>
                <a:latin typeface="Helvetica"/>
                <a:cs typeface="Helvetica"/>
              </a:rPr>
              <a:t>Introduction</a:t>
            </a:r>
            <a:endParaRPr lang="en-US" dirty="0">
              <a:solidFill>
                <a:srgbClr val="008000"/>
              </a:solidFill>
              <a:latin typeface="Helvetica"/>
              <a:cs typeface="Helvetica"/>
            </a:endParaRPr>
          </a:p>
        </p:txBody>
      </p:sp>
    </p:spTree>
    <p:extLst>
      <p:ext uri="{BB962C8B-B14F-4D97-AF65-F5344CB8AC3E}">
        <p14:creationId xmlns:p14="http://schemas.microsoft.com/office/powerpoint/2010/main" xmlns="" val="3793904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2D751C0-DD79-0043-A8DE-0BFEC2DE753E}" type="datetimeFigureOut">
              <a:rPr lang="en-US" smtClean="0"/>
              <a:pPr/>
              <a:t>1/15/2021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pPr/>
              <a:t>‹#›</a:t>
            </a:fld>
            <a:endParaRPr lang="en-US"/>
          </a:p>
        </p:txBody>
      </p:sp>
    </p:spTree>
    <p:extLst>
      <p:ext uri="{BB962C8B-B14F-4D97-AF65-F5344CB8AC3E}">
        <p14:creationId xmlns:p14="http://schemas.microsoft.com/office/powerpoint/2010/main" xmlns="" val="3130215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2D751C0-DD79-0043-A8DE-0BFEC2DE753E}" type="datetimeFigureOut">
              <a:rPr lang="en-US" smtClean="0"/>
              <a:pPr/>
              <a:t>1/15/2021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pPr/>
              <a:t>‹#›</a:t>
            </a:fld>
            <a:endParaRPr lang="en-US"/>
          </a:p>
        </p:txBody>
      </p:sp>
    </p:spTree>
    <p:extLst>
      <p:ext uri="{BB962C8B-B14F-4D97-AF65-F5344CB8AC3E}">
        <p14:creationId xmlns:p14="http://schemas.microsoft.com/office/powerpoint/2010/main" xmlns="" val="2121567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2D751C0-DD79-0043-A8DE-0BFEC2DE753E}" type="datetimeFigureOut">
              <a:rPr lang="en-US" smtClean="0"/>
              <a:pPr/>
              <a:t>1/15/2021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801FD5-11B4-DE43-ACA2-E85EEB9A6F9C}" type="slidenum">
              <a:rPr lang="en-US" smtClean="0"/>
              <a:pPr/>
              <a:t>‹#›</a:t>
            </a:fld>
            <a:endParaRPr lang="en-US"/>
          </a:p>
        </p:txBody>
      </p:sp>
    </p:spTree>
    <p:extLst>
      <p:ext uri="{BB962C8B-B14F-4D97-AF65-F5344CB8AC3E}">
        <p14:creationId xmlns:p14="http://schemas.microsoft.com/office/powerpoint/2010/main" xmlns="" val="1501875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2D751C0-DD79-0043-A8DE-0BFEC2DE753E}" type="datetimeFigureOut">
              <a:rPr lang="en-US" smtClean="0"/>
              <a:pPr/>
              <a:t>1/15/2021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801FD5-11B4-DE43-ACA2-E85EEB9A6F9C}" type="slidenum">
              <a:rPr lang="en-US" smtClean="0"/>
              <a:pPr/>
              <a:t>‹#›</a:t>
            </a:fld>
            <a:endParaRPr lang="en-US"/>
          </a:p>
        </p:txBody>
      </p:sp>
    </p:spTree>
    <p:extLst>
      <p:ext uri="{BB962C8B-B14F-4D97-AF65-F5344CB8AC3E}">
        <p14:creationId xmlns:p14="http://schemas.microsoft.com/office/powerpoint/2010/main" xmlns="" val="3821190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D751C0-DD79-0043-A8DE-0BFEC2DE753E}" type="datetimeFigureOut">
              <a:rPr lang="en-US" smtClean="0"/>
              <a:pPr/>
              <a:t>1/15/2021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801FD5-11B4-DE43-ACA2-E85EEB9A6F9C}" type="slidenum">
              <a:rPr lang="en-US" smtClean="0"/>
              <a:pPr/>
              <a:t>‹#›</a:t>
            </a:fld>
            <a:endParaRPr lang="en-US"/>
          </a:p>
        </p:txBody>
      </p:sp>
    </p:spTree>
    <p:extLst>
      <p:ext uri="{BB962C8B-B14F-4D97-AF65-F5344CB8AC3E}">
        <p14:creationId xmlns:p14="http://schemas.microsoft.com/office/powerpoint/2010/main" xmlns="" val="2112669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D751C0-DD79-0043-A8DE-0BFEC2DE753E}" type="datetimeFigureOut">
              <a:rPr lang="en-US" smtClean="0"/>
              <a:pPr/>
              <a:t>1/15/2021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pPr/>
              <a:t>‹#›</a:t>
            </a:fld>
            <a:endParaRPr lang="en-US"/>
          </a:p>
        </p:txBody>
      </p:sp>
    </p:spTree>
    <p:extLst>
      <p:ext uri="{BB962C8B-B14F-4D97-AF65-F5344CB8AC3E}">
        <p14:creationId xmlns:p14="http://schemas.microsoft.com/office/powerpoint/2010/main" xmlns="" val="914271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D751C0-DD79-0043-A8DE-0BFEC2DE753E}" type="datetimeFigureOut">
              <a:rPr lang="en-US" smtClean="0"/>
              <a:pPr/>
              <a:t>1/15/2021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pPr/>
              <a:t>‹#›</a:t>
            </a:fld>
            <a:endParaRPr lang="en-US"/>
          </a:p>
        </p:txBody>
      </p:sp>
    </p:spTree>
    <p:extLst>
      <p:ext uri="{BB962C8B-B14F-4D97-AF65-F5344CB8AC3E}">
        <p14:creationId xmlns:p14="http://schemas.microsoft.com/office/powerpoint/2010/main" xmlns="" val="2278298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D751C0-DD79-0043-A8DE-0BFEC2DE753E}" type="datetimeFigureOut">
              <a:rPr lang="en-US" smtClean="0"/>
              <a:pPr/>
              <a:t>1/15/2021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pPr/>
              <a:t>‹#›</a:t>
            </a:fld>
            <a:endParaRPr lang="en-US"/>
          </a:p>
        </p:txBody>
      </p:sp>
    </p:spTree>
    <p:extLst>
      <p:ext uri="{BB962C8B-B14F-4D97-AF65-F5344CB8AC3E}">
        <p14:creationId xmlns:p14="http://schemas.microsoft.com/office/powerpoint/2010/main" xmlns="" val="41281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D751C0-DD79-0043-A8DE-0BFEC2DE753E}" type="datetimeFigureOut">
              <a:rPr lang="en-US" smtClean="0"/>
              <a:pPr/>
              <a:t>1/15/2021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pPr/>
              <a:t>‹#›</a:t>
            </a:fld>
            <a:endParaRPr lang="en-US"/>
          </a:p>
        </p:txBody>
      </p:sp>
    </p:spTree>
    <p:extLst>
      <p:ext uri="{BB962C8B-B14F-4D97-AF65-F5344CB8AC3E}">
        <p14:creationId xmlns:p14="http://schemas.microsoft.com/office/powerpoint/2010/main" xmlns="" val="2670795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D751C0-DD79-0043-A8DE-0BFEC2DE753E}" type="datetimeFigureOut">
              <a:rPr lang="en-US" smtClean="0"/>
              <a:pPr/>
              <a:t>1/15/2021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801FD5-11B4-DE43-ACA2-E85EEB9A6F9C}" type="slidenum">
              <a:rPr lang="en-US" smtClean="0"/>
              <a:pPr/>
              <a:t>‹#›</a:t>
            </a:fld>
            <a:endParaRPr lang="en-US"/>
          </a:p>
        </p:txBody>
      </p:sp>
    </p:spTree>
    <p:extLst>
      <p:ext uri="{BB962C8B-B14F-4D97-AF65-F5344CB8AC3E}">
        <p14:creationId xmlns:p14="http://schemas.microsoft.com/office/powerpoint/2010/main" xmlns="" val="2954336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685800" y="989522"/>
            <a:ext cx="7772400" cy="886405"/>
          </a:xfrm>
        </p:spPr>
        <p:txBody>
          <a:bodyPr/>
          <a:lstStyle/>
          <a:p>
            <a:r>
              <a:rPr lang="en-GB" dirty="0" smtClean="0"/>
              <a:t>PARTS OF SPEECH</a:t>
            </a:r>
            <a:endParaRPr lang="en-GB" dirty="0"/>
          </a:p>
        </p:txBody>
      </p:sp>
      <p:sp>
        <p:nvSpPr>
          <p:cNvPr id="7" name="Subtitle 6"/>
          <p:cNvSpPr>
            <a:spLocks noGrp="1"/>
          </p:cNvSpPr>
          <p:nvPr>
            <p:ph type="subTitle" idx="1"/>
          </p:nvPr>
        </p:nvSpPr>
        <p:spPr>
          <a:xfrm>
            <a:off x="0" y="1875928"/>
            <a:ext cx="9144000" cy="4982072"/>
          </a:xfrm>
        </p:spPr>
        <p:txBody>
          <a:bodyPr>
            <a:normAutofit/>
          </a:bodyPr>
          <a:lstStyle/>
          <a:p>
            <a:r>
              <a:rPr lang="en-GB" sz="2800" dirty="0" smtClean="0">
                <a:latin typeface="Times New Roman" pitchFamily="18" charset="0"/>
                <a:cs typeface="Times New Roman" pitchFamily="18" charset="0"/>
              </a:rPr>
              <a:t>OBJECTIVES</a:t>
            </a:r>
          </a:p>
          <a:p>
            <a:r>
              <a:rPr lang="en-GB" sz="2800" dirty="0" smtClean="0">
                <a:latin typeface="Times New Roman" pitchFamily="18" charset="0"/>
                <a:cs typeface="Times New Roman" pitchFamily="18" charset="0"/>
              </a:rPr>
              <a:t>By the end of the lesson, the student will be able to :</a:t>
            </a:r>
          </a:p>
          <a:p>
            <a:pPr marL="514350" indent="-514350">
              <a:buAutoNum type="arabicPeriod"/>
            </a:pPr>
            <a:r>
              <a:rPr lang="en-GB" sz="2800" dirty="0" smtClean="0">
                <a:latin typeface="Times New Roman" pitchFamily="18" charset="0"/>
                <a:cs typeface="Times New Roman" pitchFamily="18" charset="0"/>
              </a:rPr>
              <a:t>Identify the various parts of speech in the English language </a:t>
            </a:r>
          </a:p>
          <a:p>
            <a:pPr marL="514350" indent="-514350">
              <a:buAutoNum type="arabicPeriod"/>
            </a:pPr>
            <a:r>
              <a:rPr lang="en-GB" sz="2800" dirty="0" smtClean="0">
                <a:latin typeface="Times New Roman" pitchFamily="18" charset="0"/>
                <a:cs typeface="Times New Roman" pitchFamily="18" charset="0"/>
              </a:rPr>
              <a:t>Explain the form, positions and functions of the various parts of speech in English sentences</a:t>
            </a:r>
          </a:p>
          <a:p>
            <a:pPr marL="514350" indent="-514350">
              <a:buAutoNum type="arabicPeriod"/>
            </a:pPr>
            <a:r>
              <a:rPr lang="en-GB" sz="2800" dirty="0" smtClean="0">
                <a:latin typeface="Times New Roman" pitchFamily="18" charset="0"/>
                <a:cs typeface="Times New Roman" pitchFamily="18" charset="0"/>
              </a:rPr>
              <a:t>Use these parts of speech to form correct sentences in English</a:t>
            </a:r>
          </a:p>
        </p:txBody>
      </p:sp>
    </p:spTree>
    <p:extLst>
      <p:ext uri="{BB962C8B-B14F-4D97-AF65-F5344CB8AC3E}">
        <p14:creationId xmlns:p14="http://schemas.microsoft.com/office/powerpoint/2010/main" xmlns="" val="152554389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57200" y="274637"/>
            <a:ext cx="8229600" cy="5450301"/>
          </a:xfrm>
        </p:spPr>
        <p:txBody>
          <a:bodyPr/>
          <a:lstStyle/>
          <a:p>
            <a:pPr algn="l"/>
            <a:r>
              <a:rPr lang="en-US" dirty="0" smtClean="0">
                <a:solidFill>
                  <a:srgbClr val="008000"/>
                </a:solidFill>
                <a:latin typeface="Helvetica"/>
                <a:cs typeface="Helvetica"/>
              </a:rPr>
              <a:t/>
            </a:r>
            <a:br>
              <a:rPr lang="en-US" dirty="0" smtClean="0">
                <a:solidFill>
                  <a:srgbClr val="008000"/>
                </a:solidFill>
                <a:latin typeface="Helvetica"/>
                <a:cs typeface="Helvetica"/>
              </a:rPr>
            </a:br>
            <a:endParaRPr lang="en-US" dirty="0">
              <a:solidFill>
                <a:srgbClr val="008000"/>
              </a:solidFill>
              <a:latin typeface="Helvetica"/>
              <a:cs typeface="Helvetica"/>
            </a:endParaRPr>
          </a:p>
        </p:txBody>
      </p:sp>
      <p:sp>
        <p:nvSpPr>
          <p:cNvPr id="4" name="Content Placeholder 2"/>
          <p:cNvSpPr txBox="1">
            <a:spLocks/>
          </p:cNvSpPr>
          <p:nvPr/>
        </p:nvSpPr>
        <p:spPr>
          <a:xfrm>
            <a:off x="457200" y="1600201"/>
            <a:ext cx="8229600" cy="4284702"/>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20000"/>
              </a:lnSpc>
              <a:spcBef>
                <a:spcPts val="0"/>
              </a:spcBef>
              <a:spcAft>
                <a:spcPts val="1800"/>
              </a:spcAft>
              <a:buFont typeface="Wingdings" charset="2"/>
              <a:buChar char="u"/>
            </a:pPr>
            <a:endParaRPr lang="en-US" dirty="0">
              <a:latin typeface="Helvetica"/>
              <a:cs typeface="Helvetica"/>
            </a:endParaRPr>
          </a:p>
        </p:txBody>
      </p:sp>
      <p:sp>
        <p:nvSpPr>
          <p:cNvPr id="6" name="Subtitle 2"/>
          <p:cNvSpPr txBox="1">
            <a:spLocks/>
          </p:cNvSpPr>
          <p:nvPr/>
        </p:nvSpPr>
        <p:spPr>
          <a:xfrm>
            <a:off x="990600" y="228600"/>
            <a:ext cx="7848600" cy="6248400"/>
          </a:xfrm>
          <a:prstGeom prst="rect">
            <a:avLst/>
          </a:prstGeom>
        </p:spPr>
        <p:txBody>
          <a:bodyPr>
            <a:normAutofit/>
          </a:bodyPr>
          <a:lstStyle/>
          <a:p>
            <a:pPr marL="342900" marR="0" lvl="0" indent="-342900" algn="ctr" defTabSz="457200" rtl="0" eaLnBrk="1" fontAlgn="auto" latinLnBrk="0" hangingPunct="1">
              <a:lnSpc>
                <a:spcPct val="100000"/>
              </a:lnSpc>
              <a:spcBef>
                <a:spcPct val="20000"/>
              </a:spcBef>
              <a:spcAft>
                <a:spcPts val="0"/>
              </a:spcAft>
              <a:buClrTx/>
              <a:buSzTx/>
              <a:tabLst/>
              <a:defRPr/>
            </a:pPr>
            <a:endPar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r>
              <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Nine main parts of speech</a:t>
            </a:r>
            <a:r>
              <a:rPr kumimoji="0" lang="en-GB" sz="2800" b="0" i="0" u="none" strike="noStrike" kern="1200" cap="none" spc="0" normalizeH="0" noProof="0" dirty="0" smtClean="0">
                <a:ln>
                  <a:noFill/>
                </a:ln>
                <a:solidFill>
                  <a:schemeClr val="tx1"/>
                </a:solidFill>
                <a:effectLst/>
                <a:uLnTx/>
                <a:uFillTx/>
                <a:latin typeface="Times New Roman" pitchFamily="18" charset="0"/>
                <a:ea typeface="+mn-ea"/>
                <a:cs typeface="Times New Roman" pitchFamily="18" charset="0"/>
              </a:rPr>
              <a:t> are going to be discussed in this lesson</a:t>
            </a:r>
            <a:r>
              <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r>
              <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They are: Nouns, Verbs, Adjectives, Adverbs, Prepositions, Pronouns, Conjunctions, Determiners and Interjections.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r>
              <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They have been categorized into lexical items and non-lexical items. </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xmlns="" val="3860506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88327" y="1417638"/>
            <a:ext cx="184731" cy="369332"/>
          </a:xfrm>
          <a:prstGeom prst="rect">
            <a:avLst/>
          </a:prstGeom>
          <a:noFill/>
        </p:spPr>
        <p:txBody>
          <a:bodyPr wrap="none" rtlCol="0">
            <a:spAutoFit/>
          </a:bodyPr>
          <a:lstStyle/>
          <a:p>
            <a:endParaRPr lang="en-US" dirty="0"/>
          </a:p>
        </p:txBody>
      </p:sp>
      <p:sp>
        <p:nvSpPr>
          <p:cNvPr id="6" name="Content Placeholder 2"/>
          <p:cNvSpPr txBox="1">
            <a:spLocks/>
          </p:cNvSpPr>
          <p:nvPr/>
        </p:nvSpPr>
        <p:spPr>
          <a:xfrm>
            <a:off x="0" y="0"/>
            <a:ext cx="9067800" cy="6858000"/>
          </a:xfrm>
          <a:prstGeom prst="rect">
            <a:avLst/>
          </a:prstGeom>
        </p:spPr>
        <p:txBody>
          <a:bodyPr>
            <a:normAutofit/>
          </a:bodyPr>
          <a:lstStyle/>
          <a:p>
            <a:pPr marL="342900" marR="0" lvl="0" indent="-342900" algn="l" defTabSz="457200" rtl="0" eaLnBrk="1" fontAlgn="auto" latinLnBrk="0" hangingPunct="1">
              <a:lnSpc>
                <a:spcPct val="100000"/>
              </a:lnSpc>
              <a:spcBef>
                <a:spcPct val="20000"/>
              </a:spcBef>
              <a:spcAft>
                <a:spcPts val="0"/>
              </a:spcAft>
              <a:buClrTx/>
              <a:buSzTx/>
              <a:buFont typeface="Arial" pitchFamily="34" charset="0"/>
              <a:buChar char="•"/>
              <a:tabLst/>
              <a:defRPr/>
            </a:pPr>
            <a:r>
              <a:rPr kumimoji="0" lang="en-GB" sz="2800" b="0" i="0" u="none" strike="noStrike" kern="1200" cap="none" spc="0" normalizeH="0" baseline="0" noProof="0" dirty="0" err="1" smtClean="0">
                <a:ln>
                  <a:noFill/>
                </a:ln>
                <a:solidFill>
                  <a:schemeClr val="tx1"/>
                </a:solidFill>
                <a:effectLst/>
                <a:uLnTx/>
                <a:uFillTx/>
                <a:latin typeface="Times New Roman" pitchFamily="18" charset="0"/>
                <a:ea typeface="+mn-ea"/>
                <a:cs typeface="Times New Roman" pitchFamily="18" charset="0"/>
              </a:rPr>
              <a:t>Th</a:t>
            </a:r>
            <a:r>
              <a:rPr lang="en-GB" sz="2800" dirty="0" smtClean="0">
                <a:latin typeface="Times New Roman" pitchFamily="18" charset="0"/>
                <a:cs typeface="Times New Roman" pitchFamily="18" charset="0"/>
              </a:rPr>
              <a:t>e lexical items are going to be discussed before the non-lexical items.</a:t>
            </a:r>
          </a:p>
          <a:p>
            <a:pPr marL="342900" marR="0" lvl="0" indent="-342900" algn="l" defTabSz="457200" rtl="0" eaLnBrk="1" fontAlgn="auto" latinLnBrk="0" hangingPunct="1">
              <a:lnSpc>
                <a:spcPct val="100000"/>
              </a:lnSpc>
              <a:spcBef>
                <a:spcPct val="20000"/>
              </a:spcBef>
              <a:spcAft>
                <a:spcPts val="0"/>
              </a:spcAft>
              <a:buClrTx/>
              <a:buSzTx/>
              <a:tabLst/>
              <a:defRPr/>
            </a:pPr>
            <a:endParaRPr lang="en-GB" sz="2800" dirty="0" smtClean="0">
              <a:latin typeface="Times New Roman" pitchFamily="18" charset="0"/>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Arial" pitchFamily="34" charset="0"/>
              <a:buChar char="•"/>
              <a:tabLst/>
              <a:defRPr/>
            </a:pPr>
            <a:r>
              <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The lexical items are those that carry semantic content. This means they have meaning in them</a:t>
            </a:r>
            <a:r>
              <a:rPr kumimoji="0" lang="en-GB" sz="2800" b="0" i="0" u="none" strike="noStrike" kern="1200" cap="none" spc="0" normalizeH="0" noProof="0" dirty="0" smtClean="0">
                <a:ln>
                  <a:noFill/>
                </a:ln>
                <a:solidFill>
                  <a:schemeClr val="tx1"/>
                </a:solidFill>
                <a:effectLst/>
                <a:uLnTx/>
                <a:uFillTx/>
                <a:latin typeface="Times New Roman" pitchFamily="18" charset="0"/>
                <a:ea typeface="+mn-ea"/>
                <a:cs typeface="Times New Roman" pitchFamily="18" charset="0"/>
              </a:rPr>
              <a:t> even when they stand alone. </a:t>
            </a:r>
            <a:r>
              <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  </a:t>
            </a:r>
          </a:p>
          <a:p>
            <a:pPr marL="342900" marR="0" lvl="0" indent="-342900" algn="l" defTabSz="457200" rtl="0" eaLnBrk="1" fontAlgn="auto" latinLnBrk="0" hangingPunct="1">
              <a:lnSpc>
                <a:spcPct val="100000"/>
              </a:lnSpc>
              <a:spcBef>
                <a:spcPct val="20000"/>
              </a:spcBef>
              <a:spcAft>
                <a:spcPts val="0"/>
              </a:spcAft>
              <a:buClrTx/>
              <a:buSzTx/>
              <a:tabLst/>
              <a:defRPr/>
            </a:pPr>
            <a:endPar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They are</a:t>
            </a:r>
            <a:r>
              <a:rPr kumimoji="0" lang="en-GB" sz="2800" b="0" i="0" u="none" strike="noStrike" kern="1200" cap="none" spc="0" normalizeH="0" noProof="0" dirty="0" smtClean="0">
                <a:ln>
                  <a:noFill/>
                </a:ln>
                <a:solidFill>
                  <a:schemeClr val="tx1"/>
                </a:solidFill>
                <a:effectLst/>
                <a:uLnTx/>
                <a:uFillTx/>
                <a:latin typeface="Times New Roman" pitchFamily="18" charset="0"/>
                <a:ea typeface="+mn-ea"/>
                <a:cs typeface="Times New Roman" pitchFamily="18" charset="0"/>
              </a:rPr>
              <a:t> </a:t>
            </a:r>
            <a:r>
              <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also called open class items, meaning that, they accept new members. </a:t>
            </a:r>
          </a:p>
          <a:p>
            <a:pPr marL="342900" marR="0" lvl="0" indent="-342900" algn="l" defTabSz="457200" rtl="0" eaLnBrk="1" fontAlgn="auto" latinLnBrk="0" hangingPunct="1">
              <a:lnSpc>
                <a:spcPct val="100000"/>
              </a:lnSpc>
              <a:spcBef>
                <a:spcPct val="20000"/>
              </a:spcBef>
              <a:spcAft>
                <a:spcPts val="0"/>
              </a:spcAft>
              <a:buClrTx/>
              <a:buSzTx/>
              <a:tabLst/>
              <a:defRPr/>
            </a:pPr>
            <a:endPar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The lexical items are: Nouns, Verbs, Adjectives and Adverbs. </a:t>
            </a:r>
          </a:p>
          <a:p>
            <a:pPr marL="342900" marR="0" lvl="0" indent="-342900" algn="l" defTabSz="457200" rtl="0" eaLnBrk="1" fontAlgn="auto" latinLnBrk="0" hangingPunct="1">
              <a:lnSpc>
                <a:spcPct val="150000"/>
              </a:lnSpc>
              <a:spcBef>
                <a:spcPct val="20000"/>
              </a:spcBef>
              <a:spcAft>
                <a:spcPts val="0"/>
              </a:spcAft>
              <a:buClrTx/>
              <a:buSzTx/>
              <a:buFont typeface="Arial"/>
              <a:buChar char="•"/>
              <a:tabLst/>
              <a:defRPr/>
            </a:pPr>
            <a:endParaRPr kumimoji="0" lang="en-GB" sz="28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xmlns="" val="1031166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251791" y="0"/>
            <a:ext cx="8816009" cy="6781800"/>
          </a:xfrm>
          <a:prstGeom prst="rect">
            <a:avLst/>
          </a:prstGeom>
        </p:spPr>
        <p:txBody>
          <a:bodyPr>
            <a:noAutofit/>
          </a:bodyPr>
          <a:lstStyle/>
          <a:p>
            <a:pPr marL="342900" marR="0" lvl="0" indent="-342900" algn="just" defTabSz="457200" rtl="0" eaLnBrk="1" fontAlgn="auto" latinLnBrk="0" hangingPunct="1">
              <a:lnSpc>
                <a:spcPct val="100000"/>
              </a:lnSpc>
              <a:spcBef>
                <a:spcPct val="20000"/>
              </a:spcBef>
              <a:spcAft>
                <a:spcPts val="0"/>
              </a:spcAft>
              <a:buClrTx/>
              <a:buSzTx/>
              <a:buFont typeface="Wingdings" pitchFamily="2" charset="2"/>
              <a:buChar char="§"/>
              <a:tabLst/>
              <a:defRPr/>
            </a:pPr>
            <a:r>
              <a:rPr lang="en-GB" sz="2800" noProof="0" dirty="0" smtClean="0">
                <a:latin typeface="Times New Roman" pitchFamily="18" charset="0"/>
                <a:cs typeface="Times New Roman" pitchFamily="18" charset="0"/>
              </a:rPr>
              <a:t>Each lexical item </a:t>
            </a:r>
            <a:r>
              <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can be defined based on</a:t>
            </a:r>
            <a:r>
              <a:rPr lang="en-GB" sz="2800" noProof="0" dirty="0" smtClean="0">
                <a:latin typeface="Times New Roman" pitchFamily="18" charset="0"/>
                <a:cs typeface="Times New Roman" pitchFamily="18" charset="0"/>
              </a:rPr>
              <a:t> its </a:t>
            </a:r>
            <a:r>
              <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form,</a:t>
            </a:r>
            <a:r>
              <a:rPr lang="en-GB" sz="2800" dirty="0" smtClean="0">
                <a:latin typeface="Times New Roman" pitchFamily="18" charset="0"/>
                <a:cs typeface="Times New Roman" pitchFamily="18" charset="0"/>
              </a:rPr>
              <a:t> its </a:t>
            </a:r>
            <a:r>
              <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positions in sentences and its functions. </a:t>
            </a:r>
          </a:p>
          <a:p>
            <a:pPr marL="342900" marR="0" lvl="0" indent="-342900" algn="just" defTabSz="457200" rtl="0" eaLnBrk="1" fontAlgn="auto" latinLnBrk="0" hangingPunct="1">
              <a:lnSpc>
                <a:spcPct val="100000"/>
              </a:lnSpc>
              <a:spcBef>
                <a:spcPct val="20000"/>
              </a:spcBef>
              <a:spcAft>
                <a:spcPts val="0"/>
              </a:spcAft>
              <a:buClrTx/>
              <a:buSzTx/>
              <a:buFont typeface="Arial"/>
              <a:buNone/>
              <a:tabLst/>
              <a:defRPr/>
            </a:pPr>
            <a:endPar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just" defTabSz="457200" rtl="0" eaLnBrk="1" fontAlgn="auto" latinLnBrk="0" hangingPunct="1">
              <a:lnSpc>
                <a:spcPct val="100000"/>
              </a:lnSpc>
              <a:spcBef>
                <a:spcPct val="20000"/>
              </a:spcBef>
              <a:spcAft>
                <a:spcPts val="0"/>
              </a:spcAft>
              <a:buClrTx/>
              <a:buSzTx/>
              <a:buFont typeface="Wingdings" pitchFamily="2" charset="2"/>
              <a:buChar char="§"/>
              <a:tabLst/>
              <a:defRPr/>
            </a:pPr>
            <a:r>
              <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By form, we mean the shape that it can take, how it is built up and the changes that it can undergo.</a:t>
            </a:r>
          </a:p>
          <a:p>
            <a:pPr marL="342900" marR="0" lvl="0" indent="-342900" algn="just" defTabSz="457200" rtl="0" eaLnBrk="1" fontAlgn="auto" latinLnBrk="0" hangingPunct="1">
              <a:lnSpc>
                <a:spcPct val="100000"/>
              </a:lnSpc>
              <a:spcBef>
                <a:spcPct val="20000"/>
              </a:spcBef>
              <a:spcAft>
                <a:spcPts val="0"/>
              </a:spcAft>
              <a:buClrTx/>
              <a:buSzTx/>
              <a:buFont typeface="Arial"/>
              <a:buNone/>
              <a:tabLst/>
              <a:defRPr/>
            </a:pPr>
            <a:endPar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just" defTabSz="457200" rtl="0" eaLnBrk="1" fontAlgn="auto" latinLnBrk="0" hangingPunct="1">
              <a:lnSpc>
                <a:spcPct val="100000"/>
              </a:lnSpc>
              <a:spcBef>
                <a:spcPct val="20000"/>
              </a:spcBef>
              <a:spcAft>
                <a:spcPts val="0"/>
              </a:spcAft>
              <a:buClrTx/>
              <a:buSzTx/>
              <a:buFont typeface="Wingdings" pitchFamily="2" charset="2"/>
              <a:buChar char="§"/>
              <a:tabLst/>
              <a:defRPr/>
            </a:pPr>
            <a:r>
              <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By position, we mean the kind of words that it occurs with</a:t>
            </a:r>
            <a:r>
              <a:rPr kumimoji="0" lang="en-GB" sz="2800" b="0" i="0" u="none" strike="noStrike" kern="1200" cap="none" spc="0" normalizeH="0" noProof="0" dirty="0" smtClean="0">
                <a:ln>
                  <a:noFill/>
                </a:ln>
                <a:solidFill>
                  <a:schemeClr val="tx1"/>
                </a:solidFill>
                <a:effectLst/>
                <a:uLnTx/>
                <a:uFillTx/>
                <a:latin typeface="Times New Roman" pitchFamily="18" charset="0"/>
                <a:ea typeface="+mn-ea"/>
                <a:cs typeface="Times New Roman" pitchFamily="18" charset="0"/>
              </a:rPr>
              <a:t> </a:t>
            </a:r>
            <a:r>
              <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in sentences.</a:t>
            </a:r>
          </a:p>
          <a:p>
            <a:pPr marL="342900" marR="0" lvl="0" indent="-342900" algn="just" defTabSz="457200" rtl="0" eaLnBrk="1" fontAlgn="auto" latinLnBrk="0" hangingPunct="1">
              <a:lnSpc>
                <a:spcPct val="100000"/>
              </a:lnSpc>
              <a:spcBef>
                <a:spcPct val="20000"/>
              </a:spcBef>
              <a:spcAft>
                <a:spcPts val="0"/>
              </a:spcAft>
              <a:buClrTx/>
              <a:buSzTx/>
              <a:buFont typeface="Arial"/>
              <a:buNone/>
              <a:tabLst/>
              <a:defRPr/>
            </a:pPr>
            <a:endPar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just" defTabSz="457200" rtl="0" eaLnBrk="1" fontAlgn="auto" latinLnBrk="0" hangingPunct="1">
              <a:lnSpc>
                <a:spcPct val="100000"/>
              </a:lnSpc>
              <a:spcBef>
                <a:spcPct val="20000"/>
              </a:spcBef>
              <a:spcAft>
                <a:spcPts val="0"/>
              </a:spcAft>
              <a:buClrTx/>
              <a:buSzTx/>
              <a:buFont typeface="Wingdings" pitchFamily="2" charset="2"/>
              <a:buChar char="§"/>
              <a:tabLst/>
              <a:defRPr/>
            </a:pPr>
            <a:r>
              <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By function, we mean its usage or its role in a sentence. </a:t>
            </a:r>
          </a:p>
          <a:p>
            <a:pPr marL="342900" marR="0" lvl="0" indent="-342900" algn="just" defTabSz="457200" rtl="0" eaLnBrk="1" fontAlgn="auto" latinLnBrk="0" hangingPunct="1">
              <a:lnSpc>
                <a:spcPct val="100000"/>
              </a:lnSpc>
              <a:spcBef>
                <a:spcPct val="20000"/>
              </a:spcBef>
              <a:spcAft>
                <a:spcPts val="0"/>
              </a:spcAft>
              <a:buClrTx/>
              <a:buSzTx/>
              <a:tabLst/>
              <a:defRPr/>
            </a:pPr>
            <a:endPar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xmlns="" val="3602907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0" y="0"/>
            <a:ext cx="9070848" cy="6781800"/>
          </a:xfrm>
          <a:prstGeom prst="rect">
            <a:avLst/>
          </a:prstGeom>
        </p:spPr>
        <p:txBody>
          <a:bodyPr>
            <a:normAutofit/>
          </a:bodyPr>
          <a:lstStyle/>
          <a:p>
            <a:pPr marL="342900" marR="0" lvl="0" indent="-342900" algn="ctr" defTabSz="457200" rtl="0" eaLnBrk="1" fontAlgn="auto" latinLnBrk="0" hangingPunct="1">
              <a:lnSpc>
                <a:spcPct val="100000"/>
              </a:lnSpc>
              <a:spcBef>
                <a:spcPct val="20000"/>
              </a:spcBef>
              <a:spcAft>
                <a:spcPts val="0"/>
              </a:spcAft>
              <a:buClrTx/>
              <a:buSzTx/>
              <a:buFont typeface="Arial"/>
              <a:buNone/>
              <a:tabLst/>
              <a:defRPr/>
            </a:pPr>
            <a:r>
              <a:rPr kumimoji="0" lang="en-GB"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NOUNS</a:t>
            </a: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r>
              <a:rPr lang="en-GB" sz="2800" dirty="0" smtClean="0">
                <a:latin typeface="Times New Roman" pitchFamily="18" charset="0"/>
                <a:cs typeface="Times New Roman" pitchFamily="18" charset="0"/>
              </a:rPr>
              <a:t>Traditionally</a:t>
            </a:r>
            <a:r>
              <a:rPr kumimoji="0" lang="en-GB"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nouns have been identified as words that name people, places or things.</a:t>
            </a:r>
          </a:p>
          <a:p>
            <a:pPr marL="342900" marR="0" lvl="0" indent="-342900" algn="ctr" defTabSz="457200" rtl="0" eaLnBrk="1" fontAlgn="auto" latinLnBrk="0" hangingPunct="1">
              <a:lnSpc>
                <a:spcPct val="100000"/>
              </a:lnSpc>
              <a:spcBef>
                <a:spcPct val="20000"/>
              </a:spcBef>
              <a:spcAft>
                <a:spcPts val="0"/>
              </a:spcAft>
              <a:buClrTx/>
              <a:buSzTx/>
              <a:buFont typeface="Arial"/>
              <a:buNone/>
              <a:tabLst/>
              <a:defRPr/>
            </a:pPr>
            <a:r>
              <a:rPr kumimoji="0" lang="en-GB"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Identification of nouns according to form/structure </a:t>
            </a:r>
            <a:endParaRPr kumimoji="0" lang="en-GB"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r>
              <a:rPr kumimoji="0" lang="en-GB"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Nouns and some suffixes: Generally these suffixes are associated with nouns and so words that end with these suffixes are identified as nouns:</a:t>
            </a:r>
          </a:p>
          <a:p>
            <a:pPr marL="342900" marR="0" lvl="0" indent="-342900" algn="l" defTabSz="457200" rtl="0" eaLnBrk="1" fontAlgn="auto" latinLnBrk="0" hangingPunct="1">
              <a:lnSpc>
                <a:spcPct val="100000"/>
              </a:lnSpc>
              <a:spcBef>
                <a:spcPct val="20000"/>
              </a:spcBef>
              <a:spcAft>
                <a:spcPts val="0"/>
              </a:spcAft>
              <a:buClrTx/>
              <a:buSzTx/>
              <a:buFont typeface="Arial"/>
              <a:buNone/>
              <a:tabLst/>
              <a:defRPr/>
            </a:pPr>
            <a:r>
              <a:rPr kumimoji="0" lang="en-GB"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t>
            </a:r>
            <a:r>
              <a:rPr kumimoji="0" lang="en-GB" sz="28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er</a:t>
            </a:r>
            <a:r>
              <a:rPr kumimoji="0" lang="en-GB"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..............teacher, preacher, player, writer</a:t>
            </a:r>
          </a:p>
          <a:p>
            <a:pPr marL="342900" marR="0" lvl="0" indent="-342900" algn="l" defTabSz="457200" rtl="0" eaLnBrk="1" fontAlgn="auto" latinLnBrk="0" hangingPunct="1">
              <a:lnSpc>
                <a:spcPct val="100000"/>
              </a:lnSpc>
              <a:spcBef>
                <a:spcPct val="20000"/>
              </a:spcBef>
              <a:spcAft>
                <a:spcPts val="0"/>
              </a:spcAft>
              <a:buClrTx/>
              <a:buSzTx/>
              <a:buFont typeface="Arial"/>
              <a:buNone/>
              <a:tabLst/>
              <a:defRPr/>
            </a:pPr>
            <a:r>
              <a:rPr kumimoji="0" lang="en-GB"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-ion..............nation, consultation, meditation</a:t>
            </a:r>
          </a:p>
          <a:p>
            <a:pPr marL="342900" marR="0" lvl="0" indent="-342900" algn="l" defTabSz="457200" rtl="0" eaLnBrk="1" fontAlgn="auto" latinLnBrk="0" hangingPunct="1">
              <a:lnSpc>
                <a:spcPct val="100000"/>
              </a:lnSpc>
              <a:spcBef>
                <a:spcPct val="20000"/>
              </a:spcBef>
              <a:spcAft>
                <a:spcPts val="0"/>
              </a:spcAft>
              <a:buClrTx/>
              <a:buSzTx/>
              <a:buFont typeface="Arial"/>
              <a:buNone/>
              <a:tabLst/>
              <a:defRPr/>
            </a:pPr>
            <a:r>
              <a:rPr kumimoji="0" lang="en-GB"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-or................doctor, pastor, mentor, actor</a:t>
            </a:r>
          </a:p>
          <a:p>
            <a:pPr marL="342900" lvl="0" indent="-342900" algn="just">
              <a:spcBef>
                <a:spcPct val="20000"/>
              </a:spcBef>
              <a:defRPr/>
            </a:pPr>
            <a:r>
              <a:rPr lang="en-GB" sz="2800" dirty="0" smtClean="0">
                <a:latin typeface="Times New Roman" pitchFamily="18" charset="0"/>
                <a:cs typeface="Times New Roman" pitchFamily="18" charset="0"/>
              </a:rPr>
              <a:t>-</a:t>
            </a:r>
            <a:r>
              <a:rPr lang="en-GB" sz="2800" dirty="0" err="1" smtClean="0">
                <a:latin typeface="Times New Roman" pitchFamily="18" charset="0"/>
                <a:cs typeface="Times New Roman" pitchFamily="18" charset="0"/>
              </a:rPr>
              <a:t>ness</a:t>
            </a:r>
            <a:r>
              <a:rPr lang="en-GB" sz="2800" dirty="0" smtClean="0">
                <a:latin typeface="Times New Roman" pitchFamily="18" charset="0"/>
                <a:cs typeface="Times New Roman" pitchFamily="18" charset="0"/>
              </a:rPr>
              <a:t>.............Fitness, dryness, foolishness, etc. </a:t>
            </a:r>
          </a:p>
          <a:p>
            <a:pPr marL="342900" lvl="0" indent="-342900" algn="just">
              <a:spcBef>
                <a:spcPct val="20000"/>
              </a:spcBef>
              <a:defRPr/>
            </a:pPr>
            <a:r>
              <a:rPr lang="en-GB" sz="2800" dirty="0" smtClean="0">
                <a:latin typeface="Times New Roman" pitchFamily="18" charset="0"/>
                <a:cs typeface="Times New Roman" pitchFamily="18" charset="0"/>
              </a:rPr>
              <a:t>-hood...........womanhood, childhood,  neighbourhood, etc.</a:t>
            </a: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endParaRPr kumimoji="0" lang="en-GB"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xmlns="" val="1106007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0" y="0"/>
            <a:ext cx="9144000" cy="6858000"/>
          </a:xfrm>
          <a:prstGeom prst="rect">
            <a:avLst/>
          </a:prstGeom>
        </p:spPr>
        <p:txBody>
          <a:bodyPr>
            <a:noAutofit/>
          </a:bodyPr>
          <a:lstStyle/>
          <a:p>
            <a:pPr marL="342900" marR="0" lvl="0" indent="-342900" algn="just" defTabSz="457200" rtl="0" eaLnBrk="1" fontAlgn="auto" latinLnBrk="0" hangingPunct="1">
              <a:lnSpc>
                <a:spcPct val="100000"/>
              </a:lnSpc>
              <a:spcBef>
                <a:spcPct val="20000"/>
              </a:spcBef>
              <a:spcAft>
                <a:spcPts val="0"/>
              </a:spcAft>
              <a:buClrTx/>
              <a:buSzTx/>
              <a:buFont typeface="Arial"/>
              <a:buNone/>
              <a:tabLst/>
              <a:defRPr/>
            </a:pPr>
            <a:endParaRPr kumimoji="0" lang="en-GB" sz="32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indent="-342900" algn="just">
              <a:spcBef>
                <a:spcPct val="20000"/>
              </a:spcBef>
              <a:buFont typeface="Arial"/>
              <a:buChar char="•"/>
              <a:defRPr/>
            </a:pPr>
            <a:r>
              <a:rPr kumimoji="0" lang="en-GB" sz="2800" b="1"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Nouns and number</a:t>
            </a:r>
            <a:r>
              <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 </a:t>
            </a:r>
            <a:r>
              <a:rPr lang="en-GB" sz="2800" dirty="0" smtClean="0">
                <a:latin typeface="Times New Roman" pitchFamily="18" charset="0"/>
                <a:cs typeface="Times New Roman" pitchFamily="18" charset="0"/>
              </a:rPr>
              <a:t>Nouns can also be identified based on how they are built up according to number. </a:t>
            </a:r>
            <a:r>
              <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Number refers to the distinction between singular and the plural. </a:t>
            </a:r>
          </a:p>
          <a:p>
            <a:pPr marL="342900" indent="-342900" algn="just">
              <a:spcBef>
                <a:spcPct val="20000"/>
              </a:spcBef>
              <a:defRPr/>
            </a:pPr>
            <a:endPar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just" defTabSz="457200" rtl="0" eaLnBrk="1" fontAlgn="auto" latinLnBrk="0" hangingPunct="1">
              <a:lnSpc>
                <a:spcPct val="100000"/>
              </a:lnSpc>
              <a:spcBef>
                <a:spcPct val="20000"/>
              </a:spcBef>
              <a:spcAft>
                <a:spcPts val="0"/>
              </a:spcAft>
              <a:buClrTx/>
              <a:buSzTx/>
              <a:buFont typeface="Arial"/>
              <a:buChar char="•"/>
              <a:tabLst/>
              <a:defRPr/>
            </a:pPr>
            <a:r>
              <a:rPr kumimoji="0" lang="en-GB" sz="2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Most count nouns form their plural by adding ‘s’. E.g. Book-books, pen-pens, dog-dogs, etc. </a:t>
            </a:r>
          </a:p>
          <a:p>
            <a:pPr marL="342900" marR="0" lvl="0" indent="-342900" algn="just" defTabSz="457200" rtl="0" eaLnBrk="1" fontAlgn="auto" latinLnBrk="0" hangingPunct="1">
              <a:lnSpc>
                <a:spcPct val="100000"/>
              </a:lnSpc>
              <a:spcBef>
                <a:spcPct val="20000"/>
              </a:spcBef>
              <a:spcAft>
                <a:spcPts val="0"/>
              </a:spcAft>
              <a:buClrTx/>
              <a:buSzTx/>
              <a:buFont typeface="Arial"/>
              <a:buChar char="•"/>
              <a:tabLst/>
              <a:defRPr/>
            </a:pPr>
            <a:endParaRPr lang="en-GB" sz="2800" dirty="0" smtClean="0">
              <a:latin typeface="Times New Roman" pitchFamily="18" charset="0"/>
              <a:cs typeface="Times New Roman" pitchFamily="18" charset="0"/>
            </a:endParaRPr>
          </a:p>
          <a:p>
            <a:pPr marL="342900" indent="-342900" algn="just">
              <a:spcBef>
                <a:spcPct val="20000"/>
              </a:spcBef>
              <a:buFont typeface="Arial"/>
              <a:buChar char="•"/>
              <a:defRPr/>
            </a:pPr>
            <a:r>
              <a:rPr lang="en-GB" sz="2800" dirty="0" smtClean="0">
                <a:latin typeface="Times New Roman" pitchFamily="18" charset="0"/>
                <a:cs typeface="Times New Roman" pitchFamily="18" charset="0"/>
              </a:rPr>
              <a:t>Nouns which end in ‘y’ that follow a consonant form their plural by dropping ‘y’ and adding ‘</a:t>
            </a:r>
            <a:r>
              <a:rPr lang="en-GB" sz="2800" dirty="0" err="1" smtClean="0">
                <a:latin typeface="Times New Roman" pitchFamily="18" charset="0"/>
                <a:cs typeface="Times New Roman" pitchFamily="18" charset="0"/>
              </a:rPr>
              <a:t>ies</a:t>
            </a:r>
            <a:r>
              <a:rPr lang="en-GB" sz="2800" dirty="0" smtClean="0">
                <a:latin typeface="Times New Roman" pitchFamily="18" charset="0"/>
                <a:cs typeface="Times New Roman" pitchFamily="18" charset="0"/>
              </a:rPr>
              <a:t>’.  E.g. Lady-ladies, country-countries, baby-babies, pantry-pantries, etc. </a:t>
            </a:r>
          </a:p>
          <a:p>
            <a:pPr marL="342900" marR="0" lvl="0" indent="-342900" algn="just" defTabSz="457200" rtl="0" eaLnBrk="1" fontAlgn="auto" latinLnBrk="0" hangingPunct="1">
              <a:lnSpc>
                <a:spcPct val="100000"/>
              </a:lnSpc>
              <a:spcBef>
                <a:spcPct val="20000"/>
              </a:spcBef>
              <a:spcAft>
                <a:spcPts val="0"/>
              </a:spcAft>
              <a:buClrTx/>
              <a:buSzTx/>
              <a:buFont typeface="Arial"/>
              <a:buChar char="•"/>
              <a:tabLst/>
              <a:defRPr/>
            </a:pPr>
            <a:endParaRPr kumimoji="0" lang="en-GB" sz="32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xmlns="" val="2612633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txBox="1">
            <a:spLocks/>
          </p:cNvSpPr>
          <p:nvPr/>
        </p:nvSpPr>
        <p:spPr>
          <a:xfrm>
            <a:off x="0" y="152400"/>
            <a:ext cx="8933688" cy="6400800"/>
          </a:xfrm>
          <a:prstGeom prst="rect">
            <a:avLst/>
          </a:prstGeom>
        </p:spPr>
        <p:txBody>
          <a:bodyPr/>
          <a:lstStyle/>
          <a:p>
            <a:pPr marL="342900" marR="0" lvl="0" indent="-342900" algn="just" defTabSz="457200" rtl="0" eaLnBrk="1" fontAlgn="auto" latinLnBrk="0" hangingPunct="1">
              <a:lnSpc>
                <a:spcPct val="100000"/>
              </a:lnSpc>
              <a:spcBef>
                <a:spcPct val="20000"/>
              </a:spcBef>
              <a:spcAft>
                <a:spcPts val="0"/>
              </a:spcAft>
              <a:buClrTx/>
              <a:buSzTx/>
              <a:buFont typeface="Arial" pitchFamily="34" charset="0"/>
              <a:buChar char="•"/>
              <a:tabLst/>
              <a:defRPr/>
            </a:pPr>
            <a:r>
              <a:rPr kumimoji="0" lang="en-GB"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Nouns ending in ‘o’, ‘</a:t>
            </a:r>
            <a:r>
              <a:rPr kumimoji="0" lang="en-GB" sz="28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ss’</a:t>
            </a:r>
            <a:r>
              <a:rPr kumimoji="0" lang="en-GB"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kumimoji="0" lang="en-GB" sz="28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sh</a:t>
            </a:r>
            <a:r>
              <a:rPr kumimoji="0" lang="en-GB"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kumimoji="0" lang="en-GB" sz="28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ch</a:t>
            </a:r>
            <a:r>
              <a:rPr kumimoji="0" lang="en-GB"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or ‘x’ form their plural by the addition of ‘</a:t>
            </a:r>
            <a:r>
              <a:rPr kumimoji="0" lang="en-GB" sz="28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es’</a:t>
            </a:r>
            <a:r>
              <a:rPr kumimoji="0" lang="en-GB"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E.g. Mango-mangoes, kiss-kisses, brush-brushes, church-churches, box-boxes, etc. There</a:t>
            </a:r>
            <a:r>
              <a:rPr kumimoji="0" lang="en-GB" sz="2800" b="0" i="0" u="none" strike="noStrike" kern="1200" cap="none" spc="0" normalizeH="0" noProof="0" dirty="0" smtClean="0">
                <a:ln>
                  <a:noFill/>
                </a:ln>
                <a:solidFill>
                  <a:schemeClr val="tx1"/>
                </a:solidFill>
                <a:effectLst/>
                <a:uLnTx/>
                <a:uFillTx/>
                <a:latin typeface="Times New Roman" pitchFamily="18" charset="0"/>
                <a:cs typeface="Times New Roman" pitchFamily="18" charset="0"/>
              </a:rPr>
              <a:t> </a:t>
            </a:r>
            <a:r>
              <a:rPr kumimoji="0" lang="en-GB"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are however some exceptions such as photos, pianos, etc. </a:t>
            </a:r>
            <a:endParaRPr lang="en-GB" sz="2800" dirty="0" smtClean="0">
              <a:latin typeface="Times New Roman" pitchFamily="18" charset="0"/>
              <a:cs typeface="Times New Roman" pitchFamily="18" charset="0"/>
            </a:endParaRPr>
          </a:p>
          <a:p>
            <a:pPr marL="342900" lvl="0" indent="-342900">
              <a:lnSpc>
                <a:spcPct val="150000"/>
              </a:lnSpc>
              <a:spcBef>
                <a:spcPct val="20000"/>
              </a:spcBef>
              <a:buFont typeface="Arial"/>
              <a:buChar char="•"/>
              <a:defRPr/>
            </a:pPr>
            <a:r>
              <a:rPr lang="en-US" sz="2800" dirty="0" smtClean="0">
                <a:latin typeface="Times New Roman" pitchFamily="18" charset="0"/>
                <a:cs typeface="Times New Roman" pitchFamily="18" charset="0"/>
              </a:rPr>
              <a:t>Some non-count nouns retain their form whether singular or plural. E.g. news, luggage, knowledge, etc.</a:t>
            </a:r>
          </a:p>
          <a:p>
            <a:pPr marL="342900" indent="-342900">
              <a:spcBef>
                <a:spcPct val="20000"/>
              </a:spcBef>
              <a:buFont typeface="Arial"/>
              <a:buChar char="•"/>
              <a:defRPr/>
            </a:pPr>
            <a:r>
              <a:rPr lang="en-GB" sz="2800" b="1" dirty="0" smtClean="0">
                <a:latin typeface="Times New Roman" pitchFamily="18" charset="0"/>
                <a:cs typeface="Times New Roman" pitchFamily="18" charset="0"/>
              </a:rPr>
              <a:t>Nouns and possession</a:t>
            </a:r>
            <a:r>
              <a:rPr lang="en-GB" sz="2800" dirty="0" smtClean="0">
                <a:latin typeface="Times New Roman" pitchFamily="18" charset="0"/>
                <a:cs typeface="Times New Roman" pitchFamily="18" charset="0"/>
              </a:rPr>
              <a:t>: Nouns can also be identified based on the inflection they take to indicate possession. </a:t>
            </a:r>
            <a:r>
              <a:rPr lang="en-US" sz="2800" dirty="0" smtClean="0">
                <a:latin typeface="Times New Roman" pitchFamily="18" charset="0"/>
                <a:cs typeface="Times New Roman" pitchFamily="18" charset="0"/>
              </a:rPr>
              <a:t>A noun which indicates possession shows that it is the owner of  thing(s) or person(s). </a:t>
            </a:r>
            <a:endParaRPr lang="en-GB" sz="2800" dirty="0" smtClean="0">
              <a:latin typeface="Times New Roman" pitchFamily="18" charset="0"/>
              <a:cs typeface="Times New Roman" pitchFamily="18" charset="0"/>
            </a:endParaRPr>
          </a:p>
          <a:p>
            <a:pPr marL="342900" lvl="0" indent="-342900">
              <a:lnSpc>
                <a:spcPct val="150000"/>
              </a:lnSpc>
              <a:spcBef>
                <a:spcPct val="20000"/>
              </a:spcBef>
              <a:buFont typeface="Arial"/>
              <a:buChar char="•"/>
              <a:defRPr/>
            </a:pPr>
            <a:endParaRPr lang="en-US" sz="2800" dirty="0" smtClean="0">
              <a:latin typeface="Times New Roman" pitchFamily="18" charset="0"/>
              <a:cs typeface="Times New Roman" pitchFamily="18" charset="0"/>
            </a:endParaRPr>
          </a:p>
          <a:p>
            <a:pPr marL="342900" marR="0" lvl="0" indent="-342900" algn="just" defTabSz="457200" rtl="0" eaLnBrk="1" fontAlgn="auto" latinLnBrk="0" hangingPunct="1">
              <a:lnSpc>
                <a:spcPct val="100000"/>
              </a:lnSpc>
              <a:spcBef>
                <a:spcPct val="20000"/>
              </a:spcBef>
              <a:spcAft>
                <a:spcPts val="0"/>
              </a:spcAft>
              <a:buClrTx/>
              <a:buSzTx/>
              <a:buFont typeface="Arial"/>
              <a:buChar char="•"/>
              <a:tabLst/>
              <a:defRPr/>
            </a:pPr>
            <a:endParaRPr kumimoji="0" lang="en-GB" sz="32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xmlns="" val="2189736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6152667"/>
          </a:xfrm>
        </p:spPr>
        <p:txBody>
          <a:bodyPr/>
          <a:lstStyle/>
          <a:p>
            <a:pPr lvl="0" algn="l">
              <a:buFont typeface="Arial" pitchFamily="34" charset="0"/>
              <a:buChar char="•"/>
            </a:pPr>
            <a:r>
              <a:rPr lang="en-US" sz="2800" dirty="0" smtClean="0">
                <a:latin typeface="Times New Roman" pitchFamily="18" charset="0"/>
                <a:cs typeface="Times New Roman" pitchFamily="18" charset="0"/>
              </a:rPr>
              <a:t> Singular nouns which end in ‘s’ or not indicate possession with an apostrophe sign and an ‘s’. For example: John’s bag, James’s bag, etc. </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Plural nouns which end in ‘s’ indicate possession with the addition of only an apostrophe sign. For example: The players’ ball</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Plural nouns which do not end in ‘s’ indicate possession with the addition of an apostrophe sign and an ‘s’. For example: The children’s ball </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NB: Read on Types of Nouns and other ways by which certain nouns form their plurals. (Afreh 2006)</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endParaRPr lang="en-GB" sz="28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0" y="152400"/>
            <a:ext cx="9144000" cy="6705600"/>
          </a:xfrm>
          <a:prstGeom prst="rect">
            <a:avLst/>
          </a:prstGeom>
        </p:spPr>
        <p:txBody>
          <a:bodyPr>
            <a:normAutofit/>
          </a:bodyPr>
          <a:lstStyle/>
          <a:p>
            <a:pPr marL="342900" marR="0" lvl="0" indent="-342900" algn="ctr" defTabSz="457200" rtl="0" eaLnBrk="1" fontAlgn="auto" latinLnBrk="0" hangingPunct="1">
              <a:spcBef>
                <a:spcPct val="20000"/>
              </a:spcBef>
              <a:spcAft>
                <a:spcPts val="0"/>
              </a:spcAft>
              <a:buClrTx/>
              <a:buSzTx/>
              <a:buFont typeface="Arial"/>
              <a:buNone/>
              <a:tabLst/>
              <a:defRPr/>
            </a:pPr>
            <a:r>
              <a:rPr kumimoji="0" lang="en-US"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Identification of nouns based on their positions in sentences</a:t>
            </a:r>
          </a:p>
          <a:p>
            <a:pPr marL="342900" marR="0" lvl="0" indent="-342900" algn="l" defTabSz="457200" rtl="0" eaLnBrk="1" fontAlgn="auto" latinLnBrk="0" hangingPunct="1">
              <a:lnSpc>
                <a:spcPct val="150000"/>
              </a:lnSpc>
              <a:spcBef>
                <a:spcPct val="20000"/>
              </a:spcBef>
              <a:spcAft>
                <a:spcPts val="0"/>
              </a:spcAft>
              <a:buClrTx/>
              <a:buSzTx/>
              <a:buFont typeface="Arial"/>
              <a:buChar char="•"/>
              <a:tabLst/>
              <a:defRPr/>
            </a:pP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Nouns can</a:t>
            </a:r>
            <a:r>
              <a:rPr kumimoji="0" lang="en-US" sz="2800" b="0" i="0" u="none" strike="noStrike" kern="1200" cap="none" spc="0" normalizeH="0" noProof="0" dirty="0" smtClean="0">
                <a:ln>
                  <a:noFill/>
                </a:ln>
                <a:solidFill>
                  <a:schemeClr val="tx1"/>
                </a:solidFill>
                <a:effectLst/>
                <a:uLnTx/>
                <a:uFillTx/>
                <a:latin typeface="Times New Roman" pitchFamily="18" charset="0"/>
                <a:cs typeface="Times New Roman" pitchFamily="18" charset="0"/>
              </a:rPr>
              <a:t> </a:t>
            </a: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be identified based on their positions in sentences. </a:t>
            </a:r>
          </a:p>
          <a:p>
            <a:pPr marL="342900" marR="0" lvl="0" indent="-342900" algn="l" defTabSz="457200" rtl="0" eaLnBrk="1" fontAlgn="auto" latinLnBrk="0" hangingPunct="1">
              <a:lnSpc>
                <a:spcPct val="150000"/>
              </a:lnSpc>
              <a:spcBef>
                <a:spcPct val="20000"/>
              </a:spcBef>
              <a:spcAft>
                <a:spcPts val="0"/>
              </a:spcAft>
              <a:buClrTx/>
              <a:buSzTx/>
              <a:buFont typeface="Arial"/>
              <a:buChar char="•"/>
              <a:tabLst/>
              <a:defRPr/>
            </a:pP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In sentences, nouns come after determiners (a, an, the, his, hers, etc.)</a:t>
            </a:r>
          </a:p>
          <a:p>
            <a:pPr marL="342900" marR="0" lvl="0" indent="-342900" algn="l" defTabSz="457200" rtl="0" eaLnBrk="1" fontAlgn="auto" latinLnBrk="0" hangingPunct="1">
              <a:lnSpc>
                <a:spcPct val="150000"/>
              </a:lnSpc>
              <a:spcBef>
                <a:spcPct val="20000"/>
              </a:spcBef>
              <a:spcAft>
                <a:spcPts val="0"/>
              </a:spcAft>
              <a:buClrTx/>
              <a:buSzTx/>
              <a:buFont typeface="Arial"/>
              <a:buChar char="•"/>
              <a:tabLst/>
              <a:defRPr/>
            </a:pP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Proper nouns do not take determiners unless in certain instances where they are accompanied by dependent clauses. E.g. She is the </a:t>
            </a:r>
            <a:r>
              <a:rPr kumimoji="0" lang="en-US" sz="28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Ama</a:t>
            </a: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I met yesterday. </a:t>
            </a:r>
            <a:endParaRPr kumimoji="0" lang="en-US" sz="28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Tree>
    <p:extLst>
      <p:ext uri="{BB962C8B-B14F-4D97-AF65-F5344CB8AC3E}">
        <p14:creationId xmlns:p14="http://schemas.microsoft.com/office/powerpoint/2010/main" xmlns="" val="1633395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a:xfrm>
            <a:off x="0" y="0"/>
            <a:ext cx="9220200" cy="6858000"/>
          </a:xfrm>
          <a:prstGeom prst="rect">
            <a:avLst/>
          </a:prstGeom>
        </p:spPr>
        <p:txBody>
          <a:bodyPr>
            <a:normAutofit/>
          </a:bodyPr>
          <a:lstStyle/>
          <a:p>
            <a:pPr marL="342900" marR="0" lvl="0" indent="-342900" algn="ctr" defTabSz="457200" rtl="0" eaLnBrk="1" fontAlgn="auto" latinLnBrk="0" hangingPunct="1">
              <a:lnSpc>
                <a:spcPct val="100000"/>
              </a:lnSpc>
              <a:spcBef>
                <a:spcPct val="20000"/>
              </a:spcBef>
              <a:spcAft>
                <a:spcPts val="0"/>
              </a:spcAft>
              <a:buClrTx/>
              <a:buSzTx/>
              <a:buFont typeface="Arial"/>
              <a:buNone/>
              <a:tabLst/>
              <a:defRPr/>
            </a:pPr>
            <a:r>
              <a:rPr kumimoji="0" lang="en-US"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Identification of nouns based on their functions in sentences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There are four main functions of nouns in sentences. A</a:t>
            </a:r>
            <a:r>
              <a:rPr kumimoji="0" lang="en-US" sz="2800" b="0" i="0" u="none" strike="noStrike" kern="1200" cap="none" spc="0" normalizeH="0" noProof="0" dirty="0" smtClean="0">
                <a:ln>
                  <a:noFill/>
                </a:ln>
                <a:solidFill>
                  <a:schemeClr val="tx1"/>
                </a:solidFill>
                <a:effectLst/>
                <a:uLnTx/>
                <a:uFillTx/>
                <a:latin typeface="Times New Roman" pitchFamily="18" charset="0"/>
                <a:cs typeface="Times New Roman" pitchFamily="18" charset="0"/>
              </a:rPr>
              <a:t> n</a:t>
            </a: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oun</a:t>
            </a:r>
            <a:r>
              <a:rPr kumimoji="0" lang="en-US" sz="2800" b="0" i="0" u="none" strike="noStrike" kern="1200" cap="none" spc="0" normalizeH="0" noProof="0" dirty="0" smtClean="0">
                <a:ln>
                  <a:noFill/>
                </a:ln>
                <a:solidFill>
                  <a:schemeClr val="tx1"/>
                </a:solidFill>
                <a:effectLst/>
                <a:uLnTx/>
                <a:uFillTx/>
                <a:latin typeface="Times New Roman" pitchFamily="18" charset="0"/>
                <a:cs typeface="Times New Roman" pitchFamily="18" charset="0"/>
              </a:rPr>
              <a:t> </a:t>
            </a: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can function as a subject, object, complement or appositive. </a:t>
            </a:r>
          </a:p>
          <a:p>
            <a:pPr marL="342900" marR="0" lvl="0" indent="-342900" algn="l" defTabSz="457200" rtl="0" eaLnBrk="1" fontAlgn="auto" latinLnBrk="0" hangingPunct="1">
              <a:lnSpc>
                <a:spcPct val="100000"/>
              </a:lnSpc>
              <a:spcBef>
                <a:spcPct val="20000"/>
              </a:spcBef>
              <a:spcAft>
                <a:spcPts val="0"/>
              </a:spcAft>
              <a:buClrTx/>
              <a:buSzTx/>
              <a:tabLst/>
              <a:defRPr/>
            </a:pPr>
            <a:r>
              <a:rPr kumimoji="0" lang="en-US" sz="28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 noun as a subject</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lang="en-US" sz="2800" noProof="0" dirty="0" smtClean="0">
                <a:latin typeface="Times New Roman" pitchFamily="18" charset="0"/>
                <a:cs typeface="Times New Roman" pitchFamily="18" charset="0"/>
              </a:rPr>
              <a:t>According to its position in a sentence, a noun functions as a subject when it comes before the main verb of the sentence. </a:t>
            </a:r>
          </a:p>
          <a:p>
            <a:pPr marL="342900" marR="0" lvl="0" indent="-342900" algn="l" defTabSz="457200" rtl="0" eaLnBrk="1" fontAlgn="auto" latinLnBrk="0" hangingPunct="1">
              <a:lnSpc>
                <a:spcPct val="100000"/>
              </a:lnSpc>
              <a:spcBef>
                <a:spcPct val="20000"/>
              </a:spcBef>
              <a:spcAft>
                <a:spcPts val="0"/>
              </a:spcAft>
              <a:buClrTx/>
              <a:buSzTx/>
              <a:tabLst/>
              <a:defRPr/>
            </a:pPr>
            <a:r>
              <a:rPr lang="en-US" sz="2800" noProof="0" dirty="0" smtClean="0">
                <a:latin typeface="Times New Roman" pitchFamily="18" charset="0"/>
                <a:cs typeface="Times New Roman" pitchFamily="18" charset="0"/>
              </a:rPr>
              <a:t>E.g. </a:t>
            </a:r>
            <a:r>
              <a:rPr lang="en-US" sz="2800" b="1" noProof="0" dirty="0" smtClean="0">
                <a:latin typeface="Times New Roman" pitchFamily="18" charset="0"/>
                <a:cs typeface="Times New Roman" pitchFamily="18" charset="0"/>
              </a:rPr>
              <a:t>Kwame</a:t>
            </a:r>
            <a:r>
              <a:rPr lang="en-US" sz="2800" noProof="0" dirty="0" smtClean="0">
                <a:latin typeface="Times New Roman" pitchFamily="18" charset="0"/>
                <a:cs typeface="Times New Roman" pitchFamily="18" charset="0"/>
              </a:rPr>
              <a:t>   goes    to school</a:t>
            </a:r>
          </a:p>
          <a:p>
            <a:pPr marL="342900" marR="0" lvl="0" indent="-342900" algn="l" defTabSz="457200" rtl="0" eaLnBrk="1" fontAlgn="auto" latinLnBrk="0" hangingPunct="1">
              <a:lnSpc>
                <a:spcPct val="100000"/>
              </a:lnSpc>
              <a:spcBef>
                <a:spcPct val="20000"/>
              </a:spcBef>
              <a:spcAft>
                <a:spcPts val="0"/>
              </a:spcAft>
              <a:buClrTx/>
              <a:buSzTx/>
              <a:tabLst/>
              <a:defRPr/>
            </a:pPr>
            <a:r>
              <a:rPr lang="en-US" sz="2800" dirty="0" smtClean="0">
                <a:latin typeface="Times New Roman" pitchFamily="18" charset="0"/>
                <a:cs typeface="Times New Roman" pitchFamily="18" charset="0"/>
              </a:rPr>
              <a:t>             S          V</a:t>
            </a:r>
            <a:endParaRPr lang="en-US" sz="2800" noProof="0" dirty="0" smtClean="0">
              <a:latin typeface="Times New Roman" pitchFamily="18" charset="0"/>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tabLst/>
              <a:defRPr/>
            </a:pPr>
            <a:endPar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spTree>
    <p:extLst>
      <p:ext uri="{BB962C8B-B14F-4D97-AF65-F5344CB8AC3E}">
        <p14:creationId xmlns:p14="http://schemas.microsoft.com/office/powerpoint/2010/main" xmlns="" val="207345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914400" y="0"/>
            <a:ext cx="8305800" cy="6858000"/>
          </a:xfrm>
          <a:prstGeom prst="rect">
            <a:avLst/>
          </a:prstGeom>
        </p:spPr>
        <p:txBody>
          <a:bodyPr>
            <a:normAutofit/>
          </a:bodyPr>
          <a:lstStyle/>
          <a:p>
            <a:pPr marL="342900" marR="0" lvl="0" indent="-342900" algn="ctr" defTabSz="457200" rtl="0" eaLnBrk="1" fontAlgn="auto" latinLnBrk="0" hangingPunct="1">
              <a:lnSpc>
                <a:spcPct val="100000"/>
              </a:lnSpc>
              <a:spcBef>
                <a:spcPct val="20000"/>
              </a:spcBef>
              <a:spcAft>
                <a:spcPts val="0"/>
              </a:spcAft>
              <a:buClrTx/>
              <a:buSzTx/>
              <a:buFont typeface="Arial"/>
              <a:buNone/>
              <a:tabLst/>
              <a:defRPr/>
            </a:pPr>
            <a:endParaRPr kumimoji="0" lang="en-US" sz="28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endParaRPr>
          </a:p>
        </p:txBody>
      </p:sp>
      <p:sp>
        <p:nvSpPr>
          <p:cNvPr id="6" name="Content Placeholder 2"/>
          <p:cNvSpPr txBox="1">
            <a:spLocks/>
          </p:cNvSpPr>
          <p:nvPr/>
        </p:nvSpPr>
        <p:spPr>
          <a:xfrm>
            <a:off x="1066800" y="152400"/>
            <a:ext cx="8305800" cy="6858000"/>
          </a:xfrm>
          <a:prstGeom prst="rect">
            <a:avLst/>
          </a:prstGeom>
        </p:spPr>
        <p:txBody>
          <a:bodyPr>
            <a:normAutofit/>
          </a:bodyPr>
          <a:lstStyle/>
          <a:p>
            <a:pPr marL="342900" marR="0" lvl="0" indent="-342900" algn="ctr" defTabSz="457200" rtl="0" eaLnBrk="1" fontAlgn="auto" latinLnBrk="0" hangingPunct="1">
              <a:lnSpc>
                <a:spcPct val="100000"/>
              </a:lnSpc>
              <a:spcBef>
                <a:spcPct val="20000"/>
              </a:spcBef>
              <a:spcAft>
                <a:spcPts val="0"/>
              </a:spcAft>
              <a:buClrTx/>
              <a:buSzTx/>
              <a:buFont typeface="Arial"/>
              <a:buNone/>
              <a:tabLst/>
              <a:defRPr/>
            </a:pPr>
            <a:endParaRPr kumimoji="0" lang="en-US" sz="28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endParaRPr>
          </a:p>
        </p:txBody>
      </p:sp>
      <p:sp>
        <p:nvSpPr>
          <p:cNvPr id="7" name="Content Placeholder 2"/>
          <p:cNvSpPr txBox="1">
            <a:spLocks/>
          </p:cNvSpPr>
          <p:nvPr/>
        </p:nvSpPr>
        <p:spPr>
          <a:xfrm>
            <a:off x="0" y="152400"/>
            <a:ext cx="9144000" cy="6858000"/>
          </a:xfrm>
          <a:prstGeom prst="rect">
            <a:avLst/>
          </a:prstGeom>
        </p:spPr>
        <p:txBody>
          <a:bodyPr>
            <a:normAutofit/>
          </a:body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lang="en-US" sz="2800" dirty="0" smtClean="0">
                <a:latin typeface="Times New Roman" pitchFamily="18" charset="0"/>
                <a:cs typeface="Times New Roman" pitchFamily="18" charset="0"/>
              </a:rPr>
              <a:t>Based on the meaning it conveys, a noun functions as a subject of a sentence when:</a:t>
            </a:r>
          </a:p>
          <a:p>
            <a:pPr marL="342900" marR="0" lvl="0" indent="-342900" algn="l" defTabSz="457200" rtl="0" eaLnBrk="1" fontAlgn="auto" latinLnBrk="0" hangingPunct="1">
              <a:lnSpc>
                <a:spcPct val="100000"/>
              </a:lnSpc>
              <a:spcBef>
                <a:spcPct val="20000"/>
              </a:spcBef>
              <a:spcAft>
                <a:spcPts val="0"/>
              </a:spcAft>
              <a:buClrTx/>
              <a:buSzTx/>
              <a:buFontTx/>
              <a:buChar char="-"/>
              <a:tabLst/>
              <a:defRPr/>
            </a:pP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It is</a:t>
            </a:r>
            <a:r>
              <a:rPr kumimoji="0" lang="en-US" sz="2800" b="0" i="0" u="none" strike="noStrike" kern="1200" cap="none" spc="0" normalizeH="0" noProof="0" dirty="0" smtClean="0">
                <a:ln>
                  <a:noFill/>
                </a:ln>
                <a:solidFill>
                  <a:schemeClr val="tx1"/>
                </a:solidFill>
                <a:effectLst/>
                <a:uLnTx/>
                <a:uFillTx/>
                <a:latin typeface="Times New Roman" pitchFamily="18" charset="0"/>
                <a:cs typeface="Times New Roman" pitchFamily="18" charset="0"/>
              </a:rPr>
              <a:t> t</a:t>
            </a:r>
            <a:r>
              <a:rPr kumimoji="0" 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he performer of an action.</a:t>
            </a:r>
            <a:r>
              <a:rPr lang="en-US" sz="2800" dirty="0" smtClean="0">
                <a:latin typeface="Times New Roman" pitchFamily="18" charset="0"/>
                <a:cs typeface="Times New Roman" pitchFamily="18" charset="0"/>
              </a:rPr>
              <a:t> </a:t>
            </a:r>
          </a:p>
          <a:p>
            <a:pPr marL="342900" marR="0" lvl="0" indent="-342900" algn="l" defTabSz="457200" rtl="0" eaLnBrk="1" fontAlgn="auto" latinLnBrk="0" hangingPunct="1">
              <a:lnSpc>
                <a:spcPct val="100000"/>
              </a:lnSpc>
              <a:spcBef>
                <a:spcPct val="20000"/>
              </a:spcBef>
              <a:spcAft>
                <a:spcPts val="0"/>
              </a:spcAft>
              <a:buClrTx/>
              <a:buSzTx/>
              <a:tabLst/>
              <a:defRPr/>
            </a:pPr>
            <a:r>
              <a:rPr kumimoji="0" lang="en-US" sz="2800" b="0" i="0" u="none" strike="noStrike" kern="1200" cap="none" spc="0" normalizeH="0" noProof="0" dirty="0" smtClean="0">
                <a:ln>
                  <a:noFill/>
                </a:ln>
                <a:solidFill>
                  <a:schemeClr val="tx1"/>
                </a:solidFill>
                <a:effectLst/>
                <a:uLnTx/>
                <a:uFillTx/>
                <a:latin typeface="Times New Roman" pitchFamily="18" charset="0"/>
                <a:cs typeface="Times New Roman" pitchFamily="18" charset="0"/>
              </a:rPr>
              <a:t>E.g. </a:t>
            </a:r>
            <a:r>
              <a:rPr kumimoji="0" lang="en-US" sz="2800" b="1" i="0" u="none" strike="noStrike" kern="1200" cap="none" spc="0" normalizeH="0" noProof="0" dirty="0" err="1" smtClean="0">
                <a:ln>
                  <a:noFill/>
                </a:ln>
                <a:solidFill>
                  <a:schemeClr val="tx1"/>
                </a:solidFill>
                <a:effectLst/>
                <a:uLnTx/>
                <a:uFillTx/>
                <a:latin typeface="Times New Roman" pitchFamily="18" charset="0"/>
                <a:cs typeface="Times New Roman" pitchFamily="18" charset="0"/>
              </a:rPr>
              <a:t>Esi</a:t>
            </a:r>
            <a:r>
              <a:rPr kumimoji="0" lang="en-US" sz="2800" b="0" i="0" u="none" strike="noStrike" kern="1200" cap="none" spc="0" normalizeH="0" noProof="0" dirty="0" smtClean="0">
                <a:ln>
                  <a:noFill/>
                </a:ln>
                <a:solidFill>
                  <a:schemeClr val="tx1"/>
                </a:solidFill>
                <a:effectLst/>
                <a:uLnTx/>
                <a:uFillTx/>
                <a:latin typeface="Times New Roman" pitchFamily="18" charset="0"/>
                <a:cs typeface="Times New Roman" pitchFamily="18" charset="0"/>
              </a:rPr>
              <a:t> writes slowly. </a:t>
            </a:r>
          </a:p>
          <a:p>
            <a:pPr marL="342900" marR="0" lvl="0" indent="-342900" algn="l" defTabSz="457200" rtl="0" eaLnBrk="1" fontAlgn="auto" latinLnBrk="0" hangingPunct="1">
              <a:lnSpc>
                <a:spcPct val="100000"/>
              </a:lnSpc>
              <a:spcBef>
                <a:spcPct val="20000"/>
              </a:spcBef>
              <a:spcAft>
                <a:spcPts val="0"/>
              </a:spcAft>
              <a:buClrTx/>
              <a:buSzTx/>
              <a:buFontTx/>
              <a:buChar char="-"/>
              <a:tabLst/>
              <a:defRPr/>
            </a:pPr>
            <a:r>
              <a:rPr lang="en-US" sz="2800" baseline="0" dirty="0" smtClean="0">
                <a:latin typeface="Times New Roman" pitchFamily="18" charset="0"/>
                <a:cs typeface="Times New Roman" pitchFamily="18" charset="0"/>
              </a:rPr>
              <a:t>It is</a:t>
            </a:r>
            <a:r>
              <a:rPr lang="en-US" sz="2800" dirty="0" smtClean="0">
                <a:latin typeface="Times New Roman" pitchFamily="18" charset="0"/>
                <a:cs typeface="Times New Roman" pitchFamily="18" charset="0"/>
              </a:rPr>
              <a:t> t</a:t>
            </a:r>
            <a:r>
              <a:rPr lang="en-US" sz="2800" baseline="0" dirty="0" smtClean="0">
                <a:latin typeface="Times New Roman" pitchFamily="18" charset="0"/>
                <a:cs typeface="Times New Roman" pitchFamily="18" charset="0"/>
              </a:rPr>
              <a:t>he possessor or recipient of an action.</a:t>
            </a:r>
          </a:p>
          <a:p>
            <a:pPr marL="342900" marR="0" lvl="0" indent="-342900" algn="l" defTabSz="457200" rtl="0" eaLnBrk="1" fontAlgn="auto" latinLnBrk="0" hangingPunct="1">
              <a:lnSpc>
                <a:spcPct val="100000"/>
              </a:lnSpc>
              <a:spcBef>
                <a:spcPct val="20000"/>
              </a:spcBef>
              <a:spcAft>
                <a:spcPts val="0"/>
              </a:spcAft>
              <a:buClrTx/>
              <a:buSzTx/>
              <a:tabLst/>
              <a:defRPr/>
            </a:pPr>
            <a:r>
              <a:rPr lang="en-US" sz="2800" baseline="0" dirty="0" smtClean="0">
                <a:latin typeface="Times New Roman" pitchFamily="18" charset="0"/>
                <a:cs typeface="Times New Roman" pitchFamily="18" charset="0"/>
              </a:rPr>
              <a:t>E.g. </a:t>
            </a:r>
            <a:r>
              <a:rPr lang="en-US" sz="2800" b="1" dirty="0" err="1" smtClean="0">
                <a:latin typeface="Times New Roman" pitchFamily="18" charset="0"/>
                <a:cs typeface="Times New Roman" pitchFamily="18" charset="0"/>
              </a:rPr>
              <a:t>Kwasi</a:t>
            </a:r>
            <a:r>
              <a:rPr lang="en-US" sz="2800" dirty="0" smtClean="0">
                <a:latin typeface="Times New Roman" pitchFamily="18" charset="0"/>
                <a:cs typeface="Times New Roman" pitchFamily="18" charset="0"/>
              </a:rPr>
              <a:t> has a car. </a:t>
            </a:r>
          </a:p>
          <a:p>
            <a:pPr marL="342900" lvl="0" indent="-342900">
              <a:spcBef>
                <a:spcPct val="20000"/>
              </a:spcBef>
              <a:buFontTx/>
              <a:buChar char="-"/>
              <a:defRPr/>
            </a:pPr>
            <a:r>
              <a:rPr lang="en-US" sz="2800" dirty="0" smtClean="0">
                <a:latin typeface="Times New Roman" pitchFamily="18" charset="0"/>
                <a:cs typeface="Times New Roman" pitchFamily="18" charset="0"/>
              </a:rPr>
              <a:t>It designates places. </a:t>
            </a:r>
          </a:p>
          <a:p>
            <a:pPr marL="342900" lvl="0" indent="-342900">
              <a:spcBef>
                <a:spcPct val="20000"/>
              </a:spcBef>
              <a:defRPr/>
            </a:pPr>
            <a:r>
              <a:rPr lang="en-US" sz="2800" dirty="0" smtClean="0">
                <a:latin typeface="Times New Roman" pitchFamily="18" charset="0"/>
                <a:cs typeface="Times New Roman" pitchFamily="18" charset="0"/>
              </a:rPr>
              <a:t>E.g. </a:t>
            </a:r>
            <a:r>
              <a:rPr lang="en-US" sz="2800" b="1" dirty="0" smtClean="0">
                <a:latin typeface="Times New Roman" pitchFamily="18" charset="0"/>
                <a:cs typeface="Times New Roman" pitchFamily="18" charset="0"/>
              </a:rPr>
              <a:t>Rooms</a:t>
            </a:r>
            <a:r>
              <a:rPr lang="en-US" sz="2800" dirty="0" smtClean="0">
                <a:latin typeface="Times New Roman" pitchFamily="18" charset="0"/>
                <a:cs typeface="Times New Roman" pitchFamily="18" charset="0"/>
              </a:rPr>
              <a:t> are always stuffy.</a:t>
            </a:r>
          </a:p>
          <a:p>
            <a:pPr marL="342900" lvl="0" indent="-342900">
              <a:spcBef>
                <a:spcPct val="20000"/>
              </a:spcBef>
              <a:buFontTx/>
              <a:buChar char="-"/>
              <a:defRPr/>
            </a:pPr>
            <a:r>
              <a:rPr lang="en-US" sz="2800" dirty="0" smtClean="0">
                <a:latin typeface="Times New Roman" pitchFamily="18" charset="0"/>
                <a:cs typeface="Times New Roman" pitchFamily="18" charset="0"/>
              </a:rPr>
              <a:t>It indicates time. </a:t>
            </a:r>
          </a:p>
          <a:p>
            <a:pPr marL="342900" lvl="0" indent="-342900">
              <a:spcBef>
                <a:spcPct val="20000"/>
              </a:spcBef>
              <a:defRPr/>
            </a:pPr>
            <a:r>
              <a:rPr lang="en-US" sz="2800" dirty="0" smtClean="0">
                <a:latin typeface="Times New Roman" pitchFamily="18" charset="0"/>
                <a:cs typeface="Times New Roman" pitchFamily="18" charset="0"/>
              </a:rPr>
              <a:t>E.g. </a:t>
            </a:r>
            <a:r>
              <a:rPr lang="en-US" sz="2800" b="1" dirty="0" smtClean="0">
                <a:latin typeface="Times New Roman" pitchFamily="18" charset="0"/>
                <a:cs typeface="Times New Roman" pitchFamily="18" charset="0"/>
              </a:rPr>
              <a:t>Yesterday</a:t>
            </a:r>
            <a:r>
              <a:rPr lang="en-US" sz="2800" dirty="0" smtClean="0">
                <a:latin typeface="Times New Roman" pitchFamily="18" charset="0"/>
                <a:cs typeface="Times New Roman" pitchFamily="18" charset="0"/>
              </a:rPr>
              <a:t> was his birthday.</a:t>
            </a:r>
          </a:p>
          <a:p>
            <a:pPr marL="342900" lvl="0" indent="-342900">
              <a:spcBef>
                <a:spcPct val="20000"/>
              </a:spcBef>
              <a:buFontTx/>
              <a:buChar char="-"/>
              <a:defRPr/>
            </a:pPr>
            <a:r>
              <a:rPr lang="en-US" sz="2800" dirty="0" smtClean="0">
                <a:latin typeface="Times New Roman" pitchFamily="18" charset="0"/>
                <a:cs typeface="Times New Roman" pitchFamily="18" charset="0"/>
              </a:rPr>
              <a:t>It indicates events. </a:t>
            </a:r>
          </a:p>
          <a:p>
            <a:pPr marL="342900" lvl="0" indent="-342900">
              <a:spcBef>
                <a:spcPct val="20000"/>
              </a:spcBef>
              <a:defRPr/>
            </a:pPr>
            <a:r>
              <a:rPr lang="en-US" sz="2800" dirty="0" smtClean="0">
                <a:latin typeface="Times New Roman" pitchFamily="18" charset="0"/>
                <a:cs typeface="Times New Roman" pitchFamily="18" charset="0"/>
              </a:rPr>
              <a:t>E.g. </a:t>
            </a:r>
            <a:r>
              <a:rPr lang="en-US" sz="2800" b="1" dirty="0" smtClean="0">
                <a:latin typeface="Times New Roman" pitchFamily="18" charset="0"/>
                <a:cs typeface="Times New Roman" pitchFamily="18" charset="0"/>
              </a:rPr>
              <a:t>Parties</a:t>
            </a:r>
            <a:r>
              <a:rPr lang="en-US" sz="2800" dirty="0" smtClean="0">
                <a:latin typeface="Times New Roman" pitchFamily="18" charset="0"/>
                <a:cs typeface="Times New Roman" pitchFamily="18" charset="0"/>
              </a:rPr>
              <a:t> are always lovely.</a:t>
            </a:r>
          </a:p>
          <a:p>
            <a:pPr marL="342900" marR="0" lvl="0" indent="-342900" algn="l" defTabSz="457200" rtl="0" eaLnBrk="1" fontAlgn="auto" latinLnBrk="0" hangingPunct="1">
              <a:lnSpc>
                <a:spcPct val="100000"/>
              </a:lnSpc>
              <a:spcBef>
                <a:spcPct val="20000"/>
              </a:spcBef>
              <a:spcAft>
                <a:spcPts val="0"/>
              </a:spcAft>
              <a:buClrTx/>
              <a:buSzTx/>
              <a:tabLst/>
              <a:defRPr/>
            </a:pPr>
            <a:r>
              <a:rPr lang="en-US" sz="2800" dirty="0" smtClean="0">
                <a:latin typeface="Times New Roman" pitchFamily="18" charset="0"/>
                <a:cs typeface="Times New Roman" pitchFamily="18" charset="0"/>
              </a:rPr>
              <a:t> </a:t>
            </a:r>
            <a:r>
              <a:rPr lang="en-US" sz="2800" baseline="0" dirty="0" smtClean="0">
                <a:latin typeface="Times New Roman" pitchFamily="18" charset="0"/>
                <a:cs typeface="Times New Roman" pitchFamily="18" charset="0"/>
              </a:rPr>
              <a:t> </a:t>
            </a:r>
          </a:p>
          <a:p>
            <a:pPr marL="342900" marR="0" lvl="0" indent="-342900" algn="l" defTabSz="457200" rtl="0" eaLnBrk="1" fontAlgn="auto" latinLnBrk="0" hangingPunct="1">
              <a:lnSpc>
                <a:spcPct val="100000"/>
              </a:lnSpc>
              <a:spcBef>
                <a:spcPct val="20000"/>
              </a:spcBef>
              <a:spcAft>
                <a:spcPts val="0"/>
              </a:spcAft>
              <a:buClrTx/>
              <a:buSzTx/>
              <a:tabLst/>
              <a:defRPr/>
            </a:pPr>
            <a:endParaRPr kumimoji="0" lang="en-US" sz="28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xmlns="" val="2434791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a:xfrm>
            <a:off x="198783" y="0"/>
            <a:ext cx="9021417" cy="6858000"/>
          </a:xfrm>
          <a:prstGeom prst="rect">
            <a:avLst/>
          </a:prstGeom>
        </p:spPr>
        <p:txBody>
          <a:bodyPr>
            <a:normAutofit fontScale="92500" lnSpcReduction="10000"/>
          </a:bodyPr>
          <a:lstStyle/>
          <a:p>
            <a:pPr marL="342900" marR="0" lvl="0" indent="-342900" defTabSz="457200" rtl="0" eaLnBrk="1" fontAlgn="auto" latinLnBrk="0" hangingPunct="1">
              <a:lnSpc>
                <a:spcPct val="100000"/>
              </a:lnSpc>
              <a:spcBef>
                <a:spcPct val="20000"/>
              </a:spcBef>
              <a:spcAft>
                <a:spcPts val="0"/>
              </a:spcAft>
              <a:buClrTx/>
              <a:buSzTx/>
              <a:buFont typeface="Arial" pitchFamily="34" charset="0"/>
              <a:buChar char="•"/>
              <a:tabLst/>
              <a:defRPr/>
            </a:pPr>
            <a:r>
              <a:rPr lang="en-US" sz="3000" dirty="0" smtClean="0">
                <a:latin typeface="Times New Roman" pitchFamily="18" charset="0"/>
                <a:cs typeface="Times New Roman" pitchFamily="18" charset="0"/>
              </a:rPr>
              <a:t>Other items can also function as the subject of a sentence. These are:</a:t>
            </a:r>
          </a:p>
          <a:p>
            <a:pPr marL="342900" marR="0" lvl="0" indent="-342900" defTabSz="457200" rtl="0" eaLnBrk="1" fontAlgn="auto" latinLnBrk="0" hangingPunct="1">
              <a:lnSpc>
                <a:spcPct val="100000"/>
              </a:lnSpc>
              <a:spcBef>
                <a:spcPct val="20000"/>
              </a:spcBef>
              <a:spcAft>
                <a:spcPts val="0"/>
              </a:spcAft>
              <a:buClrTx/>
              <a:buSzTx/>
              <a:buFont typeface="Arial" pitchFamily="34" charset="0"/>
              <a:buChar char="•"/>
              <a:tabLst/>
              <a:defRPr/>
            </a:pPr>
            <a:r>
              <a:rPr lang="en-US" sz="3000" dirty="0" smtClean="0">
                <a:latin typeface="Times New Roman" pitchFamily="18" charset="0"/>
                <a:cs typeface="Times New Roman" pitchFamily="18" charset="0"/>
              </a:rPr>
              <a:t>Noun phrases: e.g. </a:t>
            </a:r>
            <a:r>
              <a:rPr lang="en-US" sz="3000" b="1" dirty="0" smtClean="0">
                <a:latin typeface="Times New Roman" pitchFamily="18" charset="0"/>
                <a:cs typeface="Times New Roman" pitchFamily="18" charset="0"/>
              </a:rPr>
              <a:t>The woman in white </a:t>
            </a:r>
            <a:r>
              <a:rPr lang="en-US" sz="3000" dirty="0" smtClean="0">
                <a:latin typeface="Times New Roman" pitchFamily="18" charset="0"/>
                <a:cs typeface="Times New Roman" pitchFamily="18" charset="0"/>
              </a:rPr>
              <a:t>is my mother. </a:t>
            </a:r>
          </a:p>
          <a:p>
            <a:pPr marL="342900" marR="0" lvl="0" indent="-342900" defTabSz="457200" rtl="0" eaLnBrk="1" fontAlgn="auto" latinLnBrk="0" hangingPunct="1">
              <a:lnSpc>
                <a:spcPct val="100000"/>
              </a:lnSpc>
              <a:spcBef>
                <a:spcPct val="20000"/>
              </a:spcBef>
              <a:spcAft>
                <a:spcPts val="0"/>
              </a:spcAft>
              <a:buClrTx/>
              <a:buSzTx/>
              <a:buFont typeface="Arial" pitchFamily="34" charset="0"/>
              <a:buChar char="•"/>
              <a:tabLst/>
              <a:defRPr/>
            </a:pPr>
            <a:r>
              <a:rPr lang="en-US" sz="3000" dirty="0" smtClean="0">
                <a:latin typeface="Times New Roman" pitchFamily="18" charset="0"/>
                <a:cs typeface="Times New Roman" pitchFamily="18" charset="0"/>
              </a:rPr>
              <a:t>Noun clauses: e.g. </a:t>
            </a:r>
            <a:r>
              <a:rPr lang="en-US" sz="3000" b="1" dirty="0" smtClean="0">
                <a:latin typeface="Times New Roman" pitchFamily="18" charset="0"/>
                <a:cs typeface="Times New Roman" pitchFamily="18" charset="0"/>
              </a:rPr>
              <a:t>The woman that came here </a:t>
            </a:r>
            <a:r>
              <a:rPr lang="en-US" sz="3000" dirty="0" smtClean="0">
                <a:latin typeface="Times New Roman" pitchFamily="18" charset="0"/>
                <a:cs typeface="Times New Roman" pitchFamily="18" charset="0"/>
              </a:rPr>
              <a:t>is my mother. </a:t>
            </a:r>
          </a:p>
          <a:p>
            <a:pPr marL="342900" marR="0" lvl="0" indent="-342900" defTabSz="457200" rtl="0" eaLnBrk="1" fontAlgn="auto" latinLnBrk="0" hangingPunct="1">
              <a:lnSpc>
                <a:spcPct val="100000"/>
              </a:lnSpc>
              <a:spcBef>
                <a:spcPct val="20000"/>
              </a:spcBef>
              <a:spcAft>
                <a:spcPts val="0"/>
              </a:spcAft>
              <a:buClrTx/>
              <a:buSzTx/>
              <a:buFont typeface="Arial" pitchFamily="34" charset="0"/>
              <a:buChar char="•"/>
              <a:tabLst/>
              <a:defRPr/>
            </a:pPr>
            <a:r>
              <a:rPr lang="en-US" sz="3000" dirty="0" smtClean="0">
                <a:latin typeface="Times New Roman" pitchFamily="18" charset="0"/>
                <a:cs typeface="Times New Roman" pitchFamily="18" charset="0"/>
              </a:rPr>
              <a:t>Pronouns: e.g. </a:t>
            </a:r>
            <a:r>
              <a:rPr lang="en-US" sz="3000" b="1" dirty="0" smtClean="0">
                <a:latin typeface="Times New Roman" pitchFamily="18" charset="0"/>
                <a:cs typeface="Times New Roman" pitchFamily="18" charset="0"/>
              </a:rPr>
              <a:t>She</a:t>
            </a:r>
            <a:r>
              <a:rPr lang="en-US" sz="3000" dirty="0" smtClean="0">
                <a:latin typeface="Times New Roman" pitchFamily="18" charset="0"/>
                <a:cs typeface="Times New Roman" pitchFamily="18" charset="0"/>
              </a:rPr>
              <a:t> is my mother. </a:t>
            </a:r>
          </a:p>
          <a:p>
            <a:pPr marL="342900" marR="0" lvl="0" indent="-342900" defTabSz="457200" rtl="0" eaLnBrk="1" fontAlgn="auto" latinLnBrk="0" hangingPunct="1">
              <a:lnSpc>
                <a:spcPct val="100000"/>
              </a:lnSpc>
              <a:spcBef>
                <a:spcPct val="20000"/>
              </a:spcBef>
              <a:spcAft>
                <a:spcPts val="0"/>
              </a:spcAft>
              <a:buClrTx/>
              <a:buSzTx/>
              <a:tabLst/>
              <a:defRPr/>
            </a:pPr>
            <a:endParaRPr lang="en-US" sz="3000" dirty="0" smtClean="0">
              <a:latin typeface="Times New Roman" pitchFamily="18" charset="0"/>
              <a:cs typeface="Times New Roman" pitchFamily="18" charset="0"/>
            </a:endParaRPr>
          </a:p>
          <a:p>
            <a:pPr marL="342900" lvl="0" indent="-342900">
              <a:spcBef>
                <a:spcPct val="20000"/>
              </a:spcBef>
              <a:buFont typeface="Arial" pitchFamily="34" charset="0"/>
              <a:buChar char="•"/>
              <a:defRPr/>
            </a:pPr>
            <a:r>
              <a:rPr lang="en-US" sz="3000" dirty="0" smtClean="0">
                <a:latin typeface="Times New Roman" pitchFamily="18" charset="0"/>
                <a:cs typeface="Times New Roman" pitchFamily="18" charset="0"/>
              </a:rPr>
              <a:t>Grammatically, the subject of a sentence agrees in number and person with the main verb of the sentence. </a:t>
            </a:r>
          </a:p>
          <a:p>
            <a:pPr marL="342900" lvl="0" indent="-342900">
              <a:spcBef>
                <a:spcPct val="20000"/>
              </a:spcBef>
              <a:defRPr/>
            </a:pPr>
            <a:r>
              <a:rPr lang="en-US" sz="3000" dirty="0" smtClean="0">
                <a:latin typeface="Times New Roman" pitchFamily="18" charset="0"/>
                <a:cs typeface="Times New Roman" pitchFamily="18" charset="0"/>
              </a:rPr>
              <a:t>NB: Subject-verb-agreement will be treated in detail in another lesson.  </a:t>
            </a:r>
          </a:p>
          <a:p>
            <a:pPr marL="342900" marR="0" lvl="0" indent="-342900" defTabSz="457200" rtl="0" eaLnBrk="1" fontAlgn="auto" latinLnBrk="0" hangingPunct="1">
              <a:lnSpc>
                <a:spcPct val="100000"/>
              </a:lnSpc>
              <a:spcBef>
                <a:spcPct val="20000"/>
              </a:spcBef>
              <a:spcAft>
                <a:spcPts val="0"/>
              </a:spcAft>
              <a:buClrTx/>
              <a:buSzTx/>
              <a:tabLst/>
              <a:defRPr/>
            </a:pPr>
            <a:endParaRPr lang="en-US" sz="2800" dirty="0" smtClean="0">
              <a:latin typeface="Arial" pitchFamily="34" charset="0"/>
              <a:cs typeface="Arial" pitchFamily="34" charset="0"/>
            </a:endParaRPr>
          </a:p>
          <a:p>
            <a:pPr marL="342900" marR="0" lvl="0" indent="-342900" defTabSz="457200" rtl="0" eaLnBrk="1" fontAlgn="auto" latinLnBrk="0" hangingPunct="1">
              <a:lnSpc>
                <a:spcPct val="100000"/>
              </a:lnSpc>
              <a:spcBef>
                <a:spcPct val="20000"/>
              </a:spcBef>
              <a:spcAft>
                <a:spcPts val="0"/>
              </a:spcAft>
              <a:buClrTx/>
              <a:buSzTx/>
              <a:tabLst/>
              <a:defRPr/>
            </a:pPr>
            <a:endParaRPr lang="en-US" sz="2800" dirty="0" smtClean="0">
              <a:latin typeface="Arial" pitchFamily="34" charset="0"/>
              <a:cs typeface="Arial" pitchFamily="34" charset="0"/>
            </a:endParaRPr>
          </a:p>
          <a:p>
            <a:pPr marL="342900" marR="0" lvl="0" indent="-342900" defTabSz="457200" rtl="0" eaLnBrk="1" fontAlgn="auto" latinLnBrk="0" hangingPunct="1">
              <a:lnSpc>
                <a:spcPct val="100000"/>
              </a:lnSpc>
              <a:spcBef>
                <a:spcPct val="20000"/>
              </a:spcBef>
              <a:spcAft>
                <a:spcPts val="0"/>
              </a:spcAft>
              <a:buClrTx/>
              <a:buSzTx/>
              <a:tabLst/>
              <a:defRPr/>
            </a:pPr>
            <a:endParaRPr lang="en-US" sz="2800" dirty="0" smtClean="0">
              <a:latin typeface="Arial" pitchFamily="34" charset="0"/>
              <a:cs typeface="Arial" pitchFamily="34" charset="0"/>
            </a:endParaRPr>
          </a:p>
          <a:p>
            <a:pPr marL="342900" marR="0" lvl="0" indent="-342900" defTabSz="457200" rtl="0" eaLnBrk="1" fontAlgn="auto" latinLnBrk="0" hangingPunct="1">
              <a:lnSpc>
                <a:spcPct val="100000"/>
              </a:lnSpc>
              <a:spcBef>
                <a:spcPct val="20000"/>
              </a:spcBef>
              <a:spcAft>
                <a:spcPts val="0"/>
              </a:spcAft>
              <a:buClrTx/>
              <a:buSzTx/>
              <a:tabLst/>
              <a:defRPr/>
            </a:pPr>
            <a:r>
              <a:rPr lang="en-US" sz="2800" dirty="0" smtClean="0">
                <a:latin typeface="Arial" pitchFamily="34" charset="0"/>
                <a:cs typeface="Arial" pitchFamily="34" charset="0"/>
              </a:rPr>
              <a:t>      </a:t>
            </a:r>
            <a:endParaRPr kumimoji="0" lang="en-US" sz="280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xmlns="" val="3179774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a:xfrm>
            <a:off x="0" y="0"/>
            <a:ext cx="9220200" cy="6858000"/>
          </a:xfrm>
          <a:prstGeom prst="rect">
            <a:avLst/>
          </a:prstGeom>
        </p:spPr>
        <p:txBody>
          <a:bodyPr>
            <a:noAutofit/>
          </a:bodyPr>
          <a:lstStyle/>
          <a:p>
            <a:pPr marL="342900" marR="0" lvl="0" indent="-342900" defTabSz="457200" rtl="0" eaLnBrk="1" fontAlgn="auto" latinLnBrk="0" hangingPunct="1">
              <a:lnSpc>
                <a:spcPct val="100000"/>
              </a:lnSpc>
              <a:spcBef>
                <a:spcPct val="20000"/>
              </a:spcBef>
              <a:spcAft>
                <a:spcPts val="0"/>
              </a:spcAft>
              <a:buClrTx/>
              <a:buSzTx/>
              <a:tabLst/>
              <a:defRPr/>
            </a:pPr>
            <a:r>
              <a:rPr lang="en-US" sz="2800" b="1" dirty="0" smtClean="0">
                <a:latin typeface="Times New Roman" pitchFamily="18" charset="0"/>
                <a:cs typeface="Times New Roman" pitchFamily="18" charset="0"/>
              </a:rPr>
              <a:t>Nouns as objects of sentences</a:t>
            </a:r>
          </a:p>
          <a:p>
            <a:pPr marL="342900" marR="0" lvl="0" indent="-342900" defTabSz="457200" rtl="0" eaLnBrk="1" fontAlgn="auto" latinLnBrk="0" hangingPunct="1">
              <a:lnSpc>
                <a:spcPct val="100000"/>
              </a:lnSpc>
              <a:spcBef>
                <a:spcPct val="20000"/>
              </a:spcBef>
              <a:spcAft>
                <a:spcPts val="0"/>
              </a:spcAft>
              <a:buClrTx/>
              <a:buSzTx/>
              <a:buFont typeface="Arial" pitchFamily="34" charset="0"/>
              <a:buChar char="•"/>
              <a:tabLst/>
              <a:defRPr/>
            </a:pPr>
            <a:r>
              <a:rPr lang="en-US" sz="2800" dirty="0" smtClean="0">
                <a:latin typeface="Times New Roman" pitchFamily="18" charset="0"/>
                <a:cs typeface="Times New Roman" pitchFamily="18" charset="0"/>
              </a:rPr>
              <a:t>Based on their positions, nouns can function as objects of sentences when they occur after action verbs. </a:t>
            </a:r>
          </a:p>
          <a:p>
            <a:pPr marL="342900" marR="0" lvl="0" indent="-342900" defTabSz="457200" rtl="0" eaLnBrk="1" fontAlgn="auto" latinLnBrk="0" hangingPunct="1">
              <a:lnSpc>
                <a:spcPct val="100000"/>
              </a:lnSpc>
              <a:spcBef>
                <a:spcPct val="20000"/>
              </a:spcBef>
              <a:spcAft>
                <a:spcPts val="0"/>
              </a:spcAft>
              <a:buClrTx/>
              <a:buSzTx/>
              <a:tabLst/>
              <a:defRPr/>
            </a:pPr>
            <a:r>
              <a:rPr lang="en-US" sz="2800" dirty="0" smtClean="0">
                <a:latin typeface="Times New Roman" pitchFamily="18" charset="0"/>
                <a:cs typeface="Times New Roman" pitchFamily="18" charset="0"/>
              </a:rPr>
              <a:t>E.g. Kofi eats </a:t>
            </a:r>
            <a:r>
              <a:rPr lang="en-US" sz="2800" b="1" dirty="0" smtClean="0">
                <a:latin typeface="Times New Roman" pitchFamily="18" charset="0"/>
                <a:cs typeface="Times New Roman" pitchFamily="18" charset="0"/>
              </a:rPr>
              <a:t>rice</a:t>
            </a:r>
            <a:r>
              <a:rPr lang="en-US" sz="2800" dirty="0" smtClean="0">
                <a:latin typeface="Times New Roman" pitchFamily="18" charset="0"/>
                <a:cs typeface="Times New Roman" pitchFamily="18" charset="0"/>
              </a:rPr>
              <a:t>.</a:t>
            </a:r>
          </a:p>
          <a:p>
            <a:pPr marL="342900" marR="0" lvl="0" indent="-342900" defTabSz="457200" rtl="0" eaLnBrk="1" fontAlgn="auto" latinLnBrk="0" hangingPunct="1">
              <a:lnSpc>
                <a:spcPct val="100000"/>
              </a:lnSpc>
              <a:spcBef>
                <a:spcPct val="20000"/>
              </a:spcBef>
              <a:spcAft>
                <a:spcPts val="0"/>
              </a:spcAft>
              <a:buClrTx/>
              <a:buSzTx/>
              <a:buFont typeface="Arial" pitchFamily="34" charset="0"/>
              <a:buChar char="•"/>
              <a:tabLst/>
              <a:defRPr/>
            </a:pPr>
            <a:r>
              <a:rPr lang="en-US" sz="2800" dirty="0" smtClean="0">
                <a:latin typeface="Times New Roman" pitchFamily="18" charset="0"/>
                <a:cs typeface="Times New Roman" pitchFamily="18" charset="0"/>
              </a:rPr>
              <a:t>Based on the meaning they convey, nouns function as objects of sentences when:</a:t>
            </a:r>
          </a:p>
          <a:p>
            <a:pPr marL="342900" marR="0" lvl="0" indent="-342900" defTabSz="457200" rtl="0" eaLnBrk="1" fontAlgn="auto" latinLnBrk="0" hangingPunct="1">
              <a:lnSpc>
                <a:spcPct val="100000"/>
              </a:lnSpc>
              <a:spcBef>
                <a:spcPct val="20000"/>
              </a:spcBef>
              <a:spcAft>
                <a:spcPts val="0"/>
              </a:spcAft>
              <a:buClrTx/>
              <a:buSzTx/>
              <a:buFontTx/>
              <a:buChar char="-"/>
              <a:tabLst/>
              <a:defRPr/>
            </a:pPr>
            <a:r>
              <a:rPr lang="en-US" sz="2800" dirty="0" smtClean="0">
                <a:latin typeface="Times New Roman" pitchFamily="18" charset="0"/>
                <a:cs typeface="Times New Roman" pitchFamily="18" charset="0"/>
              </a:rPr>
              <a:t>They are the entities that are affected by the action of the verb. E.g. The man beats </a:t>
            </a:r>
            <a:r>
              <a:rPr lang="en-US" sz="2800" b="1" dirty="0" smtClean="0">
                <a:latin typeface="Times New Roman" pitchFamily="18" charset="0"/>
                <a:cs typeface="Times New Roman" pitchFamily="18" charset="0"/>
              </a:rPr>
              <a:t>his wife</a:t>
            </a:r>
            <a:r>
              <a:rPr lang="en-US" sz="2800" dirty="0" smtClean="0">
                <a:latin typeface="Times New Roman" pitchFamily="18" charset="0"/>
                <a:cs typeface="Times New Roman" pitchFamily="18" charset="0"/>
              </a:rPr>
              <a:t>. </a:t>
            </a:r>
          </a:p>
          <a:p>
            <a:pPr marL="342900" marR="0" lvl="0" indent="-342900" defTabSz="457200" rtl="0" eaLnBrk="1" fontAlgn="auto" latinLnBrk="0" hangingPunct="1">
              <a:lnSpc>
                <a:spcPct val="100000"/>
              </a:lnSpc>
              <a:spcBef>
                <a:spcPct val="20000"/>
              </a:spcBef>
              <a:spcAft>
                <a:spcPts val="0"/>
              </a:spcAft>
              <a:buClrTx/>
              <a:buSzTx/>
              <a:buFontTx/>
              <a:buChar char="-"/>
              <a:tabLst/>
              <a:defRPr/>
            </a:pPr>
            <a:r>
              <a:rPr lang="en-US" sz="2800" dirty="0" smtClean="0">
                <a:latin typeface="Times New Roman" pitchFamily="18" charset="0"/>
                <a:cs typeface="Times New Roman" pitchFamily="18" charset="0"/>
              </a:rPr>
              <a:t>They indicate location. E.g. Kofi climbed </a:t>
            </a:r>
            <a:r>
              <a:rPr lang="en-US" sz="2800" b="1" dirty="0" smtClean="0">
                <a:latin typeface="Times New Roman" pitchFamily="18" charset="0"/>
                <a:cs typeface="Times New Roman" pitchFamily="18" charset="0"/>
              </a:rPr>
              <a:t>the mountain</a:t>
            </a:r>
            <a:r>
              <a:rPr lang="en-US" sz="2800" dirty="0" smtClean="0">
                <a:latin typeface="Times New Roman" pitchFamily="18" charset="0"/>
                <a:cs typeface="Times New Roman" pitchFamily="18" charset="0"/>
              </a:rPr>
              <a:t>.  </a:t>
            </a:r>
          </a:p>
          <a:p>
            <a:pPr marL="342900" marR="0" lvl="0" indent="-342900" defTabSz="457200" rtl="0" eaLnBrk="1" fontAlgn="auto" latinLnBrk="0" hangingPunct="1">
              <a:lnSpc>
                <a:spcPct val="100000"/>
              </a:lnSpc>
              <a:spcBef>
                <a:spcPct val="20000"/>
              </a:spcBef>
              <a:spcAft>
                <a:spcPts val="0"/>
              </a:spcAft>
              <a:buClrTx/>
              <a:buSzTx/>
              <a:buFontTx/>
              <a:buChar char="-"/>
              <a:tabLst/>
              <a:defRPr/>
            </a:pPr>
            <a:r>
              <a:rPr lang="en-US" sz="2800" dirty="0" smtClean="0">
                <a:latin typeface="Times New Roman" pitchFamily="18" charset="0"/>
                <a:cs typeface="Times New Roman" pitchFamily="18" charset="0"/>
              </a:rPr>
              <a:t>They are results of the activity indicated by the verb. </a:t>
            </a:r>
          </a:p>
          <a:p>
            <a:pPr marL="342900" marR="0" lvl="0" indent="-342900" defTabSz="457200" rtl="0" eaLnBrk="1" fontAlgn="auto" latinLnBrk="0" hangingPunct="1">
              <a:lnSpc>
                <a:spcPct val="100000"/>
              </a:lnSpc>
              <a:spcBef>
                <a:spcPct val="20000"/>
              </a:spcBef>
              <a:spcAft>
                <a:spcPts val="0"/>
              </a:spcAft>
              <a:buClrTx/>
              <a:buSzTx/>
              <a:tabLst/>
              <a:defRPr/>
            </a:pPr>
            <a:r>
              <a:rPr lang="en-US" sz="2800" dirty="0" smtClean="0">
                <a:latin typeface="Times New Roman" pitchFamily="18" charset="0"/>
                <a:cs typeface="Times New Roman" pitchFamily="18" charset="0"/>
              </a:rPr>
              <a:t>     E.g. Mummy prepares </a:t>
            </a:r>
            <a:r>
              <a:rPr lang="en-US" sz="2800" b="1" dirty="0" smtClean="0">
                <a:latin typeface="Times New Roman" pitchFamily="18" charset="0"/>
                <a:cs typeface="Times New Roman" pitchFamily="18" charset="0"/>
              </a:rPr>
              <a:t>rice</a:t>
            </a:r>
            <a:r>
              <a:rPr lang="en-US" sz="2800" dirty="0" smtClean="0">
                <a:latin typeface="Times New Roman" pitchFamily="18" charset="0"/>
                <a:cs typeface="Times New Roman" pitchFamily="18" charset="0"/>
              </a:rPr>
              <a:t>. </a:t>
            </a:r>
          </a:p>
          <a:p>
            <a:pPr marL="342900" marR="0" lvl="0" indent="-342900" defTabSz="457200" rtl="0" eaLnBrk="1" fontAlgn="auto" latinLnBrk="0" hangingPunct="1">
              <a:lnSpc>
                <a:spcPct val="100000"/>
              </a:lnSpc>
              <a:spcBef>
                <a:spcPct val="20000"/>
              </a:spcBef>
              <a:spcAft>
                <a:spcPts val="0"/>
              </a:spcAft>
              <a:buClrTx/>
              <a:buSzTx/>
              <a:tabLst/>
              <a:defRPr/>
            </a:pPr>
            <a:endParaRPr lang="en-US" sz="2800" dirty="0" smtClean="0">
              <a:latin typeface="Times New Roman" pitchFamily="18" charset="0"/>
              <a:cs typeface="Times New Roman" pitchFamily="18" charset="0"/>
            </a:endParaRPr>
          </a:p>
          <a:p>
            <a:pPr marL="342900" marR="0" lvl="0" indent="-342900" defTabSz="457200" rtl="0" eaLnBrk="1" fontAlgn="auto" latinLnBrk="0" hangingPunct="1">
              <a:lnSpc>
                <a:spcPct val="100000"/>
              </a:lnSpc>
              <a:spcBef>
                <a:spcPct val="20000"/>
              </a:spcBef>
              <a:spcAft>
                <a:spcPts val="0"/>
              </a:spcAft>
              <a:buClrTx/>
              <a:buSzTx/>
              <a:tabLst/>
              <a:defRPr/>
            </a:pPr>
            <a:r>
              <a:rPr lang="en-US" sz="2800" dirty="0" smtClean="0">
                <a:latin typeface="Times New Roman" pitchFamily="18" charset="0"/>
                <a:cs typeface="Times New Roman" pitchFamily="18" charset="0"/>
              </a:rPr>
              <a:t> </a:t>
            </a:r>
          </a:p>
          <a:p>
            <a:pPr marL="342900" marR="0" lvl="0" indent="-342900" defTabSz="457200" rtl="0" eaLnBrk="1" fontAlgn="auto" latinLnBrk="0" hangingPunct="1">
              <a:lnSpc>
                <a:spcPct val="100000"/>
              </a:lnSpc>
              <a:spcBef>
                <a:spcPct val="20000"/>
              </a:spcBef>
              <a:spcAft>
                <a:spcPts val="0"/>
              </a:spcAft>
              <a:buClrTx/>
              <a:buSzTx/>
              <a:tabLst/>
              <a:defRPr/>
            </a:pPr>
            <a:endParaRPr lang="en-US" sz="2800" dirty="0" smtClean="0">
              <a:latin typeface="Times New Roman" pitchFamily="18" charset="0"/>
              <a:cs typeface="Times New Roman" pitchFamily="18" charset="0"/>
            </a:endParaRPr>
          </a:p>
          <a:p>
            <a:pPr marL="342900" marR="0" lvl="0" indent="-342900" defTabSz="457200" rtl="0" eaLnBrk="1" fontAlgn="auto" latinLnBrk="0" hangingPunct="1">
              <a:lnSpc>
                <a:spcPct val="100000"/>
              </a:lnSpc>
              <a:spcBef>
                <a:spcPct val="20000"/>
              </a:spcBef>
              <a:spcAft>
                <a:spcPts val="0"/>
              </a:spcAft>
              <a:buClrTx/>
              <a:buSzTx/>
              <a:tabLst/>
              <a:defRPr/>
            </a:pPr>
            <a:r>
              <a:rPr lang="en-US" sz="2800" dirty="0" smtClean="0">
                <a:latin typeface="Times New Roman" pitchFamily="18" charset="0"/>
                <a:cs typeface="Times New Roman" pitchFamily="18" charset="0"/>
              </a:rPr>
              <a:t>    </a:t>
            </a:r>
          </a:p>
          <a:p>
            <a:pPr marL="342900" marR="0" lvl="0" indent="-342900" defTabSz="457200" rtl="0" eaLnBrk="1" fontAlgn="auto" latinLnBrk="0" hangingPunct="1">
              <a:lnSpc>
                <a:spcPct val="100000"/>
              </a:lnSpc>
              <a:spcBef>
                <a:spcPct val="20000"/>
              </a:spcBef>
              <a:spcAft>
                <a:spcPts val="0"/>
              </a:spcAft>
              <a:buClrTx/>
              <a:buSzTx/>
              <a:tabLst/>
              <a:defRPr/>
            </a:pPr>
            <a:endParaRPr lang="en-US" sz="2800" dirty="0" smtClean="0">
              <a:latin typeface="Times New Roman" pitchFamily="18" charset="0"/>
              <a:cs typeface="Times New Roman" pitchFamily="18" charset="0"/>
            </a:endParaRPr>
          </a:p>
          <a:p>
            <a:pPr marL="342900" marR="0" lvl="0" indent="-342900" defTabSz="457200" rtl="0" eaLnBrk="1" fontAlgn="auto" latinLnBrk="0" hangingPunct="1">
              <a:lnSpc>
                <a:spcPct val="100000"/>
              </a:lnSpc>
              <a:spcBef>
                <a:spcPct val="20000"/>
              </a:spcBef>
              <a:spcAft>
                <a:spcPts val="0"/>
              </a:spcAft>
              <a:buClrTx/>
              <a:buSzTx/>
              <a:tabLst/>
              <a:defRPr/>
            </a:pPr>
            <a:endParaRPr lang="en-US" sz="2800" dirty="0" smtClean="0">
              <a:latin typeface="Times New Roman" pitchFamily="18" charset="0"/>
              <a:cs typeface="Times New Roman" pitchFamily="18" charset="0"/>
            </a:endParaRPr>
          </a:p>
          <a:p>
            <a:pPr marL="342900" marR="0" lvl="0" indent="-342900" defTabSz="457200" rtl="0" eaLnBrk="1" fontAlgn="auto" latinLnBrk="0" hangingPunct="1">
              <a:lnSpc>
                <a:spcPct val="100000"/>
              </a:lnSpc>
              <a:spcBef>
                <a:spcPct val="20000"/>
              </a:spcBef>
              <a:spcAft>
                <a:spcPts val="0"/>
              </a:spcAft>
              <a:buClrTx/>
              <a:buSzTx/>
              <a:tabLst/>
              <a:defRPr/>
            </a:pPr>
            <a:endParaRPr lang="en-US" sz="2800" dirty="0" smtClean="0">
              <a:latin typeface="Times New Roman" pitchFamily="18" charset="0"/>
              <a:cs typeface="Times New Roman" pitchFamily="18" charset="0"/>
            </a:endParaRPr>
          </a:p>
          <a:p>
            <a:pPr marL="342900" marR="0" lvl="0" indent="-342900" defTabSz="457200" rtl="0" eaLnBrk="1" fontAlgn="auto" latinLnBrk="0" hangingPunct="1">
              <a:lnSpc>
                <a:spcPct val="100000"/>
              </a:lnSpc>
              <a:spcBef>
                <a:spcPct val="20000"/>
              </a:spcBef>
              <a:spcAft>
                <a:spcPts val="0"/>
              </a:spcAft>
              <a:buClrTx/>
              <a:buSzTx/>
              <a:tabLst/>
              <a:defRPr/>
            </a:pPr>
            <a:r>
              <a:rPr lang="en-US" sz="2800" dirty="0" smtClean="0">
                <a:latin typeface="Times New Roman" pitchFamily="18" charset="0"/>
                <a:cs typeface="Times New Roman" pitchFamily="18" charset="0"/>
              </a:rPr>
              <a:t>      </a:t>
            </a:r>
            <a:endParaRPr kumimoji="0" lang="en-US" sz="280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spTree>
    <p:extLst>
      <p:ext uri="{BB962C8B-B14F-4D97-AF65-F5344CB8AC3E}">
        <p14:creationId xmlns:p14="http://schemas.microsoft.com/office/powerpoint/2010/main" xmlns="" val="795493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172278" y="0"/>
            <a:ext cx="9047922" cy="6858000"/>
          </a:xfrm>
          <a:prstGeom prst="rect">
            <a:avLst/>
          </a:prstGeom>
        </p:spPr>
        <p:txBody>
          <a:bodyPr>
            <a:noAutofit/>
          </a:bodyPr>
          <a:lstStyle/>
          <a:p>
            <a:pPr marL="342900" marR="0" lvl="0" indent="-342900" defTabSz="457200" rtl="0" eaLnBrk="1" fontAlgn="auto" latinLnBrk="0" hangingPunct="1">
              <a:lnSpc>
                <a:spcPct val="100000"/>
              </a:lnSpc>
              <a:spcBef>
                <a:spcPct val="20000"/>
              </a:spcBef>
              <a:spcAft>
                <a:spcPts val="0"/>
              </a:spcAft>
              <a:buClrTx/>
              <a:buSzTx/>
              <a:buFont typeface="Arial" pitchFamily="34" charset="0"/>
              <a:buChar char="•"/>
              <a:tabLst/>
              <a:defRPr/>
            </a:pPr>
            <a:r>
              <a:rPr lang="en-US" sz="2800" dirty="0" smtClean="0">
                <a:latin typeface="Times New Roman" pitchFamily="18" charset="0"/>
                <a:cs typeface="Times New Roman" pitchFamily="18" charset="0"/>
              </a:rPr>
              <a:t>There are two main types of objects. These are the direct and indirect objects. </a:t>
            </a:r>
          </a:p>
          <a:p>
            <a:pPr marL="342900" marR="0" lvl="0" indent="-342900" defTabSz="457200" rtl="0" eaLnBrk="1" fontAlgn="auto" latinLnBrk="0" hangingPunct="1">
              <a:lnSpc>
                <a:spcPct val="100000"/>
              </a:lnSpc>
              <a:spcBef>
                <a:spcPct val="20000"/>
              </a:spcBef>
              <a:spcAft>
                <a:spcPts val="0"/>
              </a:spcAft>
              <a:buClrTx/>
              <a:buSzTx/>
              <a:buFont typeface="Arial" pitchFamily="34" charset="0"/>
              <a:buChar char="•"/>
              <a:tabLst/>
              <a:defRPr/>
            </a:pPr>
            <a:r>
              <a:rPr lang="en-US" sz="2800" dirty="0" smtClean="0">
                <a:latin typeface="Times New Roman" pitchFamily="18" charset="0"/>
                <a:cs typeface="Times New Roman" pitchFamily="18" charset="0"/>
              </a:rPr>
              <a:t>Both can be used in a sentence and when both are used, the indirect object is preceded by a preposition in certain kinds of sentences. </a:t>
            </a:r>
          </a:p>
          <a:p>
            <a:pPr marL="342900" marR="0" lvl="0" indent="-342900" defTabSz="457200" rtl="0" eaLnBrk="1" fontAlgn="auto" latinLnBrk="0" hangingPunct="1">
              <a:lnSpc>
                <a:spcPct val="100000"/>
              </a:lnSpc>
              <a:spcBef>
                <a:spcPct val="20000"/>
              </a:spcBef>
              <a:spcAft>
                <a:spcPts val="0"/>
              </a:spcAft>
              <a:buClrTx/>
              <a:buSzTx/>
              <a:tabLst/>
              <a:defRPr/>
            </a:pPr>
            <a:r>
              <a:rPr lang="en-US" sz="2800" dirty="0" smtClean="0">
                <a:latin typeface="Times New Roman" pitchFamily="18" charset="0"/>
                <a:cs typeface="Times New Roman" pitchFamily="18" charset="0"/>
              </a:rPr>
              <a:t>    E.g.  Kofi gave   </a:t>
            </a:r>
            <a:r>
              <a:rPr lang="en-US" sz="2800" b="1" dirty="0" smtClean="0">
                <a:latin typeface="Times New Roman" pitchFamily="18" charset="0"/>
                <a:cs typeface="Times New Roman" pitchFamily="18" charset="0"/>
              </a:rPr>
              <a:t>the book    </a:t>
            </a:r>
            <a:r>
              <a:rPr lang="en-US" sz="2800" dirty="0" smtClean="0">
                <a:latin typeface="Times New Roman" pitchFamily="18" charset="0"/>
                <a:cs typeface="Times New Roman" pitchFamily="18" charset="0"/>
              </a:rPr>
              <a:t>to    </a:t>
            </a:r>
            <a:r>
              <a:rPr lang="en-US" sz="2800" b="1" dirty="0" smtClean="0">
                <a:latin typeface="Times New Roman" pitchFamily="18" charset="0"/>
                <a:cs typeface="Times New Roman" pitchFamily="18" charset="0"/>
              </a:rPr>
              <a:t>Mary</a:t>
            </a:r>
            <a:r>
              <a:rPr lang="en-US" sz="2800" dirty="0" smtClean="0">
                <a:latin typeface="Times New Roman" pitchFamily="18" charset="0"/>
                <a:cs typeface="Times New Roman" pitchFamily="18" charset="0"/>
              </a:rPr>
              <a:t>. </a:t>
            </a:r>
          </a:p>
          <a:p>
            <a:pPr marL="342900" marR="0" lvl="0" indent="-342900" defTabSz="457200" rtl="0" eaLnBrk="1" fontAlgn="auto" latinLnBrk="0" hangingPunct="1">
              <a:lnSpc>
                <a:spcPct val="100000"/>
              </a:lnSpc>
              <a:spcBef>
                <a:spcPct val="20000"/>
              </a:spcBef>
              <a:spcAft>
                <a:spcPts val="0"/>
              </a:spcAft>
              <a:buClrTx/>
              <a:buSzTx/>
              <a:tabLst/>
              <a:defRPr/>
            </a:pPr>
            <a:r>
              <a:rPr lang="en-US" sz="2800" dirty="0" smtClean="0">
                <a:latin typeface="Times New Roman" pitchFamily="18" charset="0"/>
                <a:cs typeface="Times New Roman" pitchFamily="18" charset="0"/>
              </a:rPr>
              <a:t>                                  DO          P       IO</a:t>
            </a:r>
          </a:p>
          <a:p>
            <a:pPr marL="342900" marR="0" lvl="0" indent="-342900" defTabSz="457200" rtl="0" eaLnBrk="1" fontAlgn="auto" latinLnBrk="0" hangingPunct="1">
              <a:lnSpc>
                <a:spcPct val="100000"/>
              </a:lnSpc>
              <a:spcBef>
                <a:spcPct val="20000"/>
              </a:spcBef>
              <a:spcAft>
                <a:spcPts val="0"/>
              </a:spcAft>
              <a:buClrTx/>
              <a:buSzTx/>
              <a:buFont typeface="Arial" pitchFamily="34" charset="0"/>
              <a:buChar char="•"/>
              <a:tabLst/>
              <a:defRPr/>
            </a:pPr>
            <a:endParaRPr lang="en-US" sz="2800" dirty="0" smtClean="0">
              <a:latin typeface="Times New Roman" pitchFamily="18" charset="0"/>
              <a:cs typeface="Times New Roman" pitchFamily="18" charset="0"/>
            </a:endParaRPr>
          </a:p>
          <a:p>
            <a:pPr marL="342900" marR="0" lvl="0" indent="-342900" defTabSz="457200" rtl="0" eaLnBrk="1" fontAlgn="auto" latinLnBrk="0" hangingPunct="1">
              <a:lnSpc>
                <a:spcPct val="100000"/>
              </a:lnSpc>
              <a:spcBef>
                <a:spcPct val="20000"/>
              </a:spcBef>
              <a:spcAft>
                <a:spcPts val="0"/>
              </a:spcAft>
              <a:buClrTx/>
              <a:buSzTx/>
              <a:buFont typeface="Arial" pitchFamily="34" charset="0"/>
              <a:buChar char="•"/>
              <a:tabLst/>
              <a:defRPr/>
            </a:pPr>
            <a:r>
              <a:rPr lang="en-US" sz="2800" dirty="0" smtClean="0">
                <a:latin typeface="Times New Roman" pitchFamily="18" charset="0"/>
                <a:cs typeface="Times New Roman" pitchFamily="18" charset="0"/>
              </a:rPr>
              <a:t>In other instances, the indirect object comes before the direct object. </a:t>
            </a:r>
          </a:p>
          <a:p>
            <a:pPr marL="342900" marR="0" lvl="0" indent="-342900" defTabSz="457200" rtl="0" eaLnBrk="1" fontAlgn="auto" latinLnBrk="0" hangingPunct="1">
              <a:lnSpc>
                <a:spcPct val="100000"/>
              </a:lnSpc>
              <a:spcBef>
                <a:spcPct val="20000"/>
              </a:spcBef>
              <a:spcAft>
                <a:spcPts val="0"/>
              </a:spcAft>
              <a:buClrTx/>
              <a:buSzTx/>
              <a:tabLst/>
              <a:defRPr/>
            </a:pPr>
            <a:r>
              <a:rPr lang="en-US" sz="2800" dirty="0" smtClean="0">
                <a:latin typeface="Times New Roman" pitchFamily="18" charset="0"/>
                <a:cs typeface="Times New Roman" pitchFamily="18" charset="0"/>
              </a:rPr>
              <a:t>    E.g. Kofi gave   </a:t>
            </a:r>
            <a:r>
              <a:rPr lang="en-US" sz="2800" b="1" dirty="0" smtClean="0">
                <a:latin typeface="Times New Roman" pitchFamily="18" charset="0"/>
                <a:cs typeface="Times New Roman" pitchFamily="18" charset="0"/>
              </a:rPr>
              <a:t>Mary</a:t>
            </a:r>
            <a:r>
              <a:rPr lang="en-US" sz="2800" dirty="0" smtClean="0">
                <a:latin typeface="Times New Roman" pitchFamily="18" charset="0"/>
                <a:cs typeface="Times New Roman" pitchFamily="18" charset="0"/>
              </a:rPr>
              <a:t>    </a:t>
            </a:r>
            <a:r>
              <a:rPr lang="en-US" sz="2800" b="1" dirty="0" smtClean="0">
                <a:latin typeface="Times New Roman" pitchFamily="18" charset="0"/>
                <a:cs typeface="Times New Roman" pitchFamily="18" charset="0"/>
              </a:rPr>
              <a:t>the book</a:t>
            </a:r>
            <a:r>
              <a:rPr lang="en-US" sz="2800" dirty="0" smtClean="0">
                <a:latin typeface="Times New Roman" pitchFamily="18" charset="0"/>
                <a:cs typeface="Times New Roman" pitchFamily="18" charset="0"/>
              </a:rPr>
              <a:t>. </a:t>
            </a:r>
          </a:p>
          <a:p>
            <a:pPr marL="342900" marR="0" lvl="0" indent="-342900" defTabSz="457200" rtl="0" eaLnBrk="1" fontAlgn="auto" latinLnBrk="0" hangingPunct="1">
              <a:lnSpc>
                <a:spcPct val="100000"/>
              </a:lnSpc>
              <a:spcBef>
                <a:spcPct val="20000"/>
              </a:spcBef>
              <a:spcAft>
                <a:spcPts val="0"/>
              </a:spcAft>
              <a:buClrTx/>
              <a:buSzTx/>
              <a:tabLst/>
              <a:defRPr/>
            </a:pPr>
            <a:r>
              <a:rPr lang="en-US" sz="2800" dirty="0" smtClean="0">
                <a:latin typeface="Times New Roman" pitchFamily="18" charset="0"/>
                <a:cs typeface="Times New Roman" pitchFamily="18" charset="0"/>
              </a:rPr>
              <a:t>                               IO          DO</a:t>
            </a:r>
          </a:p>
          <a:p>
            <a:pPr marL="342900" marR="0" lvl="0" indent="-342900" defTabSz="457200" rtl="0" eaLnBrk="1" fontAlgn="auto" latinLnBrk="0" hangingPunct="1">
              <a:lnSpc>
                <a:spcPct val="100000"/>
              </a:lnSpc>
              <a:spcBef>
                <a:spcPct val="20000"/>
              </a:spcBef>
              <a:spcAft>
                <a:spcPts val="0"/>
              </a:spcAft>
              <a:buClrTx/>
              <a:buSzTx/>
              <a:tabLst/>
              <a:defRPr/>
            </a:pPr>
            <a:endParaRPr lang="en-US" sz="2800" dirty="0" smtClean="0">
              <a:latin typeface="Times New Roman" pitchFamily="18" charset="0"/>
              <a:cs typeface="Times New Roman" pitchFamily="18" charset="0"/>
            </a:endParaRPr>
          </a:p>
          <a:p>
            <a:pPr marL="342900" marR="0" lvl="0" indent="-342900" defTabSz="457200" rtl="0" eaLnBrk="1" fontAlgn="auto" latinLnBrk="0" hangingPunct="1">
              <a:lnSpc>
                <a:spcPct val="100000"/>
              </a:lnSpc>
              <a:spcBef>
                <a:spcPct val="20000"/>
              </a:spcBef>
              <a:spcAft>
                <a:spcPts val="0"/>
              </a:spcAft>
              <a:buClrTx/>
              <a:buSzTx/>
              <a:tabLst/>
              <a:defRPr/>
            </a:pPr>
            <a:r>
              <a:rPr lang="en-US" sz="2800" dirty="0" smtClean="0">
                <a:latin typeface="Times New Roman" pitchFamily="18" charset="0"/>
                <a:cs typeface="Times New Roman" pitchFamily="18" charset="0"/>
              </a:rPr>
              <a:t> </a:t>
            </a:r>
          </a:p>
          <a:p>
            <a:pPr marL="342900" marR="0" lvl="0" indent="-342900" defTabSz="457200" rtl="0" eaLnBrk="1" fontAlgn="auto" latinLnBrk="0" hangingPunct="1">
              <a:lnSpc>
                <a:spcPct val="100000"/>
              </a:lnSpc>
              <a:spcBef>
                <a:spcPct val="20000"/>
              </a:spcBef>
              <a:spcAft>
                <a:spcPts val="0"/>
              </a:spcAft>
              <a:buClrTx/>
              <a:buSzTx/>
              <a:tabLst/>
              <a:defRPr/>
            </a:pPr>
            <a:endParaRPr lang="en-US" sz="2800" dirty="0" smtClean="0">
              <a:latin typeface="Times New Roman" pitchFamily="18" charset="0"/>
              <a:cs typeface="Times New Roman" pitchFamily="18" charset="0"/>
            </a:endParaRPr>
          </a:p>
          <a:p>
            <a:pPr marL="342900" marR="0" lvl="0" indent="-342900" defTabSz="457200" rtl="0" eaLnBrk="1" fontAlgn="auto" latinLnBrk="0" hangingPunct="1">
              <a:lnSpc>
                <a:spcPct val="100000"/>
              </a:lnSpc>
              <a:spcBef>
                <a:spcPct val="20000"/>
              </a:spcBef>
              <a:spcAft>
                <a:spcPts val="0"/>
              </a:spcAft>
              <a:buClrTx/>
              <a:buSzTx/>
              <a:tabLst/>
              <a:defRPr/>
            </a:pPr>
            <a:r>
              <a:rPr lang="en-US" sz="2800" dirty="0" smtClean="0">
                <a:latin typeface="Times New Roman" pitchFamily="18" charset="0"/>
                <a:cs typeface="Times New Roman" pitchFamily="18" charset="0"/>
              </a:rPr>
              <a:t>    </a:t>
            </a:r>
          </a:p>
          <a:p>
            <a:pPr marL="342900" marR="0" lvl="0" indent="-342900" defTabSz="457200" rtl="0" eaLnBrk="1" fontAlgn="auto" latinLnBrk="0" hangingPunct="1">
              <a:lnSpc>
                <a:spcPct val="100000"/>
              </a:lnSpc>
              <a:spcBef>
                <a:spcPct val="20000"/>
              </a:spcBef>
              <a:spcAft>
                <a:spcPts val="0"/>
              </a:spcAft>
              <a:buClrTx/>
              <a:buSzTx/>
              <a:tabLst/>
              <a:defRPr/>
            </a:pPr>
            <a:endParaRPr lang="en-US" sz="2800" dirty="0" smtClean="0">
              <a:latin typeface="Times New Roman" pitchFamily="18" charset="0"/>
              <a:cs typeface="Times New Roman" pitchFamily="18" charset="0"/>
            </a:endParaRPr>
          </a:p>
          <a:p>
            <a:pPr marL="342900" marR="0" lvl="0" indent="-342900" defTabSz="457200" rtl="0" eaLnBrk="1" fontAlgn="auto" latinLnBrk="0" hangingPunct="1">
              <a:lnSpc>
                <a:spcPct val="100000"/>
              </a:lnSpc>
              <a:spcBef>
                <a:spcPct val="20000"/>
              </a:spcBef>
              <a:spcAft>
                <a:spcPts val="0"/>
              </a:spcAft>
              <a:buClrTx/>
              <a:buSzTx/>
              <a:tabLst/>
              <a:defRPr/>
            </a:pPr>
            <a:endParaRPr lang="en-US" sz="2800" dirty="0" smtClean="0">
              <a:latin typeface="Times New Roman" pitchFamily="18" charset="0"/>
              <a:cs typeface="Times New Roman" pitchFamily="18" charset="0"/>
            </a:endParaRPr>
          </a:p>
          <a:p>
            <a:pPr marL="342900" marR="0" lvl="0" indent="-342900" defTabSz="457200" rtl="0" eaLnBrk="1" fontAlgn="auto" latinLnBrk="0" hangingPunct="1">
              <a:lnSpc>
                <a:spcPct val="100000"/>
              </a:lnSpc>
              <a:spcBef>
                <a:spcPct val="20000"/>
              </a:spcBef>
              <a:spcAft>
                <a:spcPts val="0"/>
              </a:spcAft>
              <a:buClrTx/>
              <a:buSzTx/>
              <a:tabLst/>
              <a:defRPr/>
            </a:pPr>
            <a:endParaRPr lang="en-US" sz="2800" dirty="0" smtClean="0">
              <a:latin typeface="Times New Roman" pitchFamily="18" charset="0"/>
              <a:cs typeface="Times New Roman" pitchFamily="18" charset="0"/>
            </a:endParaRPr>
          </a:p>
          <a:p>
            <a:pPr marL="342900" marR="0" lvl="0" indent="-342900" defTabSz="457200" rtl="0" eaLnBrk="1" fontAlgn="auto" latinLnBrk="0" hangingPunct="1">
              <a:lnSpc>
                <a:spcPct val="100000"/>
              </a:lnSpc>
              <a:spcBef>
                <a:spcPct val="20000"/>
              </a:spcBef>
              <a:spcAft>
                <a:spcPts val="0"/>
              </a:spcAft>
              <a:buClrTx/>
              <a:buSzTx/>
              <a:tabLst/>
              <a:defRPr/>
            </a:pPr>
            <a:r>
              <a:rPr lang="en-US" sz="2800" dirty="0" smtClean="0">
                <a:latin typeface="Times New Roman" pitchFamily="18" charset="0"/>
                <a:cs typeface="Times New Roman" pitchFamily="18" charset="0"/>
              </a:rPr>
              <a:t>      </a:t>
            </a:r>
            <a:endParaRPr kumimoji="0" lang="en-US" sz="280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spTree>
    <p:extLst>
      <p:ext uri="{BB962C8B-B14F-4D97-AF65-F5344CB8AC3E}">
        <p14:creationId xmlns:p14="http://schemas.microsoft.com/office/powerpoint/2010/main" xmlns="" val="3949679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68962"/>
          </a:xfrm>
        </p:spPr>
        <p:txBody>
          <a:bodyPr/>
          <a:lstStyle/>
          <a:p>
            <a:pPr algn="l"/>
            <a:r>
              <a:rPr lang="en-US" dirty="0" smtClean="0"/>
              <a:t/>
            </a:r>
            <a:br>
              <a:rPr lang="en-US" dirty="0" smtClean="0"/>
            </a:br>
            <a:r>
              <a:rPr lang="en-US" dirty="0"/>
              <a:t/>
            </a:r>
            <a:br>
              <a:rPr lang="en-US" dirty="0"/>
            </a:br>
            <a:r>
              <a:rPr lang="en-US" dirty="0" smtClean="0"/>
              <a:t/>
            </a:r>
            <a:br>
              <a:rPr lang="en-US" dirty="0" smtClean="0"/>
            </a:br>
            <a:r>
              <a:rPr lang="en-US" dirty="0" smtClean="0"/>
              <a:t/>
            </a:r>
            <a:br>
              <a:rPr lang="en-US" dirty="0" smtClean="0"/>
            </a:br>
            <a:endParaRPr lang="en-US" sz="4800" b="1" dirty="0"/>
          </a:p>
        </p:txBody>
      </p:sp>
      <p:sp>
        <p:nvSpPr>
          <p:cNvPr id="3" name="Content Placeholder 2"/>
          <p:cNvSpPr txBox="1">
            <a:spLocks/>
          </p:cNvSpPr>
          <p:nvPr/>
        </p:nvSpPr>
        <p:spPr>
          <a:xfrm>
            <a:off x="0" y="0"/>
            <a:ext cx="9220200" cy="6858000"/>
          </a:xfrm>
          <a:prstGeom prst="rect">
            <a:avLst/>
          </a:prstGeom>
        </p:spPr>
        <p:txBody>
          <a:bodyPr>
            <a:normAutofit fontScale="32500" lnSpcReduction="20000"/>
          </a:bodyPr>
          <a:lstStyle/>
          <a:p>
            <a:pPr marL="342900" marR="0" lvl="0" indent="-342900" defTabSz="457200" rtl="0" eaLnBrk="1" fontAlgn="auto" latinLnBrk="0" hangingPunct="1">
              <a:lnSpc>
                <a:spcPct val="100000"/>
              </a:lnSpc>
              <a:spcBef>
                <a:spcPct val="20000"/>
              </a:spcBef>
              <a:spcAft>
                <a:spcPts val="0"/>
              </a:spcAft>
              <a:buClrTx/>
              <a:buSzTx/>
              <a:tabLst/>
              <a:defRPr/>
            </a:pPr>
            <a:r>
              <a:rPr lang="en-US" sz="8600" b="1" dirty="0" smtClean="0">
                <a:latin typeface="Times New Roman" pitchFamily="18" charset="0"/>
                <a:cs typeface="Times New Roman" pitchFamily="18" charset="0"/>
              </a:rPr>
              <a:t>A noun as a complement</a:t>
            </a:r>
          </a:p>
          <a:p>
            <a:pPr marL="342900" marR="0" lvl="0" indent="-342900" defTabSz="457200" rtl="0" eaLnBrk="1" fontAlgn="auto" latinLnBrk="0" hangingPunct="1">
              <a:lnSpc>
                <a:spcPct val="100000"/>
              </a:lnSpc>
              <a:spcBef>
                <a:spcPct val="20000"/>
              </a:spcBef>
              <a:spcAft>
                <a:spcPts val="0"/>
              </a:spcAft>
              <a:buClrTx/>
              <a:buSzTx/>
              <a:tabLst/>
              <a:defRPr/>
            </a:pPr>
            <a:endParaRPr lang="en-US" sz="8600" b="1" dirty="0" smtClean="0">
              <a:latin typeface="Times New Roman" pitchFamily="18" charset="0"/>
              <a:cs typeface="Times New Roman" pitchFamily="18" charset="0"/>
            </a:endParaRPr>
          </a:p>
          <a:p>
            <a:pPr marL="342900" marR="0" lvl="0" indent="-342900" defTabSz="457200" rtl="0" eaLnBrk="1" fontAlgn="auto" latinLnBrk="0" hangingPunct="1">
              <a:lnSpc>
                <a:spcPct val="100000"/>
              </a:lnSpc>
              <a:spcBef>
                <a:spcPct val="20000"/>
              </a:spcBef>
              <a:spcAft>
                <a:spcPts val="0"/>
              </a:spcAft>
              <a:buClrTx/>
              <a:buSzTx/>
              <a:buFont typeface="Arial" pitchFamily="34" charset="0"/>
              <a:buChar char="•"/>
              <a:tabLst/>
              <a:defRPr/>
            </a:pPr>
            <a:r>
              <a:rPr lang="en-US" sz="8600" dirty="0" smtClean="0">
                <a:latin typeface="Times New Roman" pitchFamily="18" charset="0"/>
                <a:cs typeface="Times New Roman" pitchFamily="18" charset="0"/>
              </a:rPr>
              <a:t>Nouns as well as other items such as noun phrases, noun clauses, adjectives or adjective phrases can function as complements in sentences. </a:t>
            </a:r>
          </a:p>
          <a:p>
            <a:pPr marL="342900" marR="0" lvl="0" indent="-342900" defTabSz="457200" rtl="0" eaLnBrk="1" fontAlgn="auto" latinLnBrk="0" hangingPunct="1">
              <a:lnSpc>
                <a:spcPct val="100000"/>
              </a:lnSpc>
              <a:spcBef>
                <a:spcPct val="20000"/>
              </a:spcBef>
              <a:spcAft>
                <a:spcPts val="0"/>
              </a:spcAft>
              <a:buClrTx/>
              <a:buSzTx/>
              <a:buFont typeface="Arial" pitchFamily="34" charset="0"/>
              <a:buChar char="•"/>
              <a:tabLst/>
              <a:defRPr/>
            </a:pPr>
            <a:r>
              <a:rPr lang="en-US" sz="8600" dirty="0" smtClean="0">
                <a:latin typeface="Times New Roman" pitchFamily="18" charset="0"/>
                <a:cs typeface="Times New Roman" pitchFamily="18" charset="0"/>
              </a:rPr>
              <a:t>These items are called subject complements when they follow a copular or linking verb and describe the subject of a clause. </a:t>
            </a:r>
          </a:p>
          <a:p>
            <a:pPr marL="342900" marR="0" lvl="0" indent="-342900" defTabSz="457200" rtl="0" eaLnBrk="1" fontAlgn="auto" latinLnBrk="0" hangingPunct="1">
              <a:lnSpc>
                <a:spcPct val="100000"/>
              </a:lnSpc>
              <a:spcBef>
                <a:spcPct val="20000"/>
              </a:spcBef>
              <a:spcAft>
                <a:spcPts val="0"/>
              </a:spcAft>
              <a:buClrTx/>
              <a:buSzTx/>
              <a:tabLst/>
              <a:defRPr/>
            </a:pPr>
            <a:r>
              <a:rPr lang="en-US" sz="8600" dirty="0" smtClean="0">
                <a:latin typeface="Times New Roman" pitchFamily="18" charset="0"/>
                <a:cs typeface="Times New Roman" pitchFamily="18" charset="0"/>
              </a:rPr>
              <a:t>E.g. My father is </a:t>
            </a:r>
            <a:r>
              <a:rPr lang="en-US" sz="8600" b="1" dirty="0" smtClean="0">
                <a:latin typeface="Times New Roman" pitchFamily="18" charset="0"/>
                <a:cs typeface="Times New Roman" pitchFamily="18" charset="0"/>
              </a:rPr>
              <a:t>a farmer</a:t>
            </a:r>
            <a:r>
              <a:rPr lang="en-US" sz="8600" dirty="0" smtClean="0">
                <a:latin typeface="Times New Roman" pitchFamily="18" charset="0"/>
                <a:cs typeface="Times New Roman" pitchFamily="18" charset="0"/>
              </a:rPr>
              <a:t>. </a:t>
            </a:r>
          </a:p>
          <a:p>
            <a:pPr marL="342900" marR="0" lvl="0" indent="-342900" defTabSz="457200" rtl="0" eaLnBrk="1" fontAlgn="auto" latinLnBrk="0" hangingPunct="1">
              <a:lnSpc>
                <a:spcPct val="100000"/>
              </a:lnSpc>
              <a:spcBef>
                <a:spcPct val="20000"/>
              </a:spcBef>
              <a:spcAft>
                <a:spcPts val="0"/>
              </a:spcAft>
              <a:buClrTx/>
              <a:buSzTx/>
              <a:tabLst/>
              <a:defRPr/>
            </a:pPr>
            <a:endParaRPr lang="en-US" sz="8600" dirty="0" smtClean="0">
              <a:latin typeface="Times New Roman" pitchFamily="18" charset="0"/>
              <a:cs typeface="Times New Roman" pitchFamily="18" charset="0"/>
            </a:endParaRPr>
          </a:p>
          <a:p>
            <a:pPr marL="342900" marR="0" lvl="0" indent="-342900" defTabSz="457200" rtl="0" eaLnBrk="1" fontAlgn="auto" latinLnBrk="0" hangingPunct="1">
              <a:lnSpc>
                <a:spcPct val="100000"/>
              </a:lnSpc>
              <a:spcBef>
                <a:spcPct val="20000"/>
              </a:spcBef>
              <a:spcAft>
                <a:spcPts val="0"/>
              </a:spcAft>
              <a:buClrTx/>
              <a:buSzTx/>
              <a:tabLst/>
              <a:defRPr/>
            </a:pPr>
            <a:r>
              <a:rPr lang="en-US" sz="8600" dirty="0" smtClean="0">
                <a:latin typeface="Times New Roman" pitchFamily="18" charset="0"/>
                <a:cs typeface="Times New Roman" pitchFamily="18" charset="0"/>
              </a:rPr>
              <a:t>They are also called object complements when they directly follow and modify the direct objects of sentences. </a:t>
            </a:r>
          </a:p>
          <a:p>
            <a:pPr marL="342900" marR="0" lvl="0" indent="-342900" defTabSz="457200" rtl="0" eaLnBrk="1" fontAlgn="auto" latinLnBrk="0" hangingPunct="1">
              <a:lnSpc>
                <a:spcPct val="100000"/>
              </a:lnSpc>
              <a:spcBef>
                <a:spcPct val="20000"/>
              </a:spcBef>
              <a:spcAft>
                <a:spcPts val="0"/>
              </a:spcAft>
              <a:buClrTx/>
              <a:buSzTx/>
              <a:tabLst/>
              <a:defRPr/>
            </a:pPr>
            <a:r>
              <a:rPr lang="en-US" sz="8600" dirty="0" smtClean="0">
                <a:latin typeface="Times New Roman" pitchFamily="18" charset="0"/>
                <a:cs typeface="Times New Roman" pitchFamily="18" charset="0"/>
              </a:rPr>
              <a:t>E.g. They consider their puppy </a:t>
            </a:r>
            <a:r>
              <a:rPr lang="en-US" sz="8600" b="1" dirty="0" smtClean="0">
                <a:latin typeface="Times New Roman" pitchFamily="18" charset="0"/>
                <a:cs typeface="Times New Roman" pitchFamily="18" charset="0"/>
              </a:rPr>
              <a:t>their baby</a:t>
            </a:r>
            <a:r>
              <a:rPr lang="en-US" sz="8600" dirty="0" smtClean="0">
                <a:latin typeface="Times New Roman" pitchFamily="18" charset="0"/>
                <a:cs typeface="Times New Roman" pitchFamily="18" charset="0"/>
              </a:rPr>
              <a:t>. </a:t>
            </a:r>
          </a:p>
          <a:p>
            <a:pPr marL="342900" marR="0" lvl="0" indent="-342900" defTabSz="457200" rtl="0" eaLnBrk="1" fontAlgn="auto" latinLnBrk="0" hangingPunct="1">
              <a:lnSpc>
                <a:spcPct val="100000"/>
              </a:lnSpc>
              <a:spcBef>
                <a:spcPct val="20000"/>
              </a:spcBef>
              <a:spcAft>
                <a:spcPts val="0"/>
              </a:spcAft>
              <a:buClrTx/>
              <a:buSzTx/>
              <a:tabLst/>
              <a:defRPr/>
            </a:pPr>
            <a:endParaRPr lang="en-US" sz="8600" dirty="0" smtClean="0">
              <a:latin typeface="Arial" pitchFamily="34" charset="0"/>
              <a:cs typeface="Arial" pitchFamily="34" charset="0"/>
            </a:endParaRPr>
          </a:p>
          <a:p>
            <a:pPr marL="342900" marR="0" lvl="0" indent="-342900" defTabSz="457200" rtl="0" eaLnBrk="1" fontAlgn="auto" latinLnBrk="0" hangingPunct="1">
              <a:lnSpc>
                <a:spcPct val="100000"/>
              </a:lnSpc>
              <a:spcBef>
                <a:spcPct val="20000"/>
              </a:spcBef>
              <a:spcAft>
                <a:spcPts val="0"/>
              </a:spcAft>
              <a:buClrTx/>
              <a:buSzTx/>
              <a:tabLst/>
              <a:defRPr/>
            </a:pPr>
            <a:endParaRPr lang="en-US" sz="2800" dirty="0" smtClean="0">
              <a:latin typeface="Arial" pitchFamily="34" charset="0"/>
              <a:cs typeface="Arial" pitchFamily="34" charset="0"/>
            </a:endParaRPr>
          </a:p>
          <a:p>
            <a:pPr marL="342900" marR="0" lvl="0" indent="-342900" defTabSz="457200" rtl="0" eaLnBrk="1" fontAlgn="auto" latinLnBrk="0" hangingPunct="1">
              <a:lnSpc>
                <a:spcPct val="100000"/>
              </a:lnSpc>
              <a:spcBef>
                <a:spcPct val="20000"/>
              </a:spcBef>
              <a:spcAft>
                <a:spcPts val="0"/>
              </a:spcAft>
              <a:buClrTx/>
              <a:buSzTx/>
              <a:tabLst/>
              <a:defRPr/>
            </a:pPr>
            <a:endParaRPr lang="en-US" sz="2800" dirty="0" smtClean="0">
              <a:latin typeface="Arial" pitchFamily="34" charset="0"/>
              <a:cs typeface="Arial" pitchFamily="34" charset="0"/>
            </a:endParaRPr>
          </a:p>
          <a:p>
            <a:pPr marL="342900" marR="0" lvl="0" indent="-342900" defTabSz="457200" rtl="0" eaLnBrk="1" fontAlgn="auto" latinLnBrk="0" hangingPunct="1">
              <a:lnSpc>
                <a:spcPct val="100000"/>
              </a:lnSpc>
              <a:spcBef>
                <a:spcPct val="20000"/>
              </a:spcBef>
              <a:spcAft>
                <a:spcPts val="0"/>
              </a:spcAft>
              <a:buClrTx/>
              <a:buSzTx/>
              <a:tabLst/>
              <a:defRPr/>
            </a:pPr>
            <a:r>
              <a:rPr lang="en-US" sz="2800" dirty="0" smtClean="0">
                <a:latin typeface="Arial" pitchFamily="34" charset="0"/>
                <a:cs typeface="Arial" pitchFamily="34" charset="0"/>
              </a:rPr>
              <a:t> </a:t>
            </a:r>
          </a:p>
          <a:p>
            <a:pPr marL="342900" marR="0" lvl="0" indent="-342900" defTabSz="457200" rtl="0" eaLnBrk="1" fontAlgn="auto" latinLnBrk="0" hangingPunct="1">
              <a:lnSpc>
                <a:spcPct val="100000"/>
              </a:lnSpc>
              <a:spcBef>
                <a:spcPct val="20000"/>
              </a:spcBef>
              <a:spcAft>
                <a:spcPts val="0"/>
              </a:spcAft>
              <a:buClrTx/>
              <a:buSzTx/>
              <a:tabLst/>
              <a:defRPr/>
            </a:pPr>
            <a:endParaRPr lang="en-US" sz="2800" dirty="0" smtClean="0">
              <a:latin typeface="Arial" pitchFamily="34" charset="0"/>
              <a:cs typeface="Arial" pitchFamily="34" charset="0"/>
            </a:endParaRPr>
          </a:p>
          <a:p>
            <a:pPr marL="342900" marR="0" lvl="0" indent="-342900" defTabSz="457200" rtl="0" eaLnBrk="1" fontAlgn="auto" latinLnBrk="0" hangingPunct="1">
              <a:lnSpc>
                <a:spcPct val="100000"/>
              </a:lnSpc>
              <a:spcBef>
                <a:spcPct val="20000"/>
              </a:spcBef>
              <a:spcAft>
                <a:spcPts val="0"/>
              </a:spcAft>
              <a:buClrTx/>
              <a:buSzTx/>
              <a:tabLst/>
              <a:defRPr/>
            </a:pPr>
            <a:r>
              <a:rPr lang="en-US" sz="2800" dirty="0" smtClean="0">
                <a:latin typeface="Arial" pitchFamily="34" charset="0"/>
                <a:cs typeface="Arial" pitchFamily="34" charset="0"/>
              </a:rPr>
              <a:t>    </a:t>
            </a:r>
          </a:p>
          <a:p>
            <a:pPr marL="342900" marR="0" lvl="0" indent="-342900" defTabSz="457200" rtl="0" eaLnBrk="1" fontAlgn="auto" latinLnBrk="0" hangingPunct="1">
              <a:lnSpc>
                <a:spcPct val="100000"/>
              </a:lnSpc>
              <a:spcBef>
                <a:spcPct val="20000"/>
              </a:spcBef>
              <a:spcAft>
                <a:spcPts val="0"/>
              </a:spcAft>
              <a:buClrTx/>
              <a:buSzTx/>
              <a:tabLst/>
              <a:defRPr/>
            </a:pPr>
            <a:endParaRPr lang="en-US" sz="2800" dirty="0" smtClean="0">
              <a:latin typeface="Arial" pitchFamily="34" charset="0"/>
              <a:cs typeface="Arial" pitchFamily="34" charset="0"/>
            </a:endParaRPr>
          </a:p>
          <a:p>
            <a:pPr marL="342900" marR="0" lvl="0" indent="-342900" defTabSz="457200" rtl="0" eaLnBrk="1" fontAlgn="auto" latinLnBrk="0" hangingPunct="1">
              <a:lnSpc>
                <a:spcPct val="100000"/>
              </a:lnSpc>
              <a:spcBef>
                <a:spcPct val="20000"/>
              </a:spcBef>
              <a:spcAft>
                <a:spcPts val="0"/>
              </a:spcAft>
              <a:buClrTx/>
              <a:buSzTx/>
              <a:tabLst/>
              <a:defRPr/>
            </a:pPr>
            <a:endParaRPr lang="en-US" sz="2800" dirty="0" smtClean="0">
              <a:latin typeface="Arial" pitchFamily="34" charset="0"/>
              <a:cs typeface="Arial" pitchFamily="34" charset="0"/>
            </a:endParaRPr>
          </a:p>
          <a:p>
            <a:pPr marL="342900" marR="0" lvl="0" indent="-342900" defTabSz="457200" rtl="0" eaLnBrk="1" fontAlgn="auto" latinLnBrk="0" hangingPunct="1">
              <a:lnSpc>
                <a:spcPct val="100000"/>
              </a:lnSpc>
              <a:spcBef>
                <a:spcPct val="20000"/>
              </a:spcBef>
              <a:spcAft>
                <a:spcPts val="0"/>
              </a:spcAft>
              <a:buClrTx/>
              <a:buSzTx/>
              <a:tabLst/>
              <a:defRPr/>
            </a:pPr>
            <a:endParaRPr lang="en-US" sz="2800" dirty="0" smtClean="0">
              <a:latin typeface="Arial" pitchFamily="34" charset="0"/>
              <a:cs typeface="Arial" pitchFamily="34" charset="0"/>
            </a:endParaRPr>
          </a:p>
          <a:p>
            <a:pPr marL="342900" marR="0" lvl="0" indent="-342900" defTabSz="457200" rtl="0" eaLnBrk="1" fontAlgn="auto" latinLnBrk="0" hangingPunct="1">
              <a:lnSpc>
                <a:spcPct val="100000"/>
              </a:lnSpc>
              <a:spcBef>
                <a:spcPct val="20000"/>
              </a:spcBef>
              <a:spcAft>
                <a:spcPts val="0"/>
              </a:spcAft>
              <a:buClrTx/>
              <a:buSzTx/>
              <a:tabLst/>
              <a:defRPr/>
            </a:pPr>
            <a:r>
              <a:rPr lang="en-US" sz="2800" dirty="0" smtClean="0">
                <a:latin typeface="Arial" pitchFamily="34" charset="0"/>
                <a:cs typeface="Arial" pitchFamily="34" charset="0"/>
              </a:rPr>
              <a:t>      </a:t>
            </a:r>
            <a:endParaRPr kumimoji="0" lang="en-US" sz="280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xmlns="" val="34628143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6"/>
            <a:ext cx="8686800" cy="5702093"/>
          </a:xfrm>
        </p:spPr>
        <p:txBody>
          <a:bodyPr/>
          <a:lstStyle/>
          <a:p>
            <a:pPr algn="l"/>
            <a:r>
              <a:rPr lang="en-GB" sz="2800" b="1" dirty="0" smtClean="0">
                <a:latin typeface="Times New Roman" pitchFamily="18" charset="0"/>
                <a:cs typeface="Times New Roman" pitchFamily="18" charset="0"/>
              </a:rPr>
              <a:t>A noun as an appositive</a:t>
            </a:r>
            <a:br>
              <a:rPr lang="en-GB" sz="2800" b="1"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
            </a:r>
            <a:br>
              <a:rPr lang="en-GB" sz="2800"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A noun, a pronoun, a noun phrase or a noun clause set beside another noun or pronoun to rename, explain or identify it is termed as an appositive. </a:t>
            </a:r>
            <a:br>
              <a:rPr lang="en-GB" sz="2800"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E.g. Nana </a:t>
            </a:r>
            <a:r>
              <a:rPr lang="en-GB" sz="2800" dirty="0" err="1" smtClean="0">
                <a:latin typeface="Times New Roman" pitchFamily="18" charset="0"/>
                <a:cs typeface="Times New Roman" pitchFamily="18" charset="0"/>
              </a:rPr>
              <a:t>Akufo</a:t>
            </a:r>
            <a:r>
              <a:rPr lang="en-GB" sz="2800" dirty="0" smtClean="0">
                <a:latin typeface="Times New Roman" pitchFamily="18" charset="0"/>
                <a:cs typeface="Times New Roman" pitchFamily="18" charset="0"/>
              </a:rPr>
              <a:t> </a:t>
            </a:r>
            <a:r>
              <a:rPr lang="en-GB" sz="2800" dirty="0" err="1" smtClean="0">
                <a:latin typeface="Times New Roman" pitchFamily="18" charset="0"/>
                <a:cs typeface="Times New Roman" pitchFamily="18" charset="0"/>
              </a:rPr>
              <a:t>Addo</a:t>
            </a:r>
            <a:r>
              <a:rPr lang="en-GB" sz="2800" dirty="0" smtClean="0">
                <a:latin typeface="Times New Roman" pitchFamily="18" charset="0"/>
                <a:cs typeface="Times New Roman" pitchFamily="18" charset="0"/>
              </a:rPr>
              <a:t>, </a:t>
            </a:r>
            <a:r>
              <a:rPr lang="en-GB" sz="2800" b="1" dirty="0" smtClean="0">
                <a:latin typeface="Times New Roman" pitchFamily="18" charset="0"/>
                <a:cs typeface="Times New Roman" pitchFamily="18" charset="0"/>
              </a:rPr>
              <a:t>the President of Ghana</a:t>
            </a:r>
            <a:r>
              <a:rPr lang="en-GB" sz="2800" dirty="0" smtClean="0">
                <a:latin typeface="Times New Roman" pitchFamily="18" charset="0"/>
                <a:cs typeface="Times New Roman" pitchFamily="18" charset="0"/>
              </a:rPr>
              <a:t>, is a brave man. </a:t>
            </a:r>
            <a:br>
              <a:rPr lang="en-GB" sz="2800"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
            </a:r>
            <a:br>
              <a:rPr lang="en-GB" sz="2800"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 There are other instances where the appositive precedes the word that it renames, explains or identifies. </a:t>
            </a:r>
            <a:br>
              <a:rPr lang="en-GB" sz="2800"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E.g. </a:t>
            </a:r>
            <a:r>
              <a:rPr lang="en-GB" sz="2800" b="1" dirty="0" smtClean="0">
                <a:latin typeface="Times New Roman" pitchFamily="18" charset="0"/>
                <a:cs typeface="Times New Roman" pitchFamily="18" charset="0"/>
              </a:rPr>
              <a:t>The president of Ghana</a:t>
            </a:r>
            <a:r>
              <a:rPr lang="en-GB" sz="2800" dirty="0" smtClean="0">
                <a:latin typeface="Times New Roman" pitchFamily="18" charset="0"/>
                <a:cs typeface="Times New Roman" pitchFamily="18" charset="0"/>
              </a:rPr>
              <a:t>, Nana </a:t>
            </a:r>
            <a:r>
              <a:rPr lang="en-GB" sz="2800" dirty="0" err="1" smtClean="0">
                <a:latin typeface="Times New Roman" pitchFamily="18" charset="0"/>
                <a:cs typeface="Times New Roman" pitchFamily="18" charset="0"/>
              </a:rPr>
              <a:t>Akufo</a:t>
            </a:r>
            <a:r>
              <a:rPr lang="en-GB" sz="2800" dirty="0" smtClean="0">
                <a:latin typeface="Times New Roman" pitchFamily="18" charset="0"/>
                <a:cs typeface="Times New Roman" pitchFamily="18" charset="0"/>
              </a:rPr>
              <a:t> </a:t>
            </a:r>
            <a:r>
              <a:rPr lang="en-GB" sz="2800" dirty="0" err="1" smtClean="0">
                <a:latin typeface="Times New Roman" pitchFamily="18" charset="0"/>
                <a:cs typeface="Times New Roman" pitchFamily="18" charset="0"/>
              </a:rPr>
              <a:t>Addo</a:t>
            </a:r>
            <a:r>
              <a:rPr lang="en-GB" sz="2800" dirty="0" smtClean="0">
                <a:latin typeface="Times New Roman" pitchFamily="18" charset="0"/>
                <a:cs typeface="Times New Roman" pitchFamily="18" charset="0"/>
              </a:rPr>
              <a:t>, is a brave man. </a:t>
            </a:r>
            <a:r>
              <a:rPr lang="en-GB" sz="2800" dirty="0" smtClean="0"/>
              <a:t/>
            </a:r>
            <a:br>
              <a:rPr lang="en-GB" sz="2800" dirty="0" smtClean="0"/>
            </a:br>
            <a:r>
              <a:rPr lang="en-GB" sz="2800" dirty="0" smtClean="0"/>
              <a:t/>
            </a:r>
            <a:br>
              <a:rPr lang="en-GB" sz="2800" dirty="0" smtClean="0"/>
            </a:br>
            <a:r>
              <a:rPr lang="en-GB" sz="2800" dirty="0" smtClean="0"/>
              <a:t/>
            </a:r>
            <a:br>
              <a:rPr lang="en-GB" sz="2800" dirty="0" smtClean="0"/>
            </a:br>
            <a:r>
              <a:rPr lang="en-GB" sz="2800" dirty="0" smtClean="0"/>
              <a:t/>
            </a:r>
            <a:br>
              <a:rPr lang="en-GB" sz="2800" dirty="0" smtClean="0"/>
            </a:br>
            <a:r>
              <a:rPr lang="en-GB" sz="2800" dirty="0" smtClean="0"/>
              <a:t/>
            </a:r>
            <a:br>
              <a:rPr lang="en-GB" sz="2800" dirty="0" smtClean="0"/>
            </a:br>
            <a:endParaRPr lang="en-GB"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0" y="0"/>
            <a:ext cx="9070848" cy="6781800"/>
          </a:xfrm>
          <a:prstGeom prst="rect">
            <a:avLst/>
          </a:prstGeom>
        </p:spPr>
        <p:txBody>
          <a:bodyPr>
            <a:normAutofit fontScale="92500" lnSpcReduction="20000"/>
          </a:bodyPr>
          <a:lstStyle/>
          <a:p>
            <a:pPr marL="342900" marR="0" lvl="0" indent="-342900" algn="ctr" defTabSz="457200" rtl="0" eaLnBrk="1" fontAlgn="auto" latinLnBrk="0" hangingPunct="1">
              <a:lnSpc>
                <a:spcPct val="100000"/>
              </a:lnSpc>
              <a:spcBef>
                <a:spcPct val="20000"/>
              </a:spcBef>
              <a:spcAft>
                <a:spcPts val="0"/>
              </a:spcAft>
              <a:buClrTx/>
              <a:buSzTx/>
              <a:buFont typeface="Arial"/>
              <a:buNone/>
              <a:tabLst/>
              <a:defRPr/>
            </a:pPr>
            <a:r>
              <a:rPr lang="en-GB" sz="3200" b="1" dirty="0" smtClean="0"/>
              <a:t>VERBS</a:t>
            </a:r>
            <a:endParaRPr kumimoji="0" lang="en-GB" sz="3200" b="1"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r>
              <a:rPr lang="en-GB" sz="3000" noProof="0" dirty="0" smtClean="0">
                <a:latin typeface="Times New Roman" pitchFamily="18" charset="0"/>
                <a:cs typeface="Times New Roman" pitchFamily="18" charset="0"/>
              </a:rPr>
              <a:t>Traditionally, verbs have been identified as action words or doing words.  </a:t>
            </a:r>
            <a:endParaRPr kumimoji="0" lang="en-GB" sz="3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marR="0" lvl="0" indent="-342900" algn="ctr" defTabSz="457200" rtl="0" eaLnBrk="1" fontAlgn="auto" latinLnBrk="0" hangingPunct="1">
              <a:lnSpc>
                <a:spcPct val="100000"/>
              </a:lnSpc>
              <a:spcBef>
                <a:spcPct val="20000"/>
              </a:spcBef>
              <a:spcAft>
                <a:spcPts val="0"/>
              </a:spcAft>
              <a:buClrTx/>
              <a:buSzTx/>
              <a:buFont typeface="Arial"/>
              <a:buNone/>
              <a:tabLst/>
              <a:defRPr/>
            </a:pPr>
            <a:r>
              <a:rPr kumimoji="0" lang="en-GB" sz="3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Identification of</a:t>
            </a:r>
            <a:r>
              <a:rPr kumimoji="0" lang="en-GB" sz="3000" b="1" i="0" u="none" strike="noStrike" kern="1200" cap="none" spc="0" normalizeH="0" noProof="0" dirty="0" smtClean="0">
                <a:ln>
                  <a:noFill/>
                </a:ln>
                <a:solidFill>
                  <a:schemeClr val="tx1"/>
                </a:solidFill>
                <a:effectLst/>
                <a:uLnTx/>
                <a:uFillTx/>
                <a:latin typeface="Times New Roman" pitchFamily="18" charset="0"/>
                <a:cs typeface="Times New Roman" pitchFamily="18" charset="0"/>
              </a:rPr>
              <a:t> verbs </a:t>
            </a:r>
            <a:r>
              <a:rPr kumimoji="0" lang="en-GB" sz="3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according to form/structure and their functions </a:t>
            </a:r>
          </a:p>
          <a:p>
            <a:pPr marL="342900" marR="0" lvl="0" indent="-342900" algn="l" defTabSz="457200" rtl="0" eaLnBrk="1" fontAlgn="auto" latinLnBrk="0" hangingPunct="1">
              <a:lnSpc>
                <a:spcPct val="100000"/>
              </a:lnSpc>
              <a:spcBef>
                <a:spcPct val="20000"/>
              </a:spcBef>
              <a:spcAft>
                <a:spcPts val="0"/>
              </a:spcAft>
              <a:buClrTx/>
              <a:buSzTx/>
              <a:buFont typeface="Arial" pitchFamily="34" charset="0"/>
              <a:buChar char="•"/>
              <a:tabLst/>
              <a:defRPr/>
            </a:pPr>
            <a:r>
              <a:rPr lang="en-GB" sz="3000" dirty="0" smtClean="0">
                <a:latin typeface="Times New Roman" pitchFamily="18" charset="0"/>
                <a:cs typeface="Times New Roman" pitchFamily="18" charset="0"/>
              </a:rPr>
              <a:t>Verbs can also be identified based on their form or the structural changes they undergo usually to indicate tense. Tense can be said to be the shape a verb takes to indicate distinctions in time. </a:t>
            </a:r>
          </a:p>
          <a:p>
            <a:pPr marL="342900" marR="0" lvl="0" indent="-342900" algn="l" defTabSz="457200" rtl="0" eaLnBrk="1" fontAlgn="auto" latinLnBrk="0" hangingPunct="1">
              <a:lnSpc>
                <a:spcPct val="100000"/>
              </a:lnSpc>
              <a:spcBef>
                <a:spcPct val="20000"/>
              </a:spcBef>
              <a:spcAft>
                <a:spcPts val="0"/>
              </a:spcAft>
              <a:buClrTx/>
              <a:buSzTx/>
              <a:buFont typeface="Arial" pitchFamily="34" charset="0"/>
              <a:buChar char="•"/>
              <a:tabLst/>
              <a:defRPr/>
            </a:pPr>
            <a:r>
              <a:rPr kumimoji="0" lang="en-GB" sz="3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There are instances where the verb</a:t>
            </a:r>
            <a:r>
              <a:rPr kumimoji="0" lang="en-GB" sz="3000" b="0" i="0" u="none" strike="noStrike" kern="1200" cap="none" spc="0" normalizeH="0" noProof="0" dirty="0" smtClean="0">
                <a:ln>
                  <a:noFill/>
                </a:ln>
                <a:solidFill>
                  <a:schemeClr val="tx1"/>
                </a:solidFill>
                <a:effectLst/>
                <a:uLnTx/>
                <a:uFillTx/>
                <a:latin typeface="Times New Roman" pitchFamily="18" charset="0"/>
                <a:cs typeface="Times New Roman" pitchFamily="18" charset="0"/>
              </a:rPr>
              <a:t> </a:t>
            </a:r>
            <a:r>
              <a:rPr kumimoji="0" lang="en-GB" sz="3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does not undergo any structural change</a:t>
            </a:r>
            <a:r>
              <a:rPr kumimoji="0" lang="en-GB" sz="3000" b="0" i="0" u="none" strike="noStrike" kern="1200" cap="none" spc="0" normalizeH="0" noProof="0" dirty="0" smtClean="0">
                <a:ln>
                  <a:noFill/>
                </a:ln>
                <a:solidFill>
                  <a:schemeClr val="tx1"/>
                </a:solidFill>
                <a:effectLst/>
                <a:uLnTx/>
                <a:uFillTx/>
                <a:latin typeface="Times New Roman" pitchFamily="18" charset="0"/>
                <a:cs typeface="Times New Roman" pitchFamily="18" charset="0"/>
              </a:rPr>
              <a:t> and this is referred to as the verb in its bare form. This form of the verb is used with the first person singular or plural and the third person plural as subjects of sentences. </a:t>
            </a:r>
          </a:p>
          <a:p>
            <a:pPr marL="342900" marR="0" lvl="0" indent="-342900" algn="l" defTabSz="457200" rtl="0" eaLnBrk="1" fontAlgn="auto" latinLnBrk="0" hangingPunct="1">
              <a:lnSpc>
                <a:spcPct val="100000"/>
              </a:lnSpc>
              <a:spcBef>
                <a:spcPct val="20000"/>
              </a:spcBef>
              <a:spcAft>
                <a:spcPts val="0"/>
              </a:spcAft>
              <a:buClrTx/>
              <a:buSzTx/>
              <a:tabLst/>
              <a:defRPr/>
            </a:pPr>
            <a:r>
              <a:rPr lang="en-GB" sz="3000" baseline="0" dirty="0" smtClean="0">
                <a:latin typeface="Times New Roman" pitchFamily="18" charset="0"/>
                <a:cs typeface="Times New Roman" pitchFamily="18" charset="0"/>
              </a:rPr>
              <a:t>E.g. The woman and her son / they </a:t>
            </a:r>
            <a:r>
              <a:rPr lang="en-GB" sz="3000" b="1" baseline="0" dirty="0" smtClean="0">
                <a:latin typeface="Times New Roman" pitchFamily="18" charset="0"/>
                <a:cs typeface="Times New Roman" pitchFamily="18" charset="0"/>
              </a:rPr>
              <a:t>eat</a:t>
            </a:r>
            <a:r>
              <a:rPr lang="en-GB" sz="3000" baseline="0" dirty="0" smtClean="0">
                <a:latin typeface="Times New Roman" pitchFamily="18" charset="0"/>
                <a:cs typeface="Times New Roman" pitchFamily="18" charset="0"/>
              </a:rPr>
              <a:t>. </a:t>
            </a:r>
          </a:p>
          <a:p>
            <a:pPr marL="342900" marR="0" lvl="0" indent="-342900" algn="l" defTabSz="457200" rtl="0" eaLnBrk="1" fontAlgn="auto" latinLnBrk="0" hangingPunct="1">
              <a:lnSpc>
                <a:spcPct val="100000"/>
              </a:lnSpc>
              <a:spcBef>
                <a:spcPct val="20000"/>
              </a:spcBef>
              <a:spcAft>
                <a:spcPts val="0"/>
              </a:spcAft>
              <a:buClrTx/>
              <a:buSzTx/>
              <a:tabLst/>
              <a:defRPr/>
            </a:pPr>
            <a:r>
              <a:rPr kumimoji="0" lang="en-GB" sz="3200" b="0" i="0" u="none" strike="noStrike" kern="1200" cap="none" spc="0" normalizeH="0" noProof="0" dirty="0" smtClean="0">
                <a:ln>
                  <a:noFill/>
                </a:ln>
                <a:solidFill>
                  <a:schemeClr val="tx1"/>
                </a:solidFill>
                <a:effectLst/>
                <a:uLnTx/>
                <a:uFillTx/>
                <a:latin typeface="+mn-lt"/>
                <a:ea typeface="+mn-ea"/>
                <a:cs typeface="+mn-cs"/>
              </a:rPr>
              <a:t>        </a:t>
            </a:r>
            <a:endParaRPr kumimoji="0" lang="en-GB" sz="3200" b="1"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None/>
              <a:tabLst/>
              <a:defRPr/>
            </a:pPr>
            <a:endParaRPr kumimoji="0" lang="en-GB"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tabLst/>
              <a:defRPr/>
            </a:pPr>
            <a:endParaRPr kumimoji="0" lang="en-GB"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endParaRPr kumimoji="0" lang="en-GB"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185530" y="0"/>
            <a:ext cx="8885318" cy="6781800"/>
          </a:xfrm>
          <a:prstGeom prst="rect">
            <a:avLst/>
          </a:prstGeom>
        </p:spPr>
        <p:txBody>
          <a:bodyPr>
            <a:normAutofit/>
          </a:bodyPr>
          <a:lstStyle/>
          <a:p>
            <a:pPr marL="342900" marR="0" lvl="0" indent="-342900" algn="ctr" defTabSz="457200" rtl="0" eaLnBrk="1" fontAlgn="auto" latinLnBrk="0" hangingPunct="1">
              <a:lnSpc>
                <a:spcPct val="100000"/>
              </a:lnSpc>
              <a:spcBef>
                <a:spcPct val="20000"/>
              </a:spcBef>
              <a:spcAft>
                <a:spcPts val="0"/>
              </a:spcAft>
              <a:buClrTx/>
              <a:buSzTx/>
              <a:buFont typeface="Arial"/>
              <a:buNone/>
              <a:tabLst/>
              <a:defRPr/>
            </a:pPr>
            <a:endParaRPr kumimoji="0" lang="en-GB" sz="3200" b="1"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pitchFamily="34" charset="0"/>
              <a:buChar char="•"/>
              <a:tabLst/>
              <a:defRPr/>
            </a:pPr>
            <a:r>
              <a:rPr lang="en-GB" sz="2800" dirty="0" smtClean="0">
                <a:latin typeface="Times New Roman" pitchFamily="18" charset="0"/>
                <a:cs typeface="Times New Roman" pitchFamily="18" charset="0"/>
              </a:rPr>
              <a:t>Verbs also form their simple present tense with the addition of –s, -</a:t>
            </a:r>
            <a:r>
              <a:rPr lang="en-GB" sz="2800" dirty="0" err="1" smtClean="0">
                <a:latin typeface="Times New Roman" pitchFamily="18" charset="0"/>
                <a:cs typeface="Times New Roman" pitchFamily="18" charset="0"/>
              </a:rPr>
              <a:t>es</a:t>
            </a:r>
            <a:r>
              <a:rPr lang="en-GB" sz="2800" dirty="0" smtClean="0">
                <a:latin typeface="Times New Roman" pitchFamily="18" charset="0"/>
                <a:cs typeface="Times New Roman" pitchFamily="18" charset="0"/>
              </a:rPr>
              <a:t> or –</a:t>
            </a:r>
            <a:r>
              <a:rPr lang="en-GB" sz="2800" dirty="0" err="1" smtClean="0">
                <a:latin typeface="Times New Roman" pitchFamily="18" charset="0"/>
                <a:cs typeface="Times New Roman" pitchFamily="18" charset="0"/>
              </a:rPr>
              <a:t>ies</a:t>
            </a:r>
            <a:r>
              <a:rPr lang="en-GB" sz="2800" dirty="0" smtClean="0">
                <a:latin typeface="Times New Roman" pitchFamily="18" charset="0"/>
                <a:cs typeface="Times New Roman" pitchFamily="18" charset="0"/>
              </a:rPr>
              <a:t>. This depends on the type of verb and it is used with the third person singular subjects. </a:t>
            </a:r>
          </a:p>
          <a:p>
            <a:pPr marL="342900" marR="0" lvl="0" indent="-342900" algn="l" defTabSz="457200" rtl="0" eaLnBrk="1" fontAlgn="auto" latinLnBrk="0" hangingPunct="1">
              <a:lnSpc>
                <a:spcPct val="100000"/>
              </a:lnSpc>
              <a:spcBef>
                <a:spcPct val="20000"/>
              </a:spcBef>
              <a:spcAft>
                <a:spcPts val="0"/>
              </a:spcAft>
              <a:buClrTx/>
              <a:buSzTx/>
              <a:tabLst/>
              <a:defRPr/>
            </a:pPr>
            <a:r>
              <a:rPr kumimoji="0" lang="en-GB" sz="280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e.g.</a:t>
            </a:r>
            <a:r>
              <a:rPr lang="en-GB" sz="2800" dirty="0" smtClean="0">
                <a:latin typeface="Times New Roman" pitchFamily="18" charset="0"/>
                <a:cs typeface="Times New Roman" pitchFamily="18" charset="0"/>
              </a:rPr>
              <a:t> </a:t>
            </a:r>
            <a:r>
              <a:rPr lang="en-GB" sz="2800" dirty="0" err="1" smtClean="0">
                <a:latin typeface="Times New Roman" pitchFamily="18" charset="0"/>
                <a:cs typeface="Times New Roman" pitchFamily="18" charset="0"/>
              </a:rPr>
              <a:t>Esi</a:t>
            </a:r>
            <a:r>
              <a:rPr lang="en-GB" sz="2800" dirty="0" smtClean="0">
                <a:latin typeface="Times New Roman" pitchFamily="18" charset="0"/>
                <a:cs typeface="Times New Roman" pitchFamily="18" charset="0"/>
              </a:rPr>
              <a:t> / she </a:t>
            </a:r>
            <a:r>
              <a:rPr lang="en-GB" sz="2800" b="1" dirty="0" smtClean="0">
                <a:latin typeface="Times New Roman" pitchFamily="18" charset="0"/>
                <a:cs typeface="Times New Roman" pitchFamily="18" charset="0"/>
              </a:rPr>
              <a:t>carries</a:t>
            </a:r>
            <a:r>
              <a:rPr lang="en-GB" sz="2800" dirty="0" smtClean="0">
                <a:latin typeface="Times New Roman" pitchFamily="18" charset="0"/>
                <a:cs typeface="Times New Roman" pitchFamily="18" charset="0"/>
              </a:rPr>
              <a:t> the bag. </a:t>
            </a:r>
          </a:p>
          <a:p>
            <a:pPr marL="342900" marR="0" lvl="0" indent="-342900" algn="l" defTabSz="457200" rtl="0" eaLnBrk="1" fontAlgn="auto" latinLnBrk="0" hangingPunct="1">
              <a:lnSpc>
                <a:spcPct val="100000"/>
              </a:lnSpc>
              <a:spcBef>
                <a:spcPct val="20000"/>
              </a:spcBef>
              <a:spcAft>
                <a:spcPts val="0"/>
              </a:spcAft>
              <a:buClrTx/>
              <a:buSzTx/>
              <a:buFont typeface="Arial" pitchFamily="34" charset="0"/>
              <a:buChar char="•"/>
              <a:tabLst/>
              <a:defRPr/>
            </a:pPr>
            <a:r>
              <a:rPr lang="en-GB" sz="2800" dirty="0" smtClean="0">
                <a:latin typeface="Times New Roman" pitchFamily="18" charset="0"/>
                <a:cs typeface="Times New Roman" pitchFamily="18" charset="0"/>
              </a:rPr>
              <a:t>The simple present tense is used to express present events, habitual events, universal truths, actions simultaneous with the present moment, future time and past time. </a:t>
            </a:r>
          </a:p>
          <a:p>
            <a:pPr marL="342900" marR="0" lvl="0" indent="-342900" algn="l" defTabSz="457200" rtl="0" eaLnBrk="1" fontAlgn="auto" latinLnBrk="0" hangingPunct="1">
              <a:lnSpc>
                <a:spcPct val="100000"/>
              </a:lnSpc>
              <a:spcBef>
                <a:spcPct val="20000"/>
              </a:spcBef>
              <a:spcAft>
                <a:spcPts val="0"/>
              </a:spcAft>
              <a:buClrTx/>
              <a:buSzTx/>
              <a:tabLst/>
              <a:defRPr/>
            </a:pPr>
            <a:endParaRPr kumimoji="0" lang="en-GB" sz="320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None/>
              <a:tabLst/>
              <a:defRPr/>
            </a:pPr>
            <a:endParaRPr kumimoji="0" lang="en-GB"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tabLst/>
              <a:defRPr/>
            </a:pPr>
            <a:endParaRPr kumimoji="0" lang="en-GB"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endParaRPr kumimoji="0" lang="en-GB"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990600" y="0"/>
            <a:ext cx="8080248" cy="6781800"/>
          </a:xfrm>
          <a:prstGeom prst="rect">
            <a:avLst/>
          </a:prstGeom>
        </p:spPr>
        <p:txBody>
          <a:bodyPr>
            <a:normAutofit/>
          </a:bodyPr>
          <a:lstStyle/>
          <a:p>
            <a:pPr marL="342900" marR="0" lvl="0" indent="-342900" defTabSz="457200" rtl="0" eaLnBrk="1" fontAlgn="auto" latinLnBrk="0" hangingPunct="1">
              <a:lnSpc>
                <a:spcPct val="100000"/>
              </a:lnSpc>
              <a:spcBef>
                <a:spcPct val="20000"/>
              </a:spcBef>
              <a:spcAft>
                <a:spcPts val="0"/>
              </a:spcAft>
              <a:buClrTx/>
              <a:buSzTx/>
              <a:buFont typeface="Arial" pitchFamily="34" charset="0"/>
              <a:buChar char="•"/>
              <a:tabLst/>
              <a:defRPr/>
            </a:pPr>
            <a:endParaRPr lang="en-GB" sz="2800" dirty="0" smtClean="0"/>
          </a:p>
          <a:p>
            <a:pPr marL="342900" marR="0" lvl="0" indent="-342900" algn="l" defTabSz="457200" rtl="0" eaLnBrk="1" fontAlgn="auto" latinLnBrk="0" hangingPunct="1">
              <a:lnSpc>
                <a:spcPct val="100000"/>
              </a:lnSpc>
              <a:spcBef>
                <a:spcPct val="20000"/>
              </a:spcBef>
              <a:spcAft>
                <a:spcPts val="0"/>
              </a:spcAft>
              <a:buClrTx/>
              <a:buSzTx/>
              <a:tabLst/>
              <a:defRPr/>
            </a:pPr>
            <a:endParaRPr kumimoji="0" lang="en-GB" sz="320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None/>
              <a:tabLst/>
              <a:defRPr/>
            </a:pPr>
            <a:endParaRPr kumimoji="0" lang="en-GB"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tabLst/>
              <a:defRPr/>
            </a:pPr>
            <a:endParaRPr kumimoji="0" lang="en-GB"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endParaRPr kumimoji="0" lang="en-GB"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Content Placeholder 2"/>
          <p:cNvSpPr txBox="1">
            <a:spLocks/>
          </p:cNvSpPr>
          <p:nvPr/>
        </p:nvSpPr>
        <p:spPr>
          <a:xfrm>
            <a:off x="159026" y="152400"/>
            <a:ext cx="9064222" cy="6781800"/>
          </a:xfrm>
          <a:prstGeom prst="rect">
            <a:avLst/>
          </a:prstGeom>
        </p:spPr>
        <p:txBody>
          <a:bodyPr>
            <a:normAutofit/>
          </a:bodyPr>
          <a:lstStyle/>
          <a:p>
            <a:pPr marL="342900" marR="0" lvl="0" indent="-342900" defTabSz="457200" rtl="0" eaLnBrk="1" fontAlgn="auto" latinLnBrk="0" hangingPunct="1">
              <a:lnSpc>
                <a:spcPct val="100000"/>
              </a:lnSpc>
              <a:spcBef>
                <a:spcPct val="20000"/>
              </a:spcBef>
              <a:spcAft>
                <a:spcPts val="0"/>
              </a:spcAft>
              <a:buClrTx/>
              <a:buSzTx/>
              <a:buFont typeface="Arial" pitchFamily="34" charset="0"/>
              <a:buChar char="•"/>
              <a:tabLst/>
              <a:defRPr/>
            </a:pPr>
            <a:r>
              <a:rPr lang="en-GB" sz="2800" dirty="0" smtClean="0">
                <a:latin typeface="Times New Roman" pitchFamily="18" charset="0"/>
                <a:cs typeface="Times New Roman" pitchFamily="18" charset="0"/>
              </a:rPr>
              <a:t>Regular verbs form their simple past tense with the addition of –d or –</a:t>
            </a:r>
            <a:r>
              <a:rPr lang="en-GB" sz="2800" dirty="0" err="1" smtClean="0">
                <a:latin typeface="Times New Roman" pitchFamily="18" charset="0"/>
                <a:cs typeface="Times New Roman" pitchFamily="18" charset="0"/>
              </a:rPr>
              <a:t>ed</a:t>
            </a:r>
            <a:r>
              <a:rPr lang="en-GB" sz="2800" dirty="0" smtClean="0">
                <a:latin typeface="Times New Roman" pitchFamily="18" charset="0"/>
                <a:cs typeface="Times New Roman" pitchFamily="18" charset="0"/>
              </a:rPr>
              <a:t> depending on the type of verb. </a:t>
            </a:r>
          </a:p>
          <a:p>
            <a:pPr marL="342900" marR="0" lvl="0" indent="-342900" defTabSz="457200" rtl="0" eaLnBrk="1" fontAlgn="auto" latinLnBrk="0" hangingPunct="1">
              <a:lnSpc>
                <a:spcPct val="100000"/>
              </a:lnSpc>
              <a:spcBef>
                <a:spcPct val="20000"/>
              </a:spcBef>
              <a:spcAft>
                <a:spcPts val="0"/>
              </a:spcAft>
              <a:buClrTx/>
              <a:buSzTx/>
              <a:buFont typeface="Arial" pitchFamily="34" charset="0"/>
              <a:buChar char="•"/>
              <a:tabLst/>
              <a:defRPr/>
            </a:pPr>
            <a:r>
              <a:rPr lang="en-GB" sz="2800" dirty="0" smtClean="0">
                <a:latin typeface="Times New Roman" pitchFamily="18" charset="0"/>
                <a:cs typeface="Times New Roman" pitchFamily="18" charset="0"/>
              </a:rPr>
              <a:t>Irregular verbs form their simple past tense by going through other structural changes. </a:t>
            </a:r>
            <a:r>
              <a:rPr lang="en-GB" sz="2800" dirty="0" err="1" smtClean="0">
                <a:latin typeface="Times New Roman" pitchFamily="18" charset="0"/>
                <a:cs typeface="Times New Roman" pitchFamily="18" charset="0"/>
              </a:rPr>
              <a:t>Eg</a:t>
            </a:r>
            <a:r>
              <a:rPr lang="en-GB" sz="2800" dirty="0" smtClean="0">
                <a:latin typeface="Times New Roman" pitchFamily="18" charset="0"/>
                <a:cs typeface="Times New Roman" pitchFamily="18" charset="0"/>
              </a:rPr>
              <a:t>. Come – came, sit – sat, run – ran, etc.</a:t>
            </a:r>
          </a:p>
          <a:p>
            <a:pPr marL="342900" marR="0" lvl="0" indent="-342900" defTabSz="457200" rtl="0" eaLnBrk="1" fontAlgn="auto" latinLnBrk="0" hangingPunct="1">
              <a:lnSpc>
                <a:spcPct val="100000"/>
              </a:lnSpc>
              <a:spcBef>
                <a:spcPct val="20000"/>
              </a:spcBef>
              <a:spcAft>
                <a:spcPts val="0"/>
              </a:spcAft>
              <a:buClrTx/>
              <a:buSzTx/>
              <a:buFont typeface="Arial" pitchFamily="34" charset="0"/>
              <a:buChar char="•"/>
              <a:tabLst/>
              <a:defRPr/>
            </a:pPr>
            <a:r>
              <a:rPr lang="en-GB" sz="2800" dirty="0" smtClean="0">
                <a:latin typeface="Times New Roman" pitchFamily="18" charset="0"/>
                <a:cs typeface="Times New Roman" pitchFamily="18" charset="0"/>
              </a:rPr>
              <a:t>Verbs also add –</a:t>
            </a:r>
            <a:r>
              <a:rPr lang="en-GB" sz="2800" dirty="0" err="1" smtClean="0">
                <a:latin typeface="Times New Roman" pitchFamily="18" charset="0"/>
                <a:cs typeface="Times New Roman" pitchFamily="18" charset="0"/>
              </a:rPr>
              <a:t>ing</a:t>
            </a:r>
            <a:r>
              <a:rPr lang="en-GB" sz="2800" dirty="0" smtClean="0">
                <a:latin typeface="Times New Roman" pitchFamily="18" charset="0"/>
                <a:cs typeface="Times New Roman" pitchFamily="18" charset="0"/>
              </a:rPr>
              <a:t>, -d or –</a:t>
            </a:r>
            <a:r>
              <a:rPr lang="en-GB" sz="2800" dirty="0" err="1" smtClean="0">
                <a:latin typeface="Times New Roman" pitchFamily="18" charset="0"/>
                <a:cs typeface="Times New Roman" pitchFamily="18" charset="0"/>
              </a:rPr>
              <a:t>ed</a:t>
            </a:r>
            <a:r>
              <a:rPr lang="en-GB" sz="2800" dirty="0" smtClean="0">
                <a:latin typeface="Times New Roman" pitchFamily="18" charset="0"/>
                <a:cs typeface="Times New Roman" pitchFamily="18" charset="0"/>
              </a:rPr>
              <a:t> to together with a helping indicate the aspect. this is used to show whether an action that takes place at a particular time is progressive or completed.</a:t>
            </a:r>
          </a:p>
          <a:p>
            <a:pPr marL="342900" marR="0" lvl="0" indent="-342900" defTabSz="457200" rtl="0" eaLnBrk="1" fontAlgn="auto" latinLnBrk="0" hangingPunct="1">
              <a:lnSpc>
                <a:spcPct val="100000"/>
              </a:lnSpc>
              <a:spcBef>
                <a:spcPct val="20000"/>
              </a:spcBef>
              <a:spcAft>
                <a:spcPts val="0"/>
              </a:spcAft>
              <a:buClrTx/>
              <a:buSzTx/>
              <a:tabLst/>
              <a:defRPr/>
            </a:pPr>
            <a:r>
              <a:rPr lang="en-GB" sz="2800" dirty="0" smtClean="0">
                <a:latin typeface="Times New Roman" pitchFamily="18" charset="0"/>
                <a:cs typeface="Times New Roman" pitchFamily="18" charset="0"/>
              </a:rPr>
              <a:t>E.g. She </a:t>
            </a:r>
            <a:r>
              <a:rPr lang="en-GB" sz="2800" b="1" dirty="0" smtClean="0">
                <a:latin typeface="Times New Roman" pitchFamily="18" charset="0"/>
                <a:cs typeface="Times New Roman" pitchFamily="18" charset="0"/>
              </a:rPr>
              <a:t>is going </a:t>
            </a:r>
            <a:r>
              <a:rPr lang="en-GB" sz="2800" dirty="0" smtClean="0">
                <a:latin typeface="Times New Roman" pitchFamily="18" charset="0"/>
                <a:cs typeface="Times New Roman" pitchFamily="18" charset="0"/>
              </a:rPr>
              <a:t>to school.  </a:t>
            </a:r>
          </a:p>
          <a:p>
            <a:pPr marL="342900" marR="0" lvl="0" indent="-342900" defTabSz="457200" rtl="0" eaLnBrk="1" fontAlgn="auto" latinLnBrk="0" hangingPunct="1">
              <a:lnSpc>
                <a:spcPct val="100000"/>
              </a:lnSpc>
              <a:spcBef>
                <a:spcPct val="20000"/>
              </a:spcBef>
              <a:spcAft>
                <a:spcPts val="0"/>
              </a:spcAft>
              <a:buClrTx/>
              <a:buSzTx/>
              <a:tabLst/>
              <a:defRPr/>
            </a:pPr>
            <a:r>
              <a:rPr lang="en-GB" sz="2800" dirty="0" smtClean="0">
                <a:latin typeface="Times New Roman" pitchFamily="18" charset="0"/>
                <a:cs typeface="Times New Roman" pitchFamily="18" charset="0"/>
              </a:rPr>
              <a:t>       she </a:t>
            </a:r>
            <a:r>
              <a:rPr lang="en-GB" sz="2800" b="1" dirty="0" smtClean="0">
                <a:latin typeface="Times New Roman" pitchFamily="18" charset="0"/>
                <a:cs typeface="Times New Roman" pitchFamily="18" charset="0"/>
              </a:rPr>
              <a:t>has gone </a:t>
            </a:r>
            <a:r>
              <a:rPr lang="en-GB" sz="2800" dirty="0" smtClean="0">
                <a:latin typeface="Times New Roman" pitchFamily="18" charset="0"/>
                <a:cs typeface="Times New Roman" pitchFamily="18" charset="0"/>
              </a:rPr>
              <a:t>to school.  </a:t>
            </a:r>
          </a:p>
          <a:p>
            <a:pPr marL="342900" marR="0" lvl="0" indent="-342900" defTabSz="457200" rtl="0" eaLnBrk="1" fontAlgn="auto" latinLnBrk="0" hangingPunct="1">
              <a:lnSpc>
                <a:spcPct val="100000"/>
              </a:lnSpc>
              <a:spcBef>
                <a:spcPct val="20000"/>
              </a:spcBef>
              <a:spcAft>
                <a:spcPts val="0"/>
              </a:spcAft>
              <a:buClrTx/>
              <a:buSzTx/>
              <a:tabLst/>
              <a:defRPr/>
            </a:pPr>
            <a:r>
              <a:rPr lang="en-GB" sz="3200" dirty="0" smtClean="0"/>
              <a:t> </a:t>
            </a:r>
            <a:endParaRPr lang="en-GB" sz="2800" dirty="0" smtClean="0"/>
          </a:p>
          <a:p>
            <a:pPr marL="342900" marR="0" lvl="0" indent="-342900" algn="l" defTabSz="457200" rtl="0" eaLnBrk="1" fontAlgn="auto" latinLnBrk="0" hangingPunct="1">
              <a:lnSpc>
                <a:spcPct val="100000"/>
              </a:lnSpc>
              <a:spcBef>
                <a:spcPct val="20000"/>
              </a:spcBef>
              <a:spcAft>
                <a:spcPts val="0"/>
              </a:spcAft>
              <a:buClrTx/>
              <a:buSzTx/>
              <a:tabLst/>
              <a:defRPr/>
            </a:pPr>
            <a:endParaRPr kumimoji="0" lang="en-GB" sz="320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None/>
              <a:tabLst/>
              <a:defRPr/>
            </a:pPr>
            <a:endParaRPr kumimoji="0" lang="en-GB"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tabLst/>
              <a:defRPr/>
            </a:pPr>
            <a:endParaRPr kumimoji="0" lang="en-GB"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endParaRPr kumimoji="0" lang="en-GB"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0" y="152400"/>
            <a:ext cx="9223248" cy="6781800"/>
          </a:xfrm>
          <a:prstGeom prst="rect">
            <a:avLst/>
          </a:prstGeom>
        </p:spPr>
        <p:txBody>
          <a:bodyPr>
            <a:normAutofit/>
          </a:bodyPr>
          <a:lstStyle/>
          <a:p>
            <a:pPr marL="342900" marR="0" lvl="0" indent="-342900" defTabSz="457200" rtl="0" eaLnBrk="1" fontAlgn="auto" latinLnBrk="0" hangingPunct="1">
              <a:lnSpc>
                <a:spcPct val="100000"/>
              </a:lnSpc>
              <a:spcBef>
                <a:spcPct val="20000"/>
              </a:spcBef>
              <a:spcAft>
                <a:spcPts val="0"/>
              </a:spcAft>
              <a:buClrTx/>
              <a:buSzTx/>
              <a:buFont typeface="Arial" pitchFamily="34" charset="0"/>
              <a:buChar char="•"/>
              <a:tabLst/>
              <a:defRPr/>
            </a:pPr>
            <a:r>
              <a:rPr lang="en-GB" sz="2800" dirty="0" smtClean="0">
                <a:latin typeface="Times New Roman" pitchFamily="18" charset="0"/>
                <a:cs typeface="Times New Roman" pitchFamily="18" charset="0"/>
              </a:rPr>
              <a:t>Verbs are used to indicate future time. It does this with the auxiliaries ‘will’ and ‘shall’ and the bare form of the verb. </a:t>
            </a:r>
          </a:p>
          <a:p>
            <a:pPr marL="342900" marR="0" lvl="0" indent="-342900" defTabSz="457200" rtl="0" eaLnBrk="1" fontAlgn="auto" latinLnBrk="0" hangingPunct="1">
              <a:lnSpc>
                <a:spcPct val="100000"/>
              </a:lnSpc>
              <a:spcBef>
                <a:spcPct val="20000"/>
              </a:spcBef>
              <a:spcAft>
                <a:spcPts val="0"/>
              </a:spcAft>
              <a:buClrTx/>
              <a:buSzTx/>
              <a:tabLst/>
              <a:defRPr/>
            </a:pPr>
            <a:r>
              <a:rPr lang="en-GB" sz="2800" dirty="0" smtClean="0">
                <a:latin typeface="Times New Roman" pitchFamily="18" charset="0"/>
                <a:cs typeface="Times New Roman" pitchFamily="18" charset="0"/>
              </a:rPr>
              <a:t>E.g. She </a:t>
            </a:r>
            <a:r>
              <a:rPr lang="en-GB" sz="2800" b="1" dirty="0" smtClean="0">
                <a:latin typeface="Times New Roman" pitchFamily="18" charset="0"/>
                <a:cs typeface="Times New Roman" pitchFamily="18" charset="0"/>
              </a:rPr>
              <a:t>will go </a:t>
            </a:r>
            <a:r>
              <a:rPr lang="en-GB" sz="2800" dirty="0" smtClean="0">
                <a:latin typeface="Times New Roman" pitchFamily="18" charset="0"/>
                <a:cs typeface="Times New Roman" pitchFamily="18" charset="0"/>
              </a:rPr>
              <a:t>to school.  </a:t>
            </a:r>
          </a:p>
          <a:p>
            <a:pPr marL="342900" marR="0" lvl="0" indent="-342900" defTabSz="457200" rtl="0" eaLnBrk="1" fontAlgn="auto" latinLnBrk="0" hangingPunct="1">
              <a:lnSpc>
                <a:spcPct val="100000"/>
              </a:lnSpc>
              <a:spcBef>
                <a:spcPct val="20000"/>
              </a:spcBef>
              <a:spcAft>
                <a:spcPts val="0"/>
              </a:spcAft>
              <a:buClrTx/>
              <a:buSzTx/>
              <a:tabLst/>
              <a:defRPr/>
            </a:pPr>
            <a:endParaRPr lang="en-GB" sz="2800" dirty="0" smtClean="0">
              <a:latin typeface="Times New Roman" pitchFamily="18" charset="0"/>
              <a:cs typeface="Times New Roman" pitchFamily="18" charset="0"/>
            </a:endParaRPr>
          </a:p>
          <a:p>
            <a:pPr marL="342900" marR="0" lvl="0" indent="-342900" defTabSz="457200" rtl="0" eaLnBrk="1" fontAlgn="auto" latinLnBrk="0" hangingPunct="1">
              <a:lnSpc>
                <a:spcPct val="100000"/>
              </a:lnSpc>
              <a:spcBef>
                <a:spcPct val="20000"/>
              </a:spcBef>
              <a:spcAft>
                <a:spcPts val="0"/>
              </a:spcAft>
              <a:buClrTx/>
              <a:buSzTx/>
              <a:tabLst/>
              <a:defRPr/>
            </a:pPr>
            <a:r>
              <a:rPr lang="en-GB" sz="2800" b="1" dirty="0" smtClean="0">
                <a:latin typeface="Times New Roman" pitchFamily="18" charset="0"/>
                <a:cs typeface="Times New Roman" pitchFamily="18" charset="0"/>
              </a:rPr>
              <a:t>Identification of verbs based on their positions</a:t>
            </a:r>
          </a:p>
          <a:p>
            <a:pPr marL="342900" marR="0" lvl="0" indent="-342900" defTabSz="457200" rtl="0" eaLnBrk="1" fontAlgn="auto" latinLnBrk="0" hangingPunct="1">
              <a:lnSpc>
                <a:spcPct val="100000"/>
              </a:lnSpc>
              <a:spcBef>
                <a:spcPct val="20000"/>
              </a:spcBef>
              <a:spcAft>
                <a:spcPts val="0"/>
              </a:spcAft>
              <a:buClrTx/>
              <a:buSzTx/>
              <a:buFont typeface="Arial" pitchFamily="34" charset="0"/>
              <a:buChar char="•"/>
              <a:tabLst/>
              <a:defRPr/>
            </a:pPr>
            <a:r>
              <a:rPr lang="en-GB" sz="2800" dirty="0" smtClean="0">
                <a:latin typeface="Times New Roman" pitchFamily="18" charset="0"/>
                <a:cs typeface="Times New Roman" pitchFamily="18" charset="0"/>
              </a:rPr>
              <a:t>Verbs usually come after the subject of sentences and begin the predicate of that sentence. (It happens only in active sentences which will be treated in another lesson)</a:t>
            </a:r>
          </a:p>
          <a:p>
            <a:pPr marL="342900" marR="0" lvl="0" indent="-342900" defTabSz="457200" rtl="0" eaLnBrk="1" fontAlgn="auto" latinLnBrk="0" hangingPunct="1">
              <a:lnSpc>
                <a:spcPct val="100000"/>
              </a:lnSpc>
              <a:spcBef>
                <a:spcPct val="20000"/>
              </a:spcBef>
              <a:spcAft>
                <a:spcPts val="0"/>
              </a:spcAft>
              <a:buClrTx/>
              <a:buSzTx/>
              <a:buFont typeface="Arial" pitchFamily="34" charset="0"/>
              <a:buChar char="•"/>
              <a:tabLst/>
              <a:defRPr/>
            </a:pPr>
            <a:r>
              <a:rPr lang="en-GB" sz="2800" dirty="0" smtClean="0">
                <a:latin typeface="Times New Roman" pitchFamily="18" charset="0"/>
                <a:cs typeface="Times New Roman" pitchFamily="18" charset="0"/>
              </a:rPr>
              <a:t>In this instance, even if an item looks like a different word class, it can still be considered a verb.  </a:t>
            </a:r>
          </a:p>
          <a:p>
            <a:pPr marL="342900" marR="0" lvl="0" indent="-342900" defTabSz="457200" rtl="0" eaLnBrk="1" fontAlgn="auto" latinLnBrk="0" hangingPunct="1">
              <a:lnSpc>
                <a:spcPct val="100000"/>
              </a:lnSpc>
              <a:spcBef>
                <a:spcPct val="20000"/>
              </a:spcBef>
              <a:spcAft>
                <a:spcPts val="0"/>
              </a:spcAft>
              <a:buClrTx/>
              <a:buSzTx/>
              <a:tabLst/>
              <a:defRPr/>
            </a:pPr>
            <a:r>
              <a:rPr lang="en-GB" sz="2800" dirty="0" smtClean="0">
                <a:latin typeface="Times New Roman" pitchFamily="18" charset="0"/>
                <a:cs typeface="Times New Roman" pitchFamily="18" charset="0"/>
              </a:rPr>
              <a:t>E.g. The chairman </a:t>
            </a:r>
            <a:r>
              <a:rPr lang="en-GB" sz="2800" b="1" dirty="0" smtClean="0">
                <a:latin typeface="Times New Roman" pitchFamily="18" charset="0"/>
                <a:cs typeface="Times New Roman" pitchFamily="18" charset="0"/>
              </a:rPr>
              <a:t>tabled</a:t>
            </a:r>
            <a:r>
              <a:rPr lang="en-GB" sz="2800" dirty="0" smtClean="0">
                <a:latin typeface="Times New Roman" pitchFamily="18" charset="0"/>
                <a:cs typeface="Times New Roman" pitchFamily="18" charset="0"/>
              </a:rPr>
              <a:t> the motion before the house. </a:t>
            </a:r>
          </a:p>
          <a:p>
            <a:pPr marL="342900" marR="0" lvl="0" indent="-342900" defTabSz="457200" rtl="0" eaLnBrk="1" fontAlgn="auto" latinLnBrk="0" hangingPunct="1">
              <a:lnSpc>
                <a:spcPct val="100000"/>
              </a:lnSpc>
              <a:spcBef>
                <a:spcPct val="20000"/>
              </a:spcBef>
              <a:spcAft>
                <a:spcPts val="0"/>
              </a:spcAft>
              <a:buClrTx/>
              <a:buSzTx/>
              <a:tabLst/>
              <a:defRPr/>
            </a:pPr>
            <a:endParaRPr lang="en-GB" sz="2800" dirty="0" smtClean="0"/>
          </a:p>
          <a:p>
            <a:pPr marL="342900" marR="0" lvl="0" indent="-342900" defTabSz="457200" rtl="0" eaLnBrk="1" fontAlgn="auto" latinLnBrk="0" hangingPunct="1">
              <a:lnSpc>
                <a:spcPct val="100000"/>
              </a:lnSpc>
              <a:spcBef>
                <a:spcPct val="20000"/>
              </a:spcBef>
              <a:spcAft>
                <a:spcPts val="0"/>
              </a:spcAft>
              <a:buClrTx/>
              <a:buSzTx/>
              <a:tabLst/>
              <a:defRPr/>
            </a:pPr>
            <a:r>
              <a:rPr lang="en-GB" sz="3200" dirty="0" smtClean="0"/>
              <a:t> </a:t>
            </a:r>
            <a:endParaRPr lang="en-GB" sz="2800" dirty="0" smtClean="0"/>
          </a:p>
          <a:p>
            <a:pPr marL="342900" marR="0" lvl="0" indent="-342900" algn="l" defTabSz="457200" rtl="0" eaLnBrk="1" fontAlgn="auto" latinLnBrk="0" hangingPunct="1">
              <a:lnSpc>
                <a:spcPct val="100000"/>
              </a:lnSpc>
              <a:spcBef>
                <a:spcPct val="20000"/>
              </a:spcBef>
              <a:spcAft>
                <a:spcPts val="0"/>
              </a:spcAft>
              <a:buClrTx/>
              <a:buSzTx/>
              <a:tabLst/>
              <a:defRPr/>
            </a:pPr>
            <a:endParaRPr kumimoji="0" lang="en-GB" sz="320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None/>
              <a:tabLst/>
              <a:defRPr/>
            </a:pPr>
            <a:endParaRPr kumimoji="0" lang="en-GB"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tabLst/>
              <a:defRPr/>
            </a:pPr>
            <a:endParaRPr kumimoji="0" lang="en-GB"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endParaRPr kumimoji="0" lang="en-GB"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5556319"/>
          </a:xfrm>
        </p:spPr>
        <p:txBody>
          <a:bodyPr/>
          <a:lstStyle/>
          <a:p>
            <a:pPr marL="342900" lvl="0" indent="-342900" algn="l">
              <a:spcBef>
                <a:spcPct val="20000"/>
              </a:spcBef>
              <a:defRPr/>
            </a:pPr>
            <a:r>
              <a:rPr lang="en-US" sz="2800" b="1" dirty="0" smtClean="0">
                <a:latin typeface="Times New Roman" pitchFamily="18" charset="0"/>
                <a:cs typeface="Times New Roman" pitchFamily="18" charset="0"/>
              </a:rPr>
              <a:t>Identification of verbs based on their functions in sentences</a:t>
            </a:r>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Verbs can express three main functions in sentences and these are states, actions and processes </a:t>
            </a:r>
            <a:br>
              <a:rPr lang="en-US" sz="2800" dirty="0" smtClean="0">
                <a:latin typeface="Times New Roman" pitchFamily="18" charset="0"/>
                <a:cs typeface="Times New Roman" pitchFamily="18" charset="0"/>
              </a:rPr>
            </a:br>
            <a:r>
              <a:rPr lang="en-US" sz="2800" b="1" dirty="0" smtClean="0">
                <a:latin typeface="Times New Roman" pitchFamily="18" charset="0"/>
                <a:cs typeface="Times New Roman" pitchFamily="18" charset="0"/>
              </a:rPr>
              <a:t> Verbs as expressing states </a:t>
            </a:r>
            <a:br>
              <a:rPr lang="en-US" sz="2800" b="1"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Some verbs in English express the states or conditions of people or things. Such verbs include the forms of the verb </a:t>
            </a:r>
            <a:r>
              <a:rPr lang="en-US" sz="2800" i="1" dirty="0" smtClean="0">
                <a:latin typeface="Times New Roman" pitchFamily="18" charset="0"/>
                <a:cs typeface="Times New Roman" pitchFamily="18" charset="0"/>
              </a:rPr>
              <a:t>to be</a:t>
            </a:r>
            <a:r>
              <a:rPr lang="en-US" sz="2800" dirty="0" smtClean="0">
                <a:latin typeface="Times New Roman" pitchFamily="18" charset="0"/>
                <a:cs typeface="Times New Roman" pitchFamily="18" charset="0"/>
              </a:rPr>
              <a:t>(is, are, was, were, etc.), </a:t>
            </a:r>
            <a:r>
              <a:rPr lang="en-US" sz="2800" i="1" dirty="0" smtClean="0">
                <a:latin typeface="Times New Roman" pitchFamily="18" charset="0"/>
                <a:cs typeface="Times New Roman" pitchFamily="18" charset="0"/>
              </a:rPr>
              <a:t>seem</a:t>
            </a:r>
            <a:r>
              <a:rPr lang="en-US" sz="2800" dirty="0" smtClean="0">
                <a:latin typeface="Times New Roman" pitchFamily="18" charset="0"/>
                <a:cs typeface="Times New Roman" pitchFamily="18" charset="0"/>
              </a:rPr>
              <a:t>, </a:t>
            </a:r>
            <a:r>
              <a:rPr lang="en-US" sz="2800" i="1" dirty="0" smtClean="0">
                <a:latin typeface="Times New Roman" pitchFamily="18" charset="0"/>
                <a:cs typeface="Times New Roman" pitchFamily="18" charset="0"/>
              </a:rPr>
              <a:t>taste</a:t>
            </a:r>
            <a:r>
              <a:rPr lang="en-US" sz="2800" dirty="0" smtClean="0">
                <a:latin typeface="Times New Roman" pitchFamily="18" charset="0"/>
                <a:cs typeface="Times New Roman" pitchFamily="18" charset="0"/>
              </a:rPr>
              <a:t>, </a:t>
            </a:r>
            <a:r>
              <a:rPr lang="en-US" sz="2800" i="1" dirty="0" smtClean="0">
                <a:latin typeface="Times New Roman" pitchFamily="18" charset="0"/>
                <a:cs typeface="Times New Roman" pitchFamily="18" charset="0"/>
              </a:rPr>
              <a:t>appear</a:t>
            </a:r>
            <a:r>
              <a:rPr lang="en-US" sz="2800" dirty="0" smtClean="0">
                <a:latin typeface="Times New Roman" pitchFamily="18" charset="0"/>
                <a:cs typeface="Times New Roman" pitchFamily="18" charset="0"/>
              </a:rPr>
              <a:t>, </a:t>
            </a:r>
            <a:r>
              <a:rPr lang="en-US" sz="2800" i="1" dirty="0" smtClean="0">
                <a:latin typeface="Times New Roman" pitchFamily="18" charset="0"/>
                <a:cs typeface="Times New Roman" pitchFamily="18" charset="0"/>
              </a:rPr>
              <a:t>look</a:t>
            </a:r>
            <a:r>
              <a:rPr lang="en-US" sz="2800" dirty="0" smtClean="0">
                <a:latin typeface="Times New Roman" pitchFamily="18" charset="0"/>
                <a:cs typeface="Times New Roman" pitchFamily="18" charset="0"/>
              </a:rPr>
              <a:t>, etc. </a:t>
            </a:r>
            <a:br>
              <a:rPr lang="en-US" sz="2800" dirty="0" smtClean="0">
                <a:latin typeface="Times New Roman" pitchFamily="18" charset="0"/>
                <a:cs typeface="Times New Roman" pitchFamily="18" charset="0"/>
              </a:rPr>
            </a:br>
            <a:r>
              <a:rPr lang="en-US" sz="2800" dirty="0" err="1" smtClean="0">
                <a:latin typeface="Times New Roman" pitchFamily="18" charset="0"/>
                <a:cs typeface="Times New Roman" pitchFamily="18" charset="0"/>
              </a:rPr>
              <a:t>Eg</a:t>
            </a:r>
            <a:r>
              <a:rPr lang="en-US" sz="2800" dirty="0" smtClean="0">
                <a:latin typeface="Times New Roman" pitchFamily="18" charset="0"/>
                <a:cs typeface="Times New Roman" pitchFamily="18" charset="0"/>
              </a:rPr>
              <a:t>. He </a:t>
            </a:r>
            <a:r>
              <a:rPr lang="en-US" sz="2800" b="1" dirty="0" smtClean="0">
                <a:latin typeface="Times New Roman" pitchFamily="18" charset="0"/>
                <a:cs typeface="Times New Roman" pitchFamily="18" charset="0"/>
              </a:rPr>
              <a:t>is</a:t>
            </a:r>
            <a:r>
              <a:rPr lang="en-US" sz="2800" dirty="0" smtClean="0">
                <a:latin typeface="Times New Roman" pitchFamily="18" charset="0"/>
                <a:cs typeface="Times New Roman" pitchFamily="18" charset="0"/>
              </a:rPr>
              <a:t> a good man.  </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       The woman </a:t>
            </a:r>
            <a:r>
              <a:rPr lang="en-US" sz="2800" b="1" dirty="0" smtClean="0">
                <a:latin typeface="Times New Roman" pitchFamily="18" charset="0"/>
                <a:cs typeface="Times New Roman" pitchFamily="18" charset="0"/>
              </a:rPr>
              <a:t>looks</a:t>
            </a:r>
            <a:r>
              <a:rPr lang="en-US" sz="2800" dirty="0" smtClean="0">
                <a:latin typeface="Times New Roman" pitchFamily="18" charset="0"/>
                <a:cs typeface="Times New Roman" pitchFamily="18" charset="0"/>
              </a:rPr>
              <a:t> beautiful. </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             </a:t>
            </a:r>
            <a:br>
              <a:rPr lang="en-US" sz="2800" dirty="0" smtClean="0">
                <a:latin typeface="Times New Roman" pitchFamily="18" charset="0"/>
                <a:cs typeface="Times New Roman" pitchFamily="18" charset="0"/>
              </a:rPr>
            </a:br>
            <a:endParaRPr lang="en-GB" sz="2800"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5794859"/>
          </a:xfrm>
        </p:spPr>
        <p:txBody>
          <a:bodyPr/>
          <a:lstStyle/>
          <a:p>
            <a:pPr algn="l"/>
            <a:r>
              <a:rPr lang="en-GB" sz="2800" b="1" dirty="0" smtClean="0">
                <a:latin typeface="Times New Roman" pitchFamily="18" charset="0"/>
                <a:cs typeface="Times New Roman" pitchFamily="18" charset="0"/>
              </a:rPr>
              <a:t>Verbs as expressing actions</a:t>
            </a:r>
            <a:br>
              <a:rPr lang="en-GB" sz="2800" b="1"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Some verbs express actions and are therefore referred to as action words. Examples are </a:t>
            </a:r>
            <a:r>
              <a:rPr lang="en-GB" sz="2800" i="1" dirty="0" smtClean="0">
                <a:latin typeface="Times New Roman" pitchFamily="18" charset="0"/>
                <a:cs typeface="Times New Roman" pitchFamily="18" charset="0"/>
              </a:rPr>
              <a:t>talk</a:t>
            </a:r>
            <a:r>
              <a:rPr lang="en-GB" sz="2800" dirty="0" smtClean="0">
                <a:latin typeface="Times New Roman" pitchFamily="18" charset="0"/>
                <a:cs typeface="Times New Roman" pitchFamily="18" charset="0"/>
              </a:rPr>
              <a:t>, </a:t>
            </a:r>
            <a:r>
              <a:rPr lang="en-GB" sz="2800" i="1" dirty="0" smtClean="0">
                <a:latin typeface="Times New Roman" pitchFamily="18" charset="0"/>
                <a:cs typeface="Times New Roman" pitchFamily="18" charset="0"/>
              </a:rPr>
              <a:t>eat</a:t>
            </a:r>
            <a:r>
              <a:rPr lang="en-GB" sz="2800" dirty="0" smtClean="0">
                <a:latin typeface="Times New Roman" pitchFamily="18" charset="0"/>
                <a:cs typeface="Times New Roman" pitchFamily="18" charset="0"/>
              </a:rPr>
              <a:t>, </a:t>
            </a:r>
            <a:r>
              <a:rPr lang="en-GB" sz="2800" i="1" dirty="0" smtClean="0">
                <a:latin typeface="Times New Roman" pitchFamily="18" charset="0"/>
                <a:cs typeface="Times New Roman" pitchFamily="18" charset="0"/>
              </a:rPr>
              <a:t>dance</a:t>
            </a:r>
            <a:r>
              <a:rPr lang="en-GB" sz="2800" dirty="0" smtClean="0">
                <a:latin typeface="Times New Roman" pitchFamily="18" charset="0"/>
                <a:cs typeface="Times New Roman" pitchFamily="18" charset="0"/>
              </a:rPr>
              <a:t>, </a:t>
            </a:r>
            <a:r>
              <a:rPr lang="en-GB" sz="2800" i="1" dirty="0" smtClean="0">
                <a:latin typeface="Times New Roman" pitchFamily="18" charset="0"/>
                <a:cs typeface="Times New Roman" pitchFamily="18" charset="0"/>
              </a:rPr>
              <a:t>jump</a:t>
            </a:r>
            <a:r>
              <a:rPr lang="en-GB" sz="2800" dirty="0" smtClean="0">
                <a:latin typeface="Times New Roman" pitchFamily="18" charset="0"/>
                <a:cs typeface="Times New Roman" pitchFamily="18" charset="0"/>
              </a:rPr>
              <a:t>, etc. </a:t>
            </a:r>
            <a:br>
              <a:rPr lang="en-GB" sz="2800"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E.g. She </a:t>
            </a:r>
            <a:r>
              <a:rPr lang="en-GB" sz="2800" b="1" dirty="0" smtClean="0">
                <a:latin typeface="Times New Roman" pitchFamily="18" charset="0"/>
                <a:cs typeface="Times New Roman" pitchFamily="18" charset="0"/>
              </a:rPr>
              <a:t>sweeps</a:t>
            </a:r>
            <a:r>
              <a:rPr lang="en-GB" sz="2800" dirty="0" smtClean="0">
                <a:latin typeface="Times New Roman" pitchFamily="18" charset="0"/>
                <a:cs typeface="Times New Roman" pitchFamily="18" charset="0"/>
              </a:rPr>
              <a:t> the compound everyday. </a:t>
            </a:r>
            <a:r>
              <a:rPr lang="en-GB" sz="2800" b="1" dirty="0" smtClean="0">
                <a:latin typeface="Times New Roman" pitchFamily="18" charset="0"/>
                <a:cs typeface="Times New Roman" pitchFamily="18" charset="0"/>
              </a:rPr>
              <a:t> </a:t>
            </a:r>
            <a:br>
              <a:rPr lang="en-GB" sz="2800" b="1" dirty="0" smtClean="0">
                <a:latin typeface="Times New Roman" pitchFamily="18" charset="0"/>
                <a:cs typeface="Times New Roman" pitchFamily="18" charset="0"/>
              </a:rPr>
            </a:br>
            <a:r>
              <a:rPr lang="en-GB" sz="2800" b="1" dirty="0" smtClean="0">
                <a:latin typeface="Times New Roman" pitchFamily="18" charset="0"/>
                <a:cs typeface="Times New Roman" pitchFamily="18" charset="0"/>
              </a:rPr>
              <a:t/>
            </a:r>
            <a:br>
              <a:rPr lang="en-GB" sz="2800" b="1" dirty="0" smtClean="0">
                <a:latin typeface="Times New Roman" pitchFamily="18" charset="0"/>
                <a:cs typeface="Times New Roman" pitchFamily="18" charset="0"/>
              </a:rPr>
            </a:br>
            <a:r>
              <a:rPr lang="en-GB" sz="2800" b="1" dirty="0" smtClean="0">
                <a:latin typeface="Times New Roman" pitchFamily="18" charset="0"/>
                <a:cs typeface="Times New Roman" pitchFamily="18" charset="0"/>
              </a:rPr>
              <a:t>Verbs as expressing processes </a:t>
            </a:r>
            <a:br>
              <a:rPr lang="en-GB" sz="2800" b="1"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Some verbs express processes. These are series of changes, especially the ones that happen naturally or unconsciously. Examples are </a:t>
            </a:r>
            <a:r>
              <a:rPr lang="en-GB" sz="2800" i="1" dirty="0" smtClean="0">
                <a:latin typeface="Times New Roman" pitchFamily="18" charset="0"/>
                <a:cs typeface="Times New Roman" pitchFamily="18" charset="0"/>
              </a:rPr>
              <a:t>grow</a:t>
            </a:r>
            <a:r>
              <a:rPr lang="en-GB" sz="2800" dirty="0" smtClean="0">
                <a:latin typeface="Times New Roman" pitchFamily="18" charset="0"/>
                <a:cs typeface="Times New Roman" pitchFamily="18" charset="0"/>
              </a:rPr>
              <a:t> and </a:t>
            </a:r>
            <a:r>
              <a:rPr lang="en-GB" sz="2800" i="1" dirty="0" smtClean="0">
                <a:latin typeface="Times New Roman" pitchFamily="18" charset="0"/>
                <a:cs typeface="Times New Roman" pitchFamily="18" charset="0"/>
              </a:rPr>
              <a:t>digest</a:t>
            </a:r>
            <a:r>
              <a:rPr lang="en-GB" sz="2800" dirty="0" smtClean="0">
                <a:latin typeface="Times New Roman" pitchFamily="18" charset="0"/>
                <a:cs typeface="Times New Roman" pitchFamily="18" charset="0"/>
              </a:rPr>
              <a:t> </a:t>
            </a:r>
            <a:br>
              <a:rPr lang="en-GB" sz="2800"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E.g.  Babies </a:t>
            </a:r>
            <a:r>
              <a:rPr lang="en-GB" sz="2800" b="1" dirty="0" smtClean="0">
                <a:latin typeface="Times New Roman" pitchFamily="18" charset="0"/>
                <a:cs typeface="Times New Roman" pitchFamily="18" charset="0"/>
              </a:rPr>
              <a:t>grow</a:t>
            </a:r>
            <a:r>
              <a:rPr lang="en-GB" sz="2800" dirty="0" smtClean="0">
                <a:latin typeface="Times New Roman" pitchFamily="18" charset="0"/>
                <a:cs typeface="Times New Roman" pitchFamily="18" charset="0"/>
              </a:rPr>
              <a:t>  </a:t>
            </a:r>
            <a:br>
              <a:rPr lang="en-GB" sz="2800"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
            </a:r>
            <a:br>
              <a:rPr lang="en-GB" sz="2800"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NB: Read on other types of verbs </a:t>
            </a:r>
            <a:r>
              <a:rPr lang="en-GB" sz="2800" b="1" dirty="0" smtClean="0">
                <a:latin typeface="Times New Roman" pitchFamily="18" charset="0"/>
                <a:cs typeface="Times New Roman" pitchFamily="18" charset="0"/>
              </a:rPr>
              <a:t/>
            </a:r>
            <a:br>
              <a:rPr lang="en-GB" sz="2800" b="1" dirty="0" smtClean="0">
                <a:latin typeface="Times New Roman" pitchFamily="18" charset="0"/>
                <a:cs typeface="Times New Roman" pitchFamily="18" charset="0"/>
              </a:rPr>
            </a:br>
            <a:endParaRPr lang="en-GB" sz="2800" b="1"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0" y="152400"/>
            <a:ext cx="9223248" cy="6781800"/>
          </a:xfrm>
          <a:prstGeom prst="rect">
            <a:avLst/>
          </a:prstGeom>
        </p:spPr>
        <p:txBody>
          <a:bodyPr>
            <a:normAutofit/>
          </a:bodyPr>
          <a:lstStyle/>
          <a:p>
            <a:pPr marL="342900" marR="0" lvl="0" indent="-342900" algn="ctr" defTabSz="457200" rtl="0" eaLnBrk="1" fontAlgn="auto" latinLnBrk="0" hangingPunct="1">
              <a:lnSpc>
                <a:spcPct val="100000"/>
              </a:lnSpc>
              <a:spcBef>
                <a:spcPct val="20000"/>
              </a:spcBef>
              <a:spcAft>
                <a:spcPts val="0"/>
              </a:spcAft>
              <a:buClrTx/>
              <a:buSzTx/>
              <a:tabLst/>
              <a:defRPr/>
            </a:pPr>
            <a:r>
              <a:rPr lang="en-GB" sz="2800" b="1" dirty="0" smtClean="0">
                <a:latin typeface="Times New Roman" pitchFamily="18" charset="0"/>
                <a:cs typeface="Times New Roman" pitchFamily="18" charset="0"/>
              </a:rPr>
              <a:t>ADJECTIVES</a:t>
            </a:r>
          </a:p>
          <a:p>
            <a:pPr marL="342900" marR="0" lvl="0" indent="-342900" defTabSz="457200" rtl="0" eaLnBrk="1" fontAlgn="auto" latinLnBrk="0" hangingPunct="1">
              <a:lnSpc>
                <a:spcPct val="100000"/>
              </a:lnSpc>
              <a:spcBef>
                <a:spcPct val="20000"/>
              </a:spcBef>
              <a:spcAft>
                <a:spcPts val="0"/>
              </a:spcAft>
              <a:buClrTx/>
              <a:buSzTx/>
              <a:buFont typeface="Arial" pitchFamily="34" charset="0"/>
              <a:buChar char="•"/>
              <a:tabLst/>
              <a:defRPr/>
            </a:pPr>
            <a:r>
              <a:rPr lang="en-GB" sz="2800" dirty="0" smtClean="0">
                <a:latin typeface="Times New Roman" pitchFamily="18" charset="0"/>
                <a:cs typeface="Times New Roman" pitchFamily="18" charset="0"/>
              </a:rPr>
              <a:t>Traditionally, they are identified as words that describe a noun or a pronoun in a sentence. </a:t>
            </a:r>
          </a:p>
          <a:p>
            <a:pPr marL="342900" marR="0" lvl="0" indent="-342900" defTabSz="457200" rtl="0" eaLnBrk="1" fontAlgn="auto" latinLnBrk="0" hangingPunct="1">
              <a:lnSpc>
                <a:spcPct val="100000"/>
              </a:lnSpc>
              <a:spcBef>
                <a:spcPct val="20000"/>
              </a:spcBef>
              <a:spcAft>
                <a:spcPts val="0"/>
              </a:spcAft>
              <a:buClrTx/>
              <a:buSzTx/>
              <a:tabLst/>
              <a:defRPr/>
            </a:pPr>
            <a:r>
              <a:rPr lang="en-GB" sz="2800" b="1" dirty="0" smtClean="0">
                <a:latin typeface="Times New Roman" pitchFamily="18" charset="0"/>
                <a:cs typeface="Times New Roman" pitchFamily="18" charset="0"/>
              </a:rPr>
              <a:t>Identification based on form</a:t>
            </a:r>
          </a:p>
          <a:p>
            <a:pPr marL="342900" marR="0" lvl="0" indent="-342900" defTabSz="457200" rtl="0" eaLnBrk="1" fontAlgn="auto" latinLnBrk="0" hangingPunct="1">
              <a:lnSpc>
                <a:spcPct val="100000"/>
              </a:lnSpc>
              <a:spcBef>
                <a:spcPct val="20000"/>
              </a:spcBef>
              <a:spcAft>
                <a:spcPts val="0"/>
              </a:spcAft>
              <a:buClrTx/>
              <a:buSzTx/>
              <a:buFont typeface="Arial" pitchFamily="34" charset="0"/>
              <a:buChar char="•"/>
              <a:tabLst/>
              <a:defRPr/>
            </a:pPr>
            <a:r>
              <a:rPr lang="en-GB" sz="2800" dirty="0" smtClean="0">
                <a:latin typeface="Times New Roman" pitchFamily="18" charset="0"/>
                <a:cs typeface="Times New Roman" pitchFamily="18" charset="0"/>
              </a:rPr>
              <a:t>Many adjectives can be identified by their suffixes. Some adjective forming suffixes are:</a:t>
            </a:r>
          </a:p>
          <a:p>
            <a:pPr marL="342900" marR="0" lvl="0" indent="-342900" defTabSz="457200" rtl="0" eaLnBrk="1" fontAlgn="auto" latinLnBrk="0" hangingPunct="1">
              <a:lnSpc>
                <a:spcPct val="100000"/>
              </a:lnSpc>
              <a:spcBef>
                <a:spcPct val="20000"/>
              </a:spcBef>
              <a:spcAft>
                <a:spcPts val="0"/>
              </a:spcAft>
              <a:buClrTx/>
              <a:buSzTx/>
              <a:tabLst/>
              <a:defRPr/>
            </a:pPr>
            <a:r>
              <a:rPr lang="en-GB" sz="2800" dirty="0" smtClean="0">
                <a:latin typeface="Times New Roman" pitchFamily="18" charset="0"/>
                <a:cs typeface="Times New Roman" pitchFamily="18" charset="0"/>
              </a:rPr>
              <a:t>-</a:t>
            </a:r>
            <a:r>
              <a:rPr lang="en-GB" sz="2800" dirty="0" err="1" smtClean="0">
                <a:latin typeface="Times New Roman" pitchFamily="18" charset="0"/>
                <a:cs typeface="Times New Roman" pitchFamily="18" charset="0"/>
              </a:rPr>
              <a:t>ic</a:t>
            </a:r>
            <a:r>
              <a:rPr lang="en-GB" sz="2800" dirty="0" smtClean="0">
                <a:latin typeface="Times New Roman" pitchFamily="18" charset="0"/>
                <a:cs typeface="Times New Roman" pitchFamily="18" charset="0"/>
              </a:rPr>
              <a:t> – romantic</a:t>
            </a:r>
          </a:p>
          <a:p>
            <a:pPr marL="342900" marR="0" lvl="0" indent="-342900" defTabSz="457200" rtl="0" eaLnBrk="1" fontAlgn="auto" latinLnBrk="0" hangingPunct="1">
              <a:lnSpc>
                <a:spcPct val="100000"/>
              </a:lnSpc>
              <a:spcBef>
                <a:spcPct val="20000"/>
              </a:spcBef>
              <a:spcAft>
                <a:spcPts val="0"/>
              </a:spcAft>
              <a:buClrTx/>
              <a:buSzTx/>
              <a:tabLst/>
              <a:defRPr/>
            </a:pPr>
            <a:r>
              <a:rPr lang="en-GB" sz="2800" dirty="0" smtClean="0">
                <a:latin typeface="Times New Roman" pitchFamily="18" charset="0"/>
                <a:cs typeface="Times New Roman" pitchFamily="18" charset="0"/>
              </a:rPr>
              <a:t>-</a:t>
            </a:r>
            <a:r>
              <a:rPr lang="en-GB" sz="2800" dirty="0" err="1" smtClean="0">
                <a:latin typeface="Times New Roman" pitchFamily="18" charset="0"/>
                <a:cs typeface="Times New Roman" pitchFamily="18" charset="0"/>
              </a:rPr>
              <a:t>ful</a:t>
            </a:r>
            <a:r>
              <a:rPr lang="en-GB" sz="2800" dirty="0" smtClean="0">
                <a:latin typeface="Times New Roman" pitchFamily="18" charset="0"/>
                <a:cs typeface="Times New Roman" pitchFamily="18" charset="0"/>
              </a:rPr>
              <a:t> – faithful</a:t>
            </a:r>
          </a:p>
          <a:p>
            <a:pPr marL="342900" marR="0" lvl="0" indent="-342900" defTabSz="457200" rtl="0" eaLnBrk="1" fontAlgn="auto" latinLnBrk="0" hangingPunct="1">
              <a:lnSpc>
                <a:spcPct val="100000"/>
              </a:lnSpc>
              <a:spcBef>
                <a:spcPct val="20000"/>
              </a:spcBef>
              <a:spcAft>
                <a:spcPts val="0"/>
              </a:spcAft>
              <a:buClrTx/>
              <a:buSzTx/>
              <a:tabLst/>
              <a:defRPr/>
            </a:pPr>
            <a:r>
              <a:rPr lang="en-GB" sz="2800" dirty="0" smtClean="0">
                <a:latin typeface="Times New Roman" pitchFamily="18" charset="0"/>
                <a:cs typeface="Times New Roman" pitchFamily="18" charset="0"/>
              </a:rPr>
              <a:t>-al – logical </a:t>
            </a:r>
          </a:p>
          <a:p>
            <a:pPr marL="342900" marR="0" lvl="0" indent="-342900" defTabSz="457200" rtl="0" eaLnBrk="1" fontAlgn="auto" latinLnBrk="0" hangingPunct="1">
              <a:lnSpc>
                <a:spcPct val="100000"/>
              </a:lnSpc>
              <a:spcBef>
                <a:spcPct val="20000"/>
              </a:spcBef>
              <a:spcAft>
                <a:spcPts val="0"/>
              </a:spcAft>
              <a:buClrTx/>
              <a:buSzTx/>
              <a:tabLst/>
              <a:defRPr/>
            </a:pPr>
            <a:r>
              <a:rPr lang="en-GB" sz="2800" dirty="0" smtClean="0">
                <a:latin typeface="Times New Roman" pitchFamily="18" charset="0"/>
                <a:cs typeface="Times New Roman" pitchFamily="18" charset="0"/>
              </a:rPr>
              <a:t>-</a:t>
            </a:r>
            <a:r>
              <a:rPr lang="en-GB" sz="2800" dirty="0" err="1" smtClean="0">
                <a:latin typeface="Times New Roman" pitchFamily="18" charset="0"/>
                <a:cs typeface="Times New Roman" pitchFamily="18" charset="0"/>
              </a:rPr>
              <a:t>ous</a:t>
            </a:r>
            <a:r>
              <a:rPr lang="en-GB" sz="2800" dirty="0" smtClean="0">
                <a:latin typeface="Times New Roman" pitchFamily="18" charset="0"/>
                <a:cs typeface="Times New Roman" pitchFamily="18" charset="0"/>
              </a:rPr>
              <a:t> – famous</a:t>
            </a:r>
          </a:p>
          <a:p>
            <a:pPr marL="342900" marR="0" lvl="0" indent="-342900" defTabSz="457200" rtl="0" eaLnBrk="1" fontAlgn="auto" latinLnBrk="0" hangingPunct="1">
              <a:lnSpc>
                <a:spcPct val="100000"/>
              </a:lnSpc>
              <a:spcBef>
                <a:spcPct val="20000"/>
              </a:spcBef>
              <a:spcAft>
                <a:spcPts val="0"/>
              </a:spcAft>
              <a:buClrTx/>
              <a:buSzTx/>
              <a:tabLst/>
              <a:defRPr/>
            </a:pPr>
            <a:r>
              <a:rPr lang="en-GB" sz="2800" dirty="0" smtClean="0">
                <a:latin typeface="Times New Roman" pitchFamily="18" charset="0"/>
                <a:cs typeface="Times New Roman" pitchFamily="18" charset="0"/>
              </a:rPr>
              <a:t>-</a:t>
            </a:r>
            <a:r>
              <a:rPr lang="en-GB" sz="2800" dirty="0" err="1" smtClean="0">
                <a:latin typeface="Times New Roman" pitchFamily="18" charset="0"/>
                <a:cs typeface="Times New Roman" pitchFamily="18" charset="0"/>
              </a:rPr>
              <a:t>ive</a:t>
            </a:r>
            <a:r>
              <a:rPr lang="en-GB" sz="2800" dirty="0" smtClean="0">
                <a:latin typeface="Times New Roman" pitchFamily="18" charset="0"/>
                <a:cs typeface="Times New Roman" pitchFamily="18" charset="0"/>
              </a:rPr>
              <a:t> – attractive     </a:t>
            </a:r>
          </a:p>
          <a:p>
            <a:pPr marL="342900" marR="0" lvl="0" indent="-342900" defTabSz="457200" rtl="0" eaLnBrk="1" fontAlgn="auto" latinLnBrk="0" hangingPunct="1">
              <a:lnSpc>
                <a:spcPct val="100000"/>
              </a:lnSpc>
              <a:spcBef>
                <a:spcPct val="20000"/>
              </a:spcBef>
              <a:spcAft>
                <a:spcPts val="0"/>
              </a:spcAft>
              <a:buClrTx/>
              <a:buSzTx/>
              <a:tabLst/>
              <a:defRPr/>
            </a:pPr>
            <a:endParaRPr lang="en-GB" sz="2800" dirty="0" smtClean="0">
              <a:latin typeface="Times New Roman" pitchFamily="18" charset="0"/>
              <a:cs typeface="Times New Roman" pitchFamily="18" charset="0"/>
            </a:endParaRPr>
          </a:p>
          <a:p>
            <a:pPr marL="342900" marR="0" lvl="0" indent="-342900" defTabSz="457200" rtl="0" eaLnBrk="1" fontAlgn="auto" latinLnBrk="0" hangingPunct="1">
              <a:lnSpc>
                <a:spcPct val="100000"/>
              </a:lnSpc>
              <a:spcBef>
                <a:spcPct val="20000"/>
              </a:spcBef>
              <a:spcAft>
                <a:spcPts val="0"/>
              </a:spcAft>
              <a:buClrTx/>
              <a:buSzTx/>
              <a:tabLst/>
              <a:defRPr/>
            </a:pPr>
            <a:r>
              <a:rPr lang="en-GB" sz="3200" dirty="0" smtClean="0">
                <a:latin typeface="Times New Roman" pitchFamily="18" charset="0"/>
                <a:cs typeface="Times New Roman" pitchFamily="18" charset="0"/>
              </a:rPr>
              <a:t> </a:t>
            </a:r>
            <a:endParaRPr lang="en-GB" sz="2800" dirty="0" smtClean="0">
              <a:latin typeface="Times New Roman" pitchFamily="18" charset="0"/>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tabLst/>
              <a:defRPr/>
            </a:pPr>
            <a:endParaRPr kumimoji="0" lang="en-GB" sz="320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Arial"/>
              <a:buNone/>
              <a:tabLst/>
              <a:defRPr/>
            </a:pPr>
            <a:endParaRPr kumimoji="0" lang="en-GB"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tabLst/>
              <a:defRPr/>
            </a:pPr>
            <a:endParaRPr kumimoji="0" lang="en-GB"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endParaRPr kumimoji="0" lang="en-GB"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endParaRPr kumimoji="0" lang="en-GB" sz="32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052736"/>
          </a:xfrm>
        </p:spPr>
        <p:txBody>
          <a:bodyPr/>
          <a:lstStyle/>
          <a:p>
            <a:pPr marL="342900" lvl="0" indent="-342900" algn="l">
              <a:spcBef>
                <a:spcPct val="20000"/>
              </a:spcBef>
              <a:defRPr/>
            </a:pPr>
            <a:r>
              <a:rPr lang="en-GB" sz="2800" dirty="0" smtClean="0">
                <a:latin typeface="Times New Roman" pitchFamily="18" charset="0"/>
                <a:cs typeface="Times New Roman" pitchFamily="18" charset="0"/>
              </a:rPr>
              <a:t>    Many  adjectives use the suffix –</a:t>
            </a:r>
            <a:r>
              <a:rPr lang="en-GB" sz="2800" dirty="0" err="1" smtClean="0">
                <a:latin typeface="Times New Roman" pitchFamily="18" charset="0"/>
                <a:cs typeface="Times New Roman" pitchFamily="18" charset="0"/>
              </a:rPr>
              <a:t>er</a:t>
            </a:r>
            <a:r>
              <a:rPr lang="en-GB" sz="2800" dirty="0" smtClean="0">
                <a:latin typeface="Times New Roman" pitchFamily="18" charset="0"/>
                <a:cs typeface="Times New Roman" pitchFamily="18" charset="0"/>
              </a:rPr>
              <a:t> and –</a:t>
            </a:r>
            <a:r>
              <a:rPr lang="en-GB" sz="2800" dirty="0" err="1" smtClean="0">
                <a:latin typeface="Times New Roman" pitchFamily="18" charset="0"/>
                <a:cs typeface="Times New Roman" pitchFamily="18" charset="0"/>
              </a:rPr>
              <a:t>est</a:t>
            </a:r>
            <a:r>
              <a:rPr lang="en-GB" sz="2800" dirty="0" smtClean="0">
                <a:latin typeface="Times New Roman" pitchFamily="18" charset="0"/>
                <a:cs typeface="Times New Roman" pitchFamily="18" charset="0"/>
              </a:rPr>
              <a:t> to mark comparative and superlative degrees respectively. </a:t>
            </a:r>
            <a:br>
              <a:rPr lang="en-GB" sz="2800"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
            </a:r>
            <a:br>
              <a:rPr lang="en-GB" sz="2800"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The comparative is used when two items are being compared. E.g. </a:t>
            </a:r>
            <a:r>
              <a:rPr lang="en-GB" sz="2800" dirty="0" err="1" smtClean="0">
                <a:latin typeface="Times New Roman" pitchFamily="18" charset="0"/>
                <a:cs typeface="Times New Roman" pitchFamily="18" charset="0"/>
              </a:rPr>
              <a:t>Esi</a:t>
            </a:r>
            <a:r>
              <a:rPr lang="en-GB" sz="2800" dirty="0" smtClean="0">
                <a:latin typeface="Times New Roman" pitchFamily="18" charset="0"/>
                <a:cs typeface="Times New Roman" pitchFamily="18" charset="0"/>
              </a:rPr>
              <a:t> is bigg</a:t>
            </a:r>
            <a:r>
              <a:rPr lang="en-GB" sz="2800" b="1" dirty="0" smtClean="0">
                <a:latin typeface="Times New Roman" pitchFamily="18" charset="0"/>
                <a:cs typeface="Times New Roman" pitchFamily="18" charset="0"/>
              </a:rPr>
              <a:t>er</a:t>
            </a:r>
            <a:r>
              <a:rPr lang="en-GB" sz="2800" dirty="0" smtClean="0">
                <a:latin typeface="Times New Roman" pitchFamily="18" charset="0"/>
                <a:cs typeface="Times New Roman" pitchFamily="18" charset="0"/>
              </a:rPr>
              <a:t> than </a:t>
            </a:r>
            <a:r>
              <a:rPr lang="en-GB" sz="2800" dirty="0" err="1" smtClean="0">
                <a:latin typeface="Times New Roman" pitchFamily="18" charset="0"/>
                <a:cs typeface="Times New Roman" pitchFamily="18" charset="0"/>
              </a:rPr>
              <a:t>Ama</a:t>
            </a:r>
            <a:r>
              <a:rPr lang="en-GB" sz="2800" dirty="0" smtClean="0">
                <a:latin typeface="Times New Roman" pitchFamily="18" charset="0"/>
                <a:cs typeface="Times New Roman" pitchFamily="18" charset="0"/>
              </a:rPr>
              <a:t>.  </a:t>
            </a:r>
            <a:br>
              <a:rPr lang="en-GB" sz="2800"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
            </a:r>
            <a:br>
              <a:rPr lang="en-GB" sz="2800"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The superlative is used when three or more items are being compared. E.g. </a:t>
            </a:r>
            <a:r>
              <a:rPr lang="en-GB" sz="2800" dirty="0" err="1" smtClean="0">
                <a:latin typeface="Times New Roman" pitchFamily="18" charset="0"/>
                <a:cs typeface="Times New Roman" pitchFamily="18" charset="0"/>
              </a:rPr>
              <a:t>Esi</a:t>
            </a:r>
            <a:r>
              <a:rPr lang="en-GB" sz="2800" dirty="0" smtClean="0">
                <a:latin typeface="Times New Roman" pitchFamily="18" charset="0"/>
                <a:cs typeface="Times New Roman" pitchFamily="18" charset="0"/>
              </a:rPr>
              <a:t> is the bigg</a:t>
            </a:r>
            <a:r>
              <a:rPr lang="en-GB" sz="2800" b="1" dirty="0" smtClean="0">
                <a:latin typeface="Times New Roman" pitchFamily="18" charset="0"/>
                <a:cs typeface="Times New Roman" pitchFamily="18" charset="0"/>
              </a:rPr>
              <a:t>est</a:t>
            </a:r>
            <a:r>
              <a:rPr lang="en-GB" sz="2800" dirty="0" smtClean="0">
                <a:latin typeface="Times New Roman" pitchFamily="18" charset="0"/>
                <a:cs typeface="Times New Roman" pitchFamily="18" charset="0"/>
              </a:rPr>
              <a:t> of them all.  </a:t>
            </a:r>
            <a:br>
              <a:rPr lang="en-GB" sz="2800" dirty="0" smtClean="0">
                <a:latin typeface="Times New Roman" pitchFamily="18" charset="0"/>
                <a:cs typeface="Times New Roman" pitchFamily="18" charset="0"/>
              </a:rPr>
            </a:br>
            <a:endParaRPr lang="en-GB"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1143000" y="152400"/>
            <a:ext cx="8080248" cy="6781800"/>
          </a:xfrm>
          <a:prstGeom prst="rect">
            <a:avLst/>
          </a:prstGeom>
        </p:spPr>
        <p:txBody>
          <a:bodyPr>
            <a:normAutofit/>
          </a:bodyPr>
          <a:lstStyle/>
          <a:p>
            <a:pPr marL="342900" marR="0" lvl="0" indent="-342900" defTabSz="457200" rtl="0" eaLnBrk="1" fontAlgn="auto" latinLnBrk="0" hangingPunct="1">
              <a:lnSpc>
                <a:spcPct val="100000"/>
              </a:lnSpc>
              <a:spcBef>
                <a:spcPct val="20000"/>
              </a:spcBef>
              <a:spcAft>
                <a:spcPts val="0"/>
              </a:spcAft>
              <a:buClrTx/>
              <a:buSzTx/>
              <a:tabLst/>
              <a:defRPr/>
            </a:pPr>
            <a:endParaRPr lang="en-GB" sz="2800" dirty="0" smtClean="0"/>
          </a:p>
          <a:p>
            <a:pPr marL="342900" marR="0" lvl="0" indent="-342900" defTabSz="457200" rtl="0" eaLnBrk="1" fontAlgn="auto" latinLnBrk="0" hangingPunct="1">
              <a:lnSpc>
                <a:spcPct val="100000"/>
              </a:lnSpc>
              <a:spcBef>
                <a:spcPct val="20000"/>
              </a:spcBef>
              <a:spcAft>
                <a:spcPts val="0"/>
              </a:spcAft>
              <a:buClrTx/>
              <a:buSzTx/>
              <a:tabLst/>
              <a:defRPr/>
            </a:pPr>
            <a:r>
              <a:rPr lang="en-GB" sz="3200" dirty="0" smtClean="0"/>
              <a:t> </a:t>
            </a:r>
            <a:endParaRPr lang="en-GB" sz="2800" dirty="0" smtClean="0"/>
          </a:p>
          <a:p>
            <a:pPr marL="342900" marR="0" lvl="0" indent="-342900" algn="l" defTabSz="457200" rtl="0" eaLnBrk="1" fontAlgn="auto" latinLnBrk="0" hangingPunct="1">
              <a:lnSpc>
                <a:spcPct val="100000"/>
              </a:lnSpc>
              <a:spcBef>
                <a:spcPct val="20000"/>
              </a:spcBef>
              <a:spcAft>
                <a:spcPts val="0"/>
              </a:spcAft>
              <a:buClrTx/>
              <a:buSzTx/>
              <a:tabLst/>
              <a:defRPr/>
            </a:pPr>
            <a:endParaRPr kumimoji="0" lang="en-GB" sz="320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None/>
              <a:tabLst/>
              <a:defRPr/>
            </a:pPr>
            <a:endParaRPr kumimoji="0" lang="en-GB"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tabLst/>
              <a:defRPr/>
            </a:pPr>
            <a:endParaRPr kumimoji="0" lang="en-GB"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endParaRPr kumimoji="0" lang="en-GB"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endParaRPr kumimoji="0" lang="en-GB"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Content Placeholder 2"/>
          <p:cNvSpPr txBox="1">
            <a:spLocks/>
          </p:cNvSpPr>
          <p:nvPr/>
        </p:nvSpPr>
        <p:spPr>
          <a:xfrm>
            <a:off x="185530" y="304800"/>
            <a:ext cx="9190118" cy="6781800"/>
          </a:xfrm>
          <a:prstGeom prst="rect">
            <a:avLst/>
          </a:prstGeom>
        </p:spPr>
        <p:txBody>
          <a:bodyPr>
            <a:normAutofit/>
          </a:bodyPr>
          <a:lstStyle/>
          <a:p>
            <a:pPr marL="342900" marR="0" lvl="0" indent="-342900" defTabSz="457200" rtl="0" eaLnBrk="1" fontAlgn="auto" latinLnBrk="0" hangingPunct="1">
              <a:lnSpc>
                <a:spcPct val="100000"/>
              </a:lnSpc>
              <a:spcBef>
                <a:spcPct val="20000"/>
              </a:spcBef>
              <a:spcAft>
                <a:spcPts val="0"/>
              </a:spcAft>
              <a:buClrTx/>
              <a:buSzTx/>
              <a:tabLst/>
              <a:defRPr/>
            </a:pPr>
            <a:r>
              <a:rPr lang="en-GB" sz="2800" b="1" dirty="0" smtClean="0">
                <a:latin typeface="Times New Roman" pitchFamily="18" charset="0"/>
                <a:cs typeface="Times New Roman" pitchFamily="18" charset="0"/>
              </a:rPr>
              <a:t>Identification based on position to indicate function</a:t>
            </a:r>
          </a:p>
          <a:p>
            <a:pPr marL="342900" marR="0" lvl="0" indent="-342900" defTabSz="457200" rtl="0" eaLnBrk="1" fontAlgn="auto" latinLnBrk="0" hangingPunct="1">
              <a:lnSpc>
                <a:spcPct val="100000"/>
              </a:lnSpc>
              <a:spcBef>
                <a:spcPct val="20000"/>
              </a:spcBef>
              <a:spcAft>
                <a:spcPts val="0"/>
              </a:spcAft>
              <a:buClrTx/>
              <a:buSzTx/>
              <a:buFont typeface="Arial" pitchFamily="34" charset="0"/>
              <a:buChar char="•"/>
              <a:tabLst/>
              <a:defRPr/>
            </a:pPr>
            <a:r>
              <a:rPr lang="en-GB" sz="2800" dirty="0" smtClean="0">
                <a:latin typeface="Times New Roman" pitchFamily="18" charset="0"/>
                <a:cs typeface="Times New Roman" pitchFamily="18" charset="0"/>
              </a:rPr>
              <a:t> Based on position, adjectives can occur attributively. This means that they can appear inside a noun phrase and modify that noun phrase. </a:t>
            </a:r>
          </a:p>
          <a:p>
            <a:pPr marL="342900" marR="0" lvl="0" indent="-342900" defTabSz="457200" rtl="0" eaLnBrk="1" fontAlgn="auto" latinLnBrk="0" hangingPunct="1">
              <a:lnSpc>
                <a:spcPct val="100000"/>
              </a:lnSpc>
              <a:spcBef>
                <a:spcPct val="20000"/>
              </a:spcBef>
              <a:spcAft>
                <a:spcPts val="0"/>
              </a:spcAft>
              <a:buClrTx/>
              <a:buSzTx/>
              <a:tabLst/>
              <a:defRPr/>
            </a:pPr>
            <a:r>
              <a:rPr lang="en-GB" sz="2800" dirty="0" smtClean="0">
                <a:latin typeface="Times New Roman" pitchFamily="18" charset="0"/>
                <a:cs typeface="Times New Roman" pitchFamily="18" charset="0"/>
              </a:rPr>
              <a:t>E.g. A </a:t>
            </a:r>
            <a:r>
              <a:rPr lang="en-GB" sz="2800" b="1" dirty="0" smtClean="0">
                <a:latin typeface="Times New Roman" pitchFamily="18" charset="0"/>
                <a:cs typeface="Times New Roman" pitchFamily="18" charset="0"/>
              </a:rPr>
              <a:t>hardworking</a:t>
            </a:r>
            <a:r>
              <a:rPr lang="en-GB" sz="2800" dirty="0" smtClean="0">
                <a:latin typeface="Times New Roman" pitchFamily="18" charset="0"/>
                <a:cs typeface="Times New Roman" pitchFamily="18" charset="0"/>
              </a:rPr>
              <a:t> player was on their team.  </a:t>
            </a:r>
          </a:p>
          <a:p>
            <a:pPr marL="342900" marR="0" lvl="0" indent="-342900" defTabSz="457200" rtl="0" eaLnBrk="1" fontAlgn="auto" latinLnBrk="0" hangingPunct="1">
              <a:lnSpc>
                <a:spcPct val="100000"/>
              </a:lnSpc>
              <a:spcBef>
                <a:spcPct val="20000"/>
              </a:spcBef>
              <a:spcAft>
                <a:spcPts val="0"/>
              </a:spcAft>
              <a:buClrTx/>
              <a:buSzTx/>
              <a:tabLst/>
              <a:defRPr/>
            </a:pPr>
            <a:endParaRPr lang="en-GB" sz="2800" dirty="0" smtClean="0">
              <a:latin typeface="Times New Roman" pitchFamily="18" charset="0"/>
              <a:cs typeface="Times New Roman" pitchFamily="18" charset="0"/>
            </a:endParaRPr>
          </a:p>
          <a:p>
            <a:pPr marL="342900" marR="0" lvl="0" indent="-342900" defTabSz="457200" rtl="0" eaLnBrk="1" fontAlgn="auto" latinLnBrk="0" hangingPunct="1">
              <a:lnSpc>
                <a:spcPct val="100000"/>
              </a:lnSpc>
              <a:spcBef>
                <a:spcPct val="20000"/>
              </a:spcBef>
              <a:spcAft>
                <a:spcPts val="0"/>
              </a:spcAft>
              <a:buClrTx/>
              <a:buSzTx/>
              <a:buFont typeface="Arial" pitchFamily="34" charset="0"/>
              <a:buChar char="•"/>
              <a:tabLst/>
              <a:defRPr/>
            </a:pPr>
            <a:r>
              <a:rPr lang="en-GB" sz="2800" dirty="0" smtClean="0">
                <a:latin typeface="Times New Roman" pitchFamily="18" charset="0"/>
                <a:cs typeface="Times New Roman" pitchFamily="18" charset="0"/>
              </a:rPr>
              <a:t>Adjectives can also occur predicatively. This means they can appear outside the noun phrase that they modify. Here, they usually follow a linking verb. </a:t>
            </a:r>
          </a:p>
          <a:p>
            <a:pPr marL="342900" marR="0" lvl="0" indent="-342900" defTabSz="457200" rtl="0" eaLnBrk="1" fontAlgn="auto" latinLnBrk="0" hangingPunct="1">
              <a:lnSpc>
                <a:spcPct val="100000"/>
              </a:lnSpc>
              <a:spcBef>
                <a:spcPct val="20000"/>
              </a:spcBef>
              <a:spcAft>
                <a:spcPts val="0"/>
              </a:spcAft>
              <a:buClrTx/>
              <a:buSzTx/>
              <a:tabLst/>
              <a:defRPr/>
            </a:pPr>
            <a:r>
              <a:rPr lang="en-GB" sz="2800" dirty="0" smtClean="0">
                <a:latin typeface="Times New Roman" pitchFamily="18" charset="0"/>
                <a:cs typeface="Times New Roman" pitchFamily="18" charset="0"/>
              </a:rPr>
              <a:t>E.g. He is </a:t>
            </a:r>
            <a:r>
              <a:rPr lang="en-GB" sz="2800" b="1" dirty="0" smtClean="0">
                <a:latin typeface="Times New Roman" pitchFamily="18" charset="0"/>
                <a:cs typeface="Times New Roman" pitchFamily="18" charset="0"/>
              </a:rPr>
              <a:t>hardworking</a:t>
            </a:r>
            <a:r>
              <a:rPr lang="en-GB" sz="2800" dirty="0" smtClean="0">
                <a:latin typeface="Times New Roman" pitchFamily="18" charset="0"/>
                <a:cs typeface="Times New Roman" pitchFamily="18" charset="0"/>
              </a:rPr>
              <a:t>. </a:t>
            </a:r>
          </a:p>
          <a:p>
            <a:pPr marL="342900" marR="0" lvl="0" indent="-342900" defTabSz="457200" rtl="0" eaLnBrk="1" fontAlgn="auto" latinLnBrk="0" hangingPunct="1">
              <a:lnSpc>
                <a:spcPct val="100000"/>
              </a:lnSpc>
              <a:spcBef>
                <a:spcPct val="20000"/>
              </a:spcBef>
              <a:spcAft>
                <a:spcPts val="0"/>
              </a:spcAft>
              <a:buClrTx/>
              <a:buSzTx/>
              <a:tabLst/>
              <a:defRPr/>
            </a:pPr>
            <a:r>
              <a:rPr lang="en-GB" sz="3200" dirty="0" smtClean="0">
                <a:latin typeface="Times New Roman" pitchFamily="18" charset="0"/>
                <a:cs typeface="Times New Roman" pitchFamily="18" charset="0"/>
              </a:rPr>
              <a:t> </a:t>
            </a:r>
            <a:endParaRPr lang="en-GB" sz="2800" dirty="0" smtClean="0">
              <a:latin typeface="Times New Roman" pitchFamily="18" charset="0"/>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tabLst/>
              <a:defRPr/>
            </a:pPr>
            <a:endParaRPr kumimoji="0" lang="en-GB" sz="320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Arial"/>
              <a:buNone/>
              <a:tabLst/>
              <a:defRPr/>
            </a:pPr>
            <a:endParaRPr kumimoji="0" lang="en-GB"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tabLst/>
              <a:defRPr/>
            </a:pPr>
            <a:endParaRPr kumimoji="0" lang="en-GB"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endParaRPr kumimoji="0" lang="en-GB"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endParaRPr kumimoji="0" lang="en-GB" sz="32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0" y="152400"/>
            <a:ext cx="9223248" cy="6781800"/>
          </a:xfrm>
          <a:prstGeom prst="rect">
            <a:avLst/>
          </a:prstGeom>
        </p:spPr>
        <p:txBody>
          <a:bodyPr>
            <a:normAutofit/>
          </a:bodyPr>
          <a:lstStyle/>
          <a:p>
            <a:pPr marL="342900" marR="0" lvl="0" indent="-342900" algn="ctr" defTabSz="457200" rtl="0" eaLnBrk="1" fontAlgn="auto" latinLnBrk="0" hangingPunct="1">
              <a:lnSpc>
                <a:spcPct val="100000"/>
              </a:lnSpc>
              <a:spcBef>
                <a:spcPct val="20000"/>
              </a:spcBef>
              <a:spcAft>
                <a:spcPts val="0"/>
              </a:spcAft>
              <a:buClrTx/>
              <a:buSzTx/>
              <a:tabLst/>
              <a:defRPr/>
            </a:pPr>
            <a:r>
              <a:rPr lang="en-GB" sz="2800" b="1" dirty="0" smtClean="0">
                <a:latin typeface="Times New Roman" pitchFamily="18" charset="0"/>
                <a:cs typeface="Times New Roman" pitchFamily="18" charset="0"/>
              </a:rPr>
              <a:t>ADVERBS</a:t>
            </a:r>
          </a:p>
          <a:p>
            <a:pPr marL="342900" marR="0" lvl="0" indent="-342900" defTabSz="457200" rtl="0" eaLnBrk="1" fontAlgn="auto" latinLnBrk="0" hangingPunct="1">
              <a:lnSpc>
                <a:spcPct val="100000"/>
              </a:lnSpc>
              <a:spcBef>
                <a:spcPct val="20000"/>
              </a:spcBef>
              <a:spcAft>
                <a:spcPts val="0"/>
              </a:spcAft>
              <a:buClrTx/>
              <a:buSzTx/>
              <a:buFont typeface="Arial" pitchFamily="34" charset="0"/>
              <a:buChar char="•"/>
              <a:tabLst/>
              <a:defRPr/>
            </a:pPr>
            <a:r>
              <a:rPr lang="en-GB" sz="2800" dirty="0" smtClean="0">
                <a:latin typeface="Times New Roman" pitchFamily="18" charset="0"/>
                <a:cs typeface="Times New Roman" pitchFamily="18" charset="0"/>
              </a:rPr>
              <a:t>Traditionally, adverbs have been defined as words that modify verbs, adjectives or other adverbs and answer the questions how, where, why or when an action takes place. </a:t>
            </a:r>
            <a:r>
              <a:rPr lang="en-GB" sz="2800" b="1" dirty="0" smtClean="0">
                <a:latin typeface="Times New Roman" pitchFamily="18" charset="0"/>
                <a:cs typeface="Times New Roman" pitchFamily="18" charset="0"/>
              </a:rPr>
              <a:t> </a:t>
            </a:r>
          </a:p>
          <a:p>
            <a:pPr marL="342900" marR="0" lvl="0" indent="-342900" defTabSz="457200" rtl="0" eaLnBrk="1" fontAlgn="auto" latinLnBrk="0" hangingPunct="1">
              <a:lnSpc>
                <a:spcPct val="100000"/>
              </a:lnSpc>
              <a:spcBef>
                <a:spcPct val="20000"/>
              </a:spcBef>
              <a:spcAft>
                <a:spcPts val="0"/>
              </a:spcAft>
              <a:buClrTx/>
              <a:buSzTx/>
              <a:tabLst/>
              <a:defRPr/>
            </a:pPr>
            <a:r>
              <a:rPr lang="en-GB" sz="2800" b="1" dirty="0" smtClean="0">
                <a:latin typeface="Times New Roman" pitchFamily="18" charset="0"/>
                <a:cs typeface="Times New Roman" pitchFamily="18" charset="0"/>
              </a:rPr>
              <a:t>Identification based on form</a:t>
            </a:r>
          </a:p>
          <a:p>
            <a:pPr marL="342900" marR="0" lvl="0" indent="-342900" defTabSz="457200" rtl="0" eaLnBrk="1" fontAlgn="auto" latinLnBrk="0" hangingPunct="1">
              <a:lnSpc>
                <a:spcPct val="100000"/>
              </a:lnSpc>
              <a:spcBef>
                <a:spcPct val="20000"/>
              </a:spcBef>
              <a:spcAft>
                <a:spcPts val="0"/>
              </a:spcAft>
              <a:buClrTx/>
              <a:buSzTx/>
              <a:buFont typeface="Arial" pitchFamily="34" charset="0"/>
              <a:buChar char="•"/>
              <a:tabLst/>
              <a:defRPr/>
            </a:pPr>
            <a:r>
              <a:rPr lang="en-GB" sz="2800" dirty="0" smtClean="0">
                <a:latin typeface="Times New Roman" pitchFamily="18" charset="0"/>
                <a:cs typeface="Times New Roman" pitchFamily="18" charset="0"/>
              </a:rPr>
              <a:t>Just like adjectives, some adverbs also use the suffixes –</a:t>
            </a:r>
            <a:r>
              <a:rPr lang="en-GB" sz="2800" dirty="0" err="1" smtClean="0">
                <a:latin typeface="Times New Roman" pitchFamily="18" charset="0"/>
                <a:cs typeface="Times New Roman" pitchFamily="18" charset="0"/>
              </a:rPr>
              <a:t>er</a:t>
            </a:r>
            <a:r>
              <a:rPr lang="en-GB" sz="2800" dirty="0" smtClean="0">
                <a:latin typeface="Times New Roman" pitchFamily="18" charset="0"/>
                <a:cs typeface="Times New Roman" pitchFamily="18" charset="0"/>
              </a:rPr>
              <a:t> and –</a:t>
            </a:r>
            <a:r>
              <a:rPr lang="en-GB" sz="2800" dirty="0" err="1" smtClean="0">
                <a:latin typeface="Times New Roman" pitchFamily="18" charset="0"/>
                <a:cs typeface="Times New Roman" pitchFamily="18" charset="0"/>
              </a:rPr>
              <a:t>est</a:t>
            </a:r>
            <a:r>
              <a:rPr lang="en-GB" sz="2800" dirty="0" smtClean="0">
                <a:latin typeface="Times New Roman" pitchFamily="18" charset="0"/>
                <a:cs typeface="Times New Roman" pitchFamily="18" charset="0"/>
              </a:rPr>
              <a:t> to indicate comparative and superlative degrees respectively. </a:t>
            </a:r>
          </a:p>
          <a:p>
            <a:pPr marL="342900" marR="0" lvl="0" indent="-342900" defTabSz="457200" rtl="0" eaLnBrk="1" fontAlgn="auto" latinLnBrk="0" hangingPunct="1">
              <a:lnSpc>
                <a:spcPct val="100000"/>
              </a:lnSpc>
              <a:spcBef>
                <a:spcPct val="20000"/>
              </a:spcBef>
              <a:spcAft>
                <a:spcPts val="0"/>
              </a:spcAft>
              <a:buClrTx/>
              <a:buSzTx/>
              <a:tabLst/>
              <a:defRPr/>
            </a:pPr>
            <a:r>
              <a:rPr lang="en-GB" sz="2800" dirty="0" smtClean="0">
                <a:latin typeface="Times New Roman" pitchFamily="18" charset="0"/>
                <a:cs typeface="Times New Roman" pitchFamily="18" charset="0"/>
              </a:rPr>
              <a:t>E.g. He is </a:t>
            </a:r>
            <a:r>
              <a:rPr lang="en-GB" sz="2800" b="1" dirty="0" smtClean="0">
                <a:latin typeface="Times New Roman" pitchFamily="18" charset="0"/>
                <a:cs typeface="Times New Roman" pitchFamily="18" charset="0"/>
              </a:rPr>
              <a:t>faster</a:t>
            </a:r>
            <a:r>
              <a:rPr lang="en-GB" sz="2800" dirty="0" smtClean="0">
                <a:latin typeface="Times New Roman" pitchFamily="18" charset="0"/>
                <a:cs typeface="Times New Roman" pitchFamily="18" charset="0"/>
              </a:rPr>
              <a:t> than you.  </a:t>
            </a:r>
          </a:p>
          <a:p>
            <a:pPr marL="342900" marR="0" lvl="0" indent="-342900" defTabSz="457200" rtl="0" eaLnBrk="1" fontAlgn="auto" latinLnBrk="0" hangingPunct="1">
              <a:lnSpc>
                <a:spcPct val="100000"/>
              </a:lnSpc>
              <a:spcBef>
                <a:spcPct val="20000"/>
              </a:spcBef>
              <a:spcAft>
                <a:spcPts val="0"/>
              </a:spcAft>
              <a:buClrTx/>
              <a:buSzTx/>
              <a:tabLst/>
              <a:defRPr/>
            </a:pPr>
            <a:r>
              <a:rPr lang="en-GB" sz="2800" dirty="0" smtClean="0">
                <a:latin typeface="Times New Roman" pitchFamily="18" charset="0"/>
                <a:cs typeface="Times New Roman" pitchFamily="18" charset="0"/>
              </a:rPr>
              <a:t>       He is the </a:t>
            </a:r>
            <a:r>
              <a:rPr lang="en-GB" sz="2800" b="1" dirty="0" smtClean="0">
                <a:latin typeface="Times New Roman" pitchFamily="18" charset="0"/>
                <a:cs typeface="Times New Roman" pitchFamily="18" charset="0"/>
              </a:rPr>
              <a:t>fastest</a:t>
            </a:r>
            <a:r>
              <a:rPr lang="en-GB" sz="2800" dirty="0" smtClean="0">
                <a:latin typeface="Times New Roman" pitchFamily="18" charset="0"/>
                <a:cs typeface="Times New Roman" pitchFamily="18" charset="0"/>
              </a:rPr>
              <a:t> of them all. </a:t>
            </a:r>
          </a:p>
          <a:p>
            <a:pPr marL="342900" marR="0" lvl="0" indent="-342900" defTabSz="457200" rtl="0" eaLnBrk="1" fontAlgn="auto" latinLnBrk="0" hangingPunct="1">
              <a:lnSpc>
                <a:spcPct val="100000"/>
              </a:lnSpc>
              <a:spcBef>
                <a:spcPct val="20000"/>
              </a:spcBef>
              <a:spcAft>
                <a:spcPts val="0"/>
              </a:spcAft>
              <a:buClrTx/>
              <a:buSzTx/>
              <a:buFont typeface="Arial" pitchFamily="34" charset="0"/>
              <a:buChar char="•"/>
              <a:tabLst/>
              <a:defRPr/>
            </a:pPr>
            <a:r>
              <a:rPr lang="en-GB" sz="2800" dirty="0" smtClean="0">
                <a:latin typeface="Times New Roman" pitchFamily="18" charset="0"/>
                <a:cs typeface="Times New Roman" pitchFamily="18" charset="0"/>
              </a:rPr>
              <a:t>Some adverbs are also identified with the suffix –</a:t>
            </a:r>
            <a:r>
              <a:rPr lang="en-GB" sz="2800" dirty="0" err="1" smtClean="0">
                <a:latin typeface="Times New Roman" pitchFamily="18" charset="0"/>
                <a:cs typeface="Times New Roman" pitchFamily="18" charset="0"/>
              </a:rPr>
              <a:t>ly</a:t>
            </a:r>
            <a:r>
              <a:rPr lang="en-GB" sz="2800" dirty="0" smtClean="0">
                <a:latin typeface="Times New Roman" pitchFamily="18" charset="0"/>
                <a:cs typeface="Times New Roman" pitchFamily="18" charset="0"/>
              </a:rPr>
              <a:t>. </a:t>
            </a:r>
          </a:p>
          <a:p>
            <a:pPr marL="342900" marR="0" lvl="0" indent="-342900" defTabSz="457200" rtl="0" eaLnBrk="1" fontAlgn="auto" latinLnBrk="0" hangingPunct="1">
              <a:lnSpc>
                <a:spcPct val="100000"/>
              </a:lnSpc>
              <a:spcBef>
                <a:spcPct val="20000"/>
              </a:spcBef>
              <a:spcAft>
                <a:spcPts val="0"/>
              </a:spcAft>
              <a:buClrTx/>
              <a:buSzTx/>
              <a:tabLst/>
              <a:defRPr/>
            </a:pPr>
            <a:r>
              <a:rPr lang="en-GB" sz="3200" dirty="0" smtClean="0">
                <a:latin typeface="Times New Roman" pitchFamily="18" charset="0"/>
                <a:cs typeface="Times New Roman" pitchFamily="18" charset="0"/>
              </a:rPr>
              <a:t> </a:t>
            </a:r>
            <a:endParaRPr lang="en-GB" sz="2800" dirty="0" smtClean="0">
              <a:latin typeface="Times New Roman" pitchFamily="18" charset="0"/>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tabLst/>
              <a:defRPr/>
            </a:pPr>
            <a:endParaRPr kumimoji="0" lang="en-GB" sz="320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Arial"/>
              <a:buNone/>
              <a:tabLst/>
              <a:defRPr/>
            </a:pPr>
            <a:endParaRPr kumimoji="0" lang="en-GB"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tabLst/>
              <a:defRPr/>
            </a:pPr>
            <a:endParaRPr kumimoji="0" lang="en-GB"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endParaRPr kumimoji="0" lang="en-GB"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endParaRPr kumimoji="0" lang="en-GB" sz="32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0" y="152400"/>
            <a:ext cx="9223248" cy="6781800"/>
          </a:xfrm>
          <a:prstGeom prst="rect">
            <a:avLst/>
          </a:prstGeom>
        </p:spPr>
        <p:txBody>
          <a:bodyPr>
            <a:noAutofit/>
          </a:bodyPr>
          <a:lstStyle/>
          <a:p>
            <a:pPr marL="342900" marR="0" lvl="0" indent="-342900" defTabSz="457200" rtl="0" eaLnBrk="1" fontAlgn="auto" latinLnBrk="0" hangingPunct="1">
              <a:lnSpc>
                <a:spcPct val="100000"/>
              </a:lnSpc>
              <a:spcBef>
                <a:spcPct val="20000"/>
              </a:spcBef>
              <a:spcAft>
                <a:spcPts val="0"/>
              </a:spcAft>
              <a:buClrTx/>
              <a:buSzTx/>
              <a:buFont typeface="Arial" pitchFamily="34" charset="0"/>
              <a:buChar char="•"/>
              <a:tabLst/>
              <a:defRPr/>
            </a:pPr>
            <a:r>
              <a:rPr lang="en-GB" sz="2800" dirty="0" smtClean="0">
                <a:latin typeface="Times New Roman" pitchFamily="18" charset="0"/>
                <a:cs typeface="Times New Roman" pitchFamily="18" charset="0"/>
              </a:rPr>
              <a:t>In terms of their positions in sentences, adverbs have the property of mobility and can therefore begin the sentence, end the sentence or in some instances, come immediately after the subject of the sentence as indicated in the examples below. </a:t>
            </a:r>
          </a:p>
          <a:p>
            <a:pPr marL="342900" marR="0" lvl="0" indent="-342900" defTabSz="457200" rtl="0" eaLnBrk="1" fontAlgn="auto" latinLnBrk="0" hangingPunct="1">
              <a:lnSpc>
                <a:spcPct val="100000"/>
              </a:lnSpc>
              <a:spcBef>
                <a:spcPct val="20000"/>
              </a:spcBef>
              <a:spcAft>
                <a:spcPts val="0"/>
              </a:spcAft>
              <a:buClrTx/>
              <a:buSzTx/>
              <a:tabLst/>
              <a:defRPr/>
            </a:pPr>
            <a:r>
              <a:rPr lang="en-GB" sz="2800" dirty="0" smtClean="0">
                <a:latin typeface="Times New Roman" pitchFamily="18" charset="0"/>
                <a:cs typeface="Times New Roman" pitchFamily="18" charset="0"/>
              </a:rPr>
              <a:t>E.g. </a:t>
            </a:r>
            <a:r>
              <a:rPr lang="en-GB" sz="2800" b="1" dirty="0" smtClean="0">
                <a:latin typeface="Times New Roman" pitchFamily="18" charset="0"/>
                <a:cs typeface="Times New Roman" pitchFamily="18" charset="0"/>
              </a:rPr>
              <a:t>Usually,</a:t>
            </a:r>
            <a:r>
              <a:rPr lang="en-GB" sz="2800" dirty="0" smtClean="0">
                <a:latin typeface="Times New Roman" pitchFamily="18" charset="0"/>
                <a:cs typeface="Times New Roman" pitchFamily="18" charset="0"/>
              </a:rPr>
              <a:t> we go on holidays. </a:t>
            </a:r>
          </a:p>
          <a:p>
            <a:pPr marL="342900" lvl="0" indent="-342900">
              <a:spcBef>
                <a:spcPct val="20000"/>
              </a:spcBef>
              <a:defRPr/>
            </a:pPr>
            <a:r>
              <a:rPr lang="en-GB" sz="2800" dirty="0" smtClean="0">
                <a:latin typeface="Times New Roman" pitchFamily="18" charset="0"/>
                <a:cs typeface="Times New Roman" pitchFamily="18" charset="0"/>
              </a:rPr>
              <a:t>       We go on holidays </a:t>
            </a:r>
            <a:r>
              <a:rPr lang="en-GB" sz="2800" b="1" dirty="0" smtClean="0">
                <a:latin typeface="Times New Roman" pitchFamily="18" charset="0"/>
                <a:cs typeface="Times New Roman" pitchFamily="18" charset="0"/>
              </a:rPr>
              <a:t>usually</a:t>
            </a:r>
            <a:r>
              <a:rPr lang="en-GB" sz="2800" dirty="0" smtClean="0">
                <a:latin typeface="Times New Roman" pitchFamily="18" charset="0"/>
                <a:cs typeface="Times New Roman" pitchFamily="18" charset="0"/>
              </a:rPr>
              <a:t>. </a:t>
            </a:r>
          </a:p>
          <a:p>
            <a:pPr marL="342900" lvl="0" indent="-342900">
              <a:spcBef>
                <a:spcPct val="20000"/>
              </a:spcBef>
              <a:defRPr/>
            </a:pPr>
            <a:r>
              <a:rPr lang="en-GB" sz="2800" dirty="0" smtClean="0">
                <a:latin typeface="Times New Roman" pitchFamily="18" charset="0"/>
                <a:cs typeface="Times New Roman" pitchFamily="18" charset="0"/>
              </a:rPr>
              <a:t>        We </a:t>
            </a:r>
            <a:r>
              <a:rPr lang="en-GB" sz="2800" b="1" dirty="0" smtClean="0">
                <a:latin typeface="Times New Roman" pitchFamily="18" charset="0"/>
                <a:cs typeface="Times New Roman" pitchFamily="18" charset="0"/>
              </a:rPr>
              <a:t>usually</a:t>
            </a:r>
            <a:r>
              <a:rPr lang="en-GB" sz="2800" dirty="0" smtClean="0">
                <a:latin typeface="Times New Roman" pitchFamily="18" charset="0"/>
                <a:cs typeface="Times New Roman" pitchFamily="18" charset="0"/>
              </a:rPr>
              <a:t> go on holidays. </a:t>
            </a:r>
          </a:p>
          <a:p>
            <a:pPr marL="342900" lvl="0" indent="-342900">
              <a:spcBef>
                <a:spcPct val="20000"/>
              </a:spcBef>
              <a:defRPr/>
            </a:pPr>
            <a:r>
              <a:rPr lang="en-GB" sz="2800" dirty="0" smtClean="0">
                <a:latin typeface="Times New Roman" pitchFamily="18" charset="0"/>
                <a:cs typeface="Times New Roman" pitchFamily="18" charset="0"/>
              </a:rPr>
              <a:t>However, when adverbs are not properly placed, they can cause ambiguity. When it happens like that, it is advisable to place the adverb next to the headword it is intended to modify.  </a:t>
            </a:r>
          </a:p>
          <a:p>
            <a:pPr marL="342900" marR="0" lvl="0" indent="-342900" defTabSz="457200" rtl="0" eaLnBrk="1" fontAlgn="auto" latinLnBrk="0" hangingPunct="1">
              <a:lnSpc>
                <a:spcPct val="100000"/>
              </a:lnSpc>
              <a:spcBef>
                <a:spcPct val="20000"/>
              </a:spcBef>
              <a:spcAft>
                <a:spcPts val="0"/>
              </a:spcAft>
              <a:buClrTx/>
              <a:buSzTx/>
              <a:tabLst/>
              <a:defRPr/>
            </a:pPr>
            <a:endParaRPr lang="en-GB" sz="2800" dirty="0" smtClean="0">
              <a:latin typeface="Times New Roman" pitchFamily="18" charset="0"/>
              <a:cs typeface="Times New Roman" pitchFamily="18" charset="0"/>
            </a:endParaRPr>
          </a:p>
          <a:p>
            <a:pPr marL="342900" marR="0" lvl="0" indent="-342900" defTabSz="457200" rtl="0" eaLnBrk="1" fontAlgn="auto" latinLnBrk="0" hangingPunct="1">
              <a:lnSpc>
                <a:spcPct val="100000"/>
              </a:lnSpc>
              <a:spcBef>
                <a:spcPct val="20000"/>
              </a:spcBef>
              <a:spcAft>
                <a:spcPts val="0"/>
              </a:spcAft>
              <a:buClrTx/>
              <a:buSzTx/>
              <a:tabLst/>
              <a:defRPr/>
            </a:pPr>
            <a:r>
              <a:rPr lang="en-GB" sz="2800" dirty="0" smtClean="0">
                <a:latin typeface="Times New Roman" pitchFamily="18" charset="0"/>
                <a:cs typeface="Times New Roman" pitchFamily="18" charset="0"/>
              </a:rPr>
              <a:t> </a:t>
            </a:r>
          </a:p>
          <a:p>
            <a:pPr marL="342900" marR="0" lvl="0" indent="-342900" algn="l" defTabSz="457200" rtl="0" eaLnBrk="1" fontAlgn="auto" latinLnBrk="0" hangingPunct="1">
              <a:lnSpc>
                <a:spcPct val="100000"/>
              </a:lnSpc>
              <a:spcBef>
                <a:spcPct val="20000"/>
              </a:spcBef>
              <a:spcAft>
                <a:spcPts val="0"/>
              </a:spcAft>
              <a:buClrTx/>
              <a:buSzTx/>
              <a:tabLst/>
              <a:defRPr/>
            </a:pPr>
            <a:endParaRPr kumimoji="0" lang="en-GB" sz="280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Arial"/>
              <a:buNone/>
              <a:tabLst/>
              <a:defRPr/>
            </a:pPr>
            <a:endParaRPr kumimoji="0" lang="en-GB"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tabLst/>
              <a:defRPr/>
            </a:pPr>
            <a:endParaRPr kumimoji="0" lang="en-GB"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endParaRPr kumimoji="0" lang="en-GB"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endParaRPr kumimoji="0" lang="en-GB" sz="28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357536"/>
          </a:xfrm>
        </p:spPr>
        <p:txBody>
          <a:bodyPr/>
          <a:lstStyle/>
          <a:p>
            <a:pPr marL="342900" lvl="0" indent="-342900" algn="l">
              <a:spcBef>
                <a:spcPct val="20000"/>
              </a:spcBef>
              <a:defRPr/>
            </a:pPr>
            <a:r>
              <a:rPr lang="en-GB" sz="2800" b="1" dirty="0" smtClean="0">
                <a:latin typeface="Times New Roman" pitchFamily="18" charset="0"/>
                <a:cs typeface="Times New Roman" pitchFamily="18" charset="0"/>
              </a:rPr>
              <a:t>   Identification based on function</a:t>
            </a:r>
            <a:br>
              <a:rPr lang="en-GB" sz="2800" b="1" dirty="0" smtClean="0">
                <a:latin typeface="Times New Roman" pitchFamily="18" charset="0"/>
                <a:cs typeface="Times New Roman" pitchFamily="18" charset="0"/>
              </a:rPr>
            </a:br>
            <a:r>
              <a:rPr lang="en-GB" sz="2800" b="1" dirty="0" smtClean="0">
                <a:latin typeface="Times New Roman" pitchFamily="18" charset="0"/>
                <a:cs typeface="Times New Roman" pitchFamily="18" charset="0"/>
              </a:rPr>
              <a:t/>
            </a:r>
            <a:br>
              <a:rPr lang="en-GB" sz="2800" b="1"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It must be indicated that adverb phrases can also perform all these functions. Again, these functions that adverbs perform are what lead to the types of adverbs. </a:t>
            </a:r>
            <a:br>
              <a:rPr lang="en-GB" sz="2800"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
            </a:r>
            <a:br>
              <a:rPr lang="en-GB" sz="2800"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1. Adverbs are used to indicate time. </a:t>
            </a:r>
            <a:br>
              <a:rPr lang="en-GB" sz="2800"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E.g.  The alarm went off </a:t>
            </a:r>
            <a:r>
              <a:rPr lang="en-GB" sz="2800" b="1" dirty="0" smtClean="0">
                <a:latin typeface="Times New Roman" pitchFamily="18" charset="0"/>
                <a:cs typeface="Times New Roman" pitchFamily="18" charset="0"/>
              </a:rPr>
              <a:t>yesterday</a:t>
            </a:r>
            <a:r>
              <a:rPr lang="en-GB" sz="2800" dirty="0" smtClean="0">
                <a:latin typeface="Times New Roman" pitchFamily="18" charset="0"/>
                <a:cs typeface="Times New Roman" pitchFamily="18" charset="0"/>
              </a:rPr>
              <a:t>. </a:t>
            </a:r>
            <a:br>
              <a:rPr lang="en-GB" sz="2800"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
            </a:r>
            <a:br>
              <a:rPr lang="en-GB" sz="2800" dirty="0" smtClean="0">
                <a:latin typeface="Times New Roman" pitchFamily="18" charset="0"/>
                <a:cs typeface="Times New Roman" pitchFamily="18" charset="0"/>
              </a:rPr>
            </a:br>
            <a:endParaRPr lang="en-GB" sz="2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185530" y="152400"/>
            <a:ext cx="9037718" cy="6781800"/>
          </a:xfrm>
          <a:prstGeom prst="rect">
            <a:avLst/>
          </a:prstGeom>
        </p:spPr>
        <p:txBody>
          <a:bodyPr>
            <a:noAutofit/>
          </a:bodyPr>
          <a:lstStyle/>
          <a:p>
            <a:pPr marL="342900" lvl="0" indent="-342900">
              <a:spcBef>
                <a:spcPct val="20000"/>
              </a:spcBef>
              <a:defRPr/>
            </a:pPr>
            <a:r>
              <a:rPr lang="en-GB" sz="2800" dirty="0" smtClean="0">
                <a:latin typeface="Times New Roman" pitchFamily="18" charset="0"/>
                <a:cs typeface="Times New Roman" pitchFamily="18" charset="0"/>
              </a:rPr>
              <a:t>2. They are used to indicate manner. </a:t>
            </a:r>
          </a:p>
          <a:p>
            <a:pPr marL="342900" lvl="0" indent="-342900">
              <a:spcBef>
                <a:spcPct val="20000"/>
              </a:spcBef>
              <a:defRPr/>
            </a:pPr>
            <a:r>
              <a:rPr lang="en-GB" sz="2800" dirty="0" smtClean="0">
                <a:latin typeface="Times New Roman" pitchFamily="18" charset="0"/>
                <a:cs typeface="Times New Roman" pitchFamily="18" charset="0"/>
              </a:rPr>
              <a:t>E.g. Present your case </a:t>
            </a:r>
            <a:r>
              <a:rPr lang="en-GB" sz="2800" b="1" dirty="0" smtClean="0">
                <a:latin typeface="Times New Roman" pitchFamily="18" charset="0"/>
                <a:cs typeface="Times New Roman" pitchFamily="18" charset="0"/>
              </a:rPr>
              <a:t>carefully</a:t>
            </a:r>
            <a:r>
              <a:rPr lang="en-GB" sz="2800" dirty="0" smtClean="0">
                <a:latin typeface="Times New Roman" pitchFamily="18" charset="0"/>
                <a:cs typeface="Times New Roman" pitchFamily="18" charset="0"/>
              </a:rPr>
              <a:t>.   </a:t>
            </a:r>
          </a:p>
          <a:p>
            <a:pPr marL="342900" marR="0" lvl="0" indent="-342900" defTabSz="457200" rtl="0" eaLnBrk="1" fontAlgn="auto" latinLnBrk="0" hangingPunct="1">
              <a:lnSpc>
                <a:spcPct val="100000"/>
              </a:lnSpc>
              <a:spcBef>
                <a:spcPct val="20000"/>
              </a:spcBef>
              <a:spcAft>
                <a:spcPts val="0"/>
              </a:spcAft>
              <a:buClrTx/>
              <a:buSzTx/>
              <a:tabLst/>
              <a:defRPr/>
            </a:pPr>
            <a:r>
              <a:rPr lang="en-GB" sz="2800" dirty="0" smtClean="0">
                <a:latin typeface="Times New Roman" pitchFamily="18" charset="0"/>
                <a:cs typeface="Times New Roman" pitchFamily="18" charset="0"/>
              </a:rPr>
              <a:t>3. They are used to indicate place</a:t>
            </a:r>
          </a:p>
          <a:p>
            <a:pPr marL="342900" marR="0" lvl="0" indent="-342900" defTabSz="457200" rtl="0" eaLnBrk="1" fontAlgn="auto" latinLnBrk="0" hangingPunct="1">
              <a:lnSpc>
                <a:spcPct val="100000"/>
              </a:lnSpc>
              <a:spcBef>
                <a:spcPct val="20000"/>
              </a:spcBef>
              <a:spcAft>
                <a:spcPts val="0"/>
              </a:spcAft>
              <a:buClrTx/>
              <a:buSzTx/>
              <a:tabLst/>
              <a:defRPr/>
            </a:pPr>
            <a:r>
              <a:rPr lang="en-GB" sz="2800" dirty="0" smtClean="0">
                <a:latin typeface="Times New Roman" pitchFamily="18" charset="0"/>
                <a:cs typeface="Times New Roman" pitchFamily="18" charset="0"/>
              </a:rPr>
              <a:t>E.g. </a:t>
            </a:r>
            <a:r>
              <a:rPr lang="en-GB" sz="2800" b="1" dirty="0" smtClean="0">
                <a:latin typeface="Times New Roman" pitchFamily="18" charset="0"/>
                <a:cs typeface="Times New Roman" pitchFamily="18" charset="0"/>
              </a:rPr>
              <a:t>Here</a:t>
            </a:r>
            <a:r>
              <a:rPr lang="en-GB" sz="2800" dirty="0" smtClean="0">
                <a:latin typeface="Times New Roman" pitchFamily="18" charset="0"/>
                <a:cs typeface="Times New Roman" pitchFamily="18" charset="0"/>
              </a:rPr>
              <a:t>, the situation is different.</a:t>
            </a:r>
          </a:p>
          <a:p>
            <a:pPr marL="342900" marR="0" lvl="0" indent="-342900" defTabSz="457200" rtl="0" eaLnBrk="1" fontAlgn="auto" latinLnBrk="0" hangingPunct="1">
              <a:lnSpc>
                <a:spcPct val="100000"/>
              </a:lnSpc>
              <a:spcBef>
                <a:spcPct val="20000"/>
              </a:spcBef>
              <a:spcAft>
                <a:spcPts val="0"/>
              </a:spcAft>
              <a:buClrTx/>
              <a:buSzTx/>
              <a:tabLst/>
              <a:defRPr/>
            </a:pPr>
            <a:r>
              <a:rPr lang="en-GB" sz="2800" dirty="0" smtClean="0">
                <a:latin typeface="Times New Roman" pitchFamily="18" charset="0"/>
                <a:cs typeface="Times New Roman" pitchFamily="18" charset="0"/>
              </a:rPr>
              <a:t>4. They are used to indicate frequency. </a:t>
            </a:r>
          </a:p>
          <a:p>
            <a:pPr marL="342900" marR="0" lvl="0" indent="-342900" defTabSz="457200" rtl="0" eaLnBrk="1" fontAlgn="auto" latinLnBrk="0" hangingPunct="1">
              <a:lnSpc>
                <a:spcPct val="100000"/>
              </a:lnSpc>
              <a:spcBef>
                <a:spcPct val="20000"/>
              </a:spcBef>
              <a:spcAft>
                <a:spcPts val="0"/>
              </a:spcAft>
              <a:buClrTx/>
              <a:buSzTx/>
              <a:tabLst/>
              <a:defRPr/>
            </a:pPr>
            <a:r>
              <a:rPr lang="en-GB" sz="2800" dirty="0" smtClean="0">
                <a:latin typeface="Times New Roman" pitchFamily="18" charset="0"/>
                <a:cs typeface="Times New Roman" pitchFamily="18" charset="0"/>
              </a:rPr>
              <a:t>E.g. She comes here </a:t>
            </a:r>
            <a:r>
              <a:rPr lang="en-GB" sz="2800" b="1" dirty="0" smtClean="0">
                <a:latin typeface="Times New Roman" pitchFamily="18" charset="0"/>
                <a:cs typeface="Times New Roman" pitchFamily="18" charset="0"/>
              </a:rPr>
              <a:t>often</a:t>
            </a:r>
            <a:r>
              <a:rPr lang="en-GB" sz="2800" dirty="0" smtClean="0">
                <a:latin typeface="Times New Roman" pitchFamily="18" charset="0"/>
                <a:cs typeface="Times New Roman" pitchFamily="18" charset="0"/>
              </a:rPr>
              <a:t>.  </a:t>
            </a:r>
          </a:p>
          <a:p>
            <a:pPr marL="342900" marR="0" lvl="0" indent="-342900" defTabSz="457200" rtl="0" eaLnBrk="1" fontAlgn="auto" latinLnBrk="0" hangingPunct="1">
              <a:lnSpc>
                <a:spcPct val="100000"/>
              </a:lnSpc>
              <a:spcBef>
                <a:spcPct val="20000"/>
              </a:spcBef>
              <a:spcAft>
                <a:spcPts val="0"/>
              </a:spcAft>
              <a:buClrTx/>
              <a:buSzTx/>
              <a:tabLst/>
              <a:defRPr/>
            </a:pPr>
            <a:r>
              <a:rPr lang="en-GB" sz="2800" dirty="0" smtClean="0">
                <a:latin typeface="Times New Roman" pitchFamily="18" charset="0"/>
                <a:cs typeface="Times New Roman" pitchFamily="18" charset="0"/>
              </a:rPr>
              <a:t>5. They are used to indicate reason. </a:t>
            </a:r>
          </a:p>
          <a:p>
            <a:pPr marL="342900" marR="0" lvl="0" indent="-342900" defTabSz="457200" rtl="0" eaLnBrk="1" fontAlgn="auto" latinLnBrk="0" hangingPunct="1">
              <a:lnSpc>
                <a:spcPct val="100000"/>
              </a:lnSpc>
              <a:spcBef>
                <a:spcPct val="20000"/>
              </a:spcBef>
              <a:spcAft>
                <a:spcPts val="0"/>
              </a:spcAft>
              <a:buClrTx/>
              <a:buSzTx/>
              <a:tabLst/>
              <a:defRPr/>
            </a:pPr>
            <a:r>
              <a:rPr lang="en-GB" sz="2800" dirty="0" smtClean="0">
                <a:latin typeface="Times New Roman" pitchFamily="18" charset="0"/>
                <a:cs typeface="Times New Roman" pitchFamily="18" charset="0"/>
              </a:rPr>
              <a:t>E.g. </a:t>
            </a:r>
            <a:r>
              <a:rPr lang="en-GB" sz="2800" b="1" dirty="0" smtClean="0">
                <a:latin typeface="Times New Roman" pitchFamily="18" charset="0"/>
                <a:cs typeface="Times New Roman" pitchFamily="18" charset="0"/>
              </a:rPr>
              <a:t>As it’s Friday</a:t>
            </a:r>
            <a:r>
              <a:rPr lang="en-GB" sz="2800" dirty="0" smtClean="0">
                <a:latin typeface="Times New Roman" pitchFamily="18" charset="0"/>
                <a:cs typeface="Times New Roman" pitchFamily="18" charset="0"/>
              </a:rPr>
              <a:t>, you can stay up another hour.</a:t>
            </a:r>
          </a:p>
          <a:p>
            <a:pPr marL="342900" marR="0" lvl="0" indent="-342900" defTabSz="457200" rtl="0" eaLnBrk="1" fontAlgn="auto" latinLnBrk="0" hangingPunct="1">
              <a:lnSpc>
                <a:spcPct val="100000"/>
              </a:lnSpc>
              <a:spcBef>
                <a:spcPct val="20000"/>
              </a:spcBef>
              <a:spcAft>
                <a:spcPts val="0"/>
              </a:spcAft>
              <a:buClrTx/>
              <a:buSzTx/>
              <a:tabLst/>
              <a:defRPr/>
            </a:pPr>
            <a:r>
              <a:rPr lang="en-GB" sz="2800" dirty="0" smtClean="0">
                <a:latin typeface="Times New Roman" pitchFamily="18" charset="0"/>
                <a:cs typeface="Times New Roman" pitchFamily="18" charset="0"/>
              </a:rPr>
              <a:t>6. They are used to indicate degree. </a:t>
            </a:r>
          </a:p>
          <a:p>
            <a:pPr marL="342900" marR="0" lvl="0" indent="-342900" defTabSz="457200" rtl="0" eaLnBrk="1" fontAlgn="auto" latinLnBrk="0" hangingPunct="1">
              <a:lnSpc>
                <a:spcPct val="100000"/>
              </a:lnSpc>
              <a:spcBef>
                <a:spcPct val="20000"/>
              </a:spcBef>
              <a:spcAft>
                <a:spcPts val="0"/>
              </a:spcAft>
              <a:buClrTx/>
              <a:buSzTx/>
              <a:tabLst/>
              <a:defRPr/>
            </a:pPr>
            <a:r>
              <a:rPr lang="en-GB" sz="2800" dirty="0" smtClean="0">
                <a:latin typeface="Times New Roman" pitchFamily="18" charset="0"/>
                <a:cs typeface="Times New Roman" pitchFamily="18" charset="0"/>
              </a:rPr>
              <a:t>E.g. She is not </a:t>
            </a:r>
            <a:r>
              <a:rPr lang="en-GB" sz="2800" b="1" dirty="0" smtClean="0">
                <a:latin typeface="Times New Roman" pitchFamily="18" charset="0"/>
                <a:cs typeface="Times New Roman" pitchFamily="18" charset="0"/>
              </a:rPr>
              <a:t>as poor as </a:t>
            </a:r>
            <a:r>
              <a:rPr lang="en-GB" sz="2800" dirty="0" smtClean="0">
                <a:latin typeface="Times New Roman" pitchFamily="18" charset="0"/>
                <a:cs typeface="Times New Roman" pitchFamily="18" charset="0"/>
              </a:rPr>
              <a:t>she could have been. </a:t>
            </a:r>
          </a:p>
          <a:p>
            <a:pPr marL="342900" marR="0" lvl="0" indent="-342900" defTabSz="457200" rtl="0" eaLnBrk="1" fontAlgn="auto" latinLnBrk="0" hangingPunct="1">
              <a:lnSpc>
                <a:spcPct val="100000"/>
              </a:lnSpc>
              <a:spcBef>
                <a:spcPct val="20000"/>
              </a:spcBef>
              <a:spcAft>
                <a:spcPts val="0"/>
              </a:spcAft>
              <a:buClrTx/>
              <a:buSzTx/>
              <a:tabLst/>
              <a:defRPr/>
            </a:pPr>
            <a:r>
              <a:rPr lang="en-GB" sz="2800" dirty="0" smtClean="0">
                <a:latin typeface="Times New Roman" pitchFamily="18" charset="0"/>
                <a:cs typeface="Times New Roman" pitchFamily="18" charset="0"/>
              </a:rPr>
              <a:t> </a:t>
            </a:r>
          </a:p>
          <a:p>
            <a:pPr marL="342900" marR="0" lvl="0" indent="-342900" defTabSz="457200" rtl="0" eaLnBrk="1" fontAlgn="auto" latinLnBrk="0" hangingPunct="1">
              <a:lnSpc>
                <a:spcPct val="100000"/>
              </a:lnSpc>
              <a:spcBef>
                <a:spcPct val="20000"/>
              </a:spcBef>
              <a:spcAft>
                <a:spcPts val="0"/>
              </a:spcAft>
              <a:buClrTx/>
              <a:buSzTx/>
              <a:tabLst/>
              <a:defRPr/>
            </a:pPr>
            <a:endParaRPr lang="en-GB" sz="2400" dirty="0" smtClean="0">
              <a:latin typeface="Times New Roman" pitchFamily="18" charset="0"/>
              <a:cs typeface="Times New Roman" pitchFamily="18" charset="0"/>
            </a:endParaRPr>
          </a:p>
          <a:p>
            <a:pPr marL="342900" marR="0" lvl="0" indent="-342900" defTabSz="457200" rtl="0" eaLnBrk="1" fontAlgn="auto" latinLnBrk="0" hangingPunct="1">
              <a:lnSpc>
                <a:spcPct val="100000"/>
              </a:lnSpc>
              <a:spcBef>
                <a:spcPct val="20000"/>
              </a:spcBef>
              <a:spcAft>
                <a:spcPts val="0"/>
              </a:spcAft>
              <a:buClrTx/>
              <a:buSzTx/>
              <a:tabLst/>
              <a:defRPr/>
            </a:pPr>
            <a:endParaRPr lang="en-GB" sz="2400" dirty="0" smtClean="0">
              <a:latin typeface="Times New Roman" pitchFamily="18" charset="0"/>
              <a:cs typeface="Times New Roman" pitchFamily="18" charset="0"/>
            </a:endParaRPr>
          </a:p>
          <a:p>
            <a:pPr marL="342900" marR="0" lvl="0" indent="-342900" defTabSz="457200" rtl="0" eaLnBrk="1" fontAlgn="auto" latinLnBrk="0" hangingPunct="1">
              <a:lnSpc>
                <a:spcPct val="100000"/>
              </a:lnSpc>
              <a:spcBef>
                <a:spcPct val="20000"/>
              </a:spcBef>
              <a:spcAft>
                <a:spcPts val="0"/>
              </a:spcAft>
              <a:buClrTx/>
              <a:buSzTx/>
              <a:tabLst/>
              <a:defRPr/>
            </a:pPr>
            <a:r>
              <a:rPr lang="en-GB" sz="2400" dirty="0" smtClean="0">
                <a:latin typeface="Times New Roman" pitchFamily="18" charset="0"/>
                <a:cs typeface="Times New Roman" pitchFamily="18" charset="0"/>
              </a:rPr>
              <a:t> </a:t>
            </a:r>
          </a:p>
          <a:p>
            <a:pPr marL="342900" marR="0" lvl="0" indent="-342900" algn="l" defTabSz="457200" rtl="0" eaLnBrk="1" fontAlgn="auto" latinLnBrk="0" hangingPunct="1">
              <a:lnSpc>
                <a:spcPct val="100000"/>
              </a:lnSpc>
              <a:spcBef>
                <a:spcPct val="20000"/>
              </a:spcBef>
              <a:spcAft>
                <a:spcPts val="0"/>
              </a:spcAft>
              <a:buClrTx/>
              <a:buSzTx/>
              <a:tabLst/>
              <a:defRPr/>
            </a:pPr>
            <a:endParaRPr kumimoji="0" lang="en-GB" sz="240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Arial"/>
              <a:buNone/>
              <a:tabLst/>
              <a:defRPr/>
            </a:pPr>
            <a:endParaRPr kumimoji="0" lang="en-GB"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tabLst/>
              <a:defRPr/>
            </a:pPr>
            <a:endParaRPr kumimoji="0" lang="en-GB"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endParaRPr kumimoji="0" lang="en-GB"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Wingdings" pitchFamily="2" charset="2"/>
              <a:buChar char="§"/>
              <a:tabLst/>
              <a:defRPr/>
            </a:pPr>
            <a:endParaRPr kumimoji="0" lang="en-GB"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03235"/>
          </a:xfrm>
        </p:spPr>
        <p:txBody>
          <a:bodyPr/>
          <a:lstStyle/>
          <a:p>
            <a:pPr marL="342900" lvl="0" indent="-342900" algn="l">
              <a:spcBef>
                <a:spcPct val="20000"/>
              </a:spcBef>
              <a:buFont typeface="Arial" pitchFamily="34" charset="0"/>
              <a:buChar char="•"/>
              <a:defRPr/>
            </a:pPr>
            <a:r>
              <a:rPr lang="en-US" sz="2800" dirty="0" smtClean="0">
                <a:latin typeface="Times New Roman" pitchFamily="18" charset="0"/>
                <a:cs typeface="Times New Roman" pitchFamily="18" charset="0"/>
              </a:rPr>
              <a:t>Now, let us turn our attention to the non-lexical items.</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The non-lexical items do not carry semantic content. This </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means that, they do not make meaning on their own. They get their meaning mainly from the lexical words in context. </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They are also called closed class items, meaning that they do not accept new members. </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The non-lexical items are: prepositions, pronouns, conjunctions, determiners and interjections. </a:t>
            </a:r>
            <a:br>
              <a:rPr lang="en-US" sz="2800" dirty="0" smtClean="0">
                <a:latin typeface="Times New Roman" pitchFamily="18" charset="0"/>
                <a:cs typeface="Times New Roman" pitchFamily="18" charset="0"/>
              </a:rPr>
            </a:br>
            <a:endParaRPr lang="en-GB" sz="2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8421757" cy="5649084"/>
          </a:xfrm>
        </p:spPr>
        <p:txBody>
          <a:bodyPr/>
          <a:lstStyle/>
          <a:p>
            <a:pPr algn="l"/>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Form of Closed word Classes</a:t>
            </a: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NB: It must be noted that the closed word classes do not have a specific form. This means there are no specific suffixes or affixes that can be used to identify them.  </a:t>
            </a:r>
            <a:br>
              <a:rPr lang="en-US" sz="2800" dirty="0" smtClean="0">
                <a:latin typeface="Times New Roman" panose="02020603050405020304" pitchFamily="18" charset="0"/>
                <a:cs typeface="Times New Roman" panose="02020603050405020304" pitchFamily="18" charset="0"/>
              </a:rPr>
            </a:br>
            <a:endParaRPr lang="en-GB" sz="2800" dirty="0">
              <a:latin typeface="Times New Roman" pitchFamily="18" charset="0"/>
              <a:cs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5688840"/>
          </a:xfrm>
        </p:spPr>
        <p:txBody>
          <a:bodyPr/>
          <a:lstStyle/>
          <a:p>
            <a:pPr algn="l"/>
            <a:r>
              <a:rPr lang="en-US" sz="2800" b="1" dirty="0" smtClean="0">
                <a:latin typeface="Times New Roman" panose="02020603050405020304" pitchFamily="18" charset="0"/>
                <a:cs typeface="Times New Roman" panose="02020603050405020304" pitchFamily="18" charset="0"/>
              </a:rPr>
              <a:t>Prepositions </a:t>
            </a:r>
            <a:br>
              <a:rPr lang="en-US" sz="2800" b="1"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Prepositions are words that link nouns, pronouns and phrases to other words in a sentence.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A word or phrase that a preposition introduces is called the object of the preposition.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For example in the sentence, “The book is leaning on the table”, “the table” is the object of the preposition “on”.</a:t>
            </a:r>
            <a:br>
              <a:rPr lang="en-US" sz="2800" dirty="0" smtClean="0">
                <a:latin typeface="Times New Roman" panose="02020603050405020304" pitchFamily="18" charset="0"/>
                <a:cs typeface="Times New Roman" panose="02020603050405020304" pitchFamily="18" charset="0"/>
              </a:rPr>
            </a:br>
            <a:endParaRPr lang="en-GB" sz="2800" dirty="0">
              <a:latin typeface="Times New Roman" pitchFamily="18" charset="0"/>
              <a:cs typeface="Times New Roman"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490058"/>
          </a:xfrm>
        </p:spPr>
        <p:txBody>
          <a:bodyPr/>
          <a:lstStyle/>
          <a:p>
            <a:pPr algn="l"/>
            <a:r>
              <a:rPr lang="en-US" sz="2800" b="1" dirty="0" smtClean="0">
                <a:latin typeface="Times New Roman" panose="02020603050405020304" pitchFamily="18" charset="0"/>
                <a:cs typeface="Times New Roman" panose="02020603050405020304" pitchFamily="18" charset="0"/>
              </a:rPr>
              <a:t>The Positions of Prepositions</a:t>
            </a:r>
            <a:br>
              <a:rPr lang="en-US" sz="2800" b="1"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Prepositions normally precede their objects.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Sometimes, the preposition is separated from its complement as in:</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The man whom we gave the book to – instead of</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The man to whom we gave the book.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NB: The word complement is being used here in a literal sense to refer to whatever completes or comes after the preposition. </a:t>
            </a:r>
            <a:br>
              <a:rPr lang="en-US" sz="2800" dirty="0" smtClean="0">
                <a:latin typeface="Times New Roman" panose="02020603050405020304" pitchFamily="18" charset="0"/>
                <a:cs typeface="Times New Roman" panose="02020603050405020304" pitchFamily="18" charset="0"/>
              </a:rPr>
            </a:br>
            <a:endParaRPr lang="en-GB" sz="2800" dirty="0">
              <a:latin typeface="Times New Roman" pitchFamily="18" charset="0"/>
              <a:cs typeface="Times New Roman"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5622579"/>
          </a:xfrm>
        </p:spPr>
        <p:txBody>
          <a:bodyPr/>
          <a:lstStyle/>
          <a:p>
            <a:pPr algn="l">
              <a:lnSpc>
                <a:spcPct val="110000"/>
              </a:lnSpc>
            </a:pPr>
            <a:r>
              <a:rPr lang="en-US" sz="2800" dirty="0" smtClean="0">
                <a:latin typeface="Times New Roman" panose="02020603050405020304" pitchFamily="18" charset="0"/>
                <a:cs typeface="Times New Roman" panose="02020603050405020304" pitchFamily="18" charset="0"/>
              </a:rPr>
              <a:t>Prepositional phrases tend to be built the same: a preposition followed by a complement.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This is usually referred to as the object of the preposition.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The complement may be a pronoun, noun phrase or a gerund (a verb in its –</a:t>
            </a:r>
            <a:r>
              <a:rPr lang="en-US" sz="2800" dirty="0" err="1" smtClean="0">
                <a:latin typeface="Times New Roman" panose="02020603050405020304" pitchFamily="18" charset="0"/>
                <a:cs typeface="Times New Roman" panose="02020603050405020304" pitchFamily="18" charset="0"/>
              </a:rPr>
              <a:t>ing</a:t>
            </a:r>
            <a:r>
              <a:rPr lang="en-US" sz="2800" dirty="0" smtClean="0">
                <a:latin typeface="Times New Roman" panose="02020603050405020304" pitchFamily="18" charset="0"/>
                <a:cs typeface="Times New Roman" panose="02020603050405020304" pitchFamily="18" charset="0"/>
              </a:rPr>
              <a:t> form).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Some examples are: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I bought a bag for him (</a:t>
            </a:r>
            <a:r>
              <a:rPr lang="en-US" sz="2800" dirty="0" err="1" smtClean="0">
                <a:latin typeface="Times New Roman" panose="02020603050405020304" pitchFamily="18" charset="0"/>
                <a:cs typeface="Times New Roman" panose="02020603050405020304" pitchFamily="18" charset="0"/>
              </a:rPr>
              <a:t>prep+pronoun</a:t>
            </a:r>
            <a:r>
              <a:rPr lang="en-US" sz="2800" dirty="0" smtClean="0">
                <a:latin typeface="Times New Roman" panose="02020603050405020304" pitchFamily="18" charset="0"/>
                <a:cs typeface="Times New Roman" panose="02020603050405020304" pitchFamily="18" charset="0"/>
              </a:rPr>
              <a:t>).</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The cat is under the table (</a:t>
            </a:r>
            <a:r>
              <a:rPr lang="en-US" sz="2800" dirty="0" err="1" smtClean="0">
                <a:latin typeface="Times New Roman" panose="02020603050405020304" pitchFamily="18" charset="0"/>
                <a:cs typeface="Times New Roman" panose="02020603050405020304" pitchFamily="18" charset="0"/>
              </a:rPr>
              <a:t>prep+noun</a:t>
            </a:r>
            <a:r>
              <a:rPr lang="en-US" sz="2800" dirty="0" smtClean="0">
                <a:latin typeface="Times New Roman" panose="02020603050405020304" pitchFamily="18" charset="0"/>
                <a:cs typeface="Times New Roman" panose="02020603050405020304" pitchFamily="18" charset="0"/>
              </a:rPr>
              <a:t> phrase).</a:t>
            </a:r>
            <a:endParaRPr lang="en-GB" sz="2800" dirty="0">
              <a:latin typeface="Times New Roman" pitchFamily="18" charset="0"/>
              <a:cs typeface="Times New Roman"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5569571"/>
          </a:xfrm>
        </p:spPr>
        <p:txBody>
          <a:bodyPr/>
          <a:lstStyle/>
          <a:p>
            <a:pPr algn="l"/>
            <a:r>
              <a:rPr lang="en-US" sz="2800" b="1" dirty="0" smtClean="0">
                <a:latin typeface="Times New Roman" panose="02020603050405020304" pitchFamily="18" charset="0"/>
                <a:cs typeface="Times New Roman" panose="02020603050405020304" pitchFamily="18" charset="0"/>
              </a:rPr>
              <a:t>Functions of Some Prepositions</a:t>
            </a: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Prepositions fall into different types. These types have different uses in phrases or clauses.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Some of the types and their uses are presented in the following slides. </a:t>
            </a:r>
            <a:br>
              <a:rPr lang="en-US" sz="2800" dirty="0" smtClean="0">
                <a:latin typeface="Times New Roman" panose="02020603050405020304" pitchFamily="18" charset="0"/>
                <a:cs typeface="Times New Roman" panose="02020603050405020304" pitchFamily="18" charset="0"/>
              </a:rPr>
            </a:br>
            <a:endParaRPr lang="en-GB" sz="2800" dirty="0">
              <a:latin typeface="Times New Roman" pitchFamily="18" charset="0"/>
              <a:cs typeface="Times New Roman"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5569571"/>
          </a:xfrm>
        </p:spPr>
        <p:txBody>
          <a:bodyPr/>
          <a:lstStyle/>
          <a:p>
            <a:pPr algn="l"/>
            <a:r>
              <a:rPr lang="en-US" sz="2800" b="1" dirty="0" smtClean="0">
                <a:latin typeface="Times New Roman" panose="02020603050405020304" pitchFamily="18" charset="0"/>
                <a:cs typeface="Times New Roman" panose="02020603050405020304" pitchFamily="18" charset="0"/>
              </a:rPr>
              <a:t>Prepositions of Time: At, On, and In</a:t>
            </a:r>
            <a:br>
              <a:rPr lang="en-US" sz="2800" b="1"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We use </a:t>
            </a:r>
            <a:r>
              <a:rPr lang="en-US" sz="2800" b="1" dirty="0" smtClean="0">
                <a:latin typeface="Times New Roman" panose="02020603050405020304" pitchFamily="18" charset="0"/>
                <a:cs typeface="Times New Roman" panose="02020603050405020304" pitchFamily="18" charset="0"/>
              </a:rPr>
              <a:t>at </a:t>
            </a:r>
            <a:r>
              <a:rPr lang="en-US" sz="2800" dirty="0" smtClean="0">
                <a:latin typeface="Times New Roman" panose="02020603050405020304" pitchFamily="18" charset="0"/>
                <a:cs typeface="Times New Roman" panose="02020603050405020304" pitchFamily="18" charset="0"/>
              </a:rPr>
              <a:t>to designate specific times.</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E.g. The will leave at 4:00am tomorrow.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We use </a:t>
            </a:r>
            <a:r>
              <a:rPr lang="en-US" sz="2800" b="1" dirty="0" smtClean="0">
                <a:latin typeface="Times New Roman" panose="02020603050405020304" pitchFamily="18" charset="0"/>
                <a:cs typeface="Times New Roman" panose="02020603050405020304" pitchFamily="18" charset="0"/>
              </a:rPr>
              <a:t>on</a:t>
            </a:r>
            <a:r>
              <a:rPr lang="en-US" sz="2800" dirty="0" smtClean="0">
                <a:latin typeface="Times New Roman" panose="02020603050405020304" pitchFamily="18" charset="0"/>
                <a:cs typeface="Times New Roman" panose="02020603050405020304" pitchFamily="18" charset="0"/>
              </a:rPr>
              <a:t> to designate days and dates.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E.g. My father is coming on Monday.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We use in for non-specific times during the day, month, season, or year.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E.g. He started the job </a:t>
            </a:r>
            <a:r>
              <a:rPr lang="en-US" sz="2800" b="1" dirty="0" smtClean="0">
                <a:latin typeface="Times New Roman" panose="02020603050405020304" pitchFamily="18" charset="0"/>
                <a:cs typeface="Times New Roman" panose="02020603050405020304" pitchFamily="18" charset="0"/>
              </a:rPr>
              <a:t>in</a:t>
            </a:r>
            <a:r>
              <a:rPr lang="en-US" sz="2800" dirty="0" smtClean="0">
                <a:latin typeface="Times New Roman" panose="02020603050405020304" pitchFamily="18" charset="0"/>
                <a:cs typeface="Times New Roman" panose="02020603050405020304" pitchFamily="18" charset="0"/>
              </a:rPr>
              <a:t> 1982. </a:t>
            </a:r>
            <a:br>
              <a:rPr lang="en-US" sz="2800" dirty="0" smtClean="0">
                <a:latin typeface="Times New Roman" panose="02020603050405020304" pitchFamily="18" charset="0"/>
                <a:cs typeface="Times New Roman" panose="02020603050405020304" pitchFamily="18" charset="0"/>
              </a:rPr>
            </a:br>
            <a:endParaRPr lang="en-GB" sz="2800" dirty="0">
              <a:latin typeface="Times New Roman" pitchFamily="18" charset="0"/>
              <a:cs typeface="Times New Roman"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516562"/>
          </a:xfrm>
        </p:spPr>
        <p:txBody>
          <a:bodyPr/>
          <a:lstStyle/>
          <a:p>
            <a:pPr algn="l"/>
            <a:r>
              <a:rPr lang="en-US" sz="2800" b="1" dirty="0" smtClean="0">
                <a:latin typeface="Times New Roman" panose="02020603050405020304" pitchFamily="18" charset="0"/>
                <a:cs typeface="Times New Roman" panose="02020603050405020304" pitchFamily="18" charset="0"/>
              </a:rPr>
              <a:t>Prepositions of Place: At, On, and In</a:t>
            </a: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We use </a:t>
            </a:r>
            <a:r>
              <a:rPr lang="en-US" sz="2800" b="1" dirty="0" smtClean="0">
                <a:latin typeface="Times New Roman" panose="02020603050405020304" pitchFamily="18" charset="0"/>
                <a:cs typeface="Times New Roman" panose="02020603050405020304" pitchFamily="18" charset="0"/>
              </a:rPr>
              <a:t>at</a:t>
            </a:r>
            <a:r>
              <a:rPr lang="en-US" sz="2800" dirty="0" smtClean="0">
                <a:latin typeface="Times New Roman" panose="02020603050405020304" pitchFamily="18" charset="0"/>
                <a:cs typeface="Times New Roman" panose="02020603050405020304" pitchFamily="18" charset="0"/>
              </a:rPr>
              <a:t> for specific addresses.</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E.g. The ceremony will be held at </a:t>
            </a:r>
            <a:r>
              <a:rPr lang="en-US" sz="2800" dirty="0" err="1" smtClean="0">
                <a:latin typeface="Times New Roman" panose="02020603050405020304" pitchFamily="18" charset="0"/>
                <a:cs typeface="Times New Roman" panose="02020603050405020304" pitchFamily="18" charset="0"/>
              </a:rPr>
              <a:t>Bomso</a:t>
            </a:r>
            <a:r>
              <a:rPr lang="en-US" sz="2800" dirty="0" smtClean="0">
                <a:latin typeface="Times New Roman" panose="02020603050405020304" pitchFamily="18" charset="0"/>
                <a:cs typeface="Times New Roman" panose="02020603050405020304" pitchFamily="18" charset="0"/>
              </a:rPr>
              <a:t> L/A Primary.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We use </a:t>
            </a:r>
            <a:r>
              <a:rPr lang="en-US" sz="2800" b="1" dirty="0" smtClean="0">
                <a:latin typeface="Times New Roman" panose="02020603050405020304" pitchFamily="18" charset="0"/>
                <a:cs typeface="Times New Roman" panose="02020603050405020304" pitchFamily="18" charset="0"/>
              </a:rPr>
              <a:t>on </a:t>
            </a:r>
            <a:r>
              <a:rPr lang="en-US" sz="2800" dirty="0" smtClean="0">
                <a:latin typeface="Times New Roman" panose="02020603050405020304" pitchFamily="18" charset="0"/>
                <a:cs typeface="Times New Roman" panose="02020603050405020304" pitchFamily="18" charset="0"/>
              </a:rPr>
              <a:t>to designate names of streets, avenues, etc.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E.g. Her house is on Ridge Road.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We use </a:t>
            </a:r>
            <a:r>
              <a:rPr lang="en-US" sz="2800" b="1" dirty="0" smtClean="0">
                <a:latin typeface="Times New Roman" panose="02020603050405020304" pitchFamily="18" charset="0"/>
                <a:cs typeface="Times New Roman" panose="02020603050405020304" pitchFamily="18" charset="0"/>
              </a:rPr>
              <a:t>in</a:t>
            </a:r>
            <a:r>
              <a:rPr lang="en-US" sz="2800" dirty="0" smtClean="0">
                <a:latin typeface="Times New Roman" panose="02020603050405020304" pitchFamily="18" charset="0"/>
                <a:cs typeface="Times New Roman" panose="02020603050405020304" pitchFamily="18" charset="0"/>
              </a:rPr>
              <a:t> for the names of land-areas (towns, countries, states, and continents).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E.g. She lives in Kumasi.</a:t>
            </a:r>
            <a:endParaRPr lang="en-GB" sz="2800" dirty="0">
              <a:latin typeface="Times New Roman" pitchFamily="18" charset="0"/>
              <a:cs typeface="Times New Roman"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5410545"/>
          </a:xfrm>
        </p:spPr>
        <p:txBody>
          <a:bodyPr/>
          <a:lstStyle/>
          <a:p>
            <a:pPr algn="l"/>
            <a:r>
              <a:rPr lang="en-US" sz="2800" b="1" dirty="0" smtClean="0">
                <a:latin typeface="Times New Roman" panose="02020603050405020304" pitchFamily="18" charset="0"/>
                <a:cs typeface="Times New Roman" panose="02020603050405020304" pitchFamily="18" charset="0"/>
              </a:rPr>
              <a:t>Prepositions of Movement: to and No Preposition</a:t>
            </a:r>
            <a:br>
              <a:rPr lang="en-US" sz="2800" b="1"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We use </a:t>
            </a:r>
            <a:r>
              <a:rPr lang="en-US" sz="2800" b="1" dirty="0" smtClean="0">
                <a:latin typeface="Times New Roman" panose="02020603050405020304" pitchFamily="18" charset="0"/>
                <a:cs typeface="Times New Roman" panose="02020603050405020304" pitchFamily="18" charset="0"/>
              </a:rPr>
              <a:t>to</a:t>
            </a:r>
            <a:r>
              <a:rPr lang="en-US" sz="2800" dirty="0" smtClean="0">
                <a:latin typeface="Times New Roman" panose="02020603050405020304" pitchFamily="18" charset="0"/>
                <a:cs typeface="Times New Roman" panose="02020603050405020304" pitchFamily="18" charset="0"/>
              </a:rPr>
              <a:t> in order to express movement towards a place.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E.g. They were walking to school together.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Toward</a:t>
            </a:r>
            <a:r>
              <a:rPr lang="en-US" sz="2800" dirty="0" smtClean="0">
                <a:latin typeface="Times New Roman" panose="02020603050405020304" pitchFamily="18" charset="0"/>
                <a:cs typeface="Times New Roman" panose="02020603050405020304" pitchFamily="18" charset="0"/>
              </a:rPr>
              <a:t> and </a:t>
            </a:r>
            <a:r>
              <a:rPr lang="en-US" sz="2800" b="1" dirty="0" smtClean="0">
                <a:latin typeface="Times New Roman" panose="02020603050405020304" pitchFamily="18" charset="0"/>
                <a:cs typeface="Times New Roman" panose="02020603050405020304" pitchFamily="18" charset="0"/>
              </a:rPr>
              <a:t>towards</a:t>
            </a:r>
            <a:r>
              <a:rPr lang="en-US" sz="2800" dirty="0" smtClean="0">
                <a:latin typeface="Times New Roman" panose="02020603050405020304" pitchFamily="18" charset="0"/>
                <a:cs typeface="Times New Roman" panose="02020603050405020304" pitchFamily="18" charset="0"/>
              </a:rPr>
              <a:t> are also helpful prepositions to express movement. </a:t>
            </a:r>
            <a:br>
              <a:rPr lang="en-US" sz="2800" dirty="0" smtClean="0">
                <a:latin typeface="Times New Roman" panose="02020603050405020304" pitchFamily="18" charset="0"/>
                <a:cs typeface="Times New Roman" panose="02020603050405020304" pitchFamily="18" charset="0"/>
              </a:rPr>
            </a:br>
            <a:endParaRPr lang="en-GB" sz="2800" dirty="0">
              <a:latin typeface="Times New Roman" pitchFamily="18" charset="0"/>
              <a:cs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5768353"/>
          </a:xfrm>
        </p:spPr>
        <p:txBody>
          <a:bodyPr/>
          <a:lstStyle/>
          <a:p>
            <a:pPr algn="l"/>
            <a:r>
              <a:rPr lang="en-US" sz="2800" b="1" dirty="0" smtClean="0">
                <a:latin typeface="Times New Roman" panose="02020603050405020304" pitchFamily="18" charset="0"/>
                <a:cs typeface="Times New Roman" panose="02020603050405020304" pitchFamily="18" charset="0"/>
              </a:rPr>
              <a:t>Pronouns</a:t>
            </a: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Pronouns are anaphoric elements used to replace nouns.</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E.g. The lady opened the refrigerator.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She opened it. (The pronoun </a:t>
            </a:r>
            <a:r>
              <a:rPr lang="en-US" sz="2800" b="1" dirty="0" smtClean="0">
                <a:latin typeface="Times New Roman" panose="02020603050405020304" pitchFamily="18" charset="0"/>
                <a:cs typeface="Times New Roman" panose="02020603050405020304" pitchFamily="18" charset="0"/>
              </a:rPr>
              <a:t>she </a:t>
            </a:r>
            <a:r>
              <a:rPr lang="en-US" sz="2800" dirty="0" smtClean="0">
                <a:latin typeface="Times New Roman" panose="02020603050405020304" pitchFamily="18" charset="0"/>
                <a:cs typeface="Times New Roman" panose="02020603050405020304" pitchFamily="18" charset="0"/>
              </a:rPr>
              <a:t>replaces ‘the lady’, and the pronoun </a:t>
            </a:r>
            <a:r>
              <a:rPr lang="en-US" sz="2800" b="1" dirty="0" smtClean="0">
                <a:latin typeface="Times New Roman" panose="02020603050405020304" pitchFamily="18" charset="0"/>
                <a:cs typeface="Times New Roman" panose="02020603050405020304" pitchFamily="18" charset="0"/>
              </a:rPr>
              <a:t>it</a:t>
            </a:r>
            <a:r>
              <a:rPr lang="en-US" sz="2800" dirty="0" smtClean="0">
                <a:latin typeface="Times New Roman" panose="02020603050405020304" pitchFamily="18" charset="0"/>
                <a:cs typeface="Times New Roman" panose="02020603050405020304" pitchFamily="18" charset="0"/>
              </a:rPr>
              <a:t> replaces ‘the refrigerator’)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Position of Pronouns</a:t>
            </a: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Pronouns can occur as subjects or as objects.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Example of a pronoun as a subject:</a:t>
            </a:r>
            <a:br>
              <a:rPr lang="en-US" sz="2800" dirty="0" smtClean="0">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She</a:t>
            </a:r>
            <a:r>
              <a:rPr lang="en-US" sz="2800" dirty="0" smtClean="0">
                <a:latin typeface="Times New Roman" panose="02020603050405020304" pitchFamily="18" charset="0"/>
                <a:cs typeface="Times New Roman" panose="02020603050405020304" pitchFamily="18" charset="0"/>
              </a:rPr>
              <a:t> is happy</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Example of a pronoun as an object</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Kofi gave the book to </a:t>
            </a:r>
            <a:r>
              <a:rPr lang="en-US" sz="2800" b="1" dirty="0" smtClean="0">
                <a:latin typeface="Times New Roman" panose="02020603050405020304" pitchFamily="18" charset="0"/>
                <a:cs typeface="Times New Roman" panose="02020603050405020304" pitchFamily="18" charset="0"/>
              </a:rPr>
              <a:t>me</a:t>
            </a:r>
            <a:r>
              <a:rPr lang="en-US" sz="2800" dirty="0" smtClean="0">
                <a:latin typeface="Times New Roman" panose="02020603050405020304" pitchFamily="18" charset="0"/>
                <a:cs typeface="Times New Roman" panose="02020603050405020304" pitchFamily="18" charset="0"/>
              </a:rPr>
              <a:t>.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endParaRPr lang="en-GB" sz="2800" dirty="0">
              <a:latin typeface="Times New Roman" pitchFamily="18" charset="0"/>
              <a:cs typeface="Times New Roman"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5609327"/>
          </a:xfrm>
        </p:spPr>
        <p:txBody>
          <a:bodyPr/>
          <a:lstStyle/>
          <a:p>
            <a:pPr algn="l"/>
            <a:r>
              <a:rPr lang="en-US" sz="2800" b="1" dirty="0" smtClean="0">
                <a:latin typeface="Times New Roman" panose="02020603050405020304" pitchFamily="18" charset="0"/>
                <a:cs typeface="Times New Roman" panose="02020603050405020304" pitchFamily="18" charset="0"/>
              </a:rPr>
              <a:t>Functions of Pronouns</a:t>
            </a: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They are used to identify nouns, they show possession,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they designate places, etc. It must be noted that there are many other functions of pronouns which are all linked to the types of pronouns. The types of pronouns have therefore been discussed below.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Types of Pronouns </a:t>
            </a: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err="1" smtClean="0">
                <a:latin typeface="Times New Roman" panose="02020603050405020304" pitchFamily="18" charset="0"/>
                <a:cs typeface="Times New Roman" panose="02020603050405020304" pitchFamily="18" charset="0"/>
              </a:rPr>
              <a:t>Pronouns</a:t>
            </a:r>
            <a:r>
              <a:rPr lang="en-US" sz="2800" dirty="0" smtClean="0">
                <a:latin typeface="Times New Roman" panose="02020603050405020304" pitchFamily="18" charset="0"/>
                <a:cs typeface="Times New Roman" panose="02020603050405020304" pitchFamily="18" charset="0"/>
              </a:rPr>
              <a:t> have been grouped into several types. These are: personal pronouns, demonstrative pronouns, relative pronouns, interrogative pronoun, indefinite pronouns , reflexive pronouns and intensive pronouns. </a:t>
            </a:r>
            <a:br>
              <a:rPr lang="en-US" sz="2800" dirty="0" smtClean="0">
                <a:latin typeface="Times New Roman" panose="02020603050405020304" pitchFamily="18" charset="0"/>
                <a:cs typeface="Times New Roman" panose="02020603050405020304" pitchFamily="18" charset="0"/>
              </a:rPr>
            </a:br>
            <a:endParaRPr lang="en-GB" sz="2800" dirty="0">
              <a:latin typeface="Times New Roman" pitchFamily="18" charset="0"/>
              <a:cs typeface="Times New Roman"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832"/>
          </a:xfrm>
        </p:spPr>
        <p:txBody>
          <a:bodyPr/>
          <a:lstStyle/>
          <a:p>
            <a:pPr algn="l"/>
            <a:r>
              <a:rPr lang="en-US" sz="2800" b="1" dirty="0" smtClean="0">
                <a:latin typeface="Times New Roman" panose="02020603050405020304" pitchFamily="18" charset="0"/>
                <a:cs typeface="Times New Roman" panose="02020603050405020304" pitchFamily="18" charset="0"/>
              </a:rPr>
              <a:t>Personal Pronouns</a:t>
            </a: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Personal pronouns refer to specific people or things and change their forms to indicate person, number, gender, and case.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Person</a:t>
            </a: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English indicates three types of persons – first person ,second person and third person.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“I” and “We” are the first person pronouns in English. “I” is the singular first person pronoun and “They” is the plural first person pronoun.</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E. g. I am happy.</a:t>
            </a:r>
            <a:br>
              <a:rPr lang="en-US" sz="2800" dirty="0" smtClean="0">
                <a:latin typeface="Times New Roman" panose="02020603050405020304" pitchFamily="18" charset="0"/>
                <a:cs typeface="Times New Roman" panose="02020603050405020304" pitchFamily="18" charset="0"/>
              </a:rPr>
            </a:br>
            <a:endParaRPr lang="en-GB" sz="2800" dirty="0">
              <a:latin typeface="Times New Roman" pitchFamily="18" charset="0"/>
              <a:cs typeface="Times New Roman"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529814"/>
          </a:xfrm>
        </p:spPr>
        <p:txBody>
          <a:bodyPr/>
          <a:lstStyle/>
          <a:p>
            <a:pPr marL="0" indent="0" algn="l"/>
            <a:r>
              <a:rPr lang="en-US" sz="2800" dirty="0" smtClean="0">
                <a:latin typeface="Times New Roman" panose="02020603050405020304" pitchFamily="18" charset="0"/>
                <a:cs typeface="Times New Roman" panose="02020603050405020304" pitchFamily="18" charset="0"/>
              </a:rPr>
              <a:t>“You” is the second person pronoun in English. It can either be used as singular or plural.</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E.g. You are my friend.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“He”, “She”, “It” and “They” are the third person pronouns in English.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“He”, “She” and “It” are the singular third person pronouns in English whilst “They” is the plural third person pronoun in English.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E.g. She is a lecturer.</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They were writing.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endParaRPr lang="en-GB" sz="2800" dirty="0">
              <a:latin typeface="Times New Roman" pitchFamily="18" charset="0"/>
              <a:cs typeface="Times New Roman"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62336"/>
          </a:xfrm>
        </p:spPr>
        <p:txBody>
          <a:bodyPr/>
          <a:lstStyle/>
          <a:p>
            <a:pPr algn="l"/>
            <a:r>
              <a:rPr lang="en-US" sz="2800" b="1" dirty="0" smtClean="0">
                <a:latin typeface="Times New Roman" panose="02020603050405020304" pitchFamily="18" charset="0"/>
                <a:cs typeface="Times New Roman" panose="02020603050405020304" pitchFamily="18" charset="0"/>
              </a:rPr>
              <a:t>Demonstrative Pronouns</a:t>
            </a: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A demonstrative pronoun points to, and identifies a noun or a pronoun.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The demonstrative pronouns are this, that, these and those.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Examples are:</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This tastes good.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That phone is mine.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Those are my friends.</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These cakes are delicious. </a:t>
            </a:r>
            <a:br>
              <a:rPr lang="en-US" sz="2800" dirty="0" smtClean="0">
                <a:latin typeface="Times New Roman" panose="02020603050405020304" pitchFamily="18" charset="0"/>
                <a:cs typeface="Times New Roman" panose="02020603050405020304" pitchFamily="18" charset="0"/>
              </a:rPr>
            </a:br>
            <a:endParaRPr lang="en-GB" sz="2800" dirty="0">
              <a:latin typeface="Times New Roman" pitchFamily="18" charset="0"/>
              <a:cs typeface="Times New Roman"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503310"/>
          </a:xfrm>
        </p:spPr>
        <p:txBody>
          <a:bodyPr/>
          <a:lstStyle/>
          <a:p>
            <a:pPr algn="l"/>
            <a:r>
              <a:rPr lang="en-US" sz="2800" b="1" dirty="0" smtClean="0">
                <a:latin typeface="Times New Roman" panose="02020603050405020304" pitchFamily="18" charset="0"/>
                <a:cs typeface="Times New Roman" panose="02020603050405020304" pitchFamily="18" charset="0"/>
              </a:rPr>
              <a:t>Interrogative Pronouns</a:t>
            </a:r>
            <a:br>
              <a:rPr lang="en-US" sz="2800" b="1"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The interrogative pronouns introduce questions.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The interrogative pronouns are the </a:t>
            </a:r>
            <a:r>
              <a:rPr lang="en-US" sz="2800" dirty="0" err="1" smtClean="0">
                <a:latin typeface="Times New Roman" panose="02020603050405020304" pitchFamily="18" charset="0"/>
                <a:cs typeface="Times New Roman" panose="02020603050405020304" pitchFamily="18" charset="0"/>
              </a:rPr>
              <a:t>wh</a:t>
            </a:r>
            <a:r>
              <a:rPr lang="en-US" sz="2800" dirty="0" smtClean="0">
                <a:latin typeface="Times New Roman" panose="02020603050405020304" pitchFamily="18" charset="0"/>
                <a:cs typeface="Times New Roman" panose="02020603050405020304" pitchFamily="18" charset="0"/>
              </a:rPr>
              <a:t>-words. These are: what, which, who, whom, when and whose.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Whereas “who” and “whom” are used to refer to people, “which” and “what” are used to refer to things or to animals.</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t>
            </a:r>
            <a:br>
              <a:rPr lang="en-US" sz="2800" dirty="0" smtClean="0">
                <a:latin typeface="Times New Roman" panose="02020603050405020304" pitchFamily="18" charset="0"/>
                <a:cs typeface="Times New Roman" panose="02020603050405020304" pitchFamily="18" charset="0"/>
              </a:rPr>
            </a:br>
            <a:endParaRPr lang="en-GB" sz="2800" dirty="0">
              <a:latin typeface="Times New Roman" pitchFamily="18" charset="0"/>
              <a:cs typeface="Times New Roman"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88840"/>
          </a:xfrm>
        </p:spPr>
        <p:txBody>
          <a:bodyPr/>
          <a:lstStyle/>
          <a:p>
            <a:pPr algn="l">
              <a:lnSpc>
                <a:spcPct val="100000"/>
              </a:lnSpc>
            </a:pPr>
            <a:r>
              <a:rPr lang="en-US" sz="2800" dirty="0" smtClean="0">
                <a:latin typeface="Times New Roman" panose="02020603050405020304" pitchFamily="18" charset="0"/>
                <a:cs typeface="Times New Roman" panose="02020603050405020304" pitchFamily="18" charset="0"/>
              </a:rPr>
              <a:t>Examples of  interrogative pronouns used in sentences:</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What did he say to you?</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Who asked the question?</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What is that?</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Who will buy me a pen?</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Which do you prefer?</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 Reading Assignment</a:t>
            </a: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Read on relative pronouns, indefinite pronouns, reflexive pronouns and intensive pronouns. </a:t>
            </a:r>
            <a:endParaRPr lang="en-GB" sz="2800" dirty="0">
              <a:latin typeface="Times New Roman" pitchFamily="18" charset="0"/>
              <a:cs typeface="Times New Roman"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529814"/>
          </a:xfrm>
        </p:spPr>
        <p:txBody>
          <a:bodyPr/>
          <a:lstStyle/>
          <a:p>
            <a:pPr algn="l">
              <a:lnSpc>
                <a:spcPct val="100000"/>
              </a:lnSpc>
            </a:pPr>
            <a:r>
              <a:rPr lang="en-US" sz="2800" b="1" dirty="0" smtClean="0">
                <a:latin typeface="Times New Roman" panose="02020603050405020304" pitchFamily="18" charset="0"/>
                <a:cs typeface="Times New Roman" panose="02020603050405020304" pitchFamily="18" charset="0"/>
              </a:rPr>
              <a:t>Determiners</a:t>
            </a:r>
            <a:br>
              <a:rPr lang="en-US" sz="2800" b="1"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Determiners “are those little words that precede and modify nouns.” (Afreh 2006: 149).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Examples are: the, a, that, a bit of, etc.</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Position</a:t>
            </a: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Determiners precede nouns and noun phrases.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As a result of the position they take in a noun phrase, determiners are said to mark nouns. That is, determiners are always followed by nouns.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endParaRPr lang="en-GB" sz="2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5569571"/>
          </a:xfrm>
        </p:spPr>
        <p:txBody>
          <a:bodyPr/>
          <a:lstStyle/>
          <a:p>
            <a:pPr algn="l"/>
            <a:r>
              <a:rPr lang="en-US" sz="2800" b="1" dirty="0" smtClean="0">
                <a:latin typeface="Times New Roman" panose="02020603050405020304" pitchFamily="18" charset="0"/>
                <a:cs typeface="Times New Roman" panose="02020603050405020304" pitchFamily="18" charset="0"/>
              </a:rPr>
              <a:t>Functions of Determiners</a:t>
            </a:r>
            <a:br>
              <a:rPr lang="en-US" sz="2800" b="1"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1. They specify nouns</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E.g. The cat is mine.</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2. They show possession.</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E.g. That was her.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3. They show quantity.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How many books are they?</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5569571"/>
          </a:xfrm>
        </p:spPr>
        <p:txBody>
          <a:bodyPr/>
          <a:lstStyle/>
          <a:p>
            <a:pPr algn="l"/>
            <a:r>
              <a:rPr lang="en-GB" sz="2800" b="1" dirty="0" smtClean="0">
                <a:latin typeface="Times New Roman" panose="02020603050405020304" pitchFamily="18" charset="0"/>
                <a:cs typeface="Times New Roman" panose="02020603050405020304" pitchFamily="18" charset="0"/>
              </a:rPr>
              <a:t>Conjunctions</a:t>
            </a:r>
            <a:r>
              <a:rPr lang="en-GB" sz="2800" dirty="0" smtClean="0">
                <a:latin typeface="Times New Roman" panose="02020603050405020304" pitchFamily="18" charset="0"/>
                <a:cs typeface="Times New Roman" panose="02020603050405020304" pitchFamily="18" charset="0"/>
              </a:rPr>
              <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Conjunctions are words that are used to join </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similar grammatical units like words and words, clauses and clauses or phrases and phrases.</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Some examples of conjunctions are </a:t>
            </a:r>
            <a:r>
              <a:rPr lang="en-GB" sz="2800" i="1" dirty="0" smtClean="0">
                <a:latin typeface="Times New Roman" panose="02020603050405020304" pitchFamily="18" charset="0"/>
                <a:cs typeface="Times New Roman" panose="02020603050405020304" pitchFamily="18" charset="0"/>
              </a:rPr>
              <a:t>but, or, while, before, or, yet, and, so . </a:t>
            </a:r>
            <a:br>
              <a:rPr lang="en-GB" sz="2800" i="1"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
            </a:r>
            <a:br>
              <a:rPr lang="en-GB" sz="2800" dirty="0" smtClean="0">
                <a:latin typeface="Times New Roman" panose="02020603050405020304" pitchFamily="18" charset="0"/>
                <a:cs typeface="Times New Roman" panose="02020603050405020304" pitchFamily="18" charset="0"/>
              </a:rPr>
            </a:br>
            <a:endParaRPr lang="en-GB" sz="2800" dirty="0">
              <a:latin typeface="Times New Roman" pitchFamily="18" charset="0"/>
              <a:cs typeface="Times New Roman"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5728597"/>
          </a:xfrm>
        </p:spPr>
        <p:txBody>
          <a:bodyPr/>
          <a:lstStyle/>
          <a:p>
            <a:pPr algn="l"/>
            <a:r>
              <a:rPr lang="en-GB" sz="2800" b="1" dirty="0" smtClean="0">
                <a:latin typeface="Times New Roman" panose="02020603050405020304" pitchFamily="18" charset="0"/>
                <a:cs typeface="Times New Roman" panose="02020603050405020304" pitchFamily="18" charset="0"/>
              </a:rPr>
              <a:t>Functions</a:t>
            </a:r>
            <a:r>
              <a:rPr lang="en-GB" sz="2800" dirty="0" smtClean="0">
                <a:latin typeface="Times New Roman" panose="02020603050405020304" pitchFamily="18" charset="0"/>
                <a:cs typeface="Times New Roman" panose="02020603050405020304" pitchFamily="18" charset="0"/>
              </a:rPr>
              <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1. Conjunctions are used to join words, phrases and clauses.</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Examples of such conjunctions are </a:t>
            </a:r>
            <a:r>
              <a:rPr lang="en-GB" sz="2800" i="1" dirty="0" smtClean="0">
                <a:latin typeface="Times New Roman" panose="02020603050405020304" pitchFamily="18" charset="0"/>
                <a:cs typeface="Times New Roman" panose="02020603050405020304" pitchFamily="18" charset="0"/>
              </a:rPr>
              <a:t>but, and, or, so, yet and, for </a:t>
            </a:r>
            <a:br>
              <a:rPr lang="en-GB" sz="2800" i="1"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 Examples: </a:t>
            </a:r>
            <a:br>
              <a:rPr lang="en-GB" sz="2800" dirty="0" smtClean="0">
                <a:latin typeface="Times New Roman" panose="02020603050405020304" pitchFamily="18" charset="0"/>
                <a:cs typeface="Times New Roman" panose="02020603050405020304" pitchFamily="18" charset="0"/>
              </a:rPr>
            </a:br>
            <a:r>
              <a:rPr lang="en-GB" sz="2800" u="sng" dirty="0" smtClean="0">
                <a:latin typeface="Times New Roman" panose="02020603050405020304" pitchFamily="18" charset="0"/>
                <a:cs typeface="Times New Roman" panose="02020603050405020304" pitchFamily="18" charset="0"/>
              </a:rPr>
              <a:t>The boy </a:t>
            </a:r>
            <a:r>
              <a:rPr lang="en-GB" sz="2800" b="1" dirty="0" smtClean="0">
                <a:latin typeface="Times New Roman" panose="02020603050405020304" pitchFamily="18" charset="0"/>
                <a:cs typeface="Times New Roman" panose="02020603050405020304" pitchFamily="18" charset="0"/>
              </a:rPr>
              <a:t>and</a:t>
            </a:r>
            <a:r>
              <a:rPr lang="en-GB" sz="2800" dirty="0" smtClean="0">
                <a:latin typeface="Times New Roman" panose="02020603050405020304" pitchFamily="18" charset="0"/>
                <a:cs typeface="Times New Roman" panose="02020603050405020304" pitchFamily="18" charset="0"/>
              </a:rPr>
              <a:t> </a:t>
            </a:r>
            <a:r>
              <a:rPr lang="en-GB" sz="2800" u="sng" dirty="0" smtClean="0">
                <a:latin typeface="Times New Roman" panose="02020603050405020304" pitchFamily="18" charset="0"/>
                <a:cs typeface="Times New Roman" panose="02020603050405020304" pitchFamily="18" charset="0"/>
              </a:rPr>
              <a:t>the girl</a:t>
            </a:r>
            <a:r>
              <a:rPr lang="en-GB" sz="2800" dirty="0" smtClean="0">
                <a:latin typeface="Times New Roman" panose="02020603050405020304" pitchFamily="18" charset="0"/>
                <a:cs typeface="Times New Roman" panose="02020603050405020304" pitchFamily="18" charset="0"/>
              </a:rPr>
              <a:t>.( phrase and noun )</a:t>
            </a:r>
            <a:br>
              <a:rPr lang="en-GB" sz="2800" dirty="0" smtClean="0">
                <a:latin typeface="Times New Roman" panose="02020603050405020304" pitchFamily="18" charset="0"/>
                <a:cs typeface="Times New Roman" panose="02020603050405020304" pitchFamily="18" charset="0"/>
              </a:rPr>
            </a:br>
            <a:r>
              <a:rPr lang="en-GB" sz="2800" u="sng" dirty="0" smtClean="0">
                <a:latin typeface="Times New Roman" panose="02020603050405020304" pitchFamily="18" charset="0"/>
                <a:cs typeface="Times New Roman" panose="02020603050405020304" pitchFamily="18" charset="0"/>
              </a:rPr>
              <a:t>The girl is good </a:t>
            </a:r>
            <a:r>
              <a:rPr lang="en-GB" sz="2800" b="1" dirty="0" smtClean="0">
                <a:latin typeface="Times New Roman" panose="02020603050405020304" pitchFamily="18" charset="0"/>
                <a:cs typeface="Times New Roman" panose="02020603050405020304" pitchFamily="18" charset="0"/>
              </a:rPr>
              <a:t>but</a:t>
            </a:r>
            <a:r>
              <a:rPr lang="en-GB" sz="2800" dirty="0" smtClean="0">
                <a:latin typeface="Times New Roman" panose="02020603050405020304" pitchFamily="18" charset="0"/>
                <a:cs typeface="Times New Roman" panose="02020603050405020304" pitchFamily="18" charset="0"/>
              </a:rPr>
              <a:t> </a:t>
            </a:r>
            <a:r>
              <a:rPr lang="en-GB" sz="2800" u="sng" dirty="0" smtClean="0">
                <a:latin typeface="Times New Roman" panose="02020603050405020304" pitchFamily="18" charset="0"/>
                <a:cs typeface="Times New Roman" panose="02020603050405020304" pitchFamily="18" charset="0"/>
              </a:rPr>
              <a:t>the boy is naughty</a:t>
            </a:r>
            <a:r>
              <a:rPr lang="en-GB" sz="2800" dirty="0" smtClean="0">
                <a:latin typeface="Times New Roman" panose="02020603050405020304" pitchFamily="18" charset="0"/>
                <a:cs typeface="Times New Roman" panose="02020603050405020304" pitchFamily="18" charset="0"/>
              </a:rPr>
              <a:t>. (clause and clause) </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2. Conjunctions show contrast between two grammatical units.</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Examples of such conjunctions are </a:t>
            </a:r>
            <a:r>
              <a:rPr lang="en-GB" sz="2800" i="1" dirty="0" smtClean="0">
                <a:latin typeface="Times New Roman" panose="02020603050405020304" pitchFamily="18" charset="0"/>
                <a:cs typeface="Times New Roman" panose="02020603050405020304" pitchFamily="18" charset="0"/>
              </a:rPr>
              <a:t>but</a:t>
            </a:r>
            <a:r>
              <a:rPr lang="en-GB" sz="2800" dirty="0" smtClean="0">
                <a:latin typeface="Times New Roman" panose="02020603050405020304" pitchFamily="18" charset="0"/>
                <a:cs typeface="Times New Roman" panose="02020603050405020304" pitchFamily="18" charset="0"/>
              </a:rPr>
              <a:t> and </a:t>
            </a:r>
            <a:r>
              <a:rPr lang="en-GB" sz="2800" i="1" dirty="0" smtClean="0">
                <a:latin typeface="Times New Roman" panose="02020603050405020304" pitchFamily="18" charset="0"/>
                <a:cs typeface="Times New Roman" panose="02020603050405020304" pitchFamily="18" charset="0"/>
              </a:rPr>
              <a:t>yet</a:t>
            </a:r>
            <a:r>
              <a:rPr lang="en-GB" sz="2800" dirty="0" smtClean="0">
                <a:latin typeface="Times New Roman" panose="02020603050405020304" pitchFamily="18" charset="0"/>
                <a:cs typeface="Times New Roman" panose="02020603050405020304" pitchFamily="18" charset="0"/>
              </a:rPr>
              <a:t/>
            </a:r>
            <a:br>
              <a:rPr lang="en-GB" sz="2800" dirty="0" smtClean="0">
                <a:latin typeface="Times New Roman" panose="02020603050405020304" pitchFamily="18" charset="0"/>
                <a:cs typeface="Times New Roman" panose="02020603050405020304" pitchFamily="18" charset="0"/>
              </a:rPr>
            </a:br>
            <a:endParaRPr lang="en-GB" sz="2800" dirty="0">
              <a:latin typeface="Times New Roman" pitchFamily="18" charset="0"/>
              <a:cs typeface="Times New Roman"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5622579"/>
          </a:xfrm>
        </p:spPr>
        <p:txBody>
          <a:bodyPr/>
          <a:lstStyle/>
          <a:p>
            <a:pPr algn="l"/>
            <a:r>
              <a:rPr lang="en-GB" sz="2800" dirty="0" smtClean="0">
                <a:latin typeface="Times New Roman" panose="02020603050405020304" pitchFamily="18" charset="0"/>
                <a:cs typeface="Times New Roman" panose="02020603050405020304" pitchFamily="18" charset="0"/>
              </a:rPr>
              <a:t>3. Conjunctions are used to indicate subordination in clauses.</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Examples of such conjunctions include </a:t>
            </a:r>
            <a:r>
              <a:rPr lang="en-GB" sz="2800" i="1" dirty="0" smtClean="0">
                <a:latin typeface="Times New Roman" panose="02020603050405020304" pitchFamily="18" charset="0"/>
                <a:cs typeface="Times New Roman" panose="02020603050405020304" pitchFamily="18" charset="0"/>
              </a:rPr>
              <a:t>because</a:t>
            </a:r>
            <a:r>
              <a:rPr lang="en-GB" sz="2800" dirty="0" smtClean="0">
                <a:latin typeface="Times New Roman" panose="02020603050405020304" pitchFamily="18" charset="0"/>
                <a:cs typeface="Times New Roman" panose="02020603050405020304" pitchFamily="18" charset="0"/>
              </a:rPr>
              <a:t>, </a:t>
            </a:r>
            <a:r>
              <a:rPr lang="en-GB" sz="2800" i="1" dirty="0" smtClean="0">
                <a:latin typeface="Times New Roman" panose="02020603050405020304" pitchFamily="18" charset="0"/>
                <a:cs typeface="Times New Roman" panose="02020603050405020304" pitchFamily="18" charset="0"/>
              </a:rPr>
              <a:t>while</a:t>
            </a:r>
            <a:r>
              <a:rPr lang="en-GB" sz="2800" dirty="0" smtClean="0">
                <a:latin typeface="Times New Roman" panose="02020603050405020304" pitchFamily="18" charset="0"/>
                <a:cs typeface="Times New Roman" panose="02020603050405020304" pitchFamily="18" charset="0"/>
              </a:rPr>
              <a:t>, </a:t>
            </a:r>
            <a:r>
              <a:rPr lang="en-GB" sz="2800" i="1" dirty="0" smtClean="0">
                <a:latin typeface="Times New Roman" panose="02020603050405020304" pitchFamily="18" charset="0"/>
                <a:cs typeface="Times New Roman" panose="02020603050405020304" pitchFamily="18" charset="0"/>
              </a:rPr>
              <a:t>if </a:t>
            </a:r>
            <a:r>
              <a:rPr lang="en-GB" sz="2800" dirty="0" smtClean="0">
                <a:latin typeface="Times New Roman" panose="02020603050405020304" pitchFamily="18" charset="0"/>
                <a:cs typeface="Times New Roman" panose="02020603050405020304" pitchFamily="18" charset="0"/>
              </a:rPr>
              <a:t>and </a:t>
            </a:r>
            <a:r>
              <a:rPr lang="en-GB" sz="2800" i="1" dirty="0" smtClean="0">
                <a:latin typeface="Times New Roman" panose="02020603050405020304" pitchFamily="18" charset="0"/>
                <a:cs typeface="Times New Roman" panose="02020603050405020304" pitchFamily="18" charset="0"/>
              </a:rPr>
              <a:t>since</a:t>
            </a:r>
            <a:r>
              <a:rPr lang="en-GB" sz="2800" dirty="0" smtClean="0">
                <a:latin typeface="Times New Roman" panose="02020603050405020304" pitchFamily="18" charset="0"/>
                <a:cs typeface="Times New Roman" panose="02020603050405020304" pitchFamily="18" charset="0"/>
              </a:rPr>
              <a:t>.</a:t>
            </a:r>
            <a:endParaRPr lang="en-GB"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2035" y="274637"/>
            <a:ext cx="8474765" cy="5622579"/>
          </a:xfrm>
        </p:spPr>
        <p:txBody>
          <a:bodyPr/>
          <a:lstStyle/>
          <a:p>
            <a:pPr algn="l"/>
            <a:r>
              <a:rPr lang="en-GB" sz="2800" b="1" dirty="0" smtClean="0">
                <a:latin typeface="Times New Roman" panose="02020603050405020304" pitchFamily="18" charset="0"/>
                <a:cs typeface="Times New Roman" panose="02020603050405020304" pitchFamily="18" charset="0"/>
              </a:rPr>
              <a:t>Interjections </a:t>
            </a:r>
            <a:r>
              <a:rPr lang="en-GB" sz="2800" dirty="0" smtClean="0">
                <a:latin typeface="Times New Roman" panose="02020603050405020304" pitchFamily="18" charset="0"/>
                <a:cs typeface="Times New Roman" panose="02020603050405020304" pitchFamily="18" charset="0"/>
              </a:rPr>
              <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
            </a:r>
            <a:br>
              <a:rPr lang="en-GB" sz="2800" dirty="0" smtClean="0">
                <a:latin typeface="Times New Roman" panose="02020603050405020304" pitchFamily="18" charset="0"/>
                <a:cs typeface="Times New Roman" panose="02020603050405020304" pitchFamily="18" charset="0"/>
              </a:rPr>
            </a:br>
            <a:r>
              <a:rPr lang="en-GB" sz="2800" dirty="0" err="1" smtClean="0">
                <a:latin typeface="Times New Roman" panose="02020603050405020304" pitchFamily="18" charset="0"/>
                <a:cs typeface="Times New Roman" panose="02020603050405020304" pitchFamily="18" charset="0"/>
              </a:rPr>
              <a:t>Interjections</a:t>
            </a:r>
            <a:r>
              <a:rPr lang="en-GB" sz="2800" dirty="0" smtClean="0">
                <a:latin typeface="Times New Roman" panose="02020603050405020304" pitchFamily="18" charset="0"/>
                <a:cs typeface="Times New Roman" panose="02020603050405020304" pitchFamily="18" charset="0"/>
              </a:rPr>
              <a:t> are words used to express strong emotions  or excitement. </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An interjection can be just one word or a group of words.</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Because they express strong emotions, they are identified in sentences with exclamations. </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Examples of interjections include </a:t>
            </a:r>
            <a:r>
              <a:rPr lang="en-GB" sz="2800" b="1" i="1" dirty="0" smtClean="0">
                <a:latin typeface="Times New Roman" panose="02020603050405020304" pitchFamily="18" charset="0"/>
                <a:cs typeface="Times New Roman" panose="02020603050405020304" pitchFamily="18" charset="0"/>
              </a:rPr>
              <a:t>ouch!, hey!, </a:t>
            </a:r>
            <a:r>
              <a:rPr lang="en-GB" sz="2800" b="1" i="1" dirty="0" err="1" smtClean="0">
                <a:latin typeface="Times New Roman" panose="02020603050405020304" pitchFamily="18" charset="0"/>
                <a:cs typeface="Times New Roman" panose="02020603050405020304" pitchFamily="18" charset="0"/>
              </a:rPr>
              <a:t>shhh</a:t>
            </a:r>
            <a:r>
              <a:rPr lang="en-GB" sz="2800" b="1" i="1" dirty="0" smtClean="0">
                <a:latin typeface="Times New Roman" panose="02020603050405020304" pitchFamily="18" charset="0"/>
                <a:cs typeface="Times New Roman" panose="02020603050405020304" pitchFamily="18" charset="0"/>
              </a:rPr>
              <a:t>!</a:t>
            </a:r>
            <a:br>
              <a:rPr lang="en-GB" sz="2800" b="1" i="1" dirty="0" smtClean="0">
                <a:latin typeface="Times New Roman" panose="02020603050405020304" pitchFamily="18" charset="0"/>
                <a:cs typeface="Times New Roman" panose="02020603050405020304" pitchFamily="18" charset="0"/>
              </a:rPr>
            </a:br>
            <a:r>
              <a:rPr lang="en-GB" sz="2800" b="1" i="1" dirty="0" smtClean="0">
                <a:latin typeface="Times New Roman" panose="02020603050405020304" pitchFamily="18" charset="0"/>
                <a:cs typeface="Times New Roman" panose="02020603050405020304" pitchFamily="18" charset="0"/>
              </a:rPr>
              <a:t/>
            </a:r>
            <a:br>
              <a:rPr lang="en-GB" sz="2800" b="1" i="1" dirty="0" smtClean="0">
                <a:latin typeface="Times New Roman" panose="02020603050405020304" pitchFamily="18" charset="0"/>
                <a:cs typeface="Times New Roman" panose="02020603050405020304" pitchFamily="18" charset="0"/>
              </a:rPr>
            </a:br>
            <a:r>
              <a:rPr lang="en-GB" sz="2800" b="1" dirty="0" smtClean="0">
                <a:latin typeface="Times New Roman" panose="02020603050405020304" pitchFamily="18" charset="0"/>
                <a:cs typeface="Times New Roman" panose="02020603050405020304" pitchFamily="18" charset="0"/>
              </a:rPr>
              <a:t>Position </a:t>
            </a:r>
            <a:r>
              <a:rPr lang="en-GB" sz="2800" dirty="0" smtClean="0">
                <a:latin typeface="Times New Roman" panose="02020603050405020304" pitchFamily="18" charset="0"/>
                <a:cs typeface="Times New Roman" panose="02020603050405020304" pitchFamily="18" charset="0"/>
              </a:rPr>
              <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Like adverbs, interjections are very mobile. </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Their positions in sentences can change. </a:t>
            </a:r>
            <a:br>
              <a:rPr lang="en-GB" sz="2800" dirty="0" smtClean="0">
                <a:latin typeface="Times New Roman" panose="02020603050405020304" pitchFamily="18" charset="0"/>
                <a:cs typeface="Times New Roman" panose="02020603050405020304" pitchFamily="18" charset="0"/>
              </a:rPr>
            </a:br>
            <a:r>
              <a:rPr lang="en-GB" sz="2800" b="1" i="1" dirty="0" smtClean="0">
                <a:latin typeface="Times New Roman" panose="02020603050405020304" pitchFamily="18" charset="0"/>
                <a:cs typeface="Times New Roman" panose="02020603050405020304" pitchFamily="18" charset="0"/>
              </a:rPr>
              <a:t/>
            </a:r>
            <a:br>
              <a:rPr lang="en-GB" sz="2800" b="1" i="1" dirty="0" smtClean="0">
                <a:latin typeface="Times New Roman" panose="02020603050405020304" pitchFamily="18" charset="0"/>
                <a:cs typeface="Times New Roman" panose="02020603050405020304" pitchFamily="18" charset="0"/>
              </a:rPr>
            </a:br>
            <a:endParaRPr lang="en-GB" sz="2800" dirty="0">
              <a:latin typeface="Times New Roman" pitchFamily="18" charset="0"/>
              <a:cs typeface="Times New Roman"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62336"/>
          </a:xfrm>
        </p:spPr>
        <p:txBody>
          <a:bodyPr/>
          <a:lstStyle/>
          <a:p>
            <a:pPr algn="l"/>
            <a:r>
              <a:rPr lang="en-GB" sz="2800" b="1" dirty="0" smtClean="0">
                <a:latin typeface="Times New Roman" panose="02020603050405020304" pitchFamily="18" charset="0"/>
                <a:cs typeface="Times New Roman" panose="02020603050405020304" pitchFamily="18" charset="0"/>
              </a:rPr>
              <a:t>Functions </a:t>
            </a:r>
            <a:r>
              <a:rPr lang="en-GB" sz="2800" dirty="0" smtClean="0">
                <a:latin typeface="Times New Roman" panose="02020603050405020304" pitchFamily="18" charset="0"/>
                <a:cs typeface="Times New Roman" panose="02020603050405020304" pitchFamily="18" charset="0"/>
              </a:rPr>
              <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They are used to demand or request something, usually </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in a forceful manner. </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They are used to express emotions like disgust. </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They are used in greetings</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tings. E.g. Hello!</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They mark hesitation. E.g. </a:t>
            </a:r>
            <a:r>
              <a:rPr lang="en-GB" sz="2800" dirty="0" err="1" smtClean="0">
                <a:latin typeface="Times New Roman" panose="02020603050405020304" pitchFamily="18" charset="0"/>
                <a:cs typeface="Times New Roman" panose="02020603050405020304" pitchFamily="18" charset="0"/>
              </a:rPr>
              <a:t>Errm</a:t>
            </a:r>
            <a:r>
              <a:rPr lang="en-GB" sz="2800" dirty="0" smtClean="0">
                <a:latin typeface="Times New Roman" panose="02020603050405020304" pitchFamily="18" charset="0"/>
                <a:cs typeface="Times New Roman" panose="02020603050405020304" pitchFamily="18" charset="0"/>
              </a:rPr>
              <a:t>!</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
            </a:r>
            <a:br>
              <a:rPr lang="en-GB" sz="2800" dirty="0" smtClean="0">
                <a:latin typeface="Times New Roman" panose="02020603050405020304" pitchFamily="18" charset="0"/>
                <a:cs typeface="Times New Roman" panose="02020603050405020304" pitchFamily="18" charset="0"/>
              </a:rPr>
            </a:br>
            <a:r>
              <a:rPr lang="en-GB" sz="2800" dirty="0" smtClean="0">
                <a:latin typeface="Times New Roman" panose="02020603050405020304" pitchFamily="18" charset="0"/>
                <a:cs typeface="Times New Roman" panose="02020603050405020304" pitchFamily="18" charset="0"/>
              </a:rPr>
              <a:t>They express surprise. E.g. Wow!</a:t>
            </a:r>
            <a:br>
              <a:rPr lang="en-GB" sz="2800" dirty="0" smtClean="0">
                <a:latin typeface="Times New Roman" panose="02020603050405020304" pitchFamily="18" charset="0"/>
                <a:cs typeface="Times New Roman" panose="02020603050405020304" pitchFamily="18" charset="0"/>
              </a:rPr>
            </a:br>
            <a:endParaRPr lang="en-GB" sz="2800" dirty="0">
              <a:latin typeface="Times New Roman" pitchFamily="18" charset="0"/>
              <a:cs typeface="Times New Roman"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5569571"/>
          </a:xfrm>
        </p:spPr>
        <p:txBody>
          <a:bodyPr/>
          <a:lstStyle/>
          <a:p>
            <a:pPr algn="l">
              <a:buFont typeface="Arial" pitchFamily="34" charset="0"/>
              <a:buChar char="•"/>
            </a:pPr>
            <a:r>
              <a:rPr lang="en-GB" sz="2800" dirty="0" smtClean="0">
                <a:latin typeface="Times New Roman" pitchFamily="18" charset="0"/>
                <a:cs typeface="Times New Roman" pitchFamily="18" charset="0"/>
              </a:rPr>
              <a:t>The actual part of speech of a word is realised when that word is in context. Therefore, for example, for a word to be identified as a verb in a sentence, it has to take the form that a verb should take, it has to take the position that a verb should take. It has to also function as a verb. This explains why we can have a sentence like:</a:t>
            </a:r>
            <a:br>
              <a:rPr lang="en-GB" sz="2800"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They chair the occasion.   </a:t>
            </a:r>
            <a:endParaRPr lang="en-GB" sz="2800" dirty="0">
              <a:latin typeface="Times New Roman" pitchFamily="18" charset="0"/>
              <a:cs typeface="Times New Roman"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75588"/>
          </a:xfrm>
        </p:spPr>
        <p:txBody>
          <a:bodyPr/>
          <a:lstStyle/>
          <a:p>
            <a:pPr algn="l"/>
            <a:r>
              <a:rPr lang="en-GB" sz="2800" b="1" u="sng" dirty="0" smtClean="0">
                <a:latin typeface="Times New Roman" pitchFamily="18" charset="0"/>
                <a:cs typeface="Times New Roman" pitchFamily="18" charset="0"/>
              </a:rPr>
              <a:t>Assignment </a:t>
            </a:r>
            <a:r>
              <a:rPr lang="en-GB" sz="2800" b="1" dirty="0" smtClean="0">
                <a:latin typeface="Times New Roman" pitchFamily="18" charset="0"/>
                <a:cs typeface="Times New Roman" pitchFamily="18" charset="0"/>
              </a:rPr>
              <a:t/>
            </a:r>
            <a:br>
              <a:rPr lang="en-GB" sz="2800" b="1" dirty="0" smtClean="0">
                <a:latin typeface="Times New Roman" pitchFamily="18" charset="0"/>
                <a:cs typeface="Times New Roman" pitchFamily="18" charset="0"/>
              </a:rPr>
            </a:br>
            <a:r>
              <a:rPr lang="en-GB" sz="2800" b="1" dirty="0" smtClean="0">
                <a:latin typeface="Times New Roman" pitchFamily="18" charset="0"/>
                <a:cs typeface="Times New Roman" pitchFamily="18" charset="0"/>
              </a:rPr>
              <a:t/>
            </a:r>
            <a:br>
              <a:rPr lang="en-GB" sz="2800" b="1" dirty="0" smtClean="0">
                <a:latin typeface="Times New Roman" pitchFamily="18" charset="0"/>
                <a:cs typeface="Times New Roman" pitchFamily="18" charset="0"/>
              </a:rPr>
            </a:br>
            <a:r>
              <a:rPr lang="en-GB" sz="2800" b="1" dirty="0" smtClean="0">
                <a:latin typeface="Times New Roman" pitchFamily="18" charset="0"/>
                <a:cs typeface="Times New Roman" pitchFamily="18" charset="0"/>
              </a:rPr>
              <a:t>Identify the parts of speech of “up” in the following sentences</a:t>
            </a:r>
            <a:r>
              <a:rPr lang="en-GB" sz="2800" dirty="0" smtClean="0">
                <a:latin typeface="Times New Roman" pitchFamily="18" charset="0"/>
                <a:cs typeface="Times New Roman" pitchFamily="18" charset="0"/>
              </a:rPr>
              <a:t/>
            </a:r>
            <a:br>
              <a:rPr lang="en-GB" sz="2800"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
            </a:r>
            <a:br>
              <a:rPr lang="en-GB" sz="2800"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1.  He looked </a:t>
            </a:r>
            <a:r>
              <a:rPr lang="en-GB" sz="2800" b="1" dirty="0" smtClean="0">
                <a:latin typeface="Times New Roman" pitchFamily="18" charset="0"/>
                <a:cs typeface="Times New Roman" pitchFamily="18" charset="0"/>
              </a:rPr>
              <a:t>up</a:t>
            </a:r>
            <a:r>
              <a:rPr lang="en-GB" sz="2800" dirty="0" smtClean="0">
                <a:latin typeface="Times New Roman" pitchFamily="18" charset="0"/>
                <a:cs typeface="Times New Roman" pitchFamily="18" charset="0"/>
              </a:rPr>
              <a:t> and saw the stars. </a:t>
            </a:r>
            <a:br>
              <a:rPr lang="en-GB" sz="2800"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
            </a:r>
            <a:br>
              <a:rPr lang="en-GB" sz="2800"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2. The time is </a:t>
            </a:r>
            <a:r>
              <a:rPr lang="en-GB" sz="2800" b="1" dirty="0" smtClean="0">
                <a:latin typeface="Times New Roman" pitchFamily="18" charset="0"/>
                <a:cs typeface="Times New Roman" pitchFamily="18" charset="0"/>
              </a:rPr>
              <a:t>up</a:t>
            </a:r>
            <a:r>
              <a:rPr lang="en-GB" sz="2800" dirty="0" smtClean="0">
                <a:latin typeface="Times New Roman" pitchFamily="18" charset="0"/>
                <a:cs typeface="Times New Roman" pitchFamily="18" charset="0"/>
              </a:rPr>
              <a:t>.  </a:t>
            </a:r>
            <a:br>
              <a:rPr lang="en-GB" sz="2800"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
            </a:r>
            <a:br>
              <a:rPr lang="en-GB" sz="2800"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3. The list is full of some </a:t>
            </a:r>
            <a:r>
              <a:rPr lang="en-GB" sz="2800" b="1" dirty="0" smtClean="0">
                <a:latin typeface="Times New Roman" pitchFamily="18" charset="0"/>
                <a:cs typeface="Times New Roman" pitchFamily="18" charset="0"/>
              </a:rPr>
              <a:t>ups </a:t>
            </a:r>
            <a:r>
              <a:rPr lang="en-GB" sz="2800" dirty="0" smtClean="0">
                <a:latin typeface="Times New Roman" pitchFamily="18" charset="0"/>
                <a:cs typeface="Times New Roman" pitchFamily="18" charset="0"/>
              </a:rPr>
              <a:t>and downs.</a:t>
            </a:r>
            <a:br>
              <a:rPr lang="en-GB" sz="2800"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
            </a:r>
            <a:br>
              <a:rPr lang="en-GB" sz="2800"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4.  He has just been </a:t>
            </a:r>
            <a:r>
              <a:rPr lang="en-GB" sz="2800" b="1" dirty="0" smtClean="0">
                <a:latin typeface="Times New Roman" pitchFamily="18" charset="0"/>
                <a:cs typeface="Times New Roman" pitchFamily="18" charset="0"/>
              </a:rPr>
              <a:t>upped</a:t>
            </a:r>
            <a:r>
              <a:rPr lang="en-GB" sz="2800" dirty="0" smtClean="0">
                <a:latin typeface="Times New Roman" pitchFamily="18" charset="0"/>
                <a:cs typeface="Times New Roman" pitchFamily="18" charset="0"/>
              </a:rPr>
              <a:t> to the position of a president. </a:t>
            </a:r>
            <a:br>
              <a:rPr lang="en-GB" sz="2800" dirty="0" smtClean="0">
                <a:latin typeface="Times New Roman" pitchFamily="18" charset="0"/>
                <a:cs typeface="Times New Roman" pitchFamily="18" charset="0"/>
              </a:rPr>
            </a:br>
            <a:r>
              <a:rPr lang="en-GB" sz="2800" dirty="0" smtClean="0">
                <a:latin typeface="Times New Roman" pitchFamily="18" charset="0"/>
                <a:cs typeface="Times New Roman" pitchFamily="18" charset="0"/>
              </a:rPr>
              <a:t/>
            </a:r>
            <a:br>
              <a:rPr lang="en-GB" sz="2800" dirty="0" smtClean="0">
                <a:latin typeface="Times New Roman" pitchFamily="18" charset="0"/>
                <a:cs typeface="Times New Roman" pitchFamily="18" charset="0"/>
              </a:rPr>
            </a:br>
            <a:endParaRPr lang="en-GB" sz="28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2005</TotalTime>
  <Words>2243</Words>
  <Application>Microsoft Office PowerPoint</Application>
  <PresentationFormat>On-screen Show (4:3)</PresentationFormat>
  <Paragraphs>270</Paragraphs>
  <Slides>54</Slides>
  <Notes>1</Notes>
  <HiddenSlides>0</HiddenSlides>
  <MMClips>0</MMClip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Office Theme</vt:lpstr>
      <vt:lpstr>PARTS OF SPEECH</vt:lpstr>
      <vt:lpstr> </vt:lpstr>
      <vt:lpstr>Slide 3</vt:lpstr>
      <vt:lpstr>Slide 4</vt:lpstr>
      <vt:lpstr>Slide 5</vt:lpstr>
      <vt:lpstr>Slide 6</vt:lpstr>
      <vt:lpstr>Slide 7</vt:lpstr>
      <vt:lpstr> Singular nouns which end in ‘s’ or not indicate possession with an apostrophe sign and an ‘s’. For example: John’s bag, James’s bag, etc.   Plural nouns which end in ‘s’ indicate possession with the addition of only an apostrophe sign. For example: The players’ ball  Plural nouns which do not end in ‘s’ indicate possession with the addition of an apostrophe sign and an ‘s’. For example: The children’s ball   NB: Read on Types of Nouns and other ways by which certain nouns form their plurals. (Afreh 2006)      </vt:lpstr>
      <vt:lpstr>Slide 9</vt:lpstr>
      <vt:lpstr>Slide 10</vt:lpstr>
      <vt:lpstr>Slide 11</vt:lpstr>
      <vt:lpstr>Slide 12</vt:lpstr>
      <vt:lpstr>Slide 13</vt:lpstr>
      <vt:lpstr>Slide 14</vt:lpstr>
      <vt:lpstr>    </vt:lpstr>
      <vt:lpstr>A noun as an appositive  A noun, a pronoun, a noun phrase or a noun clause set beside another noun or pronoun to rename, explain or identify it is termed as an appositive.  E.g. Nana Akufo Addo, the President of Ghana, is a brave man.    There are other instances where the appositive precedes the word that it renames, explains or identifies.  E.g. The president of Ghana, Nana Akufo Addo, is a brave man.      </vt:lpstr>
      <vt:lpstr>Slide 17</vt:lpstr>
      <vt:lpstr>Slide 18</vt:lpstr>
      <vt:lpstr>Slide 19</vt:lpstr>
      <vt:lpstr>Slide 20</vt:lpstr>
      <vt:lpstr>Identification of verbs based on their functions in sentences Verbs can express three main functions in sentences and these are states, actions and processes   Verbs as expressing states  Some verbs in English express the states or conditions of people or things. Such verbs include the forms of the verb to be(is, are, was, were, etc.), seem, taste, appear, look, etc.  Eg. He is a good man.          The woman looks beautiful.                </vt:lpstr>
      <vt:lpstr>Verbs as expressing actions Some verbs express actions and are therefore referred to as action words. Examples are talk, eat, dance, jump, etc.  E.g. She sweeps the compound everyday.    Verbs as expressing processes  Some verbs express processes. These are series of changes, especially the ones that happen naturally or unconsciously. Examples are grow and digest  E.g.  Babies grow    NB: Read on other types of verbs  </vt:lpstr>
      <vt:lpstr>Slide 23</vt:lpstr>
      <vt:lpstr>    Many  adjectives use the suffix –er and –est to mark comparative and superlative degrees respectively.   The comparative is used when two items are being compared. E.g. Esi is bigger than Ama.    The superlative is used when three or more items are being compared. E.g. Esi is the biggest of them all.   </vt:lpstr>
      <vt:lpstr>Slide 25</vt:lpstr>
      <vt:lpstr>Slide 26</vt:lpstr>
      <vt:lpstr>Slide 27</vt:lpstr>
      <vt:lpstr>   Identification based on function  It must be indicated that adverb phrases can also perform all these functions. Again, these functions that adverbs perform are what lead to the types of adverbs.   1. Adverbs are used to indicate time.  E.g.  The alarm went off yesterday.   </vt:lpstr>
      <vt:lpstr>Slide 29</vt:lpstr>
      <vt:lpstr>Now, let us turn our attention to the non-lexical items.  The non-lexical items do not carry semantic content. This  means that, they do not make meaning on their own. They get their meaning mainly from the lexical words in context.   They are also called closed class items, meaning that they do not accept new members.   The non-lexical items are: prepositions, pronouns, conjunctions, determiners and interjections.  </vt:lpstr>
      <vt:lpstr> Form of Closed word Classes  NB: It must be noted that the closed word classes do not have a specific form. This means there are no specific suffixes or affixes that can be used to identify them.   </vt:lpstr>
      <vt:lpstr>Prepositions   Prepositions are words that link nouns, pronouns and phrases to other words in a sentence.   A word or phrase that a preposition introduces is called the object of the preposition.   For example in the sentence, “The book is leaning on the table”, “the table” is the object of the preposition “on”. </vt:lpstr>
      <vt:lpstr>The Positions of Prepositions  Prepositions normally precede their objects.  Sometimes, the preposition is separated from its complement as in: The man whom we gave the book to – instead of The man to whom we gave the book.   NB: The word complement is being used here in a literal sense to refer to whatever completes or comes after the preposition.  </vt:lpstr>
      <vt:lpstr>Prepositional phrases tend to be built the same: a preposition followed by a complement.   This is usually referred to as the object of the preposition.   The complement may be a pronoun, noun phrase or a gerund (a verb in its –ing form).  Some examples are:  I bought a bag for him (prep+pronoun). The cat is under the table (prep+noun phrase).</vt:lpstr>
      <vt:lpstr>Functions of Some Prepositions  Prepositions fall into different types. These types have different uses in phrases or clauses.   Some of the types and their uses are presented in the following slides.  </vt:lpstr>
      <vt:lpstr>Prepositions of Time: At, On, and In  We use at to designate specific times. E.g. The will leave at 4:00am tomorrow.   We use on to designate days and dates.  E.g. My father is coming on Monday.   We use in for non-specific times during the day, month, season, or year.  E.g. He started the job in 1982.  </vt:lpstr>
      <vt:lpstr>Prepositions of Place: At, On, and In  We use at for specific addresses. E.g. The ceremony will be held at Bomso L/A Primary.   We use on to designate names of streets, avenues, etc.  E.g. Her house is on Ridge Road.   We use in for the names of land-areas (towns, countries, states, and continents).  E.g. She lives in Kumasi.</vt:lpstr>
      <vt:lpstr>Prepositions of Movement: to and No Preposition  We use to in order to express movement towards a place.  E.g. They were walking to school together.   Toward and towards are also helpful prepositions to express movement.  </vt:lpstr>
      <vt:lpstr>Pronouns Pronouns are anaphoric elements used to replace nouns. E.g. The lady opened the refrigerator.  She opened it. (The pronoun she replaces ‘the lady’, and the pronoun it replaces ‘the refrigerator’)   Position of Pronouns Pronouns can occur as subjects or as objects.  Example of a pronoun as a subject: She is happy  Example of a pronoun as an object  Kofi gave the book to me.   </vt:lpstr>
      <vt:lpstr>Functions of Pronouns They are used to identify nouns, they show possession,  they designate places, etc. It must be noted that there are many other functions of pronouns which are all linked to the types of pronouns. The types of pronouns have therefore been discussed below.    Types of Pronouns  Pronouns have been grouped into several types. These are: personal pronouns, demonstrative pronouns, relative pronouns, interrogative pronoun, indefinite pronouns , reflexive pronouns and intensive pronouns.  </vt:lpstr>
      <vt:lpstr>Personal Pronouns Personal pronouns refer to specific people or things and change their forms to indicate person, number, gender, and case.   Person English indicates three types of persons – first person ,second person and third person.   “I” and “We” are the first person pronouns in English. “I” is the singular first person pronoun and “They” is the plural first person pronoun. E. g. I am happy. </vt:lpstr>
      <vt:lpstr>“You” is the second person pronoun in English. It can either be used as singular or plural. E.g. You are my friend.   “He”, “She”, “It” and “They” are the third person pronouns in English.  “He”, “She” and “It” are the singular third person pronouns in English whilst “They” is the plural third person pronoun in English.   E.g. She is a lecturer.         They were writing.    </vt:lpstr>
      <vt:lpstr>Demonstrative Pronouns  A demonstrative pronoun points to, and identifies a noun or a pronoun.  The demonstrative pronouns are this, that, these and those.  Examples are: This tastes good.  That phone is mine.  Those are my friends. These cakes are delicious.  </vt:lpstr>
      <vt:lpstr>Interrogative Pronouns  The interrogative pronouns introduce questions.  The interrogative pronouns are the wh-words. These are: what, which, who, whom, when and whose.   Whereas “who” and “whom” are used to refer to people, “which” and “what” are used to refer to things or to animals.    </vt:lpstr>
      <vt:lpstr>Examples of  interrogative pronouns used in sentences:  What did he say to you? Who asked the question? What is that? Who will buy me a pen? Which do you prefer?   Reading Assignment  Read on relative pronouns, indefinite pronouns, reflexive pronouns and intensive pronouns. </vt:lpstr>
      <vt:lpstr>Determiners  Determiners “are those little words that precede and modify nouns.” (Afreh 2006: 149).  Examples are: the, a, that, a bit of, etc.  Position  Determiners precede nouns and noun phrases.  As a result of the position they take in a noun phrase, determiners are said to mark nouns. That is, determiners are always followed by nouns.   </vt:lpstr>
      <vt:lpstr>Functions of Determiners  1. They specify nouns E.g. The cat is mine.  2. They show possession. E.g. That was her.   3. They show quantity.  How many books are they?</vt:lpstr>
      <vt:lpstr>Conjunctions  Conjunctions are words that are used to join  similar grammatical units like words and words, clauses and clauses or phrases and phrases.  Some examples of conjunctions are but, or, while, before, or, yet, and, so .   </vt:lpstr>
      <vt:lpstr>Functions 1. Conjunctions are used to join words, phrases and clauses. Examples of such conjunctions are but, and, or, so, yet and, for   Examples:  The boy and the girl.( phrase and noun ) The girl is good but the boy is naughty. (clause and clause)   2. Conjunctions show contrast between two grammatical units. Examples of such conjunctions are but and yet </vt:lpstr>
      <vt:lpstr>3. Conjunctions are used to indicate subordination in clauses. Examples of such conjunctions include because, while, if and since.</vt:lpstr>
      <vt:lpstr>Interjections   Interjections are words used to express strong emotions  or excitement.  An interjection can be just one word or a group of words.  Because they express strong emotions, they are identified in sentences with exclamations.  Examples of interjections include ouch!, hey!, shhh!  Position  Like adverbs, interjections are very mobile.  Their positions in sentences can change.   </vt:lpstr>
      <vt:lpstr>Functions   They are used to demand or request something, usually  in a forceful manner.   They are used to express emotions like disgust.   They are used in greetings tings. E.g. Hello!  They mark hesitation. E.g. Errm!  They express surprise. E.g. Wow! </vt:lpstr>
      <vt:lpstr>The actual part of speech of a word is realised when that word is in context. Therefore, for example, for a word to be identified as a verb in a sentence, it has to take the form that a verb should take, it has to take the position that a verb should take. It has to also function as a verb. This explains why we can have a sentence like: They chair the occasion.   </vt:lpstr>
      <vt:lpstr>Assignment   Identify the parts of speech of “up” in the following sentences  1.  He looked up and saw the stars.   2. The time is up.    3. The list is full of some ups and downs.  4.  He has just been upped to the position of a president.   </vt:lpstr>
    </vt:vector>
  </TitlesOfParts>
  <Company>UPK</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KNUST Press</dc:creator>
  <cp:lastModifiedBy>Harriet</cp:lastModifiedBy>
  <cp:revision>814</cp:revision>
  <cp:lastPrinted>2017-05-31T15:05:24Z</cp:lastPrinted>
  <dcterms:created xsi:type="dcterms:W3CDTF">2016-11-07T15:28:41Z</dcterms:created>
  <dcterms:modified xsi:type="dcterms:W3CDTF">2021-01-15T14:56:29Z</dcterms:modified>
</cp:coreProperties>
</file>