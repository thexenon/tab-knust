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335" r:id="rId3"/>
    <p:sldId id="289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08" r:id="rId23"/>
    <p:sldId id="309" r:id="rId24"/>
    <p:sldId id="310" r:id="rId25"/>
    <p:sldId id="311" r:id="rId26"/>
    <p:sldId id="31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326" r:id="rId41"/>
    <p:sldId id="327" r:id="rId42"/>
    <p:sldId id="328" r:id="rId43"/>
    <p:sldId id="329" r:id="rId44"/>
    <p:sldId id="330" r:id="rId45"/>
    <p:sldId id="331" r:id="rId46"/>
    <p:sldId id="332" r:id="rId47"/>
    <p:sldId id="333" r:id="rId48"/>
    <p:sldId id="334" r:id="rId49"/>
    <p:sldId id="286" r:id="rId50"/>
    <p:sldId id="28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46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9144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7656" y="241270"/>
              <a:ext cx="344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smtClean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 smtClean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  <a:endParaRPr lang="en-US" sz="14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5789" y="157852"/>
              <a:ext cx="491867" cy="62597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 smtClean="0">
                <a:latin typeface="Helvetica"/>
                <a:cs typeface="Helvetica"/>
              </a:rPr>
              <a:t>Title</a:t>
            </a:r>
            <a:endParaRPr lang="en-US" dirty="0">
              <a:latin typeface="Helvetica"/>
              <a:cs typeface="Helvetica"/>
            </a:endParaRP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b="1" dirty="0" smtClean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 smtClean="0">
                <a:latin typeface="Helvetica"/>
                <a:cs typeface="Helvetica"/>
              </a:rPr>
              <a:t>Faculty &amp; College</a:t>
            </a: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 smtClean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 smtClean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  <a:endParaRPr lang="en-US" dirty="0">
              <a:solidFill>
                <a:srgbClr val="008000"/>
              </a:solidFill>
              <a:latin typeface="Helvetic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64051-109B-4D28-9A57-E5BB67E53CA0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7E4BCA-815D-4C2F-BFE7-0A9B35DD3B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94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751C0-DD79-0043-A8DE-0BFEC2DE753E}" type="datetimeFigureOut">
              <a:rPr lang="en-US" smtClean="0"/>
              <a:t>2/28/2021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Punctuation Marks in English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6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3312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Punctuation defined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algn="just"/>
            <a:r>
              <a:rPr lang="en-US" sz="3600" dirty="0"/>
              <a:t>Punctuations are non-alphabetical symbols used in writing for the purposes of clarity and comprehension. </a:t>
            </a:r>
          </a:p>
          <a:p>
            <a:pPr algn="just"/>
            <a:r>
              <a:rPr lang="en-US" sz="3600" dirty="0"/>
              <a:t>Not all symbols are punctuation marks</a:t>
            </a:r>
          </a:p>
          <a:p>
            <a:pPr algn="just"/>
            <a:r>
              <a:rPr lang="en-US" sz="3600" dirty="0"/>
              <a:t>Capitalization is therefore not a part of punctuation. </a:t>
            </a:r>
          </a:p>
        </p:txBody>
      </p:sp>
    </p:spTree>
    <p:extLst>
      <p:ext uri="{BB962C8B-B14F-4D97-AF65-F5344CB8AC3E}">
        <p14:creationId xmlns:p14="http://schemas.microsoft.com/office/powerpoint/2010/main" val="2444817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0"/>
            <a:ext cx="7772400" cy="476250"/>
          </a:xfrm>
        </p:spPr>
        <p:txBody>
          <a:bodyPr>
            <a:normAutofit fontScale="90000"/>
          </a:bodyPr>
          <a:lstStyle/>
          <a:p>
            <a:r>
              <a:rPr lang="en-US" sz="3200"/>
              <a:t>PUNCTUATION</a:t>
            </a:r>
            <a:endParaRPr lang="ru-RU" sz="3200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49275"/>
            <a:ext cx="9144000" cy="6308725"/>
          </a:xfrm>
        </p:spPr>
        <p:txBody>
          <a:bodyPr/>
          <a:lstStyle/>
          <a:p>
            <a:r>
              <a:rPr lang="en-US" sz="2400">
                <a:latin typeface="Times New Roman" pitchFamily="18" charset="0"/>
              </a:rPr>
              <a:t>THE MOST IMPORTANT MARKS OF PUNCTUATION ARE:</a:t>
            </a:r>
          </a:p>
          <a:p>
            <a:endParaRPr lang="ru-RU" sz="2400">
              <a:latin typeface="Times New Roman" pitchFamily="18" charset="0"/>
            </a:endParaRPr>
          </a:p>
        </p:txBody>
      </p:sp>
      <p:graphicFrame>
        <p:nvGraphicFramePr>
          <p:cNvPr id="2061" name="Group 13"/>
          <p:cNvGraphicFramePr>
            <a:graphicFrameLocks noGrp="1"/>
          </p:cNvGraphicFramePr>
          <p:nvPr/>
        </p:nvGraphicFramePr>
        <p:xfrm>
          <a:off x="539750" y="1484312"/>
          <a:ext cx="7920038" cy="4535487"/>
        </p:xfrm>
        <a:graphic>
          <a:graphicData uri="http://schemas.openxmlformats.org/drawingml/2006/table">
            <a:tbl>
              <a:tblPr/>
              <a:tblGrid>
                <a:gridCol w="39608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9592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453548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.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PERIOD (FULL STOP)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? QUESTION MARK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! EXCLAMATION MARK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-- DASH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- HYPHEN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‘ APOSTROPHE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Verdana" pitchFamily="34" charset="0"/>
                        </a:rPr>
                        <a:t>UNDERLINING</a:t>
                      </a:r>
                      <a:r>
                        <a:rPr kumimoji="0" lang="en-US" sz="2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Tx/>
                        <a:buNone/>
                        <a:tabLst/>
                      </a:pPr>
                      <a:endParaRPr kumimoji="0" lang="ru-R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,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COMMA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; SEMICOLON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: COLON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“” QUOTATION MARKS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() PARENTHESES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[] BRACKETS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Verdana" pitchFamily="34" charset="0"/>
                        </a:rPr>
                        <a:t> </a:t>
                      </a:r>
                      <a:endParaRPr kumimoji="0" lang="ru-RU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Verdan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890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061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1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52600"/>
            <a:ext cx="8229600" cy="2362200"/>
          </a:xfrm>
        </p:spPr>
        <p:txBody>
          <a:bodyPr/>
          <a:lstStyle/>
          <a:p>
            <a:pPr eaLnBrk="1" hangingPunct="1"/>
            <a:r>
              <a:rPr lang="en-US" sz="7000"/>
              <a:t>End Marks</a:t>
            </a:r>
          </a:p>
        </p:txBody>
      </p:sp>
    </p:spTree>
    <p:extLst>
      <p:ext uri="{BB962C8B-B14F-4D97-AF65-F5344CB8AC3E}">
        <p14:creationId xmlns:p14="http://schemas.microsoft.com/office/powerpoint/2010/main" val="1733231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609600" y="381000"/>
            <a:ext cx="65532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4000" b="1">
                <a:solidFill>
                  <a:srgbClr val="008000"/>
                </a:solidFill>
                <a:latin typeface="Comic Sans MS" pitchFamily="66" charset="0"/>
              </a:rPr>
              <a:t>What is an end mark?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304800" y="1143000"/>
            <a:ext cx="8839200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buFontTx/>
              <a:buChar char="•"/>
            </a:pP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An end mark comes at the end of a sentence.  It lets you know when to stop</a:t>
            </a:r>
            <a:r>
              <a:rPr lang="en-US" sz="32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FontTx/>
              <a:buChar char="•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They are:</a:t>
            </a:r>
          </a:p>
          <a:p>
            <a:pPr marL="514350" indent="-514350" algn="just"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Full Stop</a:t>
            </a:r>
          </a:p>
          <a:p>
            <a:pPr marL="514350" indent="-514350" algn="just"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Question Mark</a:t>
            </a:r>
          </a:p>
          <a:p>
            <a:pPr marL="514350" indent="-514350" algn="just"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Exclamation Mark </a:t>
            </a:r>
          </a:p>
        </p:txBody>
      </p:sp>
    </p:spTree>
    <p:extLst>
      <p:ext uri="{BB962C8B-B14F-4D97-AF65-F5344CB8AC3E}">
        <p14:creationId xmlns:p14="http://schemas.microsoft.com/office/powerpoint/2010/main" val="235430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6600" b="1" dirty="0">
                <a:solidFill>
                  <a:srgbClr val="00B050"/>
                </a:solidFill>
              </a:rPr>
              <a:t>Periods (.)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600200"/>
            <a:ext cx="8839200" cy="5105400"/>
          </a:xfrm>
        </p:spPr>
        <p:txBody>
          <a:bodyPr/>
          <a:lstStyle/>
          <a:p>
            <a:pPr algn="just" eaLnBrk="1" hangingPunct="1">
              <a:buNone/>
            </a:pPr>
            <a:r>
              <a:rPr lang="en-US" sz="4800" b="1" dirty="0">
                <a:solidFill>
                  <a:srgbClr val="FF0000"/>
                </a:solidFill>
              </a:rPr>
              <a:t>1. At the end of a sentence </a:t>
            </a:r>
          </a:p>
          <a:p>
            <a:pPr algn="just" eaLnBrk="1" hangingPunct="1">
              <a:buNone/>
            </a:pPr>
            <a:r>
              <a:rPr lang="en-US" sz="4800" dirty="0"/>
              <a:t>e.g. I love my country. </a:t>
            </a:r>
          </a:p>
          <a:p>
            <a:pPr algn="just" eaLnBrk="1" hangingPunct="1">
              <a:buNone/>
            </a:pPr>
            <a:r>
              <a:rPr lang="en-US" sz="4800" dirty="0"/>
              <a:t>2. </a:t>
            </a:r>
            <a:r>
              <a:rPr lang="en-US" sz="4800" b="1" dirty="0">
                <a:solidFill>
                  <a:srgbClr val="FF0000"/>
                </a:solidFill>
              </a:rPr>
              <a:t>After an initial </a:t>
            </a:r>
            <a:r>
              <a:rPr lang="en-US" sz="4800" dirty="0"/>
              <a:t>(e.g. Alfred L. </a:t>
            </a:r>
            <a:r>
              <a:rPr lang="en-US" sz="4800" dirty="0" err="1"/>
              <a:t>Owusu-Ansah</a:t>
            </a:r>
            <a:r>
              <a:rPr lang="en-US" sz="4800" dirty="0"/>
              <a:t>)</a:t>
            </a:r>
          </a:p>
          <a:p>
            <a:pPr algn="just" eaLnBrk="1" hangingPunct="1">
              <a:buNone/>
            </a:pPr>
            <a:r>
              <a:rPr lang="en-US" sz="4800" b="1" dirty="0">
                <a:solidFill>
                  <a:srgbClr val="FF0000"/>
                </a:solidFill>
              </a:rPr>
              <a:t>3. As a decimal </a:t>
            </a:r>
            <a:r>
              <a:rPr lang="en-US" sz="4800" dirty="0"/>
              <a:t>(e.g. $2.50)</a:t>
            </a:r>
          </a:p>
          <a:p>
            <a:pPr algn="just" eaLnBrk="1" hangingPunct="1">
              <a:buNone/>
            </a:pPr>
            <a:r>
              <a:rPr lang="en-US" sz="4800" dirty="0"/>
              <a:t>4. </a:t>
            </a:r>
            <a:r>
              <a:rPr lang="en-US" sz="4800" b="1" dirty="0">
                <a:solidFill>
                  <a:srgbClr val="FF0000"/>
                </a:solidFill>
              </a:rPr>
              <a:t>After abbreviations </a:t>
            </a:r>
            <a:r>
              <a:rPr lang="en-US" sz="4800" dirty="0"/>
              <a:t>(Mrs.)</a:t>
            </a:r>
          </a:p>
        </p:txBody>
      </p:sp>
    </p:spTree>
    <p:extLst>
      <p:ext uri="{BB962C8B-B14F-4D97-AF65-F5344CB8AC3E}">
        <p14:creationId xmlns:p14="http://schemas.microsoft.com/office/powerpoint/2010/main" val="430453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6600" b="1" dirty="0">
                <a:solidFill>
                  <a:srgbClr val="00B050"/>
                </a:solidFill>
              </a:rPr>
              <a:t>Question Mark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 eaLnBrk="1" hangingPunct="1"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After a direct question </a:t>
            </a:r>
          </a:p>
          <a:p>
            <a:pPr marL="514350" indent="-514350" eaLnBrk="1" hangingPunct="1">
              <a:buNone/>
            </a:pPr>
            <a:r>
              <a:rPr lang="en-US" b="1" dirty="0">
                <a:solidFill>
                  <a:srgbClr val="FF0000"/>
                </a:solidFill>
              </a:rPr>
              <a:t>e.g. </a:t>
            </a:r>
            <a:r>
              <a:rPr lang="en-US" dirty="0"/>
              <a:t>Do you know the motto of KNUST?</a:t>
            </a:r>
          </a:p>
          <a:p>
            <a:pPr eaLnBrk="1" hangingPunct="1">
              <a:buNone/>
            </a:pPr>
            <a:r>
              <a:rPr lang="en-US" b="1" dirty="0">
                <a:solidFill>
                  <a:srgbClr val="FF0000"/>
                </a:solidFill>
              </a:rPr>
              <a:t>2. To show doubt </a:t>
            </a:r>
          </a:p>
          <a:p>
            <a:pPr eaLnBrk="1" hangingPunct="1">
              <a:buNone/>
            </a:pPr>
            <a:r>
              <a:rPr lang="en-US" dirty="0"/>
              <a:t>e.g. The Gold Coast was renamed Ghana on a Thursday (?)</a:t>
            </a:r>
          </a:p>
        </p:txBody>
      </p:sp>
      <p:pic>
        <p:nvPicPr>
          <p:cNvPr id="8196" name="Picture 4" descr="MC900441498[1]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8575" y="3309938"/>
            <a:ext cx="3657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1753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5400" b="1" dirty="0">
                <a:solidFill>
                  <a:srgbClr val="00B050"/>
                </a:solidFill>
              </a:rPr>
              <a:t>Exclamation Mark 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5029200"/>
          </a:xfrm>
        </p:spPr>
        <p:txBody>
          <a:bodyPr>
            <a:normAutofit lnSpcReduction="10000"/>
          </a:bodyPr>
          <a:lstStyle/>
          <a:p>
            <a:pPr eaLnBrk="1" hangingPunct="1">
              <a:buNone/>
            </a:pPr>
            <a:r>
              <a:rPr lang="en-US" dirty="0">
                <a:solidFill>
                  <a:srgbClr val="FF0000"/>
                </a:solidFill>
              </a:rPr>
              <a:t>1. To express strong feeling</a:t>
            </a:r>
          </a:p>
          <a:p>
            <a:pPr eaLnBrk="1" hangingPunct="1"/>
            <a:r>
              <a:rPr lang="en-US" dirty="0"/>
              <a:t>E.g. What a shock!</a:t>
            </a:r>
          </a:p>
          <a:p>
            <a:pPr eaLnBrk="1" hangingPunct="1">
              <a:buNone/>
            </a:pPr>
            <a:r>
              <a:rPr lang="en-US" dirty="0"/>
              <a:t>2. After some imperative sentences</a:t>
            </a:r>
          </a:p>
          <a:p>
            <a:pPr eaLnBrk="1" hangingPunct="1">
              <a:buNone/>
            </a:pPr>
            <a:r>
              <a:rPr lang="en-US" dirty="0"/>
              <a:t>e.g. Come here!</a:t>
            </a:r>
          </a:p>
          <a:p>
            <a:pPr eaLnBrk="1" hangingPunct="1"/>
            <a:endParaRPr lang="en-US" dirty="0"/>
          </a:p>
          <a:p>
            <a:pPr algn="just" eaLnBrk="1" hangingPunct="1"/>
            <a:r>
              <a:rPr lang="en-US" b="1" dirty="0">
                <a:solidFill>
                  <a:srgbClr val="C00000"/>
                </a:solidFill>
              </a:rPr>
              <a:t>Never use multiple exclamation marks in school writing assignments or in business letters.</a:t>
            </a:r>
          </a:p>
          <a:p>
            <a:pPr eaLnBrk="1" hangingPunct="1"/>
            <a:r>
              <a:rPr lang="en-US" dirty="0"/>
              <a:t>E.g. I need my money now!!!</a:t>
            </a:r>
          </a:p>
        </p:txBody>
      </p:sp>
    </p:spTree>
    <p:extLst>
      <p:ext uri="{BB962C8B-B14F-4D97-AF65-F5344CB8AC3E}">
        <p14:creationId xmlns:p14="http://schemas.microsoft.com/office/powerpoint/2010/main" val="3057660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202362"/>
          </a:xfrm>
        </p:spPr>
        <p:txBody>
          <a:bodyPr/>
          <a:lstStyle/>
          <a:p>
            <a:r>
              <a:rPr lang="en-US" sz="6600" b="1" dirty="0"/>
              <a:t>MID-LECTURE QUIZ</a:t>
            </a:r>
          </a:p>
        </p:txBody>
      </p:sp>
    </p:spTree>
    <p:extLst>
      <p:ext uri="{BB962C8B-B14F-4D97-AF65-F5344CB8AC3E}">
        <p14:creationId xmlns:p14="http://schemas.microsoft.com/office/powerpoint/2010/main" val="94589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end marks should be made to the sentence below?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Did you feed your dog this morning.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The end mark should be a comma.</a:t>
            </a:r>
          </a:p>
          <a:p>
            <a:pPr eaLnBrk="1" hangingPunct="1"/>
            <a:r>
              <a:rPr lang="en-US" dirty="0"/>
              <a:t>B. The end mark should be an exclamation point.</a:t>
            </a:r>
          </a:p>
          <a:p>
            <a:pPr eaLnBrk="1" hangingPunct="1"/>
            <a:r>
              <a:rPr lang="en-US" dirty="0"/>
              <a:t>C. The end mark should be a colon.</a:t>
            </a:r>
          </a:p>
          <a:p>
            <a:pPr eaLnBrk="1" hangingPunct="1"/>
            <a:r>
              <a:rPr lang="en-US" dirty="0"/>
              <a:t>D. The end mark should be a question mark.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58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end marks should be made to the sentence below?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Did you feed your dog this morning.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The end mark should be a comma.</a:t>
            </a:r>
          </a:p>
          <a:p>
            <a:pPr eaLnBrk="1" hangingPunct="1"/>
            <a:r>
              <a:rPr lang="en-US" dirty="0"/>
              <a:t>B. The end mark should be an exclamation point.</a:t>
            </a:r>
          </a:p>
          <a:p>
            <a:pPr eaLnBrk="1" hangingPunct="1"/>
            <a:r>
              <a:rPr lang="en-US" dirty="0"/>
              <a:t>C. The end mark should be a colon.</a:t>
            </a:r>
          </a:p>
          <a:p>
            <a:pPr eaLnBrk="1" hangingPunct="1"/>
            <a:r>
              <a:rPr lang="en-US" dirty="0"/>
              <a:t>D. The end mark should be a question mark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874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has the correct end punctuation?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eaLnBrk="1" hangingPunct="1"/>
            <a:r>
              <a:rPr lang="en-US"/>
              <a:t>A. Where did you find that cute puppy.</a:t>
            </a:r>
          </a:p>
          <a:p>
            <a:pPr eaLnBrk="1" hangingPunct="1"/>
            <a:r>
              <a:rPr lang="en-US"/>
              <a:t>B. What a great big grin he has on his face!</a:t>
            </a:r>
          </a:p>
          <a:p>
            <a:pPr eaLnBrk="1" hangingPunct="1"/>
            <a:r>
              <a:rPr lang="en-US"/>
              <a:t>C. Roll over, you good girl?</a:t>
            </a:r>
          </a:p>
          <a:p>
            <a:pPr eaLnBrk="1" hangingPunct="1"/>
            <a:r>
              <a:rPr lang="en-US"/>
              <a:t>D. Why can’t we keep her.</a:t>
            </a:r>
          </a:p>
        </p:txBody>
      </p:sp>
    </p:spTree>
    <p:extLst>
      <p:ext uri="{BB962C8B-B14F-4D97-AF65-F5344CB8AC3E}">
        <p14:creationId xmlns:p14="http://schemas.microsoft.com/office/powerpoint/2010/main" val="1845419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has the correct end punctuation?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209800"/>
            <a:ext cx="8229600" cy="3916363"/>
          </a:xfrm>
        </p:spPr>
        <p:txBody>
          <a:bodyPr/>
          <a:lstStyle/>
          <a:p>
            <a:pPr eaLnBrk="1" hangingPunct="1"/>
            <a:r>
              <a:rPr lang="en-US" dirty="0"/>
              <a:t>A. Where did you find that cute puppy.</a:t>
            </a:r>
          </a:p>
          <a:p>
            <a:pPr eaLnBrk="1" hangingPunct="1"/>
            <a:r>
              <a:rPr lang="en-US" dirty="0"/>
              <a:t>B. What a great big grin he has on his face!</a:t>
            </a:r>
          </a:p>
          <a:p>
            <a:pPr eaLnBrk="1" hangingPunct="1"/>
            <a:r>
              <a:rPr lang="en-US" dirty="0"/>
              <a:t>C. Roll over, you good girl?</a:t>
            </a:r>
          </a:p>
          <a:p>
            <a:pPr eaLnBrk="1" hangingPunct="1"/>
            <a:r>
              <a:rPr lang="en-US" dirty="0"/>
              <a:t>D. Why can’t we keep her.</a:t>
            </a:r>
          </a:p>
        </p:txBody>
      </p:sp>
    </p:spTree>
    <p:extLst>
      <p:ext uri="{BB962C8B-B14F-4D97-AF65-F5344CB8AC3E}">
        <p14:creationId xmlns:p14="http://schemas.microsoft.com/office/powerpoint/2010/main" val="3095981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24000"/>
            <a:ext cx="8077200" cy="3124200"/>
          </a:xfrm>
        </p:spPr>
        <p:txBody>
          <a:bodyPr/>
          <a:lstStyle/>
          <a:p>
            <a:pPr eaLnBrk="1" hangingPunct="1"/>
            <a:r>
              <a:rPr lang="en-US" sz="7000" dirty="0"/>
              <a:t>Non-Sentence End Punctuation Marks</a:t>
            </a:r>
          </a:p>
        </p:txBody>
      </p:sp>
    </p:spTree>
    <p:extLst>
      <p:ext uri="{BB962C8B-B14F-4D97-AF65-F5344CB8AC3E}">
        <p14:creationId xmlns:p14="http://schemas.microsoft.com/office/powerpoint/2010/main" val="908234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7200" b="1" dirty="0">
                <a:solidFill>
                  <a:srgbClr val="00B050"/>
                </a:solidFill>
              </a:rPr>
              <a:t>Comma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371600"/>
            <a:ext cx="8839200" cy="5486400"/>
          </a:xfrm>
        </p:spPr>
        <p:txBody>
          <a:bodyPr/>
          <a:lstStyle/>
          <a:p>
            <a:pPr marL="514350" indent="-514350" eaLnBrk="1" hangingPunct="1">
              <a:lnSpc>
                <a:spcPct val="90000"/>
              </a:lnSpc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Between items in a series </a:t>
            </a:r>
          </a:p>
          <a:p>
            <a:pPr marL="514350" indent="-514350" eaLnBrk="1" hangingPunct="1">
              <a:lnSpc>
                <a:spcPct val="90000"/>
              </a:lnSpc>
              <a:buNone/>
            </a:pPr>
            <a:r>
              <a:rPr lang="en-US" dirty="0"/>
              <a:t>e.g.  I know someone who likes orange, pineapple, and banana.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2. In dates and addresses </a:t>
            </a:r>
            <a:r>
              <a:rPr lang="en-US" dirty="0"/>
              <a:t>(e.g. June 24, 2010)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3. To keep numbers clear </a:t>
            </a:r>
            <a:r>
              <a:rPr lang="en-US" dirty="0"/>
              <a:t>(e.g. 1,000, 000)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4. To set off adverbials at the beginning of sentences </a:t>
            </a:r>
            <a:r>
              <a:rPr lang="en-US" dirty="0"/>
              <a:t>(e.g. Yesterday, we visited the library.)</a:t>
            </a:r>
          </a:p>
          <a:p>
            <a:pPr eaLnBrk="1" hangingPunct="1">
              <a:lnSpc>
                <a:spcPct val="90000"/>
              </a:lnSpc>
              <a:buNone/>
            </a:pPr>
            <a:r>
              <a:rPr lang="en-US" dirty="0"/>
              <a:t>5. </a:t>
            </a:r>
            <a:r>
              <a:rPr lang="en-US" b="1" dirty="0">
                <a:solidFill>
                  <a:srgbClr val="FF0000"/>
                </a:solidFill>
              </a:rPr>
              <a:t>To set off dialogue </a:t>
            </a:r>
            <a:r>
              <a:rPr lang="en-US" dirty="0"/>
              <a:t>(e.g. The Hen replied, “My axe is sick.”)</a:t>
            </a:r>
          </a:p>
        </p:txBody>
      </p:sp>
    </p:spTree>
    <p:extLst>
      <p:ext uri="{BB962C8B-B14F-4D97-AF65-F5344CB8AC3E}">
        <p14:creationId xmlns:p14="http://schemas.microsoft.com/office/powerpoint/2010/main" val="1359040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Comma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dirty="0"/>
              <a:t>5. </a:t>
            </a:r>
            <a:r>
              <a:rPr lang="en-US" b="1" dirty="0">
                <a:solidFill>
                  <a:srgbClr val="FF0000"/>
                </a:solidFill>
              </a:rPr>
              <a:t>Between two independent clauses </a:t>
            </a:r>
            <a:r>
              <a:rPr lang="en-US" dirty="0"/>
              <a:t>(e.g. Aquarium workers love animals, so they rescue hurt ones.)</a:t>
            </a:r>
          </a:p>
          <a:p>
            <a:pPr eaLnBrk="1" hangingPunct="1">
              <a:buNone/>
            </a:pPr>
            <a:r>
              <a:rPr lang="en-US" dirty="0"/>
              <a:t>6. In letter writing (Dear Uncle Jim,)</a:t>
            </a:r>
          </a:p>
          <a:p>
            <a:pPr eaLnBrk="1" hangingPunct="1">
              <a:buNone/>
            </a:pPr>
            <a:r>
              <a:rPr lang="en-US" dirty="0"/>
              <a:t>7. To separate adjectives (I like the feel of cold, salty water when I go wading.)</a:t>
            </a:r>
          </a:p>
        </p:txBody>
      </p:sp>
    </p:spTree>
    <p:extLst>
      <p:ext uri="{BB962C8B-B14F-4D97-AF65-F5344CB8AC3E}">
        <p14:creationId xmlns:p14="http://schemas.microsoft.com/office/powerpoint/2010/main" val="1512149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Comma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None/>
            </a:pPr>
            <a:r>
              <a:rPr lang="en-US" dirty="0"/>
              <a:t>8. </a:t>
            </a:r>
            <a:r>
              <a:rPr lang="en-US" dirty="0">
                <a:solidFill>
                  <a:srgbClr val="FF0000"/>
                </a:solidFill>
              </a:rPr>
              <a:t>To set off interjections </a:t>
            </a:r>
            <a:r>
              <a:rPr lang="en-US" dirty="0"/>
              <a:t>(e.g. Wow, look at that sunrise!)</a:t>
            </a:r>
          </a:p>
          <a:p>
            <a:pPr eaLnBrk="1" hangingPunct="1">
              <a:buNone/>
            </a:pPr>
            <a:r>
              <a:rPr lang="en-US" dirty="0"/>
              <a:t>9. </a:t>
            </a:r>
            <a:r>
              <a:rPr lang="en-US" dirty="0">
                <a:solidFill>
                  <a:srgbClr val="FF0000"/>
                </a:solidFill>
              </a:rPr>
              <a:t>To set off appositives </a:t>
            </a:r>
            <a:r>
              <a:rPr lang="en-US" dirty="0"/>
              <a:t>(e.g. My father, a great cook, makes the best fried rice in town.)</a:t>
            </a:r>
          </a:p>
          <a:p>
            <a:pPr eaLnBrk="1" hangingPunct="1">
              <a:buNone/>
            </a:pPr>
            <a:r>
              <a:rPr lang="en-US" dirty="0"/>
              <a:t>10. </a:t>
            </a:r>
            <a:r>
              <a:rPr lang="en-US" dirty="0">
                <a:solidFill>
                  <a:srgbClr val="FF0000"/>
                </a:solidFill>
              </a:rPr>
              <a:t>To set off introductory phrases and clauses </a:t>
            </a:r>
            <a:r>
              <a:rPr lang="en-US" dirty="0"/>
              <a:t>(e.g. After checking my knee pads, I started off.)</a:t>
            </a:r>
          </a:p>
        </p:txBody>
      </p:sp>
    </p:spTree>
    <p:extLst>
      <p:ext uri="{BB962C8B-B14F-4D97-AF65-F5344CB8AC3E}">
        <p14:creationId xmlns:p14="http://schemas.microsoft.com/office/powerpoint/2010/main" val="3279859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20713"/>
          </a:xfrm>
        </p:spPr>
        <p:txBody>
          <a:bodyPr/>
          <a:lstStyle/>
          <a:p>
            <a:r>
              <a:rPr lang="en-US" sz="3200"/>
              <a:t>UNNECESSARY COMMAS</a:t>
            </a:r>
            <a:endParaRPr lang="ru-RU" sz="320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836613"/>
            <a:ext cx="9144000" cy="6021387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400" u="sng" dirty="0"/>
              <a:t>DO NOT USE A COMMA</a:t>
            </a:r>
            <a:r>
              <a:rPr lang="en-US" sz="2400" dirty="0"/>
              <a:t> 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1)BEFORE THE FIRST AND AFTER THE LAST MEMBER OF A SERIES: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e.g. The tea was a cold, sweet, refreshing, drink.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2) TO SEPARATE A SUBJECT FROM ITS PREDICATE:</a:t>
            </a:r>
          </a:p>
          <a:p>
            <a:pPr>
              <a:buFont typeface="Wingdings" pitchFamily="2" charset="2"/>
              <a:buNone/>
            </a:pPr>
            <a:r>
              <a:rPr lang="en-US" sz="2400" i="1" dirty="0"/>
              <a:t>e.g. We requested that the road be resurfaced.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3) BEFORE INDIRECT QUOTATION: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e.g. The candidate stated that, he was against taxation.</a:t>
            </a:r>
          </a:p>
          <a:p>
            <a:pPr>
              <a:buFont typeface="Wingdings" pitchFamily="2" charset="2"/>
              <a:buNone/>
            </a:pPr>
            <a:r>
              <a:rPr lang="en-US" sz="2400" dirty="0"/>
              <a:t>4) BETWEEN TWO INDEPENDENT CLAUSES WHERE A STRONGER MARK OF PUNCTUATION IS REQUIRED “COMMA SPLICE”:</a:t>
            </a:r>
          </a:p>
          <a:p>
            <a:pPr>
              <a:buFont typeface="Wingdings" pitchFamily="2" charset="2"/>
              <a:buNone/>
            </a:pPr>
            <a:r>
              <a:rPr lang="en-US" sz="2000" i="1" dirty="0"/>
              <a:t>e.g. The foreman told me to be there early, I told him I couldn’t.</a:t>
            </a:r>
            <a:r>
              <a:rPr lang="en-US" sz="2400" i="1" dirty="0"/>
              <a:t>   </a:t>
            </a:r>
          </a:p>
          <a:p>
            <a:pPr>
              <a:buFont typeface="Wingdings" pitchFamily="2" charset="2"/>
              <a:buNone/>
            </a:pPr>
            <a:r>
              <a:rPr lang="en-US" sz="2400" i="1" dirty="0"/>
              <a:t>      </a:t>
            </a: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419232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1" fill="hold"/>
                                        <p:tgtEl>
                                          <p:spTgt spid="25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2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2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9" dur="1" fill="hold"/>
                                        <p:tgtEl>
                                          <p:spTgt spid="2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4" dur="1" fill="hold"/>
                                        <p:tgtEl>
                                          <p:spTgt spid="2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9" dur="1" fill="hold"/>
                                        <p:tgtEl>
                                          <p:spTgt spid="256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4" dur="1" fill="hold"/>
                                        <p:tgtEl>
                                          <p:spTgt spid="2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9" dur="1" fill="hold"/>
                                        <p:tgtEl>
                                          <p:spTgt spid="2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4" dur="1" fill="hold"/>
                                        <p:tgtEl>
                                          <p:spTgt spid="256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9" dur="1" fill="hold"/>
                                        <p:tgtEl>
                                          <p:spTgt spid="256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/>
      <p:bldP spid="2560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/>
          <a:lstStyle/>
          <a:p>
            <a:r>
              <a:rPr lang="en-US" sz="3600"/>
              <a:t>UNNECESSARY COMMAS (cont.)</a:t>
            </a:r>
            <a:endParaRPr lang="ru-RU" sz="3600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68413"/>
            <a:ext cx="8229600" cy="4862512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6) Indiscriminately to replace the word omitted: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dirty="0"/>
              <a:t>e.g. Frank said, he would come to see me.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(the comma is incorrectly used for “that”)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400" dirty="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dirty="0"/>
              <a:t>7) IN ANY SITUATION UNLESS IT ADDS TO CLARITY AND UNDERSTANDING: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400" i="1" dirty="0"/>
              <a:t>e.g. Naturally, the first thing you should do, after reporting for work, is to see your supervisor.</a:t>
            </a: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endParaRPr lang="en-US" sz="2400" b="1" i="1" dirty="0">
              <a:solidFill>
                <a:srgbClr val="FF0000"/>
              </a:solidFill>
            </a:endParaRPr>
          </a:p>
          <a:p>
            <a:pPr algn="just">
              <a:lnSpc>
                <a:spcPct val="90000"/>
              </a:lnSpc>
              <a:buFont typeface="Wingdings" pitchFamily="2" charset="2"/>
              <a:buNone/>
            </a:pPr>
            <a:r>
              <a:rPr lang="en-US" sz="2400" b="1" i="1" dirty="0">
                <a:solidFill>
                  <a:srgbClr val="FF0000"/>
                </a:solidFill>
              </a:rPr>
              <a:t>After the play, Martha and I went home, by taxicab, because we wanted, at all cost, to avoid subway crowds</a:t>
            </a:r>
            <a:r>
              <a:rPr lang="en-US" sz="2400" i="1" dirty="0"/>
              <a:t>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ru-RU" sz="2400" i="1" dirty="0"/>
          </a:p>
        </p:txBody>
      </p:sp>
    </p:spTree>
    <p:extLst>
      <p:ext uri="{BB962C8B-B14F-4D97-AF65-F5344CB8AC3E}">
        <p14:creationId xmlns:p14="http://schemas.microsoft.com/office/powerpoint/2010/main" val="1661682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2" dur="1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26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a comma be placed in the sentence below?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Please place a pencil, a pair of scissors and two sheets of paper on your desk.</a:t>
            </a:r>
          </a:p>
          <a:p>
            <a:pPr algn="ctr"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A. after the word paper</a:t>
            </a:r>
          </a:p>
          <a:p>
            <a:pPr eaLnBrk="1" hangingPunct="1"/>
            <a:r>
              <a:rPr lang="en-US"/>
              <a:t>B. after the word scissors</a:t>
            </a:r>
          </a:p>
          <a:p>
            <a:pPr eaLnBrk="1" hangingPunct="1"/>
            <a:r>
              <a:rPr lang="en-US"/>
              <a:t>C. before the word of</a:t>
            </a:r>
          </a:p>
          <a:p>
            <a:pPr eaLnBrk="1" hangingPunct="1"/>
            <a:r>
              <a:rPr lang="en-US"/>
              <a:t>D. after the word sheets</a:t>
            </a:r>
          </a:p>
        </p:txBody>
      </p:sp>
    </p:spTree>
    <p:extLst>
      <p:ext uri="{BB962C8B-B14F-4D97-AF65-F5344CB8AC3E}">
        <p14:creationId xmlns:p14="http://schemas.microsoft.com/office/powerpoint/2010/main" val="2470924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a comma be placed in the sentence below?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Please place a pencil, a pair of scissors and two sheets of paper on your desk.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after the word paper</a:t>
            </a:r>
          </a:p>
          <a:p>
            <a:pPr eaLnBrk="1" hangingPunct="1"/>
            <a:r>
              <a:rPr lang="en-US" dirty="0"/>
              <a:t>B. after the word scissors</a:t>
            </a:r>
          </a:p>
          <a:p>
            <a:pPr eaLnBrk="1" hangingPunct="1"/>
            <a:r>
              <a:rPr lang="en-US" dirty="0"/>
              <a:t>C. before the word of</a:t>
            </a:r>
          </a:p>
          <a:p>
            <a:pPr eaLnBrk="1" hangingPunct="1"/>
            <a:r>
              <a:rPr lang="en-US" dirty="0"/>
              <a:t>D. after the word sheets</a:t>
            </a:r>
          </a:p>
        </p:txBody>
      </p:sp>
    </p:spTree>
    <p:extLst>
      <p:ext uri="{BB962C8B-B14F-4D97-AF65-F5344CB8AC3E}">
        <p14:creationId xmlns:p14="http://schemas.microsoft.com/office/powerpoint/2010/main" val="2122369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commas be placed in the sentence below?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You must bring your ticket lunch and spending money.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A. after You and must</a:t>
            </a:r>
          </a:p>
          <a:p>
            <a:pPr eaLnBrk="1" hangingPunct="1"/>
            <a:r>
              <a:rPr lang="en-US"/>
              <a:t>B. after ticket and lunch</a:t>
            </a:r>
          </a:p>
          <a:p>
            <a:pPr eaLnBrk="1" hangingPunct="1"/>
            <a:r>
              <a:rPr lang="en-US"/>
              <a:t>C. after bring and lunch</a:t>
            </a:r>
          </a:p>
          <a:p>
            <a:pPr eaLnBrk="1" hangingPunct="1"/>
            <a:r>
              <a:rPr lang="en-US"/>
              <a:t>D. after your and ticket and lunch</a:t>
            </a:r>
          </a:p>
        </p:txBody>
      </p:sp>
    </p:spTree>
    <p:extLst>
      <p:ext uri="{BB962C8B-B14F-4D97-AF65-F5344CB8AC3E}">
        <p14:creationId xmlns:p14="http://schemas.microsoft.com/office/powerpoint/2010/main" val="3933766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Where should commas be placed in the sentence below?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You must bring your ticket lunch and spending money.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A. after You and must</a:t>
            </a:r>
          </a:p>
          <a:p>
            <a:pPr eaLnBrk="1" hangingPunct="1"/>
            <a:r>
              <a:rPr lang="en-US" dirty="0"/>
              <a:t>B. after ticket and lunch</a:t>
            </a:r>
          </a:p>
          <a:p>
            <a:pPr eaLnBrk="1" hangingPunct="1"/>
            <a:r>
              <a:rPr lang="en-US" dirty="0"/>
              <a:t>C. after bring and lunch</a:t>
            </a:r>
          </a:p>
          <a:p>
            <a:pPr eaLnBrk="1" hangingPunct="1"/>
            <a:r>
              <a:rPr lang="en-US" dirty="0"/>
              <a:t>D. after your and ticket and lunch</a:t>
            </a:r>
          </a:p>
        </p:txBody>
      </p:sp>
    </p:spTree>
    <p:extLst>
      <p:ext uri="{BB962C8B-B14F-4D97-AF65-F5344CB8AC3E}">
        <p14:creationId xmlns:p14="http://schemas.microsoft.com/office/powerpoint/2010/main" val="13425679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Colon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To introduce a list</a:t>
            </a:r>
          </a:p>
          <a:p>
            <a:pPr eaLnBrk="1" hangingPunct="1"/>
            <a:r>
              <a:rPr lang="en-US"/>
              <a:t>After a salutation in a business letter </a:t>
            </a:r>
          </a:p>
          <a:p>
            <a:pPr eaLnBrk="1" hangingPunct="1">
              <a:buFontTx/>
              <a:buNone/>
            </a:pPr>
            <a:r>
              <a:rPr lang="en-US"/>
              <a:t>	(Dear Chairperson: )</a:t>
            </a:r>
          </a:p>
          <a:p>
            <a:pPr eaLnBrk="1" hangingPunct="1"/>
            <a:r>
              <a:rPr lang="en-US"/>
              <a:t>Between numbers in time (2:25)</a:t>
            </a:r>
          </a:p>
          <a:p>
            <a:pPr eaLnBrk="1" hangingPunct="1"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148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20713"/>
          </a:xfrm>
        </p:spPr>
        <p:txBody>
          <a:bodyPr/>
          <a:lstStyle/>
          <a:p>
            <a:r>
              <a:rPr lang="en-US" sz="3200"/>
              <a:t>THE COLON</a:t>
            </a:r>
            <a:endParaRPr lang="ru-RU" sz="32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92150"/>
            <a:ext cx="9144000" cy="6165850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The colon is a mark of expectation or addition.  It’s primary function is to signal the reader to “watch for what’s coming.”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u="sng" dirty="0"/>
              <a:t>USE THE COLON: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1) TO INTRODUCE A WORD, A PHRASE, OR CLAUSE, OR AFTER AN INTRODUCTORY STATEMENT: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 This is my problem: what do I do now?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2) TO SEPARATE INTRODUCTORY WORDS FROM A LONG OR FORMAL QUOTATION WHICH FOLLOWS: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 Jefferson concluded his First Inaugural Address as follows: “And may that Infinite Power which rules the destines of the universe…”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 dirty="0"/>
              <a:t>3) AS A SEPARATING MARK IN SPECIAL SITUATIONS: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IN BUSINESS LETTERS: </a:t>
            </a:r>
            <a:r>
              <a:rPr lang="en-US" sz="1800" i="1" dirty="0"/>
              <a:t>e.g. Dear Mr. James: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TITLES AND SUBTITLES OF BOOKS: </a:t>
            </a:r>
            <a:r>
              <a:rPr lang="en-US" sz="1800" i="1" dirty="0"/>
              <a:t>e.g. The English Novel: A Panorama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HOUR AND MINUTE FIGURES: e.g. 10:15 a.m.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CHAPTERS AND VERSES OF THE BIBLE: e.g. Exodus, 12:31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UcParenR"/>
            </a:pPr>
            <a:r>
              <a:rPr lang="en-US" sz="2000" dirty="0"/>
              <a:t>VOLUMES AND PAGE REFERENCES: e.g. War and Peace, II:122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86836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96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0" dur="1" fill="hold"/>
                                        <p:tgtEl>
                                          <p:spTgt spid="2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/>
                                        <p:tgtEl>
                                          <p:spTgt spid="296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" fill="hold"/>
                                        <p:tgtEl>
                                          <p:spTgt spid="296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/>
      <p:bldP spid="29699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620713"/>
          </a:xfrm>
        </p:spPr>
        <p:txBody>
          <a:bodyPr/>
          <a:lstStyle/>
          <a:p>
            <a:r>
              <a:rPr lang="en-US" sz="3200"/>
              <a:t>THE COLON (cont.)</a:t>
            </a:r>
            <a:endParaRPr lang="ru-RU" sz="320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765175"/>
            <a:ext cx="9144000" cy="6092825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u="sng" dirty="0"/>
              <a:t>DO NOT OVERUSE THE COLON</a:t>
            </a:r>
          </a:p>
          <a:p>
            <a:pPr>
              <a:buFont typeface="Wingdings" pitchFamily="2" charset="2"/>
              <a:buNone/>
            </a:pPr>
            <a:endParaRPr lang="en-US" sz="2000" u="sng" dirty="0"/>
          </a:p>
          <a:p>
            <a:pPr>
              <a:buFont typeface="Wingdings" pitchFamily="2" charset="2"/>
              <a:buNone/>
            </a:pPr>
            <a:r>
              <a:rPr lang="en-US" sz="2000" dirty="0"/>
              <a:t>DO NOT PLACE A COLON BETWEEN A PREPOSITION AND OBJECT: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e.g. I am fond of: New Orleans, Seattle, Denver.</a:t>
            </a:r>
          </a:p>
          <a:p>
            <a:pPr>
              <a:buFont typeface="Wingdings" pitchFamily="2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en-US" sz="2000" dirty="0"/>
              <a:t>DO NOT PLACE A COLON BETWEEN A VERB AND ITS OBJECT: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e.g. He liked to see: TV plays, movies, and sitcoms.</a:t>
            </a:r>
          </a:p>
          <a:p>
            <a:pPr>
              <a:buFont typeface="Wingdings" pitchFamily="2" charset="2"/>
              <a:buNone/>
            </a:pPr>
            <a:r>
              <a:rPr lang="en-US" sz="2400" dirty="0">
                <a:latin typeface="Times New Roman" pitchFamily="18" charset="0"/>
              </a:rPr>
              <a:t> She likes a number of activities, such as: swimming, dancing, and cooking.</a:t>
            </a:r>
            <a:endParaRPr lang="ru-RU" sz="24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55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58800"/>
          </a:xfrm>
        </p:spPr>
        <p:txBody>
          <a:bodyPr>
            <a:normAutofit fontScale="90000"/>
          </a:bodyPr>
          <a:lstStyle/>
          <a:p>
            <a:r>
              <a:rPr lang="en-US" sz="3200"/>
              <a:t>THE SEMICOLON</a:t>
            </a:r>
            <a:endParaRPr lang="ru-RU" sz="320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08050"/>
            <a:ext cx="9144000" cy="59499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2000" dirty="0"/>
              <a:t>The semicolon is a stronger mark of punctuation than the comma; it signifies a greater break or a longer pause between sentence elements.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REMEMBER: THE SMICOLON IS USED ONLY BETWEEN ELEMENTS OF EQUAL RANK; IT IS ENTIRELY A MARK OF </a:t>
            </a:r>
            <a:r>
              <a:rPr lang="en-US" sz="2000" i="1" dirty="0"/>
              <a:t>COORDINATION</a:t>
            </a:r>
            <a:r>
              <a:rPr lang="en-US" sz="2000" dirty="0"/>
              <a:t>.</a:t>
            </a:r>
          </a:p>
          <a:p>
            <a:pPr>
              <a:buFont typeface="Wingdings" pitchFamily="2" charset="2"/>
              <a:buNone/>
            </a:pPr>
            <a:endParaRPr lang="en-US" sz="2000" dirty="0"/>
          </a:p>
          <a:p>
            <a:pPr>
              <a:buFont typeface="Wingdings" pitchFamily="2" charset="2"/>
              <a:buNone/>
            </a:pPr>
            <a:r>
              <a:rPr lang="en-US" sz="2000" u="sng" dirty="0"/>
              <a:t>USE THE SEMICOLON: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1) TO SEPARATE INDEPENDENT CLAUSES NOT JOINED BY A SIMPLE CONJUNCTION: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 “If you make people think they’re thinking, they’ll love you; if you really make them think, they’ll hate you.” – </a:t>
            </a:r>
            <a:r>
              <a:rPr lang="en-US" sz="2000" i="1" dirty="0">
                <a:latin typeface="Times New Roman" pitchFamily="18" charset="0"/>
              </a:rPr>
              <a:t>Marquis</a:t>
            </a:r>
          </a:p>
          <a:p>
            <a:pPr>
              <a:buFont typeface="Wingdings" pitchFamily="2" charset="2"/>
              <a:buNone/>
            </a:pPr>
            <a:r>
              <a:rPr lang="en-US" sz="2000" dirty="0"/>
              <a:t>2) TO SEPARATE INDEPENDENT CLAUSES JOINED BY A CONJUNCTIVE ADVERB (</a:t>
            </a:r>
            <a:r>
              <a:rPr lang="en-US" sz="2000" i="1" dirty="0"/>
              <a:t>ALSO, ANYHOW, BESIDES, CONSEQUENTLY, FURTHERMORE, HOWEVER, MOREOVER, OTHERWISE, THEREFORE, THUS, ETC.):</a:t>
            </a:r>
          </a:p>
          <a:p>
            <a:pPr>
              <a:buFont typeface="Wingdings" pitchFamily="2" charset="2"/>
              <a:buNone/>
            </a:pPr>
            <a:r>
              <a:rPr lang="en-US" sz="2000" dirty="0">
                <a:latin typeface="Times New Roman" pitchFamily="18" charset="0"/>
              </a:rPr>
              <a:t>e.g.</a:t>
            </a:r>
            <a:r>
              <a:rPr lang="en-US" sz="2000" i="1" dirty="0">
                <a:latin typeface="Times New Roman" pitchFamily="18" charset="0"/>
              </a:rPr>
              <a:t> </a:t>
            </a:r>
            <a:r>
              <a:rPr lang="en-US" sz="2000" dirty="0">
                <a:latin typeface="Times New Roman" pitchFamily="18" charset="0"/>
              </a:rPr>
              <a:t>This job is not simple; however, it’s exciting and rewarding.</a:t>
            </a:r>
            <a:endParaRPr lang="ru-RU" sz="200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460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2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/>
      <p:bldP spid="27651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558800"/>
          </a:xfrm>
        </p:spPr>
        <p:txBody>
          <a:bodyPr>
            <a:normAutofit fontScale="90000"/>
          </a:bodyPr>
          <a:lstStyle/>
          <a:p>
            <a:r>
              <a:rPr lang="en-US" sz="3200"/>
              <a:t>THE SEMICOLON (cont.)</a:t>
            </a:r>
            <a:endParaRPr lang="ru-RU" sz="320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81075"/>
            <a:ext cx="9144000" cy="58769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3) BETWEEN INDEPENDENT CLAUSES WHICH ARE LENGTHY OR CONTAIN INTERNAL PUNCTUATION: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“As long as war is regarded as wicked, it will have its fascination; when it is looked upon as vulgar, it will cease to be popular.” – Wilde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u="sng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 u="sng"/>
              <a:t>DO NOT OVERUSE SEMICOLON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 u="sng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ORDINARILY, THE SEMICOLON HAS THE SAME FUCTION AS A PERIOD: IT INDICATES A COMPLETE BREAK, THE END OF ONE THOUGHT AND THE BEGINNING OF ANOTHER. 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ONE FAIRLY SAFE GUIDE IS: </a:t>
            </a:r>
            <a:r>
              <a:rPr lang="en-US" sz="2000" i="1"/>
              <a:t>NO PERIOD, NO SEMICOLON: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Inasmuch as Joe has a fiery temper; we have to be careful what we say to him.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(a comma should be used instead of the semicolon)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DO NOT USE IT AS A MARK OF INTRODUCTION: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Dear Sir; 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DO NOT USE IT AS A SUMMARIZING MARK: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>
                <a:latin typeface="Times New Roman" pitchFamily="18" charset="0"/>
              </a:rPr>
              <a:t>e.g. Answering the phone, typing, filing; these were my duties last summer.</a:t>
            </a:r>
          </a:p>
        </p:txBody>
      </p:sp>
    </p:spTree>
    <p:extLst>
      <p:ext uri="{BB962C8B-B14F-4D97-AF65-F5344CB8AC3E}">
        <p14:creationId xmlns:p14="http://schemas.microsoft.com/office/powerpoint/2010/main" val="127841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86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2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2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2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286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286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2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2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286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0" dur="1" fill="hold"/>
                                        <p:tgtEl>
                                          <p:spTgt spid="286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/>
                                        <p:tgtEl>
                                          <p:spTgt spid="2867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675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Hyphen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To divide a word when you run out of room at the end of the line (divide only at the syllables, never divide one syllable words or contractions) </a:t>
            </a:r>
          </a:p>
          <a:p>
            <a:pPr eaLnBrk="1" hangingPunct="1"/>
            <a:r>
              <a:rPr lang="en-US"/>
              <a:t>Between numbers in fractions</a:t>
            </a:r>
          </a:p>
        </p:txBody>
      </p:sp>
    </p:spTree>
    <p:extLst>
      <p:ext uri="{BB962C8B-B14F-4D97-AF65-F5344CB8AC3E}">
        <p14:creationId xmlns:p14="http://schemas.microsoft.com/office/powerpoint/2010/main" val="719460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476250"/>
          </a:xfrm>
        </p:spPr>
        <p:txBody>
          <a:bodyPr>
            <a:normAutofit fontScale="90000"/>
          </a:bodyPr>
          <a:lstStyle/>
          <a:p>
            <a:r>
              <a:rPr lang="en-US" sz="3200"/>
              <a:t>THE DASH</a:t>
            </a:r>
            <a:endParaRPr lang="ru-RU" sz="320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620713"/>
            <a:ext cx="9144000" cy="6237287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THE DASH IS A MARK OF PUNCTUATION USED TO DENOTE A SUDDEN BREAK OR SHIFT IN THOUGHT.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“THE INTERRUPTION, THE MARK OF ABRUPTNESS, THE SOB, THE STAMMER, THE MARK OF IGNORANCE.”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IT IS THE ONLY MARK OF PUNCTUATION WHICH IS NOT ON THE STANDARD KEYBOARD.  TO TYPE A DASH, USE TWO HYPHENS; NO SPACE PRECEDES OR FOLLOW THE HYPHENS.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USE THE DASH: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1) TO INDICATE A BREAK OR SHIFT IN THOUGHT: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Do we—can we—dare we ask for more money?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2) TO INTRODUCE A WORD OR GROUP OF WORDS WHICH YOU WISH TO EMPHASIZE: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What he needed most he never got—love.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3) TO SET OFF STRONGLY DISTINGUISHED PARENTHETICAL MATERIAL: e.g. I think—no, I am positive—that you should go.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4) TO INDICATE OMISSION OF LETTERS AND WORDS: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Senator S– was from my hometown.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           June—October 1990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52885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7" dur="1" fill="hold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7" dur="1" fill="hold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2" dur="1" fill="hold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7" dur="1" fill="hold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2" dur="1" fill="hold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7" dur="1" fill="hold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2" dur="1" fill="hold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7" dur="1" fill="hold"/>
                                        <p:tgtEl>
                                          <p:spTgt spid="317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2" dur="1" fill="hold"/>
                                        <p:tgtEl>
                                          <p:spTgt spid="317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7" dur="1" fill="hold"/>
                                        <p:tgtEl>
                                          <p:spTgt spid="317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2" dur="1" fill="hold"/>
                                        <p:tgtEl>
                                          <p:spTgt spid="317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/>
      <p:bldP spid="3174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333375"/>
          </a:xfrm>
        </p:spPr>
        <p:txBody>
          <a:bodyPr>
            <a:normAutofit fontScale="90000"/>
          </a:bodyPr>
          <a:lstStyle/>
          <a:p>
            <a:r>
              <a:rPr lang="en-US" sz="3200"/>
              <a:t>THE HYPHEN</a:t>
            </a:r>
            <a:endParaRPr lang="ru-RU" sz="3200"/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549275"/>
            <a:ext cx="9144000" cy="6308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MARK OF SEPARATION USED BETWEEN PARTS OF A WORD.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USE A HYPHEN: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1) TO SEPARATE (JOIN) THE PARTS OF COMPOUND WORDS: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fast-moving; sister-in-law; half-asleep; X-ray; know-it-all; forty-seven; three-fourths 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endParaRPr lang="en-US" sz="2000"/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2) TO INDICATE THE DIVISION OF A WORD BROKEN AT THE END OF A LINE: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None/>
            </a:pPr>
            <a:r>
              <a:rPr lang="en-US" sz="2000"/>
              <a:t>e.g. knowl-edge, ste-nog-ra-pher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Never divide a monosyllable: e.g. strength, laughed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on a syllable with a silent vowel: e.g. climbed, yelled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a word with only 4 letters: e.g. also, only, open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Divide two consonants standing between vowels: e.g. struc-ture, alter-native, exis-ten-tialism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sums of money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initials in a name or in proper names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lphaLcParenR"/>
            </a:pPr>
            <a:r>
              <a:rPr lang="en-US" sz="2000"/>
              <a:t>Do not divide units of time</a:t>
            </a: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3718596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327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0" dur="1" fill="hold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5" dur="1" fill="hold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0" dur="1" fill="hold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5" dur="1" fill="hold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0" dur="1" fill="hold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5" dur="1" fill="hold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0" dur="1" fill="hold"/>
                                        <p:tgtEl>
                                          <p:spTgt spid="327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55" dur="1" fill="hold"/>
                                        <p:tgtEl>
                                          <p:spTgt spid="327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0" dur="1" fill="hold"/>
                                        <p:tgtEl>
                                          <p:spTgt spid="327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65" dur="1" fill="hold"/>
                                        <p:tgtEl>
                                          <p:spTgt spid="3277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0" dur="1" fill="hold"/>
                                        <p:tgtEl>
                                          <p:spTgt spid="3277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5" dur="1" fill="hold"/>
                                        <p:tgtEl>
                                          <p:spTgt spid="3277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/>
      <p:bldP spid="32771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Apostrophe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In contractions (can’t)</a:t>
            </a:r>
          </a:p>
          <a:p>
            <a:pPr eaLnBrk="1" hangingPunct="1"/>
            <a:r>
              <a:rPr lang="en-US"/>
              <a:t>To form plurals (A’s)</a:t>
            </a:r>
          </a:p>
          <a:p>
            <a:pPr eaLnBrk="1" hangingPunct="1"/>
            <a:r>
              <a:rPr lang="en-US"/>
              <a:t>In place of omitted numbers or letters (class of 91’ or fixin’ to go)</a:t>
            </a:r>
          </a:p>
          <a:p>
            <a:pPr eaLnBrk="1" hangingPunct="1"/>
            <a:r>
              <a:rPr lang="en-US"/>
              <a:t>To form singular possessives (sister’s)</a:t>
            </a:r>
          </a:p>
          <a:p>
            <a:pPr eaLnBrk="1" hangingPunct="1"/>
            <a:r>
              <a:rPr lang="en-US"/>
              <a:t>To form plural possessives (girls’)</a:t>
            </a:r>
          </a:p>
          <a:p>
            <a:pPr eaLnBrk="1" hangingPunct="1"/>
            <a:r>
              <a:rPr lang="en-US"/>
              <a:t>To form shared possessives ( Jim, Jeb, and Jerry’s fish)</a:t>
            </a:r>
          </a:p>
        </p:txBody>
      </p:sp>
    </p:spTree>
    <p:extLst>
      <p:ext uri="{BB962C8B-B14F-4D97-AF65-F5344CB8AC3E}">
        <p14:creationId xmlns:p14="http://schemas.microsoft.com/office/powerpoint/2010/main" val="22799433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word BEST fills in the blank in the sentence below?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My unusual parrot ___________ eat </a:t>
            </a:r>
          </a:p>
          <a:p>
            <a:pPr algn="ctr" eaLnBrk="1" hangingPunct="1">
              <a:buFontTx/>
              <a:buNone/>
            </a:pPr>
            <a:r>
              <a:rPr lang="en-US"/>
              <a:t>a single cracker.</a:t>
            </a:r>
          </a:p>
          <a:p>
            <a:pPr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A. won’t</a:t>
            </a:r>
          </a:p>
          <a:p>
            <a:pPr eaLnBrk="1" hangingPunct="1"/>
            <a:r>
              <a:rPr lang="en-US"/>
              <a:t>B. wasn’t</a:t>
            </a:r>
          </a:p>
          <a:p>
            <a:pPr eaLnBrk="1" hangingPunct="1"/>
            <a:r>
              <a:rPr lang="en-US"/>
              <a:t>C. isn’t</a:t>
            </a:r>
          </a:p>
          <a:p>
            <a:pPr eaLnBrk="1" hangingPunct="1"/>
            <a:r>
              <a:rPr lang="en-US"/>
              <a:t>D. don’t</a:t>
            </a:r>
          </a:p>
        </p:txBody>
      </p:sp>
    </p:spTree>
    <p:extLst>
      <p:ext uri="{BB962C8B-B14F-4D97-AF65-F5344CB8AC3E}">
        <p14:creationId xmlns:p14="http://schemas.microsoft.com/office/powerpoint/2010/main" val="6253837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word BEST fills in the blank in the sentence below?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My unusual parrot ___________ eat </a:t>
            </a:r>
          </a:p>
          <a:p>
            <a:pPr algn="ctr" eaLnBrk="1" hangingPunct="1">
              <a:buFontTx/>
              <a:buNone/>
            </a:pPr>
            <a:r>
              <a:rPr lang="en-US" dirty="0"/>
              <a:t>a single cracker.</a:t>
            </a:r>
          </a:p>
          <a:p>
            <a:pPr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won’t</a:t>
            </a:r>
          </a:p>
          <a:p>
            <a:pPr eaLnBrk="1" hangingPunct="1"/>
            <a:r>
              <a:rPr lang="en-US" dirty="0"/>
              <a:t>B. wasn’t</a:t>
            </a:r>
          </a:p>
          <a:p>
            <a:pPr eaLnBrk="1" hangingPunct="1"/>
            <a:r>
              <a:rPr lang="en-US" dirty="0"/>
              <a:t>C. isn’t</a:t>
            </a:r>
          </a:p>
          <a:p>
            <a:pPr eaLnBrk="1" hangingPunct="1"/>
            <a:r>
              <a:rPr lang="en-US" dirty="0"/>
              <a:t>D. don’t</a:t>
            </a:r>
          </a:p>
        </p:txBody>
      </p:sp>
    </p:spTree>
    <p:extLst>
      <p:ext uri="{BB962C8B-B14F-4D97-AF65-F5344CB8AC3E}">
        <p14:creationId xmlns:p14="http://schemas.microsoft.com/office/powerpoint/2010/main" val="16804326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Underlining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For titles of plays, books, newspapers, magazines, television programs, movies, and CD’s</a:t>
            </a:r>
          </a:p>
          <a:p>
            <a:pPr eaLnBrk="1" hangingPunct="1"/>
            <a:r>
              <a:rPr lang="en-US" u="sng"/>
              <a:t>The Wiz</a:t>
            </a:r>
            <a:r>
              <a:rPr lang="en-US"/>
              <a:t> (play)</a:t>
            </a:r>
          </a:p>
          <a:p>
            <a:pPr eaLnBrk="1" hangingPunct="1"/>
            <a:r>
              <a:rPr lang="en-US" u="sng"/>
              <a:t>Exploring an Ocean Tide Pool</a:t>
            </a:r>
            <a:r>
              <a:rPr lang="en-US"/>
              <a:t> (book)</a:t>
            </a:r>
          </a:p>
          <a:p>
            <a:pPr eaLnBrk="1" hangingPunct="1"/>
            <a:r>
              <a:rPr lang="en-US" u="sng"/>
              <a:t>Pinky and the Brain</a:t>
            </a:r>
            <a:r>
              <a:rPr lang="en-US"/>
              <a:t> (television program)</a:t>
            </a:r>
          </a:p>
          <a:p>
            <a:pPr eaLnBrk="1" hangingPunct="1"/>
            <a:r>
              <a:rPr lang="en-US" u="sng"/>
              <a:t>The Prince of Egypt</a:t>
            </a:r>
            <a:r>
              <a:rPr lang="en-US"/>
              <a:t> (movie)</a:t>
            </a:r>
          </a:p>
        </p:txBody>
      </p:sp>
    </p:spTree>
    <p:extLst>
      <p:ext uri="{BB962C8B-B14F-4D97-AF65-F5344CB8AC3E}">
        <p14:creationId xmlns:p14="http://schemas.microsoft.com/office/powerpoint/2010/main" val="33086715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Quotation Marks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/>
              <a:t>To set off a direct quotation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Placement of punctuation (put other marks inside of the quotation mark)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To punctuate titles (songs, poems, short stories, essays, and chapters of books, articles in newspapers, magazines, encyclopedia, or electronic sources)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“America the Beautiful” (song)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“McBroom Tells the Truth” (short story)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“Water, Water Everywhere” (chapter)</a:t>
            </a:r>
          </a:p>
        </p:txBody>
      </p:sp>
    </p:spTree>
    <p:extLst>
      <p:ext uri="{BB962C8B-B14F-4D97-AF65-F5344CB8AC3E}">
        <p14:creationId xmlns:p14="http://schemas.microsoft.com/office/powerpoint/2010/main" val="11471855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Ellipsis 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THREE SPACED PERIODS TO INDICATE OMISSION </a:t>
            </a:r>
            <a:r>
              <a:rPr lang="en-US" sz="2800" i="1" dirty="0"/>
              <a:t>e.g. </a:t>
            </a:r>
            <a:r>
              <a:rPr lang="en-US" sz="2800" i="1" dirty="0" err="1"/>
              <a:t>Osagyefo</a:t>
            </a:r>
            <a:r>
              <a:rPr lang="en-US" sz="2800" i="1" dirty="0"/>
              <a:t> Dr. </a:t>
            </a:r>
            <a:r>
              <a:rPr lang="en-US" sz="2800" i="1" dirty="0" err="1"/>
              <a:t>Kwame</a:t>
            </a:r>
            <a:r>
              <a:rPr lang="en-US" sz="2800" i="1" dirty="0"/>
              <a:t> Nkrumah said: “Our independence is meaningless…”</a:t>
            </a:r>
          </a:p>
          <a:p>
            <a:r>
              <a:rPr lang="en-US" sz="2800" i="1" dirty="0"/>
              <a:t>To mean ‘and so on’ (e.g. There are 16 regions in Ghana: </a:t>
            </a:r>
            <a:r>
              <a:rPr lang="en-US" sz="2800" i="1" dirty="0" err="1"/>
              <a:t>Oti</a:t>
            </a:r>
            <a:r>
              <a:rPr lang="en-US" sz="2800" i="1" dirty="0"/>
              <a:t>, Ashanti, Bono, Central, </a:t>
            </a:r>
            <a:r>
              <a:rPr lang="en-US" sz="2800" i="1" err="1"/>
              <a:t>Nothern</a:t>
            </a:r>
            <a:r>
              <a:rPr lang="en-US" sz="2800" i="1"/>
              <a:t>…</a:t>
            </a:r>
            <a:endParaRPr lang="en-US" sz="2800" i="1" dirty="0"/>
          </a:p>
        </p:txBody>
      </p:sp>
    </p:spTree>
    <p:extLst>
      <p:ext uri="{BB962C8B-B14F-4D97-AF65-F5344CB8AC3E}">
        <p14:creationId xmlns:p14="http://schemas.microsoft.com/office/powerpoint/2010/main" val="17543019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Capitalization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z="2800"/>
              <a:t>Proper nouns and proper adjectives</a:t>
            </a:r>
          </a:p>
          <a:p>
            <a:pPr eaLnBrk="1" hangingPunct="1"/>
            <a:r>
              <a:rPr lang="en-US" sz="2800"/>
              <a:t>Names of People</a:t>
            </a:r>
          </a:p>
          <a:p>
            <a:pPr eaLnBrk="1" hangingPunct="1"/>
            <a:r>
              <a:rPr lang="en-US" sz="2800"/>
              <a:t>Words used as names (Mother, Father, Aunt, Uncle … when used as a name)</a:t>
            </a:r>
          </a:p>
          <a:p>
            <a:pPr eaLnBrk="1" hangingPunct="1"/>
            <a:r>
              <a:rPr lang="en-US" sz="2800"/>
              <a:t> Ask </a:t>
            </a:r>
            <a:r>
              <a:rPr lang="en-US" sz="2800" b="1"/>
              <a:t>Mother</a:t>
            </a:r>
            <a:r>
              <a:rPr lang="en-US" sz="2800"/>
              <a:t> what we’re having for lunch. Ask my </a:t>
            </a:r>
            <a:r>
              <a:rPr lang="en-US" sz="2800" b="1"/>
              <a:t>mother</a:t>
            </a:r>
            <a:r>
              <a:rPr lang="en-US" sz="2800"/>
              <a:t> what we’re having for lunch. The first sentence mother is used as a name, in the second sentence it describes someone.</a:t>
            </a:r>
          </a:p>
        </p:txBody>
      </p:sp>
    </p:spTree>
    <p:extLst>
      <p:ext uri="{BB962C8B-B14F-4D97-AF65-F5344CB8AC3E}">
        <p14:creationId xmlns:p14="http://schemas.microsoft.com/office/powerpoint/2010/main" val="11020584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Capitalization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Geographic names (Earth)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Titles used with names (Dr. Martin Luther King, Jr.)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Historical events (Boston Tea Party)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Abbreviations (M.D.)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Organizations (Girl Scouts of America)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Titles ( Beauty and the Beast)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First words in a sentence</a:t>
            </a:r>
          </a:p>
        </p:txBody>
      </p:sp>
    </p:spTree>
    <p:extLst>
      <p:ext uri="{BB962C8B-B14F-4D97-AF65-F5344CB8AC3E}">
        <p14:creationId xmlns:p14="http://schemas.microsoft.com/office/powerpoint/2010/main" val="27538582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Capitalization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/>
              <a:t>Days and months	(June, Saturday)</a:t>
            </a:r>
          </a:p>
          <a:p>
            <a:pPr eaLnBrk="1" hangingPunct="1"/>
            <a:r>
              <a:rPr lang="en-US"/>
              <a:t>Names of religions, nationalities, languages (Christianity, Chinese, Spanish)</a:t>
            </a:r>
          </a:p>
          <a:p>
            <a:pPr eaLnBrk="1" hangingPunct="1"/>
            <a:r>
              <a:rPr lang="en-US"/>
              <a:t>Official names (Smile toothpaste)</a:t>
            </a:r>
          </a:p>
        </p:txBody>
      </p:sp>
    </p:spTree>
    <p:extLst>
      <p:ext uri="{BB962C8B-B14F-4D97-AF65-F5344CB8AC3E}">
        <p14:creationId xmlns:p14="http://schemas.microsoft.com/office/powerpoint/2010/main" val="37151603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the weather is cold today.</a:t>
            </a:r>
          </a:p>
          <a:p>
            <a:pPr algn="ctr" eaLnBrk="1" hangingPunct="1">
              <a:buFontTx/>
              <a:buNone/>
            </a:pPr>
            <a:endParaRPr lang="en-US"/>
          </a:p>
          <a:p>
            <a:pPr eaLnBrk="1" hangingPunct="1"/>
            <a:r>
              <a:rPr lang="en-US"/>
              <a:t>A. capitalize the t in the </a:t>
            </a:r>
          </a:p>
          <a:p>
            <a:pPr eaLnBrk="1" hangingPunct="1"/>
            <a:r>
              <a:rPr lang="en-US"/>
              <a:t>B. capitalize the w in weather</a:t>
            </a:r>
          </a:p>
          <a:p>
            <a:pPr eaLnBrk="1" hangingPunct="1"/>
            <a:r>
              <a:rPr lang="en-US"/>
              <a:t>C. capitalize the t in today</a:t>
            </a:r>
          </a:p>
          <a:p>
            <a:pPr eaLnBrk="1" hangingPunct="1"/>
            <a:r>
              <a:rPr lang="en-US"/>
              <a:t>D. capitalize the c in cold</a:t>
            </a:r>
          </a:p>
        </p:txBody>
      </p:sp>
    </p:spTree>
    <p:extLst>
      <p:ext uri="{BB962C8B-B14F-4D97-AF65-F5344CB8AC3E}">
        <p14:creationId xmlns:p14="http://schemas.microsoft.com/office/powerpoint/2010/main" val="30751302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 dirty="0"/>
              <a:t>the weather is cold today.</a:t>
            </a:r>
          </a:p>
          <a:p>
            <a:pPr algn="ctr" eaLnBrk="1" hangingPunct="1">
              <a:buFontTx/>
              <a:buNone/>
            </a:pPr>
            <a:endParaRPr lang="en-US" dirty="0"/>
          </a:p>
          <a:p>
            <a:pPr eaLnBrk="1" hangingPunct="1"/>
            <a:r>
              <a:rPr lang="en-US" dirty="0"/>
              <a:t>A. capitalize the t in the </a:t>
            </a:r>
          </a:p>
          <a:p>
            <a:pPr eaLnBrk="1" hangingPunct="1"/>
            <a:r>
              <a:rPr lang="en-US" dirty="0"/>
              <a:t>B. capitalize the w in weather</a:t>
            </a:r>
          </a:p>
          <a:p>
            <a:pPr eaLnBrk="1" hangingPunct="1"/>
            <a:r>
              <a:rPr lang="en-US" dirty="0"/>
              <a:t>C. capitalize the t in today</a:t>
            </a:r>
          </a:p>
          <a:p>
            <a:pPr eaLnBrk="1" hangingPunct="1"/>
            <a:r>
              <a:rPr lang="en-US" dirty="0"/>
              <a:t>D. capitalize the c in cold</a:t>
            </a:r>
          </a:p>
        </p:txBody>
      </p:sp>
    </p:spTree>
    <p:extLst>
      <p:ext uri="{BB962C8B-B14F-4D97-AF65-F5344CB8AC3E}">
        <p14:creationId xmlns:p14="http://schemas.microsoft.com/office/powerpoint/2010/main" val="550259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Marcy rode to soccer practice with edward.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A. capitalize the r in rode</a:t>
            </a:r>
          </a:p>
          <a:p>
            <a:pPr eaLnBrk="1" hangingPunct="1"/>
            <a:r>
              <a:rPr lang="en-US"/>
              <a:t>B. use a small m in Marcy</a:t>
            </a:r>
          </a:p>
          <a:p>
            <a:pPr eaLnBrk="1" hangingPunct="1"/>
            <a:r>
              <a:rPr lang="en-US"/>
              <a:t>C. capitalize the s in soccer</a:t>
            </a:r>
          </a:p>
          <a:p>
            <a:pPr eaLnBrk="1" hangingPunct="1"/>
            <a:r>
              <a:rPr lang="en-US"/>
              <a:t>D. capitalize the e in Edward</a:t>
            </a:r>
          </a:p>
        </p:txBody>
      </p:sp>
    </p:spTree>
    <p:extLst>
      <p:ext uri="{BB962C8B-B14F-4D97-AF65-F5344CB8AC3E}">
        <p14:creationId xmlns:p14="http://schemas.microsoft.com/office/powerpoint/2010/main" val="17749046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change in capitalization should be made to this sentence?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Tx/>
              <a:buNone/>
            </a:pPr>
            <a:r>
              <a:rPr lang="en-US"/>
              <a:t>Marcy rode to soccer practice with edward.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A. capitalize the r in rode</a:t>
            </a:r>
          </a:p>
          <a:p>
            <a:pPr eaLnBrk="1" hangingPunct="1"/>
            <a:r>
              <a:rPr lang="en-US"/>
              <a:t>B. use a small m in Marcy</a:t>
            </a:r>
          </a:p>
          <a:p>
            <a:pPr eaLnBrk="1" hangingPunct="1"/>
            <a:r>
              <a:rPr lang="en-US"/>
              <a:t>C. capitalize the s in soccer</a:t>
            </a:r>
          </a:p>
          <a:p>
            <a:pPr eaLnBrk="1" hangingPunct="1"/>
            <a:r>
              <a:rPr lang="en-US"/>
              <a:t>D. </a:t>
            </a:r>
            <a:r>
              <a:rPr lang="en-US">
                <a:solidFill>
                  <a:srgbClr val="FF0000"/>
                </a:solidFill>
              </a:rPr>
              <a:t>capitalize the e in Edward</a:t>
            </a:r>
          </a:p>
        </p:txBody>
      </p:sp>
    </p:spTree>
    <p:extLst>
      <p:ext uri="{BB962C8B-B14F-4D97-AF65-F5344CB8AC3E}">
        <p14:creationId xmlns:p14="http://schemas.microsoft.com/office/powerpoint/2010/main" val="25133778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uses correct capitalization?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 eaLnBrk="1" hangingPunct="1"/>
            <a:r>
              <a:rPr lang="en-US"/>
              <a:t>A. Have you seen “star wars”?</a:t>
            </a:r>
          </a:p>
          <a:p>
            <a:pPr eaLnBrk="1" hangingPunct="1"/>
            <a:r>
              <a:rPr lang="en-US"/>
              <a:t>B. One of the main characters is Princess leia.</a:t>
            </a:r>
          </a:p>
          <a:p>
            <a:pPr eaLnBrk="1" hangingPunct="1"/>
            <a:r>
              <a:rPr lang="en-US"/>
              <a:t>C. My favorite character is Yoda.</a:t>
            </a:r>
          </a:p>
          <a:p>
            <a:pPr eaLnBrk="1" hangingPunct="1"/>
            <a:r>
              <a:rPr lang="en-US"/>
              <a:t>D. I would like to have a ship like the millennium falcon.</a:t>
            </a:r>
          </a:p>
        </p:txBody>
      </p:sp>
    </p:spTree>
    <p:extLst>
      <p:ext uri="{BB962C8B-B14F-4D97-AF65-F5344CB8AC3E}">
        <p14:creationId xmlns:p14="http://schemas.microsoft.com/office/powerpoint/2010/main" val="267104682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sz="4000"/>
              <a:t>Which sentence uses correct capitalization?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4068763"/>
          </a:xfrm>
        </p:spPr>
        <p:txBody>
          <a:bodyPr/>
          <a:lstStyle/>
          <a:p>
            <a:pPr eaLnBrk="1" hangingPunct="1"/>
            <a:r>
              <a:rPr lang="en-US"/>
              <a:t>A. Have you seen “star wars”?</a:t>
            </a:r>
          </a:p>
          <a:p>
            <a:pPr eaLnBrk="1" hangingPunct="1"/>
            <a:r>
              <a:rPr lang="en-US"/>
              <a:t>B. One of the main characters is Princess leia.</a:t>
            </a:r>
          </a:p>
          <a:p>
            <a:pPr eaLnBrk="1" hangingPunct="1"/>
            <a:r>
              <a:rPr lang="en-US"/>
              <a:t>C. </a:t>
            </a:r>
            <a:r>
              <a:rPr lang="en-US">
                <a:solidFill>
                  <a:srgbClr val="FF0000"/>
                </a:solidFill>
              </a:rPr>
              <a:t>My favorite character is Yoda.</a:t>
            </a:r>
          </a:p>
          <a:p>
            <a:pPr eaLnBrk="1" hangingPunct="1"/>
            <a:r>
              <a:rPr lang="en-US"/>
              <a:t>D. I would like to have a ship like the millennium falcon.</a:t>
            </a:r>
          </a:p>
        </p:txBody>
      </p:sp>
    </p:spTree>
    <p:extLst>
      <p:ext uri="{BB962C8B-B14F-4D97-AF65-F5344CB8AC3E}">
        <p14:creationId xmlns:p14="http://schemas.microsoft.com/office/powerpoint/2010/main" val="19332119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>
              <a:solidFill>
                <a:srgbClr val="800000"/>
              </a:solidFill>
              <a:latin typeface="Comic Sans MS" pitchFamily="66" charset="0"/>
            </a:endParaRPr>
          </a:p>
          <a:p>
            <a:endParaRPr lang="en-US" b="1" dirty="0">
              <a:solidFill>
                <a:srgbClr val="800000"/>
              </a:solidFill>
              <a:latin typeface="Comic Sans MS" pitchFamily="66" charset="0"/>
            </a:endParaRPr>
          </a:p>
          <a:p>
            <a:pPr algn="ctr"/>
            <a:endParaRPr lang="en-US" sz="5400" b="1" dirty="0">
              <a:solidFill>
                <a:srgbClr val="FF0000"/>
              </a:solidFill>
              <a:latin typeface="Comic Sans MS" pitchFamily="66" charset="0"/>
            </a:endParaRPr>
          </a:p>
          <a:p>
            <a:pPr algn="ctr"/>
            <a:r>
              <a:rPr lang="en-US" sz="5400" b="1" dirty="0">
                <a:solidFill>
                  <a:srgbClr val="FF0000"/>
                </a:solidFill>
                <a:latin typeface="Comic Sans MS" pitchFamily="66" charset="0"/>
              </a:rPr>
              <a:t>Mission Accomplished!!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6336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708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 descr="C:\Users\user\Documents\thank you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701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428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2702</Words>
  <Application>Microsoft Office PowerPoint</Application>
  <PresentationFormat>On-screen Show (4:3)</PresentationFormat>
  <Paragraphs>319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8" baseType="lpstr">
      <vt:lpstr>Arial</vt:lpstr>
      <vt:lpstr>Calibri</vt:lpstr>
      <vt:lpstr>Comic Sans MS</vt:lpstr>
      <vt:lpstr>Helvetica</vt:lpstr>
      <vt:lpstr>Times New Roman</vt:lpstr>
      <vt:lpstr>Verdana</vt:lpstr>
      <vt:lpstr>Wingdings</vt:lpstr>
      <vt:lpstr>Office Theme</vt:lpstr>
      <vt:lpstr>Punctuation Marks in English</vt:lpstr>
      <vt:lpstr>OUTLINE</vt:lpstr>
      <vt:lpstr>Punctuation defined </vt:lpstr>
      <vt:lpstr>PUNCTUATION</vt:lpstr>
      <vt:lpstr>End Marks</vt:lpstr>
      <vt:lpstr>PowerPoint Presentation</vt:lpstr>
      <vt:lpstr>Periods (.)</vt:lpstr>
      <vt:lpstr>Question Mark</vt:lpstr>
      <vt:lpstr>Exclamation Mark </vt:lpstr>
      <vt:lpstr>MID-LECTURE QUIZ</vt:lpstr>
      <vt:lpstr>Which change in end marks should be made to the sentence below?</vt:lpstr>
      <vt:lpstr>Which change in end marks should be made to the sentence below?</vt:lpstr>
      <vt:lpstr>Which sentence has the correct end punctuation?</vt:lpstr>
      <vt:lpstr>Which sentence has the correct end punctuation?</vt:lpstr>
      <vt:lpstr>Non-Sentence End Punctuation Marks</vt:lpstr>
      <vt:lpstr>Comma</vt:lpstr>
      <vt:lpstr>Comma</vt:lpstr>
      <vt:lpstr>Comma</vt:lpstr>
      <vt:lpstr>UNNECESSARY COMMAS</vt:lpstr>
      <vt:lpstr>UNNECESSARY COMMAS (cont.)</vt:lpstr>
      <vt:lpstr>Where should a comma be placed in the sentence below?</vt:lpstr>
      <vt:lpstr>Where should a comma be placed in the sentence below?</vt:lpstr>
      <vt:lpstr>Where should commas be placed in the sentence below?</vt:lpstr>
      <vt:lpstr>Where should commas be placed in the sentence below?</vt:lpstr>
      <vt:lpstr>Colon</vt:lpstr>
      <vt:lpstr>THE COLON</vt:lpstr>
      <vt:lpstr>THE COLON (cont.)</vt:lpstr>
      <vt:lpstr>THE SEMICOLON</vt:lpstr>
      <vt:lpstr>THE SEMICOLON (cont.)</vt:lpstr>
      <vt:lpstr>Hyphen</vt:lpstr>
      <vt:lpstr>THE DASH</vt:lpstr>
      <vt:lpstr>THE HYPHEN</vt:lpstr>
      <vt:lpstr>Apostrophe</vt:lpstr>
      <vt:lpstr>Which word BEST fills in the blank in the sentence below?</vt:lpstr>
      <vt:lpstr>Which word BEST fills in the blank in the sentence below?</vt:lpstr>
      <vt:lpstr>Underlining</vt:lpstr>
      <vt:lpstr>Quotation Marks</vt:lpstr>
      <vt:lpstr>Ellipsis </vt:lpstr>
      <vt:lpstr>Capitalization</vt:lpstr>
      <vt:lpstr>Capitalization</vt:lpstr>
      <vt:lpstr>Capitalization</vt:lpstr>
      <vt:lpstr>Which change in capitalization should be made to this sentence?</vt:lpstr>
      <vt:lpstr>Which change in capitalization should be made to this sentence?</vt:lpstr>
      <vt:lpstr>Which change in capitalization should be made to this sentence?</vt:lpstr>
      <vt:lpstr>Which change in capitalization should be made to this sentence?</vt:lpstr>
      <vt:lpstr>Which sentence uses correct capitalization?</vt:lpstr>
      <vt:lpstr>Which sentence uses correct capitalization?</vt:lpstr>
      <vt:lpstr>PowerPoint Presentation</vt:lpstr>
      <vt:lpstr>References</vt:lpstr>
      <vt:lpstr>PowerPoint Presentation</vt:lpstr>
    </vt:vector>
  </TitlesOfParts>
  <Company>UPK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FoSS ExamsOffice</cp:lastModifiedBy>
  <cp:revision>21</cp:revision>
  <dcterms:created xsi:type="dcterms:W3CDTF">2016-11-07T15:28:41Z</dcterms:created>
  <dcterms:modified xsi:type="dcterms:W3CDTF">2021-03-01T03:09:30Z</dcterms:modified>
</cp:coreProperties>
</file>