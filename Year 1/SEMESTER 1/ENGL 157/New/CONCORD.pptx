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76CE7B2-DF12-4F3D-BC64-4DD8F3D9634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Untitled Section" id="{0051E812-FCB1-4EF2-8764-C9044FFD47AF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7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D07FDA-D01A-4C34-AA55-DD6D5E473736}" type="datetimeFigureOut">
              <a:rPr lang="en-US" smtClean="0"/>
              <a:t>1/26/2021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B44A4C-17D7-4521-B2A2-2E9BFEBED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92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D36B6-2FDC-4CD1-A1A9-1565A533D6E3}" type="datetime1">
              <a:rPr lang="en-GB" smtClean="0"/>
              <a:t>26/01/2021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POWERED BY SAMUEL SESAH AND FRIENDS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EC8C9-A733-44A1-BF38-D7A065FDFA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626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4861E-3643-4040-AF4E-93CE6CFF8E8D}" type="datetime1">
              <a:rPr lang="en-GB" smtClean="0"/>
              <a:t>26/01/2021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POWERED BY SAMUEL SESAH AND FRIENDS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EC8C9-A733-44A1-BF38-D7A065FDFA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394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99A18-181A-4144-812D-AE55600EBF3A}" type="datetime1">
              <a:rPr lang="en-GB" smtClean="0"/>
              <a:t>26/01/2021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POWERED BY SAMUEL SESAH AND FRIENDS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EC8C9-A733-44A1-BF38-D7A065FDFA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6584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03034-10C7-413B-A173-899411C0E783}" type="datetime1">
              <a:rPr lang="en-GB" smtClean="0"/>
              <a:t>26/01/2021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POWERED BY SAMUEL SESAH AND FRIENDS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EC8C9-A733-44A1-BF38-D7A065FDFA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0841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962FA-5DCC-4397-BB2C-7A0271894A62}" type="datetime1">
              <a:rPr lang="en-GB" smtClean="0"/>
              <a:t>26/01/2021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POWERED BY SAMUEL SESAH AND FRIENDS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EC8C9-A733-44A1-BF38-D7A065FDFA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6021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3369B-53CF-4781-AF37-9812EC00C1FA}" type="datetime1">
              <a:rPr lang="en-GB" smtClean="0"/>
              <a:t>26/01/2021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POWERED BY SAMUEL SESAH AND FRIENDS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EC8C9-A733-44A1-BF38-D7A065FDFA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2975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76A99-CF6C-467A-985E-69139C1DD01E}" type="datetime1">
              <a:rPr lang="en-GB" smtClean="0"/>
              <a:t>26/01/2021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POWERED BY SAMUEL SESAH AND FRIENDS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EC8C9-A733-44A1-BF38-D7A065FDFA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5917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E2E80-2CA6-4729-A321-D511ED9617CB}" type="datetime1">
              <a:rPr lang="en-GB" smtClean="0"/>
              <a:t>26/01/2021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POWERED BY SAMUEL SESAH AND FRIENDS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EC8C9-A733-44A1-BF38-D7A065FDFA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6295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8887-0D8C-4AB9-B7F4-563723AD3456}" type="datetime1">
              <a:rPr lang="en-GB" smtClean="0"/>
              <a:t>26/01/2021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POWERED BY SAMUEL SESAH AND FRIENDS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EC8C9-A733-44A1-BF38-D7A065FDFA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1110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1B280-B40D-407F-89FE-59041B72CB0C}" type="datetime1">
              <a:rPr lang="en-GB" smtClean="0"/>
              <a:t>26/01/2021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POWERED BY SAMUEL SESAH AND FRIENDS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EC8C9-A733-44A1-BF38-D7A065FDFA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0969442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1B280-B40D-407F-89FE-59041B72CB0C}" type="datetime1">
              <a:rPr lang="en-GB" smtClean="0"/>
              <a:t>26/01/2021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POWERED BY SAMUEL SESAH AND FRIENDS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EC8C9-A733-44A1-BF38-D7A065FDFAAE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2492915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1B280-B40D-407F-89FE-59041B72CB0C}" type="datetime1">
              <a:rPr lang="en-GB" smtClean="0"/>
              <a:t>26/01/2021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POWERED BY SAMUEL SESAH AND FRIENDS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EC8C9-A733-44A1-BF38-D7A065FDFA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9073314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1B280-B40D-407F-89FE-59041B72CB0C}" type="datetime1">
              <a:rPr lang="en-GB" smtClean="0"/>
              <a:t>26/01/2021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POWERED BY SAMUEL SESAH AND FRIENDS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EC8C9-A733-44A1-BF38-D7A065FDFAAE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1259173"/>
      </p:ext>
    </p:extLst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1B280-B40D-407F-89FE-59041B72CB0C}" type="datetime1">
              <a:rPr lang="en-GB" smtClean="0"/>
              <a:t>26/01/2021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POWERED BY SAMUEL SESAH AND FRIENDS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EC8C9-A733-44A1-BF38-D7A065FDFA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8138277"/>
      </p:ext>
    </p:extLst>
  </p:cSld>
  <p:clrMapOvr>
    <a:masterClrMapping/>
  </p:clrMapOvr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6FB88-E170-47F5-B619-996D373E3C92}" type="datetime1">
              <a:rPr lang="en-GB" smtClean="0"/>
              <a:t>26/01/2021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POWERED BY SAMUEL SESAH AND FRIENDS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EC8C9-A733-44A1-BF38-D7A065FDFA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72066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5FD53-EAD8-4399-90C8-213388EB496E}" type="datetime1">
              <a:rPr lang="en-GB" smtClean="0"/>
              <a:t>26/01/2021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POWERED BY SAMUEL SESAH AND FRIENDS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EC8C9-A733-44A1-BF38-D7A065FDFA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7669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11B280-B40D-407F-89FE-59041B72CB0C}" type="datetime1">
              <a:rPr lang="en-GB" smtClean="0"/>
              <a:t>26/01/2021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POWERED BY SAMUEL SESAH AND FRIENDS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2E9EC8C9-A733-44A1-BF38-D7A065FDFA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880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5A7AB5-8B1F-4573-A2AB-3EC3917C50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9600" b="1" dirty="0"/>
              <a:t>CONCORD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652390C-5702-4D73-BCE6-1B5B945D0E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SUBJECT – VERB AGREEMENT</a:t>
            </a:r>
          </a:p>
          <a:p>
            <a:endParaRPr lang="en-GB" sz="4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4169F7B-C703-4B4D-B00B-E24FC93E8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1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</a:t>
            </a:r>
            <a:r>
              <a:rPr lang="en-US" sz="11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KASIM HAMDAN (CHEMCAL 1)                                ©2021</a:t>
            </a:r>
            <a:endParaRPr lang="en-US" sz="11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3272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3F392E-4B57-4B77-A51D-55E2365E1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129A521-4AFF-41AE-A9D1-55452B06C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631" y="196630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4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term concord or agreement is used grammar to describe the relationship between the inflectional forms of different elements in a sentence.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DE4CC57-359A-4F70-99B9-78D11BAED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KASIM HAMDAN (CHEMCAL 1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2941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9CD255-F7FC-4372-AF21-504039470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682E4AF-5D4B-4101-AB08-BD67BEE54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5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When two or more singular subjects are joined by the conjunctions and the plural form of the verb is required.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802C075-2D0F-4870-9740-6E1F52A1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KASIM HAMDAN (CHEMCAL 1)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3053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F2841F-4DEF-42E9-A09E-77B930694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41CDE1B-98B8-4BFC-A508-0EB370F98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GB" sz="4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student and the lecturer</a:t>
            </a:r>
            <a:r>
              <a:rPr lang="en-GB" sz="4800" b="1" i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are </a:t>
            </a:r>
            <a:r>
              <a:rPr lang="en-GB" sz="4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friends.</a:t>
            </a:r>
          </a:p>
          <a:p>
            <a:pPr marL="514350" indent="-514350">
              <a:buAutoNum type="arabicPeriod"/>
            </a:pPr>
            <a:r>
              <a:rPr lang="en-GB" sz="4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Kofi and </a:t>
            </a:r>
            <a:r>
              <a:rPr lang="en-GB" sz="48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Ama</a:t>
            </a:r>
            <a:r>
              <a:rPr lang="en-GB" sz="4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GB" sz="4800" b="1" i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are</a:t>
            </a:r>
            <a:r>
              <a:rPr lang="en-GB" sz="4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lazy.</a:t>
            </a:r>
          </a:p>
          <a:p>
            <a:pPr marL="514350" indent="-514350">
              <a:buAutoNum type="arabicPeriod"/>
            </a:pPr>
            <a:r>
              <a:rPr lang="en-GB" sz="4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dog and the cat </a:t>
            </a:r>
            <a:r>
              <a:rPr lang="en-GB" sz="4800" b="1" i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were</a:t>
            </a:r>
            <a:r>
              <a:rPr lang="en-GB" sz="4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eating.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F754D67-17C0-42B6-9C09-A5500848F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KASIM HAMDAN (CHEMCAL 1)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2040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B30476-3C06-4872-BC13-0C14DA045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Exceptions to Rule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0267D7D-9222-4402-A6B7-683EBE619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3600" b="1" dirty="0">
                <a:solidFill>
                  <a:schemeClr val="accent1">
                    <a:lumMod val="75000"/>
                  </a:schemeClr>
                </a:solidFill>
              </a:rPr>
              <a:t>A</a:t>
            </a:r>
            <a:r>
              <a:rPr lang="en-GB" sz="3600" dirty="0" smtClean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</a:rPr>
              <a:t>.</a:t>
            </a:r>
          </a:p>
          <a:p>
            <a:pPr marL="0" indent="0">
              <a:buNone/>
            </a:pPr>
            <a:r>
              <a:rPr lang="en-GB" sz="6000" dirty="0" smtClean="0">
                <a:latin typeface="Arial Narrow" panose="020B0606020202030204" pitchFamily="34" charset="0"/>
              </a:rPr>
              <a:t>Plurals </a:t>
            </a:r>
            <a:r>
              <a:rPr lang="en-GB" sz="6000" dirty="0">
                <a:latin typeface="Arial Narrow" panose="020B0606020202030204" pitchFamily="34" charset="0"/>
              </a:rPr>
              <a:t>words and phrases are considered singular if they are used as names, quotations, titles, etc.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31FA3B3-11A4-465F-838E-54299843B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KASIM HAMDAN (CHEMCAL 1)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9485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B482BB8-DBF7-4A61-A832-2CA4FE78C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A3719A0-BC0C-4DAB-8E9E-C9DE287E9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GB" sz="5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‘’Romeo and Juliet’’ </a:t>
            </a:r>
            <a:r>
              <a:rPr lang="en-GB" sz="5400" b="1" i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is</a:t>
            </a:r>
            <a:r>
              <a:rPr lang="en-GB" sz="5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an interesting story.</a:t>
            </a:r>
          </a:p>
          <a:p>
            <a:pPr marL="514350" indent="-514350">
              <a:buAutoNum type="arabicPeriod"/>
            </a:pPr>
            <a:r>
              <a:rPr lang="en-GB" sz="5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‘’Sons and Lovers’’</a:t>
            </a:r>
            <a:r>
              <a:rPr lang="en-GB" sz="5400" b="1" i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 </a:t>
            </a:r>
            <a:r>
              <a:rPr lang="en-GB" sz="5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 popular novel.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3FED7FD-49A2-4313-BEA8-669A96E48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KASIM HAMDAN (CHEMCAL 1)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9815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4F41B4-316B-4FF4-8E16-26FC7CFA0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C6A4593-098B-4700-B371-E282BE016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4400" dirty="0">
                <a:latin typeface="Arial Narrow" panose="020B0606020202030204" pitchFamily="34" charset="0"/>
              </a:rPr>
              <a:t>When each of the singular subjects is considered individually, the singular form of the verb is used. </a:t>
            </a:r>
          </a:p>
          <a:p>
            <a:pPr marL="0" indent="0">
              <a:buNone/>
            </a:pPr>
            <a:endParaRPr lang="en-GB" sz="4400" dirty="0"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GB" sz="4400" dirty="0">
                <a:latin typeface="Arial Narrow" panose="020B0606020202030204" pitchFamily="34" charset="0"/>
              </a:rPr>
              <a:t>This is the choice when the head noun is preceded by ‘’each’’ and ‘’every’’.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B99CC2A-E585-46D8-8E9F-27B04A4FE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KASIM HAMDAN (CHEMCAL 1)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2754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995145-6B73-4B75-8020-7F63F3B68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54F2620-92D4-44D4-A3CC-EE425B048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sz="5400" dirty="0"/>
              <a:t>1.</a:t>
            </a:r>
            <a:r>
              <a:rPr lang="en-GB" sz="5400" b="1" i="1" dirty="0"/>
              <a:t>Each </a:t>
            </a:r>
            <a:r>
              <a:rPr lang="en-GB" sz="5400" dirty="0"/>
              <a:t>student and worker has a copy</a:t>
            </a:r>
          </a:p>
          <a:p>
            <a:pPr marL="0" indent="0">
              <a:buNone/>
            </a:pPr>
            <a:r>
              <a:rPr lang="en-GB" sz="5400" dirty="0"/>
              <a:t>2.</a:t>
            </a:r>
            <a:r>
              <a:rPr lang="en-GB" sz="5400" b="1" i="1" dirty="0"/>
              <a:t>Each</a:t>
            </a:r>
            <a:r>
              <a:rPr lang="en-GB" sz="5400" dirty="0"/>
              <a:t> boy and girl</a:t>
            </a:r>
            <a:r>
              <a:rPr lang="en-GB" sz="5400" b="1" i="1" dirty="0"/>
              <a:t> is </a:t>
            </a:r>
            <a:r>
              <a:rPr lang="en-GB" sz="5400" dirty="0"/>
              <a:t>separately assigned to a chore.</a:t>
            </a:r>
          </a:p>
          <a:p>
            <a:pPr marL="0" indent="0">
              <a:buNone/>
            </a:pPr>
            <a:r>
              <a:rPr lang="en-GB" sz="5400" dirty="0"/>
              <a:t>3.</a:t>
            </a:r>
            <a:r>
              <a:rPr lang="en-GB" sz="5400" b="1" i="1" dirty="0"/>
              <a:t>Every</a:t>
            </a:r>
            <a:r>
              <a:rPr lang="en-GB" sz="5400" dirty="0"/>
              <a:t> man and woman </a:t>
            </a:r>
            <a:r>
              <a:rPr lang="en-GB" sz="5400" b="1" i="1" dirty="0"/>
              <a:t>has</a:t>
            </a:r>
            <a:r>
              <a:rPr lang="en-GB" sz="5400" dirty="0"/>
              <a:t> his or her ideals.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4EED392-8EE2-4720-9D05-8E72C53B4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KASIM HAMDAN (CHEMCAL 1)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9704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ABD762A-D185-4702-96BF-D17BF2A4E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05867F0-B8DF-48CE-BCAF-9462A2F2F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6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When the two singular subjects refer to one and the same person, thing or entity, the singular verb is used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5759F36-2C8B-49A2-996F-837628A45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KASIM HAMDAN (CHEMCAL 1)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1355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1A989C9-0DF1-4BE1-8842-3B015FCC4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9174AFF-6B16-4897-819C-BA63E701F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514350" indent="-514350">
              <a:buAutoNum type="arabicPeriod"/>
            </a:pPr>
            <a:r>
              <a:rPr lang="en-GB" sz="6000" dirty="0"/>
              <a:t>Rice and stew </a:t>
            </a:r>
            <a:r>
              <a:rPr lang="en-GB" sz="6000" b="1" i="1" dirty="0"/>
              <a:t>tastes</a:t>
            </a:r>
            <a:r>
              <a:rPr lang="en-GB" sz="6000" dirty="0"/>
              <a:t> good</a:t>
            </a:r>
          </a:p>
          <a:p>
            <a:pPr marL="514350" indent="-514350">
              <a:buAutoNum type="arabicPeriod"/>
            </a:pPr>
            <a:r>
              <a:rPr lang="en-GB" sz="6000" dirty="0" err="1"/>
              <a:t>Gari</a:t>
            </a:r>
            <a:r>
              <a:rPr lang="en-GB" sz="6000" dirty="0"/>
              <a:t> and beans </a:t>
            </a:r>
            <a:r>
              <a:rPr lang="en-GB" sz="6000" b="1" i="1" dirty="0"/>
              <a:t>is</a:t>
            </a:r>
            <a:r>
              <a:rPr lang="en-GB" sz="6000" dirty="0"/>
              <a:t> my favourite food</a:t>
            </a:r>
          </a:p>
          <a:p>
            <a:pPr marL="514350" indent="-514350">
              <a:buAutoNum type="arabicPeriod"/>
            </a:pPr>
            <a:r>
              <a:rPr lang="en-GB" sz="6000" dirty="0"/>
              <a:t>Bread and butter </a:t>
            </a:r>
            <a:r>
              <a:rPr lang="en-GB" sz="6000" b="1" i="1" dirty="0"/>
              <a:t>is</a:t>
            </a:r>
            <a:r>
              <a:rPr lang="en-GB" sz="6000" dirty="0"/>
              <a:t> delicious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9C9FF38-7444-4A36-837A-29A5924BA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KASIM HAMDAN (CHEMCAL 1)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7964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2659648-0998-46FA-80F4-B56EDF1F2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568F319-16CA-4170-AB99-7DBBD136C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6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Mathematical computations may either a singular or plural verb</a:t>
            </a:r>
            <a:r>
              <a:rPr lang="en-GB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ABDF043-7D81-4694-9079-D9263D0F0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KASIM HAMDAN (CHEMCAL 1)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6113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57CF01-EEDF-4035-BABC-2A7A5F3E8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2E6A5CB-BC52-488F-A170-D8668A625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GB" sz="6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One and one </a:t>
            </a:r>
            <a:r>
              <a:rPr lang="en-GB" sz="6000" b="1" i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makes</a:t>
            </a:r>
            <a:r>
              <a:rPr lang="en-GB" sz="6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two</a:t>
            </a:r>
          </a:p>
          <a:p>
            <a:pPr marL="514350" indent="-514350">
              <a:buAutoNum type="arabicPeriod"/>
            </a:pPr>
            <a:r>
              <a:rPr lang="en-GB" sz="6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One and one </a:t>
            </a:r>
            <a:r>
              <a:rPr lang="en-GB" sz="6000" b="1" i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make</a:t>
            </a:r>
            <a:r>
              <a:rPr lang="en-GB" sz="6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two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30B4BFE-1331-4A89-913A-75109E2EF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KASIM HAMDAN (CHEMCAL 1)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969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E586D7-9672-4861-8A80-E35DEFBB7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BF167CA-19EE-4880-9252-B0F0E46B5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sz="6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When two or more singular subjects are joined by ‘’or’’, ‘’nor’’ or ‘’but’’, a singular form of the verb is used.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3962DC2-561F-4436-BBBB-9F84097D6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KASIM HAMDAN (CHEMCAL 1)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3981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EBB7ED2-4471-477E-BD38-02843A628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B0CB137-DE4C-4A2B-AE84-A880D2446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 lang="en-GB" dirty="0"/>
          </a:p>
          <a:p>
            <a:pPr marL="514350" indent="-514350">
              <a:buAutoNum type="arabicPeriod"/>
            </a:pPr>
            <a:r>
              <a:rPr lang="en-GB" sz="4800" dirty="0"/>
              <a:t>Mary or Joseph</a:t>
            </a:r>
            <a:r>
              <a:rPr lang="en-GB" sz="4800" b="1" dirty="0"/>
              <a:t> is </a:t>
            </a:r>
            <a:r>
              <a:rPr lang="en-GB" sz="4800" dirty="0"/>
              <a:t>to come</a:t>
            </a:r>
          </a:p>
          <a:p>
            <a:pPr marL="514350" indent="-514350">
              <a:buAutoNum type="arabicPeriod"/>
            </a:pPr>
            <a:r>
              <a:rPr lang="en-GB" sz="4800" dirty="0"/>
              <a:t>Neither </a:t>
            </a:r>
            <a:r>
              <a:rPr lang="en-GB" sz="4800" dirty="0" err="1"/>
              <a:t>Naa</a:t>
            </a:r>
            <a:r>
              <a:rPr lang="en-GB" sz="4800" dirty="0"/>
              <a:t> </a:t>
            </a:r>
            <a:r>
              <a:rPr lang="en-GB" sz="4800" b="1" dirty="0"/>
              <a:t>nor</a:t>
            </a:r>
            <a:r>
              <a:rPr lang="en-GB" sz="4800" dirty="0"/>
              <a:t> </a:t>
            </a:r>
            <a:r>
              <a:rPr lang="en-GB" sz="4800" dirty="0" err="1"/>
              <a:t>Akweley</a:t>
            </a:r>
            <a:r>
              <a:rPr lang="en-GB" sz="4800" dirty="0"/>
              <a:t> was present </a:t>
            </a:r>
          </a:p>
          <a:p>
            <a:pPr marL="514350" indent="-514350">
              <a:buAutoNum type="arabicPeriod"/>
            </a:pPr>
            <a:r>
              <a:rPr lang="en-GB" sz="4800" dirty="0"/>
              <a:t>Not only her husband, </a:t>
            </a:r>
            <a:r>
              <a:rPr lang="en-GB" sz="4800" b="1" dirty="0"/>
              <a:t>but</a:t>
            </a:r>
            <a:r>
              <a:rPr lang="en-GB" sz="4800" dirty="0"/>
              <a:t> even her mother finds her selfish.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6B4433B-BBB3-491C-9D60-9C0CB4EC9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KASIM HAMDAN (CHEMCAL 1)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7682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5E2665-7241-4A59-93E4-ECCA18172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9A03048-0469-4AC3-A86C-51AFC1F53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5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principle of proximity demands that when two subjects are joined by ‘’or’’, ‘’nor’’ or ‘’but’’, the verb agrees with the nearer one.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ABFC100-BEBE-46D1-9F73-A21290C19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KASIM HAMDAN (CHEMCAL 1)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7055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BE5E38-C4C9-41E5-A49E-A8D62D6B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668AF23-5470-4670-ADAB-43639AF7F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GB" sz="5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Neither </a:t>
            </a:r>
            <a:r>
              <a:rPr lang="en-GB" sz="54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Naa</a:t>
            </a:r>
            <a:r>
              <a:rPr lang="en-GB" sz="5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nor </a:t>
            </a:r>
            <a:r>
              <a:rPr lang="en-GB" sz="5400" i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her friends </a:t>
            </a:r>
            <a:r>
              <a:rPr lang="en-GB" sz="54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were</a:t>
            </a:r>
            <a:r>
              <a:rPr lang="en-GB" sz="5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present</a:t>
            </a:r>
          </a:p>
          <a:p>
            <a:pPr marL="514350" indent="-514350">
              <a:buAutoNum type="arabicPeriod"/>
            </a:pPr>
            <a:r>
              <a:rPr lang="en-GB" sz="5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Neither her friends nor </a:t>
            </a:r>
            <a:r>
              <a:rPr lang="en-GB" sz="5400" i="1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Naa</a:t>
            </a:r>
            <a:r>
              <a:rPr lang="en-GB" sz="5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GB" sz="54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was</a:t>
            </a:r>
            <a:r>
              <a:rPr lang="en-GB" sz="5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present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623AE34-DFC8-43FF-AB6D-F8B9B7729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KASIM HAMDAN (CHEMCAL 1)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1091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D6BF0E5-8D35-42FF-83D1-DFECF83A7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RULE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E893A92-45DA-4484-8048-95A611BB4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4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 singular subject followed immediately by such constructions as ‘’as well as’’, ‘’together with’’, ‘’in addition to’’, ‘’including’’, ‘’not less than’’ </a:t>
            </a:r>
            <a:r>
              <a:rPr lang="en-GB" sz="4800" i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etc. </a:t>
            </a:r>
            <a:r>
              <a:rPr lang="en-GB" sz="4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requires a singular verb.</a:t>
            </a:r>
            <a:endParaRPr lang="en-GB" sz="4800" i="1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9B5556E-CCB9-4221-ACD4-E17794E46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KASIM HAMDAN (CHEMCAL 1)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9527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B78A2AD-79B5-4FF3-9B55-44A56623E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3F21B1F-7BED-4C4F-B19E-7826E8E42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GB" sz="54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man </a:t>
            </a:r>
            <a:r>
              <a:rPr lang="en-GB" sz="5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as well as his wife </a:t>
            </a:r>
            <a:r>
              <a:rPr lang="en-GB" sz="5400" i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is</a:t>
            </a:r>
            <a:r>
              <a:rPr lang="en-GB" sz="5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here </a:t>
            </a:r>
          </a:p>
          <a:p>
            <a:pPr marL="514350" indent="-514350">
              <a:buAutoNum type="arabicPeriod"/>
            </a:pPr>
            <a:r>
              <a:rPr lang="en-GB" sz="54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leader </a:t>
            </a:r>
            <a:r>
              <a:rPr lang="en-GB" sz="5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together with the members </a:t>
            </a:r>
            <a:r>
              <a:rPr lang="en-GB" sz="5400" i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is</a:t>
            </a:r>
            <a:r>
              <a:rPr lang="en-GB" sz="5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to blame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97ADEFB-16B9-427D-9227-20DB79AFC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KASIM HAMDAN (CHEMCAL 1)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011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C25B37-B25A-4024-A8FB-61F4AD215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RULE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CAD507E-9866-4F02-824A-CF601E695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6000" dirty="0"/>
              <a:t>A singular subject followed by a plural modifier requires a singular verb.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1E5BDED-7B57-4675-A169-CD305658B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KASIM HAMDAN (CHEMCAL 1)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1884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FAF8AD-5421-40E1-9706-E6872E3CD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3310102-2256-482A-894D-D321644C4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AutoNum type="arabicPeriod"/>
            </a:pPr>
            <a:r>
              <a:rPr lang="en-GB" sz="4800" dirty="0"/>
              <a:t>A list of students </a:t>
            </a:r>
            <a:r>
              <a:rPr lang="en-GB" sz="4800" b="1" dirty="0"/>
              <a:t>has</a:t>
            </a:r>
            <a:r>
              <a:rPr lang="en-GB" sz="4800" dirty="0"/>
              <a:t> been made available</a:t>
            </a:r>
          </a:p>
          <a:p>
            <a:pPr marL="514350" indent="-514350">
              <a:buAutoNum type="arabicPeriod"/>
            </a:pPr>
            <a:r>
              <a:rPr lang="en-GB" sz="4800" dirty="0"/>
              <a:t>The leader of the rebels </a:t>
            </a:r>
            <a:r>
              <a:rPr lang="en-GB" sz="4800" b="1" dirty="0"/>
              <a:t>was </a:t>
            </a:r>
            <a:r>
              <a:rPr lang="en-GB" sz="4800" dirty="0"/>
              <a:t>arrested </a:t>
            </a:r>
          </a:p>
          <a:p>
            <a:pPr marL="514350" indent="-514350">
              <a:buAutoNum type="arabicPeriod"/>
            </a:pPr>
            <a:r>
              <a:rPr lang="en-GB" sz="4800" dirty="0"/>
              <a:t>One of the students</a:t>
            </a:r>
            <a:r>
              <a:rPr lang="en-GB" sz="4800" b="1" dirty="0"/>
              <a:t> is </a:t>
            </a:r>
            <a:r>
              <a:rPr lang="en-GB" sz="4800" dirty="0"/>
              <a:t>bereaved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A2E26EE-9B23-4925-87B6-8C135C971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KASIM HAMDAN (CHEMCAL 1)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97462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5A5CBF-48F8-46F3-9054-4BF09B8C3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RULE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5F5C158-E028-4CBB-B5D4-9A4243E8C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sz="4400" dirty="0"/>
              <a:t>The following indefinite pronouns usually take singular verbs.</a:t>
            </a:r>
          </a:p>
          <a:p>
            <a:pPr marL="0" indent="0">
              <a:buNone/>
            </a:pPr>
            <a:r>
              <a:rPr lang="en-GB" sz="4400" dirty="0"/>
              <a:t>Anyone</a:t>
            </a:r>
          </a:p>
          <a:p>
            <a:pPr marL="0" indent="0">
              <a:buNone/>
            </a:pPr>
            <a:r>
              <a:rPr lang="en-GB" sz="4400" dirty="0"/>
              <a:t>Anybody </a:t>
            </a:r>
          </a:p>
          <a:p>
            <a:pPr marL="0" indent="0">
              <a:buNone/>
            </a:pPr>
            <a:r>
              <a:rPr lang="en-GB" sz="4400" dirty="0"/>
              <a:t>Each</a:t>
            </a:r>
          </a:p>
          <a:p>
            <a:pPr marL="0" indent="0">
              <a:buNone/>
            </a:pPr>
            <a:r>
              <a:rPr lang="en-GB" sz="4400" dirty="0"/>
              <a:t>Everybody</a:t>
            </a:r>
          </a:p>
          <a:p>
            <a:pPr marL="0" indent="0">
              <a:buNone/>
            </a:pPr>
            <a:r>
              <a:rPr lang="en-GB" sz="4400" dirty="0"/>
              <a:t>Neither </a:t>
            </a:r>
          </a:p>
          <a:p>
            <a:pPr marL="0" indent="0">
              <a:buNone/>
            </a:pPr>
            <a:r>
              <a:rPr lang="en-GB" sz="4400" dirty="0"/>
              <a:t>No one</a:t>
            </a:r>
          </a:p>
          <a:p>
            <a:pPr marL="0" indent="0">
              <a:buNone/>
            </a:pPr>
            <a:r>
              <a:rPr lang="en-GB" sz="4400" dirty="0"/>
              <a:t>Nobody etc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B8BB20B-6D8F-4A39-BF20-229E80E1D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KASIM HAMDAN (CHEMCAL 1)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9093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1B070DD-A3F0-4217-AA93-7A66B6534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CA85D31-6382-484D-9118-24CD1A32B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GB" sz="4400" dirty="0"/>
              <a:t>Nobody </a:t>
            </a:r>
            <a:r>
              <a:rPr lang="en-GB" sz="4400" b="1" dirty="0"/>
              <a:t>wants</a:t>
            </a:r>
            <a:r>
              <a:rPr lang="en-GB" sz="4400" dirty="0"/>
              <a:t> to eat the food</a:t>
            </a:r>
          </a:p>
          <a:p>
            <a:pPr marL="514350" indent="-514350">
              <a:buAutoNum type="arabicPeriod"/>
            </a:pPr>
            <a:r>
              <a:rPr lang="en-GB" sz="4400" dirty="0"/>
              <a:t>Each </a:t>
            </a:r>
            <a:r>
              <a:rPr lang="en-GB" sz="4400" b="1" dirty="0"/>
              <a:t>has</a:t>
            </a:r>
            <a:r>
              <a:rPr lang="en-GB" sz="4400" dirty="0"/>
              <a:t> his own bed</a:t>
            </a:r>
          </a:p>
          <a:p>
            <a:pPr marL="514350" indent="-514350">
              <a:buAutoNum type="arabicPeriod"/>
            </a:pPr>
            <a:r>
              <a:rPr lang="en-GB" sz="4400" dirty="0"/>
              <a:t>Somebody </a:t>
            </a:r>
            <a:r>
              <a:rPr lang="en-GB" sz="4400" b="1" dirty="0"/>
              <a:t>has</a:t>
            </a:r>
            <a:r>
              <a:rPr lang="en-GB" sz="4400" dirty="0"/>
              <a:t> been stealing from bag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C413821-45C7-4B36-9277-9E4F89E0E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KASIM HAMDAN (CHEMCAL 1)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2314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B03F5D-35A0-4D6B-9886-CD3DC3B75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RULE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DA6766-F586-4132-94C1-5A9545AB8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6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pronoun ‘’any’’ or ‘’none’’ takes either the singular or the plural verb.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671EC8B-5E7C-4447-A7DC-45AA185ED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KASIM HAMDAN (CHEMCAL 1)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5510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82550CB-BC40-43D3-8489-C45934C2B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48FE431-EEAA-4B6F-A5E7-7D94E6137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GB" sz="5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Are any ready?</a:t>
            </a:r>
          </a:p>
          <a:p>
            <a:pPr marL="514350" indent="-514350">
              <a:buAutoNum type="arabicPeriod"/>
            </a:pPr>
            <a:r>
              <a:rPr lang="en-GB" sz="5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None is my friend.</a:t>
            </a:r>
          </a:p>
          <a:p>
            <a:pPr marL="514350" indent="-514350">
              <a:buAutoNum type="arabicPeriod"/>
            </a:pPr>
            <a:r>
              <a:rPr lang="en-GB" sz="5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None are my friends.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AFA98F1-815E-4BE1-8A96-D7071EEFC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KASIM HAMDAN (CHEMCAL 1)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4795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4E967B2-43AB-4465-90A2-2FB156EFD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RULE 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89AAF8A-E071-4FCC-9EF6-157B91267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sz="4400" dirty="0"/>
              <a:t>A verb in a relative clause agrees with antecedent of the relative pronoun.</a:t>
            </a:r>
          </a:p>
          <a:p>
            <a:r>
              <a:rPr lang="en-GB" sz="4400" dirty="0"/>
              <a:t>An antecedent of a relative pronoun is the noun or the noun phrase which a relative relates to or which a relative clause describes.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6176DAD-9634-434E-9319-2A351D865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KASIM HAMDAN (CHEMCAL 1)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3895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B072B2-7ABA-46C9-B48A-B2B230946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6FB1DF-FBA9-4424-AA89-FB89012EA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514350" indent="-514350">
              <a:buAutoNum type="arabicPeriod"/>
            </a:pPr>
            <a:r>
              <a:rPr lang="en-GB" sz="4400" dirty="0"/>
              <a:t>One of the </a:t>
            </a:r>
            <a:r>
              <a:rPr lang="en-GB" sz="4400" b="1" dirty="0"/>
              <a:t>girls</a:t>
            </a:r>
            <a:r>
              <a:rPr lang="en-GB" sz="4400" dirty="0"/>
              <a:t> </a:t>
            </a:r>
            <a:r>
              <a:rPr lang="en-GB" sz="4400"/>
              <a:t>who </a:t>
            </a:r>
            <a:r>
              <a:rPr lang="en-GB" sz="4400" b="1"/>
              <a:t>sing</a:t>
            </a:r>
            <a:r>
              <a:rPr lang="en-GB" sz="4400"/>
              <a:t> </a:t>
            </a:r>
            <a:r>
              <a:rPr lang="en-GB" sz="4400" dirty="0"/>
              <a:t>is sick</a:t>
            </a:r>
          </a:p>
          <a:p>
            <a:pPr marL="514350" indent="-514350">
              <a:buAutoNum type="arabicPeriod"/>
            </a:pPr>
            <a:r>
              <a:rPr lang="en-GB" sz="4400" dirty="0"/>
              <a:t>She is one of the</a:t>
            </a:r>
            <a:r>
              <a:rPr lang="en-GB" sz="4400" b="1" dirty="0"/>
              <a:t> lecturers </a:t>
            </a:r>
            <a:r>
              <a:rPr lang="en-GB" sz="4400" dirty="0"/>
              <a:t>who </a:t>
            </a:r>
            <a:r>
              <a:rPr lang="en-GB" sz="4400" b="1" dirty="0"/>
              <a:t>act</a:t>
            </a:r>
            <a:r>
              <a:rPr lang="en-GB" sz="4400" dirty="0"/>
              <a:t> as counsellors</a:t>
            </a:r>
          </a:p>
          <a:p>
            <a:pPr marL="514350" indent="-514350">
              <a:buAutoNum type="arabicPeriod"/>
            </a:pPr>
            <a:r>
              <a:rPr lang="en-GB" sz="4400" b="1" dirty="0"/>
              <a:t>Students </a:t>
            </a:r>
            <a:r>
              <a:rPr lang="en-GB" sz="4400" dirty="0"/>
              <a:t>who </a:t>
            </a:r>
            <a:r>
              <a:rPr lang="en-GB" sz="4400" b="1" dirty="0"/>
              <a:t>disturb</a:t>
            </a:r>
            <a:r>
              <a:rPr lang="en-GB" sz="4400" dirty="0"/>
              <a:t> in class should be punished</a:t>
            </a:r>
          </a:p>
          <a:p>
            <a:pPr marL="514350" indent="-514350">
              <a:buAutoNum type="arabicPeriod"/>
            </a:pPr>
            <a:r>
              <a:rPr lang="en-GB" sz="4400" dirty="0"/>
              <a:t>A </a:t>
            </a:r>
            <a:r>
              <a:rPr lang="en-GB" sz="4400" b="1" dirty="0"/>
              <a:t>man</a:t>
            </a:r>
            <a:r>
              <a:rPr lang="en-GB" sz="4400" dirty="0"/>
              <a:t> who </a:t>
            </a:r>
            <a:r>
              <a:rPr lang="en-GB" sz="4400" b="1" dirty="0"/>
              <a:t>beats</a:t>
            </a:r>
            <a:r>
              <a:rPr lang="en-GB" sz="4400" dirty="0"/>
              <a:t> his wife is a brute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0202534F-466C-48E5-A4EE-338FF0CC1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KASIM HAMDAN (CHEMCAL 1)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63444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A224F96-57CE-46E9-8EFA-B7E81FC3F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RULE 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53A4A07-7DB3-43E9-91DC-DAA82A6EC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sz="4800" dirty="0"/>
              <a:t>A collective noun may either take a singular or plural verb. It takes singular verb when the class it names is regarded as a unit and a plural verb the members of the class are considered individually.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1C9E0A6-85E1-4F37-925E-5F90DA248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KASIM HAMDAN (CHEMCAL 1)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7204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413F20-3AC6-4FC8-AF2E-2076E570D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E09EC89-900E-4484-84F6-B0D6F1C2D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GB" sz="4800" dirty="0"/>
              <a:t>The staff is united</a:t>
            </a:r>
          </a:p>
          <a:p>
            <a:pPr marL="514350" indent="-514350">
              <a:buAutoNum type="arabicPeriod"/>
            </a:pPr>
            <a:r>
              <a:rPr lang="en-GB" sz="4800" dirty="0"/>
              <a:t>The staff are arguing among themselves</a:t>
            </a:r>
          </a:p>
          <a:p>
            <a:pPr marL="514350" indent="-514350">
              <a:buAutoNum type="arabicPeriod"/>
            </a:pPr>
            <a:r>
              <a:rPr lang="en-GB" sz="4800" dirty="0"/>
              <a:t>The audience is happy with the performance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4DF6EDF-DD9F-4554-9443-ACBC203CF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KASIM HAMDAN (CHEMCAL 1)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3388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D9A2FE-1142-49D0-A0E1-06A392BBE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RULE 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077946B-5D00-42BE-A3D2-51602AA74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sz="6000" dirty="0"/>
              <a:t>Plural numbers take singular verbs when they are used to indicate a sum or a unit.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1AE48E8-67F5-4418-B6C5-D7E78173D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KASIM HAMDAN (CHEMCAL 1)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691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DAFFC48-2850-4EF6-8335-34B3DA747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441B5C6-0718-4007-A6AA-ACA1C5F41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GB" sz="4800" dirty="0"/>
              <a:t>Twenty-four hours makes a day</a:t>
            </a:r>
          </a:p>
          <a:p>
            <a:pPr marL="514350" indent="-514350">
              <a:buAutoNum type="arabicPeriod"/>
            </a:pPr>
            <a:r>
              <a:rPr lang="en-GB" sz="4800" dirty="0"/>
              <a:t>Seventy years is unattainable these days</a:t>
            </a:r>
          </a:p>
          <a:p>
            <a:pPr marL="0" indent="0">
              <a:buNone/>
            </a:pPr>
            <a:r>
              <a:rPr lang="en-GB" sz="4800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DA2D81-1B32-4471-800D-8A390A63B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KASIM HAMDAN (CHEMCAL 1)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1531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CB9AA7-AF9B-44B4-8538-9AB970A7C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D505F6-DA6E-4D08-842C-D9A7174B3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The tornadoes that tear through this continent every spring ……………. more than just a nuisance.</a:t>
            </a:r>
          </a:p>
          <a:p>
            <a:pPr marL="0" indent="0">
              <a:buNone/>
            </a:pPr>
            <a:r>
              <a:rPr lang="en-GB" dirty="0"/>
              <a:t>  (a) is </a:t>
            </a:r>
          </a:p>
          <a:p>
            <a:pPr marL="0" indent="0">
              <a:buNone/>
            </a:pPr>
            <a:r>
              <a:rPr lang="en-GB" dirty="0"/>
              <a:t>  (b)was</a:t>
            </a:r>
          </a:p>
          <a:p>
            <a:pPr marL="0" indent="0">
              <a:buNone/>
            </a:pPr>
            <a:r>
              <a:rPr lang="en-GB" dirty="0"/>
              <a:t>  (c) were</a:t>
            </a:r>
          </a:p>
          <a:p>
            <a:pPr marL="0" indent="0">
              <a:buNone/>
            </a:pPr>
            <a:r>
              <a:rPr lang="en-GB" dirty="0"/>
              <a:t>   (d) are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AAFD183-27F8-4E8C-86E0-6266F20DC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KASIM HAMDAN (CHEMCAL 1)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7942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2C7DAFC-04AB-4B8E-A219-AAD7A5394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2. Not only the students but also their TA …………..been called to the provost’s office </a:t>
            </a:r>
          </a:p>
          <a:p>
            <a:pPr marL="514350" indent="-514350">
              <a:buAutoNum type="alphaLcParenBoth"/>
            </a:pPr>
            <a:r>
              <a:rPr lang="en-GB" dirty="0"/>
              <a:t>Have</a:t>
            </a:r>
          </a:p>
          <a:p>
            <a:pPr marL="514350" indent="-514350">
              <a:buAutoNum type="alphaLcParenBoth"/>
            </a:pPr>
            <a:r>
              <a:rPr lang="en-GB" dirty="0"/>
              <a:t>Have been</a:t>
            </a:r>
          </a:p>
          <a:p>
            <a:pPr marL="514350" indent="-514350">
              <a:buAutoNum type="alphaLcParenBoth"/>
            </a:pPr>
            <a:r>
              <a:rPr lang="en-GB" dirty="0"/>
              <a:t>Has </a:t>
            </a:r>
          </a:p>
          <a:p>
            <a:pPr marL="514350" indent="-514350">
              <a:buAutoNum type="alphaLcParenBoth"/>
            </a:pPr>
            <a:r>
              <a:rPr lang="en-GB" dirty="0"/>
              <a:t>Has been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E3A8AA6-62A0-4DD0-94C9-D1C22C93F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KASIM HAMDAN (CHEMCAL 1)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86644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2EF0F4A-0D4E-41BF-B900-DD0FCE0D6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3. Most of the milk …………….. gone bad, but ten bottles of milk …………. still in the storeroom. </a:t>
            </a:r>
          </a:p>
          <a:p>
            <a:pPr marL="514350" indent="-514350">
              <a:buAutoNum type="alphaLcParenBoth"/>
            </a:pPr>
            <a:r>
              <a:rPr lang="en-GB" dirty="0"/>
              <a:t>have ………..is</a:t>
            </a:r>
          </a:p>
          <a:p>
            <a:pPr marL="514350" indent="-514350">
              <a:buAutoNum type="alphaLcParenBoth"/>
            </a:pPr>
            <a:r>
              <a:rPr lang="en-GB" dirty="0"/>
              <a:t>have……….. are</a:t>
            </a:r>
          </a:p>
          <a:p>
            <a:pPr marL="514350" indent="-514350">
              <a:buAutoNum type="alphaLcParenBoth"/>
            </a:pPr>
            <a:r>
              <a:rPr lang="en-GB" dirty="0"/>
              <a:t>has ……… is</a:t>
            </a:r>
          </a:p>
          <a:p>
            <a:pPr marL="514350" indent="-514350">
              <a:buAutoNum type="alphaLcParenBoth"/>
            </a:pPr>
            <a:r>
              <a:rPr lang="en-GB" dirty="0"/>
              <a:t>has……….are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F6FD91C-5F4E-44E7-88FF-CDAA2DB09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KASIM HAMDAN (CHEMCAL 1)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4732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DD4911D-8D2A-43C1-92B5-990FA0D24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4. Rice and beans …………………. me of my days of hardships on campus.</a:t>
            </a:r>
          </a:p>
          <a:p>
            <a:pPr marL="514350" indent="-514350">
              <a:buAutoNum type="alphaLcParenBoth"/>
            </a:pPr>
            <a:r>
              <a:rPr lang="en-GB" dirty="0"/>
              <a:t>have reminded </a:t>
            </a:r>
          </a:p>
          <a:p>
            <a:pPr marL="514350" indent="-514350">
              <a:buAutoNum type="alphaLcParenBoth"/>
            </a:pPr>
            <a:r>
              <a:rPr lang="en-GB" dirty="0"/>
              <a:t>will reminded</a:t>
            </a:r>
          </a:p>
          <a:p>
            <a:pPr marL="514350" indent="-514350">
              <a:buAutoNum type="alphaLcParenBoth"/>
            </a:pPr>
            <a:r>
              <a:rPr lang="en-GB" dirty="0"/>
              <a:t>reminds</a:t>
            </a:r>
          </a:p>
          <a:p>
            <a:pPr marL="514350" indent="-514350">
              <a:buAutoNum type="alphaLcParenBoth"/>
            </a:pPr>
            <a:r>
              <a:rPr lang="en-GB" dirty="0"/>
              <a:t>remind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70E85CE-3654-4FFA-A0B3-131EDB27A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KASIM HAMDAN (CHEMCAL 1)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3556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642D152-FBFC-4F41-8C05-3DBDB9803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5. In strict grammar, which of the following is correct?</a:t>
            </a:r>
          </a:p>
          <a:p>
            <a:pPr marL="514350" indent="-514350">
              <a:buAutoNum type="alphaLcParenBoth"/>
            </a:pPr>
            <a:r>
              <a:rPr lang="en-GB" dirty="0"/>
              <a:t>most heaviest</a:t>
            </a:r>
          </a:p>
          <a:p>
            <a:pPr marL="514350" indent="-514350">
              <a:buAutoNum type="alphaLcParenBoth"/>
            </a:pPr>
            <a:r>
              <a:rPr lang="en-GB" dirty="0"/>
              <a:t>more unique</a:t>
            </a:r>
          </a:p>
          <a:p>
            <a:pPr marL="514350" indent="-514350">
              <a:buAutoNum type="alphaLcParenBoth"/>
            </a:pPr>
            <a:r>
              <a:rPr lang="en-GB" dirty="0"/>
              <a:t>more nearly complete</a:t>
            </a:r>
          </a:p>
          <a:p>
            <a:pPr marL="514350" indent="-514350">
              <a:buAutoNum type="alphaLcParenBoth"/>
            </a:pPr>
            <a:r>
              <a:rPr lang="en-GB"/>
              <a:t>most </a:t>
            </a:r>
            <a:r>
              <a:rPr lang="en-GB" dirty="0"/>
              <a:t>fatal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CAF567F-B597-4C27-8CE8-DABBAE380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KASIM HAMDAN (CHEMCAL 1)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7146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781</TotalTime>
  <Words>1111</Words>
  <Application>Microsoft Office PowerPoint</Application>
  <PresentationFormat>Widescreen</PresentationFormat>
  <Paragraphs>158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 Unicode MS</vt:lpstr>
      <vt:lpstr>Arial</vt:lpstr>
      <vt:lpstr>Arial Narrow</vt:lpstr>
      <vt:lpstr>Calibri</vt:lpstr>
      <vt:lpstr>Trebuchet MS</vt:lpstr>
      <vt:lpstr>Wingdings 3</vt:lpstr>
      <vt:lpstr>Facet</vt:lpstr>
      <vt:lpstr>CONCORD</vt:lpstr>
      <vt:lpstr>.</vt:lpstr>
      <vt:lpstr>RULE 1</vt:lpstr>
      <vt:lpstr>Examples</vt:lpstr>
      <vt:lpstr>Exceptions to Rule 1</vt:lpstr>
      <vt:lpstr>Examples </vt:lpstr>
      <vt:lpstr>B. </vt:lpstr>
      <vt:lpstr>Examples </vt:lpstr>
      <vt:lpstr>C.</vt:lpstr>
      <vt:lpstr>Examples </vt:lpstr>
      <vt:lpstr>D.</vt:lpstr>
      <vt:lpstr>Examples </vt:lpstr>
      <vt:lpstr>RULE 2</vt:lpstr>
      <vt:lpstr>Examples </vt:lpstr>
      <vt:lpstr>RULE 3</vt:lpstr>
      <vt:lpstr>Examples </vt:lpstr>
      <vt:lpstr>RULE 4</vt:lpstr>
      <vt:lpstr>Examples </vt:lpstr>
      <vt:lpstr>RULE 5</vt:lpstr>
      <vt:lpstr>Examples </vt:lpstr>
      <vt:lpstr>RULE 6</vt:lpstr>
      <vt:lpstr>Examples </vt:lpstr>
      <vt:lpstr>RULE 7</vt:lpstr>
      <vt:lpstr>Examples </vt:lpstr>
      <vt:lpstr>RULE 8</vt:lpstr>
      <vt:lpstr>Examples </vt:lpstr>
      <vt:lpstr>RULE 9</vt:lpstr>
      <vt:lpstr>Examples </vt:lpstr>
      <vt:lpstr>RULE 10</vt:lpstr>
      <vt:lpstr>Examples </vt:lpstr>
      <vt:lpstr>TRY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CONCORD</dc:title>
  <dc:creator>Henry Adams</dc:creator>
  <cp:lastModifiedBy>MR. UZAIR</cp:lastModifiedBy>
  <cp:revision>29</cp:revision>
  <dcterms:created xsi:type="dcterms:W3CDTF">2017-11-16T15:54:05Z</dcterms:created>
  <dcterms:modified xsi:type="dcterms:W3CDTF">2021-01-26T19:30:48Z</dcterms:modified>
</cp:coreProperties>
</file>