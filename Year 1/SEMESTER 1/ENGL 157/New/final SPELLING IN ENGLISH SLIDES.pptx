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262" r:id="rId27"/>
    <p:sldId id="286" r:id="rId28"/>
    <p:sldId id="28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46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knust.Ghana/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twitter.com/_knust_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"/>
            <a:ext cx="9144000" cy="854748"/>
            <a:chOff x="0" y="1"/>
            <a:chExt cx="9144000" cy="854748"/>
          </a:xfrm>
        </p:grpSpPr>
        <p:sp>
          <p:nvSpPr>
            <p:cNvPr id="8" name="Rectangle 7"/>
            <p:cNvSpPr/>
            <p:nvPr/>
          </p:nvSpPr>
          <p:spPr>
            <a:xfrm>
              <a:off x="0" y="1"/>
              <a:ext cx="9144000" cy="85474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487656" y="241270"/>
              <a:ext cx="3445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Helvetica"/>
                  <a:cs typeface="Helvetica"/>
                </a:rPr>
                <a:t>Kwame Nkrumah University of 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  <a:latin typeface="Helvetica"/>
                  <a:cs typeface="Helvetica"/>
                </a:rPr>
                <a:t>Science &amp; Technology, Kumasi, Ghana</a:t>
              </a:r>
              <a:endParaRPr lang="en-US" sz="1400" dirty="0">
                <a:solidFill>
                  <a:schemeClr val="bg1"/>
                </a:solidFill>
                <a:latin typeface="Helvetica"/>
                <a:cs typeface="Helvetica"/>
              </a:endParaRPr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5789" y="157852"/>
              <a:ext cx="491867" cy="625979"/>
            </a:xfrm>
            <a:prstGeom prst="rect">
              <a:avLst/>
            </a:prstGeom>
          </p:spPr>
        </p:pic>
      </p:grp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167738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 smtClean="0">
                <a:latin typeface="Helvetica"/>
                <a:cs typeface="Helvetica"/>
              </a:rPr>
              <a:t>Title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28506" y="4010849"/>
            <a:ext cx="6400800" cy="1599330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l"/>
            <a:r>
              <a:rPr lang="en-US" b="1" dirty="0" smtClean="0">
                <a:solidFill>
                  <a:schemeClr val="tx1"/>
                </a:solidFill>
                <a:latin typeface="Helvetica"/>
                <a:cs typeface="Helvetica"/>
              </a:rPr>
              <a:t>Name</a:t>
            </a:r>
          </a:p>
          <a:p>
            <a:pPr algn="l"/>
            <a:r>
              <a:rPr lang="en-US" sz="2400" b="1" dirty="0" smtClean="0">
                <a:latin typeface="Helvetica"/>
                <a:cs typeface="Helvetica"/>
              </a:rPr>
              <a:t>Department</a:t>
            </a:r>
          </a:p>
          <a:p>
            <a:pPr algn="l"/>
            <a:r>
              <a:rPr lang="en-US" sz="2400" b="1" dirty="0" smtClean="0">
                <a:latin typeface="Helvetica"/>
                <a:cs typeface="Helvetica"/>
              </a:rPr>
              <a:t>Faculty &amp; College</a:t>
            </a:r>
          </a:p>
        </p:txBody>
      </p:sp>
    </p:spTree>
    <p:extLst>
      <p:ext uri="{BB962C8B-B14F-4D97-AF65-F5344CB8AC3E}">
        <p14:creationId xmlns:p14="http://schemas.microsoft.com/office/powerpoint/2010/main" val="102668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5992943"/>
            <a:ext cx="9144000" cy="865057"/>
            <a:chOff x="0" y="5992943"/>
            <a:chExt cx="9144000" cy="865057"/>
          </a:xfrm>
        </p:grpSpPr>
        <p:sp>
          <p:nvSpPr>
            <p:cNvPr id="8" name="Rectangle 7"/>
            <p:cNvSpPr/>
            <p:nvPr/>
          </p:nvSpPr>
          <p:spPr>
            <a:xfrm>
              <a:off x="0" y="6377674"/>
              <a:ext cx="9144000" cy="48032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5992943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208" y="6021427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7137936" y="6036146"/>
              <a:ext cx="15488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 smtClean="0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  <a:endParaRPr lang="en-US" sz="1200" dirty="0">
                <a:solidFill>
                  <a:schemeClr val="bg1"/>
                </a:solidFill>
                <a:latin typeface="Helvetica"/>
                <a:cs typeface="Helvetica"/>
              </a:endParaRP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1258" y="6042056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7791" y="6029719"/>
              <a:ext cx="292217" cy="292217"/>
            </a:xfrm>
            <a:prstGeom prst="rect">
              <a:avLst/>
            </a:prstGeom>
          </p:spPr>
        </p:pic>
      </p:grp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 smtClean="0">
                <a:solidFill>
                  <a:srgbClr val="008000"/>
                </a:solidFill>
                <a:latin typeface="Helvetica"/>
                <a:cs typeface="Helvetica"/>
              </a:rPr>
              <a:t>Introduction</a:t>
            </a:r>
            <a:endParaRPr lang="en-US" dirty="0">
              <a:solidFill>
                <a:srgbClr val="008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7939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1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6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9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6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95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16313A-31A0-9B4A-BE03-1E7D792F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CA9722-0E87-714A-AECE-24485EE78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78DD606-CE6A-004C-972E-222511722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01ED-9718-9940-8741-044367DD3C7B}" type="datetimeFigureOut">
              <a:rPr lang="en-GB" smtClean="0"/>
              <a:t>28/02/2021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CEEC62-347C-0845-AD99-601326ABB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4B8582A-49B6-E248-A290-F3EBD5417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EEF0-7B01-A347-A20F-43F8BF308B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049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685800" y="216773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Helvetica"/>
                <a:cs typeface="Helvetica"/>
              </a:rPr>
              <a:t>TURNITIN </a:t>
            </a:r>
            <a:br>
              <a:rPr lang="en-US" dirty="0" smtClean="0">
                <a:latin typeface="Helvetica"/>
                <a:cs typeface="Helvetica"/>
              </a:rPr>
            </a:br>
            <a:r>
              <a:rPr lang="en-US" altLang="en-US" b="1" dirty="0" smtClean="0"/>
              <a:t>Plagiarism </a:t>
            </a:r>
            <a:r>
              <a:rPr lang="en-US" altLang="en-US" b="1" dirty="0"/>
              <a:t>Prevention Software</a:t>
            </a:r>
            <a:br>
              <a:rPr lang="en-US" altLang="en-US" b="1" dirty="0"/>
            </a:br>
            <a:endParaRPr lang="en-US" dirty="0">
              <a:latin typeface="Helvetica"/>
              <a:cs typeface="Helvetica"/>
            </a:endParaRP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728506" y="4010849"/>
            <a:ext cx="6400800" cy="1599330"/>
          </a:xfrm>
        </p:spPr>
        <p:txBody>
          <a:bodyPr>
            <a:normAutofit/>
          </a:bodyPr>
          <a:lstStyle/>
          <a:p>
            <a:pPr algn="l"/>
            <a:endParaRPr lang="en-US" b="1" dirty="0" smtClean="0">
              <a:solidFill>
                <a:schemeClr val="tx1"/>
              </a:solidFill>
              <a:latin typeface="Helvetica"/>
              <a:cs typeface="Helvetica"/>
            </a:endParaRPr>
          </a:p>
          <a:p>
            <a:pPr algn="l"/>
            <a:r>
              <a:rPr lang="en-US" sz="2400" b="1" dirty="0" smtClean="0">
                <a:latin typeface="Helvetica"/>
                <a:cs typeface="Helvetica"/>
              </a:rPr>
              <a:t>PREMPEH II LIBRARY</a:t>
            </a:r>
          </a:p>
          <a:p>
            <a:pPr algn="l"/>
            <a:endParaRPr lang="en-US" sz="2400" b="1" dirty="0" smtClean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52554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93964" y="2551837"/>
            <a:ext cx="89500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altLang="en-US" sz="3600" dirty="0"/>
              <a:t>Overview of </a:t>
            </a:r>
            <a:r>
              <a:rPr lang="en-CA" altLang="en-US" sz="3600" dirty="0" err="1"/>
              <a:t>Turnitin</a:t>
            </a:r>
            <a:endParaRPr lang="en-CA" alt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altLang="en-US" sz="3600" dirty="0"/>
              <a:t>Steps for Using: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CA" altLang="en-US" sz="3600" dirty="0"/>
              <a:t>creating a </a:t>
            </a:r>
            <a:r>
              <a:rPr lang="en-CA" altLang="en-US" sz="3600" dirty="0" smtClean="0"/>
              <a:t>class </a:t>
            </a:r>
            <a:endParaRPr lang="en-CA" altLang="en-US" sz="36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CA" altLang="en-US" sz="3600" dirty="0"/>
              <a:t>creating an assignment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CA" altLang="en-US" sz="3600" dirty="0"/>
              <a:t>enrolling </a:t>
            </a:r>
            <a:r>
              <a:rPr lang="en-CA" altLang="en-US" sz="3600" dirty="0" smtClean="0"/>
              <a:t>students </a:t>
            </a:r>
            <a:endParaRPr lang="en-CA" altLang="en-US" sz="36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CA" altLang="en-US" sz="3600" dirty="0"/>
              <a:t>submitting papers</a:t>
            </a:r>
          </a:p>
        </p:txBody>
      </p:sp>
    </p:spTree>
    <p:extLst>
      <p:ext uri="{BB962C8B-B14F-4D97-AF65-F5344CB8AC3E}">
        <p14:creationId xmlns:p14="http://schemas.microsoft.com/office/powerpoint/2010/main" val="326809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620444-A683-426E-A9B5-3277F99ED3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6000" dirty="0"/>
              <a:t>SPELLING IN ENGLISH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A9506B0-E953-46B0-BC33-5B849679F2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34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9B30EF-C171-4373-8A12-112C793B6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92EA1D-92A1-4757-9D8A-D18E3B868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16" y="2809875"/>
            <a:ext cx="7608313" cy="301452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950" dirty="0">
                <a:latin typeface="Arial" panose="020B0604020202020204" pitchFamily="34" charset="0"/>
                <a:cs typeface="Arial" panose="020B0604020202020204" pitchFamily="34" charset="0"/>
              </a:rPr>
              <a:t>Definition and Origin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25" b="1" dirty="0"/>
              <a:t>BASIC RULES IN SPELLING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25" b="1" dirty="0"/>
              <a:t>MISSPELLING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50" dirty="0">
                <a:latin typeface="Arial" panose="020B0604020202020204" pitchFamily="34" charset="0"/>
                <a:cs typeface="Arial" panose="020B0604020202020204" pitchFamily="34" charset="0"/>
              </a:rPr>
              <a:t>Types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50" dirty="0">
                <a:latin typeface="Arial" panose="020B0604020202020204" pitchFamily="34" charset="0"/>
                <a:cs typeface="Arial" panose="020B0604020202020204" pitchFamily="34" charset="0"/>
              </a:rPr>
              <a:t>Causes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50" dirty="0"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50" dirty="0">
                <a:latin typeface="Arial" panose="020B0604020202020204" pitchFamily="34" charset="0"/>
                <a:cs typeface="Arial" panose="020B0604020202020204" pitchFamily="34" charset="0"/>
              </a:rPr>
              <a:t>Effects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25" b="1" dirty="0"/>
              <a:t>COMMON MISSPELLED WORDS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98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3F83B8-B3C3-4FFA-8574-BEC3E1B5C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Spelling defined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F4FE2FA-5762-49D0-9F49-F312E8551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16" y="2809875"/>
            <a:ext cx="7745473" cy="31908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b="1" u="sng" dirty="0"/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Spelling is the combination of alphabetical letters to form a written word </a:t>
            </a:r>
          </a:p>
          <a:p>
            <a:pPr marL="0" indent="0">
              <a:buNone/>
            </a:pPr>
            <a:endParaRPr lang="en-US" sz="18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6600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87B9E9-93FB-45C0-82DE-4D1B67FA6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39" y="1587501"/>
            <a:ext cx="6571060" cy="530223"/>
          </a:xfrm>
        </p:spPr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A04520-6C08-4D4A-9F4E-67D5A1452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839" y="2623728"/>
            <a:ext cx="7951213" cy="3190876"/>
          </a:xfrm>
        </p:spPr>
        <p:txBody>
          <a:bodyPr>
            <a:normAutofit/>
          </a:bodyPr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Taking note of silent letters.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Silent letters are letters that are written but are not pronounced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Example:  </a:t>
            </a:r>
            <a:r>
              <a:rPr lang="en-US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nife, Lis</a:t>
            </a:r>
            <a:r>
              <a:rPr lang="en-US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Combination of letters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Example: Tou</a:t>
            </a:r>
            <a:r>
              <a:rPr lang="en-US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), Stoma</a:t>
            </a:r>
            <a:r>
              <a:rPr lang="en-US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Making use of syllable(s)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Syllable is a unit of speech sound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Example: Wa-ter, Ex-tra-ord-in-ary </a:t>
            </a:r>
          </a:p>
          <a:p>
            <a:pPr marL="0" indent="0">
              <a:buNone/>
            </a:pPr>
            <a:endParaRPr lang="en-US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03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102CC6-1BF5-4816-9707-A723E369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AF5489-B752-48C4-9257-0F2CF9F35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27" y="2512968"/>
            <a:ext cx="8088373" cy="3487783"/>
          </a:xfrm>
        </p:spPr>
        <p:txBody>
          <a:bodyPr>
            <a:normAutofit/>
          </a:bodyPr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Effects of letters in a word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 use of certain letters in a word makes the vowels or consonants of the word short or long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Example: Man + 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= Mane, Pin + 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= Pine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Exception: live, give, come etc.</a:t>
            </a:r>
          </a:p>
          <a:p>
            <a:pPr marL="0" indent="0">
              <a:buNone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 double consonant keeps a vowel short. This occurs in words that area formed by adding a suffix to the original word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Fog-Foggy, win-winning, will-willing</a:t>
            </a:r>
          </a:p>
          <a:p>
            <a:pPr marL="0" indent="0">
              <a:buNone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175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90BDC5-92D9-461A-9521-07B13B7E8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9CAF1F-290B-4C47-9517-C24EA4A13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1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F, l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s,</a:t>
            </a:r>
            <a:r>
              <a:rPr lang="en-US" sz="21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sz="2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are often doubled at the end of one-syllable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words that have a short vowel.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Example cliff, toss, hull, jazz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Exceptions: chef, was, pal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481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2E0E85-4B6A-4CC8-B290-D2B32D875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4F9B164-553A-478C-927F-1B5C6AA16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CK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serves as a double consonant at the end of one-syllable words with a short vowel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cl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ck, t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ck, sl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ck, k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ck, etc.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not required before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when another consonant follows a single vowel.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wa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k, si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k, bri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k, etc. 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502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57C31C-6F4B-471E-A2EF-79660326E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B3AAB7-6F4F-4BF7-AA2C-75B3848C5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used before a soft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keep a vowel short.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fu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ge, bri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ge, lo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Exceptions: tragedy, rigid, etc.</a:t>
            </a:r>
          </a:p>
        </p:txBody>
      </p:sp>
    </p:spTree>
    <p:extLst>
      <p:ext uri="{BB962C8B-B14F-4D97-AF65-F5344CB8AC3E}">
        <p14:creationId xmlns:p14="http://schemas.microsoft.com/office/powerpoint/2010/main" val="3925606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32CA86-3621-4198-81C1-DF2A4050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331B7-29EE-4170-B25A-67FA704FD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‘ie’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‘ei’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words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They often produce the sound /</a:t>
            </a: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the sound /</a:t>
            </a: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 is pronounced,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comes before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the word.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belief, siege, yield, etc.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Exception: seize, weird, protein(short  but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appears before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749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the sound /i:/,e always comes before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Example, reign, neigh, vein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can use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‘Alice’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remember these rules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there is an ‘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and ‘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after the consonant ‘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 the ‘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comes first followed by the ‘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’.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Alice</a:t>
            </a:r>
            <a:endParaRPr lang="en-US" sz="2400" b="1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518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736" y="2702106"/>
            <a:ext cx="7804256" cy="3112498"/>
          </a:xfrm>
        </p:spPr>
        <p:txBody>
          <a:bodyPr>
            <a:normAutofit/>
          </a:bodyPr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DOUBLING OF A CONSONANT WHEN A SUFFIX IS ADDED TO A WORD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final consonant of a word is doubled when adding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-ing, -er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-est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This for words that ends in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b, d, g, l, m, n, p, r,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Example, running, swimming, sobbed, bigger.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146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2809875"/>
            <a:ext cx="7961010" cy="319087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final letter is doubled when adding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the following pattern: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‘consonant-vowel-consonant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 occurs at the end of a word.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tra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traveller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Words of more than one syllable have their consonants doubled only when the final syllable is stressed.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Begin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Beginning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However OpenOpening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5087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519" y="2653120"/>
            <a:ext cx="8019793" cy="311249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words have more than one syllable and end in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‘l’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British English always double the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‘l’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even in the case of unstressed syllables.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 British English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Fuelled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 American English, on the other hand, the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‘l’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is not doubled in the case of unstressed syllables.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Example Fueled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0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722" y="2692310"/>
            <a:ext cx="7970807" cy="3190875"/>
          </a:xfrm>
        </p:spPr>
        <p:txBody>
          <a:bodyPr>
            <a:normAutofit fontScale="85000" lnSpcReduction="20000"/>
          </a:bodyPr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HOW SPELLINGS AFFECTS VERBS IN OTHER TENSES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Verbs ending in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c’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take a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‘k’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before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ing’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ed’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 :Picnic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Picnic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Pani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Panic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ked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silent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‘e’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which occurs at the end of the words is dropped off in the following cases.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Rhyme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Rhyming     RealiseRealising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 final letter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‘e’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is not dropped for the words that end in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‘ee’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Example: SeeSeeing    FleeFleeing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679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924" y="2623728"/>
            <a:ext cx="7823850" cy="311249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Words ending in silent 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‘e’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‘ie’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or with another vowel before 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‘e’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take the suffix </a:t>
            </a:r>
            <a:r>
              <a:rPr lang="en-US" sz="21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‘d’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Example: cloth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cloth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</a:t>
            </a:r>
            <a:r>
              <a:rPr lang="en-US" sz="21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Tip-t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oe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Tip-t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oe</a:t>
            </a:r>
            <a:r>
              <a:rPr lang="en-US" sz="21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       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Sav</a:t>
            </a: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Save</a:t>
            </a:r>
            <a:r>
              <a:rPr lang="en-US" sz="21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For words that ends in “</a:t>
            </a:r>
            <a:r>
              <a:rPr lang="en-US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”, change the “</a:t>
            </a:r>
            <a:r>
              <a:rPr lang="en-US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to “</a:t>
            </a:r>
            <a:r>
              <a:rPr lang="en-US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when adding “</a:t>
            </a:r>
            <a:r>
              <a:rPr lang="en-US" sz="2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Example: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CryCried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SpySpied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749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A61021-FA8D-4D45-82A0-A6993224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B46B26-A566-4E6A-80FD-36BACECF5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If there’s a vowel before “y” it’s retained before “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ed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Example: Pray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Prayed,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SurveySurveyed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Exceptions: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PayPaid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SaySaid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 final letter “y” does not change to “I” when adding “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Example: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FryFrying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SpySpying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89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5995A0-43A1-45A5-B279-1DB217D8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MISSPELLING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7255098-C1C8-40F8-9C92-2AEE44122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881" y="2633526"/>
            <a:ext cx="7637705" cy="3190876"/>
          </a:xfrm>
        </p:spPr>
        <p:txBody>
          <a:bodyPr>
            <a:normAutofit/>
          </a:bodyPr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Errors made in spelling are referred to as </a:t>
            </a:r>
            <a:r>
              <a:rPr lang="en-US" sz="2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misspelling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100" u="sng" dirty="0">
                <a:latin typeface="Arial" panose="020B0604020202020204" pitchFamily="34" charset="0"/>
                <a:cs typeface="Arial" panose="020B0604020202020204" pitchFamily="34" charset="0"/>
              </a:rPr>
              <a:t>TYPES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Incorrectly repeated consonants 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Wrong vowel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Wrong consonant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Reversed order of double vowels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Extra letters 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Missing letters </a:t>
            </a:r>
          </a:p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56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FCA19E-4FDE-4B49-86FF-8035F58A9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Causes of Misspelling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D6AF95-E6E1-4E06-8DE9-FDB9A6B1F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467" y="2552156"/>
            <a:ext cx="8072846" cy="33212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Mispronunciation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Homophones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Typing Errors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Different versions of spelling of words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Lack of knowledge of correct spellings</a:t>
            </a:r>
          </a:p>
        </p:txBody>
      </p:sp>
    </p:spTree>
    <p:extLst>
      <p:ext uri="{BB962C8B-B14F-4D97-AF65-F5344CB8AC3E}">
        <p14:creationId xmlns:p14="http://schemas.microsoft.com/office/powerpoint/2010/main" val="825316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Misspelling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Miscommunication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Affects text comprehension </a:t>
            </a:r>
          </a:p>
        </p:txBody>
      </p:sp>
    </p:spTree>
    <p:extLst>
      <p:ext uri="{BB962C8B-B14F-4D97-AF65-F5344CB8AC3E}">
        <p14:creationId xmlns:p14="http://schemas.microsoft.com/office/powerpoint/2010/main" val="4017333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7F66D8-E2F3-402D-851C-1DD235CC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MISSPELLING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E94CCE-19EA-4E4E-8790-CBBA3D132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70" y="2213709"/>
            <a:ext cx="7769135" cy="33506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Solutions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Vocabulary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Syllables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Mnemonics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Sounds of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Intonation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Dictionary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Ignore spelling of words by pronunciation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22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922E34-17B2-47E0-A1AA-A9E8A5529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MISSPELLING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3E8E1F-9955-4C8C-9681-F47728474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352" y="1978626"/>
            <a:ext cx="7613174" cy="3816384"/>
          </a:xfrm>
        </p:spPr>
        <p:txBody>
          <a:bodyPr>
            <a:normAutofit/>
          </a:bodyPr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Common misspelled words</a:t>
            </a:r>
          </a:p>
          <a:p>
            <a:pPr marL="0" indent="0">
              <a:buNone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FF526C81-56AA-4DD0-9960-5AC81450AD2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29056" y="2482479"/>
          <a:ext cx="6109350" cy="275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4675">
                  <a:extLst>
                    <a:ext uri="{9D8B030D-6E8A-4147-A177-3AD203B41FA5}">
                      <a16:colId xmlns:a16="http://schemas.microsoft.com/office/drawing/2014/main" xmlns="" val="3017223083"/>
                    </a:ext>
                  </a:extLst>
                </a:gridCol>
                <a:gridCol w="3054675">
                  <a:extLst>
                    <a:ext uri="{9D8B030D-6E8A-4147-A177-3AD203B41FA5}">
                      <a16:colId xmlns:a16="http://schemas.microsoft.com/office/drawing/2014/main" xmlns="" val="1148013267"/>
                    </a:ext>
                  </a:extLst>
                </a:gridCol>
              </a:tblGrid>
              <a:tr h="550418">
                <a:tc>
                  <a:txBody>
                    <a:bodyPr/>
                    <a:lstStyle/>
                    <a:p>
                      <a:r>
                        <a:rPr lang="en-US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Correct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Wrong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866305468"/>
                  </a:ext>
                </a:extLst>
              </a:tr>
              <a:tr h="550418"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Achieve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Acheive</a:t>
                      </a:r>
                      <a:endParaRPr lang="en-US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6036345"/>
                  </a:ext>
                </a:extLst>
              </a:tr>
              <a:tr h="550418"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Argument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Arguement</a:t>
                      </a:r>
                      <a:endParaRPr lang="en-US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3531071150"/>
                  </a:ext>
                </a:extLst>
              </a:tr>
              <a:tr h="550418"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Colleague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Collegue</a:t>
                      </a:r>
                      <a:endParaRPr lang="en-US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061473155"/>
                  </a:ext>
                </a:extLst>
              </a:tr>
              <a:tr h="550418"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Committee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Commitee</a:t>
                      </a:r>
                      <a:endParaRPr lang="en-US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4219291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37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386B39-38E3-44D8-B1DC-CEEB7B739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VERSIONS OF SPELLINGS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4826BC0C-EE88-4975-9C75-B73D41717899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66215" y="2669719"/>
          <a:ext cx="7187038" cy="3288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3519">
                  <a:extLst>
                    <a:ext uri="{9D8B030D-6E8A-4147-A177-3AD203B41FA5}">
                      <a16:colId xmlns:a16="http://schemas.microsoft.com/office/drawing/2014/main" xmlns="" val="201504008"/>
                    </a:ext>
                  </a:extLst>
                </a:gridCol>
                <a:gridCol w="3593519">
                  <a:extLst>
                    <a:ext uri="{9D8B030D-6E8A-4147-A177-3AD203B41FA5}">
                      <a16:colId xmlns:a16="http://schemas.microsoft.com/office/drawing/2014/main" xmlns="" val="2864951399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BRITISH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AMERICAN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564594352"/>
                  </a:ext>
                </a:extLst>
              </a:tr>
              <a:tr h="407807">
                <a:tc>
                  <a:txBody>
                    <a:bodyPr/>
                    <a:lstStyle/>
                    <a:p>
                      <a:r>
                        <a:rPr lang="en-US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Analyse</a:t>
                      </a:r>
                      <a:endParaRPr lang="en-US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Analyze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722453957"/>
                  </a:ext>
                </a:extLst>
              </a:tr>
              <a:tr h="407807">
                <a:tc>
                  <a:txBody>
                    <a:bodyPr/>
                    <a:lstStyle/>
                    <a:p>
                      <a:r>
                        <a:rPr lang="en-US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Defence</a:t>
                      </a:r>
                      <a:endParaRPr lang="en-US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Defense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284561962"/>
                  </a:ext>
                </a:extLst>
              </a:tr>
              <a:tr h="407807">
                <a:tc>
                  <a:txBody>
                    <a:bodyPr/>
                    <a:lstStyle/>
                    <a:p>
                      <a:r>
                        <a:rPr lang="en-US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Neighbour</a:t>
                      </a:r>
                      <a:endParaRPr lang="en-US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Neighbor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883275716"/>
                  </a:ext>
                </a:extLst>
              </a:tr>
              <a:tr h="407807"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Travelled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Traveled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4071895727"/>
                  </a:ext>
                </a:extLst>
              </a:tr>
              <a:tr h="407807"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363277570"/>
                  </a:ext>
                </a:extLst>
              </a:tr>
              <a:tr h="407807">
                <a:tc>
                  <a:txBody>
                    <a:bodyPr/>
                    <a:lstStyle/>
                    <a:p>
                      <a:r>
                        <a:rPr lang="en-US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Humour</a:t>
                      </a:r>
                      <a:endParaRPr lang="en-US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356920522"/>
                  </a:ext>
                </a:extLst>
              </a:tr>
              <a:tr h="407807">
                <a:tc>
                  <a:txBody>
                    <a:bodyPr/>
                    <a:lstStyle/>
                    <a:p>
                      <a:r>
                        <a:rPr lang="en-US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Litre</a:t>
                      </a:r>
                      <a:endParaRPr lang="en-US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2384147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26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B7A51859-2824-4859-A06A-A1653F7FDA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Mission Accomplished!!! </a:t>
            </a:r>
          </a:p>
        </p:txBody>
      </p:sp>
    </p:spTree>
    <p:extLst>
      <p:ext uri="{BB962C8B-B14F-4D97-AF65-F5344CB8AC3E}">
        <p14:creationId xmlns:p14="http://schemas.microsoft.com/office/powerpoint/2010/main" val="114938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0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708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:\Users\user\Documents\thank you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1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42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941</Words>
  <Application>Microsoft Office PowerPoint</Application>
  <PresentationFormat>On-screen Show (4:3)</PresentationFormat>
  <Paragraphs>163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 Black</vt:lpstr>
      <vt:lpstr>Calibri</vt:lpstr>
      <vt:lpstr>Courier New</vt:lpstr>
      <vt:lpstr>Helvetica</vt:lpstr>
      <vt:lpstr>Wingdings</vt:lpstr>
      <vt:lpstr>Office Theme</vt:lpstr>
      <vt:lpstr>TURNITIN  Plagiarism Prevention Software </vt:lpstr>
      <vt:lpstr>OUTLINE</vt:lpstr>
      <vt:lpstr>SPELLING IN ENGLISH </vt:lpstr>
      <vt:lpstr>OUTLINE</vt:lpstr>
      <vt:lpstr>Spelling defined </vt:lpstr>
      <vt:lpstr>RULES</vt:lpstr>
      <vt:lpstr>RULES</vt:lpstr>
      <vt:lpstr>RULES</vt:lpstr>
      <vt:lpstr>RULES</vt:lpstr>
      <vt:lpstr>RULES</vt:lpstr>
      <vt:lpstr>RULES</vt:lpstr>
      <vt:lpstr>RULES</vt:lpstr>
      <vt:lpstr>RULES</vt:lpstr>
      <vt:lpstr>RULES</vt:lpstr>
      <vt:lpstr>RULES</vt:lpstr>
      <vt:lpstr>RULES</vt:lpstr>
      <vt:lpstr>RULES</vt:lpstr>
      <vt:lpstr>RULES</vt:lpstr>
      <vt:lpstr>MISSPELLING</vt:lpstr>
      <vt:lpstr>Causes of Misspelling </vt:lpstr>
      <vt:lpstr>Effects of Misspelling </vt:lpstr>
      <vt:lpstr>MISSPELLING</vt:lpstr>
      <vt:lpstr>MISSPELLING</vt:lpstr>
      <vt:lpstr>VERSIONS OF SPELLINGS</vt:lpstr>
      <vt:lpstr>Mission Accomplished!!! </vt:lpstr>
      <vt:lpstr>PowerPoint Presentation</vt:lpstr>
      <vt:lpstr>References</vt:lpstr>
      <vt:lpstr>PowerPoint Presentation</vt:lpstr>
    </vt:vector>
  </TitlesOfParts>
  <Company>UPK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KNUST Press</dc:creator>
  <cp:lastModifiedBy>FoSS ExamsOffice</cp:lastModifiedBy>
  <cp:revision>18</cp:revision>
  <dcterms:created xsi:type="dcterms:W3CDTF">2016-11-07T15:28:41Z</dcterms:created>
  <dcterms:modified xsi:type="dcterms:W3CDTF">2021-03-01T03:14:25Z</dcterms:modified>
</cp:coreProperties>
</file>