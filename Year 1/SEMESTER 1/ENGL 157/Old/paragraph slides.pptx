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C25BD-D40C-48AD-BAE5-065FC489E8B0}" type="datetimeFigureOut">
              <a:rPr lang="en-GB" smtClean="0"/>
              <a:t>25/10/2017</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2D539-9196-4B4B-AF62-22DB1788F18B}" type="slidenum">
              <a:rPr lang="en-GB" smtClean="0"/>
              <a:t>‹#›</a:t>
            </a:fld>
            <a:endParaRPr lang="en-GB"/>
          </a:p>
        </p:txBody>
      </p:sp>
    </p:spTree>
    <p:extLst>
      <p:ext uri="{BB962C8B-B14F-4D97-AF65-F5344CB8AC3E}">
        <p14:creationId xmlns:p14="http://schemas.microsoft.com/office/powerpoint/2010/main" val="1037182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BF749FC-3800-45E5-8A13-34FE93551D1D}" type="slidenum">
              <a:rPr lang="en-US" smtClean="0"/>
              <a:t>45</a:t>
            </a:fld>
            <a:endParaRPr lang="en-US"/>
          </a:p>
        </p:txBody>
      </p:sp>
    </p:spTree>
    <p:extLst>
      <p:ext uri="{BB962C8B-B14F-4D97-AF65-F5344CB8AC3E}">
        <p14:creationId xmlns:p14="http://schemas.microsoft.com/office/powerpoint/2010/main" val="3779706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749FC-3800-45E5-8A13-34FE93551D1D}" type="slidenum">
              <a:rPr lang="en-US" smtClean="0"/>
              <a:t>59</a:t>
            </a:fld>
            <a:endParaRPr lang="en-US"/>
          </a:p>
        </p:txBody>
      </p:sp>
    </p:spTree>
    <p:extLst>
      <p:ext uri="{BB962C8B-B14F-4D97-AF65-F5344CB8AC3E}">
        <p14:creationId xmlns:p14="http://schemas.microsoft.com/office/powerpoint/2010/main" val="2786932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11E23B8-75E8-443A-9175-1C01F0FC52F8}" type="datetimeFigureOut">
              <a:rPr lang="en-GB" smtClean="0"/>
              <a:t>25/10/2017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948139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11E23B8-75E8-443A-9175-1C01F0FC52F8}" type="datetimeFigureOut">
              <a:rPr lang="en-GB" smtClean="0"/>
              <a:t>25/10/2017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2117324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1E23B8-75E8-443A-9175-1C01F0FC52F8}" type="datetimeFigureOut">
              <a:rPr lang="en-GB" smtClean="0"/>
              <a:t>25/10/2017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243697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11E23B8-75E8-443A-9175-1C01F0FC52F8}" type="datetimeFigureOut">
              <a:rPr lang="en-GB" smtClean="0"/>
              <a:t>25/10/2017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308253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11E23B8-75E8-443A-9175-1C01F0FC52F8}" type="datetimeFigureOut">
              <a:rPr lang="en-GB" smtClean="0"/>
              <a:t>25/10/2017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2127140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111E23B8-75E8-443A-9175-1C01F0FC52F8}" type="datetimeFigureOut">
              <a:rPr lang="en-GB" smtClean="0"/>
              <a:t>25/10/2017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3690553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1E23B8-75E8-443A-9175-1C01F0FC52F8}" type="datetimeFigureOut">
              <a:rPr lang="en-GB" smtClean="0"/>
              <a:t>25/10/2017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429427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1E23B8-75E8-443A-9175-1C01F0FC52F8}" type="datetimeFigureOut">
              <a:rPr lang="en-GB" smtClean="0"/>
              <a:t>25/10/2017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326523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1E23B8-75E8-443A-9175-1C01F0FC52F8}" type="datetimeFigureOut">
              <a:rPr lang="en-GB" smtClean="0"/>
              <a:t>25/10/2017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3737614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11E23B8-75E8-443A-9175-1C01F0FC52F8}" type="datetimeFigureOut">
              <a:rPr lang="en-GB" smtClean="0"/>
              <a:t>25/10/2017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103339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11E23B8-75E8-443A-9175-1C01F0FC52F8}" type="datetimeFigureOut">
              <a:rPr lang="en-GB" smtClean="0"/>
              <a:t>25/10/2017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22C7669-3B9A-4040-B487-BF5F5A2A7672}" type="slidenum">
              <a:rPr lang="en-GB" smtClean="0"/>
              <a:t>‹#›</a:t>
            </a:fld>
            <a:endParaRPr lang="en-GB"/>
          </a:p>
        </p:txBody>
      </p:sp>
    </p:spTree>
    <p:extLst>
      <p:ext uri="{BB962C8B-B14F-4D97-AF65-F5344CB8AC3E}">
        <p14:creationId xmlns:p14="http://schemas.microsoft.com/office/powerpoint/2010/main" val="3278505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1E23B8-75E8-443A-9175-1C01F0FC52F8}" type="datetimeFigureOut">
              <a:rPr lang="en-GB" smtClean="0"/>
              <a:t>25/10/2017</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2C7669-3B9A-4040-B487-BF5F5A2A7672}" type="slidenum">
              <a:rPr lang="en-GB" smtClean="0"/>
              <a:t>‹#›</a:t>
            </a:fld>
            <a:endParaRPr lang="en-GB"/>
          </a:p>
        </p:txBody>
      </p:sp>
    </p:spTree>
    <p:extLst>
      <p:ext uri="{BB962C8B-B14F-4D97-AF65-F5344CB8AC3E}">
        <p14:creationId xmlns:p14="http://schemas.microsoft.com/office/powerpoint/2010/main" val="364710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553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Students’ activity </a:t>
            </a:r>
            <a:endParaRPr lang="en-GB" b="1" dirty="0"/>
          </a:p>
        </p:txBody>
      </p:sp>
      <p:sp>
        <p:nvSpPr>
          <p:cNvPr id="3" name="Content Placeholder 2"/>
          <p:cNvSpPr>
            <a:spLocks noGrp="1"/>
          </p:cNvSpPr>
          <p:nvPr>
            <p:ph idx="1"/>
          </p:nvPr>
        </p:nvSpPr>
        <p:spPr/>
        <p:txBody>
          <a:bodyPr>
            <a:noAutofit/>
          </a:bodyPr>
          <a:lstStyle/>
          <a:p>
            <a:pPr marL="0" indent="0" algn="just">
              <a:buNone/>
            </a:pPr>
            <a:r>
              <a:rPr lang="en-US" sz="9600" dirty="0" smtClean="0"/>
              <a:t>Discuss three importance of education</a:t>
            </a:r>
            <a:endParaRPr lang="en-GB" sz="9600" dirty="0"/>
          </a:p>
        </p:txBody>
      </p:sp>
    </p:spTree>
    <p:extLst>
      <p:ext uri="{BB962C8B-B14F-4D97-AF65-F5344CB8AC3E}">
        <p14:creationId xmlns:p14="http://schemas.microsoft.com/office/powerpoint/2010/main" val="3696299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just">
              <a:buNone/>
            </a:pPr>
            <a:r>
              <a:rPr lang="en-US" sz="6000" dirty="0" smtClean="0"/>
              <a:t>1. Difference between paragraph and paragraphing </a:t>
            </a:r>
            <a:endParaRPr lang="en-GB" sz="6000" dirty="0"/>
          </a:p>
        </p:txBody>
      </p:sp>
    </p:spTree>
    <p:extLst>
      <p:ext uri="{BB962C8B-B14F-4D97-AF65-F5344CB8AC3E}">
        <p14:creationId xmlns:p14="http://schemas.microsoft.com/office/powerpoint/2010/main" val="1050492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rgbClr val="FF0000"/>
                </a:solidFill>
              </a:rPr>
              <a:t>THE PARAGRAPH</a:t>
            </a:r>
            <a:endParaRPr lang="en-GB" dirty="0">
              <a:solidFill>
                <a:srgbClr val="FF0000"/>
              </a:solidFill>
            </a:endParaRPr>
          </a:p>
        </p:txBody>
      </p:sp>
      <p:sp>
        <p:nvSpPr>
          <p:cNvPr id="3" name="Subtitle 2"/>
          <p:cNvSpPr>
            <a:spLocks noGrp="1"/>
          </p:cNvSpPr>
          <p:nvPr>
            <p:ph type="subTitle" idx="1"/>
          </p:nvPr>
        </p:nvSpPr>
        <p:spPr/>
        <p:txBody>
          <a:bodyPr/>
          <a:lstStyle/>
          <a:p>
            <a:r>
              <a:rPr lang="en-US" dirty="0" smtClean="0"/>
              <a:t>Osei Yaw Akoto</a:t>
            </a:r>
          </a:p>
          <a:p>
            <a:r>
              <a:rPr lang="en-US" dirty="0" smtClean="0"/>
              <a:t>Department of English</a:t>
            </a:r>
          </a:p>
          <a:p>
            <a:r>
              <a:rPr lang="en-US" dirty="0" smtClean="0"/>
              <a:t>KNUST, KUMASI</a:t>
            </a:r>
            <a:endParaRPr lang="en-GB" dirty="0"/>
          </a:p>
        </p:txBody>
      </p:sp>
    </p:spTree>
    <p:extLst>
      <p:ext uri="{BB962C8B-B14F-4D97-AF65-F5344CB8AC3E}">
        <p14:creationId xmlns:p14="http://schemas.microsoft.com/office/powerpoint/2010/main" val="13045663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WHAT IS A PARAGRAPH?</a:t>
            </a:r>
            <a:endParaRPr lang="en-US" dirty="0"/>
          </a:p>
        </p:txBody>
      </p:sp>
      <p:sp>
        <p:nvSpPr>
          <p:cNvPr id="3" name="Content Placeholder 2"/>
          <p:cNvSpPr>
            <a:spLocks noGrp="1"/>
          </p:cNvSpPr>
          <p:nvPr>
            <p:ph idx="1"/>
          </p:nvPr>
        </p:nvSpPr>
        <p:spPr/>
        <p:txBody>
          <a:bodyPr>
            <a:normAutofit lnSpcReduction="10000"/>
          </a:bodyPr>
          <a:lstStyle/>
          <a:p>
            <a:pPr algn="just"/>
            <a:r>
              <a:rPr lang="en-US" sz="5400" dirty="0" smtClean="0"/>
              <a:t>A paragraph is a group of </a:t>
            </a:r>
            <a:r>
              <a:rPr lang="en-US" sz="5400" dirty="0" smtClean="0">
                <a:solidFill>
                  <a:srgbClr val="FF0000"/>
                </a:solidFill>
              </a:rPr>
              <a:t>related</a:t>
            </a:r>
            <a:r>
              <a:rPr lang="en-US" sz="5400" dirty="0" smtClean="0"/>
              <a:t> sentences that </a:t>
            </a:r>
            <a:r>
              <a:rPr lang="en-US" sz="5400" dirty="0" smtClean="0">
                <a:solidFill>
                  <a:srgbClr val="FFC000"/>
                </a:solidFill>
              </a:rPr>
              <a:t>develops</a:t>
            </a:r>
            <a:r>
              <a:rPr lang="en-US" sz="5400" dirty="0" smtClean="0">
                <a:solidFill>
                  <a:srgbClr val="FF0000"/>
                </a:solidFill>
              </a:rPr>
              <a:t> </a:t>
            </a:r>
            <a:r>
              <a:rPr lang="en-US" sz="5400" dirty="0" smtClean="0">
                <a:solidFill>
                  <a:srgbClr val="00B050"/>
                </a:solidFill>
              </a:rPr>
              <a:t>one main idea. </a:t>
            </a:r>
          </a:p>
          <a:p>
            <a:pPr algn="just"/>
            <a:r>
              <a:rPr lang="en-US" sz="5400" dirty="0" smtClean="0"/>
              <a:t>Structural features of a paragraph</a:t>
            </a:r>
          </a:p>
          <a:p>
            <a:pPr lvl="1" algn="just"/>
            <a:r>
              <a:rPr lang="en-US" sz="5000" dirty="0" smtClean="0"/>
              <a:t>Indentation</a:t>
            </a:r>
          </a:p>
          <a:p>
            <a:pPr lvl="1" algn="just"/>
            <a:r>
              <a:rPr lang="en-US" sz="5000" dirty="0" smtClean="0"/>
              <a:t>Block </a:t>
            </a:r>
          </a:p>
          <a:p>
            <a:pPr marL="0" indent="0">
              <a:buNone/>
            </a:pPr>
            <a:endParaRPr lang="en-US" dirty="0" smtClean="0"/>
          </a:p>
          <a:p>
            <a:endParaRPr lang="en-US" dirty="0"/>
          </a:p>
        </p:txBody>
      </p:sp>
    </p:spTree>
    <p:extLst>
      <p:ext uri="{BB962C8B-B14F-4D97-AF65-F5344CB8AC3E}">
        <p14:creationId xmlns:p14="http://schemas.microsoft.com/office/powerpoint/2010/main" val="8902655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for discussion</a:t>
            </a:r>
            <a:endParaRPr lang="en-US" dirty="0"/>
          </a:p>
        </p:txBody>
      </p:sp>
      <p:sp>
        <p:nvSpPr>
          <p:cNvPr id="3" name="Content Placeholder 2"/>
          <p:cNvSpPr>
            <a:spLocks noGrp="1"/>
          </p:cNvSpPr>
          <p:nvPr>
            <p:ph idx="1"/>
          </p:nvPr>
        </p:nvSpPr>
        <p:spPr/>
        <p:txBody>
          <a:bodyPr/>
          <a:lstStyle/>
          <a:p>
            <a:pPr marL="0" indent="0" algn="just">
              <a:buNone/>
            </a:pPr>
            <a:r>
              <a:rPr lang="en-US" sz="6600" dirty="0" smtClean="0"/>
              <a:t>Is there a one-sentence paragraph?</a:t>
            </a:r>
          </a:p>
          <a:p>
            <a:endParaRPr lang="en-US" dirty="0"/>
          </a:p>
        </p:txBody>
      </p:sp>
    </p:spTree>
    <p:extLst>
      <p:ext uri="{BB962C8B-B14F-4D97-AF65-F5344CB8AC3E}">
        <p14:creationId xmlns:p14="http://schemas.microsoft.com/office/powerpoint/2010/main" val="26415787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18555"/>
          </a:xfrm>
        </p:spPr>
        <p:txBody>
          <a:bodyPr>
            <a:normAutofit/>
          </a:bodyPr>
          <a:lstStyle/>
          <a:p>
            <a:pPr algn="just"/>
            <a:r>
              <a:rPr lang="en-US" sz="6600" dirty="0">
                <a:solidFill>
                  <a:srgbClr val="7030A0"/>
                </a:solidFill>
              </a:rPr>
              <a:t>Qualities of a </a:t>
            </a:r>
            <a:r>
              <a:rPr lang="en-US" sz="6600" dirty="0" smtClean="0">
                <a:solidFill>
                  <a:srgbClr val="7030A0"/>
                </a:solidFill>
              </a:rPr>
              <a:t>Good Paragraph</a:t>
            </a:r>
            <a:endParaRPr lang="en-US" sz="6600" dirty="0">
              <a:solidFill>
                <a:srgbClr val="7030A0"/>
              </a:solidFill>
            </a:endParaRPr>
          </a:p>
        </p:txBody>
      </p:sp>
    </p:spTree>
    <p:extLst>
      <p:ext uri="{BB962C8B-B14F-4D97-AF65-F5344CB8AC3E}">
        <p14:creationId xmlns:p14="http://schemas.microsoft.com/office/powerpoint/2010/main" val="9348108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8000" dirty="0" smtClean="0">
                <a:solidFill>
                  <a:schemeClr val="accent5"/>
                </a:solidFill>
              </a:rPr>
              <a:t>Unity  (1)</a:t>
            </a:r>
            <a:endParaRPr lang="en-US" sz="8000" dirty="0">
              <a:solidFill>
                <a:schemeClr val="accent5"/>
              </a:solidFill>
            </a:endParaRPr>
          </a:p>
        </p:txBody>
      </p:sp>
      <p:sp>
        <p:nvSpPr>
          <p:cNvPr id="3" name="Content Placeholder 2"/>
          <p:cNvSpPr>
            <a:spLocks noGrp="1"/>
          </p:cNvSpPr>
          <p:nvPr>
            <p:ph idx="1"/>
          </p:nvPr>
        </p:nvSpPr>
        <p:spPr/>
        <p:txBody>
          <a:bodyPr>
            <a:normAutofit/>
          </a:bodyPr>
          <a:lstStyle/>
          <a:p>
            <a:pPr marL="0" indent="0" algn="just">
              <a:buNone/>
            </a:pPr>
            <a:r>
              <a:rPr lang="en-US" sz="4800" dirty="0" smtClean="0"/>
              <a:t>Every sentence in the paragraph must directly or indirectly support the main or central idea. A sentence is thus meaningless unless it is linked up with the total development of the central idea. </a:t>
            </a:r>
            <a:endParaRPr lang="en-US" sz="4800" dirty="0"/>
          </a:p>
        </p:txBody>
      </p:sp>
    </p:spTree>
    <p:extLst>
      <p:ext uri="{BB962C8B-B14F-4D97-AF65-F5344CB8AC3E}">
        <p14:creationId xmlns:p14="http://schemas.microsoft.com/office/powerpoint/2010/main" val="41677290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dirty="0" smtClean="0">
                <a:solidFill>
                  <a:schemeClr val="accent5"/>
                </a:solidFill>
              </a:rPr>
              <a:t>Coherence/Cohesion  (2)</a:t>
            </a:r>
            <a:endParaRPr lang="en-US" sz="7200" dirty="0">
              <a:solidFill>
                <a:schemeClr val="accent5"/>
              </a:solidFill>
            </a:endParaRPr>
          </a:p>
        </p:txBody>
      </p:sp>
      <p:sp>
        <p:nvSpPr>
          <p:cNvPr id="3" name="Content Placeholder 2"/>
          <p:cNvSpPr>
            <a:spLocks noGrp="1"/>
          </p:cNvSpPr>
          <p:nvPr>
            <p:ph idx="1"/>
          </p:nvPr>
        </p:nvSpPr>
        <p:spPr/>
        <p:txBody>
          <a:bodyPr>
            <a:normAutofit fontScale="92500" lnSpcReduction="10000"/>
          </a:bodyPr>
          <a:lstStyle/>
          <a:p>
            <a:pPr algn="just"/>
            <a:r>
              <a:rPr lang="en-US" sz="3600" dirty="0" smtClean="0"/>
              <a:t>A paragraph is not a ‘forest of sentences’ rather sentences that are interconnected/related. A good paragraph is said to be cohesive when there is a ‘thread’ that ties all the sentences up to produce a ‘chain’. </a:t>
            </a:r>
          </a:p>
          <a:p>
            <a:pPr algn="just"/>
            <a:r>
              <a:rPr lang="en-US" sz="3600" dirty="0" smtClean="0">
                <a:solidFill>
                  <a:srgbClr val="FF0000"/>
                </a:solidFill>
              </a:rPr>
              <a:t>Cohesive strategies: </a:t>
            </a:r>
          </a:p>
          <a:p>
            <a:pPr algn="just"/>
            <a:r>
              <a:rPr lang="en-US" sz="3600" dirty="0" smtClean="0"/>
              <a:t>Use of pronouns</a:t>
            </a:r>
          </a:p>
          <a:p>
            <a:pPr algn="just"/>
            <a:r>
              <a:rPr lang="en-US" sz="3600" dirty="0" smtClean="0"/>
              <a:t>Repetition of key words</a:t>
            </a:r>
          </a:p>
          <a:p>
            <a:pPr algn="just"/>
            <a:r>
              <a:rPr lang="en-US" sz="3600" dirty="0" smtClean="0"/>
              <a:t>Use of Synonyms of key words</a:t>
            </a:r>
          </a:p>
          <a:p>
            <a:pPr algn="just"/>
            <a:r>
              <a:rPr lang="en-US" sz="3600" dirty="0" smtClean="0"/>
              <a:t>Use of transitional words (e.g. firstly, moreover, </a:t>
            </a:r>
          </a:p>
          <a:p>
            <a:pPr algn="just"/>
            <a:endParaRPr lang="en-US" sz="3600" dirty="0"/>
          </a:p>
        </p:txBody>
      </p:sp>
    </p:spTree>
    <p:extLst>
      <p:ext uri="{BB962C8B-B14F-4D97-AF65-F5344CB8AC3E}">
        <p14:creationId xmlns:p14="http://schemas.microsoft.com/office/powerpoint/2010/main" val="25885261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dirty="0" smtClean="0">
                <a:solidFill>
                  <a:schemeClr val="accent5"/>
                </a:solidFill>
              </a:rPr>
              <a:t>Completeness (3)</a:t>
            </a:r>
            <a:endParaRPr lang="en-US" sz="7200" dirty="0">
              <a:solidFill>
                <a:schemeClr val="accent5"/>
              </a:solidFill>
            </a:endParaRPr>
          </a:p>
        </p:txBody>
      </p:sp>
      <p:sp>
        <p:nvSpPr>
          <p:cNvPr id="3" name="Content Placeholder 2"/>
          <p:cNvSpPr>
            <a:spLocks noGrp="1"/>
          </p:cNvSpPr>
          <p:nvPr>
            <p:ph idx="1"/>
          </p:nvPr>
        </p:nvSpPr>
        <p:spPr>
          <a:xfrm>
            <a:off x="365759" y="1690688"/>
            <a:ext cx="11465169" cy="4907059"/>
          </a:xfrm>
        </p:spPr>
        <p:txBody>
          <a:bodyPr>
            <a:noAutofit/>
          </a:bodyPr>
          <a:lstStyle/>
          <a:p>
            <a:pPr algn="just"/>
            <a:r>
              <a:rPr lang="en-US" sz="4000" dirty="0" smtClean="0"/>
              <a:t>It means that the central idea captured in the paragraph must fully developed. </a:t>
            </a:r>
          </a:p>
          <a:p>
            <a:pPr algn="just"/>
            <a:r>
              <a:rPr lang="en-US" sz="4000" dirty="0" smtClean="0"/>
              <a:t>Some main ideas sometimes suffer:</a:t>
            </a:r>
          </a:p>
          <a:p>
            <a:pPr marL="457200" lvl="1" indent="0" algn="just">
              <a:buNone/>
            </a:pPr>
            <a:r>
              <a:rPr lang="en-US" sz="3600" dirty="0" smtClean="0"/>
              <a:t>1. under-development</a:t>
            </a:r>
          </a:p>
          <a:p>
            <a:pPr marL="457200" lvl="1" indent="0" algn="just">
              <a:buNone/>
            </a:pPr>
            <a:r>
              <a:rPr lang="en-US" sz="3600" dirty="0" smtClean="0"/>
              <a:t>2. overdevelopment: The writer may even end up repeating ideas. </a:t>
            </a:r>
          </a:p>
          <a:p>
            <a:pPr marL="457200" lvl="1" indent="0" algn="just">
              <a:buNone/>
            </a:pPr>
            <a:r>
              <a:rPr lang="en-US" sz="3600" dirty="0" smtClean="0"/>
              <a:t>3. wrong development : A different idea, rather than the one stated, is developed. (</a:t>
            </a:r>
            <a:r>
              <a:rPr lang="en-US" sz="3600" dirty="0" smtClean="0">
                <a:solidFill>
                  <a:srgbClr val="FF0000"/>
                </a:solidFill>
              </a:rPr>
              <a:t>refer to the slide from the College, see desktop)</a:t>
            </a:r>
            <a:endParaRPr lang="en-US" sz="3600" dirty="0">
              <a:solidFill>
                <a:srgbClr val="FF0000"/>
              </a:solidFill>
            </a:endParaRPr>
          </a:p>
        </p:txBody>
      </p:sp>
    </p:spTree>
    <p:extLst>
      <p:ext uri="{BB962C8B-B14F-4D97-AF65-F5344CB8AC3E}">
        <p14:creationId xmlns:p14="http://schemas.microsoft.com/office/powerpoint/2010/main" val="4802470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21607"/>
          </a:xfrm>
        </p:spPr>
        <p:txBody>
          <a:bodyPr>
            <a:normAutofit/>
          </a:bodyPr>
          <a:lstStyle/>
          <a:p>
            <a:pPr algn="just"/>
            <a:r>
              <a:rPr lang="en-US" sz="6600" dirty="0" smtClean="0">
                <a:solidFill>
                  <a:srgbClr val="FFC000"/>
                </a:solidFill>
              </a:rPr>
              <a:t>Thus, a good paragraph is a </a:t>
            </a:r>
            <a:r>
              <a:rPr lang="en-US" sz="13800" dirty="0" smtClean="0">
                <a:solidFill>
                  <a:srgbClr val="FF0000"/>
                </a:solidFill>
              </a:rPr>
              <a:t>UCC</a:t>
            </a:r>
            <a:r>
              <a:rPr lang="en-US" sz="13800" dirty="0" smtClean="0">
                <a:solidFill>
                  <a:srgbClr val="FFC000"/>
                </a:solidFill>
              </a:rPr>
              <a:t> </a:t>
            </a:r>
            <a:r>
              <a:rPr lang="en-US" sz="6600" dirty="0" smtClean="0">
                <a:solidFill>
                  <a:srgbClr val="FFC000"/>
                </a:solidFill>
              </a:rPr>
              <a:t>paragraph. </a:t>
            </a:r>
            <a:endParaRPr lang="en-US" sz="6600" dirty="0">
              <a:solidFill>
                <a:srgbClr val="FFC000"/>
              </a:solidFill>
            </a:endParaRPr>
          </a:p>
        </p:txBody>
      </p:sp>
    </p:spTree>
    <p:extLst>
      <p:ext uri="{BB962C8B-B14F-4D97-AF65-F5344CB8AC3E}">
        <p14:creationId xmlns:p14="http://schemas.microsoft.com/office/powerpoint/2010/main" val="1447810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3472"/>
          </a:xfrm>
        </p:spPr>
        <p:txBody>
          <a:bodyPr>
            <a:normAutofit/>
          </a:bodyPr>
          <a:lstStyle/>
          <a:p>
            <a:pPr algn="just"/>
            <a:r>
              <a:rPr lang="en-US" sz="8000" dirty="0">
                <a:solidFill>
                  <a:srgbClr val="7030A0"/>
                </a:solidFill>
              </a:rPr>
              <a:t>Paragraph </a:t>
            </a:r>
            <a:r>
              <a:rPr lang="en-US" sz="8000" dirty="0" smtClean="0">
                <a:solidFill>
                  <a:srgbClr val="7030A0"/>
                </a:solidFill>
              </a:rPr>
              <a:t>Development</a:t>
            </a:r>
            <a:endParaRPr lang="en-US" sz="8000" dirty="0">
              <a:solidFill>
                <a:srgbClr val="7030A0"/>
              </a:solidFill>
            </a:endParaRPr>
          </a:p>
        </p:txBody>
      </p:sp>
    </p:spTree>
    <p:extLst>
      <p:ext uri="{BB962C8B-B14F-4D97-AF65-F5344CB8AC3E}">
        <p14:creationId xmlns:p14="http://schemas.microsoft.com/office/powerpoint/2010/main" val="26334598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5400" dirty="0">
                <a:solidFill>
                  <a:schemeClr val="accent5"/>
                </a:solidFill>
              </a:rPr>
              <a:t>Functional </a:t>
            </a:r>
            <a:r>
              <a:rPr lang="en-US" sz="5400" dirty="0" smtClean="0">
                <a:solidFill>
                  <a:schemeClr val="accent5"/>
                </a:solidFill>
              </a:rPr>
              <a:t>Sentences </a:t>
            </a:r>
            <a:r>
              <a:rPr lang="en-US" sz="5400" dirty="0">
                <a:solidFill>
                  <a:schemeClr val="accent5"/>
                </a:solidFill>
              </a:rPr>
              <a:t>in a </a:t>
            </a:r>
            <a:r>
              <a:rPr lang="en-US" sz="5400" dirty="0" smtClean="0">
                <a:solidFill>
                  <a:schemeClr val="accent5"/>
                </a:solidFill>
              </a:rPr>
              <a:t>Paragraph</a:t>
            </a:r>
            <a:r>
              <a:rPr lang="en-US" sz="5400" dirty="0">
                <a:solidFill>
                  <a:schemeClr val="accent5"/>
                </a:solidFill>
              </a:rPr>
              <a:t/>
            </a:r>
            <a:br>
              <a:rPr lang="en-US" sz="5400" dirty="0">
                <a:solidFill>
                  <a:schemeClr val="accent5"/>
                </a:solidFill>
              </a:rPr>
            </a:br>
            <a:endParaRPr lang="en-US" sz="5400" dirty="0">
              <a:solidFill>
                <a:schemeClr val="accent5"/>
              </a:solidFill>
            </a:endParaRPr>
          </a:p>
        </p:txBody>
      </p:sp>
      <p:sp>
        <p:nvSpPr>
          <p:cNvPr id="3" name="Content Placeholder 2"/>
          <p:cNvSpPr>
            <a:spLocks noGrp="1"/>
          </p:cNvSpPr>
          <p:nvPr>
            <p:ph idx="1"/>
          </p:nvPr>
        </p:nvSpPr>
        <p:spPr/>
        <p:txBody>
          <a:bodyPr>
            <a:normAutofit/>
          </a:bodyPr>
          <a:lstStyle/>
          <a:p>
            <a:pPr marL="914400" indent="-914400" algn="just">
              <a:buAutoNum type="arabicPeriod"/>
            </a:pPr>
            <a:r>
              <a:rPr lang="en-US" sz="4800" dirty="0" smtClean="0"/>
              <a:t>Topic sentence</a:t>
            </a:r>
          </a:p>
          <a:p>
            <a:pPr marL="742950" indent="-742950" algn="just">
              <a:buAutoNum type="arabicPeriod"/>
            </a:pPr>
            <a:r>
              <a:rPr lang="en-US" sz="4400" dirty="0" smtClean="0"/>
              <a:t>Major supporting sentence</a:t>
            </a:r>
          </a:p>
          <a:p>
            <a:pPr marL="742950" indent="-742950" algn="just">
              <a:buAutoNum type="arabicPeriod"/>
            </a:pPr>
            <a:r>
              <a:rPr lang="en-US" sz="4400" dirty="0" smtClean="0"/>
              <a:t>Minor supporting sentence</a:t>
            </a:r>
          </a:p>
          <a:p>
            <a:pPr marL="742950" indent="-742950" algn="just">
              <a:buAutoNum type="arabicPeriod"/>
            </a:pPr>
            <a:r>
              <a:rPr lang="en-US" sz="4400" dirty="0" smtClean="0"/>
              <a:t>Concluding sentence</a:t>
            </a:r>
          </a:p>
          <a:p>
            <a:pPr marL="742950" indent="-742950" algn="just">
              <a:buAutoNum type="arabicPeriod"/>
            </a:pPr>
            <a:r>
              <a:rPr lang="en-US" sz="4400" dirty="0" smtClean="0"/>
              <a:t>Transitional sentence</a:t>
            </a:r>
          </a:p>
          <a:p>
            <a:pPr lvl="1"/>
            <a:endParaRPr lang="en-US" dirty="0"/>
          </a:p>
        </p:txBody>
      </p:sp>
    </p:spTree>
    <p:extLst>
      <p:ext uri="{BB962C8B-B14F-4D97-AF65-F5344CB8AC3E}">
        <p14:creationId xmlns:p14="http://schemas.microsoft.com/office/powerpoint/2010/main" val="1226936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 sentence (1)</a:t>
            </a:r>
            <a:endParaRPr lang="en-US" dirty="0"/>
          </a:p>
        </p:txBody>
      </p:sp>
      <p:sp>
        <p:nvSpPr>
          <p:cNvPr id="3" name="Content Placeholder 2"/>
          <p:cNvSpPr>
            <a:spLocks noGrp="1"/>
          </p:cNvSpPr>
          <p:nvPr>
            <p:ph idx="1"/>
          </p:nvPr>
        </p:nvSpPr>
        <p:spPr>
          <a:xfrm>
            <a:off x="267286" y="1811556"/>
            <a:ext cx="11605846" cy="4828393"/>
          </a:xfrm>
        </p:spPr>
        <p:txBody>
          <a:bodyPr>
            <a:normAutofit lnSpcReduction="10000"/>
          </a:bodyPr>
          <a:lstStyle/>
          <a:p>
            <a:pPr algn="just"/>
            <a:r>
              <a:rPr lang="en-US" sz="4000" dirty="0" smtClean="0"/>
              <a:t>It is the sentence that contains the main idea developed in a paragraph</a:t>
            </a:r>
          </a:p>
          <a:p>
            <a:pPr algn="just"/>
            <a:r>
              <a:rPr lang="en-US" sz="4000" dirty="0" smtClean="0"/>
              <a:t>Types</a:t>
            </a:r>
          </a:p>
          <a:p>
            <a:pPr lvl="1" algn="just"/>
            <a:r>
              <a:rPr lang="en-US" sz="3600" dirty="0" smtClean="0">
                <a:solidFill>
                  <a:srgbClr val="FF0000"/>
                </a:solidFill>
              </a:rPr>
              <a:t>Explicit</a:t>
            </a:r>
            <a:r>
              <a:rPr lang="en-US" sz="3600" dirty="0" smtClean="0"/>
              <a:t>: It is directly stated in the text, such that one can easily underline it. Common in expository and argumentative discourses/writings/essays. </a:t>
            </a:r>
          </a:p>
          <a:p>
            <a:pPr lvl="1" algn="just"/>
            <a:r>
              <a:rPr lang="en-US" sz="3600" dirty="0" smtClean="0">
                <a:solidFill>
                  <a:srgbClr val="FF0000"/>
                </a:solidFill>
              </a:rPr>
              <a:t>Implied </a:t>
            </a:r>
            <a:r>
              <a:rPr lang="en-US" sz="3600" dirty="0" smtClean="0"/>
              <a:t>: It is indirectly captured. One has to read the text and make deductions. Common in narrative and descriptive writings. </a:t>
            </a:r>
          </a:p>
        </p:txBody>
      </p:sp>
    </p:spTree>
    <p:extLst>
      <p:ext uri="{BB962C8B-B14F-4D97-AF65-F5344CB8AC3E}">
        <p14:creationId xmlns:p14="http://schemas.microsoft.com/office/powerpoint/2010/main" val="17252783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Placement of topic sentences (TS)</a:t>
            </a:r>
            <a:endParaRPr lang="en-US" dirty="0"/>
          </a:p>
        </p:txBody>
      </p:sp>
      <p:sp>
        <p:nvSpPr>
          <p:cNvPr id="3" name="Content Placeholder 2"/>
          <p:cNvSpPr>
            <a:spLocks noGrp="1"/>
          </p:cNvSpPr>
          <p:nvPr>
            <p:ph idx="1"/>
          </p:nvPr>
        </p:nvSpPr>
        <p:spPr/>
        <p:txBody>
          <a:bodyPr>
            <a:normAutofit fontScale="70000" lnSpcReduction="20000"/>
          </a:bodyPr>
          <a:lstStyle/>
          <a:p>
            <a:r>
              <a:rPr lang="en-US" sz="5400" dirty="0" smtClean="0"/>
              <a:t>Three stages</a:t>
            </a:r>
          </a:p>
          <a:p>
            <a:pPr marL="457200" lvl="1" indent="0">
              <a:buNone/>
            </a:pPr>
            <a:r>
              <a:rPr lang="en-US" sz="4800" dirty="0" smtClean="0"/>
              <a:t>1. Initial stage</a:t>
            </a:r>
          </a:p>
          <a:p>
            <a:pPr marL="457200" lvl="1" indent="0">
              <a:buNone/>
            </a:pPr>
            <a:r>
              <a:rPr lang="en-US" sz="4800" dirty="0" smtClean="0"/>
              <a:t>2. Medial stage</a:t>
            </a:r>
          </a:p>
          <a:p>
            <a:pPr marL="457200" lvl="1" indent="0">
              <a:buNone/>
            </a:pPr>
            <a:r>
              <a:rPr lang="en-US" sz="4800" dirty="0" smtClean="0"/>
              <a:t>3. Final stage </a:t>
            </a:r>
            <a:endParaRPr lang="en-US" sz="4800" dirty="0"/>
          </a:p>
          <a:p>
            <a:pPr marL="457200" lvl="1" indent="0">
              <a:buNone/>
            </a:pPr>
            <a:r>
              <a:rPr lang="en-US" sz="4800" dirty="0" smtClean="0">
                <a:solidFill>
                  <a:srgbClr val="FF0000"/>
                </a:solidFill>
              </a:rPr>
              <a:t>The positioning of a TS is informed by a number of factors:</a:t>
            </a:r>
          </a:p>
          <a:p>
            <a:pPr marL="1371600" lvl="1" indent="-914400">
              <a:buAutoNum type="arabicPeriod"/>
            </a:pPr>
            <a:r>
              <a:rPr lang="en-US" sz="4800" dirty="0" smtClean="0"/>
              <a:t>Style</a:t>
            </a:r>
          </a:p>
          <a:p>
            <a:pPr marL="1371600" lvl="1" indent="-914400">
              <a:buAutoNum type="arabicPeriod"/>
            </a:pPr>
            <a:r>
              <a:rPr lang="en-US" sz="4800" dirty="0" smtClean="0"/>
              <a:t>Formality</a:t>
            </a:r>
          </a:p>
          <a:p>
            <a:pPr marL="1371600" lvl="1" indent="-914400">
              <a:buAutoNum type="arabicPeriod"/>
            </a:pPr>
            <a:r>
              <a:rPr lang="en-US" sz="4800" dirty="0" smtClean="0"/>
              <a:t>The subject matter (topic)</a:t>
            </a:r>
          </a:p>
          <a:p>
            <a:pPr marL="1371600" lvl="1" indent="-914400">
              <a:buAutoNum type="arabicPeriod"/>
            </a:pPr>
            <a:r>
              <a:rPr lang="en-US" sz="4800" dirty="0" smtClean="0"/>
              <a:t>Purpose of writing</a:t>
            </a:r>
          </a:p>
          <a:p>
            <a:pPr marL="457200" lvl="1" indent="0">
              <a:buNone/>
            </a:pPr>
            <a:endParaRPr lang="en-US" sz="6600" dirty="0"/>
          </a:p>
        </p:txBody>
      </p:sp>
    </p:spTree>
    <p:extLst>
      <p:ext uri="{BB962C8B-B14F-4D97-AF65-F5344CB8AC3E}">
        <p14:creationId xmlns:p14="http://schemas.microsoft.com/office/powerpoint/2010/main" val="35455659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supporting sentence(</a:t>
            </a:r>
            <a:r>
              <a:rPr lang="en-US" dirty="0" err="1" smtClean="0"/>
              <a:t>MaSS</a:t>
            </a:r>
            <a:r>
              <a:rPr lang="en-US" dirty="0" smtClean="0"/>
              <a:t>)  (2)</a:t>
            </a:r>
            <a:endParaRPr lang="en-US" dirty="0"/>
          </a:p>
        </p:txBody>
      </p:sp>
      <p:sp>
        <p:nvSpPr>
          <p:cNvPr id="3" name="Content Placeholder 2"/>
          <p:cNvSpPr>
            <a:spLocks noGrp="1"/>
          </p:cNvSpPr>
          <p:nvPr>
            <p:ph idx="1"/>
          </p:nvPr>
        </p:nvSpPr>
        <p:spPr/>
        <p:txBody>
          <a:bodyPr>
            <a:normAutofit/>
          </a:bodyPr>
          <a:lstStyle/>
          <a:p>
            <a:pPr algn="just"/>
            <a:r>
              <a:rPr lang="en-US" sz="3200" dirty="0" smtClean="0"/>
              <a:t>This is the sentence that directly develop the topic sentence. NB: There can be more than pone major supporting sentences in a paragraph.</a:t>
            </a:r>
          </a:p>
          <a:p>
            <a:pPr algn="just"/>
            <a:r>
              <a:rPr lang="en-US" sz="3200" dirty="0" smtClean="0">
                <a:solidFill>
                  <a:srgbClr val="FF0000"/>
                </a:solidFill>
              </a:rPr>
              <a:t>I am pursuing higher education for a number of reasons. </a:t>
            </a:r>
            <a:r>
              <a:rPr lang="en-US" sz="3200" dirty="0" smtClean="0">
                <a:solidFill>
                  <a:srgbClr val="0070C0"/>
                </a:solidFill>
              </a:rPr>
              <a:t>One, I want to obtain a good first degree in my area of study so that I can further to become the professor I have conceived to be. </a:t>
            </a:r>
            <a:endParaRPr lang="en-US" sz="3200" dirty="0">
              <a:solidFill>
                <a:srgbClr val="0070C0"/>
              </a:solidFill>
            </a:endParaRPr>
          </a:p>
        </p:txBody>
      </p:sp>
    </p:spTree>
    <p:extLst>
      <p:ext uri="{BB962C8B-B14F-4D97-AF65-F5344CB8AC3E}">
        <p14:creationId xmlns:p14="http://schemas.microsoft.com/office/powerpoint/2010/main" val="20942816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Minor Supporting sentence (</a:t>
            </a:r>
            <a:r>
              <a:rPr lang="en-US" dirty="0" err="1" smtClean="0"/>
              <a:t>MiSS</a:t>
            </a:r>
            <a:r>
              <a:rPr lang="en-US" dirty="0" smtClean="0"/>
              <a:t>) (3)</a:t>
            </a:r>
            <a:endParaRPr lang="en-US" dirty="0"/>
          </a:p>
        </p:txBody>
      </p:sp>
      <p:sp>
        <p:nvSpPr>
          <p:cNvPr id="3" name="Content Placeholder 2"/>
          <p:cNvSpPr>
            <a:spLocks noGrp="1"/>
          </p:cNvSpPr>
          <p:nvPr>
            <p:ph idx="1"/>
          </p:nvPr>
        </p:nvSpPr>
        <p:spPr>
          <a:xfrm>
            <a:off x="464234" y="1825624"/>
            <a:ext cx="11310424" cy="5032376"/>
          </a:xfrm>
        </p:spPr>
        <p:txBody>
          <a:bodyPr>
            <a:normAutofit lnSpcReduction="10000"/>
          </a:bodyPr>
          <a:lstStyle/>
          <a:p>
            <a:pPr algn="just"/>
            <a:r>
              <a:rPr lang="en-US" sz="3200" dirty="0" smtClean="0"/>
              <a:t>It </a:t>
            </a:r>
            <a:r>
              <a:rPr lang="en-US" sz="3200" dirty="0" smtClean="0">
                <a:solidFill>
                  <a:srgbClr val="FF0000"/>
                </a:solidFill>
              </a:rPr>
              <a:t>indirectly</a:t>
            </a:r>
            <a:r>
              <a:rPr lang="en-US" sz="3200" dirty="0" smtClean="0"/>
              <a:t> develops the topic sentence BUT </a:t>
            </a:r>
            <a:r>
              <a:rPr lang="en-US" sz="3200" dirty="0" smtClean="0">
                <a:solidFill>
                  <a:srgbClr val="C00000"/>
                </a:solidFill>
              </a:rPr>
              <a:t>directly</a:t>
            </a:r>
            <a:r>
              <a:rPr lang="en-US" sz="3200" dirty="0" smtClean="0"/>
              <a:t> develops the major supporting sentence. NB: There can be more than one </a:t>
            </a:r>
            <a:r>
              <a:rPr lang="en-US" sz="3200" dirty="0" err="1" smtClean="0"/>
              <a:t>MiSS</a:t>
            </a:r>
            <a:r>
              <a:rPr lang="en-US" sz="3200" dirty="0" smtClean="0"/>
              <a:t> to a </a:t>
            </a:r>
            <a:r>
              <a:rPr lang="en-US" sz="3200" dirty="0" err="1" smtClean="0"/>
              <a:t>MaSS.</a:t>
            </a:r>
            <a:endParaRPr lang="en-US" sz="3200" dirty="0" smtClean="0"/>
          </a:p>
          <a:p>
            <a:r>
              <a:rPr lang="en-US" dirty="0" smtClean="0"/>
              <a:t>………………………………………………………………………………………………………….</a:t>
            </a:r>
          </a:p>
          <a:p>
            <a:pPr algn="just"/>
            <a:r>
              <a:rPr lang="en-US" sz="3600" dirty="0">
                <a:solidFill>
                  <a:srgbClr val="FF0000"/>
                </a:solidFill>
              </a:rPr>
              <a:t>I am pursuing higher education for a number of reasons. </a:t>
            </a:r>
            <a:r>
              <a:rPr lang="en-US" sz="3600" dirty="0">
                <a:solidFill>
                  <a:srgbClr val="0070C0"/>
                </a:solidFill>
              </a:rPr>
              <a:t>One, I want to obtain a good first degree in my area of study so that I can further to become the professor I have conceived to be. </a:t>
            </a:r>
            <a:r>
              <a:rPr lang="en-US" sz="3600" dirty="0" smtClean="0">
                <a:solidFill>
                  <a:srgbClr val="00B050"/>
                </a:solidFill>
              </a:rPr>
              <a:t>I want to be an internationally acclaimed practicing academic nurse professor in pediatrics. In fact, I conceived this vision when I was made to act as a nurse in a sketch at class five. </a:t>
            </a:r>
            <a:endParaRPr lang="en-US" sz="3600" dirty="0">
              <a:solidFill>
                <a:srgbClr val="00B050"/>
              </a:solidFill>
            </a:endParaRPr>
          </a:p>
          <a:p>
            <a:endParaRPr lang="en-US" dirty="0"/>
          </a:p>
        </p:txBody>
      </p:sp>
    </p:spTree>
    <p:extLst>
      <p:ext uri="{BB962C8B-B14F-4D97-AF65-F5344CB8AC3E}">
        <p14:creationId xmlns:p14="http://schemas.microsoft.com/office/powerpoint/2010/main" val="26166034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Concluding sentence (3)</a:t>
            </a:r>
            <a:endParaRPr lang="en-US" dirty="0"/>
          </a:p>
        </p:txBody>
      </p:sp>
      <p:sp>
        <p:nvSpPr>
          <p:cNvPr id="3" name="Content Placeholder 2"/>
          <p:cNvSpPr>
            <a:spLocks noGrp="1"/>
          </p:cNvSpPr>
          <p:nvPr>
            <p:ph idx="1"/>
          </p:nvPr>
        </p:nvSpPr>
        <p:spPr/>
        <p:txBody>
          <a:bodyPr>
            <a:normAutofit/>
          </a:bodyPr>
          <a:lstStyle/>
          <a:p>
            <a:pPr algn="just"/>
            <a:r>
              <a:rPr lang="en-US" sz="3600" dirty="0" smtClean="0"/>
              <a:t>The concluding sentence mostly is the last sentence in a paragraph. It’s optional… </a:t>
            </a:r>
            <a:r>
              <a:rPr lang="en-US" sz="3600" dirty="0" smtClean="0">
                <a:solidFill>
                  <a:srgbClr val="FF0000"/>
                </a:solidFill>
              </a:rPr>
              <a:t>but</a:t>
            </a:r>
            <a:r>
              <a:rPr lang="en-US" sz="3600" dirty="0" smtClean="0"/>
              <a:t> good to have one. </a:t>
            </a:r>
          </a:p>
          <a:p>
            <a:pPr algn="just"/>
            <a:r>
              <a:rPr lang="en-US" sz="3600" dirty="0" smtClean="0"/>
              <a:t>It..</a:t>
            </a:r>
          </a:p>
          <a:p>
            <a:pPr marL="514350" indent="-514350" algn="just">
              <a:buAutoNum type="arabicPeriod"/>
            </a:pPr>
            <a:r>
              <a:rPr lang="en-US" sz="3600" dirty="0" smtClean="0"/>
              <a:t>re-states the topic sentence in a paragraph</a:t>
            </a:r>
          </a:p>
          <a:p>
            <a:pPr marL="514350" indent="-514350" algn="just">
              <a:buAutoNum type="arabicPeriod"/>
            </a:pPr>
            <a:r>
              <a:rPr lang="en-US" sz="3600" dirty="0"/>
              <a:t>s</a:t>
            </a:r>
            <a:r>
              <a:rPr lang="en-US" sz="3600" dirty="0" smtClean="0"/>
              <a:t>ummarizes the main views in the body pf the paragraph</a:t>
            </a:r>
          </a:p>
          <a:p>
            <a:pPr marL="514350" indent="-514350" algn="just">
              <a:buAutoNum type="arabicPeriod"/>
            </a:pPr>
            <a:r>
              <a:rPr lang="en-US" sz="3600" dirty="0" smtClean="0"/>
              <a:t>may give writer’s final remark on a topic sentence</a:t>
            </a:r>
          </a:p>
          <a:p>
            <a:pPr marL="514350" indent="-514350">
              <a:buAutoNum type="arabicPeriod"/>
            </a:pPr>
            <a:endParaRPr lang="en-US" dirty="0"/>
          </a:p>
        </p:txBody>
      </p:sp>
    </p:spTree>
    <p:extLst>
      <p:ext uri="{BB962C8B-B14F-4D97-AF65-F5344CB8AC3E}">
        <p14:creationId xmlns:p14="http://schemas.microsoft.com/office/powerpoint/2010/main" val="41764736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Transitional sentence (4)</a:t>
            </a:r>
            <a:endParaRPr lang="en-US" dirty="0"/>
          </a:p>
        </p:txBody>
      </p:sp>
      <p:sp>
        <p:nvSpPr>
          <p:cNvPr id="3" name="Content Placeholder 2"/>
          <p:cNvSpPr>
            <a:spLocks noGrp="1"/>
          </p:cNvSpPr>
          <p:nvPr>
            <p:ph idx="1"/>
          </p:nvPr>
        </p:nvSpPr>
        <p:spPr/>
        <p:txBody>
          <a:bodyPr>
            <a:normAutofit/>
          </a:bodyPr>
          <a:lstStyle/>
          <a:p>
            <a:pPr algn="just"/>
            <a:r>
              <a:rPr lang="en-US" sz="4800" dirty="0" smtClean="0"/>
              <a:t>It announces the ‘coming’ of the subsequent paragraph. It’s optional. </a:t>
            </a:r>
          </a:p>
          <a:p>
            <a:pPr marL="0" indent="0" algn="just">
              <a:buNone/>
            </a:pPr>
            <a:r>
              <a:rPr lang="en-US" sz="4800" dirty="0" smtClean="0">
                <a:solidFill>
                  <a:srgbClr val="FF0000"/>
                </a:solidFill>
              </a:rPr>
              <a:t>E.g. Having discussed broken home, in the next paragraph I will focus on peer pressure as another cause of teenage pregnancy</a:t>
            </a:r>
            <a:r>
              <a:rPr lang="en-US" dirty="0" smtClean="0">
                <a:solidFill>
                  <a:srgbClr val="FF0000"/>
                </a:solidFill>
              </a:rPr>
              <a:t>. </a:t>
            </a:r>
            <a:endParaRPr lang="en-US" dirty="0">
              <a:solidFill>
                <a:srgbClr val="FF0000"/>
              </a:solidFill>
            </a:endParaRPr>
          </a:p>
        </p:txBody>
      </p:sp>
    </p:spTree>
    <p:extLst>
      <p:ext uri="{BB962C8B-B14F-4D97-AF65-F5344CB8AC3E}">
        <p14:creationId xmlns:p14="http://schemas.microsoft.com/office/powerpoint/2010/main" val="62419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Strategies for paragraph development</a:t>
            </a:r>
            <a:endParaRPr lang="en-US" dirty="0"/>
          </a:p>
        </p:txBody>
      </p:sp>
      <p:sp>
        <p:nvSpPr>
          <p:cNvPr id="3" name="Content Placeholder 2"/>
          <p:cNvSpPr>
            <a:spLocks noGrp="1"/>
          </p:cNvSpPr>
          <p:nvPr>
            <p:ph idx="1"/>
          </p:nvPr>
        </p:nvSpPr>
        <p:spPr/>
        <p:txBody>
          <a:bodyPr>
            <a:normAutofit/>
          </a:bodyPr>
          <a:lstStyle/>
          <a:p>
            <a:endParaRPr lang="en-US" sz="5400" dirty="0" smtClean="0">
              <a:solidFill>
                <a:srgbClr val="FFC000"/>
              </a:solidFill>
            </a:endParaRPr>
          </a:p>
          <a:p>
            <a:endParaRPr lang="en-US" sz="5400" dirty="0">
              <a:solidFill>
                <a:srgbClr val="FFC000"/>
              </a:solidFill>
            </a:endParaRPr>
          </a:p>
          <a:p>
            <a:pPr marL="0" indent="0" algn="just">
              <a:buNone/>
            </a:pPr>
            <a:r>
              <a:rPr lang="en-US" sz="5400" dirty="0" smtClean="0">
                <a:solidFill>
                  <a:srgbClr val="FFC000"/>
                </a:solidFill>
              </a:rPr>
              <a:t>By this we mean how to develop the topic sentence in a paragraph </a:t>
            </a:r>
            <a:endParaRPr lang="en-US" sz="5400" dirty="0">
              <a:solidFill>
                <a:srgbClr val="FFC000"/>
              </a:solidFill>
            </a:endParaRPr>
          </a:p>
        </p:txBody>
      </p:sp>
    </p:spTree>
    <p:extLst>
      <p:ext uri="{BB962C8B-B14F-4D97-AF65-F5344CB8AC3E}">
        <p14:creationId xmlns:p14="http://schemas.microsoft.com/office/powerpoint/2010/main" val="7685839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–1 </a:t>
            </a:r>
            <a:endParaRPr lang="en-US" dirty="0"/>
          </a:p>
        </p:txBody>
      </p:sp>
      <p:sp>
        <p:nvSpPr>
          <p:cNvPr id="3" name="Content Placeholder 2"/>
          <p:cNvSpPr>
            <a:spLocks noGrp="1"/>
          </p:cNvSpPr>
          <p:nvPr>
            <p:ph idx="1"/>
          </p:nvPr>
        </p:nvSpPr>
        <p:spPr/>
        <p:txBody>
          <a:bodyPr/>
          <a:lstStyle/>
          <a:p>
            <a:r>
              <a:rPr lang="en-US" dirty="0" smtClean="0"/>
              <a:t>A number of factors account for why most first year students boast of enviable CWA after the first semester. CWA refers to...</a:t>
            </a:r>
            <a:endParaRPr lang="en-US" dirty="0"/>
          </a:p>
        </p:txBody>
      </p:sp>
    </p:spTree>
    <p:extLst>
      <p:ext uri="{BB962C8B-B14F-4D97-AF65-F5344CB8AC3E}">
        <p14:creationId xmlns:p14="http://schemas.microsoft.com/office/powerpoint/2010/main" val="14080850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a:t>
            </a:r>
            <a:endParaRPr lang="en-US" dirty="0"/>
          </a:p>
        </p:txBody>
      </p:sp>
      <p:sp>
        <p:nvSpPr>
          <p:cNvPr id="3" name="Content Placeholder 2"/>
          <p:cNvSpPr>
            <a:spLocks noGrp="1"/>
          </p:cNvSpPr>
          <p:nvPr>
            <p:ph idx="1"/>
          </p:nvPr>
        </p:nvSpPr>
        <p:spPr/>
        <p:txBody>
          <a:bodyPr/>
          <a:lstStyle/>
          <a:p>
            <a:pPr marL="0" indent="0">
              <a:buNone/>
            </a:pPr>
            <a:r>
              <a:rPr lang="en-US" dirty="0"/>
              <a:t>A number of factors account for why most first year students boast of enviable CWA after the first semester. </a:t>
            </a:r>
            <a:r>
              <a:rPr lang="en-US" dirty="0" smtClean="0"/>
              <a:t>These factors can  classified as social, academic, financial, emotional or psychological.</a:t>
            </a:r>
            <a:endParaRPr lang="en-US" dirty="0"/>
          </a:p>
          <a:p>
            <a:pPr marL="0" indent="0">
              <a:buNone/>
            </a:pPr>
            <a:endParaRPr lang="en-US" dirty="0"/>
          </a:p>
        </p:txBody>
      </p:sp>
    </p:spTree>
    <p:extLst>
      <p:ext uri="{BB962C8B-B14F-4D97-AF65-F5344CB8AC3E}">
        <p14:creationId xmlns:p14="http://schemas.microsoft.com/office/powerpoint/2010/main" val="41128778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Exemplification</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sz="3600" dirty="0" smtClean="0">
                <a:solidFill>
                  <a:srgbClr val="FF0000"/>
                </a:solidFill>
              </a:rPr>
              <a:t>For instance, for example, a case is…</a:t>
            </a:r>
          </a:p>
          <a:p>
            <a:pPr algn="just"/>
            <a:r>
              <a:rPr lang="en-US" sz="3600" dirty="0" smtClean="0"/>
              <a:t>A </a:t>
            </a:r>
            <a:r>
              <a:rPr lang="en-US" sz="3600" dirty="0"/>
              <a:t>number of factors account for why most first year students boast of enviable CWA </a:t>
            </a:r>
            <a:r>
              <a:rPr lang="en-US" sz="3600" dirty="0" smtClean="0"/>
              <a:t>after the first semester. One of those factors is relative financial stability. Because their admission fees usually include hostel fees and other academic user fees, it takes a chunk of what may be considered as ‘post-first year financial worries’. As result, they have mental tranquility to undertake their academic responsibilities which include attending lectures, doing assignments, etc. </a:t>
            </a:r>
            <a:endParaRPr lang="en-US" dirty="0" smtClean="0"/>
          </a:p>
        </p:txBody>
      </p:sp>
    </p:spTree>
    <p:extLst>
      <p:ext uri="{BB962C8B-B14F-4D97-AF65-F5344CB8AC3E}">
        <p14:creationId xmlns:p14="http://schemas.microsoft.com/office/powerpoint/2010/main" val="41090213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Description (</a:t>
            </a:r>
            <a:endParaRPr lang="en-US" dirty="0"/>
          </a:p>
        </p:txBody>
      </p:sp>
      <p:sp>
        <p:nvSpPr>
          <p:cNvPr id="3" name="Content Placeholder 2"/>
          <p:cNvSpPr>
            <a:spLocks noGrp="1"/>
          </p:cNvSpPr>
          <p:nvPr>
            <p:ph idx="1"/>
          </p:nvPr>
        </p:nvSpPr>
        <p:spPr>
          <a:xfrm>
            <a:off x="838200" y="1280160"/>
            <a:ext cx="10515600" cy="5577840"/>
          </a:xfrm>
        </p:spPr>
        <p:txBody>
          <a:bodyPr>
            <a:noAutofit/>
          </a:bodyPr>
          <a:lstStyle/>
          <a:p>
            <a:pPr algn="just"/>
            <a:r>
              <a:rPr lang="en-US" sz="3600" dirty="0" smtClean="0">
                <a:solidFill>
                  <a:srgbClr val="FF0000"/>
                </a:solidFill>
              </a:rPr>
              <a:t>Appeal to the senses (at least one) of the readers.</a:t>
            </a:r>
          </a:p>
          <a:p>
            <a:pPr algn="just"/>
            <a:r>
              <a:rPr lang="en-US" sz="3600" dirty="0" smtClean="0"/>
              <a:t>One of the factors of teenage pregnancy in postmodern Ghana is broken home. A ‘home’ as we all know is a place of peace, belongingness, security, we-feeling, and any good thing that contribute to a positive self image of an individual. But when, it is said to be ‘broken’, the ‘can’t be held and therefore mere anarchy is loose upon the hitherto abode of joy. Father, who is the head (the roofing), is therefore disconnected from the mother and therefore the children are in most cases left to fend for themselves. Thus,… </a:t>
            </a:r>
            <a:endParaRPr lang="en-US" sz="3600" dirty="0"/>
          </a:p>
        </p:txBody>
      </p:sp>
    </p:spTree>
    <p:extLst>
      <p:ext uri="{BB962C8B-B14F-4D97-AF65-F5344CB8AC3E}">
        <p14:creationId xmlns:p14="http://schemas.microsoft.com/office/powerpoint/2010/main" val="30336165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Compare and contrast</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5726420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Forms of Paragraphs </a:t>
            </a:r>
            <a:endParaRPr lang="en-US" dirty="0"/>
          </a:p>
        </p:txBody>
      </p:sp>
      <p:sp>
        <p:nvSpPr>
          <p:cNvPr id="3" name="Content Placeholder 2"/>
          <p:cNvSpPr>
            <a:spLocks noGrp="1"/>
          </p:cNvSpPr>
          <p:nvPr>
            <p:ph idx="1"/>
          </p:nvPr>
        </p:nvSpPr>
        <p:spPr/>
        <p:txBody>
          <a:bodyPr/>
          <a:lstStyle/>
          <a:p>
            <a:r>
              <a:rPr lang="en-US" dirty="0" smtClean="0"/>
              <a:t>Introductory</a:t>
            </a:r>
          </a:p>
          <a:p>
            <a:r>
              <a:rPr lang="en-US" dirty="0" smtClean="0"/>
              <a:t>Body </a:t>
            </a:r>
          </a:p>
          <a:p>
            <a:r>
              <a:rPr lang="en-US" dirty="0" smtClean="0"/>
              <a:t>Concluding </a:t>
            </a:r>
          </a:p>
          <a:p>
            <a:r>
              <a:rPr lang="en-US" dirty="0" smtClean="0">
                <a:solidFill>
                  <a:srgbClr val="FF0000"/>
                </a:solidFill>
              </a:rPr>
              <a:t>It is usually perceived that an essay is all about the BODY. But scholars in composition studies/writing literacy/rhetoric have established that the MOST important parts of an essay are the INTRODUCTION and the CONCLUSION.</a:t>
            </a:r>
            <a:endParaRPr lang="en-US" dirty="0">
              <a:solidFill>
                <a:srgbClr val="FF0000"/>
              </a:solidFill>
            </a:endParaRPr>
          </a:p>
        </p:txBody>
      </p:sp>
    </p:spTree>
    <p:extLst>
      <p:ext uri="{BB962C8B-B14F-4D97-AF65-F5344CB8AC3E}">
        <p14:creationId xmlns:p14="http://schemas.microsoft.com/office/powerpoint/2010/main" val="23799575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3810"/>
          </a:xfrm>
        </p:spPr>
        <p:txBody>
          <a:bodyPr>
            <a:normAutofit/>
          </a:bodyPr>
          <a:lstStyle/>
          <a:p>
            <a:pPr algn="just"/>
            <a:r>
              <a:rPr lang="en-US" sz="6000" dirty="0" smtClean="0">
                <a:solidFill>
                  <a:srgbClr val="00B050"/>
                </a:solidFill>
              </a:rPr>
              <a:t>Why are the introduction and the conclusion considered the most important parts of an essay? </a:t>
            </a:r>
            <a:endParaRPr lang="en-US" sz="6000" dirty="0">
              <a:solidFill>
                <a:srgbClr val="00B050"/>
              </a:solidFill>
            </a:endParaRPr>
          </a:p>
        </p:txBody>
      </p:sp>
    </p:spTree>
    <p:extLst>
      <p:ext uri="{BB962C8B-B14F-4D97-AF65-F5344CB8AC3E}">
        <p14:creationId xmlns:p14="http://schemas.microsoft.com/office/powerpoint/2010/main" val="23478206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Introductory Paragraph (1)</a:t>
            </a:r>
            <a:endParaRPr lang="en-US" dirty="0"/>
          </a:p>
        </p:txBody>
      </p:sp>
      <p:sp>
        <p:nvSpPr>
          <p:cNvPr id="3" name="Content Placeholder 2"/>
          <p:cNvSpPr>
            <a:spLocks noGrp="1"/>
          </p:cNvSpPr>
          <p:nvPr>
            <p:ph idx="1"/>
          </p:nvPr>
        </p:nvSpPr>
        <p:spPr>
          <a:xfrm>
            <a:off x="436099" y="1308294"/>
            <a:ext cx="11324492" cy="5289453"/>
          </a:xfrm>
        </p:spPr>
        <p:txBody>
          <a:bodyPr>
            <a:noAutofit/>
          </a:bodyPr>
          <a:lstStyle/>
          <a:p>
            <a:pPr algn="just"/>
            <a:r>
              <a:rPr lang="en-US" sz="3600" dirty="0"/>
              <a:t>The </a:t>
            </a:r>
            <a:r>
              <a:rPr lang="en-US" sz="3600" b="1" dirty="0"/>
              <a:t>introductory paragraph</a:t>
            </a:r>
            <a:r>
              <a:rPr lang="en-US" sz="3600" dirty="0"/>
              <a:t> should also include the thesis statement, a kind of mini-outline for the paper: it tells the reader what the essay is about. The last sentence of this </a:t>
            </a:r>
            <a:r>
              <a:rPr lang="en-US" sz="3600" b="1" dirty="0"/>
              <a:t>paragraph</a:t>
            </a:r>
            <a:r>
              <a:rPr lang="en-US" sz="3600" dirty="0"/>
              <a:t> must also contain a transitional "hook" which moves the reader to the first </a:t>
            </a:r>
            <a:r>
              <a:rPr lang="en-US" sz="3600" b="1" dirty="0"/>
              <a:t>paragraph</a:t>
            </a:r>
            <a:r>
              <a:rPr lang="en-US" sz="3600" dirty="0"/>
              <a:t> of the body of the paper</a:t>
            </a:r>
            <a:endParaRPr lang="en-US" sz="3600" dirty="0" smtClean="0"/>
          </a:p>
          <a:p>
            <a:pPr algn="just"/>
            <a:r>
              <a:rPr lang="en-US" sz="3600" dirty="0" smtClean="0"/>
              <a:t>Functions of Introduction paragraph</a:t>
            </a:r>
          </a:p>
          <a:p>
            <a:pPr marL="457200" lvl="1" indent="0" algn="just">
              <a:buNone/>
            </a:pPr>
            <a:r>
              <a:rPr lang="en-US" sz="3200" dirty="0" smtClean="0"/>
              <a:t>1. Capture readers attention</a:t>
            </a:r>
          </a:p>
          <a:p>
            <a:pPr marL="457200" lvl="1" indent="0" algn="just">
              <a:buNone/>
            </a:pPr>
            <a:r>
              <a:rPr lang="en-US" sz="3200" dirty="0" smtClean="0"/>
              <a:t>2. Announce thesis statement</a:t>
            </a:r>
          </a:p>
          <a:p>
            <a:pPr marL="457200" lvl="1" indent="0" algn="just">
              <a:buNone/>
            </a:pPr>
            <a:r>
              <a:rPr lang="en-US" sz="3200" dirty="0" smtClean="0"/>
              <a:t>3. </a:t>
            </a:r>
            <a:r>
              <a:rPr lang="en-US" sz="3200" dirty="0" smtClean="0">
                <a:solidFill>
                  <a:srgbClr val="FF0000"/>
                </a:solidFill>
              </a:rPr>
              <a:t>Sometimes</a:t>
            </a:r>
            <a:r>
              <a:rPr lang="en-US" sz="3200" dirty="0" smtClean="0"/>
              <a:t> the plan of development/map of the essay</a:t>
            </a:r>
          </a:p>
          <a:p>
            <a:pPr marL="457200" lvl="1" indent="0" algn="just">
              <a:buNone/>
            </a:pPr>
            <a:endParaRPr lang="en-US" sz="3200" dirty="0"/>
          </a:p>
        </p:txBody>
      </p:sp>
    </p:spTree>
    <p:extLst>
      <p:ext uri="{BB962C8B-B14F-4D97-AF65-F5344CB8AC3E}">
        <p14:creationId xmlns:p14="http://schemas.microsoft.com/office/powerpoint/2010/main" val="1814098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Formative Exercise </a:t>
            </a:r>
            <a:endParaRPr lang="en-US" dirty="0"/>
          </a:p>
        </p:txBody>
      </p:sp>
      <p:sp>
        <p:nvSpPr>
          <p:cNvPr id="3" name="Content Placeholder 2"/>
          <p:cNvSpPr>
            <a:spLocks noGrp="1"/>
          </p:cNvSpPr>
          <p:nvPr>
            <p:ph idx="1"/>
          </p:nvPr>
        </p:nvSpPr>
        <p:spPr/>
        <p:txBody>
          <a:bodyPr>
            <a:normAutofit/>
          </a:bodyPr>
          <a:lstStyle/>
          <a:p>
            <a:pPr marL="0" indent="0" algn="just">
              <a:buNone/>
            </a:pPr>
            <a:endParaRPr lang="en-US" sz="6000" dirty="0" smtClean="0"/>
          </a:p>
          <a:p>
            <a:pPr marL="0" indent="0" algn="just">
              <a:buNone/>
            </a:pPr>
            <a:r>
              <a:rPr lang="en-US" sz="6000" smtClean="0">
                <a:solidFill>
                  <a:srgbClr val="FF0000"/>
                </a:solidFill>
              </a:rPr>
              <a:t>Write an essay </a:t>
            </a:r>
            <a:r>
              <a:rPr lang="en-US" sz="6000" dirty="0" smtClean="0">
                <a:solidFill>
                  <a:srgbClr val="FF0000"/>
                </a:solidFill>
              </a:rPr>
              <a:t>on how lecturers can help students to achieve their aims.</a:t>
            </a:r>
            <a:endParaRPr lang="en-US" sz="6000" dirty="0">
              <a:solidFill>
                <a:srgbClr val="FF0000"/>
              </a:solidFill>
            </a:endParaRPr>
          </a:p>
        </p:txBody>
      </p:sp>
    </p:spTree>
    <p:extLst>
      <p:ext uri="{BB962C8B-B14F-4D97-AF65-F5344CB8AC3E}">
        <p14:creationId xmlns:p14="http://schemas.microsoft.com/office/powerpoint/2010/main" val="16469749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 from students essays (1)</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sz="6000" dirty="0" smtClean="0">
                <a:solidFill>
                  <a:srgbClr val="92D050"/>
                </a:solidFill>
              </a:rPr>
              <a:t>Paragraph analysis</a:t>
            </a:r>
          </a:p>
          <a:p>
            <a:pPr marL="0" indent="0" algn="just">
              <a:buNone/>
            </a:pPr>
            <a:r>
              <a:rPr lang="en-US" sz="6000" dirty="0" smtClean="0">
                <a:solidFill>
                  <a:srgbClr val="92D050"/>
                </a:solidFill>
              </a:rPr>
              <a:t>Introductory sentence (s)</a:t>
            </a:r>
          </a:p>
          <a:p>
            <a:pPr marL="0" indent="0" algn="just">
              <a:buNone/>
            </a:pPr>
            <a:r>
              <a:rPr lang="en-US" sz="6000" dirty="0" smtClean="0">
                <a:solidFill>
                  <a:srgbClr val="92D050"/>
                </a:solidFill>
              </a:rPr>
              <a:t>Topic sentence </a:t>
            </a:r>
          </a:p>
          <a:p>
            <a:pPr marL="0" indent="0" algn="just">
              <a:buNone/>
            </a:pPr>
            <a:r>
              <a:rPr lang="en-US" sz="6000" dirty="0" err="1" smtClean="0">
                <a:solidFill>
                  <a:srgbClr val="92D050"/>
                </a:solidFill>
              </a:rPr>
              <a:t>MaSS</a:t>
            </a:r>
            <a:endParaRPr lang="en-US" sz="6000" dirty="0" smtClean="0">
              <a:solidFill>
                <a:srgbClr val="92D050"/>
              </a:solidFill>
            </a:endParaRPr>
          </a:p>
          <a:p>
            <a:pPr marL="0" indent="0" algn="just">
              <a:buNone/>
            </a:pPr>
            <a:r>
              <a:rPr lang="en-US" sz="6000" dirty="0" err="1" smtClean="0">
                <a:solidFill>
                  <a:srgbClr val="92D050"/>
                </a:solidFill>
              </a:rPr>
              <a:t>MiSS</a:t>
            </a:r>
            <a:endParaRPr lang="en-US" sz="6000" dirty="0" smtClean="0">
              <a:solidFill>
                <a:srgbClr val="92D050"/>
              </a:solidFill>
            </a:endParaRPr>
          </a:p>
          <a:p>
            <a:pPr marL="0" indent="0" algn="just">
              <a:buNone/>
            </a:pPr>
            <a:r>
              <a:rPr lang="en-US" sz="6000" dirty="0" smtClean="0">
                <a:solidFill>
                  <a:srgbClr val="92D050"/>
                </a:solidFill>
              </a:rPr>
              <a:t>Concluding sentence (s)</a:t>
            </a:r>
            <a:endParaRPr lang="en-US" sz="6000" dirty="0">
              <a:solidFill>
                <a:srgbClr val="92D050"/>
              </a:solidFill>
            </a:endParaRPr>
          </a:p>
        </p:txBody>
      </p:sp>
    </p:spTree>
    <p:extLst>
      <p:ext uri="{BB962C8B-B14F-4D97-AF65-F5344CB8AC3E}">
        <p14:creationId xmlns:p14="http://schemas.microsoft.com/office/powerpoint/2010/main" val="33228608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 from students essays </a:t>
            </a:r>
            <a:r>
              <a:rPr lang="en-US" dirty="0" smtClean="0"/>
              <a:t>(2)</a:t>
            </a:r>
            <a:endParaRPr lang="en-US" dirty="0"/>
          </a:p>
        </p:txBody>
      </p:sp>
      <p:sp>
        <p:nvSpPr>
          <p:cNvPr id="3" name="Content Placeholder 2"/>
          <p:cNvSpPr>
            <a:spLocks noGrp="1"/>
          </p:cNvSpPr>
          <p:nvPr>
            <p:ph idx="1"/>
          </p:nvPr>
        </p:nvSpPr>
        <p:spPr/>
        <p:txBody>
          <a:bodyPr>
            <a:normAutofit/>
          </a:bodyPr>
          <a:lstStyle/>
          <a:p>
            <a:r>
              <a:rPr lang="en-US" sz="6600" dirty="0" smtClean="0">
                <a:solidFill>
                  <a:srgbClr val="92D050"/>
                </a:solidFill>
              </a:rPr>
              <a:t>Paragraph length: When is enough </a:t>
            </a:r>
            <a:r>
              <a:rPr lang="en-US" sz="6600" dirty="0" err="1" smtClean="0">
                <a:solidFill>
                  <a:srgbClr val="92D050"/>
                </a:solidFill>
              </a:rPr>
              <a:t>enough</a:t>
            </a:r>
            <a:r>
              <a:rPr lang="en-US" sz="6600" dirty="0" smtClean="0">
                <a:solidFill>
                  <a:srgbClr val="92D050"/>
                </a:solidFill>
              </a:rPr>
              <a:t>?</a:t>
            </a:r>
            <a:endParaRPr lang="en-US" sz="6600" dirty="0">
              <a:solidFill>
                <a:srgbClr val="92D050"/>
              </a:solidFill>
            </a:endParaRPr>
          </a:p>
        </p:txBody>
      </p:sp>
    </p:spTree>
    <p:extLst>
      <p:ext uri="{BB962C8B-B14F-4D97-AF65-F5344CB8AC3E}">
        <p14:creationId xmlns:p14="http://schemas.microsoft.com/office/powerpoint/2010/main" val="5361291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 from students essays </a:t>
            </a:r>
            <a:r>
              <a:rPr lang="en-US" dirty="0" smtClean="0"/>
              <a:t>(3)</a:t>
            </a:r>
            <a:endParaRPr lang="en-US" dirty="0"/>
          </a:p>
        </p:txBody>
      </p:sp>
      <p:sp>
        <p:nvSpPr>
          <p:cNvPr id="3" name="Content Placeholder 2"/>
          <p:cNvSpPr>
            <a:spLocks noGrp="1"/>
          </p:cNvSpPr>
          <p:nvPr>
            <p:ph idx="1"/>
          </p:nvPr>
        </p:nvSpPr>
        <p:spPr/>
        <p:txBody>
          <a:bodyPr>
            <a:normAutofit/>
          </a:bodyPr>
          <a:lstStyle/>
          <a:p>
            <a:r>
              <a:rPr lang="en-US" sz="5400" dirty="0" smtClean="0">
                <a:solidFill>
                  <a:srgbClr val="92D050"/>
                </a:solidFill>
              </a:rPr>
              <a:t>Understanding of rubrics: ‘One paragraph’ not multiple paragraphs</a:t>
            </a:r>
            <a:endParaRPr lang="en-US" sz="5400" dirty="0">
              <a:solidFill>
                <a:srgbClr val="92D050"/>
              </a:solidFill>
            </a:endParaRPr>
          </a:p>
        </p:txBody>
      </p:sp>
    </p:spTree>
    <p:extLst>
      <p:ext uri="{BB962C8B-B14F-4D97-AF65-F5344CB8AC3E}">
        <p14:creationId xmlns:p14="http://schemas.microsoft.com/office/powerpoint/2010/main" val="23935530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 from students essays (2)</a:t>
            </a:r>
          </a:p>
        </p:txBody>
      </p:sp>
      <p:sp>
        <p:nvSpPr>
          <p:cNvPr id="3" name="Content Placeholder 2"/>
          <p:cNvSpPr>
            <a:spLocks noGrp="1"/>
          </p:cNvSpPr>
          <p:nvPr>
            <p:ph idx="1"/>
          </p:nvPr>
        </p:nvSpPr>
        <p:spPr/>
        <p:txBody>
          <a:bodyPr>
            <a:normAutofit/>
          </a:bodyPr>
          <a:lstStyle/>
          <a:p>
            <a:r>
              <a:rPr lang="en-US" sz="7200" dirty="0" smtClean="0">
                <a:solidFill>
                  <a:srgbClr val="92D050"/>
                </a:solidFill>
              </a:rPr>
              <a:t>A major sentence without a minor one???????</a:t>
            </a:r>
            <a:endParaRPr lang="en-US" sz="7200" dirty="0">
              <a:solidFill>
                <a:srgbClr val="92D050"/>
              </a:solidFill>
            </a:endParaRPr>
          </a:p>
        </p:txBody>
      </p:sp>
    </p:spTree>
    <p:extLst>
      <p:ext uri="{BB962C8B-B14F-4D97-AF65-F5344CB8AC3E}">
        <p14:creationId xmlns:p14="http://schemas.microsoft.com/office/powerpoint/2010/main" val="42386341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 from students essays </a:t>
            </a:r>
            <a:r>
              <a:rPr lang="en-US" dirty="0" smtClean="0"/>
              <a:t>(4)</a:t>
            </a:r>
            <a:endParaRPr lang="en-US" dirty="0"/>
          </a:p>
        </p:txBody>
      </p:sp>
      <p:sp>
        <p:nvSpPr>
          <p:cNvPr id="3" name="Content Placeholder 2"/>
          <p:cNvSpPr>
            <a:spLocks noGrp="1"/>
          </p:cNvSpPr>
          <p:nvPr>
            <p:ph idx="1"/>
          </p:nvPr>
        </p:nvSpPr>
        <p:spPr/>
        <p:txBody>
          <a:bodyPr>
            <a:normAutofit/>
          </a:bodyPr>
          <a:lstStyle/>
          <a:p>
            <a:r>
              <a:rPr lang="en-US" sz="6600" dirty="0" smtClean="0">
                <a:solidFill>
                  <a:srgbClr val="92D050"/>
                </a:solidFill>
              </a:rPr>
              <a:t>Catalogue of topic sentences</a:t>
            </a:r>
            <a:endParaRPr lang="en-US" sz="6600" dirty="0">
              <a:solidFill>
                <a:srgbClr val="92D050"/>
              </a:solidFill>
            </a:endParaRPr>
          </a:p>
        </p:txBody>
      </p:sp>
    </p:spTree>
    <p:extLst>
      <p:ext uri="{BB962C8B-B14F-4D97-AF65-F5344CB8AC3E}">
        <p14:creationId xmlns:p14="http://schemas.microsoft.com/office/powerpoint/2010/main" val="827579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4800" dirty="0" smtClean="0">
                <a:solidFill>
                  <a:srgbClr val="FF0000"/>
                </a:solidFill>
              </a:rPr>
              <a:t>Sentence 1: 1</a:t>
            </a:r>
            <a:r>
              <a:rPr lang="en-US" sz="4800" baseline="30000" dirty="0" smtClean="0">
                <a:solidFill>
                  <a:srgbClr val="FF0000"/>
                </a:solidFill>
              </a:rPr>
              <a:t>st</a:t>
            </a:r>
            <a:r>
              <a:rPr lang="en-US" sz="4800" dirty="0" smtClean="0">
                <a:solidFill>
                  <a:srgbClr val="FF0000"/>
                </a:solidFill>
              </a:rPr>
              <a:t> Introductory sentence </a:t>
            </a:r>
          </a:p>
          <a:p>
            <a:r>
              <a:rPr lang="en-US" sz="4800" dirty="0">
                <a:solidFill>
                  <a:srgbClr val="FF0000"/>
                </a:solidFill>
              </a:rPr>
              <a:t>Sentence </a:t>
            </a:r>
            <a:r>
              <a:rPr lang="en-US" sz="4800" dirty="0" smtClean="0">
                <a:solidFill>
                  <a:srgbClr val="FF0000"/>
                </a:solidFill>
              </a:rPr>
              <a:t>2: 2</a:t>
            </a:r>
            <a:r>
              <a:rPr lang="en-US" sz="4800" baseline="30000" dirty="0" smtClean="0">
                <a:solidFill>
                  <a:srgbClr val="FF0000"/>
                </a:solidFill>
              </a:rPr>
              <a:t>nd</a:t>
            </a:r>
            <a:r>
              <a:rPr lang="en-US" sz="4800" dirty="0" smtClean="0">
                <a:solidFill>
                  <a:srgbClr val="FF0000"/>
                </a:solidFill>
              </a:rPr>
              <a:t> Introductory </a:t>
            </a:r>
            <a:r>
              <a:rPr lang="en-US" sz="4800" dirty="0">
                <a:solidFill>
                  <a:srgbClr val="FF0000"/>
                </a:solidFill>
              </a:rPr>
              <a:t>sentence </a:t>
            </a:r>
            <a:endParaRPr lang="en-US" sz="4800" dirty="0" smtClean="0">
              <a:solidFill>
                <a:srgbClr val="FF0000"/>
              </a:solidFill>
            </a:endParaRPr>
          </a:p>
          <a:p>
            <a:r>
              <a:rPr lang="en-US" sz="4800" dirty="0">
                <a:solidFill>
                  <a:srgbClr val="FF0000"/>
                </a:solidFill>
              </a:rPr>
              <a:t>Sentence </a:t>
            </a:r>
            <a:r>
              <a:rPr lang="en-US" sz="4800" dirty="0" smtClean="0">
                <a:solidFill>
                  <a:srgbClr val="FF0000"/>
                </a:solidFill>
              </a:rPr>
              <a:t>3: Topic </a:t>
            </a:r>
            <a:r>
              <a:rPr lang="en-US" sz="4800" dirty="0">
                <a:solidFill>
                  <a:srgbClr val="FF0000"/>
                </a:solidFill>
              </a:rPr>
              <a:t>sentence </a:t>
            </a:r>
            <a:endParaRPr lang="en-US" sz="4800" dirty="0" smtClean="0">
              <a:solidFill>
                <a:srgbClr val="FF0000"/>
              </a:solidFill>
            </a:endParaRPr>
          </a:p>
          <a:p>
            <a:r>
              <a:rPr lang="en-US" sz="4800" dirty="0" smtClean="0">
                <a:solidFill>
                  <a:srgbClr val="FF0000"/>
                </a:solidFill>
              </a:rPr>
              <a:t>Etc.</a:t>
            </a:r>
            <a:endParaRPr lang="en-US" sz="4800" dirty="0">
              <a:solidFill>
                <a:srgbClr val="FF0000"/>
              </a:solidFill>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428711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Attention-getters for introductory paragraph</a:t>
            </a:r>
            <a:endParaRPr lang="en-US" dirty="0"/>
          </a:p>
        </p:txBody>
      </p:sp>
      <p:sp>
        <p:nvSpPr>
          <p:cNvPr id="3" name="Content Placeholder 2"/>
          <p:cNvSpPr>
            <a:spLocks noGrp="1"/>
          </p:cNvSpPr>
          <p:nvPr>
            <p:ph idx="1"/>
          </p:nvPr>
        </p:nvSpPr>
        <p:spPr/>
        <p:txBody>
          <a:bodyPr>
            <a:normAutofit/>
          </a:bodyPr>
          <a:lstStyle/>
          <a:p>
            <a:pPr marL="514350" indent="-514350">
              <a:buAutoNum type="arabicPeriod"/>
            </a:pPr>
            <a:r>
              <a:rPr lang="en-US" sz="4400" smtClean="0"/>
              <a:t>Definition </a:t>
            </a:r>
            <a:endParaRPr lang="en-US" sz="4400" dirty="0" smtClean="0"/>
          </a:p>
          <a:p>
            <a:pPr marL="514350" indent="-514350">
              <a:buAutoNum type="arabicPeriod"/>
            </a:pPr>
            <a:r>
              <a:rPr lang="en-US" sz="4400" smtClean="0"/>
              <a:t>History</a:t>
            </a:r>
            <a:endParaRPr lang="en-US" sz="4400" dirty="0" smtClean="0"/>
          </a:p>
          <a:p>
            <a:pPr marL="514350" indent="-514350">
              <a:buAutoNum type="arabicPeriod"/>
            </a:pPr>
            <a:r>
              <a:rPr lang="en-US" sz="4400" smtClean="0"/>
              <a:t>Short story</a:t>
            </a:r>
            <a:endParaRPr lang="en-US" sz="4400" dirty="0" smtClean="0"/>
          </a:p>
          <a:p>
            <a:pPr marL="514350" indent="-514350">
              <a:buAutoNum type="arabicPeriod"/>
            </a:pPr>
            <a:r>
              <a:rPr lang="en-US" sz="4400"/>
              <a:t>S</a:t>
            </a:r>
            <a:r>
              <a:rPr lang="en-US" sz="4400" smtClean="0"/>
              <a:t>tatistical facts </a:t>
            </a:r>
            <a:endParaRPr lang="en-US" sz="4400" dirty="0" smtClean="0"/>
          </a:p>
          <a:p>
            <a:pPr marL="514350" indent="-514350">
              <a:buAutoNum type="arabicPeriod"/>
            </a:pPr>
            <a:r>
              <a:rPr lang="en-US" sz="4400" smtClean="0"/>
              <a:t>Proverbs/quotes </a:t>
            </a:r>
            <a:endParaRPr lang="en-US" sz="4400" dirty="0" smtClean="0"/>
          </a:p>
          <a:p>
            <a:pPr marL="514350" indent="-514350">
              <a:buAutoNum type="arabicPeriod"/>
            </a:pPr>
            <a:r>
              <a:rPr lang="en-US" sz="4400" dirty="0" smtClean="0"/>
              <a:t>General background information</a:t>
            </a:r>
            <a:endParaRPr lang="en-US" sz="4400" dirty="0"/>
          </a:p>
          <a:p>
            <a:endParaRPr lang="en-US" sz="4400" dirty="0"/>
          </a:p>
        </p:txBody>
      </p:sp>
    </p:spTree>
    <p:extLst>
      <p:ext uri="{BB962C8B-B14F-4D97-AF65-F5344CB8AC3E}">
        <p14:creationId xmlns:p14="http://schemas.microsoft.com/office/powerpoint/2010/main" val="40136626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Introductory Paragraph</a:t>
            </a:r>
            <a:endParaRPr lang="en-US" dirty="0"/>
          </a:p>
        </p:txBody>
      </p:sp>
      <p:sp>
        <p:nvSpPr>
          <p:cNvPr id="3" name="Content Placeholder 2"/>
          <p:cNvSpPr>
            <a:spLocks noGrp="1"/>
          </p:cNvSpPr>
          <p:nvPr>
            <p:ph idx="1"/>
          </p:nvPr>
        </p:nvSpPr>
        <p:spPr/>
        <p:txBody>
          <a:bodyPr/>
          <a:lstStyle/>
          <a:p>
            <a:endParaRPr lang="en-US"/>
          </a:p>
        </p:txBody>
      </p:sp>
      <p:pic>
        <p:nvPicPr>
          <p:cNvPr id="3074" name="Picture 2" descr="Image result for structure of introductory para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10515600" cy="4562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971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Image resu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599" cy="4880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08415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descr="Image result for structure of introductory para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600" cy="4621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7190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Body Paragraph  (BP) –2 </a:t>
            </a:r>
            <a:endParaRPr lang="en-US" dirty="0"/>
          </a:p>
        </p:txBody>
      </p:sp>
      <p:sp>
        <p:nvSpPr>
          <p:cNvPr id="3" name="Content Placeholder 2"/>
          <p:cNvSpPr>
            <a:spLocks noGrp="1"/>
          </p:cNvSpPr>
          <p:nvPr>
            <p:ph idx="1"/>
          </p:nvPr>
        </p:nvSpPr>
        <p:spPr/>
        <p:txBody>
          <a:bodyPr>
            <a:normAutofit lnSpcReduction="10000"/>
          </a:bodyPr>
          <a:lstStyle/>
          <a:p>
            <a:pPr algn="just"/>
            <a:r>
              <a:rPr lang="en-US" sz="4400" dirty="0" smtClean="0">
                <a:solidFill>
                  <a:srgbClr val="FF0000"/>
                </a:solidFill>
              </a:rPr>
              <a:t>The one and only aim of BP to develop the thesis statement (thesis development)</a:t>
            </a:r>
          </a:p>
          <a:p>
            <a:pPr algn="just"/>
            <a:r>
              <a:rPr lang="en-US" altLang="en-US" sz="4400" dirty="0"/>
              <a:t>The body paragraphs in your essay support the main idea in your thesis statement by breaking it down into smaller ideas or subtopics.  Ideas in your paragraphs should relate back to the thesis statement. </a:t>
            </a:r>
          </a:p>
          <a:p>
            <a:endParaRPr lang="en-US" dirty="0"/>
          </a:p>
        </p:txBody>
      </p:sp>
    </p:spTree>
    <p:extLst>
      <p:ext uri="{BB962C8B-B14F-4D97-AF65-F5344CB8AC3E}">
        <p14:creationId xmlns:p14="http://schemas.microsoft.com/office/powerpoint/2010/main" val="32464679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Concluding Paragraph (CP) –3 </a:t>
            </a:r>
            <a:endParaRPr lang="en-US" dirty="0"/>
          </a:p>
        </p:txBody>
      </p:sp>
      <p:sp>
        <p:nvSpPr>
          <p:cNvPr id="3" name="Content Placeholder 2"/>
          <p:cNvSpPr>
            <a:spLocks noGrp="1"/>
          </p:cNvSpPr>
          <p:nvPr>
            <p:ph idx="1"/>
          </p:nvPr>
        </p:nvSpPr>
        <p:spPr>
          <a:xfrm>
            <a:off x="365760" y="1378634"/>
            <a:ext cx="11826240" cy="5359791"/>
          </a:xfrm>
        </p:spPr>
        <p:txBody>
          <a:bodyPr>
            <a:noAutofit/>
          </a:bodyPr>
          <a:lstStyle/>
          <a:p>
            <a:pPr algn="just"/>
            <a:r>
              <a:rPr lang="en-US" sz="3200" dirty="0" smtClean="0">
                <a:solidFill>
                  <a:srgbClr val="FF0000"/>
                </a:solidFill>
              </a:rPr>
              <a:t>What the CP must not do:</a:t>
            </a:r>
          </a:p>
          <a:p>
            <a:pPr algn="just"/>
            <a:r>
              <a:rPr lang="en-US" sz="3200" dirty="0" smtClean="0"/>
              <a:t>1. development of a new idea not introduced in the body</a:t>
            </a:r>
          </a:p>
          <a:p>
            <a:pPr algn="just"/>
            <a:r>
              <a:rPr lang="en-US" sz="3200" dirty="0" smtClean="0"/>
              <a:t>2. re-writing of the introduction and body of the essay</a:t>
            </a:r>
          </a:p>
          <a:p>
            <a:pPr marL="0" indent="0" algn="just">
              <a:buNone/>
            </a:pPr>
            <a:r>
              <a:rPr lang="en-US" sz="3200" dirty="0" smtClean="0">
                <a:solidFill>
                  <a:srgbClr val="00B050"/>
                </a:solidFill>
              </a:rPr>
              <a:t>What does it do?</a:t>
            </a:r>
          </a:p>
          <a:p>
            <a:pPr marL="514350" indent="-514350" algn="just">
              <a:buAutoNum type="arabicPeriod"/>
            </a:pPr>
            <a:r>
              <a:rPr lang="en-US" sz="3200" dirty="0" smtClean="0"/>
              <a:t>re-states the thesis of the essay</a:t>
            </a:r>
          </a:p>
          <a:p>
            <a:pPr marL="514350" indent="-514350" algn="just">
              <a:buAutoNum type="arabicPeriod"/>
            </a:pPr>
            <a:r>
              <a:rPr lang="en-US" sz="3200" dirty="0" smtClean="0"/>
              <a:t>Summarizes the body of the essay (a recap of the ‘top stories’)</a:t>
            </a:r>
          </a:p>
          <a:p>
            <a:pPr marL="514350" indent="-514350" algn="just">
              <a:buAutoNum type="arabicPeriod"/>
            </a:pPr>
            <a:r>
              <a:rPr lang="en-US" sz="3200" dirty="0" smtClean="0"/>
              <a:t>Provides writer’s final remark: suggestion, recommendation, solutions, …</a:t>
            </a:r>
          </a:p>
          <a:p>
            <a:pPr marL="0" indent="0" algn="just">
              <a:buNone/>
            </a:pPr>
            <a:r>
              <a:rPr lang="en-US" sz="3200" dirty="0" smtClean="0"/>
              <a:t>NB: The CP is a miniature essay (it has its introduction, boy and conclusion)</a:t>
            </a:r>
            <a:endParaRPr lang="en-US" sz="3200" dirty="0"/>
          </a:p>
        </p:txBody>
      </p:sp>
    </p:spTree>
    <p:extLst>
      <p:ext uri="{BB962C8B-B14F-4D97-AF65-F5344CB8AC3E}">
        <p14:creationId xmlns:p14="http://schemas.microsoft.com/office/powerpoint/2010/main" val="92598223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Signaling the end of an essay… </a:t>
            </a:r>
            <a:endParaRPr lang="en-US" dirty="0"/>
          </a:p>
        </p:txBody>
      </p:sp>
      <p:sp>
        <p:nvSpPr>
          <p:cNvPr id="3" name="Content Placeholder 2"/>
          <p:cNvSpPr>
            <a:spLocks noGrp="1"/>
          </p:cNvSpPr>
          <p:nvPr>
            <p:ph idx="1"/>
          </p:nvPr>
        </p:nvSpPr>
        <p:spPr/>
        <p:txBody>
          <a:bodyPr/>
          <a:lstStyle/>
          <a:p>
            <a:r>
              <a:rPr lang="en-US" dirty="0" smtClean="0"/>
              <a:t>All in all, </a:t>
            </a:r>
          </a:p>
          <a:p>
            <a:r>
              <a:rPr lang="en-US" dirty="0" smtClean="0"/>
              <a:t>in conclusion,</a:t>
            </a:r>
          </a:p>
          <a:p>
            <a:r>
              <a:rPr lang="en-US" dirty="0" smtClean="0"/>
              <a:t>To end</a:t>
            </a:r>
          </a:p>
          <a:p>
            <a:r>
              <a:rPr lang="en-US" dirty="0" smtClean="0"/>
              <a:t>Indeed, the paper has focused on the benefits on being a student in KNUST. </a:t>
            </a:r>
          </a:p>
          <a:p>
            <a:r>
              <a:rPr lang="en-US" dirty="0" smtClean="0"/>
              <a:t>…</a:t>
            </a:r>
            <a:endParaRPr lang="en-US" dirty="0"/>
          </a:p>
        </p:txBody>
      </p:sp>
    </p:spTree>
    <p:extLst>
      <p:ext uri="{BB962C8B-B14F-4D97-AF65-F5344CB8AC3E}">
        <p14:creationId xmlns:p14="http://schemas.microsoft.com/office/powerpoint/2010/main" val="17338513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5825" y="365125"/>
            <a:ext cx="10515600" cy="6176352"/>
          </a:xfrm>
        </p:spPr>
        <p:txBody>
          <a:bodyPr>
            <a:normAutofit/>
          </a:bodyPr>
          <a:lstStyle/>
          <a:p>
            <a:pPr algn="ctr"/>
            <a:r>
              <a:rPr lang="en-US" sz="8800" dirty="0" smtClean="0">
                <a:solidFill>
                  <a:srgbClr val="0070C0"/>
                </a:solidFill>
              </a:rPr>
              <a:t>Paragraph Analysis </a:t>
            </a:r>
            <a:endParaRPr lang="en-US" sz="8800" dirty="0">
              <a:solidFill>
                <a:srgbClr val="0070C0"/>
              </a:solidFill>
            </a:endParaRPr>
          </a:p>
        </p:txBody>
      </p:sp>
    </p:spTree>
    <p:extLst>
      <p:ext uri="{BB962C8B-B14F-4D97-AF65-F5344CB8AC3E}">
        <p14:creationId xmlns:p14="http://schemas.microsoft.com/office/powerpoint/2010/main" val="324776940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07540"/>
          </a:xfrm>
        </p:spPr>
        <p:txBody>
          <a:bodyPr/>
          <a:lstStyle/>
          <a:p>
            <a:pPr algn="just"/>
            <a:r>
              <a:rPr lang="en-GB" b="1" dirty="0"/>
              <a:t>Read the following paragraphs carefully and analyse them into topic sentence, major supporting, minor supporting and concluding sentences. Use the sentence numbers in your analysis; do not write the entire sentence.</a:t>
            </a:r>
            <a:r>
              <a:rPr lang="en-US" dirty="0"/>
              <a:t/>
            </a:r>
            <a:br>
              <a:rPr lang="en-US" dirty="0"/>
            </a:br>
            <a:endParaRPr lang="en-US" dirty="0"/>
          </a:p>
        </p:txBody>
      </p:sp>
    </p:spTree>
    <p:extLst>
      <p:ext uri="{BB962C8B-B14F-4D97-AF65-F5344CB8AC3E}">
        <p14:creationId xmlns:p14="http://schemas.microsoft.com/office/powerpoint/2010/main" val="16909457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629104" cy="2387600"/>
          </a:xfrm>
        </p:spPr>
        <p:txBody>
          <a:bodyPr/>
          <a:lstStyle/>
          <a:p>
            <a:endParaRPr lang="en-US"/>
          </a:p>
        </p:txBody>
      </p:sp>
      <p:sp>
        <p:nvSpPr>
          <p:cNvPr id="4" name="Rectangle 3"/>
          <p:cNvSpPr/>
          <p:nvPr/>
        </p:nvSpPr>
        <p:spPr>
          <a:xfrm>
            <a:off x="263236" y="96982"/>
            <a:ext cx="11707091" cy="6546664"/>
          </a:xfrm>
          <a:prstGeom prst="rect">
            <a:avLst/>
          </a:prstGeom>
        </p:spPr>
        <p:txBody>
          <a:bodyPr wrap="square">
            <a:spAutoFit/>
          </a:bodyPr>
          <a:lstStyle/>
          <a:p>
            <a:pPr algn="just">
              <a:lnSpc>
                <a:spcPct val="107000"/>
              </a:lnSpc>
              <a:spcAft>
                <a:spcPts val="800"/>
              </a:spcAft>
            </a:pPr>
            <a:r>
              <a:rPr lang="en-US" sz="2800" baseline="30000" smtClean="0">
                <a:effectLst/>
                <a:latin typeface="Calibri" panose="020F0502020204030204" pitchFamily="34" charset="0"/>
                <a:ea typeface="Calibri" panose="020F0502020204030204" pitchFamily="34" charset="0"/>
                <a:cs typeface="Times New Roman" panose="02020603050405020304" pitchFamily="18" charset="0"/>
              </a:rPr>
              <a:t>1</a:t>
            </a:r>
            <a:r>
              <a:rPr lang="en-US" sz="2800" smtClean="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PERIOD BETWEEN 1972 AND 1982 WAS THE DARKEST IN GHANA’S POST-INDEPENDENCE HISTORY. </a:t>
            </a:r>
            <a:r>
              <a:rPr lang="en-US" sz="2800" baseline="30000" smtClean="0">
                <a:effectLst/>
                <a:latin typeface="Calibri" panose="020F0502020204030204" pitchFamily="34" charset="0"/>
                <a:ea typeface="Calibri" panose="020F0502020204030204" pitchFamily="34" charset="0"/>
                <a:cs typeface="Times New Roman" panose="02020603050405020304" pitchFamily="18" charset="0"/>
              </a:rPr>
              <a:t>2</a:t>
            </a:r>
            <a:r>
              <a:rPr lang="en-US" sz="2800" b="1" smtClean="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First, it was characterized by political instability</a:t>
            </a:r>
            <a:r>
              <a:rPr lang="en-US" sz="2800" smtClean="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baseline="30000" smtClean="0">
                <a:effectLst/>
                <a:latin typeface="Calibri" panose="020F0502020204030204" pitchFamily="34" charset="0"/>
                <a:ea typeface="Calibri" panose="020F0502020204030204" pitchFamily="34" charset="0"/>
                <a:cs typeface="Times New Roman" panose="02020603050405020304" pitchFamily="18" charset="0"/>
              </a:rPr>
              <a:t>3</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There were as many as five change of government within this period –N. R. C. (1972), S. M. C. I (1975), S. M. C. II (1978), A. F. R. C. (1979), P. N. P. (1979), P. N. D. C. (1981).</a:t>
            </a:r>
            <a:r>
              <a:rPr lang="en-US" sz="2800" smtClean="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baseline="30000" smtClean="0">
                <a:effectLst/>
                <a:latin typeface="Calibri" panose="020F0502020204030204" pitchFamily="34" charset="0"/>
                <a:ea typeface="Calibri" panose="020F0502020204030204" pitchFamily="34" charset="0"/>
                <a:cs typeface="Times New Roman" panose="02020603050405020304" pitchFamily="18" charset="0"/>
              </a:rPr>
              <a:t>4</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 addition, political rulership changed frequently between different forms of military dictatorship and totalitarianism and liberal democracy.</a:t>
            </a:r>
            <a:r>
              <a:rPr lang="en-US" sz="2800" smtClean="0">
                <a:effectLst/>
                <a:latin typeface="Calibri" panose="020F0502020204030204" pitchFamily="34" charset="0"/>
                <a:ea typeface="Calibri" panose="020F0502020204030204" pitchFamily="34" charset="0"/>
                <a:cs typeface="Times New Roman" panose="02020603050405020304" pitchFamily="18" charset="0"/>
              </a:rPr>
              <a:t> </a:t>
            </a:r>
            <a:r>
              <a:rPr lang="en-US" sz="2800" baseline="30000" smtClean="0">
                <a:effectLst/>
                <a:latin typeface="Calibri" panose="020F0502020204030204" pitchFamily="34" charset="0"/>
                <a:ea typeface="Calibri" panose="020F0502020204030204" pitchFamily="34" charset="0"/>
                <a:cs typeface="Times New Roman" panose="02020603050405020304" pitchFamily="18" charset="0"/>
              </a:rPr>
              <a:t>5</a:t>
            </a:r>
            <a:r>
              <a:rPr lang="en-US" sz="2800" b="1" smtClean="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The economy of the country suffered a heavy setback during this period</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a:t>
            </a:r>
            <a:r>
              <a:rPr lang="en-US" sz="2800" b="1" baseline="30000" smtClean="0">
                <a:effectLst/>
                <a:latin typeface="Calibri" panose="020F0502020204030204" pitchFamily="34" charset="0"/>
                <a:ea typeface="Calibri" panose="020F0502020204030204" pitchFamily="34" charset="0"/>
                <a:cs typeface="Times New Roman" panose="02020603050405020304" pitchFamily="18" charset="0"/>
              </a:rPr>
              <a:t>6</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Inflation was higher than it had ever been. </a:t>
            </a:r>
            <a:r>
              <a:rPr lang="en-US" sz="2800" b="1" baseline="30000" smtClean="0">
                <a:effectLst/>
                <a:latin typeface="Calibri" panose="020F0502020204030204" pitchFamily="34" charset="0"/>
                <a:ea typeface="Calibri" panose="020F0502020204030204" pitchFamily="34" charset="0"/>
                <a:cs typeface="Times New Roman" panose="02020603050405020304" pitchFamily="18" charset="0"/>
              </a:rPr>
              <a:t>7</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Per capita income was lowest, and there was a serious scarcity of everyday essential commodities. </a:t>
            </a:r>
            <a:r>
              <a:rPr lang="en-US" sz="2800" b="1" baseline="30000" smtClean="0">
                <a:effectLst/>
                <a:latin typeface="Calibri" panose="020F0502020204030204" pitchFamily="34" charset="0"/>
                <a:ea typeface="Calibri" panose="020F0502020204030204" pitchFamily="34" charset="0"/>
                <a:cs typeface="Times New Roman" panose="02020603050405020304" pitchFamily="18" charset="0"/>
              </a:rPr>
              <a:t>8</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Further, economic malpractice reached an alarming height. </a:t>
            </a:r>
            <a:r>
              <a:rPr lang="en-US" sz="2800" b="1" baseline="30000" smtClean="0">
                <a:effectLst/>
                <a:latin typeface="Calibri" panose="020F0502020204030204" pitchFamily="34" charset="0"/>
                <a:ea typeface="Calibri" panose="020F0502020204030204" pitchFamily="34" charset="0"/>
                <a:cs typeface="Times New Roman" panose="02020603050405020304" pitchFamily="18" charset="0"/>
              </a:rPr>
              <a:t>9</a:t>
            </a:r>
            <a:r>
              <a:rPr lang="en-US" sz="2800" b="1" smtClean="0">
                <a:solidFill>
                  <a:srgbClr val="FFC000"/>
                </a:solidFill>
                <a:effectLst/>
                <a:latin typeface="Calibri" panose="020F0502020204030204" pitchFamily="34" charset="0"/>
                <a:ea typeface="Calibri" panose="020F0502020204030204" pitchFamily="34" charset="0"/>
                <a:cs typeface="Times New Roman" panose="02020603050405020304" pitchFamily="18" charset="0"/>
              </a:rPr>
              <a:t>The depression of the period was manifested at the social level also.</a:t>
            </a:r>
            <a:r>
              <a:rPr lang="en-US" sz="2800" smtClean="0">
                <a:effectLst/>
                <a:latin typeface="Calibri" panose="020F0502020204030204" pitchFamily="34" charset="0"/>
                <a:ea typeface="Calibri" panose="020F0502020204030204" pitchFamily="34" charset="0"/>
                <a:cs typeface="Times New Roman" panose="02020603050405020304" pitchFamily="18" charset="0"/>
              </a:rPr>
              <a:t> </a:t>
            </a:r>
            <a:r>
              <a:rPr lang="en-US" sz="2800" baseline="30000" smtClean="0">
                <a:effectLst/>
                <a:latin typeface="Calibri" panose="020F0502020204030204" pitchFamily="34" charset="0"/>
                <a:ea typeface="Calibri" panose="020F0502020204030204" pitchFamily="34" charset="0"/>
                <a:cs typeface="Times New Roman" panose="02020603050405020304" pitchFamily="18" charset="0"/>
              </a:rPr>
              <a:t>10</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Hard-work gave way to theft and laziness; and prostitution aggravated. </a:t>
            </a:r>
            <a:r>
              <a:rPr lang="en-US" sz="2800" b="1" baseline="30000" smtClean="0">
                <a:latin typeface="Calibri" panose="020F0502020204030204" pitchFamily="34" charset="0"/>
                <a:ea typeface="Calibri" panose="020F0502020204030204" pitchFamily="34" charset="0"/>
                <a:cs typeface="Times New Roman" panose="02020603050405020304" pitchFamily="18" charset="0"/>
              </a:rPr>
              <a:t>11</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Honesty gave way to deceit. </a:t>
            </a:r>
            <a:r>
              <a:rPr lang="en-US" sz="2800" b="1" baseline="30000" smtClean="0">
                <a:effectLst/>
                <a:latin typeface="Calibri" panose="020F0502020204030204" pitchFamily="34" charset="0"/>
                <a:ea typeface="Calibri" panose="020F0502020204030204" pitchFamily="34" charset="0"/>
                <a:cs typeface="Times New Roman" panose="02020603050405020304" pitchFamily="18" charset="0"/>
              </a:rPr>
              <a:t>12</a:t>
            </a:r>
            <a:r>
              <a:rPr lang="en-US" sz="2800" b="1"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Ghanaians were taught disobedience, and hate the owners of property and to punish them for acquiring property.</a:t>
            </a:r>
            <a:r>
              <a:rPr lang="en-US" sz="2800" smtClean="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  (Source: Sekyi-Baidoo, 2003)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872691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4745"/>
            <a:ext cx="11999742" cy="6541477"/>
          </a:xfrm>
        </p:spPr>
        <p:txBody>
          <a:bodyPr>
            <a:noAutofit/>
          </a:bodyPr>
          <a:lstStyle/>
          <a:p>
            <a:pPr algn="just"/>
            <a:r>
              <a:rPr lang="en-GB" sz="2800" b="1" baseline="30000" dirty="0" smtClean="0"/>
              <a:t>1</a:t>
            </a:r>
            <a:r>
              <a:rPr lang="en-GB" sz="2800" b="1" dirty="0" smtClean="0"/>
              <a:t>Two </a:t>
            </a:r>
            <a:r>
              <a:rPr lang="en-GB" sz="2800" b="1" dirty="0"/>
              <a:t>main categories of people exist in this world –troublemakers and trouble-shooters. </a:t>
            </a:r>
            <a:r>
              <a:rPr lang="en-GB" sz="2800" b="1" baseline="30000" dirty="0"/>
              <a:t>2</a:t>
            </a:r>
            <a:r>
              <a:rPr lang="en-GB" sz="2800" b="1" dirty="0"/>
              <a:t>The former are people who mastermind all the chaos and atrocities in this world.</a:t>
            </a:r>
            <a:r>
              <a:rPr lang="en-GB" sz="2800" b="1" baseline="30000" dirty="0"/>
              <a:t>3</a:t>
            </a:r>
            <a:r>
              <a:rPr lang="en-GB" sz="2800" b="1" dirty="0"/>
              <a:t> Talk of the two world wars and you will have them around their remote and immediate causes.</a:t>
            </a:r>
            <a:r>
              <a:rPr lang="en-GB" sz="2800" b="1" baseline="30000" dirty="0"/>
              <a:t>4</a:t>
            </a:r>
            <a:r>
              <a:rPr lang="en-GB" sz="2800" b="1" dirty="0"/>
              <a:t> All the things in this world which are anti-human are the works of their hands, heads and hearts. </a:t>
            </a:r>
            <a:r>
              <a:rPr lang="en-GB" sz="2800" b="1" baseline="30000" dirty="0"/>
              <a:t>5</a:t>
            </a:r>
            <a:r>
              <a:rPr lang="en-GB" sz="2800" b="1" dirty="0"/>
              <a:t>Examples of these ungodly activities are human tracking, child abuse, same-sex intercourse, cyber crimes, armed robbery and the likes. </a:t>
            </a:r>
            <a:r>
              <a:rPr lang="en-GB" sz="2800" b="1" baseline="30000" dirty="0"/>
              <a:t>6</a:t>
            </a:r>
            <a:r>
              <a:rPr lang="en-GB" sz="2800" b="1" dirty="0"/>
              <a:t>It is surprising that even though these people are God’s creations, they rather do not have the loving spirit of God in them. </a:t>
            </a:r>
            <a:r>
              <a:rPr lang="en-GB" sz="2800" b="1" baseline="30000" dirty="0"/>
              <a:t>7</a:t>
            </a:r>
            <a:r>
              <a:rPr lang="en-GB" sz="2800" b="1" dirty="0"/>
              <a:t>But thank God for the existence of the other category of people who aims at transforming what the troublemakers have deformed. </a:t>
            </a:r>
            <a:r>
              <a:rPr lang="en-GB" sz="2800" b="1" baseline="30000" dirty="0"/>
              <a:t>8</a:t>
            </a:r>
            <a:r>
              <a:rPr lang="en-GB" sz="2800" b="1" dirty="0"/>
              <a:t>For instance, when the troublemakers created virus, they manufactured anti-virus. </a:t>
            </a:r>
            <a:r>
              <a:rPr lang="en-GB" sz="2800" b="1" baseline="30000" dirty="0"/>
              <a:t>9</a:t>
            </a:r>
            <a:r>
              <a:rPr lang="en-GB" sz="2800" b="1" dirty="0"/>
              <a:t>They help create home for refugees who, due to the nefarious activities of the troublemakers, are homeless </a:t>
            </a:r>
            <a:r>
              <a:rPr lang="en-GB" sz="2800" b="1" baseline="30000" dirty="0"/>
              <a:t>10</a:t>
            </a:r>
            <a:r>
              <a:rPr lang="en-GB" sz="2800" b="1" dirty="0"/>
              <a:t>Without trouble-shooters, there will be no ‘heavens’ for those who have been made victims in the ‘hells’ created by the </a:t>
            </a:r>
            <a:r>
              <a:rPr lang="en-GB" sz="2800" b="1" dirty="0" smtClean="0"/>
              <a:t>troublemakers</a:t>
            </a:r>
            <a:r>
              <a:rPr lang="en-GB" sz="2800" b="1" dirty="0"/>
              <a:t>. </a:t>
            </a:r>
            <a:r>
              <a:rPr lang="en-GB" sz="2800" b="1" baseline="30000" dirty="0"/>
              <a:t>11</a:t>
            </a:r>
            <a:r>
              <a:rPr lang="en-GB" sz="2800" b="1" dirty="0"/>
              <a:t>Really, they make bitter life better to people. </a:t>
            </a:r>
            <a:r>
              <a:rPr lang="en-GB" sz="2800" b="1" baseline="30000" dirty="0"/>
              <a:t>12</a:t>
            </a:r>
            <a:r>
              <a:rPr lang="en-GB" sz="2800" b="1" dirty="0"/>
              <a:t>Indeed, it is always good to have an eraser wherever there are pencils. </a:t>
            </a:r>
            <a:r>
              <a:rPr lang="en-US" sz="2800" b="1" dirty="0"/>
              <a:t/>
            </a:r>
            <a:br>
              <a:rPr lang="en-US" sz="2800" b="1" dirty="0"/>
            </a:br>
            <a:endParaRPr lang="en-US" sz="2800" b="1" dirty="0"/>
          </a:p>
        </p:txBody>
      </p:sp>
    </p:spTree>
    <p:extLst>
      <p:ext uri="{BB962C8B-B14F-4D97-AF65-F5344CB8AC3E}">
        <p14:creationId xmlns:p14="http://schemas.microsoft.com/office/powerpoint/2010/main" val="3625655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813" y="365125"/>
            <a:ext cx="11690252" cy="6373300"/>
          </a:xfrm>
        </p:spPr>
        <p:txBody>
          <a:bodyPr>
            <a:noAutofit/>
          </a:bodyPr>
          <a:lstStyle/>
          <a:p>
            <a:pPr algn="just">
              <a:lnSpc>
                <a:spcPct val="100000"/>
              </a:lnSpc>
            </a:pPr>
            <a:r>
              <a:rPr lang="en-US" sz="2800" b="1" dirty="0"/>
              <a:t/>
            </a:r>
            <a:br>
              <a:rPr lang="en-US" sz="2800" b="1" dirty="0"/>
            </a:br>
            <a:r>
              <a:rPr lang="en-US" sz="2800" b="1" baseline="30000" dirty="0"/>
              <a:t>1</a:t>
            </a:r>
            <a:r>
              <a:rPr lang="en-US" sz="2800" b="1" dirty="0"/>
              <a:t>Some scholars maintain that there are two broad causes of climate change. </a:t>
            </a:r>
            <a:r>
              <a:rPr lang="en-US" sz="2800" b="1" baseline="30000" dirty="0"/>
              <a:t>2</a:t>
            </a:r>
            <a:r>
              <a:rPr lang="en-US" sz="2800" b="1" dirty="0"/>
              <a:t>Truly, the earth’s climate is influenced and changed through natural causes.  </a:t>
            </a:r>
            <a:r>
              <a:rPr lang="en-US" sz="2800" b="1" baseline="30000" dirty="0"/>
              <a:t>3</a:t>
            </a:r>
            <a:r>
              <a:rPr lang="en-US" sz="2800" b="1" dirty="0"/>
              <a:t>When volcano erupts, it throws out large volumes of </a:t>
            </a:r>
            <a:r>
              <a:rPr lang="en-US" sz="2800" b="1" dirty="0" err="1"/>
              <a:t>sulphur</a:t>
            </a:r>
            <a:r>
              <a:rPr lang="en-US" sz="2800" b="1" dirty="0"/>
              <a:t> dioxide (SO</a:t>
            </a:r>
            <a:r>
              <a:rPr lang="en-US" sz="2800" b="1" baseline="30000" dirty="0"/>
              <a:t>2</a:t>
            </a:r>
            <a:r>
              <a:rPr lang="en-US" sz="2800" b="1" dirty="0"/>
              <a:t>), water </a:t>
            </a:r>
            <a:r>
              <a:rPr lang="en-US" sz="2800" b="1" dirty="0" err="1"/>
              <a:t>vapour</a:t>
            </a:r>
            <a:r>
              <a:rPr lang="en-US" sz="2800" b="1" dirty="0"/>
              <a:t>, dust, and ash into the atmosphere. </a:t>
            </a:r>
            <a:r>
              <a:rPr lang="en-US" sz="2800" b="1" baseline="30000" dirty="0"/>
              <a:t>4</a:t>
            </a:r>
            <a:r>
              <a:rPr lang="en-US" sz="2800" b="1" dirty="0"/>
              <a:t>Although, the volcanic activity may last for a few days, the large volumes of gases and ash can influence climatic patterns for years. </a:t>
            </a:r>
            <a:r>
              <a:rPr lang="en-US" sz="2800" b="1" baseline="30000" dirty="0"/>
              <a:t>5</a:t>
            </a:r>
            <a:r>
              <a:rPr lang="en-US" sz="2800" b="1" dirty="0"/>
              <a:t>Millions of </a:t>
            </a:r>
            <a:r>
              <a:rPr lang="en-US" sz="2800" b="1" dirty="0" err="1"/>
              <a:t>tonnes</a:t>
            </a:r>
            <a:r>
              <a:rPr lang="en-US" sz="2800" b="1" dirty="0"/>
              <a:t> of </a:t>
            </a:r>
            <a:r>
              <a:rPr lang="en-US" sz="2800" b="1" dirty="0" err="1"/>
              <a:t>sulphur</a:t>
            </a:r>
            <a:r>
              <a:rPr lang="en-US" sz="2800" b="1" dirty="0"/>
              <a:t> dioxide gas can reach the upper levels of the atmosphere (called the atmosphere) from a major eruption. </a:t>
            </a:r>
            <a:r>
              <a:rPr lang="en-US" sz="2800" b="1" baseline="30000" dirty="0"/>
              <a:t>6</a:t>
            </a:r>
            <a:r>
              <a:rPr lang="en-US" sz="2800" b="1" dirty="0"/>
              <a:t>The gases and dust particles partially block the incoming rays of the sun, leading to cooling. </a:t>
            </a:r>
            <a:r>
              <a:rPr lang="en-US" sz="2800" b="1" baseline="30000" dirty="0"/>
              <a:t>7 </a:t>
            </a:r>
            <a:r>
              <a:rPr lang="en-US" sz="2800" b="1" dirty="0"/>
              <a:t>But the world climate is not only changing through a natural dynamic cycle but also what the world is worried about is that the change that is occurring today has been speeded up by human activities. </a:t>
            </a:r>
            <a:r>
              <a:rPr lang="en-US" sz="2800" b="1" baseline="30000" dirty="0"/>
              <a:t>8</a:t>
            </a:r>
            <a:r>
              <a:rPr lang="en-US" sz="2800" b="1" dirty="0"/>
              <a:t>So, there are three types of human activities which contribute to climate change. </a:t>
            </a:r>
            <a:r>
              <a:rPr lang="en-US" sz="2800" b="1" baseline="30000" dirty="0"/>
              <a:t>9</a:t>
            </a:r>
            <a:r>
              <a:rPr lang="en-US" sz="2800" b="1" dirty="0"/>
              <a:t>Industrialization is listed by scientists as the most significant human cause of climate change.</a:t>
            </a:r>
            <a:r>
              <a:rPr lang="en-US" sz="2800" b="1" baseline="30000" dirty="0"/>
              <a:t>10</a:t>
            </a:r>
            <a:r>
              <a:rPr lang="en-US" sz="2800" b="1" dirty="0"/>
              <a:t>Indeed, climate change can be said to be a negative consequence of both human-related and natural factors.</a:t>
            </a:r>
            <a:br>
              <a:rPr lang="en-US" sz="2800" b="1" dirty="0"/>
            </a:br>
            <a:r>
              <a:rPr lang="en-US" sz="2800" b="1" dirty="0"/>
              <a:t> </a:t>
            </a:r>
            <a:br>
              <a:rPr lang="en-US" sz="2800" b="1" dirty="0"/>
            </a:br>
            <a:endParaRPr lang="en-US" sz="2800" b="1" dirty="0"/>
          </a:p>
        </p:txBody>
      </p:sp>
    </p:spTree>
    <p:extLst>
      <p:ext uri="{BB962C8B-B14F-4D97-AF65-F5344CB8AC3E}">
        <p14:creationId xmlns:p14="http://schemas.microsoft.com/office/powerpoint/2010/main" val="36044437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354" y="0"/>
            <a:ext cx="11535508" cy="6246055"/>
          </a:xfrm>
        </p:spPr>
        <p:txBody>
          <a:bodyPr>
            <a:noAutofit/>
          </a:bodyPr>
          <a:lstStyle/>
          <a:p>
            <a:pPr algn="just"/>
            <a:r>
              <a:rPr lang="en-GB" sz="2800" baseline="30000" dirty="0"/>
              <a:t>1</a:t>
            </a:r>
            <a:r>
              <a:rPr lang="en-GB" sz="2800" dirty="0"/>
              <a:t>The discovery of oil in Ghana in commercial quantities is a blessing to all. </a:t>
            </a:r>
            <a:r>
              <a:rPr lang="en-GB" sz="2800" baseline="30000" dirty="0"/>
              <a:t>2</a:t>
            </a:r>
            <a:r>
              <a:rPr lang="en-GB" sz="2800" dirty="0"/>
              <a:t>First, it has provided employment opportunities for many people. </a:t>
            </a:r>
            <a:r>
              <a:rPr lang="en-GB" sz="2800" baseline="30000" dirty="0"/>
              <a:t>3</a:t>
            </a:r>
            <a:r>
              <a:rPr lang="en-GB" sz="2800" dirty="0"/>
              <a:t>Many skilled professionals such as engineers, accountants and managers, as well many unskilled workers such as labourers and cleaners are gainfully employed in the various oil drilling companies. </a:t>
            </a:r>
            <a:r>
              <a:rPr lang="en-GB" sz="2800" baseline="30000" dirty="0"/>
              <a:t>4</a:t>
            </a:r>
            <a:r>
              <a:rPr lang="en-GB" sz="2800" dirty="0"/>
              <a:t>Apart from these categories of people who are directly employed in the oil companies, private businessmen, traders and wayside hawkers alike are also indirectly involved in the oil business. </a:t>
            </a:r>
            <a:r>
              <a:rPr lang="en-GB" sz="2800" baseline="30000" dirty="0"/>
              <a:t>5</a:t>
            </a:r>
            <a:r>
              <a:rPr lang="en-GB" sz="2800" dirty="0"/>
              <a:t>Second, the drilling of oil in Ghana is a major foreign exchange earner for the country. </a:t>
            </a:r>
            <a:r>
              <a:rPr lang="en-GB" sz="2800" baseline="30000" dirty="0"/>
              <a:t>6</a:t>
            </a:r>
            <a:r>
              <a:rPr lang="en-GB" sz="2800" dirty="0"/>
              <a:t>Like gold, cocoa and bauxite, the oil that is sent out of the country brings in substantial revenue which is used in infrastructural development such as building of schools, hospitals, and roads. </a:t>
            </a:r>
            <a:r>
              <a:rPr lang="en-GB" sz="2800" baseline="30000" dirty="0"/>
              <a:t>7</a:t>
            </a:r>
            <a:r>
              <a:rPr lang="en-GB" sz="2800" dirty="0"/>
              <a:t>In addition, the discovery of oil in Ghana has made us less-dependent on other oil-producing countries for our petroleum product needs, thereby saving us costs. </a:t>
            </a:r>
            <a:r>
              <a:rPr lang="en-GB" sz="2800" baseline="30000" dirty="0"/>
              <a:t>8</a:t>
            </a:r>
            <a:r>
              <a:rPr lang="en-GB" sz="2800" dirty="0"/>
              <a:t>Finally, every worker employed directly or indirectly in the oil industry is required by law to pay tax. </a:t>
            </a:r>
            <a:r>
              <a:rPr lang="en-GB" sz="2800" baseline="30000" dirty="0"/>
              <a:t>9</a:t>
            </a:r>
            <a:r>
              <a:rPr lang="en-GB" sz="2800" dirty="0"/>
              <a:t>Such taxes also help in the growth of the economy of the country. </a:t>
            </a:r>
            <a:r>
              <a:rPr lang="en-GB" sz="2800" baseline="30000" dirty="0"/>
              <a:t>10</a:t>
            </a:r>
            <a:r>
              <a:rPr lang="en-GB" sz="2800" dirty="0"/>
              <a:t>It is therefore not surprising that all political regimes Ghana has had have made efforts to discover oil in commercial quantities.</a:t>
            </a:r>
            <a:r>
              <a:rPr lang="en-US" sz="2800" dirty="0"/>
              <a:t/>
            </a:r>
            <a:br>
              <a:rPr lang="en-US" sz="2800" dirty="0"/>
            </a:br>
            <a:endParaRPr lang="en-US" sz="2800" dirty="0"/>
          </a:p>
        </p:txBody>
      </p:sp>
    </p:spTree>
    <p:extLst>
      <p:ext uri="{BB962C8B-B14F-4D97-AF65-F5344CB8AC3E}">
        <p14:creationId xmlns:p14="http://schemas.microsoft.com/office/powerpoint/2010/main" val="19301370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812" y="365125"/>
            <a:ext cx="11802794" cy="6331097"/>
          </a:xfrm>
        </p:spPr>
        <p:txBody>
          <a:bodyPr>
            <a:noAutofit/>
          </a:bodyPr>
          <a:lstStyle/>
          <a:p>
            <a:pPr algn="just"/>
            <a:r>
              <a:rPr lang="en-GB" sz="2800" baseline="30000" dirty="0"/>
              <a:t>1</a:t>
            </a:r>
            <a:r>
              <a:rPr lang="en-GB" sz="2800" dirty="0"/>
              <a:t>The internet is one of the most useful inventions of our time but, like all useful things, its abuse can be very worrying. </a:t>
            </a:r>
            <a:r>
              <a:rPr lang="en-GB" sz="2800" baseline="30000" dirty="0"/>
              <a:t>2</a:t>
            </a:r>
            <a:r>
              <a:rPr lang="en-GB" sz="2800" dirty="0"/>
              <a:t>The World Wide Web, as it is sometimes called, serves the triple function of informing, educating and entertaining.</a:t>
            </a:r>
            <a:r>
              <a:rPr lang="en-GB" sz="2800" baseline="30000" dirty="0"/>
              <a:t>3</a:t>
            </a:r>
            <a:r>
              <a:rPr lang="en-GB" sz="2800" dirty="0"/>
              <a:t> it is easy enough to pick the latest news and other happenings around the world in real time, as well as follow events as they occur. </a:t>
            </a:r>
            <a:r>
              <a:rPr lang="en-GB" sz="2800" baseline="30000" dirty="0"/>
              <a:t>4</a:t>
            </a:r>
            <a:r>
              <a:rPr lang="en-GB" sz="2800" dirty="0"/>
              <a:t>The net also makes it possible for researchers, teachers and students to access the needed information, most of which is free. </a:t>
            </a:r>
            <a:r>
              <a:rPr lang="en-GB" sz="2800" baseline="30000" dirty="0"/>
              <a:t>5</a:t>
            </a:r>
            <a:r>
              <a:rPr lang="en-GB" sz="2800" dirty="0"/>
              <a:t>Teachers, for instance, can use information from the net to put together their teaching notes while students can also complement what they learn in class with additional information from the net. </a:t>
            </a:r>
            <a:r>
              <a:rPr lang="en-GB" sz="2800" baseline="30000" dirty="0"/>
              <a:t>6</a:t>
            </a:r>
            <a:r>
              <a:rPr lang="en-GB" sz="2800" dirty="0"/>
              <a:t>Social media like Facebook, Instagram and Twitter also help to connect people around the world to share ideas and follow their interests. </a:t>
            </a:r>
            <a:r>
              <a:rPr lang="en-GB" sz="2800" baseline="30000" dirty="0"/>
              <a:t>7</a:t>
            </a:r>
            <a:r>
              <a:rPr lang="en-GB" sz="2800" dirty="0"/>
              <a:t>The net also provides opportunities for entertainment where people can watch movies on the net and follow sporting events including soccer, which most of us are fond of. </a:t>
            </a:r>
            <a:r>
              <a:rPr lang="en-GB" sz="2800" baseline="30000" dirty="0"/>
              <a:t>8</a:t>
            </a:r>
            <a:r>
              <a:rPr lang="en-GB" sz="2800" dirty="0"/>
              <a:t>However, many people, especially young persons, can easily be influenced negatively by some of the harmful information on the net. </a:t>
            </a:r>
            <a:r>
              <a:rPr lang="en-GB" sz="2800" baseline="30000" dirty="0"/>
              <a:t>9</a:t>
            </a:r>
            <a:r>
              <a:rPr lang="en-GB" sz="2800" dirty="0"/>
              <a:t>Sadly, there are many sites that promote pornography, violence and religious radicalism. </a:t>
            </a:r>
            <a:r>
              <a:rPr lang="en-GB" sz="2800" baseline="30000" dirty="0"/>
              <a:t>10</a:t>
            </a:r>
            <a:r>
              <a:rPr lang="en-GB" sz="2800" dirty="0"/>
              <a:t>The internet may be a blessing, but we must also be mindful of the potential harm it can cause us.</a:t>
            </a:r>
            <a:r>
              <a:rPr lang="en-US" sz="2800" dirty="0"/>
              <a:t/>
            </a:r>
            <a:br>
              <a:rPr lang="en-US" sz="2800" dirty="0"/>
            </a:br>
            <a:endParaRPr lang="en-US" sz="2800" dirty="0"/>
          </a:p>
        </p:txBody>
      </p:sp>
    </p:spTree>
    <p:extLst>
      <p:ext uri="{BB962C8B-B14F-4D97-AF65-F5344CB8AC3E}">
        <p14:creationId xmlns:p14="http://schemas.microsoft.com/office/powerpoint/2010/main" val="133870628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PARAGRAPH</a:t>
            </a:r>
            <a:endParaRPr lang="en-GB" dirty="0"/>
          </a:p>
        </p:txBody>
      </p:sp>
      <p:sp>
        <p:nvSpPr>
          <p:cNvPr id="3" name="Content Placeholder 2"/>
          <p:cNvSpPr>
            <a:spLocks noGrp="1"/>
          </p:cNvSpPr>
          <p:nvPr>
            <p:ph idx="1"/>
          </p:nvPr>
        </p:nvSpPr>
        <p:spPr/>
        <p:txBody>
          <a:bodyPr/>
          <a:lstStyle/>
          <a:p>
            <a:pPr marL="514350" indent="-514350">
              <a:buAutoNum type="arabicPeriod"/>
            </a:pPr>
            <a:r>
              <a:rPr lang="en-US" sz="6000" dirty="0" smtClean="0"/>
              <a:t>Narrative </a:t>
            </a:r>
          </a:p>
          <a:p>
            <a:pPr marL="514350" indent="-514350">
              <a:buAutoNum type="arabicPeriod"/>
            </a:pPr>
            <a:r>
              <a:rPr lang="en-US" sz="6000" dirty="0" smtClean="0"/>
              <a:t>Descriptive </a:t>
            </a:r>
          </a:p>
          <a:p>
            <a:pPr marL="514350" indent="-514350">
              <a:buAutoNum type="arabicPeriod"/>
            </a:pPr>
            <a:r>
              <a:rPr lang="en-US" sz="6000" dirty="0" smtClean="0"/>
              <a:t>Expository</a:t>
            </a:r>
          </a:p>
          <a:p>
            <a:pPr marL="514350" indent="-514350">
              <a:buAutoNum type="arabicPeriod"/>
            </a:pPr>
            <a:r>
              <a:rPr lang="en-US" sz="6000" dirty="0" smtClean="0"/>
              <a:t>Argumentative</a:t>
            </a:r>
          </a:p>
          <a:p>
            <a:pPr marL="0" indent="0">
              <a:buNone/>
            </a:pPr>
            <a:endParaRPr lang="en-US" dirty="0" smtClean="0"/>
          </a:p>
          <a:p>
            <a:pPr marL="514350" indent="-514350">
              <a:buAutoNum type="arabicPeriod"/>
            </a:pPr>
            <a:endParaRPr lang="en-GB" dirty="0"/>
          </a:p>
        </p:txBody>
      </p:sp>
    </p:spTree>
    <p:extLst>
      <p:ext uri="{BB962C8B-B14F-4D97-AF65-F5344CB8AC3E}">
        <p14:creationId xmlns:p14="http://schemas.microsoft.com/office/powerpoint/2010/main" val="36128026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96524"/>
          </a:xfrm>
        </p:spPr>
        <p:txBody>
          <a:bodyPr>
            <a:normAutofit/>
          </a:bodyPr>
          <a:lstStyle/>
          <a:p>
            <a:pPr algn="ctr"/>
            <a:r>
              <a:rPr lang="en-US" sz="8800" dirty="0">
                <a:solidFill>
                  <a:srgbClr val="0070C0"/>
                </a:solidFill>
              </a:rPr>
              <a:t>Structure of an </a:t>
            </a:r>
            <a:r>
              <a:rPr lang="en-US" sz="8800" dirty="0" smtClean="0">
                <a:solidFill>
                  <a:srgbClr val="0070C0"/>
                </a:solidFill>
              </a:rPr>
              <a:t>Essay </a:t>
            </a:r>
            <a:endParaRPr lang="en-US" sz="8800" dirty="0">
              <a:solidFill>
                <a:srgbClr val="0070C0"/>
              </a:solidFill>
            </a:endParaRPr>
          </a:p>
        </p:txBody>
      </p:sp>
    </p:spTree>
    <p:extLst>
      <p:ext uri="{BB962C8B-B14F-4D97-AF65-F5344CB8AC3E}">
        <p14:creationId xmlns:p14="http://schemas.microsoft.com/office/powerpoint/2010/main" val="13336005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8000" b="1" dirty="0" smtClean="0">
                <a:solidFill>
                  <a:srgbClr val="FF0000"/>
                </a:solidFill>
              </a:rPr>
              <a:t>Structure of an Essay </a:t>
            </a:r>
            <a:endParaRPr lang="en-US" sz="8000" b="1" dirty="0">
              <a:solidFill>
                <a:srgbClr val="FF0000"/>
              </a:solidFill>
            </a:endParaRPr>
          </a:p>
        </p:txBody>
      </p:sp>
      <p:sp>
        <p:nvSpPr>
          <p:cNvPr id="3" name="Content Placeholder 2"/>
          <p:cNvSpPr>
            <a:spLocks noGrp="1"/>
          </p:cNvSpPr>
          <p:nvPr>
            <p:ph idx="1"/>
          </p:nvPr>
        </p:nvSpPr>
        <p:spPr/>
        <p:txBody>
          <a:bodyPr/>
          <a:lstStyle/>
          <a:p>
            <a:endParaRPr lang="en-US" dirty="0"/>
          </a:p>
        </p:txBody>
      </p:sp>
      <p:pic>
        <p:nvPicPr>
          <p:cNvPr id="1030" name="Picture 6" descr="Image result for structure of body para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057" y="1825624"/>
            <a:ext cx="11088914"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68448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Still in Writing stage….</a:t>
            </a:r>
            <a:endParaRPr lang="en-US" dirty="0"/>
          </a:p>
        </p:txBody>
      </p:sp>
      <p:sp>
        <p:nvSpPr>
          <p:cNvPr id="3" name="Content Placeholder 2"/>
          <p:cNvSpPr>
            <a:spLocks noGrp="1"/>
          </p:cNvSpPr>
          <p:nvPr>
            <p:ph idx="1"/>
          </p:nvPr>
        </p:nvSpPr>
        <p:spPr/>
        <p:txBody>
          <a:bodyPr>
            <a:normAutofit/>
          </a:bodyPr>
          <a:lstStyle/>
          <a:p>
            <a:pPr marL="514350" indent="-514350">
              <a:buAutoNum type="arabicPeriod"/>
            </a:pPr>
            <a:r>
              <a:rPr lang="en-US" sz="5400" dirty="0" smtClean="0"/>
              <a:t>Freewriting on the developed outline (No focus on grammar and language)</a:t>
            </a:r>
          </a:p>
          <a:p>
            <a:pPr marL="514350" indent="-514350">
              <a:buAutoNum type="arabicPeriod"/>
            </a:pPr>
            <a:r>
              <a:rPr lang="en-US" sz="5400" dirty="0" smtClean="0"/>
              <a:t>Produce a draft</a:t>
            </a:r>
          </a:p>
          <a:p>
            <a:pPr marL="514350" indent="-514350">
              <a:buAutoNum type="arabicPeriod"/>
            </a:pPr>
            <a:endParaRPr lang="en-US" sz="5400" dirty="0" smtClean="0"/>
          </a:p>
          <a:p>
            <a:pPr marL="514350" indent="-514350">
              <a:buAutoNum type="arabicPeriod"/>
            </a:pPr>
            <a:endParaRPr lang="en-US" sz="5400" dirty="0"/>
          </a:p>
        </p:txBody>
      </p:sp>
    </p:spTree>
    <p:extLst>
      <p:ext uri="{BB962C8B-B14F-4D97-AF65-F5344CB8AC3E}">
        <p14:creationId xmlns:p14="http://schemas.microsoft.com/office/powerpoint/2010/main" val="316230443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92875"/>
          </a:xfrm>
        </p:spPr>
        <p:txBody>
          <a:bodyPr>
            <a:normAutofit/>
          </a:bodyPr>
          <a:lstStyle/>
          <a:p>
            <a:pPr algn="ctr"/>
            <a:r>
              <a:rPr lang="en-US" sz="9600" b="1" dirty="0" smtClean="0"/>
              <a:t>Post-writing Stage: Editing and Proofreading  </a:t>
            </a:r>
            <a:endParaRPr lang="en-US" sz="9600" b="1" dirty="0"/>
          </a:p>
        </p:txBody>
      </p:sp>
    </p:spTree>
    <p:extLst>
      <p:ext uri="{BB962C8B-B14F-4D97-AF65-F5344CB8AC3E}">
        <p14:creationId xmlns:p14="http://schemas.microsoft.com/office/powerpoint/2010/main" val="312398846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is editing?</a:t>
            </a:r>
            <a:endParaRPr lang="en-US"/>
          </a:p>
        </p:txBody>
      </p:sp>
      <p:sp>
        <p:nvSpPr>
          <p:cNvPr id="3" name="Content Placeholder 2"/>
          <p:cNvSpPr>
            <a:spLocks noGrp="1"/>
          </p:cNvSpPr>
          <p:nvPr>
            <p:ph idx="1"/>
          </p:nvPr>
        </p:nvSpPr>
        <p:spPr/>
        <p:txBody>
          <a:bodyPr/>
          <a:lstStyle/>
          <a:p>
            <a:pPr marL="0" indent="0">
              <a:buNone/>
            </a:pPr>
            <a:r>
              <a:rPr lang="en-US" dirty="0" smtClean="0"/>
              <a:t>Another name for this is global </a:t>
            </a:r>
            <a:r>
              <a:rPr lang="en-US" dirty="0"/>
              <a:t>revision. </a:t>
            </a:r>
          </a:p>
          <a:p>
            <a:endParaRPr lang="en-US" dirty="0"/>
          </a:p>
        </p:txBody>
      </p:sp>
    </p:spTree>
    <p:extLst>
      <p:ext uri="{BB962C8B-B14F-4D97-AF65-F5344CB8AC3E}">
        <p14:creationId xmlns:p14="http://schemas.microsoft.com/office/powerpoint/2010/main" val="23060327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sz="3600">
                <a:solidFill>
                  <a:srgbClr val="7B9899"/>
                </a:solidFill>
                <a:latin typeface="Times New Roman" panose="02020603050405020304" pitchFamily="18" charset="0"/>
                <a:cs typeface="Times New Roman" panose="02020603050405020304" pitchFamily="18" charset="0"/>
              </a:rPr>
              <a:t>TYPES OF EDITING </a:t>
            </a:r>
            <a:endParaRPr lang="en-US" altLang="en-US" sz="3600"/>
          </a:p>
        </p:txBody>
      </p:sp>
      <p:sp>
        <p:nvSpPr>
          <p:cNvPr id="10243" name="Content Placeholder 2"/>
          <p:cNvSpPr>
            <a:spLocks noGrp="1"/>
          </p:cNvSpPr>
          <p:nvPr>
            <p:ph idx="1"/>
          </p:nvPr>
        </p:nvSpPr>
        <p:spPr/>
        <p:txBody>
          <a:bodyPr>
            <a:normAutofit/>
          </a:bodyPr>
          <a:lstStyle/>
          <a:p>
            <a:pPr eaLnBrk="1" hangingPunct="1"/>
            <a:r>
              <a:rPr lang="en-US" altLang="en-US" sz="8800" dirty="0" smtClean="0">
                <a:latin typeface="Times New Roman" panose="02020603050405020304" pitchFamily="18" charset="0"/>
                <a:cs typeface="Times New Roman" panose="02020603050405020304" pitchFamily="18" charset="0"/>
              </a:rPr>
              <a:t>Self-editing </a:t>
            </a:r>
          </a:p>
          <a:p>
            <a:pPr eaLnBrk="1" hangingPunct="1"/>
            <a:r>
              <a:rPr lang="en-US" altLang="en-US" sz="8800" dirty="0" smtClean="0">
                <a:latin typeface="Times New Roman" panose="02020603050405020304" pitchFamily="18" charset="0"/>
                <a:cs typeface="Times New Roman" panose="02020603050405020304" pitchFamily="18" charset="0"/>
              </a:rPr>
              <a:t>Peer-editing </a:t>
            </a:r>
          </a:p>
          <a:p>
            <a:pPr eaLnBrk="1" hangingPunct="1"/>
            <a:r>
              <a:rPr lang="en-US" altLang="en-US" sz="8800" dirty="0" smtClean="0">
                <a:latin typeface="Times New Roman" panose="02020603050405020304" pitchFamily="18" charset="0"/>
                <a:cs typeface="Times New Roman" panose="02020603050405020304" pitchFamily="18" charset="0"/>
              </a:rPr>
              <a:t>Group-editing</a:t>
            </a:r>
            <a:r>
              <a:rPr lang="en-US" altLang="en-US" sz="8800" dirty="0" smtClean="0"/>
              <a:t> </a:t>
            </a:r>
          </a:p>
          <a:p>
            <a:pPr eaLnBrk="1" hangingPunct="1"/>
            <a:endParaRPr lang="en-US" altLang="en-US" sz="8800" dirty="0" smtClean="0"/>
          </a:p>
        </p:txBody>
      </p:sp>
    </p:spTree>
    <p:extLst>
      <p:ext uri="{BB962C8B-B14F-4D97-AF65-F5344CB8AC3E}">
        <p14:creationId xmlns:p14="http://schemas.microsoft.com/office/powerpoint/2010/main" val="99348651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5207"/>
          </a:xfrm>
        </p:spPr>
        <p:txBody>
          <a:bodyPr>
            <a:normAutofit fontScale="90000"/>
          </a:bodyPr>
          <a:lstStyle/>
          <a:p>
            <a:endParaRPr lang="en-US" dirty="0"/>
          </a:p>
        </p:txBody>
      </p:sp>
      <p:sp>
        <p:nvSpPr>
          <p:cNvPr id="3" name="Content Placeholder 2"/>
          <p:cNvSpPr>
            <a:spLocks noGrp="1"/>
          </p:cNvSpPr>
          <p:nvPr>
            <p:ph idx="1"/>
          </p:nvPr>
        </p:nvSpPr>
        <p:spPr>
          <a:xfrm>
            <a:off x="126609" y="365126"/>
            <a:ext cx="11732455" cy="6492874"/>
          </a:xfrm>
        </p:spPr>
        <p:txBody>
          <a:bodyPr>
            <a:noAutofit/>
          </a:bodyPr>
          <a:lstStyle/>
          <a:p>
            <a:pPr marL="0" indent="0" algn="just">
              <a:buNone/>
            </a:pPr>
            <a:r>
              <a:rPr lang="en-US" sz="2400" b="1" dirty="0"/>
              <a:t>The State Protocol Department has denied claims by the founder of the Ghana Freedom Party (GFP), Madam </a:t>
            </a:r>
            <a:r>
              <a:rPr lang="en-US" sz="2400" b="1" dirty="0" err="1"/>
              <a:t>Akua</a:t>
            </a:r>
            <a:r>
              <a:rPr lang="en-US" sz="2400" b="1" dirty="0"/>
              <a:t> </a:t>
            </a:r>
            <a:r>
              <a:rPr lang="en-US" sz="2400" b="1" dirty="0" err="1"/>
              <a:t>Donkor</a:t>
            </a:r>
            <a:r>
              <a:rPr lang="en-US" sz="2400" b="1" dirty="0"/>
              <a:t> that they have been given express instructions not to invite her and </a:t>
            </a:r>
            <a:r>
              <a:rPr lang="en-US" sz="2400" b="1" dirty="0" err="1"/>
              <a:t>Dr</a:t>
            </a:r>
            <a:r>
              <a:rPr lang="en-US" sz="2400" b="1" dirty="0"/>
              <a:t> Hassan </a:t>
            </a:r>
            <a:r>
              <a:rPr lang="en-US" sz="2400" b="1" dirty="0" err="1"/>
              <a:t>Ayariga</a:t>
            </a:r>
            <a:r>
              <a:rPr lang="en-US" sz="2400" b="1" dirty="0"/>
              <a:t> to state </a:t>
            </a:r>
            <a:r>
              <a:rPr lang="en-US" sz="2400" b="1" dirty="0" smtClean="0"/>
              <a:t>functions.</a:t>
            </a:r>
            <a:r>
              <a:rPr lang="en-US" sz="2400" b="1" dirty="0"/>
              <a:t> </a:t>
            </a:r>
            <a:r>
              <a:rPr lang="en-US" sz="2400" b="1" dirty="0" smtClean="0"/>
              <a:t>Madam </a:t>
            </a:r>
            <a:r>
              <a:rPr lang="en-US" sz="2400" b="1" dirty="0" err="1"/>
              <a:t>Akua</a:t>
            </a:r>
            <a:r>
              <a:rPr lang="en-US" sz="2400" b="1" dirty="0"/>
              <a:t> </a:t>
            </a:r>
            <a:r>
              <a:rPr lang="en-US" sz="2400" b="1" dirty="0" err="1"/>
              <a:t>Donkor</a:t>
            </a:r>
            <a:r>
              <a:rPr lang="en-US" sz="2400" b="1" dirty="0"/>
              <a:t> disclosed that she does not receive invites as she used to and in an attempt to find out from the State Protocol Department (SPD), she was told by one Mensah that her name is not among persons to be invited for such events as directed by the </a:t>
            </a:r>
            <a:r>
              <a:rPr lang="en-US" sz="2400" b="1" dirty="0" smtClean="0"/>
              <a:t>presidency.</a:t>
            </a:r>
            <a:r>
              <a:rPr lang="en-US" sz="2400" b="1" dirty="0"/>
              <a:t> </a:t>
            </a:r>
            <a:r>
              <a:rPr lang="en-US" sz="2400" b="1" dirty="0" err="1" smtClean="0"/>
              <a:t>Akua</a:t>
            </a:r>
            <a:r>
              <a:rPr lang="en-US" sz="2400" b="1" dirty="0" smtClean="0"/>
              <a:t> </a:t>
            </a:r>
            <a:r>
              <a:rPr lang="en-US" sz="2400" b="1" dirty="0" err="1"/>
              <a:t>Donkor</a:t>
            </a:r>
            <a:r>
              <a:rPr lang="en-US" sz="2400" b="1" dirty="0"/>
              <a:t> believes the current President, Nana </a:t>
            </a:r>
            <a:r>
              <a:rPr lang="en-US" sz="2400" b="1" dirty="0" err="1"/>
              <a:t>Addo</a:t>
            </a:r>
            <a:r>
              <a:rPr lang="en-US" sz="2400" b="1" dirty="0"/>
              <a:t> </a:t>
            </a:r>
            <a:r>
              <a:rPr lang="en-US" sz="2400" b="1" dirty="0" err="1"/>
              <a:t>Dankwa</a:t>
            </a:r>
            <a:r>
              <a:rPr lang="en-US" sz="2400" b="1" dirty="0"/>
              <a:t> </a:t>
            </a:r>
            <a:r>
              <a:rPr lang="en-US" sz="2400" b="1" dirty="0" err="1"/>
              <a:t>Akufo-Addo</a:t>
            </a:r>
            <a:r>
              <a:rPr lang="en-US" sz="2400" b="1" dirty="0"/>
              <a:t> despises not only her but </a:t>
            </a:r>
            <a:r>
              <a:rPr lang="en-US" sz="2400" b="1" dirty="0" err="1"/>
              <a:t>Dr</a:t>
            </a:r>
            <a:r>
              <a:rPr lang="en-US" sz="2400" b="1" dirty="0"/>
              <a:t> Hassan </a:t>
            </a:r>
            <a:r>
              <a:rPr lang="en-US" sz="2400" b="1" dirty="0" err="1"/>
              <a:t>Ayariga</a:t>
            </a:r>
            <a:r>
              <a:rPr lang="en-US" sz="2400" b="1" dirty="0"/>
              <a:t> of the </a:t>
            </a:r>
            <a:r>
              <a:rPr lang="en-US" sz="2400" b="1" dirty="0">
                <a:solidFill>
                  <a:srgbClr val="FF0000"/>
                </a:solidFill>
              </a:rPr>
              <a:t>All Peoples Congress (NDC) </a:t>
            </a:r>
            <a:r>
              <a:rPr lang="en-US" sz="2400" b="1" dirty="0"/>
              <a:t>for which reason they have both been relegated to the background</a:t>
            </a:r>
            <a:r>
              <a:rPr lang="en-US" sz="2400" b="1" dirty="0" smtClean="0"/>
              <a:t>.</a:t>
            </a:r>
            <a:r>
              <a:rPr lang="en-US" sz="2400" b="1" dirty="0"/>
              <a:t> </a:t>
            </a:r>
            <a:r>
              <a:rPr lang="en-US" sz="2400" b="1" dirty="0" smtClean="0"/>
              <a:t>“</a:t>
            </a:r>
            <a:r>
              <a:rPr lang="en-US" sz="2400" b="1" dirty="0"/>
              <a:t>Nana </a:t>
            </a:r>
            <a:r>
              <a:rPr lang="en-US" sz="2400" b="1" dirty="0" err="1"/>
              <a:t>Addo</a:t>
            </a:r>
            <a:r>
              <a:rPr lang="en-US" sz="2400" b="1" dirty="0"/>
              <a:t> does not like me and Hassan </a:t>
            </a:r>
            <a:r>
              <a:rPr lang="en-US" sz="2400" b="1" dirty="0" err="1"/>
              <a:t>Ayariga</a:t>
            </a:r>
            <a:r>
              <a:rPr lang="en-US" sz="2400" b="1" dirty="0"/>
              <a:t>. I am sure that is why he has directed them not invite me for state functions but I don’t care”, he revealed on Kumasi-based </a:t>
            </a:r>
            <a:r>
              <a:rPr lang="en-US" sz="2400" b="1" dirty="0" err="1"/>
              <a:t>Abusua</a:t>
            </a:r>
            <a:r>
              <a:rPr lang="en-US" sz="2400" b="1" dirty="0"/>
              <a:t> </a:t>
            </a:r>
            <a:r>
              <a:rPr lang="en-US" sz="2400" b="1" dirty="0" smtClean="0"/>
              <a:t>Fm.</a:t>
            </a:r>
            <a:r>
              <a:rPr lang="en-US" sz="2400" b="1" dirty="0"/>
              <a:t> </a:t>
            </a:r>
            <a:r>
              <a:rPr lang="en-US" sz="2400" b="1" dirty="0" smtClean="0"/>
              <a:t>But </a:t>
            </a:r>
            <a:r>
              <a:rPr lang="en-US" sz="2400" b="1" dirty="0"/>
              <a:t>Deputy Chief Protocol Officer at the State protocol department Nana Mensah refuted claims that he refused to give her invite adding that the President had no hand in the protocol </a:t>
            </a:r>
            <a:r>
              <a:rPr lang="en-US" sz="2400" b="1" dirty="0" smtClean="0"/>
              <a:t>list.</a:t>
            </a:r>
            <a:r>
              <a:rPr lang="en-US" sz="2400" b="1" dirty="0"/>
              <a:t> </a:t>
            </a:r>
            <a:r>
              <a:rPr lang="en-US" sz="2400" b="1" dirty="0" smtClean="0"/>
              <a:t>According </a:t>
            </a:r>
            <a:r>
              <a:rPr lang="en-US" sz="2400" b="1" dirty="0"/>
              <a:t>to him, the GFP leader knows the processes involved in extending such invitations denying the claim that they showed her a list which did not contain her name</a:t>
            </a:r>
            <a:r>
              <a:rPr lang="en-US" sz="2400" b="1" dirty="0" smtClean="0"/>
              <a:t>.</a:t>
            </a:r>
            <a:r>
              <a:rPr lang="en-US" sz="2400" b="1" dirty="0"/>
              <a:t> </a:t>
            </a:r>
            <a:r>
              <a:rPr lang="en-US" sz="2400" b="1" dirty="0" smtClean="0"/>
              <a:t>‘</a:t>
            </a:r>
            <a:r>
              <a:rPr lang="en-US" sz="2400" b="1" dirty="0"/>
              <a:t>Prior to the Independence Day for example, I told her to hang around for a while because the one in charge of invitation cards had stepped out, the time I </a:t>
            </a:r>
            <a:r>
              <a:rPr lang="en-US" sz="2400" b="1" dirty="0" err="1"/>
              <a:t>realised</a:t>
            </a:r>
            <a:r>
              <a:rPr lang="en-US" sz="2400" b="1" dirty="0"/>
              <a:t>, she had left unannounced. She knows how we have been assisting her even when she wants to travel outside the country. I am just wondering why she has decided to go to the media with such an issue. If it is also about the State of the Nation Address, we at SPD do not handle that, Parliament does,’ he explained.</a:t>
            </a:r>
          </a:p>
        </p:txBody>
      </p:sp>
    </p:spTree>
    <p:extLst>
      <p:ext uri="{BB962C8B-B14F-4D97-AF65-F5344CB8AC3E}">
        <p14:creationId xmlns:p14="http://schemas.microsoft.com/office/powerpoint/2010/main" val="722319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z="3600" dirty="0">
                <a:solidFill>
                  <a:srgbClr val="7B9899"/>
                </a:solidFill>
                <a:latin typeface="Times New Roman" panose="02020603050405020304" pitchFamily="18" charset="0"/>
                <a:cs typeface="Times New Roman" panose="02020603050405020304" pitchFamily="18" charset="0"/>
              </a:rPr>
              <a:t>FOCUS OF EDITING: CONTENT </a:t>
            </a:r>
            <a:r>
              <a:rPr lang="en-US" altLang="en-US" sz="3600" dirty="0" smtClean="0">
                <a:solidFill>
                  <a:srgbClr val="7B9899"/>
                </a:solidFill>
                <a:latin typeface="Times New Roman" panose="02020603050405020304" pitchFamily="18" charset="0"/>
                <a:cs typeface="Times New Roman" panose="02020603050405020304" pitchFamily="18" charset="0"/>
              </a:rPr>
              <a:t>(1)</a:t>
            </a:r>
            <a:endParaRPr lang="en-US" altLang="en-US" sz="3600" dirty="0"/>
          </a:p>
        </p:txBody>
      </p:sp>
      <p:sp>
        <p:nvSpPr>
          <p:cNvPr id="11267" name="Content Placeholder 2"/>
          <p:cNvSpPr>
            <a:spLocks noGrp="1"/>
          </p:cNvSpPr>
          <p:nvPr>
            <p:ph idx="1"/>
          </p:nvPr>
        </p:nvSpPr>
        <p:spPr/>
        <p:txBody>
          <a:bodyPr>
            <a:normAutofit/>
          </a:bodyPr>
          <a:lstStyle/>
          <a:p>
            <a:pPr eaLnBrk="1" hangingPunct="1"/>
            <a:r>
              <a:rPr lang="en-US" altLang="en-US" sz="6600" dirty="0" smtClean="0">
                <a:latin typeface="Times New Roman" panose="02020603050405020304" pitchFamily="18" charset="0"/>
                <a:cs typeface="Times New Roman" panose="02020603050405020304" pitchFamily="18" charset="0"/>
              </a:rPr>
              <a:t>Relevance </a:t>
            </a:r>
          </a:p>
          <a:p>
            <a:pPr eaLnBrk="1" hangingPunct="1"/>
            <a:r>
              <a:rPr lang="en-US" altLang="en-US" sz="6600" dirty="0" smtClean="0">
                <a:latin typeface="Times New Roman" panose="02020603050405020304" pitchFamily="18" charset="0"/>
                <a:cs typeface="Times New Roman" panose="02020603050405020304" pitchFamily="18" charset="0"/>
              </a:rPr>
              <a:t>Adequacy </a:t>
            </a:r>
          </a:p>
          <a:p>
            <a:pPr eaLnBrk="1" hangingPunct="1"/>
            <a:r>
              <a:rPr lang="en-US" altLang="en-US" sz="6600" dirty="0" smtClean="0">
                <a:latin typeface="Times New Roman" panose="02020603050405020304" pitchFamily="18" charset="0"/>
                <a:cs typeface="Times New Roman" panose="02020603050405020304" pitchFamily="18" charset="0"/>
              </a:rPr>
              <a:t>Consistency </a:t>
            </a:r>
          </a:p>
          <a:p>
            <a:pPr eaLnBrk="1" hangingPunct="1"/>
            <a:r>
              <a:rPr lang="en-US" altLang="en-US" sz="6600" dirty="0" smtClean="0">
                <a:latin typeface="Times New Roman" panose="02020603050405020304" pitchFamily="18" charset="0"/>
                <a:cs typeface="Times New Roman" panose="02020603050405020304" pitchFamily="18" charset="0"/>
              </a:rPr>
              <a:t>Accuracy</a:t>
            </a:r>
            <a:endParaRPr lang="en-US" altLang="en-US" sz="6600" dirty="0" smtClean="0"/>
          </a:p>
        </p:txBody>
      </p:sp>
    </p:spTree>
    <p:extLst>
      <p:ext uri="{BB962C8B-B14F-4D97-AF65-F5344CB8AC3E}">
        <p14:creationId xmlns:p14="http://schemas.microsoft.com/office/powerpoint/2010/main" val="149482186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sz="3600" dirty="0">
                <a:latin typeface="Times New Roman" panose="02020603050405020304" pitchFamily="18" charset="0"/>
                <a:cs typeface="Times New Roman" panose="02020603050405020304" pitchFamily="18" charset="0"/>
              </a:rPr>
              <a:t>FOCUS OF EDITING: STRUCTURE </a:t>
            </a:r>
            <a:r>
              <a:rPr lang="en-US" altLang="en-US" sz="3600" dirty="0" smtClean="0">
                <a:latin typeface="Times New Roman" panose="02020603050405020304" pitchFamily="18" charset="0"/>
                <a:cs typeface="Times New Roman" panose="02020603050405020304" pitchFamily="18" charset="0"/>
              </a:rPr>
              <a:t>(</a:t>
            </a:r>
            <a:r>
              <a:rPr lang="en-US" altLang="en-US" sz="3600" dirty="0">
                <a:latin typeface="Times New Roman" panose="02020603050405020304" pitchFamily="18" charset="0"/>
                <a:cs typeface="Times New Roman" panose="02020603050405020304" pitchFamily="18" charset="0"/>
              </a:rPr>
              <a:t>2</a:t>
            </a:r>
            <a:r>
              <a:rPr lang="en-US" altLang="en-US" sz="3600" dirty="0" smtClean="0">
                <a:latin typeface="Times New Roman" panose="02020603050405020304" pitchFamily="18" charset="0"/>
                <a:cs typeface="Times New Roman" panose="02020603050405020304" pitchFamily="18" charset="0"/>
              </a:rPr>
              <a:t>)</a:t>
            </a:r>
            <a:endParaRPr lang="en-US" altLang="en-US" sz="3600" dirty="0"/>
          </a:p>
        </p:txBody>
      </p:sp>
      <p:sp>
        <p:nvSpPr>
          <p:cNvPr id="12291" name="Content Placeholder 2"/>
          <p:cNvSpPr>
            <a:spLocks noGrp="1"/>
          </p:cNvSpPr>
          <p:nvPr>
            <p:ph idx="1"/>
          </p:nvPr>
        </p:nvSpPr>
        <p:spPr>
          <a:xfrm>
            <a:off x="0" y="1845734"/>
            <a:ext cx="12192000" cy="5483754"/>
          </a:xfrm>
        </p:spPr>
        <p:txBody>
          <a:bodyPr>
            <a:noAutofit/>
          </a:bodyPr>
          <a:lstStyle/>
          <a:p>
            <a:pPr algn="just" eaLnBrk="1" hangingPunct="1"/>
            <a:r>
              <a:rPr lang="en-US" altLang="en-US" sz="4800" dirty="0" smtClean="0">
                <a:latin typeface="Times New Roman" panose="02020603050405020304" pitchFamily="18" charset="0"/>
                <a:cs typeface="Times New Roman" panose="02020603050405020304" pitchFamily="18" charset="0"/>
              </a:rPr>
              <a:t>Generic requirements (letter, memo, abstract, </a:t>
            </a:r>
            <a:r>
              <a:rPr lang="en-US" altLang="en-US" sz="4800" dirty="0" err="1" smtClean="0">
                <a:latin typeface="Times New Roman" panose="02020603050405020304" pitchFamily="18" charset="0"/>
                <a:cs typeface="Times New Roman" panose="02020603050405020304" pitchFamily="18" charset="0"/>
              </a:rPr>
              <a:t>etc</a:t>
            </a:r>
            <a:r>
              <a:rPr lang="en-US" altLang="en-US" sz="4800" dirty="0" smtClean="0">
                <a:latin typeface="Times New Roman" panose="02020603050405020304" pitchFamily="18" charset="0"/>
                <a:cs typeface="Times New Roman" panose="02020603050405020304" pitchFamily="18" charset="0"/>
              </a:rPr>
              <a:t>)</a:t>
            </a:r>
          </a:p>
          <a:p>
            <a:pPr algn="just" eaLnBrk="1" hangingPunct="1"/>
            <a:r>
              <a:rPr lang="en-US" altLang="en-US" sz="4800" dirty="0" smtClean="0">
                <a:latin typeface="Times New Roman" panose="02020603050405020304" pitchFamily="18" charset="0"/>
                <a:cs typeface="Times New Roman" panose="02020603050405020304" pitchFamily="18" charset="0"/>
              </a:rPr>
              <a:t>Well-organized (introduction, developing paragraphs, and concluding paragraphs)</a:t>
            </a:r>
          </a:p>
          <a:p>
            <a:pPr algn="just" eaLnBrk="1" hangingPunct="1"/>
            <a:r>
              <a:rPr lang="en-US" altLang="en-US" sz="4800" dirty="0" smtClean="0">
                <a:latin typeface="Times New Roman" panose="02020603050405020304" pitchFamily="18" charset="0"/>
                <a:cs typeface="Times New Roman" panose="02020603050405020304" pitchFamily="18" charset="0"/>
              </a:rPr>
              <a:t>Logical sequencing </a:t>
            </a:r>
          </a:p>
          <a:p>
            <a:pPr algn="just" eaLnBrk="1" hangingPunct="1"/>
            <a:r>
              <a:rPr lang="en-US" altLang="en-US" sz="4800" dirty="0" smtClean="0">
                <a:latin typeface="Times New Roman" panose="02020603050405020304" pitchFamily="18" charset="0"/>
                <a:cs typeface="Times New Roman" panose="02020603050405020304" pitchFamily="18" charset="0"/>
              </a:rPr>
              <a:t>Transitional markers </a:t>
            </a:r>
          </a:p>
        </p:txBody>
      </p:sp>
    </p:spTree>
    <p:extLst>
      <p:ext uri="{BB962C8B-B14F-4D97-AF65-F5344CB8AC3E}">
        <p14:creationId xmlns:p14="http://schemas.microsoft.com/office/powerpoint/2010/main" val="11499970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z="3600" dirty="0">
                <a:solidFill>
                  <a:srgbClr val="7B9899"/>
                </a:solidFill>
                <a:latin typeface="Times New Roman" panose="02020603050405020304" pitchFamily="18" charset="0"/>
                <a:cs typeface="Times New Roman" panose="02020603050405020304" pitchFamily="18" charset="0"/>
              </a:rPr>
              <a:t>FOCUS OF EDITING: CLARITY </a:t>
            </a:r>
            <a:r>
              <a:rPr lang="en-US" altLang="en-US" sz="3600" dirty="0" smtClean="0">
                <a:solidFill>
                  <a:srgbClr val="7B9899"/>
                </a:solidFill>
                <a:latin typeface="Times New Roman" panose="02020603050405020304" pitchFamily="18" charset="0"/>
                <a:cs typeface="Times New Roman" panose="02020603050405020304" pitchFamily="18" charset="0"/>
              </a:rPr>
              <a:t>(</a:t>
            </a:r>
            <a:r>
              <a:rPr lang="en-US" altLang="en-US" sz="3600" dirty="0">
                <a:solidFill>
                  <a:srgbClr val="7B9899"/>
                </a:solidFill>
                <a:latin typeface="Times New Roman" panose="02020603050405020304" pitchFamily="18" charset="0"/>
                <a:cs typeface="Times New Roman" panose="02020603050405020304" pitchFamily="18" charset="0"/>
              </a:rPr>
              <a:t>3</a:t>
            </a:r>
            <a:r>
              <a:rPr lang="en-US" altLang="en-US" sz="3600" dirty="0" smtClean="0">
                <a:solidFill>
                  <a:srgbClr val="7B9899"/>
                </a:solidFill>
                <a:latin typeface="Times New Roman" panose="02020603050405020304" pitchFamily="18" charset="0"/>
                <a:cs typeface="Times New Roman" panose="02020603050405020304" pitchFamily="18" charset="0"/>
              </a:rPr>
              <a:t>)</a:t>
            </a:r>
            <a:endParaRPr lang="en-US" altLang="en-US" sz="3600" dirty="0"/>
          </a:p>
        </p:txBody>
      </p:sp>
      <p:sp>
        <p:nvSpPr>
          <p:cNvPr id="13315" name="Content Placeholder 2"/>
          <p:cNvSpPr>
            <a:spLocks noGrp="1"/>
          </p:cNvSpPr>
          <p:nvPr>
            <p:ph idx="1"/>
          </p:nvPr>
        </p:nvSpPr>
        <p:spPr/>
        <p:txBody>
          <a:bodyPr>
            <a:noAutofit/>
          </a:bodyPr>
          <a:lstStyle/>
          <a:p>
            <a:pPr eaLnBrk="1" hangingPunct="1">
              <a:buFont typeface="Wingdings 2" panose="05020102010507070707" pitchFamily="18" charset="2"/>
              <a:buNone/>
            </a:pPr>
            <a:r>
              <a:rPr lang="en-US" altLang="en-US" sz="4400" dirty="0" smtClean="0">
                <a:latin typeface="Times New Roman" panose="02020603050405020304" pitchFamily="18" charset="0"/>
                <a:cs typeface="Times New Roman" panose="02020603050405020304" pitchFamily="18" charset="0"/>
              </a:rPr>
              <a:t>At word, phrase, clausal, and sentence levels</a:t>
            </a:r>
          </a:p>
          <a:p>
            <a:pPr eaLnBrk="1" hangingPunct="1"/>
            <a:r>
              <a:rPr lang="en-US" altLang="en-US" sz="4400" dirty="0" smtClean="0">
                <a:latin typeface="Times New Roman" panose="02020603050405020304" pitchFamily="18" charset="0"/>
                <a:cs typeface="Times New Roman" panose="02020603050405020304" pitchFamily="18" charset="0"/>
              </a:rPr>
              <a:t>Ambiguity and vagueness</a:t>
            </a:r>
          </a:p>
          <a:p>
            <a:pPr eaLnBrk="1" hangingPunct="1"/>
            <a:r>
              <a:rPr lang="en-US" altLang="en-US" sz="4400" dirty="0" smtClean="0">
                <a:latin typeface="Times New Roman" panose="02020603050405020304" pitchFamily="18" charset="0"/>
                <a:cs typeface="Times New Roman" panose="02020603050405020304" pitchFamily="18" charset="0"/>
              </a:rPr>
              <a:t>Dangling or misrelated constructions</a:t>
            </a:r>
          </a:p>
          <a:p>
            <a:pPr eaLnBrk="1" hangingPunct="1"/>
            <a:r>
              <a:rPr lang="en-US" altLang="en-US" sz="4400" dirty="0" smtClean="0">
                <a:latin typeface="Times New Roman" panose="02020603050405020304" pitchFamily="18" charset="0"/>
                <a:cs typeface="Times New Roman" panose="02020603050405020304" pitchFamily="18" charset="0"/>
              </a:rPr>
              <a:t>Sentence fragments and run-on sentences</a:t>
            </a:r>
          </a:p>
          <a:p>
            <a:pPr eaLnBrk="1" hangingPunct="1"/>
            <a:r>
              <a:rPr lang="en-US" altLang="en-US" sz="4400" dirty="0" smtClean="0">
                <a:latin typeface="Times New Roman" panose="02020603050405020304" pitchFamily="18" charset="0"/>
                <a:cs typeface="Times New Roman" panose="02020603050405020304" pitchFamily="18" charset="0"/>
              </a:rPr>
              <a:t>Awkward sentences</a:t>
            </a:r>
          </a:p>
          <a:p>
            <a:pPr eaLnBrk="1" hangingPunct="1"/>
            <a:r>
              <a:rPr lang="en-US" altLang="en-US" sz="4400" dirty="0" smtClean="0">
                <a:latin typeface="Times New Roman" panose="02020603050405020304" pitchFamily="18" charset="0"/>
                <a:cs typeface="Times New Roman" panose="02020603050405020304" pitchFamily="18" charset="0"/>
              </a:rPr>
              <a:t>Inappropriate lexical choices</a:t>
            </a:r>
            <a:endParaRPr lang="en-US" altLang="en-US" sz="4400" dirty="0" smtClean="0"/>
          </a:p>
        </p:txBody>
      </p:sp>
    </p:spTree>
    <p:extLst>
      <p:ext uri="{BB962C8B-B14F-4D97-AF65-F5344CB8AC3E}">
        <p14:creationId xmlns:p14="http://schemas.microsoft.com/office/powerpoint/2010/main" val="210475356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838200" y="365125"/>
            <a:ext cx="10515600" cy="746223"/>
          </a:xfrm>
        </p:spPr>
        <p:txBody>
          <a:bodyPr/>
          <a:lstStyle/>
          <a:p>
            <a:pPr eaLnBrk="1" hangingPunct="1"/>
            <a:r>
              <a:rPr lang="en-US" altLang="en-US" sz="3600" dirty="0">
                <a:solidFill>
                  <a:srgbClr val="7B9899"/>
                </a:solidFill>
                <a:latin typeface="Times New Roman" panose="02020603050405020304" pitchFamily="18" charset="0"/>
                <a:cs typeface="Times New Roman" panose="02020603050405020304" pitchFamily="18" charset="0"/>
              </a:rPr>
              <a:t>FOCUS OF EDITING: STYLE </a:t>
            </a:r>
            <a:r>
              <a:rPr lang="en-US" altLang="en-US" sz="3600" dirty="0" smtClean="0">
                <a:solidFill>
                  <a:srgbClr val="7B9899"/>
                </a:solidFill>
                <a:latin typeface="Times New Roman" panose="02020603050405020304" pitchFamily="18" charset="0"/>
                <a:cs typeface="Times New Roman" panose="02020603050405020304" pitchFamily="18" charset="0"/>
              </a:rPr>
              <a:t>(</a:t>
            </a:r>
            <a:r>
              <a:rPr lang="en-US" altLang="en-US" sz="3600" dirty="0">
                <a:solidFill>
                  <a:srgbClr val="7B9899"/>
                </a:solidFill>
                <a:latin typeface="Times New Roman" panose="02020603050405020304" pitchFamily="18" charset="0"/>
                <a:cs typeface="Times New Roman" panose="02020603050405020304" pitchFamily="18" charset="0"/>
              </a:rPr>
              <a:t>4</a:t>
            </a:r>
            <a:r>
              <a:rPr lang="en-US" altLang="en-US" sz="3600" dirty="0" smtClean="0">
                <a:solidFill>
                  <a:srgbClr val="7B9899"/>
                </a:solidFill>
                <a:latin typeface="Times New Roman" panose="02020603050405020304" pitchFamily="18" charset="0"/>
                <a:cs typeface="Times New Roman" panose="02020603050405020304" pitchFamily="18" charset="0"/>
              </a:rPr>
              <a:t>)</a:t>
            </a:r>
            <a:endParaRPr lang="en-US" altLang="en-US" sz="3600" dirty="0"/>
          </a:p>
        </p:txBody>
      </p:sp>
      <p:sp>
        <p:nvSpPr>
          <p:cNvPr id="14339" name="Content Placeholder 2"/>
          <p:cNvSpPr>
            <a:spLocks noGrp="1"/>
          </p:cNvSpPr>
          <p:nvPr>
            <p:ph idx="1"/>
          </p:nvPr>
        </p:nvSpPr>
        <p:spPr>
          <a:xfrm>
            <a:off x="182880" y="1252025"/>
            <a:ext cx="11816862" cy="4924938"/>
          </a:xfrm>
        </p:spPr>
        <p:txBody>
          <a:bodyPr>
            <a:noAutofit/>
          </a:bodyPr>
          <a:lstStyle/>
          <a:p>
            <a:pPr algn="just" eaLnBrk="1" hangingPunct="1"/>
            <a:r>
              <a:rPr lang="en-US" altLang="en-US" sz="4000" dirty="0" smtClean="0">
                <a:latin typeface="Times New Roman" panose="02020603050405020304" pitchFamily="18" charset="0"/>
                <a:cs typeface="Times New Roman" panose="02020603050405020304" pitchFamily="18" charset="0"/>
              </a:rPr>
              <a:t>Level of formality </a:t>
            </a:r>
          </a:p>
          <a:p>
            <a:pPr algn="just" eaLnBrk="1" hangingPunct="1"/>
            <a:r>
              <a:rPr lang="en-US" altLang="en-US" sz="4000" dirty="0" smtClean="0">
                <a:latin typeface="Times New Roman" panose="02020603050405020304" pitchFamily="18" charset="0"/>
                <a:cs typeface="Times New Roman" panose="02020603050405020304" pitchFamily="18" charset="0"/>
              </a:rPr>
              <a:t>Appropriate tone</a:t>
            </a:r>
          </a:p>
          <a:p>
            <a:pPr algn="just" eaLnBrk="1" hangingPunct="1"/>
            <a:r>
              <a:rPr lang="en-US" altLang="en-US" sz="4000" dirty="0" smtClean="0">
                <a:latin typeface="Times New Roman" panose="02020603050405020304" pitchFamily="18" charset="0"/>
                <a:cs typeface="Times New Roman" panose="02020603050405020304" pitchFamily="18" charset="0"/>
              </a:rPr>
              <a:t>Sentence beginning, length, variety, and complexity </a:t>
            </a:r>
          </a:p>
          <a:p>
            <a:pPr algn="just" eaLnBrk="1" hangingPunct="1"/>
            <a:r>
              <a:rPr lang="en-US" altLang="en-US" sz="4000" dirty="0" smtClean="0">
                <a:latin typeface="Times New Roman" panose="02020603050405020304" pitchFamily="18" charset="0"/>
                <a:cs typeface="Times New Roman" panose="02020603050405020304" pitchFamily="18" charset="0"/>
              </a:rPr>
              <a:t>Paragraph length  </a:t>
            </a:r>
          </a:p>
          <a:p>
            <a:pPr algn="just" eaLnBrk="1" hangingPunct="1"/>
            <a:r>
              <a:rPr lang="en-US" altLang="en-US" sz="4000" dirty="0" smtClean="0">
                <a:latin typeface="Times New Roman" panose="02020603050405020304" pitchFamily="18" charset="0"/>
                <a:cs typeface="Times New Roman" panose="02020603050405020304" pitchFamily="18" charset="0"/>
              </a:rPr>
              <a:t>Gender-sensitive language</a:t>
            </a:r>
          </a:p>
          <a:p>
            <a:pPr algn="just" eaLnBrk="1" hangingPunct="1"/>
            <a:r>
              <a:rPr lang="en-US" altLang="en-US" sz="4000" dirty="0" smtClean="0">
                <a:latin typeface="Times New Roman" panose="02020603050405020304" pitchFamily="18" charset="0"/>
                <a:cs typeface="Times New Roman" panose="02020603050405020304" pitchFamily="18" charset="0"/>
              </a:rPr>
              <a:t>Nominalized </a:t>
            </a:r>
          </a:p>
          <a:p>
            <a:pPr algn="just" eaLnBrk="1" hangingPunct="1"/>
            <a:r>
              <a:rPr lang="en-US" altLang="en-US" sz="4000" dirty="0" smtClean="0">
                <a:latin typeface="Times New Roman" panose="02020603050405020304" pitchFamily="18" charset="0"/>
                <a:cs typeface="Times New Roman" panose="02020603050405020304" pitchFamily="18" charset="0"/>
              </a:rPr>
              <a:t>Verbalized </a:t>
            </a:r>
          </a:p>
          <a:p>
            <a:pPr algn="just" eaLnBrk="1" hangingPunct="1">
              <a:buFont typeface="Wingdings 2" panose="05020102010507070707" pitchFamily="18" charset="2"/>
              <a:buNone/>
            </a:pPr>
            <a:r>
              <a:rPr lang="en-US" altLang="en-US" sz="4000" dirty="0" smtClean="0">
                <a:latin typeface="Times New Roman" panose="02020603050405020304" pitchFamily="18" charset="0"/>
                <a:cs typeface="Times New Roman" panose="02020603050405020304" pitchFamily="18" charset="0"/>
              </a:rPr>
              <a:t>N.B. Many factors affect style: aim, audience, and topic </a:t>
            </a:r>
          </a:p>
          <a:p>
            <a:pPr algn="just" eaLnBrk="1" hangingPunct="1"/>
            <a:endParaRPr lang="en-US" altLang="en-US" sz="4000" dirty="0" smtClean="0"/>
          </a:p>
        </p:txBody>
      </p:sp>
    </p:spTree>
    <p:extLst>
      <p:ext uri="{BB962C8B-B14F-4D97-AF65-F5344CB8AC3E}">
        <p14:creationId xmlns:p14="http://schemas.microsoft.com/office/powerpoint/2010/main" val="64900324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sz="3600" dirty="0">
                <a:latin typeface="Times New Roman" panose="02020603050405020304" pitchFamily="18" charset="0"/>
                <a:cs typeface="Times New Roman" panose="02020603050405020304" pitchFamily="18" charset="0"/>
              </a:rPr>
              <a:t>FOCUS OF EDITING: FORMATTING </a:t>
            </a:r>
            <a:r>
              <a:rPr lang="en-US" altLang="en-US" sz="3600" dirty="0" smtClean="0">
                <a:latin typeface="Times New Roman" panose="02020603050405020304" pitchFamily="18" charset="0"/>
                <a:cs typeface="Times New Roman" panose="02020603050405020304" pitchFamily="18" charset="0"/>
              </a:rPr>
              <a:t>(</a:t>
            </a:r>
            <a:r>
              <a:rPr lang="en-US" altLang="en-US" sz="3600" dirty="0">
                <a:latin typeface="Times New Roman" panose="02020603050405020304" pitchFamily="18" charset="0"/>
                <a:cs typeface="Times New Roman" panose="02020603050405020304" pitchFamily="18" charset="0"/>
              </a:rPr>
              <a:t>5</a:t>
            </a:r>
            <a:r>
              <a:rPr lang="en-US" altLang="en-US" sz="3600" dirty="0" smtClean="0">
                <a:latin typeface="Times New Roman" panose="02020603050405020304" pitchFamily="18" charset="0"/>
                <a:cs typeface="Times New Roman" panose="02020603050405020304" pitchFamily="18" charset="0"/>
              </a:rPr>
              <a:t>)</a:t>
            </a:r>
            <a:endParaRPr lang="en-US" altLang="en-US" sz="3600" dirty="0"/>
          </a:p>
        </p:txBody>
      </p:sp>
      <p:sp>
        <p:nvSpPr>
          <p:cNvPr id="15363" name="Content Placeholder 2"/>
          <p:cNvSpPr>
            <a:spLocks noGrp="1"/>
          </p:cNvSpPr>
          <p:nvPr>
            <p:ph idx="1"/>
          </p:nvPr>
        </p:nvSpPr>
        <p:spPr>
          <a:xfrm>
            <a:off x="464234" y="1690688"/>
            <a:ext cx="11522612" cy="5310187"/>
          </a:xfrm>
        </p:spPr>
        <p:txBody>
          <a:bodyPr>
            <a:noAutofit/>
          </a:bodyPr>
          <a:lstStyle/>
          <a:p>
            <a:pPr eaLnBrk="1" hangingPunct="1"/>
            <a:r>
              <a:rPr lang="en-US" altLang="en-US" sz="3600" dirty="0" smtClean="0">
                <a:latin typeface="Times New Roman" panose="02020603050405020304" pitchFamily="18" charset="0"/>
                <a:cs typeface="Times New Roman" panose="02020603050405020304" pitchFamily="18" charset="0"/>
              </a:rPr>
              <a:t>Lecturer’s/department’s/institution’s guidelines</a:t>
            </a:r>
          </a:p>
          <a:p>
            <a:pPr eaLnBrk="1" hangingPunct="1"/>
            <a:r>
              <a:rPr lang="en-US" altLang="en-US" sz="3600" dirty="0" smtClean="0">
                <a:latin typeface="Times New Roman" panose="02020603050405020304" pitchFamily="18" charset="0"/>
                <a:cs typeface="Times New Roman" panose="02020603050405020304" pitchFamily="18" charset="0"/>
              </a:rPr>
              <a:t>Spacing, font size, font type, </a:t>
            </a:r>
          </a:p>
          <a:p>
            <a:pPr eaLnBrk="1" hangingPunct="1"/>
            <a:r>
              <a:rPr lang="en-US" altLang="en-US" sz="3600" dirty="0" smtClean="0">
                <a:latin typeface="Times New Roman" panose="02020603050405020304" pitchFamily="18" charset="0"/>
                <a:cs typeface="Times New Roman" panose="02020603050405020304" pitchFamily="18" charset="0"/>
              </a:rPr>
              <a:t>Margins</a:t>
            </a:r>
          </a:p>
          <a:p>
            <a:pPr eaLnBrk="1" hangingPunct="1"/>
            <a:r>
              <a:rPr lang="en-US" altLang="en-US" sz="3600" dirty="0" smtClean="0">
                <a:latin typeface="Times New Roman" panose="02020603050405020304" pitchFamily="18" charset="0"/>
                <a:cs typeface="Times New Roman" panose="02020603050405020304" pitchFamily="18" charset="0"/>
              </a:rPr>
              <a:t>Bold, italics, underlining</a:t>
            </a:r>
          </a:p>
          <a:p>
            <a:pPr eaLnBrk="1" hangingPunct="1"/>
            <a:r>
              <a:rPr lang="en-US" altLang="en-US" sz="3600" dirty="0" smtClean="0">
                <a:latin typeface="Times New Roman" panose="02020603050405020304" pitchFamily="18" charset="0"/>
                <a:cs typeface="Times New Roman" panose="02020603050405020304" pitchFamily="18" charset="0"/>
              </a:rPr>
              <a:t>Pagination </a:t>
            </a:r>
          </a:p>
          <a:p>
            <a:pPr eaLnBrk="1" hangingPunct="1"/>
            <a:r>
              <a:rPr lang="en-US" altLang="en-US" sz="3600" dirty="0" smtClean="0">
                <a:latin typeface="Times New Roman" panose="02020603050405020304" pitchFamily="18" charset="0"/>
                <a:cs typeface="Times New Roman" panose="02020603050405020304" pitchFamily="18" charset="0"/>
              </a:rPr>
              <a:t>Table, figure, and chart</a:t>
            </a:r>
          </a:p>
          <a:p>
            <a:pPr eaLnBrk="1" hangingPunct="1"/>
            <a:r>
              <a:rPr lang="en-US" altLang="en-US" sz="3600" dirty="0" smtClean="0">
                <a:latin typeface="Times New Roman" panose="02020603050405020304" pitchFamily="18" charset="0"/>
                <a:cs typeface="Times New Roman" panose="02020603050405020304" pitchFamily="18" charset="0"/>
              </a:rPr>
              <a:t>References/Bibliography </a:t>
            </a:r>
          </a:p>
          <a:p>
            <a:pPr eaLnBrk="1" hangingPunct="1"/>
            <a:r>
              <a:rPr lang="en-US" altLang="en-US" sz="3600" dirty="0" smtClean="0">
                <a:latin typeface="Times New Roman" panose="02020603050405020304" pitchFamily="18" charset="0"/>
                <a:cs typeface="Times New Roman" panose="02020603050405020304" pitchFamily="18" charset="0"/>
              </a:rPr>
              <a:t>Word limit</a:t>
            </a:r>
            <a:endParaRPr lang="en-US" altLang="en-US" sz="3600" dirty="0" smtClean="0"/>
          </a:p>
        </p:txBody>
      </p:sp>
    </p:spTree>
    <p:extLst>
      <p:ext uri="{BB962C8B-B14F-4D97-AF65-F5344CB8AC3E}">
        <p14:creationId xmlns:p14="http://schemas.microsoft.com/office/powerpoint/2010/main" val="28130202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097280" y="286603"/>
            <a:ext cx="10058400" cy="895083"/>
          </a:xfrm>
        </p:spPr>
        <p:txBody>
          <a:bodyPr/>
          <a:lstStyle/>
          <a:p>
            <a:pPr eaLnBrk="1" hangingPunct="1"/>
            <a:r>
              <a:rPr lang="en-US" altLang="en-US" sz="3600" dirty="0">
                <a:latin typeface="Times New Roman" panose="02020603050405020304" pitchFamily="18" charset="0"/>
                <a:cs typeface="Times New Roman" panose="02020603050405020304" pitchFamily="18" charset="0"/>
              </a:rPr>
              <a:t>FOCUS OF EDITING: CONCISENESS </a:t>
            </a:r>
            <a:r>
              <a:rPr lang="en-US" altLang="en-US" sz="3600" dirty="0" smtClean="0">
                <a:latin typeface="Times New Roman" panose="02020603050405020304" pitchFamily="18" charset="0"/>
                <a:cs typeface="Times New Roman" panose="02020603050405020304" pitchFamily="18" charset="0"/>
              </a:rPr>
              <a:t>(</a:t>
            </a:r>
            <a:r>
              <a:rPr lang="en-US" altLang="en-US" sz="3600" dirty="0">
                <a:latin typeface="Times New Roman" panose="02020603050405020304" pitchFamily="18" charset="0"/>
                <a:cs typeface="Times New Roman" panose="02020603050405020304" pitchFamily="18" charset="0"/>
              </a:rPr>
              <a:t>6</a:t>
            </a:r>
            <a:r>
              <a:rPr lang="en-US" altLang="en-US" sz="3600" dirty="0" smtClean="0">
                <a:latin typeface="Times New Roman" panose="02020603050405020304" pitchFamily="18" charset="0"/>
                <a:cs typeface="Times New Roman" panose="02020603050405020304" pitchFamily="18" charset="0"/>
              </a:rPr>
              <a:t>)</a:t>
            </a:r>
            <a:endParaRPr lang="en-US" altLang="en-US" sz="3600" dirty="0"/>
          </a:p>
        </p:txBody>
      </p:sp>
      <p:sp>
        <p:nvSpPr>
          <p:cNvPr id="16387" name="Content Placeholder 2"/>
          <p:cNvSpPr>
            <a:spLocks noGrp="1"/>
          </p:cNvSpPr>
          <p:nvPr>
            <p:ph idx="1"/>
          </p:nvPr>
        </p:nvSpPr>
        <p:spPr>
          <a:xfrm>
            <a:off x="-1" y="1181687"/>
            <a:ext cx="12027877" cy="5247248"/>
          </a:xfrm>
        </p:spPr>
        <p:txBody>
          <a:bodyPr>
            <a:noAutofit/>
          </a:bodyPr>
          <a:lstStyle/>
          <a:p>
            <a:pPr eaLnBrk="1" hangingPunct="1"/>
            <a:r>
              <a:rPr lang="en-US" altLang="en-US" sz="4000" dirty="0" smtClean="0">
                <a:latin typeface="Times New Roman" panose="02020603050405020304" pitchFamily="18" charset="0"/>
                <a:cs typeface="Times New Roman" panose="02020603050405020304" pitchFamily="18" charset="0"/>
              </a:rPr>
              <a:t>Replace several vague words with specific words </a:t>
            </a:r>
          </a:p>
          <a:p>
            <a:pPr eaLnBrk="1" hangingPunct="1"/>
            <a:r>
              <a:rPr lang="en-US" altLang="en-US" sz="4000" dirty="0" smtClean="0">
                <a:latin typeface="Times New Roman" panose="02020603050405020304" pitchFamily="18" charset="0"/>
                <a:cs typeface="Times New Roman" panose="02020603050405020304" pitchFamily="18" charset="0"/>
              </a:rPr>
              <a:t>Adopt effective sentence combining practices </a:t>
            </a:r>
          </a:p>
          <a:p>
            <a:pPr eaLnBrk="1" hangingPunct="1"/>
            <a:r>
              <a:rPr lang="en-US" altLang="en-US" sz="4000" dirty="0" smtClean="0">
                <a:latin typeface="Times New Roman" panose="02020603050405020304" pitchFamily="18" charset="0"/>
                <a:cs typeface="Times New Roman" panose="02020603050405020304" pitchFamily="18" charset="0"/>
              </a:rPr>
              <a:t>Replace a phrase with a word</a:t>
            </a:r>
          </a:p>
          <a:p>
            <a:pPr eaLnBrk="1" hangingPunct="1"/>
            <a:r>
              <a:rPr lang="en-US" altLang="en-US" sz="4000" dirty="0" smtClean="0">
                <a:latin typeface="Times New Roman" panose="02020603050405020304" pitchFamily="18" charset="0"/>
                <a:cs typeface="Times New Roman" panose="02020603050405020304" pitchFamily="18" charset="0"/>
              </a:rPr>
              <a:t>Dispense with words that have very little utility value: ‘actually’, ‘basically’, ‘practically’</a:t>
            </a:r>
          </a:p>
          <a:p>
            <a:pPr eaLnBrk="1" hangingPunct="1"/>
            <a:r>
              <a:rPr lang="en-US" altLang="en-US" sz="4000" dirty="0" smtClean="0">
                <a:latin typeface="Times New Roman" panose="02020603050405020304" pitchFamily="18" charset="0"/>
                <a:cs typeface="Times New Roman" panose="02020603050405020304" pitchFamily="18" charset="0"/>
              </a:rPr>
              <a:t>Avoid redundancies: ‘basic fundamentals’, ‘free gift’, ‘large in size’, ‘round in shape’ </a:t>
            </a:r>
          </a:p>
          <a:p>
            <a:pPr eaLnBrk="1" hangingPunct="1"/>
            <a:endParaRPr lang="en-US" altLang="en-US" sz="4000" dirty="0" smtClean="0"/>
          </a:p>
        </p:txBody>
      </p:sp>
    </p:spTree>
    <p:extLst>
      <p:ext uri="{BB962C8B-B14F-4D97-AF65-F5344CB8AC3E}">
        <p14:creationId xmlns:p14="http://schemas.microsoft.com/office/powerpoint/2010/main" val="56573800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dirty="0" smtClean="0"/>
              <a:t>PROOFREADING </a:t>
            </a:r>
            <a:endParaRPr lang="en-US" dirty="0"/>
          </a:p>
        </p:txBody>
      </p:sp>
      <p:sp>
        <p:nvSpPr>
          <p:cNvPr id="3" name="Content Placeholder 2"/>
          <p:cNvSpPr>
            <a:spLocks noGrp="1"/>
          </p:cNvSpPr>
          <p:nvPr>
            <p:ph idx="1"/>
          </p:nvPr>
        </p:nvSpPr>
        <p:spPr/>
        <p:txBody>
          <a:bodyPr>
            <a:normAutofit/>
          </a:bodyPr>
          <a:lstStyle/>
          <a:p>
            <a:pPr algn="just"/>
            <a:r>
              <a:rPr lang="en-US" sz="5400" dirty="0" smtClean="0"/>
              <a:t>This may be termed surface revision. It largely focuses on the mechanics of the language use.</a:t>
            </a:r>
          </a:p>
          <a:p>
            <a:pPr algn="just"/>
            <a:endParaRPr lang="en-US" sz="5400" dirty="0"/>
          </a:p>
        </p:txBody>
      </p:sp>
    </p:spTree>
    <p:extLst>
      <p:ext uri="{BB962C8B-B14F-4D97-AF65-F5344CB8AC3E}">
        <p14:creationId xmlns:p14="http://schemas.microsoft.com/office/powerpoint/2010/main" val="14095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OF PROOREADING</a:t>
            </a:r>
            <a:endParaRPr lang="en-US" dirty="0"/>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US" sz="4800" dirty="0" smtClean="0"/>
              <a:t>Concord</a:t>
            </a:r>
          </a:p>
          <a:p>
            <a:pPr marL="514350" indent="-514350">
              <a:buAutoNum type="arabicPeriod"/>
            </a:pPr>
            <a:r>
              <a:rPr lang="en-US" sz="4800" dirty="0" smtClean="0"/>
              <a:t>Spelling</a:t>
            </a:r>
          </a:p>
          <a:p>
            <a:pPr marL="514350" indent="-514350">
              <a:buAutoNum type="arabicPeriod"/>
            </a:pPr>
            <a:r>
              <a:rPr lang="en-US" sz="4800" dirty="0" smtClean="0"/>
              <a:t>Punctuation</a:t>
            </a:r>
          </a:p>
          <a:p>
            <a:pPr marL="514350" indent="-514350">
              <a:buAutoNum type="arabicPeriod"/>
            </a:pPr>
            <a:r>
              <a:rPr lang="en-US" sz="4800" dirty="0" smtClean="0"/>
              <a:t>Tense </a:t>
            </a:r>
          </a:p>
          <a:p>
            <a:pPr marL="514350" indent="-514350">
              <a:buAutoNum type="arabicPeriod"/>
            </a:pPr>
            <a:r>
              <a:rPr lang="en-US" sz="4800" dirty="0" smtClean="0"/>
              <a:t>Repetition of words (e.g. Africans must </a:t>
            </a:r>
            <a:r>
              <a:rPr lang="en-US" sz="4800" u="sng" dirty="0" smtClean="0"/>
              <a:t>be </a:t>
            </a:r>
            <a:r>
              <a:rPr lang="en-US" sz="4800" u="sng" dirty="0" err="1" smtClean="0"/>
              <a:t>be</a:t>
            </a:r>
            <a:r>
              <a:rPr lang="en-US" sz="4800" u="sng" dirty="0" smtClean="0"/>
              <a:t> </a:t>
            </a:r>
            <a:r>
              <a:rPr lang="en-US" sz="4800" dirty="0" smtClean="0"/>
              <a:t>patriotic)</a:t>
            </a:r>
          </a:p>
        </p:txBody>
      </p:sp>
    </p:spTree>
    <p:extLst>
      <p:ext uri="{BB962C8B-B14F-4D97-AF65-F5344CB8AC3E}">
        <p14:creationId xmlns:p14="http://schemas.microsoft.com/office/powerpoint/2010/main" val="36223485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39151" y="322921"/>
            <a:ext cx="11676184" cy="1325563"/>
          </a:xfrm>
        </p:spPr>
        <p:txBody>
          <a:bodyPr/>
          <a:lstStyle/>
          <a:p>
            <a:pPr eaLnBrk="1" hangingPunct="1"/>
            <a:r>
              <a:rPr lang="en-US" altLang="en-US" sz="3600" b="1" dirty="0">
                <a:solidFill>
                  <a:srgbClr val="7B9899"/>
                </a:solidFill>
                <a:latin typeface="Times New Roman" panose="02020603050405020304" pitchFamily="18" charset="0"/>
                <a:cs typeface="Times New Roman" panose="02020603050405020304" pitchFamily="18" charset="0"/>
              </a:rPr>
              <a:t>SOME GUIDELINES FOR </a:t>
            </a:r>
            <a:r>
              <a:rPr lang="en-US" altLang="en-US" sz="3600" b="1" dirty="0" smtClean="0">
                <a:solidFill>
                  <a:srgbClr val="7B9899"/>
                </a:solidFill>
                <a:latin typeface="Times New Roman" panose="02020603050405020304" pitchFamily="18" charset="0"/>
                <a:cs typeface="Times New Roman" panose="02020603050405020304" pitchFamily="18" charset="0"/>
              </a:rPr>
              <a:t>EDITING/PROOFREADING </a:t>
            </a:r>
            <a:endParaRPr lang="en-US" altLang="en-US" sz="3600" b="1" dirty="0"/>
          </a:p>
        </p:txBody>
      </p:sp>
      <p:sp>
        <p:nvSpPr>
          <p:cNvPr id="17411" name="Content Placeholder 2"/>
          <p:cNvSpPr>
            <a:spLocks noGrp="1"/>
          </p:cNvSpPr>
          <p:nvPr>
            <p:ph idx="1"/>
          </p:nvPr>
        </p:nvSpPr>
        <p:spPr>
          <a:xfrm>
            <a:off x="0" y="1845734"/>
            <a:ext cx="12192000" cy="5012266"/>
          </a:xfrm>
        </p:spPr>
        <p:txBody>
          <a:bodyPr>
            <a:noAutofit/>
          </a:bodyPr>
          <a:lstStyle/>
          <a:p>
            <a:pPr algn="just" eaLnBrk="1" hangingPunct="1"/>
            <a:r>
              <a:rPr lang="en-US" altLang="en-US" sz="4400" dirty="0" smtClean="0">
                <a:latin typeface="Times New Roman" panose="02020603050405020304" pitchFamily="18" charset="0"/>
                <a:cs typeface="Times New Roman" panose="02020603050405020304" pitchFamily="18" charset="0"/>
              </a:rPr>
              <a:t>Maintain some distance from the text in terms of time</a:t>
            </a:r>
          </a:p>
          <a:p>
            <a:pPr algn="just" eaLnBrk="1" hangingPunct="1"/>
            <a:r>
              <a:rPr lang="en-US" altLang="en-US" sz="4400" dirty="0" smtClean="0">
                <a:latin typeface="Times New Roman" panose="02020603050405020304" pitchFamily="18" charset="0"/>
                <a:cs typeface="Times New Roman" panose="02020603050405020304" pitchFamily="18" charset="0"/>
              </a:rPr>
              <a:t>Decide what medium allows you to edit most carefully</a:t>
            </a:r>
          </a:p>
          <a:p>
            <a:pPr algn="just" eaLnBrk="1" hangingPunct="1"/>
            <a:r>
              <a:rPr lang="en-US" altLang="en-US" sz="4400" dirty="0" smtClean="0">
                <a:latin typeface="Times New Roman" panose="02020603050405020304" pitchFamily="18" charset="0"/>
                <a:cs typeface="Times New Roman" panose="02020603050405020304" pitchFamily="18" charset="0"/>
              </a:rPr>
              <a:t>Find a quiet place </a:t>
            </a:r>
          </a:p>
          <a:p>
            <a:pPr algn="just" eaLnBrk="1" hangingPunct="1"/>
            <a:r>
              <a:rPr lang="en-US" altLang="en-US" sz="4400" dirty="0" smtClean="0">
                <a:latin typeface="Times New Roman" panose="02020603050405020304" pitchFamily="18" charset="0"/>
                <a:cs typeface="Times New Roman" panose="02020603050405020304" pitchFamily="18" charset="0"/>
              </a:rPr>
              <a:t>Edit and proofread in several short blocks of time, rather than all at once </a:t>
            </a:r>
          </a:p>
        </p:txBody>
      </p:sp>
    </p:spTree>
    <p:extLst>
      <p:ext uri="{BB962C8B-B14F-4D97-AF65-F5344CB8AC3E}">
        <p14:creationId xmlns:p14="http://schemas.microsoft.com/office/powerpoint/2010/main" val="5795121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3018</Words>
  <Application>Microsoft Office PowerPoint</Application>
  <PresentationFormat>Widescreen</PresentationFormat>
  <Paragraphs>227</Paragraphs>
  <Slides>66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Calibri Light</vt:lpstr>
      <vt:lpstr>Times New Roman</vt:lpstr>
      <vt:lpstr>Wingdings 2</vt:lpstr>
      <vt:lpstr>Office Theme</vt:lpstr>
      <vt:lpstr>PowerPoint Presentation</vt:lpstr>
      <vt:lpstr>Students’ activity </vt:lpstr>
      <vt:lpstr>PowerPoint Presentation</vt:lpstr>
      <vt:lpstr>THE PARAGRAPH</vt:lpstr>
      <vt:lpstr>WHAT IS A PARAGRAPH?</vt:lpstr>
      <vt:lpstr>Questions for discussion</vt:lpstr>
      <vt:lpstr>Qualities of a Good Paragraph</vt:lpstr>
      <vt:lpstr>Unity  (1)</vt:lpstr>
      <vt:lpstr>Coherence/Cohesion  (2)</vt:lpstr>
      <vt:lpstr>Completeness (3)</vt:lpstr>
      <vt:lpstr>Thus, a good paragraph is a UCC paragraph. </vt:lpstr>
      <vt:lpstr>Paragraph Development</vt:lpstr>
      <vt:lpstr>Functional Sentences in a Paragraph </vt:lpstr>
      <vt:lpstr>Topic sentence (1)</vt:lpstr>
      <vt:lpstr>Placement of topic sentences (TS)</vt:lpstr>
      <vt:lpstr>Major supporting sentence(MaSS)  (2)</vt:lpstr>
      <vt:lpstr>Minor Supporting sentence (MiSS) (3)</vt:lpstr>
      <vt:lpstr>Concluding sentence (3)</vt:lpstr>
      <vt:lpstr>Transitional sentence (4)</vt:lpstr>
      <vt:lpstr>Strategies for paragraph development</vt:lpstr>
      <vt:lpstr>Definition –1 </vt:lpstr>
      <vt:lpstr>Explanation</vt:lpstr>
      <vt:lpstr>Exemplification</vt:lpstr>
      <vt:lpstr>Description (</vt:lpstr>
      <vt:lpstr>Compare and contrast</vt:lpstr>
      <vt:lpstr>Forms of Paragraphs </vt:lpstr>
      <vt:lpstr>Why are the introduction and the conclusion considered the most important parts of an essay? </vt:lpstr>
      <vt:lpstr>Introductory Paragraph (1)</vt:lpstr>
      <vt:lpstr>Formative Exercise </vt:lpstr>
      <vt:lpstr>Observation from students essays (1)</vt:lpstr>
      <vt:lpstr>Observation from students essays (2)</vt:lpstr>
      <vt:lpstr>Observation from students essays (3)</vt:lpstr>
      <vt:lpstr>Observation from students essays (2)</vt:lpstr>
      <vt:lpstr>Observation from students essays (4)</vt:lpstr>
      <vt:lpstr>PowerPoint Presentation</vt:lpstr>
      <vt:lpstr>Attention-getters for introductory paragraph</vt:lpstr>
      <vt:lpstr>Structure of Introductory Paragraph</vt:lpstr>
      <vt:lpstr>PowerPoint Presentation</vt:lpstr>
      <vt:lpstr>PowerPoint Presentation</vt:lpstr>
      <vt:lpstr>Body Paragraph  (BP) –2 </vt:lpstr>
      <vt:lpstr>The Concluding Paragraph (CP) –3 </vt:lpstr>
      <vt:lpstr>Signaling the end of an essay… </vt:lpstr>
      <vt:lpstr>Paragraph Analysis </vt:lpstr>
      <vt:lpstr>Read the following paragraphs carefully and analyse them into topic sentence, major supporting, minor supporting and concluding sentences. Use the sentence numbers in your analysis; do not write the entire sentence. </vt:lpstr>
      <vt:lpstr>PowerPoint Presentation</vt:lpstr>
      <vt:lpstr>1Two main categories of people exist in this world –troublemakers and trouble-shooters. 2The former are people who mastermind all the chaos and atrocities in this world.3 Talk of the two world wars and you will have them around their remote and immediate causes.4 All the things in this world which are anti-human are the works of their hands, heads and hearts. 5Examples of these ungodly activities are human tracking, child abuse, same-sex intercourse, cyber crimes, armed robbery and the likes. 6It is surprising that even though these people are God’s creations, they rather do not have the loving spirit of God in them. 7But thank God for the existence of the other category of people who aims at transforming what the troublemakers have deformed. 8For instance, when the troublemakers created virus, they manufactured anti-virus. 9They help create home for refugees who, due to the nefarious activities of the troublemakers, are homeless 10Without trouble-shooters, there will be no ‘heavens’ for those who have been made victims in the ‘hells’ created by the troublemakers. 11Really, they make bitter life better to people. 12Indeed, it is always good to have an eraser wherever there are pencils.  </vt:lpstr>
      <vt:lpstr> 1Some scholars maintain that there are two broad causes of climate change. 2Truly, the earth’s climate is influenced and changed through natural causes.  3When volcano erupts, it throws out large volumes of sulphur dioxide (SO2), water vapour, dust, and ash into the atmosphere. 4Although, the volcanic activity may last for a few days, the large volumes of gases and ash can influence climatic patterns for years. 5Millions of tonnes of sulphur dioxide gas can reach the upper levels of the atmosphere (called the atmosphere) from a major eruption. 6The gases and dust particles partially block the incoming rays of the sun, leading to cooling. 7 But the world climate is not only changing through a natural dynamic cycle but also what the world is worried about is that the change that is occurring today has been speeded up by human activities. 8So, there are three types of human activities which contribute to climate change. 9Industrialization is listed by scientists as the most significant human cause of climate change.10Indeed, climate change can be said to be a negative consequence of both human-related and natural factors.   </vt:lpstr>
      <vt:lpstr>1The discovery of oil in Ghana in commercial quantities is a blessing to all. 2First, it has provided employment opportunities for many people. 3Many skilled professionals such as engineers, accountants and managers, as well many unskilled workers such as labourers and cleaners are gainfully employed in the various oil drilling companies. 4Apart from these categories of people who are directly employed in the oil companies, private businessmen, traders and wayside hawkers alike are also indirectly involved in the oil business. 5Second, the drilling of oil in Ghana is a major foreign exchange earner for the country. 6Like gold, cocoa and bauxite, the oil that is sent out of the country brings in substantial revenue which is used in infrastructural development such as building of schools, hospitals, and roads. 7In addition, the discovery of oil in Ghana has made us less-dependent on other oil-producing countries for our petroleum product needs, thereby saving us costs. 8Finally, every worker employed directly or indirectly in the oil industry is required by law to pay tax. 9Such taxes also help in the growth of the economy of the country. 10It is therefore not surprising that all political regimes Ghana has had have made efforts to discover oil in commercial quantities. </vt:lpstr>
      <vt:lpstr>1The internet is one of the most useful inventions of our time but, like all useful things, its abuse can be very worrying. 2The World Wide Web, as it is sometimes called, serves the triple function of informing, educating and entertaining.3 it is easy enough to pick the latest news and other happenings around the world in real time, as well as follow events as they occur. 4The net also makes it possible for researchers, teachers and students to access the needed information, most of which is free. 5Teachers, for instance, can use information from the net to put together their teaching notes while students can also complement what they learn in class with additional information from the net. 6Social media like Facebook, Instagram and Twitter also help to connect people around the world to share ideas and follow their interests. 7The net also provides opportunities for entertainment where people can watch movies on the net and follow sporting events including soccer, which most of us are fond of. 8However, many people, especially young persons, can easily be influenced negatively by some of the harmful information on the net. 9Sadly, there are many sites that promote pornography, violence and religious radicalism. 10The internet may be a blessing, but we must also be mindful of the potential harm it can cause us. </vt:lpstr>
      <vt:lpstr>TYPES OF PARAGRAPH</vt:lpstr>
      <vt:lpstr>Structure of an Essay </vt:lpstr>
      <vt:lpstr>Structure of an Essay </vt:lpstr>
      <vt:lpstr>Still in Writing stage….</vt:lpstr>
      <vt:lpstr>Post-writing Stage: Editing and Proofreading  </vt:lpstr>
      <vt:lpstr>What is editing?</vt:lpstr>
      <vt:lpstr>TYPES OF EDITING </vt:lpstr>
      <vt:lpstr>PowerPoint Presentation</vt:lpstr>
      <vt:lpstr>FOCUS OF EDITING: CONTENT (1)</vt:lpstr>
      <vt:lpstr>FOCUS OF EDITING: STRUCTURE (2)</vt:lpstr>
      <vt:lpstr>FOCUS OF EDITING: CLARITY (3)</vt:lpstr>
      <vt:lpstr>FOCUS OF EDITING: STYLE (4)</vt:lpstr>
      <vt:lpstr>FOCUS OF EDITING: FORMATTING (5)</vt:lpstr>
      <vt:lpstr>FOCUS OF EDITING: CONCISENESS (6)</vt:lpstr>
      <vt:lpstr>PROOFREADING </vt:lpstr>
      <vt:lpstr>FOCUS OF PROOREADING</vt:lpstr>
      <vt:lpstr>SOME GUIDELINES FOR EDITING/PROOFREADING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Osei Akoto</dc:creator>
  <cp:lastModifiedBy>Osei Akoto</cp:lastModifiedBy>
  <cp:revision>1</cp:revision>
  <dcterms:created xsi:type="dcterms:W3CDTF">2017-10-25T10:49:44Z</dcterms:created>
  <dcterms:modified xsi:type="dcterms:W3CDTF">2017-10-25T10:50:32Z</dcterms:modified>
</cp:coreProperties>
</file>