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68"/>
  </p:notesMasterIdLst>
  <p:sldIdLst>
    <p:sldId id="257" r:id="rId2"/>
    <p:sldId id="327" r:id="rId3"/>
    <p:sldId id="328" r:id="rId4"/>
    <p:sldId id="259" r:id="rId5"/>
    <p:sldId id="260" r:id="rId6"/>
    <p:sldId id="261" r:id="rId7"/>
    <p:sldId id="262" r:id="rId8"/>
    <p:sldId id="263" r:id="rId9"/>
    <p:sldId id="264"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329"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1086" y="1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F27FDE-11D1-4E5C-AE2E-F9EEA524B7B4}" type="datetimeFigureOut">
              <a:rPr lang="en-US" smtClean="0"/>
              <a:pPr/>
              <a:t>12/12/2011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7B81CEE-448C-4921-B44D-C986AF1FF989}" type="slidenum">
              <a:rPr lang="en-US" smtClean="0"/>
              <a:pPr/>
              <a:t>‹#›</a:t>
            </a:fld>
            <a:endParaRPr lang="en-US"/>
          </a:p>
        </p:txBody>
      </p:sp>
    </p:spTree>
    <p:extLst>
      <p:ext uri="{BB962C8B-B14F-4D97-AF65-F5344CB8AC3E}">
        <p14:creationId xmlns:p14="http://schemas.microsoft.com/office/powerpoint/2010/main" val="3899454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CODEX</a:t>
            </a:r>
            <a:r>
              <a:rPr lang="en-GB" baseline="0" dirty="0" smtClean="0"/>
              <a:t> is Latin for food law or code</a:t>
            </a:r>
            <a:endParaRPr lang="en-GB" dirty="0"/>
          </a:p>
        </p:txBody>
      </p:sp>
      <p:sp>
        <p:nvSpPr>
          <p:cNvPr id="4" name="Slide Number Placeholder 3"/>
          <p:cNvSpPr>
            <a:spLocks noGrp="1"/>
          </p:cNvSpPr>
          <p:nvPr>
            <p:ph type="sldNum" sz="quarter" idx="10"/>
          </p:nvPr>
        </p:nvSpPr>
        <p:spPr/>
        <p:txBody>
          <a:bodyPr/>
          <a:lstStyle/>
          <a:p>
            <a:fld id="{E02B1100-A9CC-4A20-A130-BC11984E86DC}" type="slidenum">
              <a:rPr lang="en-GB" smtClean="0"/>
              <a:pPr/>
              <a:t>3</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p:cNvSpPr>
            <a:spLocks noGrp="1" noChangeArrowheads="1"/>
          </p:cNvSpPr>
          <p:nvPr>
            <p:ph type="sldNum" sz="quarter" idx="5"/>
          </p:nvPr>
        </p:nvSpPr>
        <p:spPr>
          <a:noFill/>
        </p:spPr>
        <p:txBody>
          <a:bodyPr/>
          <a:lstStyle/>
          <a:p>
            <a:fld id="{5BC5142A-63A5-4D9B-9034-2E85981B64A2}" type="slidenum">
              <a:rPr lang="en-US"/>
              <a:pPr/>
              <a:t>5</a:t>
            </a:fld>
            <a:endParaRPr lang="en-US"/>
          </a:p>
        </p:txBody>
      </p:sp>
      <p:sp>
        <p:nvSpPr>
          <p:cNvPr id="242691"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2692" name="Rectangle 3"/>
          <p:cNvSpPr>
            <a:spLocks noGrp="1" noChangeArrowheads="1"/>
          </p:cNvSpPr>
          <p:nvPr>
            <p:ph type="body" idx="1"/>
          </p:nvPr>
        </p:nvSpPr>
        <p:spPr>
          <a:xfrm>
            <a:off x="914400" y="4346575"/>
            <a:ext cx="5029200" cy="3849688"/>
          </a:xfrm>
          <a:noFill/>
          <a:ln/>
        </p:spPr>
        <p:txBody>
          <a:bodyPr lIns="90488" tIns="44450" rIns="90488" bIns="44450"/>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0890DD26-CF4D-4444-8ED0-E3B444357B93}" type="slidenum">
              <a:rPr lang="en-US"/>
              <a:pPr/>
              <a:t>6</a:t>
            </a:fld>
            <a:endParaRPr lang="en-US"/>
          </a:p>
        </p:txBody>
      </p:sp>
      <p:sp>
        <p:nvSpPr>
          <p:cNvPr id="243715"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3716" name="Rectangle 3"/>
          <p:cNvSpPr>
            <a:spLocks noGrp="1" noChangeArrowheads="1"/>
          </p:cNvSpPr>
          <p:nvPr>
            <p:ph type="body" idx="1"/>
          </p:nvPr>
        </p:nvSpPr>
        <p:spPr>
          <a:xfrm>
            <a:off x="914400" y="4346575"/>
            <a:ext cx="5029200" cy="3849688"/>
          </a:xfrm>
          <a:noFill/>
          <a:ln/>
        </p:spPr>
        <p:txBody>
          <a:bodyPr lIns="90488" tIns="44450" rIns="90488" bIns="44450"/>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a:spLocks noGrp="1" noChangeArrowheads="1"/>
          </p:cNvSpPr>
          <p:nvPr>
            <p:ph type="sldNum" sz="quarter" idx="5"/>
          </p:nvPr>
        </p:nvSpPr>
        <p:spPr>
          <a:noFill/>
        </p:spPr>
        <p:txBody>
          <a:bodyPr/>
          <a:lstStyle/>
          <a:p>
            <a:fld id="{837A2158-A7B6-4CB5-9E6F-0CCA76D080D8}" type="slidenum">
              <a:rPr lang="en-US"/>
              <a:pPr/>
              <a:t>60</a:t>
            </a:fld>
            <a:endParaRPr lang="en-US"/>
          </a:p>
        </p:txBody>
      </p:sp>
      <p:sp>
        <p:nvSpPr>
          <p:cNvPr id="244739" name="Rectangle 2"/>
          <p:cNvSpPr>
            <a:spLocks noGrp="1" noRot="1" noChangeAspect="1" noChangeArrowheads="1" noTextEdit="1"/>
          </p:cNvSpPr>
          <p:nvPr>
            <p:ph type="sldImg"/>
          </p:nvPr>
        </p:nvSpPr>
        <p:spPr>
          <a:ln/>
        </p:spPr>
      </p:sp>
      <p:sp>
        <p:nvSpPr>
          <p:cNvPr id="24474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p:spPr>
        <p:txBody>
          <a:bodyPr/>
          <a:lstStyle/>
          <a:p>
            <a:fld id="{0913300E-31BF-4CB4-BDBB-4156355EE8BD}" type="slidenum">
              <a:rPr lang="en-US"/>
              <a:pPr/>
              <a:t>64</a:t>
            </a:fld>
            <a:endParaRPr lang="en-US"/>
          </a:p>
        </p:txBody>
      </p:sp>
      <p:sp>
        <p:nvSpPr>
          <p:cNvPr id="245763" name="Rectangle 2"/>
          <p:cNvSpPr>
            <a:spLocks noGrp="1" noRot="1" noChangeAspect="1" noChangeArrowheads="1" noTextEdit="1"/>
          </p:cNvSpPr>
          <p:nvPr>
            <p:ph type="sldImg"/>
          </p:nvPr>
        </p:nvSpPr>
        <p:spPr>
          <a:xfrm>
            <a:off x="1150938" y="692150"/>
            <a:ext cx="4556125" cy="3416300"/>
          </a:xfrm>
          <a:ln w="12700" cap="flat">
            <a:solidFill>
              <a:schemeClr val="tx1"/>
            </a:solidFill>
          </a:ln>
        </p:spPr>
      </p:sp>
      <p:sp>
        <p:nvSpPr>
          <p:cNvPr id="245764" name="Rectangle 3"/>
          <p:cNvSpPr>
            <a:spLocks noGrp="1" noChangeArrowheads="1"/>
          </p:cNvSpPr>
          <p:nvPr>
            <p:ph type="body" idx="1"/>
          </p:nvPr>
        </p:nvSpPr>
        <p:spPr>
          <a:xfrm>
            <a:off x="914400" y="4346575"/>
            <a:ext cx="5029200" cy="3849688"/>
          </a:xfrm>
          <a:noFill/>
          <a:ln/>
        </p:spPr>
        <p:txBody>
          <a:bodyPr lIns="90488" tIns="44450" rIns="90488" bIns="44450"/>
          <a:lstStyle/>
          <a:p>
            <a:pPr eaLnBrk="1" hangingPunct="1"/>
            <a:endParaRPr lang="en-GB"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7B31EA1-7695-4CBB-B78B-8D953C6F74AA}" type="datetimeFigureOut">
              <a:rPr lang="en-US" smtClean="0"/>
              <a:pPr/>
              <a:t>12/12/2011</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FF54739F-8981-40A0-BA17-0E8D38E94EC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7B31EA1-7695-4CBB-B78B-8D953C6F74AA}" type="datetimeFigureOut">
              <a:rPr lang="en-US" smtClean="0"/>
              <a:pPr/>
              <a:t>12/12/2011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4739F-8981-40A0-BA17-0E8D38E94EC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7B31EA1-7695-4CBB-B78B-8D953C6F74AA}" type="datetimeFigureOut">
              <a:rPr lang="en-US" smtClean="0"/>
              <a:pPr/>
              <a:t>12/12/2011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4739F-8981-40A0-BA17-0E8D38E94EC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7B31EA1-7695-4CBB-B78B-8D953C6F74AA}" type="datetimeFigureOut">
              <a:rPr lang="en-US" smtClean="0"/>
              <a:pPr/>
              <a:t>12/12/2011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54739F-8981-40A0-BA17-0E8D38E94EC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7B31EA1-7695-4CBB-B78B-8D953C6F74AA}" type="datetimeFigureOut">
              <a:rPr lang="en-US" smtClean="0"/>
              <a:pPr/>
              <a:t>12/12/2011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54739F-8981-40A0-BA17-0E8D38E94EC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7B31EA1-7695-4CBB-B78B-8D953C6F74AA}" type="datetimeFigureOut">
              <a:rPr lang="en-US" smtClean="0"/>
              <a:pPr/>
              <a:t>12/12/2011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54739F-8981-40A0-BA17-0E8D38E94EC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B31EA1-7695-4CBB-B78B-8D953C6F74AA}" type="datetimeFigureOut">
              <a:rPr lang="en-US" smtClean="0"/>
              <a:pPr/>
              <a:t>12/12/2011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54739F-8981-40A0-BA17-0E8D38E94EC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7B31EA1-7695-4CBB-B78B-8D953C6F74AA}" type="datetimeFigureOut">
              <a:rPr lang="en-US" smtClean="0"/>
              <a:pPr/>
              <a:t>12/12/2011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54739F-8981-40A0-BA17-0E8D38E94EC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7B31EA1-7695-4CBB-B78B-8D953C6F74AA}" type="datetimeFigureOut">
              <a:rPr lang="en-US" smtClean="0"/>
              <a:pPr/>
              <a:t>12/12/2011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FF54739F-8981-40A0-BA17-0E8D38E94ECC}"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7B31EA1-7695-4CBB-B78B-8D953C6F74AA}" type="datetimeFigureOut">
              <a:rPr lang="en-US" smtClean="0"/>
              <a:pPr/>
              <a:t>12/12/2011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4739F-8981-40A0-BA17-0E8D38E94EC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7B31EA1-7695-4CBB-B78B-8D953C6F74AA}" type="datetimeFigureOut">
              <a:rPr lang="en-US" smtClean="0"/>
              <a:pPr/>
              <a:t>12/12/2011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54739F-8981-40A0-BA17-0E8D38E94ECC}"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pPr lvl="0"/>
            <a:endParaRPr lang="en-US" noProof="0" smtClean="0"/>
          </a:p>
        </p:txBody>
      </p:sp>
      <p:sp>
        <p:nvSpPr>
          <p:cNvPr id="4" name="Rectangle 2"/>
          <p:cNvSpPr>
            <a:spLocks noGrp="1" noChangeArrowheads="1"/>
          </p:cNvSpPr>
          <p:nvPr>
            <p:ph type="dt" sz="half"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CA2EC018-8261-40AA-8B65-79075E710EE1}" type="slidenum">
              <a:rPr lang="en-US"/>
              <a:pPr>
                <a:defRPr/>
              </a:pPr>
              <a:t>‹#›</a:t>
            </a:fld>
            <a:endParaRPr lang="en-US"/>
          </a:p>
        </p:txBody>
      </p:sp>
      <p:sp>
        <p:nvSpPr>
          <p:cNvPr id="6" name="Rectangle 14"/>
          <p:cNvSpPr>
            <a:spLocks noGrp="1" noChangeArrowheads="1"/>
          </p:cNvSpPr>
          <p:nvPr>
            <p:ph type="ftr" sz="quarter" idx="12"/>
          </p:nvPr>
        </p:nvSpPr>
        <p:spPr>
          <a:ln/>
        </p:spPr>
        <p:txBody>
          <a:bodyPr/>
          <a:lstStyle>
            <a:lvl1pPr>
              <a:defRPr/>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600200"/>
            <a:ext cx="4038600" cy="4525963"/>
          </a:xfrm>
        </p:spPr>
        <p:txBody>
          <a:bodyPr/>
          <a:lstStyle/>
          <a:p>
            <a:pPr lvl="0"/>
            <a:endParaRPr lang="en-US" noProof="0" smtClean="0"/>
          </a:p>
        </p:txBody>
      </p:sp>
      <p:sp>
        <p:nvSpPr>
          <p:cNvPr id="5" name="Rectangle 2"/>
          <p:cNvSpPr>
            <a:spLocks noGrp="1" noChangeArrowheads="1"/>
          </p:cNvSpPr>
          <p:nvPr>
            <p:ph type="dt" sz="half"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85D4ACBA-B11E-4FA2-91EA-227999837842}" type="slidenum">
              <a:rPr lang="en-US"/>
              <a:pPr>
                <a:defRPr/>
              </a:pPr>
              <a:t>‹#›</a:t>
            </a:fld>
            <a:endParaRPr lang="en-US"/>
          </a:p>
        </p:txBody>
      </p:sp>
      <p:sp>
        <p:nvSpPr>
          <p:cNvPr id="7" name="Rectangle 14"/>
          <p:cNvSpPr>
            <a:spLocks noGrp="1" noChangeArrowheads="1"/>
          </p:cNvSpPr>
          <p:nvPr>
            <p:ph type="ftr" sz="quarter" idx="12"/>
          </p:nvPr>
        </p:nvSpPr>
        <p:spPr>
          <a:ln/>
        </p:spPr>
        <p:txBody>
          <a:bodyPr/>
          <a:lstStyle>
            <a:lvl1pPr>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7B31EA1-7695-4CBB-B78B-8D953C6F74AA}" type="datetimeFigureOut">
              <a:rPr lang="en-US" smtClean="0"/>
              <a:pPr/>
              <a:t>12/12/2011</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FF54739F-8981-40A0-BA17-0E8D38E94ECC}"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Microsoft_Word_97_-_2003_Document1.doc"/><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Rot="1" noChangeArrowheads="1"/>
          </p:cNvSpPr>
          <p:nvPr>
            <p:ph type="title"/>
          </p:nvPr>
        </p:nvSpPr>
        <p:spPr>
          <a:xfrm>
            <a:off x="250825" y="1052513"/>
            <a:ext cx="8229600" cy="3671887"/>
          </a:xfrm>
        </p:spPr>
        <p:txBody>
          <a:bodyPr/>
          <a:lstStyle/>
          <a:p>
            <a:pPr eaLnBrk="1" hangingPunct="1">
              <a:defRPr/>
            </a:pPr>
            <a:r>
              <a:rPr lang="en-US" sz="3600" b="0" smtClean="0">
                <a:latin typeface="Times New Roman" pitchFamily="18" charset="0"/>
              </a:rPr>
              <a:t>Introduction to the application of the principles to Hazard Analysis and Critical Control Points (HACCP)</a:t>
            </a:r>
          </a:p>
        </p:txBody>
      </p:sp>
      <p:sp>
        <p:nvSpPr>
          <p:cNvPr id="159746" name="Slide Number Placeholder 3"/>
          <p:cNvSpPr>
            <a:spLocks noGrp="1"/>
          </p:cNvSpPr>
          <p:nvPr>
            <p:ph type="sldNum" sz="quarter" idx="12"/>
          </p:nvPr>
        </p:nvSpPr>
        <p:spPr>
          <a:noFill/>
        </p:spPr>
        <p:txBody>
          <a:bodyPr/>
          <a:lstStyle/>
          <a:p>
            <a:fld id="{95E7FE31-52EF-4F9F-BAA2-29E8613C2750}" type="slidenum">
              <a:rPr lang="en-US"/>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 1</a:t>
            </a:r>
          </a:p>
        </p:txBody>
      </p:sp>
      <p:sp>
        <p:nvSpPr>
          <p:cNvPr id="3" name="Content Placeholder 2"/>
          <p:cNvSpPr>
            <a:spLocks noGrp="1"/>
          </p:cNvSpPr>
          <p:nvPr>
            <p:ph idx="1"/>
          </p:nvPr>
        </p:nvSpPr>
        <p:spPr/>
        <p:txBody>
          <a:bodyPr>
            <a:normAutofit/>
          </a:bodyPr>
          <a:lstStyle/>
          <a:p>
            <a:pPr>
              <a:buNone/>
            </a:pPr>
            <a:endParaRPr lang="en-GB" dirty="0" smtClean="0"/>
          </a:p>
          <a:p>
            <a:r>
              <a:rPr lang="en-GB" dirty="0" smtClean="0"/>
              <a:t>It is a scientific system of identifying hazards in food production and implementing control measures to prevent, eliminate or reduce them to acceptable levels at all stages in the food chain.</a:t>
            </a:r>
          </a:p>
          <a:p>
            <a:r>
              <a:rPr lang="en-GB" dirty="0" smtClean="0"/>
              <a:t>It is a food safety concept developed for NASA in the 1960s to ensure that food provided for astronauts would not cause illness.</a:t>
            </a:r>
          </a:p>
          <a:p>
            <a:r>
              <a:rPr lang="en-GB" dirty="0" smtClean="0"/>
              <a:t>It is the disciplined application of science to specific food process to ensure food safety</a:t>
            </a:r>
            <a:endParaRPr lang="en-GB"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 2</a:t>
            </a:r>
          </a:p>
        </p:txBody>
      </p:sp>
      <p:sp>
        <p:nvSpPr>
          <p:cNvPr id="3" name="Content Placeholder 2"/>
          <p:cNvSpPr>
            <a:spLocks noGrp="1"/>
          </p:cNvSpPr>
          <p:nvPr>
            <p:ph idx="1"/>
          </p:nvPr>
        </p:nvSpPr>
        <p:spPr/>
        <p:txBody>
          <a:bodyPr>
            <a:normAutofit/>
          </a:bodyPr>
          <a:lstStyle/>
          <a:p>
            <a:r>
              <a:rPr lang="en-GB" dirty="0" smtClean="0"/>
              <a:t>The CODEX </a:t>
            </a:r>
            <a:r>
              <a:rPr lang="en-GB" dirty="0" err="1" smtClean="0"/>
              <a:t>Alimentarius</a:t>
            </a:r>
            <a:r>
              <a:rPr lang="en-GB" dirty="0" smtClean="0"/>
              <a:t> Commission (CODEX) develops international food safety standards. </a:t>
            </a:r>
          </a:p>
          <a:p>
            <a:r>
              <a:rPr lang="en-GB" dirty="0" smtClean="0"/>
              <a:t>CODEX is the joint commission of the FAO and the WHO both of the UN developed the CODEX </a:t>
            </a:r>
            <a:r>
              <a:rPr lang="en-GB" dirty="0" err="1" smtClean="0"/>
              <a:t>Alimentarius</a:t>
            </a:r>
            <a:r>
              <a:rPr lang="en-GB" dirty="0" smtClean="0"/>
              <a:t> which is the globally accepted food standards.</a:t>
            </a:r>
          </a:p>
          <a:p>
            <a:r>
              <a:rPr lang="en-GB" dirty="0" smtClean="0"/>
              <a:t>The CODEX committee drafted the HACCP principles in June `1991 which was accepted in October of the same year.</a:t>
            </a:r>
            <a:endParaRPr lang="en-GB"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Rot="1" noChangeArrowheads="1"/>
          </p:cNvSpPr>
          <p:nvPr>
            <p:ph type="title"/>
          </p:nvPr>
        </p:nvSpPr>
        <p:spPr/>
        <p:txBody>
          <a:bodyPr/>
          <a:lstStyle/>
          <a:p>
            <a:pPr eaLnBrk="1" hangingPunct="1">
              <a:defRPr/>
            </a:pPr>
            <a:r>
              <a:rPr lang="en-US" sz="3600" b="0" dirty="0" smtClean="0">
                <a:latin typeface="Times New Roman" pitchFamily="18" charset="0"/>
              </a:rPr>
              <a:t>Concept </a:t>
            </a:r>
          </a:p>
        </p:txBody>
      </p:sp>
      <p:sp>
        <p:nvSpPr>
          <p:cNvPr id="289795" name="Rectangle 3"/>
          <p:cNvSpPr>
            <a:spLocks noGrp="1" noChangeArrowheads="1"/>
          </p:cNvSpPr>
          <p:nvPr>
            <p:ph idx="1"/>
          </p:nvPr>
        </p:nvSpPr>
        <p:spPr/>
        <p:txBody>
          <a:bodyPr/>
          <a:lstStyle/>
          <a:p>
            <a:pPr eaLnBrk="1" hangingPunct="1">
              <a:buFont typeface="Wingdings" pitchFamily="2" charset="2"/>
              <a:buNone/>
              <a:defRPr/>
            </a:pPr>
            <a:r>
              <a:rPr lang="en-US" sz="2800" smtClean="0">
                <a:latin typeface="Times New Roman" pitchFamily="18" charset="0"/>
              </a:rPr>
              <a:t>HACCP enables the food handler to do a ‘self-check’ aimed at ensuring food safety through;</a:t>
            </a:r>
          </a:p>
          <a:p>
            <a:pPr lvl="1" eaLnBrk="1" hangingPunct="1">
              <a:defRPr/>
            </a:pPr>
            <a:r>
              <a:rPr lang="en-US" sz="3200" smtClean="0">
                <a:latin typeface="Times New Roman" pitchFamily="18" charset="0"/>
              </a:rPr>
              <a:t> </a:t>
            </a:r>
            <a:r>
              <a:rPr lang="en-US" sz="2400" smtClean="0">
                <a:latin typeface="Times New Roman" pitchFamily="18" charset="0"/>
              </a:rPr>
              <a:t>the identification of  critical stages of the food preparation chain</a:t>
            </a:r>
          </a:p>
          <a:p>
            <a:pPr lvl="1" eaLnBrk="1" hangingPunct="1">
              <a:defRPr/>
            </a:pPr>
            <a:r>
              <a:rPr lang="en-US" sz="2400" smtClean="0">
                <a:latin typeface="Times New Roman" pitchFamily="18" charset="0"/>
              </a:rPr>
              <a:t>establishment of acceptable limits for key parameters responsible for food safety at these stages</a:t>
            </a:r>
          </a:p>
          <a:p>
            <a:pPr lvl="1" eaLnBrk="1" hangingPunct="1">
              <a:defRPr/>
            </a:pPr>
            <a:r>
              <a:rPr lang="en-US" sz="2400" smtClean="0">
                <a:latin typeface="Times New Roman" pitchFamily="18" charset="0"/>
              </a:rPr>
              <a:t>monitoring of the process at these critical stages to ensure that the acceptable limits are not exceeded</a:t>
            </a:r>
          </a:p>
          <a:p>
            <a:pPr lvl="1" eaLnBrk="1" hangingPunct="1">
              <a:defRPr/>
            </a:pPr>
            <a:r>
              <a:rPr lang="en-US" sz="2400" smtClean="0">
                <a:latin typeface="Times New Roman" pitchFamily="18" charset="0"/>
              </a:rPr>
              <a:t>establishment of actions to be taken if monitoring indicates that the acceptable limits are exceeded</a:t>
            </a:r>
          </a:p>
          <a:p>
            <a:pPr lvl="1" eaLnBrk="1" hangingPunct="1">
              <a:defRPr/>
            </a:pPr>
            <a:endParaRPr lang="en-US" smtClean="0"/>
          </a:p>
          <a:p>
            <a:pPr lvl="1" eaLnBrk="1" hangingPunct="1">
              <a:defRPr/>
            </a:pPr>
            <a:endParaRPr lang="en-US" smtClean="0"/>
          </a:p>
        </p:txBody>
      </p:sp>
      <p:sp>
        <p:nvSpPr>
          <p:cNvPr id="161794" name="Slide Number Placeholder 4"/>
          <p:cNvSpPr>
            <a:spLocks noGrp="1"/>
          </p:cNvSpPr>
          <p:nvPr>
            <p:ph type="sldNum" sz="quarter" idx="12"/>
          </p:nvPr>
        </p:nvSpPr>
        <p:spPr>
          <a:noFill/>
        </p:spPr>
        <p:txBody>
          <a:bodyPr/>
          <a:lstStyle/>
          <a:p>
            <a:fld id="{97007593-C242-4C6B-A59D-F308DC7B29B2}" type="slidenum">
              <a:rPr lang="en-US"/>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Rot="1" noChangeArrowheads="1"/>
          </p:cNvSpPr>
          <p:nvPr>
            <p:ph type="title"/>
          </p:nvPr>
        </p:nvSpPr>
        <p:spPr>
          <a:xfrm>
            <a:off x="1042988" y="188913"/>
            <a:ext cx="7620000" cy="865187"/>
          </a:xfrm>
        </p:spPr>
        <p:txBody>
          <a:bodyPr lIns="90488" tIns="44450" rIns="90488" bIns="44450"/>
          <a:lstStyle/>
          <a:p>
            <a:pPr eaLnBrk="1" hangingPunct="1">
              <a:defRPr/>
            </a:pPr>
            <a:r>
              <a:rPr lang="en-US" sz="3600" b="0" smtClean="0">
                <a:latin typeface="Times New Roman" pitchFamily="18" charset="0"/>
              </a:rPr>
              <a:t>Why use HACCP? </a:t>
            </a:r>
          </a:p>
        </p:txBody>
      </p:sp>
      <p:sp>
        <p:nvSpPr>
          <p:cNvPr id="290819" name="Rectangle 3"/>
          <p:cNvSpPr>
            <a:spLocks noGrp="1" noChangeArrowheads="1"/>
          </p:cNvSpPr>
          <p:nvPr>
            <p:ph idx="1"/>
          </p:nvPr>
        </p:nvSpPr>
        <p:spPr>
          <a:xfrm>
            <a:off x="611188" y="1268413"/>
            <a:ext cx="8001000" cy="4752975"/>
          </a:xfrm>
        </p:spPr>
        <p:txBody>
          <a:bodyPr lIns="90488" tIns="44450" rIns="90488" bIns="44450"/>
          <a:lstStyle/>
          <a:p>
            <a:pPr eaLnBrk="1" hangingPunct="1">
              <a:defRPr/>
            </a:pPr>
            <a:r>
              <a:rPr lang="en-US" sz="2800" dirty="0" smtClean="0">
                <a:latin typeface="Times New Roman" pitchFamily="18" charset="0"/>
              </a:rPr>
              <a:t>Management of product safety</a:t>
            </a:r>
          </a:p>
          <a:p>
            <a:pPr eaLnBrk="1" hangingPunct="1">
              <a:defRPr/>
            </a:pPr>
            <a:r>
              <a:rPr lang="en-US" sz="2800" dirty="0" smtClean="0">
                <a:latin typeface="Times New Roman" pitchFamily="18" charset="0"/>
              </a:rPr>
              <a:t>Reduce the increasing incidence of food safety issues</a:t>
            </a:r>
          </a:p>
          <a:p>
            <a:pPr eaLnBrk="1" hangingPunct="1">
              <a:defRPr/>
            </a:pPr>
            <a:r>
              <a:rPr lang="en-US" sz="2800" dirty="0" smtClean="0">
                <a:latin typeface="Times New Roman" pitchFamily="18" charset="0"/>
              </a:rPr>
              <a:t>Customer Pressure - demanding safe food</a:t>
            </a:r>
          </a:p>
          <a:p>
            <a:pPr eaLnBrk="1" hangingPunct="1">
              <a:defRPr/>
            </a:pPr>
            <a:r>
              <a:rPr lang="en-US" sz="2800" dirty="0" smtClean="0">
                <a:latin typeface="Times New Roman" pitchFamily="18" charset="0"/>
              </a:rPr>
              <a:t>Legislative requirements - national and international levels</a:t>
            </a:r>
          </a:p>
          <a:p>
            <a:pPr eaLnBrk="1" hangingPunct="1">
              <a:defRPr/>
            </a:pPr>
            <a:r>
              <a:rPr lang="en-US" sz="2800" dirty="0" smtClean="0">
                <a:latin typeface="Times New Roman" pitchFamily="18" charset="0"/>
              </a:rPr>
              <a:t>Foundation for the development of effective food safety management system</a:t>
            </a:r>
          </a:p>
          <a:p>
            <a:pPr eaLnBrk="1" hangingPunct="1">
              <a:defRPr/>
            </a:pPr>
            <a:endParaRPr lang="en-US" sz="2800" dirty="0" smtClean="0">
              <a:latin typeface="Times New Roman" pitchFamily="18" charset="0"/>
            </a:endParaRPr>
          </a:p>
        </p:txBody>
      </p:sp>
      <p:sp>
        <p:nvSpPr>
          <p:cNvPr id="162818" name="Slide Number Placeholder 4"/>
          <p:cNvSpPr>
            <a:spLocks noGrp="1"/>
          </p:cNvSpPr>
          <p:nvPr>
            <p:ph type="sldNum" sz="quarter" idx="12"/>
          </p:nvPr>
        </p:nvSpPr>
        <p:spPr>
          <a:noFill/>
        </p:spPr>
        <p:txBody>
          <a:bodyPr/>
          <a:lstStyle/>
          <a:p>
            <a:fld id="{AF7637E7-6833-41D4-A830-0E57724CD751}" type="slidenum">
              <a:rPr lang="en-US"/>
              <a:pPr/>
              <a:t>5</a:t>
            </a:fld>
            <a:endParaRPr lang="en-US"/>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Rot="1" noChangeArrowheads="1"/>
          </p:cNvSpPr>
          <p:nvPr>
            <p:ph type="title"/>
          </p:nvPr>
        </p:nvSpPr>
        <p:spPr/>
        <p:txBody>
          <a:bodyPr lIns="90488" tIns="44450" rIns="90488" bIns="44450">
            <a:normAutofit fontScale="90000"/>
          </a:bodyPr>
          <a:lstStyle/>
          <a:p>
            <a:pPr eaLnBrk="1" hangingPunct="1">
              <a:defRPr/>
            </a:pPr>
            <a:r>
              <a:rPr lang="en-US" sz="3600" b="0" dirty="0" smtClean="0">
                <a:latin typeface="Times New Roman" pitchFamily="18" charset="0"/>
              </a:rPr>
              <a:t>Benefits of  HACCP to the food industry (1)</a:t>
            </a:r>
          </a:p>
        </p:txBody>
      </p:sp>
      <p:sp>
        <p:nvSpPr>
          <p:cNvPr id="292867" name="Rectangle 3"/>
          <p:cNvSpPr>
            <a:spLocks noGrp="1" noChangeArrowheads="1"/>
          </p:cNvSpPr>
          <p:nvPr>
            <p:ph idx="1"/>
          </p:nvPr>
        </p:nvSpPr>
        <p:spPr/>
        <p:txBody>
          <a:bodyPr lIns="90488" tIns="44450" rIns="90488" bIns="44450"/>
          <a:lstStyle/>
          <a:p>
            <a:pPr eaLnBrk="1" hangingPunct="1">
              <a:lnSpc>
                <a:spcPct val="80000"/>
              </a:lnSpc>
              <a:defRPr/>
            </a:pPr>
            <a:r>
              <a:rPr lang="en-US" sz="2800" dirty="0" smtClean="0">
                <a:latin typeface="Times New Roman" pitchFamily="18" charset="0"/>
              </a:rPr>
              <a:t>The systematic approach in its application allows for the identification of all potential areas of food safety concerns in the operation.</a:t>
            </a:r>
          </a:p>
          <a:p>
            <a:pPr eaLnBrk="1" hangingPunct="1">
              <a:lnSpc>
                <a:spcPct val="80000"/>
              </a:lnSpc>
              <a:defRPr/>
            </a:pPr>
            <a:r>
              <a:rPr lang="en-US" sz="2800" dirty="0" smtClean="0">
                <a:latin typeface="Times New Roman" pitchFamily="18" charset="0"/>
              </a:rPr>
              <a:t>As preventative system it allows for the control of potential food safety hazards.</a:t>
            </a:r>
          </a:p>
          <a:p>
            <a:pPr eaLnBrk="1" hangingPunct="1">
              <a:lnSpc>
                <a:spcPct val="80000"/>
              </a:lnSpc>
              <a:defRPr/>
            </a:pPr>
            <a:r>
              <a:rPr lang="en-US" sz="2800" dirty="0" smtClean="0">
                <a:latin typeface="Times New Roman" pitchFamily="18" charset="0"/>
              </a:rPr>
              <a:t>Increases confidence in the product</a:t>
            </a:r>
          </a:p>
          <a:p>
            <a:pPr eaLnBrk="1" hangingPunct="1">
              <a:lnSpc>
                <a:spcPct val="80000"/>
              </a:lnSpc>
              <a:defRPr/>
            </a:pPr>
            <a:r>
              <a:rPr lang="en-US" sz="2800" dirty="0" smtClean="0">
                <a:latin typeface="Times New Roman" pitchFamily="18" charset="0"/>
              </a:rPr>
              <a:t>Resources are used effectively.</a:t>
            </a:r>
          </a:p>
          <a:p>
            <a:pPr eaLnBrk="1" hangingPunct="1">
              <a:lnSpc>
                <a:spcPct val="80000"/>
              </a:lnSpc>
              <a:buFont typeface="Wingdings" pitchFamily="2" charset="2"/>
              <a:buNone/>
              <a:defRPr/>
            </a:pPr>
            <a:endParaRPr lang="en-US" sz="2800" dirty="0" smtClean="0">
              <a:latin typeface="Times New Roman" pitchFamily="18" charset="0"/>
            </a:endParaRPr>
          </a:p>
        </p:txBody>
      </p:sp>
      <p:sp>
        <p:nvSpPr>
          <p:cNvPr id="163842" name="Slide Number Placeholder 4"/>
          <p:cNvSpPr>
            <a:spLocks noGrp="1"/>
          </p:cNvSpPr>
          <p:nvPr>
            <p:ph type="sldNum" sz="quarter" idx="12"/>
          </p:nvPr>
        </p:nvSpPr>
        <p:spPr>
          <a:noFill/>
        </p:spPr>
        <p:txBody>
          <a:bodyPr/>
          <a:lstStyle/>
          <a:p>
            <a:fld id="{7BC04595-6F83-47EB-9451-15DF33AA0891}" type="slidenum">
              <a:rPr lang="en-US"/>
              <a:pPr/>
              <a:t>6</a:t>
            </a:fld>
            <a:endParaRPr 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Rot="1" noChangeArrowheads="1"/>
          </p:cNvSpPr>
          <p:nvPr>
            <p:ph type="title"/>
          </p:nvPr>
        </p:nvSpPr>
        <p:spPr>
          <a:xfrm>
            <a:off x="457200" y="274638"/>
            <a:ext cx="8229600" cy="922337"/>
          </a:xfrm>
        </p:spPr>
        <p:txBody>
          <a:bodyPr>
            <a:normAutofit/>
          </a:bodyPr>
          <a:lstStyle/>
          <a:p>
            <a:pPr eaLnBrk="1" hangingPunct="1">
              <a:defRPr/>
            </a:pPr>
            <a:r>
              <a:rPr lang="en-US" sz="3600" b="0" dirty="0" smtClean="0">
                <a:latin typeface="Times New Roman" pitchFamily="18" charset="0"/>
              </a:rPr>
              <a:t>Benefits of  HACCP to the food industry (2)</a:t>
            </a:r>
          </a:p>
        </p:txBody>
      </p:sp>
      <p:sp>
        <p:nvSpPr>
          <p:cNvPr id="294915" name="Rectangle 3"/>
          <p:cNvSpPr>
            <a:spLocks noGrp="1" noChangeArrowheads="1"/>
          </p:cNvSpPr>
          <p:nvPr>
            <p:ph idx="1"/>
          </p:nvPr>
        </p:nvSpPr>
        <p:spPr>
          <a:xfrm>
            <a:off x="457200" y="1341438"/>
            <a:ext cx="8229600" cy="4784725"/>
          </a:xfrm>
        </p:spPr>
        <p:txBody>
          <a:bodyPr/>
          <a:lstStyle/>
          <a:p>
            <a:pPr eaLnBrk="1" hangingPunct="1">
              <a:lnSpc>
                <a:spcPct val="90000"/>
              </a:lnSpc>
              <a:defRPr/>
            </a:pPr>
            <a:r>
              <a:rPr lang="en-US" sz="2800" dirty="0" smtClean="0">
                <a:latin typeface="Times New Roman" pitchFamily="18" charset="0"/>
              </a:rPr>
              <a:t>Cost effective control system</a:t>
            </a:r>
          </a:p>
          <a:p>
            <a:pPr eaLnBrk="1" hangingPunct="1">
              <a:lnSpc>
                <a:spcPct val="90000"/>
              </a:lnSpc>
              <a:defRPr/>
            </a:pPr>
            <a:r>
              <a:rPr lang="en-US" sz="2800" dirty="0" smtClean="0">
                <a:latin typeface="Times New Roman" pitchFamily="18" charset="0"/>
              </a:rPr>
              <a:t>Improves food safety which allows for increased  market access (customers)</a:t>
            </a:r>
          </a:p>
          <a:p>
            <a:pPr eaLnBrk="1" hangingPunct="1">
              <a:lnSpc>
                <a:spcPct val="90000"/>
              </a:lnSpc>
              <a:defRPr/>
            </a:pPr>
            <a:r>
              <a:rPr lang="en-US" sz="2800" dirty="0" smtClean="0">
                <a:latin typeface="Times New Roman" pitchFamily="18" charset="0"/>
              </a:rPr>
              <a:t>Provides business liability protection (legal actions by customers, regulatory sanctions etc. are reduced)</a:t>
            </a:r>
          </a:p>
          <a:p>
            <a:pPr eaLnBrk="1" hangingPunct="1">
              <a:lnSpc>
                <a:spcPct val="90000"/>
              </a:lnSpc>
              <a:defRPr/>
            </a:pPr>
            <a:r>
              <a:rPr lang="en-US" sz="2800" dirty="0" smtClean="0">
                <a:latin typeface="Times New Roman" pitchFamily="18" charset="0"/>
              </a:rPr>
              <a:t>A driver for continuous improvement</a:t>
            </a:r>
            <a:r>
              <a:rPr lang="en-US" sz="2800" dirty="0" smtClean="0"/>
              <a:t> </a:t>
            </a:r>
          </a:p>
          <a:p>
            <a:pPr eaLnBrk="1" hangingPunct="1">
              <a:lnSpc>
                <a:spcPct val="90000"/>
              </a:lnSpc>
              <a:buFont typeface="Wingdings" pitchFamily="2" charset="2"/>
              <a:buNone/>
              <a:defRPr/>
            </a:pPr>
            <a:r>
              <a:rPr lang="en-US" sz="2000" dirty="0" smtClean="0"/>
              <a:t>                                       </a:t>
            </a:r>
          </a:p>
          <a:p>
            <a:pPr eaLnBrk="1" hangingPunct="1">
              <a:lnSpc>
                <a:spcPct val="90000"/>
              </a:lnSpc>
              <a:defRPr/>
            </a:pPr>
            <a:endParaRPr lang="en-US" sz="2000" dirty="0" smtClean="0"/>
          </a:p>
        </p:txBody>
      </p:sp>
      <p:sp>
        <p:nvSpPr>
          <p:cNvPr id="164866" name="Slide Number Placeholder 4"/>
          <p:cNvSpPr>
            <a:spLocks noGrp="1"/>
          </p:cNvSpPr>
          <p:nvPr>
            <p:ph type="sldNum" sz="quarter" idx="12"/>
          </p:nvPr>
        </p:nvSpPr>
        <p:spPr>
          <a:noFill/>
        </p:spPr>
        <p:txBody>
          <a:bodyPr/>
          <a:lstStyle/>
          <a:p>
            <a:fld id="{94297F14-3E55-486A-AE68-1AB0D29880D8}" type="slidenum">
              <a:rPr lang="en-US"/>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Rot="1" noChangeArrowheads="1"/>
          </p:cNvSpPr>
          <p:nvPr>
            <p:ph type="title"/>
          </p:nvPr>
        </p:nvSpPr>
        <p:spPr>
          <a:xfrm>
            <a:off x="457200" y="274638"/>
            <a:ext cx="8229600" cy="706437"/>
          </a:xfrm>
        </p:spPr>
        <p:txBody>
          <a:bodyPr/>
          <a:lstStyle/>
          <a:p>
            <a:pPr eaLnBrk="1" hangingPunct="1">
              <a:defRPr/>
            </a:pPr>
            <a:r>
              <a:rPr lang="en-US" sz="3600" b="0" smtClean="0">
                <a:latin typeface="Times New Roman" pitchFamily="18" charset="0"/>
              </a:rPr>
              <a:t>The Principles of HACCP</a:t>
            </a:r>
            <a:r>
              <a:rPr lang="en-US" sz="3600" smtClean="0"/>
              <a:t>  </a:t>
            </a:r>
          </a:p>
        </p:txBody>
      </p:sp>
      <p:sp>
        <p:nvSpPr>
          <p:cNvPr id="295939" name="Rectangle 3"/>
          <p:cNvSpPr>
            <a:spLocks noGrp="1" noChangeArrowheads="1"/>
          </p:cNvSpPr>
          <p:nvPr>
            <p:ph idx="1"/>
          </p:nvPr>
        </p:nvSpPr>
        <p:spPr>
          <a:xfrm>
            <a:off x="457200" y="1125538"/>
            <a:ext cx="8229600" cy="5399087"/>
          </a:xfrm>
        </p:spPr>
        <p:txBody>
          <a:bodyPr/>
          <a:lstStyle/>
          <a:p>
            <a:pPr eaLnBrk="1" hangingPunct="1">
              <a:lnSpc>
                <a:spcPct val="90000"/>
              </a:lnSpc>
              <a:defRPr/>
            </a:pPr>
            <a:r>
              <a:rPr lang="en-US" sz="2800" dirty="0" smtClean="0">
                <a:latin typeface="Times New Roman" pitchFamily="18" charset="0"/>
              </a:rPr>
              <a:t>The HACCP concept consist of seven (7) principles, </a:t>
            </a:r>
            <a:r>
              <a:rPr lang="en-US" sz="2800" dirty="0" err="1" smtClean="0">
                <a:latin typeface="Times New Roman" pitchFamily="18" charset="0"/>
              </a:rPr>
              <a:t>vis</a:t>
            </a:r>
            <a:r>
              <a:rPr lang="en-US" sz="2800" dirty="0" smtClean="0">
                <a:latin typeface="Times New Roman" pitchFamily="18" charset="0"/>
              </a:rPr>
              <a:t>;</a:t>
            </a:r>
          </a:p>
          <a:p>
            <a:pPr lvl="1" eaLnBrk="1" hangingPunct="1">
              <a:lnSpc>
                <a:spcPct val="90000"/>
              </a:lnSpc>
              <a:defRPr/>
            </a:pPr>
            <a:r>
              <a:rPr lang="en-US" sz="2400" dirty="0" smtClean="0">
                <a:latin typeface="Times New Roman" pitchFamily="18" charset="0"/>
              </a:rPr>
              <a:t>Identification of hazards</a:t>
            </a:r>
          </a:p>
          <a:p>
            <a:pPr lvl="1" eaLnBrk="1" hangingPunct="1">
              <a:lnSpc>
                <a:spcPct val="90000"/>
              </a:lnSpc>
              <a:defRPr/>
            </a:pPr>
            <a:r>
              <a:rPr lang="en-US" sz="2400" dirty="0" smtClean="0">
                <a:latin typeface="Times New Roman" pitchFamily="18" charset="0"/>
              </a:rPr>
              <a:t>Identification of critical control points (critical stages)</a:t>
            </a:r>
          </a:p>
          <a:p>
            <a:pPr lvl="1" eaLnBrk="1" hangingPunct="1">
              <a:lnSpc>
                <a:spcPct val="90000"/>
              </a:lnSpc>
              <a:defRPr/>
            </a:pPr>
            <a:r>
              <a:rPr lang="en-US" sz="2400" dirty="0" smtClean="0">
                <a:latin typeface="Times New Roman" pitchFamily="18" charset="0"/>
              </a:rPr>
              <a:t>Establishing of critical limits for each critical point</a:t>
            </a:r>
          </a:p>
          <a:p>
            <a:pPr lvl="1" eaLnBrk="1" hangingPunct="1">
              <a:lnSpc>
                <a:spcPct val="90000"/>
              </a:lnSpc>
              <a:defRPr/>
            </a:pPr>
            <a:r>
              <a:rPr lang="en-US" sz="2400" dirty="0" smtClean="0">
                <a:latin typeface="Times New Roman" pitchFamily="18" charset="0"/>
              </a:rPr>
              <a:t>Establishing monitoring procedures</a:t>
            </a:r>
          </a:p>
          <a:p>
            <a:pPr lvl="1" eaLnBrk="1" hangingPunct="1">
              <a:lnSpc>
                <a:spcPct val="90000"/>
              </a:lnSpc>
              <a:defRPr/>
            </a:pPr>
            <a:r>
              <a:rPr lang="en-US" sz="2400" dirty="0" smtClean="0">
                <a:latin typeface="Times New Roman" pitchFamily="18" charset="0"/>
              </a:rPr>
              <a:t>Establishing corrective actions</a:t>
            </a:r>
          </a:p>
          <a:p>
            <a:pPr lvl="1" eaLnBrk="1" hangingPunct="1">
              <a:lnSpc>
                <a:spcPct val="90000"/>
              </a:lnSpc>
              <a:defRPr/>
            </a:pPr>
            <a:r>
              <a:rPr lang="en-US" sz="2400" dirty="0" smtClean="0">
                <a:latin typeface="Times New Roman" pitchFamily="18" charset="0"/>
              </a:rPr>
              <a:t>Establishing verification procedures</a:t>
            </a:r>
          </a:p>
          <a:p>
            <a:pPr lvl="1" eaLnBrk="1" hangingPunct="1">
              <a:lnSpc>
                <a:spcPct val="90000"/>
              </a:lnSpc>
              <a:defRPr/>
            </a:pPr>
            <a:r>
              <a:rPr lang="en-US" sz="2400" dirty="0" smtClean="0">
                <a:latin typeface="Times New Roman" pitchFamily="18" charset="0"/>
              </a:rPr>
              <a:t>Documentation and records keeping</a:t>
            </a:r>
          </a:p>
          <a:p>
            <a:pPr lvl="1" eaLnBrk="1" hangingPunct="1">
              <a:lnSpc>
                <a:spcPct val="90000"/>
              </a:lnSpc>
              <a:defRPr/>
            </a:pPr>
            <a:endParaRPr lang="en-US" sz="2400" dirty="0" smtClean="0">
              <a:latin typeface="Times New Roman" pitchFamily="18" charset="0"/>
            </a:endParaRPr>
          </a:p>
          <a:p>
            <a:pPr lvl="1" eaLnBrk="1" hangingPunct="1">
              <a:lnSpc>
                <a:spcPct val="90000"/>
              </a:lnSpc>
              <a:defRPr/>
            </a:pPr>
            <a:endParaRPr lang="en-US" sz="2400" dirty="0" smtClean="0"/>
          </a:p>
        </p:txBody>
      </p:sp>
      <p:sp>
        <p:nvSpPr>
          <p:cNvPr id="165890" name="Slide Number Placeholder 4"/>
          <p:cNvSpPr>
            <a:spLocks noGrp="1"/>
          </p:cNvSpPr>
          <p:nvPr>
            <p:ph type="sldNum" sz="quarter" idx="12"/>
          </p:nvPr>
        </p:nvSpPr>
        <p:spPr>
          <a:noFill/>
        </p:spPr>
        <p:txBody>
          <a:bodyPr/>
          <a:lstStyle/>
          <a:p>
            <a:fld id="{31DAA2F0-EA0C-4C82-B57D-19945B65E888}" type="slidenum">
              <a:rPr lang="en-US"/>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Rot="1" noChangeArrowheads="1"/>
          </p:cNvSpPr>
          <p:nvPr>
            <p:ph type="title"/>
          </p:nvPr>
        </p:nvSpPr>
        <p:spPr>
          <a:xfrm>
            <a:off x="457200" y="274639"/>
            <a:ext cx="8229600" cy="715962"/>
          </a:xfrm>
        </p:spPr>
        <p:txBody>
          <a:bodyPr/>
          <a:lstStyle/>
          <a:p>
            <a:pPr eaLnBrk="1" hangingPunct="1">
              <a:defRPr/>
            </a:pPr>
            <a:r>
              <a:rPr lang="en-US" sz="3600" b="0" dirty="0" smtClean="0">
                <a:latin typeface="Times New Roman" pitchFamily="18" charset="0"/>
              </a:rPr>
              <a:t>HACCP Terminologies </a:t>
            </a:r>
          </a:p>
        </p:txBody>
      </p:sp>
      <p:sp>
        <p:nvSpPr>
          <p:cNvPr id="296963" name="Rectangle 3"/>
          <p:cNvSpPr>
            <a:spLocks noGrp="1" noChangeArrowheads="1"/>
          </p:cNvSpPr>
          <p:nvPr>
            <p:ph idx="1"/>
          </p:nvPr>
        </p:nvSpPr>
        <p:spPr>
          <a:xfrm>
            <a:off x="468313" y="1052945"/>
            <a:ext cx="8229600" cy="5424055"/>
          </a:xfrm>
        </p:spPr>
        <p:txBody>
          <a:bodyPr>
            <a:normAutofit lnSpcReduction="10000"/>
          </a:bodyPr>
          <a:lstStyle/>
          <a:p>
            <a:pPr eaLnBrk="1" hangingPunct="1">
              <a:defRPr/>
            </a:pPr>
            <a:r>
              <a:rPr lang="en-GB" sz="2800" b="1" dirty="0" smtClean="0">
                <a:latin typeface="Times New Roman" pitchFamily="18" charset="0"/>
              </a:rPr>
              <a:t>Control </a:t>
            </a:r>
            <a:endParaRPr lang="en-GB" sz="2800" dirty="0" smtClean="0">
              <a:latin typeface="Times New Roman" pitchFamily="18" charset="0"/>
            </a:endParaRPr>
          </a:p>
          <a:p>
            <a:pPr eaLnBrk="1" hangingPunct="1">
              <a:defRPr/>
            </a:pPr>
            <a:r>
              <a:rPr lang="en-GB" sz="2800" b="1" dirty="0" smtClean="0">
                <a:latin typeface="Times New Roman" pitchFamily="18" charset="0"/>
              </a:rPr>
              <a:t>Control measure</a:t>
            </a:r>
          </a:p>
          <a:p>
            <a:pPr>
              <a:lnSpc>
                <a:spcPct val="90000"/>
              </a:lnSpc>
              <a:defRPr/>
            </a:pPr>
            <a:r>
              <a:rPr lang="en-US" sz="2800" b="1" dirty="0" smtClean="0">
                <a:latin typeface="Times New Roman" pitchFamily="18" charset="0"/>
              </a:rPr>
              <a:t>Corrective action</a:t>
            </a:r>
            <a:r>
              <a:rPr lang="en-GB" sz="2800" dirty="0" smtClean="0">
                <a:latin typeface="Times New Roman" pitchFamily="18" charset="0"/>
              </a:rPr>
              <a:t> </a:t>
            </a:r>
          </a:p>
          <a:p>
            <a:pPr>
              <a:lnSpc>
                <a:spcPct val="90000"/>
              </a:lnSpc>
              <a:defRPr/>
            </a:pPr>
            <a:r>
              <a:rPr lang="en-US" sz="2800" b="1" dirty="0" smtClean="0">
                <a:latin typeface="Times New Roman" pitchFamily="18" charset="0"/>
              </a:rPr>
              <a:t>Critical Control Point (CCP)</a:t>
            </a:r>
            <a:endParaRPr lang="en-GB" sz="2800" dirty="0" smtClean="0">
              <a:latin typeface="Times New Roman" pitchFamily="18" charset="0"/>
            </a:endParaRPr>
          </a:p>
          <a:p>
            <a:pPr>
              <a:lnSpc>
                <a:spcPct val="90000"/>
              </a:lnSpc>
              <a:defRPr/>
            </a:pPr>
            <a:r>
              <a:rPr lang="en-US" sz="2800" b="1" dirty="0" smtClean="0">
                <a:latin typeface="Times New Roman" pitchFamily="18" charset="0"/>
              </a:rPr>
              <a:t>Critical Limit</a:t>
            </a:r>
            <a:r>
              <a:rPr lang="en-US" sz="2800" dirty="0" smtClean="0"/>
              <a:t> </a:t>
            </a:r>
            <a:endParaRPr lang="en-US" sz="2800" dirty="0" smtClean="0">
              <a:latin typeface="Times New Roman" pitchFamily="18" charset="0"/>
            </a:endParaRPr>
          </a:p>
          <a:p>
            <a:pPr>
              <a:lnSpc>
                <a:spcPct val="90000"/>
              </a:lnSpc>
              <a:defRPr/>
            </a:pPr>
            <a:r>
              <a:rPr lang="en-US" sz="2800" b="1" dirty="0" smtClean="0">
                <a:latin typeface="Times New Roman" pitchFamily="18" charset="0"/>
              </a:rPr>
              <a:t>Deviation</a:t>
            </a:r>
            <a:endParaRPr lang="en-US" sz="2800" dirty="0" smtClean="0">
              <a:latin typeface="Times New Roman" pitchFamily="18" charset="0"/>
            </a:endParaRPr>
          </a:p>
          <a:p>
            <a:pPr>
              <a:defRPr/>
            </a:pPr>
            <a:r>
              <a:rPr lang="en-GB" sz="2800" b="1" dirty="0" smtClean="0">
                <a:latin typeface="Times New Roman" pitchFamily="18" charset="0"/>
              </a:rPr>
              <a:t>Flow diagram</a:t>
            </a:r>
            <a:r>
              <a:rPr lang="en-GB" sz="2800" dirty="0" smtClean="0">
                <a:latin typeface="Times New Roman" pitchFamily="18" charset="0"/>
              </a:rPr>
              <a:t>  </a:t>
            </a:r>
          </a:p>
          <a:p>
            <a:pPr>
              <a:defRPr/>
            </a:pPr>
            <a:r>
              <a:rPr lang="en-US" sz="2800" b="1" dirty="0" smtClean="0">
                <a:latin typeface="Times New Roman" pitchFamily="18" charset="0"/>
              </a:rPr>
              <a:t>Hazard</a:t>
            </a:r>
            <a:r>
              <a:rPr lang="en-GB" sz="2800" dirty="0" smtClean="0">
                <a:latin typeface="Times New Roman" pitchFamily="18" charset="0"/>
              </a:rPr>
              <a:t> </a:t>
            </a:r>
            <a:endParaRPr lang="en-US" sz="2800" dirty="0" smtClean="0">
              <a:latin typeface="Times New Roman" pitchFamily="18" charset="0"/>
            </a:endParaRPr>
          </a:p>
          <a:p>
            <a:pPr>
              <a:defRPr/>
            </a:pPr>
            <a:r>
              <a:rPr lang="en-GB" sz="2800" b="1" dirty="0" smtClean="0">
                <a:latin typeface="Times New Roman" pitchFamily="18" charset="0"/>
              </a:rPr>
              <a:t>Monitor</a:t>
            </a:r>
            <a:r>
              <a:rPr lang="en-GB" sz="2800" dirty="0" smtClean="0">
                <a:latin typeface="Times New Roman" pitchFamily="18" charset="0"/>
              </a:rPr>
              <a:t> </a:t>
            </a:r>
          </a:p>
          <a:p>
            <a:pPr>
              <a:defRPr/>
            </a:pPr>
            <a:r>
              <a:rPr lang="en-GB" sz="2800" b="1" dirty="0" smtClean="0">
                <a:latin typeface="Times New Roman" pitchFamily="18" charset="0"/>
              </a:rPr>
              <a:t>Step</a:t>
            </a:r>
            <a:r>
              <a:rPr lang="en-GB" sz="2800" dirty="0" smtClean="0">
                <a:latin typeface="Times New Roman" pitchFamily="18" charset="0"/>
              </a:rPr>
              <a:t> </a:t>
            </a:r>
          </a:p>
          <a:p>
            <a:pPr>
              <a:defRPr/>
            </a:pPr>
            <a:r>
              <a:rPr lang="en-US" sz="2800" b="1" dirty="0" smtClean="0">
                <a:latin typeface="Times New Roman" pitchFamily="18" charset="0"/>
              </a:rPr>
              <a:t>Verification</a:t>
            </a:r>
            <a:endParaRPr lang="en-GB" sz="2800" dirty="0" smtClean="0">
              <a:latin typeface="Times New Roman" pitchFamily="18" charset="0"/>
            </a:endParaRPr>
          </a:p>
          <a:p>
            <a:pPr eaLnBrk="1" hangingPunct="1">
              <a:defRPr/>
            </a:pPr>
            <a:endParaRPr lang="en-GB" sz="2800" dirty="0" smtClean="0">
              <a:latin typeface="Times New Roman" pitchFamily="18" charset="0"/>
            </a:endParaRPr>
          </a:p>
          <a:p>
            <a:pPr eaLnBrk="1" hangingPunct="1">
              <a:defRPr/>
            </a:pPr>
            <a:endParaRPr lang="en-GB" sz="2800" dirty="0" smtClean="0">
              <a:latin typeface="Times New Roman" pitchFamily="18" charset="0"/>
            </a:endParaRPr>
          </a:p>
          <a:p>
            <a:pPr eaLnBrk="1" hangingPunct="1">
              <a:defRPr/>
            </a:pPr>
            <a:endParaRPr lang="en-GB" sz="2800" dirty="0" smtClean="0">
              <a:latin typeface="Times New Roman" pitchFamily="18" charset="0"/>
            </a:endParaRPr>
          </a:p>
          <a:p>
            <a:pPr eaLnBrk="1" hangingPunct="1">
              <a:defRPr/>
            </a:pPr>
            <a:endParaRPr lang="en-GB" sz="2800" dirty="0" smtClean="0"/>
          </a:p>
          <a:p>
            <a:pPr eaLnBrk="1" hangingPunct="1">
              <a:defRPr/>
            </a:pPr>
            <a:endParaRPr lang="en-US" sz="2800" dirty="0" smtClean="0"/>
          </a:p>
        </p:txBody>
      </p:sp>
      <p:sp>
        <p:nvSpPr>
          <p:cNvPr id="166914" name="Slide Number Placeholder 4"/>
          <p:cNvSpPr>
            <a:spLocks noGrp="1"/>
          </p:cNvSpPr>
          <p:nvPr>
            <p:ph type="sldNum" sz="quarter" idx="12"/>
          </p:nvPr>
        </p:nvSpPr>
        <p:spPr>
          <a:noFill/>
        </p:spPr>
        <p:txBody>
          <a:bodyPr/>
          <a:lstStyle/>
          <a:p>
            <a:fld id="{DDA4F757-73DB-4A8C-807E-65EACF940962}" type="slidenum">
              <a:rPr lang="en-US"/>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Rot="1" noChangeArrowheads="1"/>
          </p:cNvSpPr>
          <p:nvPr>
            <p:ph type="title"/>
          </p:nvPr>
        </p:nvSpPr>
        <p:spPr/>
        <p:txBody>
          <a:bodyPr>
            <a:normAutofit/>
          </a:bodyPr>
          <a:lstStyle/>
          <a:p>
            <a:pPr eaLnBrk="1" hangingPunct="1">
              <a:defRPr/>
            </a:pPr>
            <a:r>
              <a:rPr lang="en-US" sz="3600" b="0" smtClean="0">
                <a:latin typeface="Times New Roman" pitchFamily="18" charset="0"/>
              </a:rPr>
              <a:t>The HACCP System and Pre-requisite Programmes (PRPs)</a:t>
            </a:r>
          </a:p>
        </p:txBody>
      </p:sp>
      <p:sp>
        <p:nvSpPr>
          <p:cNvPr id="301059" name="Rectangle 3"/>
          <p:cNvSpPr>
            <a:spLocks noGrp="1" noChangeArrowheads="1"/>
          </p:cNvSpPr>
          <p:nvPr>
            <p:ph idx="1"/>
          </p:nvPr>
        </p:nvSpPr>
        <p:spPr/>
        <p:txBody>
          <a:bodyPr/>
          <a:lstStyle/>
          <a:p>
            <a:pPr eaLnBrk="1" hangingPunct="1">
              <a:defRPr/>
            </a:pPr>
            <a:r>
              <a:rPr lang="en-US" sz="2800" smtClean="0">
                <a:latin typeface="Times New Roman" pitchFamily="18" charset="0"/>
              </a:rPr>
              <a:t>The HACCP system as a food safety management tool can be most effective when there are sound pre-requisite programmes (PRPs) in place.</a:t>
            </a:r>
          </a:p>
          <a:p>
            <a:pPr eaLnBrk="1" hangingPunct="1">
              <a:defRPr/>
            </a:pPr>
            <a:r>
              <a:rPr lang="en-US" sz="2800" smtClean="0">
                <a:latin typeface="Times New Roman" pitchFamily="18" charset="0"/>
              </a:rPr>
              <a:t>PRPs serve as the foundation on which the HACCP system is built.</a:t>
            </a:r>
          </a:p>
          <a:p>
            <a:pPr lvl="1" eaLnBrk="1" hangingPunct="1">
              <a:defRPr/>
            </a:pPr>
            <a:r>
              <a:rPr lang="en-US" sz="2400" smtClean="0">
                <a:latin typeface="Times New Roman" pitchFamily="18" charset="0"/>
              </a:rPr>
              <a:t>Good PRPs make HACCP work</a:t>
            </a:r>
          </a:p>
          <a:p>
            <a:pPr lvl="1" eaLnBrk="1" hangingPunct="1">
              <a:defRPr/>
            </a:pPr>
            <a:r>
              <a:rPr lang="en-US" sz="2400" smtClean="0">
                <a:latin typeface="Times New Roman" pitchFamily="18" charset="0"/>
              </a:rPr>
              <a:t>Bad PRPs will make HACCP fail</a:t>
            </a:r>
          </a:p>
          <a:p>
            <a:pPr lvl="1" eaLnBrk="1" hangingPunct="1">
              <a:defRPr/>
            </a:pPr>
            <a:r>
              <a:rPr lang="en-US" sz="2400" smtClean="0">
                <a:latin typeface="Times New Roman" pitchFamily="18" charset="0"/>
              </a:rPr>
              <a:t>In fact, no PRPs no HACCP!</a:t>
            </a:r>
          </a:p>
        </p:txBody>
      </p:sp>
      <p:sp>
        <p:nvSpPr>
          <p:cNvPr id="171010" name="Slide Number Placeholder 4"/>
          <p:cNvSpPr>
            <a:spLocks noGrp="1"/>
          </p:cNvSpPr>
          <p:nvPr>
            <p:ph type="sldNum" sz="quarter" idx="12"/>
          </p:nvPr>
        </p:nvSpPr>
        <p:spPr>
          <a:noFill/>
        </p:spPr>
        <p:txBody>
          <a:bodyPr/>
          <a:lstStyle/>
          <a:p>
            <a:fld id="{94F87FFB-15DF-4984-B98E-CC979A862549}" type="slidenum">
              <a:rPr lang="en-US"/>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Rot="1" noChangeArrowheads="1"/>
          </p:cNvSpPr>
          <p:nvPr>
            <p:ph type="title"/>
          </p:nvPr>
        </p:nvSpPr>
        <p:spPr/>
        <p:txBody>
          <a:bodyPr/>
          <a:lstStyle/>
          <a:p>
            <a:pPr eaLnBrk="1" hangingPunct="1">
              <a:defRPr/>
            </a:pPr>
            <a:r>
              <a:rPr lang="en-US" sz="3600" b="0" smtClean="0">
                <a:latin typeface="Times New Roman" pitchFamily="18" charset="0"/>
              </a:rPr>
              <a:t>Overview of PRPs (1)</a:t>
            </a:r>
          </a:p>
        </p:txBody>
      </p:sp>
      <p:sp>
        <p:nvSpPr>
          <p:cNvPr id="302083" name="Rectangle 3"/>
          <p:cNvSpPr>
            <a:spLocks noGrp="1" noChangeArrowheads="1"/>
          </p:cNvSpPr>
          <p:nvPr>
            <p:ph idx="1"/>
          </p:nvPr>
        </p:nvSpPr>
        <p:spPr>
          <a:xfrm>
            <a:off x="457200" y="1341438"/>
            <a:ext cx="8229600" cy="4784725"/>
          </a:xfrm>
        </p:spPr>
        <p:txBody>
          <a:bodyPr>
            <a:normAutofit lnSpcReduction="10000"/>
          </a:bodyPr>
          <a:lstStyle/>
          <a:p>
            <a:pPr eaLnBrk="1" hangingPunct="1">
              <a:lnSpc>
                <a:spcPct val="90000"/>
              </a:lnSpc>
              <a:buNone/>
              <a:defRPr/>
            </a:pPr>
            <a:r>
              <a:rPr lang="en-US" sz="2800" dirty="0" smtClean="0">
                <a:latin typeface="Times New Roman" pitchFamily="18" charset="0"/>
              </a:rPr>
              <a:t>1</a:t>
            </a:r>
            <a:r>
              <a:rPr lang="en-US" sz="2800" dirty="0" smtClean="0">
                <a:latin typeface="Times New Roman" pitchFamily="18" charset="0"/>
              </a:rPr>
              <a:t>.</a:t>
            </a:r>
          </a:p>
          <a:p>
            <a:pPr eaLnBrk="1" hangingPunct="1">
              <a:lnSpc>
                <a:spcPct val="90000"/>
              </a:lnSpc>
              <a:buNone/>
              <a:defRPr/>
            </a:pPr>
            <a:r>
              <a:rPr lang="en-US" sz="2800" dirty="0" smtClean="0">
                <a:latin typeface="Times New Roman" pitchFamily="18" charset="0"/>
              </a:rPr>
              <a:t> </a:t>
            </a:r>
            <a:r>
              <a:rPr lang="en-US" sz="2800" dirty="0" smtClean="0">
                <a:latin typeface="Times New Roman" pitchFamily="18" charset="0"/>
              </a:rPr>
              <a:t>Environmental Hygiene</a:t>
            </a:r>
          </a:p>
          <a:p>
            <a:pPr lvl="1" eaLnBrk="1" hangingPunct="1">
              <a:lnSpc>
                <a:spcPct val="90000"/>
              </a:lnSpc>
              <a:defRPr/>
            </a:pPr>
            <a:r>
              <a:rPr lang="en-US" sz="2400" dirty="0" smtClean="0">
                <a:latin typeface="Times New Roman" pitchFamily="18" charset="0"/>
              </a:rPr>
              <a:t>Maintenance of sanitation at food production areas; immediate and external areas</a:t>
            </a:r>
          </a:p>
          <a:p>
            <a:pPr lvl="1" eaLnBrk="1" hangingPunct="1">
              <a:lnSpc>
                <a:spcPct val="90000"/>
              </a:lnSpc>
              <a:defRPr/>
            </a:pPr>
            <a:r>
              <a:rPr lang="en-US" sz="2400" dirty="0" smtClean="0">
                <a:latin typeface="Times New Roman" pitchFamily="18" charset="0"/>
              </a:rPr>
              <a:t>Maintenance of sound fabric of food production area</a:t>
            </a:r>
          </a:p>
          <a:p>
            <a:pPr lvl="2" eaLnBrk="1" hangingPunct="1">
              <a:lnSpc>
                <a:spcPct val="90000"/>
              </a:lnSpc>
              <a:defRPr/>
            </a:pPr>
            <a:r>
              <a:rPr lang="en-US" sz="2000" dirty="0" smtClean="0">
                <a:latin typeface="Times New Roman" pitchFamily="18" charset="0"/>
              </a:rPr>
              <a:t>Floors, doors, windows, ceiling, drains in good state of repair</a:t>
            </a:r>
          </a:p>
          <a:p>
            <a:pPr lvl="2" eaLnBrk="1" hangingPunct="1">
              <a:lnSpc>
                <a:spcPct val="90000"/>
              </a:lnSpc>
              <a:defRPr/>
            </a:pPr>
            <a:r>
              <a:rPr lang="en-US" sz="2000" dirty="0" smtClean="0">
                <a:latin typeface="Times New Roman" pitchFamily="18" charset="0"/>
              </a:rPr>
              <a:t>Flow of drains from high risk to low risk areas</a:t>
            </a:r>
          </a:p>
          <a:p>
            <a:pPr lvl="2" eaLnBrk="1" hangingPunct="1">
              <a:lnSpc>
                <a:spcPct val="90000"/>
              </a:lnSpc>
              <a:defRPr/>
            </a:pPr>
            <a:r>
              <a:rPr lang="en-US" sz="2000" dirty="0" smtClean="0">
                <a:latin typeface="Times New Roman" pitchFamily="18" charset="0"/>
              </a:rPr>
              <a:t>Sound ventilation and illumination</a:t>
            </a:r>
          </a:p>
          <a:p>
            <a:pPr lvl="2" eaLnBrk="1" hangingPunct="1">
              <a:lnSpc>
                <a:spcPct val="90000"/>
              </a:lnSpc>
              <a:defRPr/>
            </a:pPr>
            <a:r>
              <a:rPr lang="en-US" sz="2000" dirty="0" smtClean="0">
                <a:latin typeface="Times New Roman" pitchFamily="18" charset="0"/>
              </a:rPr>
              <a:t>Light fittings and other overhead fittings not serving as potential sources of food safety hazards</a:t>
            </a:r>
          </a:p>
          <a:p>
            <a:pPr lvl="1" eaLnBrk="1" hangingPunct="1">
              <a:lnSpc>
                <a:spcPct val="90000"/>
              </a:lnSpc>
              <a:defRPr/>
            </a:pPr>
            <a:r>
              <a:rPr lang="en-US" sz="2400" dirty="0" smtClean="0">
                <a:latin typeface="Times New Roman" pitchFamily="18" charset="0"/>
              </a:rPr>
              <a:t>Effective cleaning </a:t>
            </a:r>
            <a:r>
              <a:rPr lang="en-US" sz="2400" dirty="0" err="1" smtClean="0">
                <a:latin typeface="Times New Roman" pitchFamily="18" charset="0"/>
              </a:rPr>
              <a:t>programme</a:t>
            </a:r>
            <a:endParaRPr lang="en-US" sz="2400" dirty="0" smtClean="0">
              <a:latin typeface="Times New Roman" pitchFamily="18" charset="0"/>
            </a:endParaRPr>
          </a:p>
          <a:p>
            <a:pPr lvl="1" eaLnBrk="1" hangingPunct="1">
              <a:lnSpc>
                <a:spcPct val="90000"/>
              </a:lnSpc>
              <a:defRPr/>
            </a:pPr>
            <a:r>
              <a:rPr lang="en-US" sz="2400" dirty="0" smtClean="0">
                <a:latin typeface="Times New Roman" pitchFamily="18" charset="0"/>
              </a:rPr>
              <a:t>Effective waste management </a:t>
            </a:r>
            <a:r>
              <a:rPr lang="en-US" sz="2400" dirty="0" err="1" smtClean="0">
                <a:latin typeface="Times New Roman" pitchFamily="18" charset="0"/>
              </a:rPr>
              <a:t>programme</a:t>
            </a:r>
            <a:endParaRPr lang="en-US" sz="2400" dirty="0" smtClean="0">
              <a:latin typeface="Times New Roman" pitchFamily="18" charset="0"/>
            </a:endParaRPr>
          </a:p>
          <a:p>
            <a:pPr lvl="1" eaLnBrk="1" hangingPunct="1">
              <a:lnSpc>
                <a:spcPct val="90000"/>
              </a:lnSpc>
              <a:defRPr/>
            </a:pPr>
            <a:r>
              <a:rPr lang="en-US" sz="2400" dirty="0" smtClean="0">
                <a:latin typeface="Times New Roman" pitchFamily="18" charset="0"/>
              </a:rPr>
              <a:t>Effective pest control </a:t>
            </a:r>
            <a:r>
              <a:rPr lang="en-US" sz="2400" dirty="0" err="1" smtClean="0">
                <a:latin typeface="Times New Roman" pitchFamily="18" charset="0"/>
              </a:rPr>
              <a:t>programme</a:t>
            </a:r>
            <a:endParaRPr lang="en-US" sz="2400" dirty="0" smtClean="0">
              <a:latin typeface="Times New Roman" pitchFamily="18" charset="0"/>
            </a:endParaRPr>
          </a:p>
          <a:p>
            <a:pPr lvl="1" eaLnBrk="1" hangingPunct="1">
              <a:lnSpc>
                <a:spcPct val="90000"/>
              </a:lnSpc>
              <a:defRPr/>
            </a:pPr>
            <a:endParaRPr lang="en-US" sz="2400" dirty="0" smtClean="0">
              <a:latin typeface="Times New Roman" pitchFamily="18" charset="0"/>
            </a:endParaRPr>
          </a:p>
        </p:txBody>
      </p:sp>
      <p:sp>
        <p:nvSpPr>
          <p:cNvPr id="172034" name="Slide Number Placeholder 4"/>
          <p:cNvSpPr>
            <a:spLocks noGrp="1"/>
          </p:cNvSpPr>
          <p:nvPr>
            <p:ph type="sldNum" sz="quarter" idx="12"/>
          </p:nvPr>
        </p:nvSpPr>
        <p:spPr>
          <a:noFill/>
        </p:spPr>
        <p:txBody>
          <a:bodyPr/>
          <a:lstStyle/>
          <a:p>
            <a:fld id="{AA188672-B749-4AB8-BF3B-342979ED29D2}" type="slidenum">
              <a:rPr lang="en-US"/>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Rot="1" noChangeArrowheads="1"/>
          </p:cNvSpPr>
          <p:nvPr>
            <p:ph type="title"/>
          </p:nvPr>
        </p:nvSpPr>
        <p:spPr>
          <a:xfrm>
            <a:off x="457200" y="274638"/>
            <a:ext cx="8229600" cy="706437"/>
          </a:xfrm>
        </p:spPr>
        <p:txBody>
          <a:bodyPr/>
          <a:lstStyle/>
          <a:p>
            <a:pPr eaLnBrk="1" hangingPunct="1">
              <a:defRPr/>
            </a:pPr>
            <a:r>
              <a:rPr lang="en-US" sz="3600" b="0" smtClean="0">
                <a:latin typeface="Times New Roman" pitchFamily="18" charset="0"/>
              </a:rPr>
              <a:t>Overview of PRPs (2)</a:t>
            </a:r>
          </a:p>
        </p:txBody>
      </p:sp>
      <p:sp>
        <p:nvSpPr>
          <p:cNvPr id="303107" name="Rectangle 3"/>
          <p:cNvSpPr>
            <a:spLocks noGrp="1" noChangeArrowheads="1"/>
          </p:cNvSpPr>
          <p:nvPr>
            <p:ph idx="1"/>
          </p:nvPr>
        </p:nvSpPr>
        <p:spPr>
          <a:xfrm>
            <a:off x="457200" y="1125538"/>
            <a:ext cx="8229600" cy="5000625"/>
          </a:xfrm>
        </p:spPr>
        <p:txBody>
          <a:bodyPr/>
          <a:lstStyle/>
          <a:p>
            <a:pPr eaLnBrk="1" hangingPunct="1">
              <a:lnSpc>
                <a:spcPct val="90000"/>
              </a:lnSpc>
              <a:buNone/>
              <a:defRPr/>
            </a:pPr>
            <a:r>
              <a:rPr lang="en-US" sz="2800" dirty="0" smtClean="0">
                <a:latin typeface="Times New Roman" pitchFamily="18" charset="0"/>
              </a:rPr>
              <a:t>2. Food Hygiene and Control of Cross Contamination risk</a:t>
            </a:r>
          </a:p>
          <a:p>
            <a:pPr lvl="1" eaLnBrk="1" hangingPunct="1">
              <a:lnSpc>
                <a:spcPct val="90000"/>
              </a:lnSpc>
              <a:defRPr/>
            </a:pPr>
            <a:r>
              <a:rPr lang="en-US" sz="2400" dirty="0" smtClean="0">
                <a:latin typeface="Times New Roman" pitchFamily="18" charset="0"/>
              </a:rPr>
              <a:t>Selection of sound food ingredients </a:t>
            </a:r>
          </a:p>
          <a:p>
            <a:pPr lvl="1" eaLnBrk="1" hangingPunct="1">
              <a:lnSpc>
                <a:spcPct val="90000"/>
              </a:lnSpc>
              <a:defRPr/>
            </a:pPr>
            <a:r>
              <a:rPr lang="en-US" sz="2400" dirty="0" smtClean="0">
                <a:latin typeface="Times New Roman" pitchFamily="18" charset="0"/>
              </a:rPr>
              <a:t>Good Storage Practices in the handling of food ingredients</a:t>
            </a:r>
          </a:p>
          <a:p>
            <a:pPr lvl="1" eaLnBrk="1" hangingPunct="1">
              <a:lnSpc>
                <a:spcPct val="90000"/>
              </a:lnSpc>
              <a:defRPr/>
            </a:pPr>
            <a:r>
              <a:rPr lang="en-US" sz="2400" dirty="0" smtClean="0">
                <a:latin typeface="Times New Roman" pitchFamily="18" charset="0"/>
              </a:rPr>
              <a:t>Control of stock (FIFO)</a:t>
            </a:r>
          </a:p>
          <a:p>
            <a:pPr lvl="1" eaLnBrk="1" hangingPunct="1">
              <a:lnSpc>
                <a:spcPct val="90000"/>
              </a:lnSpc>
              <a:defRPr/>
            </a:pPr>
            <a:r>
              <a:rPr lang="en-US" sz="2400" dirty="0" smtClean="0">
                <a:latin typeface="Times New Roman" pitchFamily="18" charset="0"/>
              </a:rPr>
              <a:t>Use of approved food ingredients</a:t>
            </a:r>
          </a:p>
          <a:p>
            <a:pPr lvl="1" eaLnBrk="1" hangingPunct="1">
              <a:lnSpc>
                <a:spcPct val="90000"/>
              </a:lnSpc>
              <a:defRPr/>
            </a:pPr>
            <a:r>
              <a:rPr lang="en-US" sz="2400" dirty="0" smtClean="0">
                <a:latin typeface="Times New Roman" pitchFamily="18" charset="0"/>
              </a:rPr>
              <a:t>Use and control of hygienic food production equipment (utensils)-effective cleaning and maintenance</a:t>
            </a:r>
          </a:p>
          <a:p>
            <a:pPr lvl="1" eaLnBrk="1" hangingPunct="1">
              <a:lnSpc>
                <a:spcPct val="90000"/>
              </a:lnSpc>
              <a:defRPr/>
            </a:pPr>
            <a:r>
              <a:rPr lang="en-US" sz="2400" dirty="0" smtClean="0">
                <a:latin typeface="Times New Roman" pitchFamily="18" charset="0"/>
              </a:rPr>
              <a:t>Control of food production activities- observation of right production conditions, post-production handling etc.</a:t>
            </a:r>
          </a:p>
          <a:p>
            <a:pPr lvl="1" eaLnBrk="1" hangingPunct="1">
              <a:lnSpc>
                <a:spcPct val="90000"/>
              </a:lnSpc>
              <a:defRPr/>
            </a:pPr>
            <a:r>
              <a:rPr lang="en-US" sz="2400" dirty="0" smtClean="0">
                <a:latin typeface="Times New Roman" pitchFamily="18" charset="0"/>
              </a:rPr>
              <a:t>Provision and use of potable water for all production activities including cleaning. (Hygienic storage of water)</a:t>
            </a:r>
          </a:p>
          <a:p>
            <a:pPr lvl="1" eaLnBrk="1" hangingPunct="1">
              <a:lnSpc>
                <a:spcPct val="90000"/>
              </a:lnSpc>
              <a:buFont typeface="Wingdings" pitchFamily="2" charset="2"/>
              <a:buNone/>
              <a:defRPr/>
            </a:pPr>
            <a:endParaRPr lang="en-US" sz="2400" dirty="0" smtClean="0">
              <a:latin typeface="Times New Roman" pitchFamily="18" charset="0"/>
            </a:endParaRPr>
          </a:p>
          <a:p>
            <a:pPr lvl="1" eaLnBrk="1" hangingPunct="1">
              <a:lnSpc>
                <a:spcPct val="90000"/>
              </a:lnSpc>
              <a:defRPr/>
            </a:pPr>
            <a:endParaRPr lang="en-US" sz="2400" dirty="0" smtClean="0">
              <a:latin typeface="Times New Roman" pitchFamily="18" charset="0"/>
            </a:endParaRPr>
          </a:p>
          <a:p>
            <a:pPr lvl="1" eaLnBrk="1" hangingPunct="1">
              <a:lnSpc>
                <a:spcPct val="90000"/>
              </a:lnSpc>
              <a:defRPr/>
            </a:pPr>
            <a:endParaRPr lang="en-US" sz="2400" dirty="0" smtClean="0">
              <a:latin typeface="Times New Roman" pitchFamily="18" charset="0"/>
            </a:endParaRPr>
          </a:p>
          <a:p>
            <a:pPr lvl="1" eaLnBrk="1" hangingPunct="1">
              <a:lnSpc>
                <a:spcPct val="90000"/>
              </a:lnSpc>
              <a:defRPr/>
            </a:pPr>
            <a:endParaRPr lang="en-US" dirty="0" smtClean="0"/>
          </a:p>
        </p:txBody>
      </p:sp>
      <p:sp>
        <p:nvSpPr>
          <p:cNvPr id="173058" name="Slide Number Placeholder 4"/>
          <p:cNvSpPr>
            <a:spLocks noGrp="1"/>
          </p:cNvSpPr>
          <p:nvPr>
            <p:ph type="sldNum" sz="quarter" idx="12"/>
          </p:nvPr>
        </p:nvSpPr>
        <p:spPr>
          <a:noFill/>
        </p:spPr>
        <p:txBody>
          <a:bodyPr/>
          <a:lstStyle/>
          <a:p>
            <a:fld id="{625FAE88-EB0A-4DA5-B347-FA8773944F86}" type="slidenum">
              <a:rPr lang="en-US"/>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Grp="1" noRot="1" noChangeArrowheads="1"/>
          </p:cNvSpPr>
          <p:nvPr>
            <p:ph type="title"/>
          </p:nvPr>
        </p:nvSpPr>
        <p:spPr>
          <a:xfrm>
            <a:off x="457200" y="188913"/>
            <a:ext cx="8229600" cy="647700"/>
          </a:xfrm>
        </p:spPr>
        <p:txBody>
          <a:bodyPr/>
          <a:lstStyle/>
          <a:p>
            <a:pPr eaLnBrk="1" hangingPunct="1">
              <a:defRPr/>
            </a:pPr>
            <a:r>
              <a:rPr lang="en-US" sz="3600" b="0" smtClean="0">
                <a:latin typeface="Times New Roman" pitchFamily="18" charset="0"/>
              </a:rPr>
              <a:t>Overview of PRPs (3)</a:t>
            </a:r>
          </a:p>
        </p:txBody>
      </p:sp>
      <p:sp>
        <p:nvSpPr>
          <p:cNvPr id="304131" name="Rectangle 3"/>
          <p:cNvSpPr>
            <a:spLocks noGrp="1" noChangeArrowheads="1"/>
          </p:cNvSpPr>
          <p:nvPr>
            <p:ph idx="1"/>
          </p:nvPr>
        </p:nvSpPr>
        <p:spPr>
          <a:xfrm>
            <a:off x="250825" y="836613"/>
            <a:ext cx="8435975" cy="5616575"/>
          </a:xfrm>
        </p:spPr>
        <p:txBody>
          <a:bodyPr/>
          <a:lstStyle/>
          <a:p>
            <a:pPr eaLnBrk="1" hangingPunct="1">
              <a:buNone/>
              <a:defRPr/>
            </a:pPr>
            <a:r>
              <a:rPr lang="en-US" sz="2800" dirty="0" smtClean="0">
                <a:latin typeface="Times New Roman" pitchFamily="18" charset="0"/>
              </a:rPr>
              <a:t>3. Personal Hygiene</a:t>
            </a:r>
          </a:p>
          <a:p>
            <a:pPr lvl="1" eaLnBrk="1" hangingPunct="1">
              <a:defRPr/>
            </a:pPr>
            <a:r>
              <a:rPr lang="en-US" sz="2400" dirty="0" smtClean="0">
                <a:latin typeface="Times New Roman" pitchFamily="18" charset="0"/>
              </a:rPr>
              <a:t>Food handlers trained in food hygiene and related subjects</a:t>
            </a:r>
          </a:p>
          <a:p>
            <a:pPr lvl="1" eaLnBrk="1" hangingPunct="1">
              <a:defRPr/>
            </a:pPr>
            <a:r>
              <a:rPr lang="en-US" sz="2400" dirty="0" smtClean="0">
                <a:latin typeface="Times New Roman" pitchFamily="18" charset="0"/>
              </a:rPr>
              <a:t>Food handlers understand and observe hygiene rules</a:t>
            </a:r>
          </a:p>
          <a:p>
            <a:pPr lvl="1" eaLnBrk="1" hangingPunct="1">
              <a:defRPr/>
            </a:pPr>
            <a:r>
              <a:rPr lang="en-US" sz="2400" dirty="0" smtClean="0">
                <a:latin typeface="Times New Roman" pitchFamily="18" charset="0"/>
              </a:rPr>
              <a:t>Food handlers certified fit to handle food for public consumption; 1</a:t>
            </a:r>
            <a:r>
              <a:rPr lang="en-US" sz="2400" baseline="30000" dirty="0" smtClean="0">
                <a:latin typeface="Times New Roman" pitchFamily="18" charset="0"/>
              </a:rPr>
              <a:t>st</a:t>
            </a:r>
            <a:r>
              <a:rPr lang="en-US" sz="2400" dirty="0" smtClean="0">
                <a:latin typeface="Times New Roman" pitchFamily="18" charset="0"/>
              </a:rPr>
              <a:t> before employment and repeated at least twice in one calendar year</a:t>
            </a:r>
          </a:p>
          <a:p>
            <a:pPr lvl="1" eaLnBrk="1" hangingPunct="1">
              <a:defRPr/>
            </a:pPr>
            <a:r>
              <a:rPr lang="en-US" sz="2400" dirty="0" smtClean="0">
                <a:latin typeface="Times New Roman" pitchFamily="18" charset="0"/>
              </a:rPr>
              <a:t>Food handlers provided with the following and its usage enforced</a:t>
            </a:r>
          </a:p>
          <a:p>
            <a:pPr lvl="2" eaLnBrk="1" hangingPunct="1">
              <a:defRPr/>
            </a:pPr>
            <a:r>
              <a:rPr lang="en-US" sz="2000" dirty="0" smtClean="0">
                <a:latin typeface="Times New Roman" pitchFamily="18" charset="0"/>
              </a:rPr>
              <a:t>Clean locker/changing rooms</a:t>
            </a:r>
          </a:p>
          <a:p>
            <a:pPr lvl="2" eaLnBrk="1" hangingPunct="1">
              <a:defRPr/>
            </a:pPr>
            <a:r>
              <a:rPr lang="en-US" sz="2000" dirty="0" smtClean="0">
                <a:latin typeface="Times New Roman" pitchFamily="18" charset="0"/>
              </a:rPr>
              <a:t>Clean protective clothing; footwear, overcoat, headgear etc.</a:t>
            </a:r>
          </a:p>
          <a:p>
            <a:pPr lvl="2" eaLnBrk="1" hangingPunct="1">
              <a:defRPr/>
            </a:pPr>
            <a:r>
              <a:rPr lang="en-US" sz="2000" dirty="0" smtClean="0">
                <a:latin typeface="Times New Roman" pitchFamily="18" charset="0"/>
              </a:rPr>
              <a:t>Clean toilet facilities with inputs for effective hand washing and drying</a:t>
            </a:r>
          </a:p>
          <a:p>
            <a:pPr lvl="2" eaLnBrk="1" hangingPunct="1">
              <a:defRPr/>
            </a:pPr>
            <a:r>
              <a:rPr lang="en-US" sz="2000" dirty="0" smtClean="0">
                <a:latin typeface="Times New Roman" pitchFamily="18" charset="0"/>
              </a:rPr>
              <a:t>An eating area for staff </a:t>
            </a:r>
          </a:p>
          <a:p>
            <a:pPr lvl="1" eaLnBrk="1" hangingPunct="1">
              <a:defRPr/>
            </a:pPr>
            <a:r>
              <a:rPr lang="en-US" sz="2400" dirty="0" smtClean="0">
                <a:latin typeface="Times New Roman" pitchFamily="18" charset="0"/>
              </a:rPr>
              <a:t>Control of staff </a:t>
            </a:r>
            <a:r>
              <a:rPr lang="en-US" sz="2400" dirty="0" err="1" smtClean="0">
                <a:latin typeface="Times New Roman" pitchFamily="18" charset="0"/>
              </a:rPr>
              <a:t>behaviour</a:t>
            </a:r>
            <a:r>
              <a:rPr lang="en-US" sz="2400" dirty="0" smtClean="0">
                <a:latin typeface="Times New Roman" pitchFamily="18" charset="0"/>
              </a:rPr>
              <a:t> and movement etc.</a:t>
            </a:r>
          </a:p>
          <a:p>
            <a:pPr lvl="1" eaLnBrk="1" hangingPunct="1">
              <a:buFont typeface="Wingdings" pitchFamily="2" charset="2"/>
              <a:buNone/>
              <a:defRPr/>
            </a:pPr>
            <a:endParaRPr lang="en-US" sz="2400" dirty="0" smtClean="0">
              <a:latin typeface="Times New Roman" pitchFamily="18" charset="0"/>
            </a:endParaRPr>
          </a:p>
          <a:p>
            <a:pPr lvl="1" eaLnBrk="1" hangingPunct="1">
              <a:defRPr/>
            </a:pPr>
            <a:endParaRPr lang="en-US" sz="2400" dirty="0" smtClean="0">
              <a:latin typeface="Times New Roman" pitchFamily="18" charset="0"/>
            </a:endParaRPr>
          </a:p>
          <a:p>
            <a:pPr lvl="2" eaLnBrk="1" hangingPunct="1">
              <a:defRPr/>
            </a:pPr>
            <a:endParaRPr lang="en-US" sz="2000" dirty="0" smtClean="0">
              <a:latin typeface="Times New Roman" pitchFamily="18" charset="0"/>
            </a:endParaRPr>
          </a:p>
          <a:p>
            <a:pPr lvl="2" eaLnBrk="1" hangingPunct="1">
              <a:defRPr/>
            </a:pPr>
            <a:endParaRPr lang="en-US" sz="2000" dirty="0" smtClean="0">
              <a:latin typeface="Times New Roman" pitchFamily="18" charset="0"/>
            </a:endParaRPr>
          </a:p>
          <a:p>
            <a:pPr lvl="1" eaLnBrk="1" hangingPunct="1">
              <a:defRPr/>
            </a:pPr>
            <a:endParaRPr lang="en-US" sz="2400" dirty="0" smtClean="0">
              <a:latin typeface="Times New Roman" pitchFamily="18" charset="0"/>
            </a:endParaRPr>
          </a:p>
        </p:txBody>
      </p:sp>
      <p:sp>
        <p:nvSpPr>
          <p:cNvPr id="174082" name="Slide Number Placeholder 4"/>
          <p:cNvSpPr>
            <a:spLocks noGrp="1"/>
          </p:cNvSpPr>
          <p:nvPr>
            <p:ph type="sldNum" sz="quarter" idx="12"/>
          </p:nvPr>
        </p:nvSpPr>
        <p:spPr>
          <a:noFill/>
        </p:spPr>
        <p:txBody>
          <a:bodyPr/>
          <a:lstStyle/>
          <a:p>
            <a:fld id="{44BAB4A6-A3AB-471F-96FC-51736BF7B8A0}" type="slidenum">
              <a:rPr lang="en-US"/>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Rot="1" noChangeArrowheads="1"/>
          </p:cNvSpPr>
          <p:nvPr>
            <p:ph type="title"/>
          </p:nvPr>
        </p:nvSpPr>
        <p:spPr>
          <a:xfrm>
            <a:off x="457200" y="274638"/>
            <a:ext cx="8229600" cy="922337"/>
          </a:xfrm>
        </p:spPr>
        <p:txBody>
          <a:bodyPr/>
          <a:lstStyle/>
          <a:p>
            <a:pPr eaLnBrk="1" hangingPunct="1">
              <a:defRPr/>
            </a:pPr>
            <a:r>
              <a:rPr lang="en-US" sz="3600" b="0" smtClean="0">
                <a:latin typeface="Times New Roman" pitchFamily="18" charset="0"/>
              </a:rPr>
              <a:t>Overview of PRPs (4)</a:t>
            </a:r>
          </a:p>
        </p:txBody>
      </p:sp>
      <p:sp>
        <p:nvSpPr>
          <p:cNvPr id="305155" name="Rectangle 3"/>
          <p:cNvSpPr>
            <a:spLocks noGrp="1" noChangeArrowheads="1"/>
          </p:cNvSpPr>
          <p:nvPr>
            <p:ph idx="1"/>
          </p:nvPr>
        </p:nvSpPr>
        <p:spPr>
          <a:xfrm>
            <a:off x="457200" y="1268413"/>
            <a:ext cx="8229600" cy="4857750"/>
          </a:xfrm>
        </p:spPr>
        <p:txBody>
          <a:bodyPr/>
          <a:lstStyle/>
          <a:p>
            <a:pPr eaLnBrk="1" hangingPunct="1">
              <a:buNone/>
              <a:defRPr/>
            </a:pPr>
            <a:r>
              <a:rPr lang="en-US" sz="2800" dirty="0" smtClean="0">
                <a:latin typeface="Times New Roman" pitchFamily="18" charset="0"/>
              </a:rPr>
              <a:t>4. Records and documentation</a:t>
            </a:r>
          </a:p>
          <a:p>
            <a:pPr lvl="1" eaLnBrk="1" hangingPunct="1">
              <a:defRPr/>
            </a:pPr>
            <a:r>
              <a:rPr lang="en-US" sz="2400" dirty="0" smtClean="0">
                <a:latin typeface="Times New Roman" pitchFamily="18" charset="0"/>
              </a:rPr>
              <a:t>Documentation of activities of food safety significance e.g.</a:t>
            </a:r>
          </a:p>
          <a:p>
            <a:pPr lvl="2" eaLnBrk="1" hangingPunct="1">
              <a:defRPr/>
            </a:pPr>
            <a:r>
              <a:rPr lang="en-US" sz="2000" dirty="0" smtClean="0">
                <a:latin typeface="Times New Roman" pitchFamily="18" charset="0"/>
              </a:rPr>
              <a:t>Specifications for ingredients and materials</a:t>
            </a:r>
          </a:p>
          <a:p>
            <a:pPr lvl="2" eaLnBrk="1" hangingPunct="1">
              <a:defRPr/>
            </a:pPr>
            <a:r>
              <a:rPr lang="en-US" sz="2000" dirty="0" smtClean="0">
                <a:latin typeface="Times New Roman" pitchFamily="18" charset="0"/>
              </a:rPr>
              <a:t>Selection criteria for suppliers of ingredients and materials</a:t>
            </a:r>
          </a:p>
          <a:p>
            <a:pPr lvl="2" eaLnBrk="1" hangingPunct="1">
              <a:defRPr/>
            </a:pPr>
            <a:r>
              <a:rPr lang="en-US" sz="2000" dirty="0" smtClean="0">
                <a:latin typeface="Times New Roman" pitchFamily="18" charset="0"/>
              </a:rPr>
              <a:t>Specifications for the handling of ingredients and materials during transit</a:t>
            </a:r>
          </a:p>
          <a:p>
            <a:pPr lvl="2" eaLnBrk="1" hangingPunct="1">
              <a:defRPr/>
            </a:pPr>
            <a:r>
              <a:rPr lang="en-US" sz="2000" dirty="0" smtClean="0">
                <a:latin typeface="Times New Roman" pitchFamily="18" charset="0"/>
              </a:rPr>
              <a:t>Ingredients  and materials reception protocols</a:t>
            </a:r>
          </a:p>
          <a:p>
            <a:pPr lvl="2" eaLnBrk="1" hangingPunct="1">
              <a:defRPr/>
            </a:pPr>
            <a:r>
              <a:rPr lang="en-US" sz="2000" dirty="0" smtClean="0">
                <a:latin typeface="Times New Roman" pitchFamily="18" charset="0"/>
              </a:rPr>
              <a:t>Cleaning, pest and waste management protocols etc.</a:t>
            </a:r>
          </a:p>
          <a:p>
            <a:pPr lvl="1" eaLnBrk="1" hangingPunct="1">
              <a:defRPr/>
            </a:pPr>
            <a:r>
              <a:rPr lang="en-US" sz="2400" dirty="0" smtClean="0">
                <a:latin typeface="Times New Roman" pitchFamily="18" charset="0"/>
              </a:rPr>
              <a:t>Keeping and updating records of major food safety activities.</a:t>
            </a:r>
          </a:p>
          <a:p>
            <a:pPr lvl="2" eaLnBrk="1" hangingPunct="1">
              <a:defRPr/>
            </a:pPr>
            <a:endParaRPr lang="en-US" sz="2000" dirty="0" smtClean="0">
              <a:latin typeface="Times New Roman" pitchFamily="18" charset="0"/>
            </a:endParaRPr>
          </a:p>
          <a:p>
            <a:pPr lvl="1" eaLnBrk="1" hangingPunct="1">
              <a:defRPr/>
            </a:pPr>
            <a:endParaRPr lang="en-US" sz="2400" dirty="0" smtClean="0">
              <a:latin typeface="Times New Roman" pitchFamily="18" charset="0"/>
            </a:endParaRPr>
          </a:p>
        </p:txBody>
      </p:sp>
      <p:sp>
        <p:nvSpPr>
          <p:cNvPr id="175106" name="Slide Number Placeholder 4"/>
          <p:cNvSpPr>
            <a:spLocks noGrp="1"/>
          </p:cNvSpPr>
          <p:nvPr>
            <p:ph type="sldNum" sz="quarter" idx="12"/>
          </p:nvPr>
        </p:nvSpPr>
        <p:spPr>
          <a:noFill/>
        </p:spPr>
        <p:txBody>
          <a:bodyPr/>
          <a:lstStyle/>
          <a:p>
            <a:fld id="{5132B69C-5B80-4432-84DC-3505087700B2}" type="slidenum">
              <a:rPr lang="en-US"/>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8" name="Rectangle 4"/>
          <p:cNvSpPr>
            <a:spLocks noGrp="1" noRot="1" noChangeArrowheads="1"/>
          </p:cNvSpPr>
          <p:nvPr>
            <p:ph type="title"/>
          </p:nvPr>
        </p:nvSpPr>
        <p:spPr>
          <a:xfrm>
            <a:off x="609600" y="1524000"/>
            <a:ext cx="8229600" cy="3382963"/>
          </a:xfrm>
        </p:spPr>
        <p:txBody>
          <a:bodyPr/>
          <a:lstStyle/>
          <a:p>
            <a:pPr eaLnBrk="1" hangingPunct="1">
              <a:defRPr/>
            </a:pPr>
            <a:r>
              <a:rPr lang="en-US" sz="3600" b="0" smtClean="0"/>
              <a:t>FOOD SAFETY HAZARDS</a:t>
            </a:r>
          </a:p>
        </p:txBody>
      </p:sp>
      <p:sp>
        <p:nvSpPr>
          <p:cNvPr id="176130" name="Slide Number Placeholder 3"/>
          <p:cNvSpPr>
            <a:spLocks noGrp="1"/>
          </p:cNvSpPr>
          <p:nvPr>
            <p:ph type="sldNum" sz="quarter" idx="12"/>
          </p:nvPr>
        </p:nvSpPr>
        <p:spPr>
          <a:noFill/>
        </p:spPr>
        <p:txBody>
          <a:bodyPr/>
          <a:lstStyle/>
          <a:p>
            <a:fld id="{B207BF36-1700-4098-BB55-053876FE15AA}" type="slidenum">
              <a:rPr lang="en-US"/>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Rot="1" noChangeArrowheads="1"/>
          </p:cNvSpPr>
          <p:nvPr>
            <p:ph type="title"/>
          </p:nvPr>
        </p:nvSpPr>
        <p:spPr>
          <a:xfrm>
            <a:off x="457200" y="188913"/>
            <a:ext cx="8229600" cy="649287"/>
          </a:xfrm>
        </p:spPr>
        <p:txBody>
          <a:bodyPr/>
          <a:lstStyle/>
          <a:p>
            <a:pPr eaLnBrk="1" hangingPunct="1">
              <a:defRPr/>
            </a:pPr>
            <a:r>
              <a:rPr lang="en-US" sz="3600" b="0" smtClean="0">
                <a:latin typeface="Times New Roman" pitchFamily="18" charset="0"/>
              </a:rPr>
              <a:t>What are Food Safety Hazards?</a:t>
            </a:r>
          </a:p>
        </p:txBody>
      </p:sp>
      <p:sp>
        <p:nvSpPr>
          <p:cNvPr id="308227" name="Rectangle 3"/>
          <p:cNvSpPr>
            <a:spLocks noGrp="1" noChangeArrowheads="1"/>
          </p:cNvSpPr>
          <p:nvPr>
            <p:ph idx="1"/>
          </p:nvPr>
        </p:nvSpPr>
        <p:spPr>
          <a:xfrm>
            <a:off x="304800" y="990600"/>
            <a:ext cx="8496300" cy="5381625"/>
          </a:xfrm>
        </p:spPr>
        <p:txBody>
          <a:bodyPr/>
          <a:lstStyle/>
          <a:p>
            <a:pPr eaLnBrk="1" hangingPunct="1">
              <a:buFont typeface="Wingdings" pitchFamily="2" charset="2"/>
              <a:buNone/>
              <a:defRPr/>
            </a:pPr>
            <a:r>
              <a:rPr lang="en-US" sz="2800" b="1" dirty="0" smtClean="0">
                <a:latin typeface="Times New Roman" pitchFamily="18" charset="0"/>
              </a:rPr>
              <a:t>A Food Safety Hazard </a:t>
            </a:r>
            <a:r>
              <a:rPr lang="en-US" sz="2800" dirty="0" smtClean="0">
                <a:latin typeface="Times New Roman" pitchFamily="18" charset="0"/>
              </a:rPr>
              <a:t>has been defined as “a biological, chemical or physical agent in, or condition of, food with the potential to cause an adverse health effect”.</a:t>
            </a:r>
          </a:p>
          <a:p>
            <a:pPr eaLnBrk="1" hangingPunct="1">
              <a:buFont typeface="Wingdings" pitchFamily="2" charset="2"/>
              <a:buNone/>
              <a:defRPr/>
            </a:pPr>
            <a:r>
              <a:rPr lang="en-US" sz="2800" dirty="0" smtClean="0">
                <a:latin typeface="Times New Roman" pitchFamily="18" charset="0"/>
              </a:rPr>
              <a:t>It must be noted that hazards will vary among food production facilities producing the same foods because of differences in:</a:t>
            </a:r>
          </a:p>
          <a:p>
            <a:pPr eaLnBrk="1" hangingPunct="1">
              <a:defRPr/>
            </a:pPr>
            <a:r>
              <a:rPr lang="en-US" sz="2400" dirty="0" smtClean="0"/>
              <a:t>Sources of ingredients/ materials</a:t>
            </a:r>
          </a:p>
          <a:p>
            <a:pPr eaLnBrk="1" hangingPunct="1">
              <a:defRPr/>
            </a:pPr>
            <a:r>
              <a:rPr lang="en-US" sz="2400" dirty="0" smtClean="0"/>
              <a:t>Production protocols</a:t>
            </a:r>
          </a:p>
          <a:p>
            <a:pPr eaLnBrk="1" hangingPunct="1">
              <a:defRPr/>
            </a:pPr>
            <a:r>
              <a:rPr lang="en-US" sz="2400" dirty="0" smtClean="0"/>
              <a:t>Processing equipment</a:t>
            </a:r>
          </a:p>
          <a:p>
            <a:pPr eaLnBrk="1" hangingPunct="1">
              <a:defRPr/>
            </a:pPr>
            <a:r>
              <a:rPr lang="en-US" sz="2400" dirty="0" smtClean="0"/>
              <a:t>Duration of production</a:t>
            </a:r>
          </a:p>
          <a:p>
            <a:pPr eaLnBrk="1" hangingPunct="1">
              <a:defRPr/>
            </a:pPr>
            <a:r>
              <a:rPr lang="en-US" sz="2400" dirty="0" smtClean="0"/>
              <a:t>Storage conditions</a:t>
            </a:r>
          </a:p>
          <a:p>
            <a:pPr eaLnBrk="1" hangingPunct="1">
              <a:defRPr/>
            </a:pPr>
            <a:r>
              <a:rPr lang="en-US" sz="2400" dirty="0" smtClean="0"/>
              <a:t>The experience, knowledge and attitude of personnel.</a:t>
            </a:r>
          </a:p>
          <a:p>
            <a:pPr eaLnBrk="1" hangingPunct="1">
              <a:defRPr/>
            </a:pPr>
            <a:endParaRPr lang="en-US" sz="2400" dirty="0" smtClean="0"/>
          </a:p>
        </p:txBody>
      </p:sp>
      <p:sp>
        <p:nvSpPr>
          <p:cNvPr id="177154" name="Slide Number Placeholder 4"/>
          <p:cNvSpPr>
            <a:spLocks noGrp="1"/>
          </p:cNvSpPr>
          <p:nvPr>
            <p:ph type="sldNum" sz="quarter" idx="12"/>
          </p:nvPr>
        </p:nvSpPr>
        <p:spPr>
          <a:noFill/>
        </p:spPr>
        <p:txBody>
          <a:bodyPr/>
          <a:lstStyle/>
          <a:p>
            <a:fld id="{03F827B5-66A4-46F2-A5A7-051D1D538C7E}" type="slidenum">
              <a:rPr lang="en-US"/>
              <a:pPr/>
              <a:t>16</a:t>
            </a:fld>
            <a:endParaRPr lang="en-US"/>
          </a:p>
        </p:txBody>
      </p:sp>
    </p:spTree>
  </p:cSld>
  <p:clrMapOvr>
    <a:masterClrMapping/>
  </p:clrMapOvr>
  <p:transition advTm="120000"/>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Rot="1" noChangeArrowheads="1"/>
          </p:cNvSpPr>
          <p:nvPr>
            <p:ph type="title"/>
          </p:nvPr>
        </p:nvSpPr>
        <p:spPr>
          <a:xfrm>
            <a:off x="457200" y="274638"/>
            <a:ext cx="8229600" cy="633412"/>
          </a:xfrm>
        </p:spPr>
        <p:txBody>
          <a:bodyPr>
            <a:normAutofit/>
          </a:bodyPr>
          <a:lstStyle/>
          <a:p>
            <a:pPr eaLnBrk="1" hangingPunct="1">
              <a:defRPr/>
            </a:pPr>
            <a:r>
              <a:rPr lang="en-US" sz="3600" b="0" smtClean="0">
                <a:latin typeface="Times New Roman" pitchFamily="18" charset="0"/>
              </a:rPr>
              <a:t>Examples Of Biological Hazards (1)</a:t>
            </a:r>
          </a:p>
        </p:txBody>
      </p:sp>
      <p:sp>
        <p:nvSpPr>
          <p:cNvPr id="309251" name="Rectangle 3"/>
          <p:cNvSpPr>
            <a:spLocks noGrp="1" noChangeArrowheads="1"/>
          </p:cNvSpPr>
          <p:nvPr>
            <p:ph idx="1"/>
          </p:nvPr>
        </p:nvSpPr>
        <p:spPr>
          <a:xfrm>
            <a:off x="395288" y="1484313"/>
            <a:ext cx="8229600" cy="4525962"/>
          </a:xfrm>
        </p:spPr>
        <p:txBody>
          <a:bodyPr/>
          <a:lstStyle/>
          <a:p>
            <a:pPr eaLnBrk="1" hangingPunct="1">
              <a:lnSpc>
                <a:spcPct val="90000"/>
              </a:lnSpc>
              <a:buFont typeface="Wingdings" pitchFamily="2" charset="2"/>
              <a:buNone/>
              <a:defRPr/>
            </a:pPr>
            <a:r>
              <a:rPr lang="en-US" sz="2800" b="1" smtClean="0">
                <a:latin typeface="Times New Roman" pitchFamily="18" charset="0"/>
              </a:rPr>
              <a:t>BACTERIA (SPORE-FORMING)</a:t>
            </a:r>
          </a:p>
          <a:p>
            <a:pPr eaLnBrk="1" hangingPunct="1">
              <a:lnSpc>
                <a:spcPct val="90000"/>
              </a:lnSpc>
              <a:buFont typeface="Wingdings" pitchFamily="2" charset="2"/>
              <a:buNone/>
              <a:defRPr/>
            </a:pPr>
            <a:r>
              <a:rPr lang="en-US" sz="2400" i="1" smtClean="0">
                <a:latin typeface="Times New Roman" pitchFamily="18" charset="0"/>
              </a:rPr>
              <a:t>Clostridium botulinum</a:t>
            </a:r>
          </a:p>
          <a:p>
            <a:pPr eaLnBrk="1" hangingPunct="1">
              <a:lnSpc>
                <a:spcPct val="90000"/>
              </a:lnSpc>
              <a:buFont typeface="Wingdings" pitchFamily="2" charset="2"/>
              <a:buNone/>
              <a:defRPr/>
            </a:pPr>
            <a:r>
              <a:rPr lang="en-US" sz="2400" i="1" smtClean="0">
                <a:latin typeface="Times New Roman" pitchFamily="18" charset="0"/>
              </a:rPr>
              <a:t>Clostridium perfringens</a:t>
            </a:r>
          </a:p>
          <a:p>
            <a:pPr eaLnBrk="1" hangingPunct="1">
              <a:lnSpc>
                <a:spcPct val="90000"/>
              </a:lnSpc>
              <a:buFont typeface="Wingdings" pitchFamily="2" charset="2"/>
              <a:buNone/>
              <a:defRPr/>
            </a:pPr>
            <a:r>
              <a:rPr lang="en-US" sz="2400" i="1" smtClean="0">
                <a:latin typeface="Times New Roman" pitchFamily="18" charset="0"/>
              </a:rPr>
              <a:t>Bacillus cereus</a:t>
            </a:r>
          </a:p>
          <a:p>
            <a:pPr eaLnBrk="1" hangingPunct="1">
              <a:lnSpc>
                <a:spcPct val="90000"/>
              </a:lnSpc>
              <a:buFont typeface="Wingdings" pitchFamily="2" charset="2"/>
              <a:buNone/>
              <a:defRPr/>
            </a:pPr>
            <a:r>
              <a:rPr lang="en-US" sz="2800" b="1" smtClean="0">
                <a:latin typeface="Times New Roman" pitchFamily="18" charset="0"/>
              </a:rPr>
              <a:t>BACTERIA (NON-SPORE-FORMING)</a:t>
            </a:r>
          </a:p>
          <a:p>
            <a:pPr eaLnBrk="1" hangingPunct="1">
              <a:lnSpc>
                <a:spcPct val="90000"/>
              </a:lnSpc>
              <a:buFont typeface="Wingdings" pitchFamily="2" charset="2"/>
              <a:buNone/>
              <a:defRPr/>
            </a:pPr>
            <a:r>
              <a:rPr lang="en-US" sz="2400" i="1" smtClean="0">
                <a:latin typeface="Times New Roman" pitchFamily="18" charset="0"/>
              </a:rPr>
              <a:t>Campylobacter spp.			Staphylococcus aureus</a:t>
            </a:r>
          </a:p>
          <a:p>
            <a:pPr eaLnBrk="1" hangingPunct="1">
              <a:lnSpc>
                <a:spcPct val="90000"/>
              </a:lnSpc>
              <a:buFont typeface="Wingdings" pitchFamily="2" charset="2"/>
              <a:buNone/>
              <a:defRPr/>
            </a:pPr>
            <a:r>
              <a:rPr lang="en-US" sz="2400" i="1" smtClean="0">
                <a:latin typeface="Times New Roman" pitchFamily="18" charset="0"/>
              </a:rPr>
              <a:t>Escherichia coli			Vibrio cholerae</a:t>
            </a:r>
          </a:p>
          <a:p>
            <a:pPr eaLnBrk="1" hangingPunct="1">
              <a:lnSpc>
                <a:spcPct val="90000"/>
              </a:lnSpc>
              <a:buFont typeface="Wingdings" pitchFamily="2" charset="2"/>
              <a:buNone/>
              <a:defRPr/>
            </a:pPr>
            <a:r>
              <a:rPr lang="en-US" sz="2400" i="1" smtClean="0">
                <a:latin typeface="Times New Roman" pitchFamily="18" charset="0"/>
              </a:rPr>
              <a:t>Listeria monocytogens		Yersina enterocolitica</a:t>
            </a:r>
          </a:p>
          <a:p>
            <a:pPr eaLnBrk="1" hangingPunct="1">
              <a:lnSpc>
                <a:spcPct val="90000"/>
              </a:lnSpc>
              <a:buFont typeface="Wingdings" pitchFamily="2" charset="2"/>
              <a:buNone/>
              <a:defRPr/>
            </a:pPr>
            <a:r>
              <a:rPr lang="en-US" sz="2400" i="1" smtClean="0">
                <a:latin typeface="Times New Roman" pitchFamily="18" charset="0"/>
              </a:rPr>
              <a:t>Salmonella spp.</a:t>
            </a:r>
          </a:p>
          <a:p>
            <a:pPr eaLnBrk="1" hangingPunct="1">
              <a:lnSpc>
                <a:spcPct val="90000"/>
              </a:lnSpc>
              <a:buFont typeface="Wingdings" pitchFamily="2" charset="2"/>
              <a:buNone/>
              <a:defRPr/>
            </a:pPr>
            <a:r>
              <a:rPr lang="en-US" sz="2400" i="1" smtClean="0">
                <a:latin typeface="Times New Roman" pitchFamily="18" charset="0"/>
              </a:rPr>
              <a:t>Shigella (S. dysenteriae)</a:t>
            </a:r>
          </a:p>
          <a:p>
            <a:pPr eaLnBrk="1" hangingPunct="1">
              <a:lnSpc>
                <a:spcPct val="90000"/>
              </a:lnSpc>
              <a:buFont typeface="Wingdings" pitchFamily="2" charset="2"/>
              <a:buNone/>
              <a:defRPr/>
            </a:pPr>
            <a:endParaRPr lang="en-US" sz="2400" i="1" smtClean="0">
              <a:latin typeface="Times New Roman" pitchFamily="18" charset="0"/>
            </a:endParaRPr>
          </a:p>
        </p:txBody>
      </p:sp>
      <p:sp>
        <p:nvSpPr>
          <p:cNvPr id="178178" name="Slide Number Placeholder 4"/>
          <p:cNvSpPr>
            <a:spLocks noGrp="1"/>
          </p:cNvSpPr>
          <p:nvPr>
            <p:ph type="sldNum" sz="quarter" idx="12"/>
          </p:nvPr>
        </p:nvSpPr>
        <p:spPr>
          <a:noFill/>
        </p:spPr>
        <p:txBody>
          <a:bodyPr/>
          <a:lstStyle/>
          <a:p>
            <a:fld id="{FE5B19C2-E21B-477E-9366-624672BA9F6F}" type="slidenum">
              <a:rPr lang="en-US"/>
              <a:pPr/>
              <a:t>17</a:t>
            </a:fld>
            <a:endParaRPr lang="en-US"/>
          </a:p>
        </p:txBody>
      </p:sp>
    </p:spTree>
  </p:cSld>
  <p:clrMapOvr>
    <a:masterClrMapping/>
  </p:clrMapOvr>
  <p:transition advTm="120000"/>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Rot="1" noChangeArrowheads="1"/>
          </p:cNvSpPr>
          <p:nvPr>
            <p:ph type="title"/>
          </p:nvPr>
        </p:nvSpPr>
        <p:spPr>
          <a:xfrm>
            <a:off x="457200" y="274638"/>
            <a:ext cx="8229600" cy="850900"/>
          </a:xfrm>
        </p:spPr>
        <p:txBody>
          <a:bodyPr/>
          <a:lstStyle/>
          <a:p>
            <a:pPr eaLnBrk="1" hangingPunct="1">
              <a:defRPr/>
            </a:pPr>
            <a:r>
              <a:rPr lang="en-US" sz="3600" b="0" smtClean="0">
                <a:latin typeface="Times New Roman" pitchFamily="18" charset="0"/>
              </a:rPr>
              <a:t>Examples Of Biological Hazards (2)</a:t>
            </a:r>
          </a:p>
        </p:txBody>
      </p:sp>
      <p:sp>
        <p:nvSpPr>
          <p:cNvPr id="310275" name="Rectangle 3"/>
          <p:cNvSpPr>
            <a:spLocks noGrp="1" noChangeArrowheads="1"/>
          </p:cNvSpPr>
          <p:nvPr>
            <p:ph idx="1"/>
          </p:nvPr>
        </p:nvSpPr>
        <p:spPr>
          <a:xfrm>
            <a:off x="323850" y="1484313"/>
            <a:ext cx="8229600" cy="4525962"/>
          </a:xfrm>
        </p:spPr>
        <p:txBody>
          <a:bodyPr/>
          <a:lstStyle/>
          <a:p>
            <a:pPr eaLnBrk="1" hangingPunct="1">
              <a:lnSpc>
                <a:spcPct val="90000"/>
              </a:lnSpc>
              <a:defRPr/>
            </a:pPr>
            <a:r>
              <a:rPr lang="en-US" sz="2800" b="1" smtClean="0">
                <a:latin typeface="Times New Roman" pitchFamily="18" charset="0"/>
              </a:rPr>
              <a:t>VIRUSES</a:t>
            </a:r>
          </a:p>
          <a:p>
            <a:pPr eaLnBrk="1" hangingPunct="1">
              <a:lnSpc>
                <a:spcPct val="90000"/>
              </a:lnSpc>
              <a:buFont typeface="Wingdings" pitchFamily="2" charset="2"/>
              <a:buNone/>
              <a:defRPr/>
            </a:pPr>
            <a:r>
              <a:rPr lang="en-US" sz="2400" smtClean="0">
                <a:latin typeface="Times New Roman" pitchFamily="18" charset="0"/>
              </a:rPr>
              <a:t>Hepatitis A and E</a:t>
            </a:r>
          </a:p>
          <a:p>
            <a:pPr eaLnBrk="1" hangingPunct="1">
              <a:lnSpc>
                <a:spcPct val="90000"/>
              </a:lnSpc>
              <a:buFont typeface="Wingdings" pitchFamily="2" charset="2"/>
              <a:buNone/>
              <a:defRPr/>
            </a:pPr>
            <a:r>
              <a:rPr lang="en-US" sz="2400" smtClean="0">
                <a:latin typeface="Times New Roman" pitchFamily="18" charset="0"/>
              </a:rPr>
              <a:t>Norwalk virus group</a:t>
            </a:r>
          </a:p>
          <a:p>
            <a:pPr eaLnBrk="1" hangingPunct="1">
              <a:lnSpc>
                <a:spcPct val="90000"/>
              </a:lnSpc>
              <a:buFont typeface="Wingdings" pitchFamily="2" charset="2"/>
              <a:buNone/>
              <a:defRPr/>
            </a:pPr>
            <a:r>
              <a:rPr lang="en-US" sz="2400" smtClean="0">
                <a:latin typeface="Times New Roman" pitchFamily="18" charset="0"/>
              </a:rPr>
              <a:t>Rotavirus</a:t>
            </a:r>
          </a:p>
          <a:p>
            <a:pPr eaLnBrk="1" hangingPunct="1">
              <a:lnSpc>
                <a:spcPct val="90000"/>
              </a:lnSpc>
              <a:buFont typeface="Wingdings" pitchFamily="2" charset="2"/>
              <a:buNone/>
              <a:defRPr/>
            </a:pPr>
            <a:endParaRPr lang="en-US" sz="2400" smtClean="0">
              <a:latin typeface="Times New Roman" pitchFamily="18" charset="0"/>
            </a:endParaRPr>
          </a:p>
          <a:p>
            <a:pPr eaLnBrk="1" hangingPunct="1">
              <a:lnSpc>
                <a:spcPct val="90000"/>
              </a:lnSpc>
              <a:defRPr/>
            </a:pPr>
            <a:r>
              <a:rPr lang="en-US" sz="2800" b="1" smtClean="0">
                <a:latin typeface="Times New Roman" pitchFamily="18" charset="0"/>
              </a:rPr>
              <a:t>PROTOZOA AND PARASITES</a:t>
            </a:r>
          </a:p>
          <a:p>
            <a:pPr eaLnBrk="1" hangingPunct="1">
              <a:lnSpc>
                <a:spcPct val="90000"/>
              </a:lnSpc>
              <a:buFont typeface="Wingdings" pitchFamily="2" charset="2"/>
              <a:buNone/>
              <a:defRPr/>
            </a:pPr>
            <a:r>
              <a:rPr lang="en-US" sz="2400" smtClean="0">
                <a:latin typeface="Times New Roman" pitchFamily="18" charset="0"/>
              </a:rPr>
              <a:t>Entamoeba latum</a:t>
            </a:r>
          </a:p>
          <a:p>
            <a:pPr eaLnBrk="1" hangingPunct="1">
              <a:lnSpc>
                <a:spcPct val="90000"/>
              </a:lnSpc>
              <a:buFont typeface="Wingdings" pitchFamily="2" charset="2"/>
              <a:buNone/>
              <a:defRPr/>
            </a:pPr>
            <a:r>
              <a:rPr lang="en-US" sz="2400" smtClean="0">
                <a:latin typeface="Times New Roman" pitchFamily="18" charset="0"/>
              </a:rPr>
              <a:t>Giardia lamblia</a:t>
            </a:r>
          </a:p>
          <a:p>
            <a:pPr eaLnBrk="1" hangingPunct="1">
              <a:lnSpc>
                <a:spcPct val="90000"/>
              </a:lnSpc>
              <a:buFont typeface="Wingdings" pitchFamily="2" charset="2"/>
              <a:buNone/>
              <a:defRPr/>
            </a:pPr>
            <a:r>
              <a:rPr lang="en-US" sz="2400" smtClean="0">
                <a:latin typeface="Times New Roman" pitchFamily="18" charset="0"/>
              </a:rPr>
              <a:t>Ascaris lumbricoides</a:t>
            </a:r>
          </a:p>
          <a:p>
            <a:pPr eaLnBrk="1" hangingPunct="1">
              <a:lnSpc>
                <a:spcPct val="90000"/>
              </a:lnSpc>
              <a:buFont typeface="Wingdings" pitchFamily="2" charset="2"/>
              <a:buNone/>
              <a:defRPr/>
            </a:pPr>
            <a:r>
              <a:rPr lang="en-US" sz="2400" smtClean="0">
                <a:latin typeface="Times New Roman" pitchFamily="18" charset="0"/>
              </a:rPr>
              <a:t>Taenia solium (Tape worm)</a:t>
            </a:r>
          </a:p>
          <a:p>
            <a:pPr eaLnBrk="1" hangingPunct="1">
              <a:lnSpc>
                <a:spcPct val="90000"/>
              </a:lnSpc>
              <a:buFont typeface="Wingdings" pitchFamily="2" charset="2"/>
              <a:buNone/>
              <a:defRPr/>
            </a:pPr>
            <a:endParaRPr lang="en-US" sz="2400" smtClean="0">
              <a:latin typeface="Times New Roman" pitchFamily="18" charset="0"/>
            </a:endParaRPr>
          </a:p>
          <a:p>
            <a:pPr eaLnBrk="1" hangingPunct="1">
              <a:lnSpc>
                <a:spcPct val="90000"/>
              </a:lnSpc>
              <a:buFont typeface="Wingdings" pitchFamily="2" charset="2"/>
              <a:buNone/>
              <a:defRPr/>
            </a:pPr>
            <a:endParaRPr lang="en-US" sz="2400" b="1" smtClean="0"/>
          </a:p>
          <a:p>
            <a:pPr eaLnBrk="1" hangingPunct="1">
              <a:lnSpc>
                <a:spcPct val="90000"/>
              </a:lnSpc>
              <a:defRPr/>
            </a:pPr>
            <a:endParaRPr lang="en-US" sz="2400" b="1" smtClean="0"/>
          </a:p>
        </p:txBody>
      </p:sp>
      <p:sp>
        <p:nvSpPr>
          <p:cNvPr id="179202" name="Slide Number Placeholder 4"/>
          <p:cNvSpPr>
            <a:spLocks noGrp="1"/>
          </p:cNvSpPr>
          <p:nvPr>
            <p:ph type="sldNum" sz="quarter" idx="12"/>
          </p:nvPr>
        </p:nvSpPr>
        <p:spPr>
          <a:noFill/>
        </p:spPr>
        <p:txBody>
          <a:bodyPr/>
          <a:lstStyle/>
          <a:p>
            <a:fld id="{C1B18CC8-B493-4E54-8FF8-0B95D610BF9E}" type="slidenum">
              <a:rPr lang="en-US"/>
              <a:pPr/>
              <a:t>18</a:t>
            </a:fld>
            <a:endParaRPr lang="en-US"/>
          </a:p>
        </p:txBody>
      </p:sp>
    </p:spTree>
  </p:cSld>
  <p:clrMapOvr>
    <a:masterClrMapping/>
  </p:clrMapOvr>
  <p:transition advTm="120000"/>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Rot="1" noChangeArrowheads="1"/>
          </p:cNvSpPr>
          <p:nvPr>
            <p:ph type="title"/>
          </p:nvPr>
        </p:nvSpPr>
        <p:spPr>
          <a:xfrm>
            <a:off x="457200" y="274638"/>
            <a:ext cx="8229600" cy="922337"/>
          </a:xfrm>
        </p:spPr>
        <p:txBody>
          <a:bodyPr/>
          <a:lstStyle/>
          <a:p>
            <a:pPr eaLnBrk="1" hangingPunct="1">
              <a:defRPr/>
            </a:pPr>
            <a:r>
              <a:rPr lang="en-US" sz="3600" b="0" smtClean="0">
                <a:latin typeface="Times New Roman" pitchFamily="18" charset="0"/>
              </a:rPr>
              <a:t>Examples Of Chemical Hazards (1)</a:t>
            </a:r>
          </a:p>
        </p:txBody>
      </p:sp>
      <p:sp>
        <p:nvSpPr>
          <p:cNvPr id="311299" name="Rectangle 3"/>
          <p:cNvSpPr>
            <a:spLocks noGrp="1" noChangeArrowheads="1"/>
          </p:cNvSpPr>
          <p:nvPr>
            <p:ph idx="1"/>
          </p:nvPr>
        </p:nvSpPr>
        <p:spPr/>
        <p:txBody>
          <a:bodyPr>
            <a:normAutofit lnSpcReduction="10000"/>
          </a:bodyPr>
          <a:lstStyle/>
          <a:p>
            <a:pPr eaLnBrk="1" hangingPunct="1">
              <a:lnSpc>
                <a:spcPct val="90000"/>
              </a:lnSpc>
              <a:defRPr/>
            </a:pPr>
            <a:r>
              <a:rPr lang="en-US" sz="2400" b="1" smtClean="0">
                <a:latin typeface="Times New Roman" pitchFamily="18" charset="0"/>
              </a:rPr>
              <a:t>NATURALLY OCCURRING CHEMICALS</a:t>
            </a:r>
          </a:p>
          <a:p>
            <a:pPr eaLnBrk="1" hangingPunct="1">
              <a:lnSpc>
                <a:spcPct val="90000"/>
              </a:lnSpc>
              <a:buFont typeface="Wingdings" pitchFamily="2" charset="2"/>
              <a:buNone/>
              <a:defRPr/>
            </a:pPr>
            <a:r>
              <a:rPr lang="en-US" sz="2400" smtClean="0">
                <a:latin typeface="Times New Roman" pitchFamily="18" charset="0"/>
              </a:rPr>
              <a:t>Allergens</a:t>
            </a:r>
          </a:p>
          <a:p>
            <a:pPr eaLnBrk="1" hangingPunct="1">
              <a:lnSpc>
                <a:spcPct val="90000"/>
              </a:lnSpc>
              <a:buFont typeface="Wingdings" pitchFamily="2" charset="2"/>
              <a:buNone/>
              <a:defRPr/>
            </a:pPr>
            <a:r>
              <a:rPr lang="en-US" sz="2400" smtClean="0">
                <a:latin typeface="Times New Roman" pitchFamily="18" charset="0"/>
              </a:rPr>
              <a:t>Mycotoxins (e.g. aflatoxin)</a:t>
            </a:r>
          </a:p>
          <a:p>
            <a:pPr eaLnBrk="1" hangingPunct="1">
              <a:lnSpc>
                <a:spcPct val="90000"/>
              </a:lnSpc>
              <a:buFont typeface="Wingdings" pitchFamily="2" charset="2"/>
              <a:buNone/>
              <a:defRPr/>
            </a:pPr>
            <a:r>
              <a:rPr lang="en-US" sz="2400" smtClean="0">
                <a:latin typeface="Times New Roman" pitchFamily="18" charset="0"/>
              </a:rPr>
              <a:t>Scombrotoxin (Histamine)</a:t>
            </a:r>
          </a:p>
          <a:p>
            <a:pPr eaLnBrk="1" hangingPunct="1">
              <a:lnSpc>
                <a:spcPct val="90000"/>
              </a:lnSpc>
              <a:buFont typeface="Wingdings" pitchFamily="2" charset="2"/>
              <a:buNone/>
              <a:defRPr/>
            </a:pPr>
            <a:r>
              <a:rPr lang="en-US" sz="2400" smtClean="0">
                <a:latin typeface="Times New Roman" pitchFamily="18" charset="0"/>
              </a:rPr>
              <a:t>Shellfish toxins (e.g. Paralytic shellfish poisoning-PSP)</a:t>
            </a:r>
          </a:p>
          <a:p>
            <a:pPr eaLnBrk="1" hangingPunct="1">
              <a:lnSpc>
                <a:spcPct val="90000"/>
              </a:lnSpc>
              <a:defRPr/>
            </a:pPr>
            <a:r>
              <a:rPr lang="en-US" sz="2400" b="1" smtClean="0">
                <a:latin typeface="Times New Roman" pitchFamily="18" charset="0"/>
              </a:rPr>
              <a:t>ADDED CHEMICALS</a:t>
            </a:r>
          </a:p>
          <a:p>
            <a:pPr eaLnBrk="1" hangingPunct="1">
              <a:lnSpc>
                <a:spcPct val="90000"/>
              </a:lnSpc>
              <a:buFont typeface="Wingdings" pitchFamily="2" charset="2"/>
              <a:buNone/>
              <a:defRPr/>
            </a:pPr>
            <a:r>
              <a:rPr lang="en-US" sz="2400" b="1" smtClean="0">
                <a:latin typeface="Times New Roman" pitchFamily="18" charset="0"/>
              </a:rPr>
              <a:t>Agricultural chemicals</a:t>
            </a:r>
          </a:p>
          <a:p>
            <a:pPr eaLnBrk="1" hangingPunct="1">
              <a:lnSpc>
                <a:spcPct val="90000"/>
              </a:lnSpc>
              <a:buFont typeface="Wingdings" pitchFamily="2" charset="2"/>
              <a:buNone/>
              <a:defRPr/>
            </a:pPr>
            <a:r>
              <a:rPr lang="en-US" sz="2400" smtClean="0">
                <a:latin typeface="Times New Roman" pitchFamily="18" charset="0"/>
              </a:rPr>
              <a:t>Pesticides</a:t>
            </a:r>
          </a:p>
          <a:p>
            <a:pPr eaLnBrk="1" hangingPunct="1">
              <a:lnSpc>
                <a:spcPct val="90000"/>
              </a:lnSpc>
              <a:buFont typeface="Wingdings" pitchFamily="2" charset="2"/>
              <a:buNone/>
              <a:defRPr/>
            </a:pPr>
            <a:r>
              <a:rPr lang="en-US" sz="2400" smtClean="0">
                <a:latin typeface="Times New Roman" pitchFamily="18" charset="0"/>
              </a:rPr>
              <a:t>Fertilizers</a:t>
            </a:r>
          </a:p>
          <a:p>
            <a:pPr eaLnBrk="1" hangingPunct="1">
              <a:lnSpc>
                <a:spcPct val="90000"/>
              </a:lnSpc>
              <a:buFont typeface="Wingdings" pitchFamily="2" charset="2"/>
              <a:buNone/>
              <a:defRPr/>
            </a:pPr>
            <a:r>
              <a:rPr lang="en-US" sz="2400" smtClean="0">
                <a:latin typeface="Times New Roman" pitchFamily="18" charset="0"/>
              </a:rPr>
              <a:t>Antibiotics</a:t>
            </a:r>
          </a:p>
          <a:p>
            <a:pPr eaLnBrk="1" hangingPunct="1">
              <a:lnSpc>
                <a:spcPct val="90000"/>
              </a:lnSpc>
              <a:buFont typeface="Wingdings" pitchFamily="2" charset="2"/>
              <a:buNone/>
              <a:defRPr/>
            </a:pPr>
            <a:r>
              <a:rPr lang="en-US" sz="2400" smtClean="0">
                <a:latin typeface="Times New Roman" pitchFamily="18" charset="0"/>
              </a:rPr>
              <a:t>Growth hormones</a:t>
            </a:r>
          </a:p>
        </p:txBody>
      </p:sp>
      <p:sp>
        <p:nvSpPr>
          <p:cNvPr id="180226" name="Slide Number Placeholder 4"/>
          <p:cNvSpPr>
            <a:spLocks noGrp="1"/>
          </p:cNvSpPr>
          <p:nvPr>
            <p:ph type="sldNum" sz="quarter" idx="12"/>
          </p:nvPr>
        </p:nvSpPr>
        <p:spPr>
          <a:noFill/>
        </p:spPr>
        <p:txBody>
          <a:bodyPr/>
          <a:lstStyle/>
          <a:p>
            <a:fld id="{3FF26260-40C5-4853-BE9A-5253E82CB969}" type="slidenum">
              <a:rPr lang="en-US"/>
              <a:pPr/>
              <a:t>19</a:t>
            </a:fld>
            <a:endParaRPr lang="en-US"/>
          </a:p>
        </p:txBody>
      </p:sp>
    </p:spTree>
  </p:cSld>
  <p:clrMapOvr>
    <a:masterClrMapping/>
  </p:clrMapOvr>
  <p:transition advTm="120000"/>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2"/>
          <p:cNvSpPr>
            <a:spLocks noGrp="1" noRot="1" noChangeArrowheads="1"/>
          </p:cNvSpPr>
          <p:nvPr>
            <p:ph type="title"/>
          </p:nvPr>
        </p:nvSpPr>
        <p:spPr/>
        <p:txBody>
          <a:bodyPr/>
          <a:lstStyle/>
          <a:p>
            <a:pPr eaLnBrk="1" hangingPunct="1">
              <a:defRPr/>
            </a:pPr>
            <a:r>
              <a:rPr lang="en-US" sz="3600" b="0" smtClean="0">
                <a:latin typeface="Times New Roman" pitchFamily="18" charset="0"/>
              </a:rPr>
              <a:t>Examples Of Chemical Hazards (2)</a:t>
            </a:r>
          </a:p>
        </p:txBody>
      </p:sp>
      <p:sp>
        <p:nvSpPr>
          <p:cNvPr id="312323" name="Rectangle 3"/>
          <p:cNvSpPr>
            <a:spLocks noGrp="1" noChangeArrowheads="1"/>
          </p:cNvSpPr>
          <p:nvPr>
            <p:ph idx="1"/>
          </p:nvPr>
        </p:nvSpPr>
        <p:spPr/>
        <p:txBody>
          <a:bodyPr>
            <a:normAutofit lnSpcReduction="10000"/>
          </a:bodyPr>
          <a:lstStyle/>
          <a:p>
            <a:pPr eaLnBrk="1" hangingPunct="1">
              <a:defRPr/>
            </a:pPr>
            <a:r>
              <a:rPr lang="en-US" sz="2400" b="1" dirty="0" smtClean="0">
                <a:latin typeface="Times New Roman" pitchFamily="18" charset="0"/>
              </a:rPr>
              <a:t>Prohibited substances</a:t>
            </a:r>
          </a:p>
          <a:p>
            <a:pPr eaLnBrk="1" hangingPunct="1">
              <a:buFont typeface="Wingdings" pitchFamily="2" charset="2"/>
              <a:buNone/>
              <a:defRPr/>
            </a:pPr>
            <a:r>
              <a:rPr lang="en-US" sz="2400" dirty="0" smtClean="0">
                <a:latin typeface="Times New Roman" pitchFamily="18" charset="0"/>
              </a:rPr>
              <a:t>Direct</a:t>
            </a:r>
          </a:p>
          <a:p>
            <a:pPr eaLnBrk="1" hangingPunct="1">
              <a:buFont typeface="Wingdings" pitchFamily="2" charset="2"/>
              <a:buNone/>
              <a:defRPr/>
            </a:pPr>
            <a:r>
              <a:rPr lang="en-US" sz="2400" dirty="0" smtClean="0">
                <a:latin typeface="Times New Roman" pitchFamily="18" charset="0"/>
              </a:rPr>
              <a:t>Indirect</a:t>
            </a:r>
          </a:p>
          <a:p>
            <a:pPr eaLnBrk="1" hangingPunct="1">
              <a:defRPr/>
            </a:pPr>
            <a:r>
              <a:rPr lang="en-US" sz="2400" b="1" dirty="0" smtClean="0">
                <a:latin typeface="Times New Roman" pitchFamily="18" charset="0"/>
              </a:rPr>
              <a:t>Toxic elements and compounds</a:t>
            </a:r>
          </a:p>
          <a:p>
            <a:pPr eaLnBrk="1" hangingPunct="1">
              <a:buFont typeface="Wingdings" pitchFamily="2" charset="2"/>
              <a:buNone/>
              <a:defRPr/>
            </a:pPr>
            <a:r>
              <a:rPr lang="en-US" sz="2400" dirty="0" smtClean="0">
                <a:latin typeface="Times New Roman" pitchFamily="18" charset="0"/>
              </a:rPr>
              <a:t>Lead, Zinc, Mercury, Arsenic, Cyanide</a:t>
            </a:r>
          </a:p>
          <a:p>
            <a:pPr eaLnBrk="1" hangingPunct="1">
              <a:defRPr/>
            </a:pPr>
            <a:r>
              <a:rPr lang="en-US" sz="2400" b="1" dirty="0" smtClean="0">
                <a:latin typeface="Times New Roman" pitchFamily="18" charset="0"/>
              </a:rPr>
              <a:t>Vitamins and minerals contaminants</a:t>
            </a:r>
          </a:p>
          <a:p>
            <a:pPr eaLnBrk="1" hangingPunct="1">
              <a:buFont typeface="Wingdings" pitchFamily="2" charset="2"/>
              <a:buNone/>
              <a:defRPr/>
            </a:pPr>
            <a:r>
              <a:rPr lang="en-US" sz="2400" dirty="0" smtClean="0">
                <a:latin typeface="Times New Roman" pitchFamily="18" charset="0"/>
              </a:rPr>
              <a:t>Lubricants, Cleaners, Sanitizers, Coatings, Paints, Pest</a:t>
            </a:r>
          </a:p>
          <a:p>
            <a:pPr eaLnBrk="1" hangingPunct="1">
              <a:buFont typeface="Wingdings" pitchFamily="2" charset="2"/>
              <a:buNone/>
              <a:defRPr/>
            </a:pPr>
            <a:r>
              <a:rPr lang="en-US" sz="2400" dirty="0" smtClean="0">
                <a:latin typeface="Times New Roman" pitchFamily="18" charset="0"/>
              </a:rPr>
              <a:t>Control Chemicals </a:t>
            </a:r>
          </a:p>
          <a:p>
            <a:pPr eaLnBrk="1" hangingPunct="1">
              <a:defRPr/>
            </a:pPr>
            <a:r>
              <a:rPr lang="en-US" sz="2400" b="1" dirty="0" smtClean="0">
                <a:latin typeface="Times New Roman" pitchFamily="18" charset="0"/>
              </a:rPr>
              <a:t>From Packaging materials</a:t>
            </a:r>
          </a:p>
          <a:p>
            <a:pPr eaLnBrk="1" hangingPunct="1">
              <a:buFont typeface="Wingdings" pitchFamily="2" charset="2"/>
              <a:buNone/>
              <a:defRPr/>
            </a:pPr>
            <a:r>
              <a:rPr lang="en-US" sz="2400" dirty="0" smtClean="0">
                <a:latin typeface="Times New Roman" pitchFamily="18" charset="0"/>
              </a:rPr>
              <a:t>Plasticizers, Adhesives, Lead, Tin, Printing/coding inks</a:t>
            </a:r>
          </a:p>
        </p:txBody>
      </p:sp>
      <p:sp>
        <p:nvSpPr>
          <p:cNvPr id="181250" name="Slide Number Placeholder 4"/>
          <p:cNvSpPr>
            <a:spLocks noGrp="1"/>
          </p:cNvSpPr>
          <p:nvPr>
            <p:ph type="sldNum" sz="quarter" idx="12"/>
          </p:nvPr>
        </p:nvSpPr>
        <p:spPr>
          <a:noFill/>
        </p:spPr>
        <p:txBody>
          <a:bodyPr/>
          <a:lstStyle/>
          <a:p>
            <a:fld id="{BDDF736E-3BF8-41E0-B0B2-62C027EC9DD6}" type="slidenum">
              <a:rPr lang="en-US"/>
              <a:pPr/>
              <a:t>20</a:t>
            </a:fld>
            <a:endParaRPr lang="en-US"/>
          </a:p>
        </p:txBody>
      </p:sp>
    </p:spTree>
  </p:cSld>
  <p:clrMapOvr>
    <a:masterClrMapping/>
  </p:clrMapOvr>
  <p:transition advTm="120000"/>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Rot="1" noChangeArrowheads="1"/>
          </p:cNvSpPr>
          <p:nvPr>
            <p:ph type="title"/>
          </p:nvPr>
        </p:nvSpPr>
        <p:spPr/>
        <p:txBody>
          <a:bodyPr/>
          <a:lstStyle/>
          <a:p>
            <a:pPr eaLnBrk="1" hangingPunct="1">
              <a:defRPr/>
            </a:pPr>
            <a:r>
              <a:rPr lang="en-US" sz="3600" b="0" smtClean="0">
                <a:latin typeface="Times New Roman" pitchFamily="18" charset="0"/>
              </a:rPr>
              <a:t>Examples Of Physical Hazards (1)</a:t>
            </a:r>
          </a:p>
        </p:txBody>
      </p:sp>
      <p:graphicFrame>
        <p:nvGraphicFramePr>
          <p:cNvPr id="313347" name="Group 3"/>
          <p:cNvGraphicFramePr>
            <a:graphicFrameLocks noGrp="1"/>
          </p:cNvGraphicFramePr>
          <p:nvPr>
            <p:ph type="tbl" idx="1"/>
          </p:nvPr>
        </p:nvGraphicFramePr>
        <p:xfrm>
          <a:off x="457200" y="1600200"/>
          <a:ext cx="8229600" cy="4846320"/>
        </p:xfrm>
        <a:graphic>
          <a:graphicData uri="http://schemas.openxmlformats.org/drawingml/2006/table">
            <a:tbl>
              <a:tblPr/>
              <a:tblGrid>
                <a:gridCol w="2743200"/>
                <a:gridCol w="2743200"/>
                <a:gridCol w="2743200"/>
              </a:tblGrid>
              <a:tr h="565150">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1"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MATERIAL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1"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INJURY POTENTIAL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1"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SOURCES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27063">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1"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Glass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Cuts, Bleeding;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Bottles, jars, light fittings, gauge covers etc.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84200">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1"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Wood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Cuts, infection, Choking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Field sources, Pallets, boxes, building materials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6738">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1"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Stones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Choking, broken teeth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Fields, buildings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5150">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1"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Metal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Cuts, infection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Machinery, fields, wire, employees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2274" name="Slide Number Placeholder 4"/>
          <p:cNvSpPr>
            <a:spLocks noGrp="1"/>
          </p:cNvSpPr>
          <p:nvPr>
            <p:ph type="sldNum" sz="quarter" idx="11"/>
          </p:nvPr>
        </p:nvSpPr>
        <p:spPr>
          <a:noFill/>
        </p:spPr>
        <p:txBody>
          <a:bodyPr/>
          <a:lstStyle/>
          <a:p>
            <a:fld id="{3703AEE6-B716-47B1-8041-5C1FC507B04C}" type="slidenum">
              <a:rPr lang="en-US"/>
              <a:pPr/>
              <a:t>21</a:t>
            </a:fld>
            <a:endParaRPr lang="en-US"/>
          </a:p>
        </p:txBody>
      </p:sp>
    </p:spTree>
  </p:cSld>
  <p:clrMapOvr>
    <a:masterClrMapping/>
  </p:clrMapOvr>
  <p:transition advTm="120000"/>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Rot="1" noChangeArrowheads="1"/>
          </p:cNvSpPr>
          <p:nvPr>
            <p:ph type="title"/>
          </p:nvPr>
        </p:nvSpPr>
        <p:spPr/>
        <p:txBody>
          <a:bodyPr/>
          <a:lstStyle/>
          <a:p>
            <a:pPr eaLnBrk="1" hangingPunct="1">
              <a:defRPr/>
            </a:pPr>
            <a:r>
              <a:rPr lang="en-US" sz="3600" b="0" smtClean="0">
                <a:latin typeface="Times New Roman" pitchFamily="18" charset="0"/>
              </a:rPr>
              <a:t>Examples Of Physical Hazards (2)</a:t>
            </a:r>
          </a:p>
        </p:txBody>
      </p:sp>
      <p:graphicFrame>
        <p:nvGraphicFramePr>
          <p:cNvPr id="314371" name="Group 3"/>
          <p:cNvGraphicFramePr>
            <a:graphicFrameLocks noGrp="1"/>
          </p:cNvGraphicFramePr>
          <p:nvPr>
            <p:ph type="tbl" idx="1"/>
          </p:nvPr>
        </p:nvGraphicFramePr>
        <p:xfrm>
          <a:off x="152400" y="1600200"/>
          <a:ext cx="8534400" cy="3621088"/>
        </p:xfrm>
        <a:graphic>
          <a:graphicData uri="http://schemas.openxmlformats.org/drawingml/2006/table">
            <a:tbl>
              <a:tblPr/>
              <a:tblGrid>
                <a:gridCol w="2139950"/>
                <a:gridCol w="2743200"/>
                <a:gridCol w="3651250"/>
              </a:tblGrid>
              <a:tr h="904875">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1" i="0" u="none" strike="noStrike" cap="none" normalizeH="0" baseline="0" dirty="0" smtClean="0">
                          <a:ln>
                            <a:noFill/>
                          </a:ln>
                          <a:solidFill>
                            <a:schemeClr val="tx1"/>
                          </a:solidFill>
                          <a:effectLst>
                            <a:outerShdw blurRad="38100" dist="38100" dir="2700000" algn="tl">
                              <a:srgbClr val="000000"/>
                            </a:outerShdw>
                          </a:effectLst>
                          <a:latin typeface="Times New Roman" pitchFamily="18" charset="0"/>
                        </a:rPr>
                        <a:t>MATERIAL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1"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INJURY POTENTIAL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1"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SOURCES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4875">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1"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Insulation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Choking; long-term if asbestos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Building materials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6463">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1" i="0" u="none" strike="noStrike" cap="none" normalizeH="0" baseline="0" dirty="0" smtClean="0">
                          <a:ln>
                            <a:noFill/>
                          </a:ln>
                          <a:solidFill>
                            <a:schemeClr val="tx1"/>
                          </a:solidFill>
                          <a:effectLst>
                            <a:outerShdw blurRad="38100" dist="38100" dir="2700000" algn="tl">
                              <a:srgbClr val="000000"/>
                            </a:outerShdw>
                          </a:effectLst>
                          <a:latin typeface="Times New Roman" pitchFamily="18" charset="0"/>
                        </a:rPr>
                        <a:t>Plastic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Choking, cuts, infection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dirty="0" smtClean="0">
                          <a:ln>
                            <a:noFill/>
                          </a:ln>
                          <a:solidFill>
                            <a:schemeClr val="tx1"/>
                          </a:solidFill>
                          <a:effectLst>
                            <a:outerShdw blurRad="38100" dist="38100" dir="2700000" algn="tl">
                              <a:srgbClr val="000000"/>
                            </a:outerShdw>
                          </a:effectLst>
                          <a:latin typeface="Times New Roman" pitchFamily="18" charset="0"/>
                        </a:rPr>
                        <a:t>Packaging, pallets, equipment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04875">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1" i="0" u="none" strike="noStrike" cap="none" normalizeH="0" baseline="0" smtClean="0">
                          <a:ln>
                            <a:noFill/>
                          </a:ln>
                          <a:solidFill>
                            <a:schemeClr val="tx1"/>
                          </a:solidFill>
                          <a:effectLst>
                            <a:outerShdw blurRad="38100" dist="38100" dir="2700000" algn="tl">
                              <a:srgbClr val="000000"/>
                            </a:outerShdw>
                          </a:effectLst>
                          <a:latin typeface="Times New Roman" pitchFamily="18" charset="0"/>
                        </a:rPr>
                        <a:t>Personal effects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dirty="0" smtClean="0">
                          <a:ln>
                            <a:noFill/>
                          </a:ln>
                          <a:solidFill>
                            <a:schemeClr val="tx1"/>
                          </a:solidFill>
                          <a:effectLst>
                            <a:outerShdw blurRad="38100" dist="38100" dir="2700000" algn="tl">
                              <a:srgbClr val="000000"/>
                            </a:outerShdw>
                          </a:effectLst>
                          <a:latin typeface="Times New Roman" pitchFamily="18" charset="0"/>
                        </a:rPr>
                        <a:t>Choking, cuts, broken teeth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2400" b="0" i="0" u="none" strike="noStrike" cap="none" normalizeH="0" baseline="0" dirty="0" smtClean="0">
                          <a:ln>
                            <a:noFill/>
                          </a:ln>
                          <a:solidFill>
                            <a:schemeClr val="tx1"/>
                          </a:solidFill>
                          <a:effectLst>
                            <a:outerShdw blurRad="38100" dist="38100" dir="2700000" algn="tl">
                              <a:srgbClr val="000000"/>
                            </a:outerShdw>
                          </a:effectLst>
                          <a:latin typeface="Times New Roman" pitchFamily="18" charset="0"/>
                        </a:rPr>
                        <a:t>employees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3298" name="Slide Number Placeholder 4"/>
          <p:cNvSpPr>
            <a:spLocks noGrp="1"/>
          </p:cNvSpPr>
          <p:nvPr>
            <p:ph type="sldNum" sz="quarter" idx="11"/>
          </p:nvPr>
        </p:nvSpPr>
        <p:spPr>
          <a:noFill/>
        </p:spPr>
        <p:txBody>
          <a:bodyPr/>
          <a:lstStyle/>
          <a:p>
            <a:fld id="{02CE9991-BF1E-4395-90D3-57F100123B04}" type="slidenum">
              <a:rPr lang="en-US"/>
              <a:pPr/>
              <a:t>22</a:t>
            </a:fld>
            <a:endParaRPr lang="en-US"/>
          </a:p>
        </p:txBody>
      </p:sp>
    </p:spTree>
  </p:cSld>
  <p:clrMapOvr>
    <a:masterClrMapping/>
  </p:clrMapOvr>
  <p:transition advTm="120000"/>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Rot="1" noChangeArrowheads="1"/>
          </p:cNvSpPr>
          <p:nvPr>
            <p:ph type="title"/>
          </p:nvPr>
        </p:nvSpPr>
        <p:spPr/>
        <p:txBody>
          <a:bodyPr/>
          <a:lstStyle/>
          <a:p>
            <a:pPr eaLnBrk="1" hangingPunct="1">
              <a:defRPr/>
            </a:pPr>
            <a:r>
              <a:rPr lang="en-US" sz="3600" b="0" smtClean="0">
                <a:latin typeface="Times New Roman" pitchFamily="18" charset="0"/>
              </a:rPr>
              <a:t>Examples of Control Measures</a:t>
            </a:r>
          </a:p>
        </p:txBody>
      </p:sp>
      <p:sp>
        <p:nvSpPr>
          <p:cNvPr id="315395" name="Rectangle 3"/>
          <p:cNvSpPr>
            <a:spLocks noGrp="1" noChangeArrowheads="1"/>
          </p:cNvSpPr>
          <p:nvPr>
            <p:ph sz="half" idx="1"/>
          </p:nvPr>
        </p:nvSpPr>
        <p:spPr/>
        <p:txBody>
          <a:bodyPr/>
          <a:lstStyle/>
          <a:p>
            <a:pPr eaLnBrk="1" hangingPunct="1">
              <a:lnSpc>
                <a:spcPct val="90000"/>
              </a:lnSpc>
              <a:defRPr/>
            </a:pPr>
            <a:r>
              <a:rPr lang="en-US" sz="2400" dirty="0" smtClean="0">
                <a:latin typeface="Times New Roman" pitchFamily="18" charset="0"/>
              </a:rPr>
              <a:t>Use of cleaned and sterilized production utensils</a:t>
            </a:r>
          </a:p>
          <a:p>
            <a:pPr eaLnBrk="1" hangingPunct="1">
              <a:lnSpc>
                <a:spcPct val="90000"/>
              </a:lnSpc>
              <a:defRPr/>
            </a:pPr>
            <a:r>
              <a:rPr lang="en-US" sz="2400" dirty="0" smtClean="0">
                <a:latin typeface="Times New Roman" pitchFamily="18" charset="0"/>
              </a:rPr>
              <a:t> Qualification of the supplier          </a:t>
            </a:r>
          </a:p>
          <a:p>
            <a:pPr eaLnBrk="1" hangingPunct="1">
              <a:lnSpc>
                <a:spcPct val="90000"/>
              </a:lnSpc>
              <a:defRPr/>
            </a:pPr>
            <a:r>
              <a:rPr lang="en-US" sz="2400" dirty="0" smtClean="0">
                <a:latin typeface="Times New Roman" pitchFamily="18" charset="0"/>
              </a:rPr>
              <a:t>Calibration of balances</a:t>
            </a:r>
          </a:p>
          <a:p>
            <a:pPr eaLnBrk="1" hangingPunct="1">
              <a:lnSpc>
                <a:spcPct val="90000"/>
              </a:lnSpc>
              <a:defRPr/>
            </a:pPr>
            <a:r>
              <a:rPr lang="en-US" sz="2400" dirty="0" smtClean="0">
                <a:latin typeface="Times New Roman" pitchFamily="18" charset="0"/>
              </a:rPr>
              <a:t>Qualification of the buyer	          </a:t>
            </a:r>
          </a:p>
          <a:p>
            <a:pPr eaLnBrk="1" hangingPunct="1">
              <a:lnSpc>
                <a:spcPct val="90000"/>
              </a:lnSpc>
              <a:defRPr/>
            </a:pPr>
            <a:r>
              <a:rPr lang="en-US" sz="2400" dirty="0" smtClean="0">
                <a:latin typeface="Times New Roman" pitchFamily="18" charset="0"/>
              </a:rPr>
              <a:t>Certification of potable water</a:t>
            </a:r>
          </a:p>
          <a:p>
            <a:pPr eaLnBrk="1" hangingPunct="1">
              <a:lnSpc>
                <a:spcPct val="90000"/>
              </a:lnSpc>
              <a:defRPr/>
            </a:pPr>
            <a:r>
              <a:rPr lang="en-US" sz="2400" dirty="0" smtClean="0">
                <a:latin typeface="Times New Roman" pitchFamily="18" charset="0"/>
              </a:rPr>
              <a:t>Maintenance of the appropriate temperature</a:t>
            </a:r>
          </a:p>
          <a:p>
            <a:pPr eaLnBrk="1" hangingPunct="1">
              <a:lnSpc>
                <a:spcPct val="90000"/>
              </a:lnSpc>
              <a:buFont typeface="Wingdings" pitchFamily="2" charset="2"/>
              <a:buNone/>
              <a:defRPr/>
            </a:pPr>
            <a:endParaRPr lang="en-US" sz="2400" dirty="0" smtClean="0">
              <a:latin typeface="Times New Roman" pitchFamily="18" charset="0"/>
            </a:endParaRPr>
          </a:p>
        </p:txBody>
      </p:sp>
      <p:sp>
        <p:nvSpPr>
          <p:cNvPr id="315396" name="Rectangle 4"/>
          <p:cNvSpPr>
            <a:spLocks noGrp="1" noChangeArrowheads="1"/>
          </p:cNvSpPr>
          <p:nvPr>
            <p:ph sz="half" idx="2"/>
          </p:nvPr>
        </p:nvSpPr>
        <p:spPr/>
        <p:txBody>
          <a:bodyPr/>
          <a:lstStyle/>
          <a:p>
            <a:pPr>
              <a:lnSpc>
                <a:spcPct val="90000"/>
              </a:lnSpc>
              <a:defRPr/>
            </a:pPr>
            <a:r>
              <a:rPr lang="en-US" sz="2400" dirty="0" smtClean="0">
                <a:latin typeface="Times New Roman" pitchFamily="18" charset="0"/>
              </a:rPr>
              <a:t>Training </a:t>
            </a:r>
            <a:r>
              <a:rPr lang="en-US" sz="2400" dirty="0" err="1" smtClean="0">
                <a:latin typeface="Times New Roman" pitchFamily="18" charset="0"/>
              </a:rPr>
              <a:t>programmes</a:t>
            </a:r>
            <a:r>
              <a:rPr lang="en-US" sz="2400" dirty="0" smtClean="0">
                <a:latin typeface="Times New Roman" pitchFamily="18" charset="0"/>
              </a:rPr>
              <a:t> of operatives</a:t>
            </a:r>
          </a:p>
          <a:p>
            <a:pPr eaLnBrk="1" hangingPunct="1">
              <a:lnSpc>
                <a:spcPct val="90000"/>
              </a:lnSpc>
              <a:defRPr/>
            </a:pPr>
            <a:r>
              <a:rPr lang="en-US" sz="2400" dirty="0" smtClean="0">
                <a:latin typeface="Times New Roman" pitchFamily="18" charset="0"/>
              </a:rPr>
              <a:t>Disinfection and maintenance  of equipment</a:t>
            </a:r>
          </a:p>
          <a:p>
            <a:pPr eaLnBrk="1" hangingPunct="1">
              <a:lnSpc>
                <a:spcPct val="90000"/>
              </a:lnSpc>
              <a:defRPr/>
            </a:pPr>
            <a:endParaRPr lang="en-US" sz="2400" dirty="0" smtClean="0">
              <a:latin typeface="Times New Roman" pitchFamily="18" charset="0"/>
            </a:endParaRPr>
          </a:p>
          <a:p>
            <a:pPr eaLnBrk="1" hangingPunct="1">
              <a:lnSpc>
                <a:spcPct val="90000"/>
              </a:lnSpc>
              <a:defRPr/>
            </a:pPr>
            <a:endParaRPr lang="en-US" sz="2400" dirty="0" smtClean="0"/>
          </a:p>
        </p:txBody>
      </p:sp>
      <p:sp>
        <p:nvSpPr>
          <p:cNvPr id="184322" name="Slide Number Placeholder 5"/>
          <p:cNvSpPr>
            <a:spLocks noGrp="1"/>
          </p:cNvSpPr>
          <p:nvPr>
            <p:ph type="sldNum" sz="quarter" idx="12"/>
          </p:nvPr>
        </p:nvSpPr>
        <p:spPr>
          <a:noFill/>
        </p:spPr>
        <p:txBody>
          <a:bodyPr/>
          <a:lstStyle/>
          <a:p>
            <a:fld id="{2DE371B3-F016-4663-907E-2BDEBFA30439}" type="slidenum">
              <a:rPr lang="en-US"/>
              <a:pPr/>
              <a:t>23</a:t>
            </a:fld>
            <a:endParaRPr lang="en-US"/>
          </a:p>
        </p:txBody>
      </p:sp>
    </p:spTree>
  </p:cSld>
  <p:clrMapOvr>
    <a:masterClrMapping/>
  </p:clrMapOvr>
  <p:transition advTm="120000"/>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4" name="Rectangle 4"/>
          <p:cNvSpPr>
            <a:spLocks noGrp="1" noRot="1" noChangeArrowheads="1"/>
          </p:cNvSpPr>
          <p:nvPr>
            <p:ph type="title"/>
          </p:nvPr>
        </p:nvSpPr>
        <p:spPr>
          <a:xfrm>
            <a:off x="457200" y="274638"/>
            <a:ext cx="8229600" cy="4830762"/>
          </a:xfrm>
        </p:spPr>
        <p:txBody>
          <a:bodyPr/>
          <a:lstStyle/>
          <a:p>
            <a:pPr eaLnBrk="1" hangingPunct="1">
              <a:defRPr/>
            </a:pPr>
            <a:r>
              <a:rPr lang="en-US" smtClean="0"/>
              <a:t>Practical Exercise 3</a:t>
            </a:r>
          </a:p>
        </p:txBody>
      </p:sp>
      <p:sp>
        <p:nvSpPr>
          <p:cNvPr id="185346" name="Slide Number Placeholder 3"/>
          <p:cNvSpPr>
            <a:spLocks noGrp="1"/>
          </p:cNvSpPr>
          <p:nvPr>
            <p:ph type="sldNum" sz="quarter" idx="12"/>
          </p:nvPr>
        </p:nvSpPr>
        <p:spPr>
          <a:noFill/>
        </p:spPr>
        <p:txBody>
          <a:bodyPr/>
          <a:lstStyle/>
          <a:p>
            <a:fld id="{4F00B955-6677-4BF4-B306-3B38A6F13CAA}" type="slidenum">
              <a:rPr lang="en-US"/>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Rot="1" noChangeArrowheads="1"/>
          </p:cNvSpPr>
          <p:nvPr>
            <p:ph type="title"/>
          </p:nvPr>
        </p:nvSpPr>
        <p:spPr>
          <a:xfrm>
            <a:off x="395288" y="404813"/>
            <a:ext cx="8291512" cy="1511300"/>
          </a:xfrm>
        </p:spPr>
        <p:txBody>
          <a:bodyPr>
            <a:normAutofit fontScale="90000"/>
          </a:bodyPr>
          <a:lstStyle/>
          <a:p>
            <a:pPr eaLnBrk="1" hangingPunct="1">
              <a:defRPr/>
            </a:pPr>
            <a:r>
              <a:rPr lang="en-US" sz="2800" b="0" smtClean="0"/>
              <a:t/>
            </a:r>
            <a:br>
              <a:rPr lang="en-US" sz="2800" b="0" smtClean="0"/>
            </a:br>
            <a:r>
              <a:rPr lang="en-US" sz="3600" b="0" smtClean="0">
                <a:latin typeface="Times New Roman" pitchFamily="18" charset="0"/>
              </a:rPr>
              <a:t>Identification of hazards, the source and determination of measures to control them.</a:t>
            </a:r>
            <a:br>
              <a:rPr lang="en-US" sz="3600" b="0" smtClean="0">
                <a:latin typeface="Times New Roman" pitchFamily="18" charset="0"/>
              </a:rPr>
            </a:br>
            <a:endParaRPr lang="en-US" sz="3600" b="0" smtClean="0">
              <a:latin typeface="Times New Roman" pitchFamily="18" charset="0"/>
            </a:endParaRPr>
          </a:p>
        </p:txBody>
      </p:sp>
      <p:sp>
        <p:nvSpPr>
          <p:cNvPr id="316419" name="Rectangle 3"/>
          <p:cNvSpPr>
            <a:spLocks noGrp="1" noChangeArrowheads="1"/>
          </p:cNvSpPr>
          <p:nvPr>
            <p:ph idx="1"/>
          </p:nvPr>
        </p:nvSpPr>
        <p:spPr>
          <a:xfrm>
            <a:off x="457200" y="2133600"/>
            <a:ext cx="8229600" cy="4248150"/>
          </a:xfrm>
        </p:spPr>
        <p:txBody>
          <a:bodyPr/>
          <a:lstStyle/>
          <a:p>
            <a:pPr eaLnBrk="1" hangingPunct="1">
              <a:lnSpc>
                <a:spcPct val="90000"/>
              </a:lnSpc>
              <a:buFont typeface="Wingdings" pitchFamily="2" charset="2"/>
              <a:buNone/>
              <a:defRPr/>
            </a:pPr>
            <a:r>
              <a:rPr lang="en-US" sz="2800" b="1" u="sng" dirty="0" smtClean="0">
                <a:latin typeface="Times New Roman" pitchFamily="18" charset="0"/>
              </a:rPr>
              <a:t>Principle 1****</a:t>
            </a:r>
          </a:p>
          <a:p>
            <a:pPr eaLnBrk="1" hangingPunct="1">
              <a:lnSpc>
                <a:spcPct val="90000"/>
              </a:lnSpc>
              <a:defRPr/>
            </a:pPr>
            <a:r>
              <a:rPr lang="en-US" sz="2800" dirty="0" smtClean="0">
                <a:latin typeface="Times New Roman" pitchFamily="18" charset="0"/>
              </a:rPr>
              <a:t>Select a food item (e.g. Packaged water, </a:t>
            </a:r>
            <a:r>
              <a:rPr lang="en-US" sz="2800" dirty="0" err="1" smtClean="0">
                <a:latin typeface="Times New Roman" pitchFamily="18" charset="0"/>
              </a:rPr>
              <a:t>flavoured</a:t>
            </a:r>
            <a:r>
              <a:rPr lang="en-US" sz="2800" dirty="0" smtClean="0">
                <a:latin typeface="Times New Roman" pitchFamily="18" charset="0"/>
              </a:rPr>
              <a:t> drink).</a:t>
            </a:r>
          </a:p>
          <a:p>
            <a:pPr eaLnBrk="1" hangingPunct="1">
              <a:lnSpc>
                <a:spcPct val="90000"/>
              </a:lnSpc>
              <a:defRPr/>
            </a:pPr>
            <a:r>
              <a:rPr lang="en-US" sz="2800" dirty="0" smtClean="0">
                <a:latin typeface="Times New Roman" pitchFamily="18" charset="0"/>
              </a:rPr>
              <a:t>Consider the food ingredients and materials.</a:t>
            </a:r>
          </a:p>
          <a:p>
            <a:pPr eaLnBrk="1" hangingPunct="1">
              <a:lnSpc>
                <a:spcPct val="90000"/>
              </a:lnSpc>
              <a:defRPr/>
            </a:pPr>
            <a:r>
              <a:rPr lang="en-US" sz="2800" dirty="0" smtClean="0">
                <a:latin typeface="Times New Roman" pitchFamily="18" charset="0"/>
              </a:rPr>
              <a:t>Indicate the production process in a form of flow diagram (Production protocol/ Production process).</a:t>
            </a:r>
          </a:p>
          <a:p>
            <a:pPr eaLnBrk="1" hangingPunct="1">
              <a:lnSpc>
                <a:spcPct val="90000"/>
              </a:lnSpc>
              <a:defRPr/>
            </a:pPr>
            <a:r>
              <a:rPr lang="en-US" sz="2800" b="1" dirty="0" smtClean="0">
                <a:latin typeface="Times New Roman" pitchFamily="18" charset="0"/>
              </a:rPr>
              <a:t>Using a table as shown below identify the possible hazards that may be associated with food item, their sources and control measures. </a:t>
            </a:r>
          </a:p>
          <a:p>
            <a:pPr eaLnBrk="1" hangingPunct="1">
              <a:lnSpc>
                <a:spcPct val="90000"/>
              </a:lnSpc>
              <a:buFont typeface="Wingdings" pitchFamily="2" charset="2"/>
              <a:buNone/>
              <a:defRPr/>
            </a:pPr>
            <a:endParaRPr lang="en-US" sz="2800" b="1" dirty="0" smtClean="0">
              <a:latin typeface="Times New Roman" pitchFamily="18" charset="0"/>
            </a:endParaRPr>
          </a:p>
        </p:txBody>
      </p:sp>
      <p:sp>
        <p:nvSpPr>
          <p:cNvPr id="186370" name="Slide Number Placeholder 4"/>
          <p:cNvSpPr>
            <a:spLocks noGrp="1"/>
          </p:cNvSpPr>
          <p:nvPr>
            <p:ph type="sldNum" sz="quarter" idx="12"/>
          </p:nvPr>
        </p:nvSpPr>
        <p:spPr>
          <a:noFill/>
        </p:spPr>
        <p:txBody>
          <a:bodyPr/>
          <a:lstStyle/>
          <a:p>
            <a:fld id="{02AAE179-B9FC-4D48-A694-F245C8F37261}" type="slidenum">
              <a:rPr lang="en-US"/>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Rot="1" noChangeArrowheads="1"/>
          </p:cNvSpPr>
          <p:nvPr>
            <p:ph type="title"/>
          </p:nvPr>
        </p:nvSpPr>
        <p:spPr>
          <a:xfrm>
            <a:off x="468313" y="836613"/>
            <a:ext cx="8229600" cy="1647825"/>
          </a:xfrm>
        </p:spPr>
        <p:txBody>
          <a:bodyPr>
            <a:normAutofit fontScale="90000"/>
          </a:bodyPr>
          <a:lstStyle/>
          <a:p>
            <a:pPr eaLnBrk="1" hangingPunct="1">
              <a:defRPr/>
            </a:pPr>
            <a:r>
              <a:rPr lang="en-US" sz="3600" b="0" smtClean="0">
                <a:latin typeface="Times New Roman" pitchFamily="18" charset="0"/>
              </a:rPr>
              <a:t>Identification of hazards, the source and determination of measures to control them.</a:t>
            </a:r>
            <a:br>
              <a:rPr lang="en-US" sz="3600" b="0" smtClean="0">
                <a:latin typeface="Times New Roman" pitchFamily="18" charset="0"/>
              </a:rPr>
            </a:br>
            <a:endParaRPr lang="en-US" sz="3600" b="0" smtClean="0">
              <a:latin typeface="Times New Roman" pitchFamily="18" charset="0"/>
            </a:endParaRPr>
          </a:p>
        </p:txBody>
      </p:sp>
      <p:graphicFrame>
        <p:nvGraphicFramePr>
          <p:cNvPr id="317443" name="Group 3"/>
          <p:cNvGraphicFramePr>
            <a:graphicFrameLocks noGrp="1"/>
          </p:cNvGraphicFramePr>
          <p:nvPr>
            <p:ph idx="1"/>
          </p:nvPr>
        </p:nvGraphicFramePr>
        <p:xfrm>
          <a:off x="457200" y="2852738"/>
          <a:ext cx="8229600" cy="3273426"/>
        </p:xfrm>
        <a:graphic>
          <a:graphicData uri="http://schemas.openxmlformats.org/drawingml/2006/table">
            <a:tbl>
              <a:tblPr/>
              <a:tblGrid>
                <a:gridCol w="2057400"/>
                <a:gridCol w="2057400"/>
                <a:gridCol w="2057400"/>
                <a:gridCol w="2057400"/>
              </a:tblGrid>
              <a:tr h="1090613">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1800" b="1" i="0" u="none" strike="noStrike" cap="none" normalizeH="0" baseline="0" smtClean="0">
                          <a:ln>
                            <a:noFill/>
                          </a:ln>
                          <a:solidFill>
                            <a:schemeClr val="tx1"/>
                          </a:solidFill>
                          <a:effectLst>
                            <a:outerShdw blurRad="38100" dist="38100" dir="2700000" algn="tl">
                              <a:srgbClr val="000000"/>
                            </a:outerShdw>
                          </a:effectLst>
                          <a:latin typeface="Garamond" pitchFamily="18" charset="0"/>
                        </a:rPr>
                        <a:t>Process Step</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1800" b="1" i="0" u="none" strike="noStrike" cap="none" normalizeH="0" baseline="0" smtClean="0">
                          <a:ln>
                            <a:noFill/>
                          </a:ln>
                          <a:solidFill>
                            <a:schemeClr val="tx1"/>
                          </a:solidFill>
                          <a:effectLst>
                            <a:outerShdw blurRad="38100" dist="38100" dir="2700000" algn="tl">
                              <a:srgbClr val="000000"/>
                            </a:outerShdw>
                          </a:effectLst>
                          <a:latin typeface="Garamond" pitchFamily="18" charset="0"/>
                        </a:rPr>
                        <a:t>Hazard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1800" b="1" i="0" u="none" strike="noStrike" cap="none" normalizeH="0" baseline="0" smtClean="0">
                          <a:ln>
                            <a:noFill/>
                          </a:ln>
                          <a:solidFill>
                            <a:schemeClr val="tx1"/>
                          </a:solidFill>
                          <a:effectLst>
                            <a:outerShdw blurRad="38100" dist="38100" dir="2700000" algn="tl">
                              <a:srgbClr val="000000"/>
                            </a:outerShdw>
                          </a:effectLst>
                          <a:latin typeface="Garamond" pitchFamily="18" charset="0"/>
                        </a:rPr>
                        <a:t>Source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r>
                        <a:rPr kumimoji="0" lang="en-US" sz="1800" b="1" i="0" u="none" strike="noStrike" cap="none" normalizeH="0" baseline="0" smtClean="0">
                          <a:ln>
                            <a:noFill/>
                          </a:ln>
                          <a:solidFill>
                            <a:schemeClr val="tx1"/>
                          </a:solidFill>
                          <a:effectLst>
                            <a:outerShdw blurRad="38100" dist="38100" dir="2700000" algn="tl">
                              <a:srgbClr val="000000"/>
                            </a:outerShdw>
                          </a:effectLst>
                          <a:latin typeface="Garamond" pitchFamily="18" charset="0"/>
                        </a:rPr>
                        <a:t>Control Measure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92200">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endParaRPr kumimoji="0" lang="en-US" sz="1800" b="0" i="0" u="none" strike="noStrike" cap="none" normalizeH="0" baseline="0" smtClean="0">
                        <a:ln>
                          <a:noFill/>
                        </a:ln>
                        <a:solidFill>
                          <a:schemeClr val="tx1"/>
                        </a:solidFill>
                        <a:effectLst>
                          <a:outerShdw blurRad="38100" dist="38100" dir="2700000" algn="tl">
                            <a:srgbClr val="000000"/>
                          </a:outerShdw>
                        </a:effectLst>
                        <a:latin typeface="Garamond"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endParaRPr kumimoji="0" lang="en-US" sz="1800" b="0" i="0" u="none" strike="noStrike" cap="none" normalizeH="0" baseline="0" smtClean="0">
                        <a:ln>
                          <a:noFill/>
                        </a:ln>
                        <a:solidFill>
                          <a:schemeClr val="tx1"/>
                        </a:solidFill>
                        <a:effectLst>
                          <a:outerShdw blurRad="38100" dist="38100" dir="2700000" algn="tl">
                            <a:srgbClr val="000000"/>
                          </a:outerShdw>
                        </a:effectLst>
                        <a:latin typeface="Garamond"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endParaRPr kumimoji="0" lang="en-US" sz="1800" b="0" i="0" u="none" strike="noStrike" cap="none" normalizeH="0" baseline="0" smtClean="0">
                        <a:ln>
                          <a:noFill/>
                        </a:ln>
                        <a:solidFill>
                          <a:schemeClr val="tx1"/>
                        </a:solidFill>
                        <a:effectLst>
                          <a:outerShdw blurRad="38100" dist="38100" dir="2700000" algn="tl">
                            <a:srgbClr val="000000"/>
                          </a:outerShdw>
                        </a:effectLst>
                        <a:latin typeface="Garamond"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endParaRPr kumimoji="0" lang="en-US" sz="1800" b="0" i="0" u="none" strike="noStrike" cap="none" normalizeH="0" baseline="0" smtClean="0">
                        <a:ln>
                          <a:noFill/>
                        </a:ln>
                        <a:solidFill>
                          <a:schemeClr val="tx1"/>
                        </a:solidFill>
                        <a:effectLst>
                          <a:outerShdw blurRad="38100" dist="38100" dir="2700000" algn="tl">
                            <a:srgbClr val="000000"/>
                          </a:outerShdw>
                        </a:effectLst>
                        <a:latin typeface="Garamond"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90613">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endParaRPr kumimoji="0" lang="en-US" sz="1800" b="0" i="0" u="none" strike="noStrike" cap="none" normalizeH="0" baseline="0" smtClean="0">
                        <a:ln>
                          <a:noFill/>
                        </a:ln>
                        <a:solidFill>
                          <a:schemeClr val="tx1"/>
                        </a:solidFill>
                        <a:effectLst>
                          <a:outerShdw blurRad="38100" dist="38100" dir="2700000" algn="tl">
                            <a:srgbClr val="000000"/>
                          </a:outerShdw>
                        </a:effectLst>
                        <a:latin typeface="Garamond"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endParaRPr kumimoji="0" lang="en-US" sz="1800" b="0" i="0" u="none" strike="noStrike" cap="none" normalizeH="0" baseline="0" smtClean="0">
                        <a:ln>
                          <a:noFill/>
                        </a:ln>
                        <a:solidFill>
                          <a:schemeClr val="tx1"/>
                        </a:solidFill>
                        <a:effectLst>
                          <a:outerShdw blurRad="38100" dist="38100" dir="2700000" algn="tl">
                            <a:srgbClr val="000000"/>
                          </a:outerShdw>
                        </a:effectLst>
                        <a:latin typeface="Garamond"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endParaRPr kumimoji="0" lang="en-US" sz="1800" b="0" i="0" u="none" strike="noStrike" cap="none" normalizeH="0" baseline="0" smtClean="0">
                        <a:ln>
                          <a:noFill/>
                        </a:ln>
                        <a:solidFill>
                          <a:schemeClr val="tx1"/>
                        </a:solidFill>
                        <a:effectLst>
                          <a:outerShdw blurRad="38100" dist="38100" dir="2700000" algn="tl">
                            <a:srgbClr val="000000"/>
                          </a:outerShdw>
                        </a:effectLst>
                        <a:latin typeface="Garamond"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itchFamily="2" charset="2"/>
                        <a:buNone/>
                        <a:tabLst/>
                      </a:pPr>
                      <a:endParaRPr kumimoji="0" lang="en-US" sz="1800" b="0" i="0" u="none" strike="noStrike" cap="none" normalizeH="0" baseline="0" smtClean="0">
                        <a:ln>
                          <a:noFill/>
                        </a:ln>
                        <a:solidFill>
                          <a:schemeClr val="tx1"/>
                        </a:solidFill>
                        <a:effectLst>
                          <a:outerShdw blurRad="38100" dist="38100" dir="2700000" algn="tl">
                            <a:srgbClr val="000000"/>
                          </a:outerShdw>
                        </a:effectLst>
                        <a:latin typeface="Garamond"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87394" name="Slide Number Placeholder 4"/>
          <p:cNvSpPr>
            <a:spLocks noGrp="1"/>
          </p:cNvSpPr>
          <p:nvPr>
            <p:ph type="sldNum" sz="quarter" idx="12"/>
          </p:nvPr>
        </p:nvSpPr>
        <p:spPr>
          <a:noFill/>
        </p:spPr>
        <p:txBody>
          <a:bodyPr/>
          <a:lstStyle/>
          <a:p>
            <a:fld id="{FDAEF7D9-1D44-4BB8-A095-002399C3FB0E}" type="slidenum">
              <a:rPr lang="en-US"/>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Rot="1" noChangeArrowheads="1"/>
          </p:cNvSpPr>
          <p:nvPr>
            <p:ph type="title"/>
          </p:nvPr>
        </p:nvSpPr>
        <p:spPr>
          <a:xfrm>
            <a:off x="457200" y="274638"/>
            <a:ext cx="8229600" cy="633412"/>
          </a:xfrm>
        </p:spPr>
        <p:txBody>
          <a:bodyPr>
            <a:normAutofit/>
          </a:bodyPr>
          <a:lstStyle/>
          <a:p>
            <a:pPr eaLnBrk="1" hangingPunct="1">
              <a:defRPr/>
            </a:pPr>
            <a:r>
              <a:rPr lang="en-US" sz="3600" b="0" smtClean="0">
                <a:latin typeface="Times New Roman" pitchFamily="18" charset="0"/>
              </a:rPr>
              <a:t>Hint - 1</a:t>
            </a:r>
          </a:p>
        </p:txBody>
      </p:sp>
      <p:sp>
        <p:nvSpPr>
          <p:cNvPr id="318467" name="Rectangle 3"/>
          <p:cNvSpPr>
            <a:spLocks noGrp="1" noChangeArrowheads="1"/>
          </p:cNvSpPr>
          <p:nvPr>
            <p:ph idx="1"/>
          </p:nvPr>
        </p:nvSpPr>
        <p:spPr>
          <a:xfrm>
            <a:off x="457200" y="1196975"/>
            <a:ext cx="8229600" cy="4929188"/>
          </a:xfrm>
        </p:spPr>
        <p:txBody>
          <a:bodyPr/>
          <a:lstStyle/>
          <a:p>
            <a:pPr eaLnBrk="1" hangingPunct="1">
              <a:lnSpc>
                <a:spcPct val="90000"/>
              </a:lnSpc>
              <a:buFont typeface="Wingdings" pitchFamily="2" charset="2"/>
              <a:buNone/>
              <a:defRPr/>
            </a:pPr>
            <a:endParaRPr lang="en-US" sz="2800" dirty="0" smtClean="0">
              <a:latin typeface="Times New Roman" pitchFamily="18" charset="0"/>
            </a:endParaRPr>
          </a:p>
          <a:p>
            <a:pPr eaLnBrk="1" hangingPunct="1">
              <a:lnSpc>
                <a:spcPct val="90000"/>
              </a:lnSpc>
              <a:buFont typeface="Wingdings" pitchFamily="2" charset="2"/>
              <a:buNone/>
              <a:defRPr/>
            </a:pPr>
            <a:r>
              <a:rPr lang="en-US" sz="2800" u="sng" dirty="0" smtClean="0">
                <a:latin typeface="Times New Roman" pitchFamily="18" charset="0"/>
              </a:rPr>
              <a:t>Ingredients/ materials</a:t>
            </a:r>
            <a:endParaRPr lang="en-US" sz="2400" dirty="0" smtClean="0">
              <a:latin typeface="Times New Roman" pitchFamily="18" charset="0"/>
            </a:endParaRPr>
          </a:p>
          <a:p>
            <a:pPr eaLnBrk="1" hangingPunct="1">
              <a:lnSpc>
                <a:spcPct val="90000"/>
              </a:lnSpc>
              <a:defRPr/>
            </a:pPr>
            <a:r>
              <a:rPr lang="en-US" sz="2800" dirty="0" smtClean="0">
                <a:latin typeface="Times New Roman" pitchFamily="18" charset="0"/>
              </a:rPr>
              <a:t>Draw a flow diagram indicating how to produce the above item.</a:t>
            </a:r>
          </a:p>
          <a:p>
            <a:pPr eaLnBrk="1" hangingPunct="1">
              <a:lnSpc>
                <a:spcPct val="90000"/>
              </a:lnSpc>
              <a:defRPr/>
            </a:pPr>
            <a:r>
              <a:rPr lang="en-US" sz="2800" dirty="0" smtClean="0">
                <a:latin typeface="Times New Roman" pitchFamily="18" charset="0"/>
              </a:rPr>
              <a:t>Conduct a hazard analysis and establish the control measures for hazards that may be identified with the food item</a:t>
            </a:r>
          </a:p>
          <a:p>
            <a:pPr lvl="1" eaLnBrk="1" hangingPunct="1">
              <a:lnSpc>
                <a:spcPct val="90000"/>
              </a:lnSpc>
              <a:defRPr/>
            </a:pPr>
            <a:endParaRPr lang="en-US" sz="2400" dirty="0" smtClean="0">
              <a:latin typeface="Times New Roman" pitchFamily="18" charset="0"/>
            </a:endParaRPr>
          </a:p>
        </p:txBody>
      </p:sp>
      <p:sp>
        <p:nvSpPr>
          <p:cNvPr id="188418" name="Slide Number Placeholder 4"/>
          <p:cNvSpPr>
            <a:spLocks noGrp="1"/>
          </p:cNvSpPr>
          <p:nvPr>
            <p:ph type="sldNum" sz="quarter" idx="12"/>
          </p:nvPr>
        </p:nvSpPr>
        <p:spPr>
          <a:noFill/>
        </p:spPr>
        <p:txBody>
          <a:bodyPr/>
          <a:lstStyle/>
          <a:p>
            <a:fld id="{F62CEAB8-2D84-4952-AF29-E72AE8B14D0B}" type="slidenum">
              <a:rPr lang="en-US"/>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2"/>
          <p:cNvSpPr>
            <a:spLocks noGrp="1" noRot="1" noChangeArrowheads="1"/>
          </p:cNvSpPr>
          <p:nvPr>
            <p:ph type="title"/>
          </p:nvPr>
        </p:nvSpPr>
        <p:spPr/>
        <p:txBody>
          <a:bodyPr/>
          <a:lstStyle/>
          <a:p>
            <a:pPr eaLnBrk="1" hangingPunct="1">
              <a:defRPr/>
            </a:pPr>
            <a:r>
              <a:rPr lang="en-US" sz="3600" b="0" dirty="0" smtClean="0">
                <a:latin typeface="Times New Roman" pitchFamily="18" charset="0"/>
              </a:rPr>
              <a:t>Hint-2</a:t>
            </a:r>
          </a:p>
        </p:txBody>
      </p:sp>
      <p:sp>
        <p:nvSpPr>
          <p:cNvPr id="319491" name="Rectangle 3"/>
          <p:cNvSpPr>
            <a:spLocks noGrp="1" noChangeArrowheads="1"/>
          </p:cNvSpPr>
          <p:nvPr>
            <p:ph idx="1"/>
          </p:nvPr>
        </p:nvSpPr>
        <p:spPr/>
        <p:txBody>
          <a:bodyPr>
            <a:normAutofit/>
          </a:bodyPr>
          <a:lstStyle/>
          <a:p>
            <a:pPr eaLnBrk="1" hangingPunct="1">
              <a:lnSpc>
                <a:spcPct val="90000"/>
              </a:lnSpc>
              <a:defRPr/>
            </a:pPr>
            <a:r>
              <a:rPr lang="en-US" dirty="0" smtClean="0">
                <a:latin typeface="Times New Roman" pitchFamily="18" charset="0"/>
              </a:rPr>
              <a:t>Confirm if the prepared flow diagram as drawn matches what is practiced in the production room</a:t>
            </a:r>
          </a:p>
          <a:p>
            <a:pPr lvl="1" eaLnBrk="1" hangingPunct="1">
              <a:lnSpc>
                <a:spcPct val="90000"/>
              </a:lnSpc>
              <a:defRPr/>
            </a:pPr>
            <a:r>
              <a:rPr lang="en-US" dirty="0" smtClean="0">
                <a:latin typeface="Times New Roman" pitchFamily="18" charset="0"/>
              </a:rPr>
              <a:t>You may consult the supervisors etc. to confirm this</a:t>
            </a:r>
          </a:p>
          <a:p>
            <a:pPr lvl="1" eaLnBrk="1" hangingPunct="1">
              <a:lnSpc>
                <a:spcPct val="90000"/>
              </a:lnSpc>
              <a:defRPr/>
            </a:pPr>
            <a:r>
              <a:rPr lang="en-US" dirty="0" smtClean="0">
                <a:latin typeface="Times New Roman" pitchFamily="18" charset="0"/>
              </a:rPr>
              <a:t>Make all necessary corrections to the diagram and re-confirm</a:t>
            </a:r>
          </a:p>
          <a:p>
            <a:pPr eaLnBrk="1" hangingPunct="1">
              <a:lnSpc>
                <a:spcPct val="90000"/>
              </a:lnSpc>
              <a:buFont typeface="Wingdings" pitchFamily="2" charset="2"/>
              <a:buNone/>
              <a:defRPr/>
            </a:pPr>
            <a:r>
              <a:rPr lang="en-US" dirty="0" smtClean="0">
                <a:latin typeface="Times New Roman" pitchFamily="18" charset="0"/>
              </a:rPr>
              <a:t>	(The procedure is necessary so that we can conduct a very good hazard analysis in </a:t>
            </a:r>
            <a:r>
              <a:rPr lang="en-US" smtClean="0">
                <a:latin typeface="Times New Roman" pitchFamily="18" charset="0"/>
              </a:rPr>
              <a:t>order </a:t>
            </a:r>
            <a:r>
              <a:rPr lang="en-US" smtClean="0">
                <a:latin typeface="Times New Roman" pitchFamily="18" charset="0"/>
              </a:rPr>
              <a:t>not </a:t>
            </a:r>
            <a:r>
              <a:rPr lang="en-US" dirty="0" smtClean="0">
                <a:latin typeface="Times New Roman" pitchFamily="18" charset="0"/>
              </a:rPr>
              <a:t>to miss any potential hazard that may occur along the chain)</a:t>
            </a:r>
          </a:p>
        </p:txBody>
      </p:sp>
      <p:sp>
        <p:nvSpPr>
          <p:cNvPr id="189442" name="Slide Number Placeholder 4"/>
          <p:cNvSpPr>
            <a:spLocks noGrp="1"/>
          </p:cNvSpPr>
          <p:nvPr>
            <p:ph type="sldNum" sz="quarter" idx="12"/>
          </p:nvPr>
        </p:nvSpPr>
        <p:spPr>
          <a:noFill/>
        </p:spPr>
        <p:txBody>
          <a:bodyPr/>
          <a:lstStyle/>
          <a:p>
            <a:fld id="{E3F51DAF-C3EC-45B4-95DD-B8F8A6CA9B62}" type="slidenum">
              <a:rPr lang="en-US"/>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2" name="Rectangle 4"/>
          <p:cNvSpPr>
            <a:spLocks noGrp="1" noRot="1" noChangeArrowheads="1"/>
          </p:cNvSpPr>
          <p:nvPr>
            <p:ph type="title"/>
          </p:nvPr>
        </p:nvSpPr>
        <p:spPr>
          <a:xfrm>
            <a:off x="457200" y="274638"/>
            <a:ext cx="8229600" cy="5135562"/>
          </a:xfrm>
        </p:spPr>
        <p:txBody>
          <a:bodyPr/>
          <a:lstStyle/>
          <a:p>
            <a:pPr eaLnBrk="1" hangingPunct="1">
              <a:defRPr/>
            </a:pPr>
            <a:r>
              <a:rPr lang="en-US" sz="3600" b="0" smtClean="0"/>
              <a:t>CCPs, Critical Limits and Monitoring Procedures</a:t>
            </a:r>
          </a:p>
        </p:txBody>
      </p:sp>
      <p:sp>
        <p:nvSpPr>
          <p:cNvPr id="190466" name="Slide Number Placeholder 3"/>
          <p:cNvSpPr>
            <a:spLocks noGrp="1"/>
          </p:cNvSpPr>
          <p:nvPr>
            <p:ph type="sldNum" sz="quarter" idx="12"/>
          </p:nvPr>
        </p:nvSpPr>
        <p:spPr>
          <a:noFill/>
        </p:spPr>
        <p:txBody>
          <a:bodyPr/>
          <a:lstStyle/>
          <a:p>
            <a:fld id="{9D71920E-397B-43CF-AEB9-B6003E8160AD}" type="slidenum">
              <a:rPr lang="en-US"/>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Rot="1" noChangeArrowheads="1"/>
          </p:cNvSpPr>
          <p:nvPr>
            <p:ph type="title"/>
          </p:nvPr>
        </p:nvSpPr>
        <p:spPr>
          <a:xfrm>
            <a:off x="323850" y="333375"/>
            <a:ext cx="8229600" cy="1574800"/>
          </a:xfrm>
        </p:spPr>
        <p:txBody>
          <a:bodyPr>
            <a:normAutofit fontScale="90000"/>
          </a:bodyPr>
          <a:lstStyle/>
          <a:p>
            <a:pPr eaLnBrk="1" hangingPunct="1">
              <a:defRPr/>
            </a:pPr>
            <a:r>
              <a:rPr lang="en-US" sz="4000" dirty="0" smtClean="0"/>
              <a:t/>
            </a:r>
            <a:br>
              <a:rPr lang="en-US" sz="4000" dirty="0" smtClean="0"/>
            </a:br>
            <a:r>
              <a:rPr lang="en-US" sz="3600" b="0" dirty="0" smtClean="0">
                <a:latin typeface="Times New Roman" pitchFamily="18" charset="0"/>
              </a:rPr>
              <a:t>Identification of Critical Control Points (CCPs) [Critical Stages in the food production chain ]</a:t>
            </a:r>
            <a:br>
              <a:rPr lang="en-US" sz="3600" b="0" dirty="0" smtClean="0">
                <a:latin typeface="Times New Roman" pitchFamily="18" charset="0"/>
              </a:rPr>
            </a:br>
            <a:endParaRPr lang="en-US" sz="3600" b="0" dirty="0" smtClean="0">
              <a:latin typeface="Times New Roman" pitchFamily="18" charset="0"/>
            </a:endParaRPr>
          </a:p>
        </p:txBody>
      </p:sp>
      <p:sp>
        <p:nvSpPr>
          <p:cNvPr id="320515" name="Rectangle 3"/>
          <p:cNvSpPr>
            <a:spLocks noGrp="1" noChangeArrowheads="1"/>
          </p:cNvSpPr>
          <p:nvPr>
            <p:ph idx="1"/>
          </p:nvPr>
        </p:nvSpPr>
        <p:spPr>
          <a:xfrm>
            <a:off x="457200" y="2492375"/>
            <a:ext cx="8229600" cy="4032250"/>
          </a:xfrm>
        </p:spPr>
        <p:txBody>
          <a:bodyPr/>
          <a:lstStyle/>
          <a:p>
            <a:pPr eaLnBrk="1" hangingPunct="1">
              <a:buFont typeface="Wingdings" pitchFamily="2" charset="2"/>
              <a:buNone/>
              <a:defRPr/>
            </a:pPr>
            <a:r>
              <a:rPr lang="en-US" sz="2800" b="1" u="sng" dirty="0" smtClean="0">
                <a:latin typeface="Times New Roman" pitchFamily="18" charset="0"/>
              </a:rPr>
              <a:t>Principle 2</a:t>
            </a:r>
          </a:p>
          <a:p>
            <a:pPr eaLnBrk="1" hangingPunct="1">
              <a:defRPr/>
            </a:pPr>
            <a:r>
              <a:rPr lang="en-US" sz="2800" dirty="0" smtClean="0">
                <a:latin typeface="Times New Roman" pitchFamily="18" charset="0"/>
              </a:rPr>
              <a:t>Control measures may be established for all potential hazards identified along the various stages of the food chain</a:t>
            </a:r>
          </a:p>
          <a:p>
            <a:pPr eaLnBrk="1" hangingPunct="1">
              <a:defRPr/>
            </a:pPr>
            <a:r>
              <a:rPr lang="en-US" sz="2800" dirty="0" smtClean="0">
                <a:latin typeface="Times New Roman" pitchFamily="18" charset="0"/>
              </a:rPr>
              <a:t>Those stages along the food chain where controls are necessary to ensure the safety of the food are called the critical control points (CCPs)</a:t>
            </a:r>
          </a:p>
        </p:txBody>
      </p:sp>
      <p:sp>
        <p:nvSpPr>
          <p:cNvPr id="191490" name="Slide Number Placeholder 4"/>
          <p:cNvSpPr>
            <a:spLocks noGrp="1"/>
          </p:cNvSpPr>
          <p:nvPr>
            <p:ph type="sldNum" sz="quarter" idx="12"/>
          </p:nvPr>
        </p:nvSpPr>
        <p:spPr>
          <a:noFill/>
        </p:spPr>
        <p:txBody>
          <a:bodyPr/>
          <a:lstStyle/>
          <a:p>
            <a:fld id="{4D228738-24E3-4765-814C-6747B3E5E778}" type="slidenum">
              <a:rPr lang="en-US"/>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Grp="1" noRot="1" noChangeArrowheads="1"/>
          </p:cNvSpPr>
          <p:nvPr>
            <p:ph type="title"/>
          </p:nvPr>
        </p:nvSpPr>
        <p:spPr>
          <a:xfrm>
            <a:off x="457200" y="274638"/>
            <a:ext cx="8229600" cy="633412"/>
          </a:xfrm>
        </p:spPr>
        <p:txBody>
          <a:bodyPr>
            <a:normAutofit/>
          </a:bodyPr>
          <a:lstStyle/>
          <a:p>
            <a:pPr eaLnBrk="1" hangingPunct="1">
              <a:defRPr/>
            </a:pPr>
            <a:r>
              <a:rPr lang="en-US" sz="3600" b="0" dirty="0" smtClean="0">
                <a:latin typeface="Times New Roman" pitchFamily="18" charset="0"/>
              </a:rPr>
              <a:t>CCPs (1)</a:t>
            </a:r>
          </a:p>
        </p:txBody>
      </p:sp>
      <p:sp>
        <p:nvSpPr>
          <p:cNvPr id="321539" name="Rectangle 3"/>
          <p:cNvSpPr>
            <a:spLocks noGrp="1" noChangeArrowheads="1"/>
          </p:cNvSpPr>
          <p:nvPr>
            <p:ph idx="1"/>
          </p:nvPr>
        </p:nvSpPr>
        <p:spPr>
          <a:xfrm>
            <a:off x="457200" y="1052513"/>
            <a:ext cx="8229600" cy="5545137"/>
          </a:xfrm>
        </p:spPr>
        <p:txBody>
          <a:bodyPr/>
          <a:lstStyle/>
          <a:p>
            <a:pPr eaLnBrk="1" hangingPunct="1">
              <a:defRPr/>
            </a:pPr>
            <a:r>
              <a:rPr lang="en-US" sz="2800" dirty="0" smtClean="0">
                <a:latin typeface="Times New Roman" pitchFamily="18" charset="0"/>
              </a:rPr>
              <a:t>There may be other control points (CPs) but these may not be critical as other production processes along the line may prevent, eliminate or reduce the identified hazard to its acceptable level.</a:t>
            </a:r>
          </a:p>
          <a:p>
            <a:pPr eaLnBrk="1" hangingPunct="1">
              <a:buNone/>
              <a:defRPr/>
            </a:pPr>
            <a:r>
              <a:rPr lang="en-US" sz="2800" dirty="0" smtClean="0">
                <a:latin typeface="Times New Roman" pitchFamily="18" charset="0"/>
              </a:rPr>
              <a:t> </a:t>
            </a:r>
          </a:p>
          <a:p>
            <a:pPr eaLnBrk="1" hangingPunct="1">
              <a:defRPr/>
            </a:pPr>
            <a:r>
              <a:rPr lang="en-US" sz="2800" dirty="0" smtClean="0">
                <a:latin typeface="Times New Roman" pitchFamily="18" charset="0"/>
              </a:rPr>
              <a:t>For example, </a:t>
            </a:r>
            <a:r>
              <a:rPr lang="en-US" sz="2800" b="1" dirty="0" smtClean="0">
                <a:latin typeface="Times New Roman" pitchFamily="18" charset="0"/>
              </a:rPr>
              <a:t>hygiene of personnel</a:t>
            </a:r>
            <a:r>
              <a:rPr lang="en-US" sz="2800" dirty="0" smtClean="0">
                <a:latin typeface="Times New Roman" pitchFamily="18" charset="0"/>
              </a:rPr>
              <a:t> replacing filters is a </a:t>
            </a:r>
            <a:r>
              <a:rPr lang="en-US" sz="2800" b="1" dirty="0" smtClean="0">
                <a:latin typeface="Times New Roman" pitchFamily="18" charset="0"/>
              </a:rPr>
              <a:t>control measure</a:t>
            </a:r>
            <a:r>
              <a:rPr lang="en-US" sz="2800" dirty="0" smtClean="0">
                <a:latin typeface="Times New Roman" pitchFamily="18" charset="0"/>
              </a:rPr>
              <a:t> to prevent transfer of bacteria from the personnel on to the filter. However this stage is not a critical control point as the water would be further sanitized by U. V light before packaging.</a:t>
            </a:r>
            <a:endParaRPr lang="en-US" sz="2800" b="1" dirty="0" smtClean="0">
              <a:latin typeface="Times New Roman" pitchFamily="18" charset="0"/>
            </a:endParaRPr>
          </a:p>
        </p:txBody>
      </p:sp>
      <p:sp>
        <p:nvSpPr>
          <p:cNvPr id="192514" name="Slide Number Placeholder 4"/>
          <p:cNvSpPr>
            <a:spLocks noGrp="1"/>
          </p:cNvSpPr>
          <p:nvPr>
            <p:ph type="sldNum" sz="quarter" idx="12"/>
          </p:nvPr>
        </p:nvSpPr>
        <p:spPr>
          <a:noFill/>
        </p:spPr>
        <p:txBody>
          <a:bodyPr/>
          <a:lstStyle/>
          <a:p>
            <a:fld id="{BBB30227-C52D-4E7F-9C6F-E83C73B3E89D}" type="slidenum">
              <a:rPr lang="en-US"/>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Grp="1" noRot="1" noChangeArrowheads="1"/>
          </p:cNvSpPr>
          <p:nvPr>
            <p:ph type="title"/>
          </p:nvPr>
        </p:nvSpPr>
        <p:spPr>
          <a:xfrm>
            <a:off x="457200" y="274638"/>
            <a:ext cx="8229600" cy="777875"/>
          </a:xfrm>
        </p:spPr>
        <p:txBody>
          <a:bodyPr/>
          <a:lstStyle/>
          <a:p>
            <a:pPr eaLnBrk="1" hangingPunct="1">
              <a:defRPr/>
            </a:pPr>
            <a:r>
              <a:rPr lang="en-US" sz="3600" b="0" smtClean="0">
                <a:latin typeface="Times New Roman" pitchFamily="18" charset="0"/>
              </a:rPr>
              <a:t>CCPs (2)</a:t>
            </a:r>
          </a:p>
        </p:txBody>
      </p:sp>
      <p:sp>
        <p:nvSpPr>
          <p:cNvPr id="322563" name="Rectangle 3"/>
          <p:cNvSpPr>
            <a:spLocks noGrp="1" noChangeArrowheads="1"/>
          </p:cNvSpPr>
          <p:nvPr>
            <p:ph idx="1"/>
          </p:nvPr>
        </p:nvSpPr>
        <p:spPr>
          <a:xfrm>
            <a:off x="457200" y="1341438"/>
            <a:ext cx="8229600" cy="4784725"/>
          </a:xfrm>
        </p:spPr>
        <p:txBody>
          <a:bodyPr/>
          <a:lstStyle/>
          <a:p>
            <a:pPr eaLnBrk="1" hangingPunct="1">
              <a:defRPr/>
            </a:pPr>
            <a:r>
              <a:rPr lang="en-US" sz="2800" dirty="0" smtClean="0">
                <a:latin typeface="Times New Roman" pitchFamily="18" charset="0"/>
              </a:rPr>
              <a:t>The </a:t>
            </a:r>
            <a:r>
              <a:rPr lang="en-US" sz="2800" b="1" dirty="0" smtClean="0">
                <a:latin typeface="Times New Roman" pitchFamily="18" charset="0"/>
              </a:rPr>
              <a:t>U. V sanitization step/stage</a:t>
            </a:r>
            <a:r>
              <a:rPr lang="en-US" sz="2800" dirty="0" smtClean="0">
                <a:latin typeface="Times New Roman" pitchFamily="18" charset="0"/>
              </a:rPr>
              <a:t> is therefore the </a:t>
            </a:r>
            <a:r>
              <a:rPr lang="en-US" sz="2800" b="1" dirty="0" smtClean="0">
                <a:latin typeface="Times New Roman" pitchFamily="18" charset="0"/>
              </a:rPr>
              <a:t>critical control point </a:t>
            </a:r>
            <a:r>
              <a:rPr lang="en-US" sz="2800" dirty="0" smtClean="0">
                <a:latin typeface="Times New Roman" pitchFamily="18" charset="0"/>
              </a:rPr>
              <a:t>(</a:t>
            </a:r>
            <a:r>
              <a:rPr lang="en-US" sz="2800" b="1" dirty="0" smtClean="0">
                <a:latin typeface="Times New Roman" pitchFamily="18" charset="0"/>
              </a:rPr>
              <a:t>CCP) </a:t>
            </a:r>
            <a:r>
              <a:rPr lang="en-US" sz="2800" dirty="0" smtClean="0">
                <a:latin typeface="Times New Roman" pitchFamily="18" charset="0"/>
              </a:rPr>
              <a:t>as any bacteria contamination/survival at this stage would be transferred to the customer</a:t>
            </a:r>
          </a:p>
          <a:p>
            <a:pPr eaLnBrk="1" hangingPunct="1">
              <a:defRPr/>
            </a:pPr>
            <a:r>
              <a:rPr lang="en-US" sz="2800" dirty="0" smtClean="0">
                <a:latin typeface="Times New Roman" pitchFamily="18" charset="0"/>
              </a:rPr>
              <a:t>CCPs are usually associated with the final stages of the food chain where no further production processes are carried out.</a:t>
            </a:r>
          </a:p>
          <a:p>
            <a:pPr eaLnBrk="1" hangingPunct="1">
              <a:defRPr/>
            </a:pPr>
            <a:r>
              <a:rPr lang="en-US" sz="2800" dirty="0" smtClean="0">
                <a:latin typeface="Times New Roman" pitchFamily="18" charset="0"/>
              </a:rPr>
              <a:t>CCPs are usually identified using what is referred to as a “decision tree”.</a:t>
            </a:r>
          </a:p>
        </p:txBody>
      </p:sp>
      <p:sp>
        <p:nvSpPr>
          <p:cNvPr id="193538" name="Slide Number Placeholder 4"/>
          <p:cNvSpPr>
            <a:spLocks noGrp="1"/>
          </p:cNvSpPr>
          <p:nvPr>
            <p:ph type="sldNum" sz="quarter" idx="12"/>
          </p:nvPr>
        </p:nvSpPr>
        <p:spPr>
          <a:noFill/>
        </p:spPr>
        <p:txBody>
          <a:bodyPr/>
          <a:lstStyle/>
          <a:p>
            <a:fld id="{DAB152BD-DA58-4362-BF3A-CECA92C477B1}" type="slidenum">
              <a:rPr lang="en-US"/>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p:cNvSpPr>
            <a:spLocks noGrp="1" noRot="1" noChangeArrowheads="1"/>
          </p:cNvSpPr>
          <p:nvPr>
            <p:ph type="title"/>
          </p:nvPr>
        </p:nvSpPr>
        <p:spPr/>
        <p:txBody>
          <a:bodyPr/>
          <a:lstStyle/>
          <a:p>
            <a:pPr eaLnBrk="1" hangingPunct="1">
              <a:defRPr/>
            </a:pPr>
            <a:r>
              <a:rPr lang="en-US" sz="3600" b="0" smtClean="0">
                <a:latin typeface="Times New Roman" pitchFamily="18" charset="0"/>
              </a:rPr>
              <a:t>CCPs (3)</a:t>
            </a:r>
          </a:p>
        </p:txBody>
      </p:sp>
      <p:sp>
        <p:nvSpPr>
          <p:cNvPr id="323587" name="Rectangle 3"/>
          <p:cNvSpPr>
            <a:spLocks noGrp="1" noChangeArrowheads="1"/>
          </p:cNvSpPr>
          <p:nvPr>
            <p:ph idx="1"/>
          </p:nvPr>
        </p:nvSpPr>
        <p:spPr/>
        <p:txBody>
          <a:bodyPr/>
          <a:lstStyle/>
          <a:p>
            <a:pPr eaLnBrk="1" hangingPunct="1">
              <a:buFont typeface="Wingdings" pitchFamily="2" charset="2"/>
              <a:buNone/>
              <a:defRPr/>
            </a:pPr>
            <a:r>
              <a:rPr lang="en-US" sz="2800" b="1" i="1" dirty="0" smtClean="0">
                <a:latin typeface="Times New Roman" pitchFamily="18" charset="0"/>
              </a:rPr>
              <a:t>(A decision tree is a series of logical questions which must be answered to establish if a step is critical or not to food safety)</a:t>
            </a:r>
          </a:p>
          <a:p>
            <a:pPr eaLnBrk="1" hangingPunct="1">
              <a:defRPr/>
            </a:pPr>
            <a:r>
              <a:rPr lang="en-US" sz="2800" dirty="0" smtClean="0">
                <a:latin typeface="Times New Roman" pitchFamily="18" charset="0"/>
              </a:rPr>
              <a:t>CCP identification may also be supported by documentation</a:t>
            </a:r>
          </a:p>
          <a:p>
            <a:pPr eaLnBrk="1" hangingPunct="1">
              <a:defRPr/>
            </a:pPr>
            <a:r>
              <a:rPr lang="en-US" sz="2800" dirty="0" smtClean="0">
                <a:latin typeface="Times New Roman" pitchFamily="18" charset="0"/>
              </a:rPr>
              <a:t>Experience is often applied in place of the decision tree</a:t>
            </a:r>
          </a:p>
        </p:txBody>
      </p:sp>
      <p:sp>
        <p:nvSpPr>
          <p:cNvPr id="194562" name="Slide Number Placeholder 4"/>
          <p:cNvSpPr>
            <a:spLocks noGrp="1"/>
          </p:cNvSpPr>
          <p:nvPr>
            <p:ph type="sldNum" sz="quarter" idx="12"/>
          </p:nvPr>
        </p:nvSpPr>
        <p:spPr>
          <a:noFill/>
        </p:spPr>
        <p:txBody>
          <a:bodyPr/>
          <a:lstStyle/>
          <a:p>
            <a:fld id="{EAF5A8E8-30CA-42C3-A8BB-2436852F4356}" type="slidenum">
              <a:rPr lang="en-US"/>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Rot="1" noChangeArrowheads="1"/>
          </p:cNvSpPr>
          <p:nvPr>
            <p:ph type="title"/>
          </p:nvPr>
        </p:nvSpPr>
        <p:spPr>
          <a:xfrm>
            <a:off x="468313" y="404813"/>
            <a:ext cx="2663825" cy="1655762"/>
          </a:xfrm>
        </p:spPr>
        <p:txBody>
          <a:bodyPr/>
          <a:lstStyle/>
          <a:p>
            <a:pPr eaLnBrk="1" hangingPunct="1">
              <a:defRPr/>
            </a:pPr>
            <a:r>
              <a:rPr lang="en-GB" sz="3600" smtClean="0"/>
              <a:t>Tree </a:t>
            </a:r>
            <a:br>
              <a:rPr lang="en-GB" sz="3600" smtClean="0"/>
            </a:br>
            <a:r>
              <a:rPr lang="en-GB" sz="3600" smtClean="0"/>
              <a:t>Approach</a:t>
            </a:r>
          </a:p>
        </p:txBody>
      </p:sp>
      <p:sp>
        <p:nvSpPr>
          <p:cNvPr id="4099" name="Slide Number Placeholder 3"/>
          <p:cNvSpPr>
            <a:spLocks noGrp="1"/>
          </p:cNvSpPr>
          <p:nvPr>
            <p:ph type="sldNum" sz="quarter" idx="12"/>
          </p:nvPr>
        </p:nvSpPr>
        <p:spPr>
          <a:noFill/>
        </p:spPr>
        <p:txBody>
          <a:bodyPr/>
          <a:lstStyle/>
          <a:p>
            <a:fld id="{5A7503CA-5137-4C5B-ABAB-8A560EB4755D}" type="slidenum">
              <a:rPr lang="en-US"/>
              <a:pPr/>
              <a:t>34</a:t>
            </a:fld>
            <a:endParaRPr lang="en-US"/>
          </a:p>
        </p:txBody>
      </p:sp>
      <p:graphicFrame>
        <p:nvGraphicFramePr>
          <p:cNvPr id="4098" name="Object 3"/>
          <p:cNvGraphicFramePr>
            <a:graphicFrameLocks noChangeAspect="1"/>
          </p:cNvGraphicFramePr>
          <p:nvPr/>
        </p:nvGraphicFramePr>
        <p:xfrm>
          <a:off x="3132138" y="620713"/>
          <a:ext cx="5400675" cy="5788025"/>
        </p:xfrm>
        <a:graphic>
          <a:graphicData uri="http://schemas.openxmlformats.org/presentationml/2006/ole">
            <mc:AlternateContent xmlns:mc="http://schemas.openxmlformats.org/markup-compatibility/2006">
              <mc:Choice xmlns:v="urn:schemas-microsoft-com:vml" Requires="v">
                <p:oleObj spid="_x0000_s1028" name="Document" r:id="rId3" imgW="5666760" imgH="7405920" progId="Word.Document.8">
                  <p:embed/>
                </p:oleObj>
              </mc:Choice>
              <mc:Fallback>
                <p:oleObj name="Document" r:id="rId3" imgW="5666760" imgH="7405920"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620713"/>
                        <a:ext cx="5400675" cy="578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rrowheads="1"/>
          </p:cNvSpPr>
          <p:nvPr>
            <p:ph type="title"/>
          </p:nvPr>
        </p:nvSpPr>
        <p:spPr/>
        <p:txBody>
          <a:bodyPr/>
          <a:lstStyle/>
          <a:p>
            <a:pPr eaLnBrk="1" hangingPunct="1">
              <a:defRPr/>
            </a:pPr>
            <a:r>
              <a:rPr lang="en-US" sz="3600" b="0" smtClean="0">
                <a:latin typeface="Times New Roman" pitchFamily="18" charset="0"/>
              </a:rPr>
              <a:t>CCPs (4)</a:t>
            </a:r>
          </a:p>
        </p:txBody>
      </p:sp>
      <p:sp>
        <p:nvSpPr>
          <p:cNvPr id="324611" name="Rectangle 3"/>
          <p:cNvSpPr>
            <a:spLocks noGrp="1" noChangeArrowheads="1"/>
          </p:cNvSpPr>
          <p:nvPr>
            <p:ph idx="1"/>
          </p:nvPr>
        </p:nvSpPr>
        <p:spPr/>
        <p:txBody>
          <a:bodyPr/>
          <a:lstStyle/>
          <a:p>
            <a:pPr marL="609600" indent="-609600" eaLnBrk="1" hangingPunct="1">
              <a:lnSpc>
                <a:spcPct val="90000"/>
              </a:lnSpc>
              <a:buFont typeface="Wingdings" pitchFamily="2" charset="2"/>
              <a:buNone/>
              <a:defRPr/>
            </a:pPr>
            <a:r>
              <a:rPr lang="en-US" sz="2800" b="1" smtClean="0">
                <a:latin typeface="Times New Roman" pitchFamily="18" charset="0"/>
              </a:rPr>
              <a:t>Types of CCP</a:t>
            </a:r>
          </a:p>
          <a:p>
            <a:pPr marL="609600" indent="-609600" eaLnBrk="1" hangingPunct="1">
              <a:lnSpc>
                <a:spcPct val="90000"/>
              </a:lnSpc>
              <a:buFont typeface="Wingdings" pitchFamily="2" charset="2"/>
              <a:buNone/>
              <a:defRPr/>
            </a:pPr>
            <a:r>
              <a:rPr lang="en-US" sz="2800" smtClean="0">
                <a:latin typeface="Times New Roman" pitchFamily="18" charset="0"/>
              </a:rPr>
              <a:t>A point, step or procedure where a hazard may be:</a:t>
            </a:r>
          </a:p>
          <a:p>
            <a:pPr marL="609600" indent="-609600" eaLnBrk="1" hangingPunct="1">
              <a:lnSpc>
                <a:spcPct val="90000"/>
              </a:lnSpc>
              <a:buFont typeface="Wingdings" pitchFamily="2" charset="2"/>
              <a:buNone/>
              <a:defRPr/>
            </a:pPr>
            <a:endParaRPr lang="en-US" sz="2800" smtClean="0">
              <a:latin typeface="Times New Roman" pitchFamily="18" charset="0"/>
            </a:endParaRPr>
          </a:p>
          <a:p>
            <a:pPr marL="609600" indent="-609600" eaLnBrk="1" hangingPunct="1">
              <a:lnSpc>
                <a:spcPct val="90000"/>
              </a:lnSpc>
              <a:buFontTx/>
              <a:buAutoNum type="arabicPeriod"/>
              <a:defRPr/>
            </a:pPr>
            <a:r>
              <a:rPr lang="en-US" sz="2800" smtClean="0">
                <a:latin typeface="Times New Roman" pitchFamily="18" charset="0"/>
              </a:rPr>
              <a:t>Prevented from happening</a:t>
            </a:r>
          </a:p>
          <a:p>
            <a:pPr marL="609600" indent="-609600" eaLnBrk="1" hangingPunct="1">
              <a:lnSpc>
                <a:spcPct val="90000"/>
              </a:lnSpc>
              <a:buFontTx/>
              <a:buAutoNum type="arabicPeriod"/>
              <a:defRPr/>
            </a:pPr>
            <a:r>
              <a:rPr lang="en-US" sz="2800" smtClean="0">
                <a:latin typeface="Times New Roman" pitchFamily="18" charset="0"/>
              </a:rPr>
              <a:t>Prevented from getting worse</a:t>
            </a:r>
          </a:p>
          <a:p>
            <a:pPr marL="609600" indent="-609600" eaLnBrk="1" hangingPunct="1">
              <a:lnSpc>
                <a:spcPct val="90000"/>
              </a:lnSpc>
              <a:buFontTx/>
              <a:buAutoNum type="arabicPeriod"/>
              <a:defRPr/>
            </a:pPr>
            <a:r>
              <a:rPr lang="en-US" sz="2800" smtClean="0">
                <a:latin typeface="Times New Roman" pitchFamily="18" charset="0"/>
              </a:rPr>
              <a:t>Reduced</a:t>
            </a:r>
          </a:p>
          <a:p>
            <a:pPr marL="609600" indent="-609600" eaLnBrk="1" hangingPunct="1">
              <a:lnSpc>
                <a:spcPct val="90000"/>
              </a:lnSpc>
              <a:buFontTx/>
              <a:buAutoNum type="arabicPeriod"/>
              <a:defRPr/>
            </a:pPr>
            <a:r>
              <a:rPr lang="en-US" sz="2800" smtClean="0">
                <a:latin typeface="Times New Roman" pitchFamily="18" charset="0"/>
              </a:rPr>
              <a:t>Eliminated</a:t>
            </a:r>
          </a:p>
          <a:p>
            <a:pPr marL="609600" indent="-609600" eaLnBrk="1" hangingPunct="1">
              <a:lnSpc>
                <a:spcPct val="90000"/>
              </a:lnSpc>
              <a:defRPr/>
            </a:pPr>
            <a:endParaRPr lang="en-US" sz="2800" smtClean="0">
              <a:latin typeface="Times New Roman" pitchFamily="18" charset="0"/>
            </a:endParaRPr>
          </a:p>
        </p:txBody>
      </p:sp>
      <p:sp>
        <p:nvSpPr>
          <p:cNvPr id="195586" name="Slide Number Placeholder 4"/>
          <p:cNvSpPr>
            <a:spLocks noGrp="1"/>
          </p:cNvSpPr>
          <p:nvPr>
            <p:ph type="sldNum" sz="quarter" idx="12"/>
          </p:nvPr>
        </p:nvSpPr>
        <p:spPr>
          <a:noFill/>
        </p:spPr>
        <p:txBody>
          <a:bodyPr/>
          <a:lstStyle/>
          <a:p>
            <a:fld id="{99EF6CA9-478D-4DE9-9B7F-998F36AB9FBA}" type="slidenum">
              <a:rPr lang="en-US"/>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Rot="1" noChangeArrowheads="1"/>
          </p:cNvSpPr>
          <p:nvPr>
            <p:ph type="title"/>
          </p:nvPr>
        </p:nvSpPr>
        <p:spPr>
          <a:xfrm>
            <a:off x="457200" y="274638"/>
            <a:ext cx="8229600" cy="1066800"/>
          </a:xfrm>
        </p:spPr>
        <p:txBody>
          <a:bodyPr>
            <a:normAutofit fontScale="90000"/>
          </a:bodyPr>
          <a:lstStyle/>
          <a:p>
            <a:pPr eaLnBrk="1" hangingPunct="1">
              <a:defRPr/>
            </a:pPr>
            <a:r>
              <a:rPr lang="en-US" sz="3600" b="0" smtClean="0">
                <a:latin typeface="Times New Roman" pitchFamily="18" charset="0"/>
              </a:rPr>
              <a:t>Establishing of critical limits for each critical point (1)</a:t>
            </a:r>
          </a:p>
        </p:txBody>
      </p:sp>
      <p:sp>
        <p:nvSpPr>
          <p:cNvPr id="325635" name="Rectangle 3"/>
          <p:cNvSpPr>
            <a:spLocks noGrp="1" noChangeArrowheads="1"/>
          </p:cNvSpPr>
          <p:nvPr>
            <p:ph idx="1"/>
          </p:nvPr>
        </p:nvSpPr>
        <p:spPr>
          <a:xfrm>
            <a:off x="457200" y="1412875"/>
            <a:ext cx="8229600" cy="5040313"/>
          </a:xfrm>
        </p:spPr>
        <p:txBody>
          <a:bodyPr/>
          <a:lstStyle/>
          <a:p>
            <a:pPr eaLnBrk="1" hangingPunct="1">
              <a:lnSpc>
                <a:spcPct val="90000"/>
              </a:lnSpc>
              <a:buFont typeface="Wingdings" pitchFamily="2" charset="2"/>
              <a:buNone/>
              <a:defRPr/>
            </a:pPr>
            <a:r>
              <a:rPr lang="en-US" sz="2800" b="1" u="sng" dirty="0" smtClean="0">
                <a:latin typeface="Times New Roman" pitchFamily="18" charset="0"/>
              </a:rPr>
              <a:t>Principle 3</a:t>
            </a:r>
          </a:p>
          <a:p>
            <a:pPr eaLnBrk="1" hangingPunct="1">
              <a:lnSpc>
                <a:spcPct val="90000"/>
              </a:lnSpc>
              <a:buFont typeface="Wingdings" pitchFamily="2" charset="2"/>
              <a:buNone/>
              <a:defRPr/>
            </a:pPr>
            <a:r>
              <a:rPr lang="en-US" sz="2800" dirty="0" smtClean="0">
                <a:latin typeface="Times New Roman" pitchFamily="18" charset="0"/>
              </a:rPr>
              <a:t>A criterion which separates acceptability from unacceptability.</a:t>
            </a:r>
          </a:p>
          <a:p>
            <a:pPr eaLnBrk="1" hangingPunct="1">
              <a:lnSpc>
                <a:spcPct val="90000"/>
              </a:lnSpc>
              <a:defRPr/>
            </a:pPr>
            <a:r>
              <a:rPr lang="en-US" sz="2800" dirty="0" smtClean="0">
                <a:latin typeface="Times New Roman" pitchFamily="18" charset="0"/>
              </a:rPr>
              <a:t>Must be measurable by test or observation</a:t>
            </a:r>
          </a:p>
          <a:p>
            <a:pPr eaLnBrk="1" hangingPunct="1">
              <a:lnSpc>
                <a:spcPct val="90000"/>
              </a:lnSpc>
              <a:defRPr/>
            </a:pPr>
            <a:r>
              <a:rPr lang="en-US" sz="2800" dirty="0" smtClean="0">
                <a:latin typeface="Times New Roman" pitchFamily="18" charset="0"/>
              </a:rPr>
              <a:t>Criteria which must be met by each control measure at a CCP</a:t>
            </a:r>
          </a:p>
          <a:p>
            <a:pPr eaLnBrk="1" hangingPunct="1">
              <a:lnSpc>
                <a:spcPct val="90000"/>
              </a:lnSpc>
              <a:buFont typeface="Wingdings" pitchFamily="2" charset="2"/>
              <a:buNone/>
              <a:defRPr/>
            </a:pPr>
            <a:r>
              <a:rPr lang="en-US" sz="2800" b="1" dirty="0" smtClean="0">
                <a:latin typeface="Times New Roman" pitchFamily="18" charset="0"/>
              </a:rPr>
              <a:t>Critical Limits</a:t>
            </a:r>
          </a:p>
          <a:p>
            <a:pPr eaLnBrk="1" hangingPunct="1">
              <a:lnSpc>
                <a:spcPct val="90000"/>
              </a:lnSpc>
              <a:defRPr/>
            </a:pPr>
            <a:r>
              <a:rPr lang="en-US" sz="2800" dirty="0" smtClean="0">
                <a:latin typeface="Times New Roman" pitchFamily="18" charset="0"/>
              </a:rPr>
              <a:t>Must be properly measured</a:t>
            </a:r>
          </a:p>
          <a:p>
            <a:pPr eaLnBrk="1" hangingPunct="1">
              <a:lnSpc>
                <a:spcPct val="90000"/>
              </a:lnSpc>
              <a:defRPr/>
            </a:pPr>
            <a:r>
              <a:rPr lang="en-US" sz="2800" dirty="0" smtClean="0">
                <a:latin typeface="Times New Roman" pitchFamily="18" charset="0"/>
              </a:rPr>
              <a:t>May need further investigation to set, e.g.</a:t>
            </a:r>
          </a:p>
          <a:p>
            <a:pPr lvl="1" eaLnBrk="1" hangingPunct="1">
              <a:lnSpc>
                <a:spcPct val="90000"/>
              </a:lnSpc>
              <a:defRPr/>
            </a:pPr>
            <a:r>
              <a:rPr lang="en-US" sz="2400" dirty="0" smtClean="0">
                <a:latin typeface="Times New Roman" pitchFamily="18" charset="0"/>
              </a:rPr>
              <a:t>Expert advise</a:t>
            </a:r>
          </a:p>
          <a:p>
            <a:pPr lvl="1" eaLnBrk="1" hangingPunct="1">
              <a:lnSpc>
                <a:spcPct val="90000"/>
              </a:lnSpc>
              <a:defRPr/>
            </a:pPr>
            <a:r>
              <a:rPr lang="en-US" sz="2400" dirty="0" smtClean="0">
                <a:latin typeface="Times New Roman" pitchFamily="18" charset="0"/>
              </a:rPr>
              <a:t>Scientific literature.</a:t>
            </a:r>
          </a:p>
        </p:txBody>
      </p:sp>
      <p:sp>
        <p:nvSpPr>
          <p:cNvPr id="196610" name="Slide Number Placeholder 4"/>
          <p:cNvSpPr>
            <a:spLocks noGrp="1"/>
          </p:cNvSpPr>
          <p:nvPr>
            <p:ph type="sldNum" sz="quarter" idx="12"/>
          </p:nvPr>
        </p:nvSpPr>
        <p:spPr>
          <a:noFill/>
        </p:spPr>
        <p:txBody>
          <a:bodyPr/>
          <a:lstStyle/>
          <a:p>
            <a:fld id="{ACEF1019-48BC-47D5-9D99-B05F3E6A8E6A}" type="slidenum">
              <a:rPr lang="en-US"/>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Rot="1" noChangeArrowheads="1"/>
          </p:cNvSpPr>
          <p:nvPr>
            <p:ph type="title"/>
          </p:nvPr>
        </p:nvSpPr>
        <p:spPr/>
        <p:txBody>
          <a:bodyPr>
            <a:normAutofit/>
          </a:bodyPr>
          <a:lstStyle/>
          <a:p>
            <a:pPr eaLnBrk="1" hangingPunct="1">
              <a:defRPr/>
            </a:pPr>
            <a:r>
              <a:rPr lang="en-US" sz="3600" b="0" smtClean="0">
                <a:latin typeface="Times New Roman" pitchFamily="18" charset="0"/>
              </a:rPr>
              <a:t>Establishing of critical limits for each critical point (2)</a:t>
            </a:r>
          </a:p>
        </p:txBody>
      </p:sp>
      <p:sp>
        <p:nvSpPr>
          <p:cNvPr id="326659" name="Rectangle 3"/>
          <p:cNvSpPr>
            <a:spLocks noGrp="1" noChangeArrowheads="1"/>
          </p:cNvSpPr>
          <p:nvPr>
            <p:ph idx="1"/>
          </p:nvPr>
        </p:nvSpPr>
        <p:spPr/>
        <p:txBody>
          <a:bodyPr/>
          <a:lstStyle/>
          <a:p>
            <a:pPr eaLnBrk="1" hangingPunct="1">
              <a:lnSpc>
                <a:spcPct val="90000"/>
              </a:lnSpc>
              <a:buFont typeface="Wingdings" pitchFamily="2" charset="2"/>
              <a:buNone/>
              <a:defRPr/>
            </a:pPr>
            <a:r>
              <a:rPr lang="en-US" sz="2800" b="1" smtClean="0">
                <a:latin typeface="Times New Roman" pitchFamily="18" charset="0"/>
              </a:rPr>
              <a:t>Critical Limits</a:t>
            </a:r>
          </a:p>
          <a:p>
            <a:pPr eaLnBrk="1" hangingPunct="1">
              <a:lnSpc>
                <a:spcPct val="90000"/>
              </a:lnSpc>
              <a:defRPr/>
            </a:pPr>
            <a:r>
              <a:rPr lang="en-US" sz="2800" smtClean="0">
                <a:latin typeface="Times New Roman" pitchFamily="18" charset="0"/>
              </a:rPr>
              <a:t>Must be as simple and</a:t>
            </a:r>
            <a:r>
              <a:rPr lang="en-US" sz="2800" b="1" smtClean="0">
                <a:latin typeface="Times New Roman" pitchFamily="18" charset="0"/>
              </a:rPr>
              <a:t> </a:t>
            </a:r>
            <a:r>
              <a:rPr lang="en-US" sz="2800" b="1" u="sng" smtClean="0">
                <a:latin typeface="Times New Roman" pitchFamily="18" charset="0"/>
              </a:rPr>
              <a:t>Rapid</a:t>
            </a:r>
            <a:r>
              <a:rPr lang="en-US" sz="2800" b="1" smtClean="0">
                <a:latin typeface="Times New Roman" pitchFamily="18" charset="0"/>
              </a:rPr>
              <a:t> </a:t>
            </a:r>
            <a:r>
              <a:rPr lang="en-US" sz="2800" smtClean="0">
                <a:latin typeface="Times New Roman" pitchFamily="18" charset="0"/>
              </a:rPr>
              <a:t>as possible</a:t>
            </a:r>
          </a:p>
          <a:p>
            <a:pPr lvl="1" eaLnBrk="1" hangingPunct="1">
              <a:lnSpc>
                <a:spcPct val="90000"/>
              </a:lnSpc>
              <a:defRPr/>
            </a:pPr>
            <a:r>
              <a:rPr lang="en-US" sz="2400" smtClean="0">
                <a:latin typeface="Times New Roman" pitchFamily="18" charset="0"/>
              </a:rPr>
              <a:t>Temperature</a:t>
            </a:r>
          </a:p>
          <a:p>
            <a:pPr lvl="1" eaLnBrk="1" hangingPunct="1">
              <a:lnSpc>
                <a:spcPct val="90000"/>
              </a:lnSpc>
              <a:defRPr/>
            </a:pPr>
            <a:r>
              <a:rPr lang="en-US" sz="2400" smtClean="0">
                <a:latin typeface="Times New Roman" pitchFamily="18" charset="0"/>
              </a:rPr>
              <a:t>Time</a:t>
            </a:r>
          </a:p>
          <a:p>
            <a:pPr lvl="1" eaLnBrk="1" hangingPunct="1">
              <a:lnSpc>
                <a:spcPct val="90000"/>
              </a:lnSpc>
              <a:defRPr/>
            </a:pPr>
            <a:r>
              <a:rPr lang="en-US" sz="2400" smtClean="0">
                <a:latin typeface="Times New Roman" pitchFamily="18" charset="0"/>
              </a:rPr>
              <a:t>pH</a:t>
            </a:r>
          </a:p>
          <a:p>
            <a:pPr lvl="1" eaLnBrk="1" hangingPunct="1">
              <a:lnSpc>
                <a:spcPct val="90000"/>
              </a:lnSpc>
              <a:defRPr/>
            </a:pPr>
            <a:r>
              <a:rPr lang="en-US" sz="2400" smtClean="0">
                <a:latin typeface="Times New Roman" pitchFamily="18" charset="0"/>
              </a:rPr>
              <a:t>Viscosity</a:t>
            </a:r>
          </a:p>
          <a:p>
            <a:pPr lvl="1" eaLnBrk="1" hangingPunct="1">
              <a:lnSpc>
                <a:spcPct val="90000"/>
              </a:lnSpc>
              <a:defRPr/>
            </a:pPr>
            <a:r>
              <a:rPr lang="en-US" sz="2400" smtClean="0">
                <a:latin typeface="Times New Roman" pitchFamily="18" charset="0"/>
              </a:rPr>
              <a:t>Brix</a:t>
            </a:r>
          </a:p>
          <a:p>
            <a:pPr lvl="1" eaLnBrk="1" hangingPunct="1">
              <a:lnSpc>
                <a:spcPct val="90000"/>
              </a:lnSpc>
              <a:defRPr/>
            </a:pPr>
            <a:r>
              <a:rPr lang="en-US" sz="2400" smtClean="0">
                <a:latin typeface="Times New Roman" pitchFamily="18" charset="0"/>
              </a:rPr>
              <a:t>Colour</a:t>
            </a:r>
          </a:p>
          <a:p>
            <a:pPr lvl="1" eaLnBrk="1" hangingPunct="1">
              <a:lnSpc>
                <a:spcPct val="90000"/>
              </a:lnSpc>
              <a:defRPr/>
            </a:pPr>
            <a:endParaRPr lang="en-US" sz="2400" smtClean="0">
              <a:latin typeface="Times New Roman" pitchFamily="18" charset="0"/>
            </a:endParaRPr>
          </a:p>
          <a:p>
            <a:pPr lvl="1" eaLnBrk="1" hangingPunct="1">
              <a:lnSpc>
                <a:spcPct val="90000"/>
              </a:lnSpc>
              <a:buFont typeface="Wingdings" pitchFamily="2" charset="2"/>
              <a:buNone/>
              <a:defRPr/>
            </a:pPr>
            <a:r>
              <a:rPr lang="en-US" sz="2400" b="1" smtClean="0">
                <a:latin typeface="Times New Roman" pitchFamily="18" charset="0"/>
              </a:rPr>
              <a:t>Not </a:t>
            </a:r>
            <a:r>
              <a:rPr lang="en-US" sz="2400" smtClean="0">
                <a:latin typeface="Times New Roman" pitchFamily="18" charset="0"/>
              </a:rPr>
              <a:t>(</a:t>
            </a:r>
            <a:r>
              <a:rPr lang="en-US" sz="2400" b="1" u="sng" smtClean="0">
                <a:latin typeface="Times New Roman" pitchFamily="18" charset="0"/>
              </a:rPr>
              <a:t>Salmonella</a:t>
            </a:r>
            <a:r>
              <a:rPr lang="en-US" sz="2400" smtClean="0">
                <a:latin typeface="Times New Roman" pitchFamily="18" charset="0"/>
              </a:rPr>
              <a:t> absent in 25g)</a:t>
            </a:r>
          </a:p>
          <a:p>
            <a:pPr eaLnBrk="1" hangingPunct="1">
              <a:lnSpc>
                <a:spcPct val="90000"/>
              </a:lnSpc>
              <a:buFont typeface="Wingdings" pitchFamily="2" charset="2"/>
              <a:buNone/>
              <a:defRPr/>
            </a:pPr>
            <a:endParaRPr lang="en-US" sz="2800" smtClean="0">
              <a:latin typeface="Times New Roman" pitchFamily="18" charset="0"/>
            </a:endParaRPr>
          </a:p>
          <a:p>
            <a:pPr eaLnBrk="1" hangingPunct="1">
              <a:lnSpc>
                <a:spcPct val="90000"/>
              </a:lnSpc>
              <a:defRPr/>
            </a:pPr>
            <a:endParaRPr lang="en-US" sz="2800" smtClean="0">
              <a:latin typeface="Times New Roman" pitchFamily="18" charset="0"/>
            </a:endParaRPr>
          </a:p>
        </p:txBody>
      </p:sp>
      <p:sp>
        <p:nvSpPr>
          <p:cNvPr id="197634" name="Slide Number Placeholder 4"/>
          <p:cNvSpPr>
            <a:spLocks noGrp="1"/>
          </p:cNvSpPr>
          <p:nvPr>
            <p:ph type="sldNum" sz="quarter" idx="12"/>
          </p:nvPr>
        </p:nvSpPr>
        <p:spPr>
          <a:noFill/>
        </p:spPr>
        <p:txBody>
          <a:bodyPr/>
          <a:lstStyle/>
          <a:p>
            <a:fld id="{D8E4196A-5306-4BD0-BC39-6659392438EB}" type="slidenum">
              <a:rPr lang="en-US"/>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2"/>
          <p:cNvSpPr>
            <a:spLocks noGrp="1" noRot="1" noChangeArrowheads="1"/>
          </p:cNvSpPr>
          <p:nvPr>
            <p:ph type="title"/>
          </p:nvPr>
        </p:nvSpPr>
        <p:spPr/>
        <p:txBody>
          <a:bodyPr>
            <a:normAutofit/>
          </a:bodyPr>
          <a:lstStyle/>
          <a:p>
            <a:pPr eaLnBrk="1" hangingPunct="1">
              <a:defRPr/>
            </a:pPr>
            <a:r>
              <a:rPr lang="en-US" sz="3600" b="0" dirty="0" smtClean="0">
                <a:latin typeface="Times New Roman" pitchFamily="18" charset="0"/>
              </a:rPr>
              <a:t>Establishing of critical limits for each critical point (3)</a:t>
            </a:r>
          </a:p>
        </p:txBody>
      </p:sp>
      <p:sp>
        <p:nvSpPr>
          <p:cNvPr id="328707" name="Rectangle 3"/>
          <p:cNvSpPr>
            <a:spLocks noGrp="1" noChangeArrowheads="1"/>
          </p:cNvSpPr>
          <p:nvPr>
            <p:ph idx="1"/>
          </p:nvPr>
        </p:nvSpPr>
        <p:spPr/>
        <p:txBody>
          <a:bodyPr/>
          <a:lstStyle/>
          <a:p>
            <a:pPr eaLnBrk="1" hangingPunct="1">
              <a:buFont typeface="Wingdings" pitchFamily="2" charset="2"/>
              <a:buNone/>
              <a:defRPr/>
            </a:pPr>
            <a:r>
              <a:rPr lang="en-US" sz="2800" dirty="0" smtClean="0">
                <a:latin typeface="Times New Roman" pitchFamily="18" charset="0"/>
              </a:rPr>
              <a:t>Target Levels</a:t>
            </a:r>
          </a:p>
          <a:p>
            <a:pPr eaLnBrk="1" hangingPunct="1">
              <a:defRPr/>
            </a:pPr>
            <a:r>
              <a:rPr lang="en-US" sz="2800" dirty="0" smtClean="0">
                <a:latin typeface="Times New Roman" pitchFamily="18" charset="0"/>
              </a:rPr>
              <a:t>Control criteria which are more stringent than Critical Limits, and which can be used to take action and reduce the risk of deviation</a:t>
            </a:r>
          </a:p>
          <a:p>
            <a:pPr lvl="3" eaLnBrk="1" hangingPunct="1">
              <a:defRPr/>
            </a:pPr>
            <a:r>
              <a:rPr lang="en-US" sz="2400" dirty="0" smtClean="0">
                <a:latin typeface="Times New Roman" pitchFamily="18" charset="0"/>
              </a:rPr>
              <a:t>Provide a buffer zone for process management</a:t>
            </a:r>
          </a:p>
          <a:p>
            <a:pPr eaLnBrk="1" hangingPunct="1">
              <a:defRPr/>
            </a:pPr>
            <a:r>
              <a:rPr lang="en-US" sz="2800" dirty="0" smtClean="0">
                <a:latin typeface="Times New Roman" pitchFamily="18" charset="0"/>
              </a:rPr>
              <a:t>Deviated foods may be destroyed (unfit for human consumption), divert for other uses, reworked etc.</a:t>
            </a:r>
          </a:p>
          <a:p>
            <a:pPr eaLnBrk="1" hangingPunct="1">
              <a:defRPr/>
            </a:pPr>
            <a:r>
              <a:rPr lang="en-US" sz="2800" dirty="0" smtClean="0">
                <a:latin typeface="Times New Roman" pitchFamily="18" charset="0"/>
              </a:rPr>
              <a:t>All these come with a cost to the company. </a:t>
            </a:r>
            <a:endParaRPr lang="en-US" sz="2400" dirty="0" smtClean="0">
              <a:latin typeface="Times New Roman" pitchFamily="18" charset="0"/>
            </a:endParaRPr>
          </a:p>
        </p:txBody>
      </p:sp>
      <p:sp>
        <p:nvSpPr>
          <p:cNvPr id="199682" name="Slide Number Placeholder 4"/>
          <p:cNvSpPr>
            <a:spLocks noGrp="1"/>
          </p:cNvSpPr>
          <p:nvPr>
            <p:ph type="sldNum" sz="quarter" idx="12"/>
          </p:nvPr>
        </p:nvSpPr>
        <p:spPr>
          <a:noFill/>
        </p:spPr>
        <p:txBody>
          <a:bodyPr/>
          <a:lstStyle/>
          <a:p>
            <a:fld id="{BD449FD1-C95A-43F1-BFB8-9C3B9F6C185C}" type="slidenum">
              <a:rPr lang="en-US"/>
              <a:pPr/>
              <a:t>38</a:t>
            </a:fld>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Rot="1" noChangeArrowheads="1"/>
          </p:cNvSpPr>
          <p:nvPr>
            <p:ph type="title"/>
          </p:nvPr>
        </p:nvSpPr>
        <p:spPr>
          <a:xfrm>
            <a:off x="457200" y="260350"/>
            <a:ext cx="8229600" cy="792163"/>
          </a:xfrm>
        </p:spPr>
        <p:txBody>
          <a:bodyPr>
            <a:normAutofit fontScale="90000"/>
          </a:bodyPr>
          <a:lstStyle/>
          <a:p>
            <a:pPr eaLnBrk="1" hangingPunct="1">
              <a:defRPr/>
            </a:pPr>
            <a:r>
              <a:rPr lang="en-US" sz="3600" smtClean="0">
                <a:latin typeface="Times New Roman" pitchFamily="18" charset="0"/>
              </a:rPr>
              <a:t/>
            </a:r>
            <a:br>
              <a:rPr lang="en-US" sz="3600" smtClean="0">
                <a:latin typeface="Times New Roman" pitchFamily="18" charset="0"/>
              </a:rPr>
            </a:br>
            <a:r>
              <a:rPr lang="en-US" sz="3600" b="0" smtClean="0">
                <a:latin typeface="Times New Roman" pitchFamily="18" charset="0"/>
              </a:rPr>
              <a:t>Establishing monitoring procedures</a:t>
            </a:r>
            <a:br>
              <a:rPr lang="en-US" sz="3600" b="0" smtClean="0">
                <a:latin typeface="Times New Roman" pitchFamily="18" charset="0"/>
              </a:rPr>
            </a:br>
            <a:endParaRPr lang="en-US" sz="3600" b="0" smtClean="0">
              <a:latin typeface="Times New Roman" pitchFamily="18" charset="0"/>
            </a:endParaRPr>
          </a:p>
        </p:txBody>
      </p:sp>
      <p:sp>
        <p:nvSpPr>
          <p:cNvPr id="330755" name="Rectangle 3"/>
          <p:cNvSpPr>
            <a:spLocks noGrp="1" noChangeArrowheads="1"/>
          </p:cNvSpPr>
          <p:nvPr>
            <p:ph idx="1"/>
          </p:nvPr>
        </p:nvSpPr>
        <p:spPr>
          <a:xfrm>
            <a:off x="395288" y="1484313"/>
            <a:ext cx="8229600" cy="4525962"/>
          </a:xfrm>
        </p:spPr>
        <p:txBody>
          <a:bodyPr/>
          <a:lstStyle/>
          <a:p>
            <a:pPr eaLnBrk="1" hangingPunct="1">
              <a:lnSpc>
                <a:spcPct val="90000"/>
              </a:lnSpc>
              <a:buFont typeface="Wingdings" pitchFamily="2" charset="2"/>
              <a:buNone/>
              <a:defRPr/>
            </a:pPr>
            <a:r>
              <a:rPr lang="en-US" sz="2800" b="1" u="sng" dirty="0" smtClean="0">
                <a:latin typeface="Times New Roman" pitchFamily="18" charset="0"/>
              </a:rPr>
              <a:t>Principle 4</a:t>
            </a:r>
          </a:p>
          <a:p>
            <a:pPr eaLnBrk="1" hangingPunct="1">
              <a:lnSpc>
                <a:spcPct val="90000"/>
              </a:lnSpc>
              <a:defRPr/>
            </a:pPr>
            <a:r>
              <a:rPr lang="en-US" sz="2800" b="1" dirty="0" smtClean="0">
                <a:latin typeface="Times New Roman" pitchFamily="18" charset="0"/>
              </a:rPr>
              <a:t>Monitor</a:t>
            </a:r>
            <a:r>
              <a:rPr lang="en-US" sz="2800" dirty="0" smtClean="0">
                <a:latin typeface="Times New Roman" pitchFamily="18" charset="0"/>
              </a:rPr>
              <a:t> “The act of conducting a planned sequence of observations or measurements of control parameters to assess whether a CCP is under control” (Codex 1997)</a:t>
            </a:r>
          </a:p>
          <a:p>
            <a:pPr eaLnBrk="1" hangingPunct="1">
              <a:lnSpc>
                <a:spcPct val="90000"/>
              </a:lnSpc>
              <a:defRPr/>
            </a:pPr>
            <a:r>
              <a:rPr lang="en-US" sz="2800" dirty="0" smtClean="0">
                <a:latin typeface="Times New Roman" pitchFamily="18" charset="0"/>
              </a:rPr>
              <a:t>By Monitoring, the CCP deviations from the established criteria (Limit) will be detected</a:t>
            </a:r>
          </a:p>
          <a:p>
            <a:pPr eaLnBrk="1" hangingPunct="1">
              <a:lnSpc>
                <a:spcPct val="90000"/>
              </a:lnSpc>
              <a:defRPr/>
            </a:pPr>
            <a:r>
              <a:rPr lang="en-US" sz="2800" dirty="0" smtClean="0">
                <a:latin typeface="Times New Roman" pitchFamily="18" charset="0"/>
              </a:rPr>
              <a:t>This allows </a:t>
            </a:r>
            <a:r>
              <a:rPr lang="en-US" sz="2800" b="1" dirty="0" smtClean="0">
                <a:latin typeface="Times New Roman" pitchFamily="18" charset="0"/>
              </a:rPr>
              <a:t>corrective action</a:t>
            </a:r>
            <a:r>
              <a:rPr lang="en-US" sz="2800" dirty="0" smtClean="0">
                <a:latin typeface="Times New Roman" pitchFamily="18" charset="0"/>
              </a:rPr>
              <a:t> to be taken before the process is out of control and the food has to be rejected.</a:t>
            </a:r>
          </a:p>
          <a:p>
            <a:pPr eaLnBrk="1" hangingPunct="1">
              <a:lnSpc>
                <a:spcPct val="90000"/>
              </a:lnSpc>
              <a:buFont typeface="Wingdings" pitchFamily="2" charset="2"/>
              <a:buNone/>
              <a:defRPr/>
            </a:pPr>
            <a:endParaRPr lang="en-US" sz="2800" dirty="0" smtClean="0">
              <a:latin typeface="Times New Roman" pitchFamily="18" charset="0"/>
            </a:endParaRPr>
          </a:p>
        </p:txBody>
      </p:sp>
      <p:sp>
        <p:nvSpPr>
          <p:cNvPr id="200706" name="Slide Number Placeholder 4"/>
          <p:cNvSpPr>
            <a:spLocks noGrp="1"/>
          </p:cNvSpPr>
          <p:nvPr>
            <p:ph type="sldNum" sz="quarter" idx="12"/>
          </p:nvPr>
        </p:nvSpPr>
        <p:spPr>
          <a:noFill/>
        </p:spPr>
        <p:txBody>
          <a:bodyPr/>
          <a:lstStyle/>
          <a:p>
            <a:fld id="{297A007A-02F6-467F-9326-73A88E814711}" type="slidenum">
              <a:rPr lang="en-US"/>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Rot="1" noChangeArrowheads="1"/>
          </p:cNvSpPr>
          <p:nvPr>
            <p:ph type="title"/>
          </p:nvPr>
        </p:nvSpPr>
        <p:spPr/>
        <p:txBody>
          <a:bodyPr>
            <a:normAutofit/>
          </a:bodyPr>
          <a:lstStyle/>
          <a:p>
            <a:pPr eaLnBrk="1" hangingPunct="1">
              <a:defRPr/>
            </a:pPr>
            <a:r>
              <a:rPr lang="en-US" sz="3600" b="0" smtClean="0">
                <a:latin typeface="Times New Roman" pitchFamily="18" charset="0"/>
              </a:rPr>
              <a:t>Monitoring of CCPs</a:t>
            </a:r>
            <a:br>
              <a:rPr lang="en-US" sz="3600" b="0" smtClean="0">
                <a:latin typeface="Times New Roman" pitchFamily="18" charset="0"/>
              </a:rPr>
            </a:br>
            <a:r>
              <a:rPr lang="en-US" sz="3600" b="0" smtClean="0">
                <a:latin typeface="Times New Roman" pitchFamily="18" charset="0"/>
              </a:rPr>
              <a:t>(1)</a:t>
            </a:r>
          </a:p>
        </p:txBody>
      </p:sp>
      <p:sp>
        <p:nvSpPr>
          <p:cNvPr id="331779" name="Rectangle 3"/>
          <p:cNvSpPr>
            <a:spLocks noGrp="1" noChangeArrowheads="1"/>
          </p:cNvSpPr>
          <p:nvPr>
            <p:ph idx="1"/>
          </p:nvPr>
        </p:nvSpPr>
        <p:spPr/>
        <p:txBody>
          <a:bodyPr/>
          <a:lstStyle/>
          <a:p>
            <a:pPr eaLnBrk="1" hangingPunct="1">
              <a:defRPr/>
            </a:pPr>
            <a:r>
              <a:rPr lang="en-US" sz="2800" smtClean="0">
                <a:latin typeface="Times New Roman" pitchFamily="18" charset="0"/>
              </a:rPr>
              <a:t>Rapid methods of Inspection are required to monitor CCPs</a:t>
            </a:r>
          </a:p>
          <a:p>
            <a:pPr lvl="1" eaLnBrk="1" hangingPunct="1">
              <a:defRPr/>
            </a:pPr>
            <a:r>
              <a:rPr lang="en-US" smtClean="0">
                <a:latin typeface="Times New Roman" pitchFamily="18" charset="0"/>
              </a:rPr>
              <a:t>Temperature measurements</a:t>
            </a:r>
          </a:p>
          <a:p>
            <a:pPr lvl="1" eaLnBrk="1" hangingPunct="1">
              <a:defRPr/>
            </a:pPr>
            <a:r>
              <a:rPr lang="en-US" smtClean="0">
                <a:latin typeface="Times New Roman" pitchFamily="18" charset="0"/>
              </a:rPr>
              <a:t>Time settings</a:t>
            </a:r>
          </a:p>
          <a:p>
            <a:pPr lvl="1" eaLnBrk="1" hangingPunct="1">
              <a:defRPr/>
            </a:pPr>
            <a:r>
              <a:rPr lang="en-US" smtClean="0">
                <a:latin typeface="Times New Roman" pitchFamily="18" charset="0"/>
              </a:rPr>
              <a:t>pH measurements</a:t>
            </a:r>
          </a:p>
          <a:p>
            <a:pPr lvl="1" eaLnBrk="1" hangingPunct="1">
              <a:defRPr/>
            </a:pPr>
            <a:r>
              <a:rPr lang="en-US" smtClean="0">
                <a:latin typeface="Times New Roman" pitchFamily="18" charset="0"/>
              </a:rPr>
              <a:t>Metal detectors</a:t>
            </a:r>
          </a:p>
          <a:p>
            <a:pPr eaLnBrk="1" hangingPunct="1">
              <a:defRPr/>
            </a:pPr>
            <a:r>
              <a:rPr lang="en-US" sz="2800" smtClean="0">
                <a:latin typeface="Times New Roman" pitchFamily="18" charset="0"/>
              </a:rPr>
              <a:t>*Microbiological testing is of limited value (</a:t>
            </a:r>
            <a:r>
              <a:rPr lang="en-US" sz="2800" b="1" smtClean="0">
                <a:latin typeface="Times New Roman" pitchFamily="18" charset="0"/>
              </a:rPr>
              <a:t>Why?)</a:t>
            </a:r>
          </a:p>
          <a:p>
            <a:pPr eaLnBrk="1" hangingPunct="1">
              <a:defRPr/>
            </a:pPr>
            <a:endParaRPr lang="en-US" sz="2800" smtClean="0">
              <a:latin typeface="Times New Roman" pitchFamily="18" charset="0"/>
            </a:endParaRPr>
          </a:p>
        </p:txBody>
      </p:sp>
      <p:sp>
        <p:nvSpPr>
          <p:cNvPr id="201730" name="Slide Number Placeholder 4"/>
          <p:cNvSpPr>
            <a:spLocks noGrp="1"/>
          </p:cNvSpPr>
          <p:nvPr>
            <p:ph type="sldNum" sz="quarter" idx="12"/>
          </p:nvPr>
        </p:nvSpPr>
        <p:spPr>
          <a:noFill/>
        </p:spPr>
        <p:txBody>
          <a:bodyPr/>
          <a:lstStyle/>
          <a:p>
            <a:fld id="{DE73B67C-2CA1-424C-900C-938A3D887398}" type="slidenum">
              <a:rPr lang="en-US"/>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Rot="1" noChangeArrowheads="1"/>
          </p:cNvSpPr>
          <p:nvPr>
            <p:ph type="title"/>
          </p:nvPr>
        </p:nvSpPr>
        <p:spPr/>
        <p:txBody>
          <a:bodyPr>
            <a:normAutofit/>
          </a:bodyPr>
          <a:lstStyle/>
          <a:p>
            <a:pPr eaLnBrk="1" hangingPunct="1">
              <a:defRPr/>
            </a:pPr>
            <a:r>
              <a:rPr lang="en-US" sz="3600" b="0" smtClean="0">
                <a:latin typeface="Times New Roman" pitchFamily="18" charset="0"/>
              </a:rPr>
              <a:t>Monitoring of CCPs</a:t>
            </a:r>
            <a:br>
              <a:rPr lang="en-US" sz="3600" b="0" smtClean="0">
                <a:latin typeface="Times New Roman" pitchFamily="18" charset="0"/>
              </a:rPr>
            </a:br>
            <a:r>
              <a:rPr lang="en-US" sz="3600" b="0" smtClean="0">
                <a:latin typeface="Times New Roman" pitchFamily="18" charset="0"/>
              </a:rPr>
              <a:t>(2)</a:t>
            </a:r>
          </a:p>
        </p:txBody>
      </p:sp>
      <p:sp>
        <p:nvSpPr>
          <p:cNvPr id="332803" name="Rectangle 3"/>
          <p:cNvSpPr>
            <a:spLocks noGrp="1" noChangeArrowheads="1"/>
          </p:cNvSpPr>
          <p:nvPr>
            <p:ph idx="1"/>
          </p:nvPr>
        </p:nvSpPr>
        <p:spPr/>
        <p:txBody>
          <a:bodyPr/>
          <a:lstStyle/>
          <a:p>
            <a:pPr eaLnBrk="1" hangingPunct="1">
              <a:defRPr/>
            </a:pPr>
            <a:r>
              <a:rPr lang="en-US" sz="2800" smtClean="0">
                <a:latin typeface="Times New Roman" pitchFamily="18" charset="0"/>
              </a:rPr>
              <a:t>Monitoring procedures must demonstrate that the CCP is under control</a:t>
            </a:r>
          </a:p>
          <a:p>
            <a:pPr lvl="1" eaLnBrk="1" hangingPunct="1">
              <a:defRPr/>
            </a:pPr>
            <a:r>
              <a:rPr lang="en-US" sz="2400" smtClean="0">
                <a:latin typeface="Times New Roman" pitchFamily="18" charset="0"/>
              </a:rPr>
              <a:t>Continuous monitoring where possible</a:t>
            </a:r>
          </a:p>
          <a:p>
            <a:pPr lvl="1" eaLnBrk="1" hangingPunct="1">
              <a:defRPr/>
            </a:pPr>
            <a:r>
              <a:rPr lang="en-US" sz="2400" smtClean="0">
                <a:latin typeface="Times New Roman" pitchFamily="18" charset="0"/>
              </a:rPr>
              <a:t>Capable of detecting process variation before its too late</a:t>
            </a:r>
          </a:p>
          <a:p>
            <a:pPr lvl="1" eaLnBrk="1" hangingPunct="1">
              <a:defRPr/>
            </a:pPr>
            <a:r>
              <a:rPr lang="en-US" sz="2400" smtClean="0">
                <a:latin typeface="Times New Roman" pitchFamily="18" charset="0"/>
              </a:rPr>
              <a:t>Capable of detecting when critical limit is needed</a:t>
            </a:r>
          </a:p>
          <a:p>
            <a:pPr lvl="1" eaLnBrk="1" hangingPunct="1">
              <a:defRPr/>
            </a:pPr>
            <a:r>
              <a:rPr lang="en-US" sz="2400" smtClean="0">
                <a:latin typeface="Times New Roman" pitchFamily="18" charset="0"/>
              </a:rPr>
              <a:t>Containing an alarm system to ensure corrective action</a:t>
            </a:r>
          </a:p>
          <a:p>
            <a:pPr lvl="2" eaLnBrk="1" hangingPunct="1">
              <a:defRPr/>
            </a:pPr>
            <a:r>
              <a:rPr lang="en-US" sz="2000" smtClean="0">
                <a:latin typeface="Times New Roman" pitchFamily="18" charset="0"/>
              </a:rPr>
              <a:t>“bells and whistle’</a:t>
            </a:r>
          </a:p>
          <a:p>
            <a:pPr lvl="2" eaLnBrk="1" hangingPunct="1">
              <a:defRPr/>
            </a:pPr>
            <a:r>
              <a:rPr lang="en-US" sz="2000" smtClean="0">
                <a:latin typeface="Times New Roman" pitchFamily="18" charset="0"/>
              </a:rPr>
              <a:t>Frequent monitoring</a:t>
            </a:r>
          </a:p>
          <a:p>
            <a:pPr lvl="2" eaLnBrk="1" hangingPunct="1">
              <a:defRPr/>
            </a:pPr>
            <a:r>
              <a:rPr lang="en-US" sz="2000" smtClean="0">
                <a:latin typeface="Times New Roman" pitchFamily="18" charset="0"/>
              </a:rPr>
              <a:t>Authority to act</a:t>
            </a:r>
          </a:p>
          <a:p>
            <a:pPr eaLnBrk="1" hangingPunct="1">
              <a:defRPr/>
            </a:pPr>
            <a:endParaRPr lang="en-US" sz="2800" smtClean="0">
              <a:latin typeface="Times New Roman" pitchFamily="18" charset="0"/>
            </a:endParaRPr>
          </a:p>
        </p:txBody>
      </p:sp>
      <p:sp>
        <p:nvSpPr>
          <p:cNvPr id="202754" name="Slide Number Placeholder 4"/>
          <p:cNvSpPr>
            <a:spLocks noGrp="1"/>
          </p:cNvSpPr>
          <p:nvPr>
            <p:ph type="sldNum" sz="quarter" idx="12"/>
          </p:nvPr>
        </p:nvSpPr>
        <p:spPr>
          <a:noFill/>
        </p:spPr>
        <p:txBody>
          <a:bodyPr/>
          <a:lstStyle/>
          <a:p>
            <a:fld id="{0BC179D0-0FB6-4C20-ACC1-739765B1D2B2}" type="slidenum">
              <a:rPr lang="en-US"/>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Rot="1" noChangeArrowheads="1"/>
          </p:cNvSpPr>
          <p:nvPr>
            <p:ph type="title"/>
          </p:nvPr>
        </p:nvSpPr>
        <p:spPr/>
        <p:txBody>
          <a:bodyPr>
            <a:normAutofit/>
          </a:bodyPr>
          <a:lstStyle/>
          <a:p>
            <a:pPr eaLnBrk="1" hangingPunct="1">
              <a:defRPr/>
            </a:pPr>
            <a:r>
              <a:rPr lang="en-US" sz="3600" b="0" smtClean="0">
                <a:latin typeface="Times New Roman" pitchFamily="18" charset="0"/>
              </a:rPr>
              <a:t>Monitoring of CCPs</a:t>
            </a:r>
            <a:br>
              <a:rPr lang="en-US" sz="3600" b="0" smtClean="0">
                <a:latin typeface="Times New Roman" pitchFamily="18" charset="0"/>
              </a:rPr>
            </a:br>
            <a:r>
              <a:rPr lang="en-US" sz="3600" b="0" smtClean="0">
                <a:latin typeface="Times New Roman" pitchFamily="18" charset="0"/>
              </a:rPr>
              <a:t>(3)</a:t>
            </a:r>
          </a:p>
        </p:txBody>
      </p:sp>
      <p:sp>
        <p:nvSpPr>
          <p:cNvPr id="333827" name="Rectangle 3"/>
          <p:cNvSpPr>
            <a:spLocks noGrp="1" noChangeArrowheads="1"/>
          </p:cNvSpPr>
          <p:nvPr>
            <p:ph idx="1"/>
          </p:nvPr>
        </p:nvSpPr>
        <p:spPr/>
        <p:txBody>
          <a:bodyPr/>
          <a:lstStyle/>
          <a:p>
            <a:pPr eaLnBrk="1" hangingPunct="1">
              <a:buFont typeface="Wingdings" pitchFamily="2" charset="2"/>
              <a:buNone/>
              <a:defRPr/>
            </a:pPr>
            <a:r>
              <a:rPr lang="en-US" sz="2800" u="sng" smtClean="0">
                <a:latin typeface="Times New Roman" pitchFamily="18" charset="0"/>
              </a:rPr>
              <a:t>Where to measure:-</a:t>
            </a:r>
          </a:p>
          <a:p>
            <a:pPr eaLnBrk="1" hangingPunct="1">
              <a:defRPr/>
            </a:pPr>
            <a:r>
              <a:rPr lang="en-US" sz="2800" smtClean="0">
                <a:latin typeface="Times New Roman" pitchFamily="18" charset="0"/>
              </a:rPr>
              <a:t>At most likely point of infringement e.g.</a:t>
            </a:r>
          </a:p>
          <a:p>
            <a:pPr lvl="1" eaLnBrk="1" hangingPunct="1">
              <a:defRPr/>
            </a:pPr>
            <a:r>
              <a:rPr lang="en-US" sz="2400" smtClean="0">
                <a:latin typeface="Times New Roman" pitchFamily="18" charset="0"/>
              </a:rPr>
              <a:t>Cool spot in oven</a:t>
            </a:r>
          </a:p>
          <a:p>
            <a:pPr lvl="1" eaLnBrk="1" hangingPunct="1">
              <a:defRPr/>
            </a:pPr>
            <a:r>
              <a:rPr lang="en-US" sz="2400" smtClean="0">
                <a:latin typeface="Times New Roman" pitchFamily="18" charset="0"/>
              </a:rPr>
              <a:t>Warm spot in refrigerator</a:t>
            </a:r>
          </a:p>
          <a:p>
            <a:pPr eaLnBrk="1" hangingPunct="1">
              <a:buFont typeface="Wingdings" pitchFamily="2" charset="2"/>
              <a:buNone/>
              <a:defRPr/>
            </a:pPr>
            <a:r>
              <a:rPr lang="en-US" sz="2800" b="1" u="sng" smtClean="0">
                <a:latin typeface="Times New Roman" pitchFamily="18" charset="0"/>
              </a:rPr>
              <a:t>Train staff how to monitor correctly!!</a:t>
            </a:r>
          </a:p>
          <a:p>
            <a:pPr eaLnBrk="1" hangingPunct="1">
              <a:defRPr/>
            </a:pPr>
            <a:endParaRPr lang="en-US" sz="2800" smtClean="0">
              <a:latin typeface="Times New Roman" pitchFamily="18" charset="0"/>
            </a:endParaRPr>
          </a:p>
        </p:txBody>
      </p:sp>
      <p:sp>
        <p:nvSpPr>
          <p:cNvPr id="203778" name="Slide Number Placeholder 4"/>
          <p:cNvSpPr>
            <a:spLocks noGrp="1"/>
          </p:cNvSpPr>
          <p:nvPr>
            <p:ph type="sldNum" sz="quarter" idx="12"/>
          </p:nvPr>
        </p:nvSpPr>
        <p:spPr>
          <a:noFill/>
        </p:spPr>
        <p:txBody>
          <a:bodyPr/>
          <a:lstStyle/>
          <a:p>
            <a:fld id="{47418F99-B829-4B28-815A-91E9FBD9DF47}" type="slidenum">
              <a:rPr lang="en-US"/>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4" name="Rectangle 4"/>
          <p:cNvSpPr>
            <a:spLocks noGrp="1" noRot="1" noChangeArrowheads="1"/>
          </p:cNvSpPr>
          <p:nvPr>
            <p:ph type="title"/>
          </p:nvPr>
        </p:nvSpPr>
        <p:spPr>
          <a:xfrm>
            <a:off x="457200" y="274638"/>
            <a:ext cx="8229600" cy="5668962"/>
          </a:xfrm>
        </p:spPr>
        <p:txBody>
          <a:bodyPr/>
          <a:lstStyle/>
          <a:p>
            <a:pPr eaLnBrk="1" hangingPunct="1">
              <a:defRPr/>
            </a:pPr>
            <a:r>
              <a:rPr lang="en-US" sz="3600" b="0" smtClean="0"/>
              <a:t>Corrective Action, Verification, Records and Documentation Procedures</a:t>
            </a:r>
          </a:p>
        </p:txBody>
      </p:sp>
      <p:sp>
        <p:nvSpPr>
          <p:cNvPr id="204802" name="Slide Number Placeholder 3"/>
          <p:cNvSpPr>
            <a:spLocks noGrp="1"/>
          </p:cNvSpPr>
          <p:nvPr>
            <p:ph type="sldNum" sz="quarter" idx="12"/>
          </p:nvPr>
        </p:nvSpPr>
        <p:spPr>
          <a:noFill/>
        </p:spPr>
        <p:txBody>
          <a:bodyPr/>
          <a:lstStyle/>
          <a:p>
            <a:fld id="{6D010833-8911-4E1C-950B-45B6948B16C8}" type="slidenum">
              <a:rPr lang="en-US"/>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Rot="1" noChangeArrowheads="1"/>
          </p:cNvSpPr>
          <p:nvPr>
            <p:ph type="title"/>
          </p:nvPr>
        </p:nvSpPr>
        <p:spPr>
          <a:xfrm>
            <a:off x="457200" y="274638"/>
            <a:ext cx="8229600" cy="850900"/>
          </a:xfrm>
        </p:spPr>
        <p:txBody>
          <a:bodyPr>
            <a:normAutofit fontScale="90000"/>
          </a:bodyPr>
          <a:lstStyle/>
          <a:p>
            <a:pPr eaLnBrk="1" hangingPunct="1">
              <a:defRPr/>
            </a:pPr>
            <a:r>
              <a:rPr lang="en-US" sz="3600" b="0" smtClean="0">
                <a:latin typeface="Times New Roman" pitchFamily="18" charset="0"/>
              </a:rPr>
              <a:t>Establishing corrective action procedures to be taken when necessary</a:t>
            </a:r>
          </a:p>
        </p:txBody>
      </p:sp>
      <p:sp>
        <p:nvSpPr>
          <p:cNvPr id="334851" name="Rectangle 3"/>
          <p:cNvSpPr>
            <a:spLocks noGrp="1" noChangeArrowheads="1"/>
          </p:cNvSpPr>
          <p:nvPr>
            <p:ph idx="1"/>
          </p:nvPr>
        </p:nvSpPr>
        <p:spPr>
          <a:xfrm>
            <a:off x="457200" y="1484313"/>
            <a:ext cx="8229600" cy="4641850"/>
          </a:xfrm>
        </p:spPr>
        <p:txBody>
          <a:bodyPr/>
          <a:lstStyle/>
          <a:p>
            <a:pPr eaLnBrk="1" hangingPunct="1">
              <a:buFont typeface="Wingdings" pitchFamily="2" charset="2"/>
              <a:buNone/>
              <a:defRPr/>
            </a:pPr>
            <a:r>
              <a:rPr lang="en-US" sz="2800" b="1" u="sng" dirty="0" smtClean="0">
                <a:latin typeface="Times New Roman" pitchFamily="18" charset="0"/>
              </a:rPr>
              <a:t>Principle 5</a:t>
            </a:r>
          </a:p>
          <a:p>
            <a:pPr eaLnBrk="1" hangingPunct="1">
              <a:buFont typeface="Wingdings" pitchFamily="2" charset="2"/>
              <a:buNone/>
              <a:defRPr/>
            </a:pPr>
            <a:r>
              <a:rPr lang="en-US" sz="2800" b="1" dirty="0" smtClean="0">
                <a:latin typeface="Times New Roman" pitchFamily="18" charset="0"/>
              </a:rPr>
              <a:t>Corrective Action</a:t>
            </a:r>
            <a:r>
              <a:rPr lang="en-US" sz="2800" dirty="0" smtClean="0">
                <a:latin typeface="Times New Roman" pitchFamily="18" charset="0"/>
              </a:rPr>
              <a:t> “ Any action to be taken when the results of monitoring at the CCP indicate a loss of control” (Codex 1997)</a:t>
            </a:r>
          </a:p>
          <a:p>
            <a:pPr eaLnBrk="1" hangingPunct="1">
              <a:defRPr/>
            </a:pPr>
            <a:r>
              <a:rPr lang="en-US" sz="2800" dirty="0" smtClean="0">
                <a:latin typeface="Times New Roman" pitchFamily="18" charset="0"/>
              </a:rPr>
              <a:t>Actions must be taken immediately, when the process is heading out of control</a:t>
            </a:r>
          </a:p>
          <a:p>
            <a:pPr eaLnBrk="1" hangingPunct="1">
              <a:defRPr/>
            </a:pPr>
            <a:r>
              <a:rPr lang="en-US" sz="2800" dirty="0" smtClean="0">
                <a:latin typeface="Times New Roman" pitchFamily="18" charset="0"/>
              </a:rPr>
              <a:t>This way a food safety hazard will be avoided.</a:t>
            </a:r>
          </a:p>
          <a:p>
            <a:pPr eaLnBrk="1" hangingPunct="1">
              <a:buFont typeface="Wingdings" pitchFamily="2" charset="2"/>
              <a:buNone/>
              <a:defRPr/>
            </a:pPr>
            <a:endParaRPr lang="en-US" sz="2800" dirty="0" smtClean="0">
              <a:latin typeface="Times New Roman" pitchFamily="18" charset="0"/>
            </a:endParaRPr>
          </a:p>
        </p:txBody>
      </p:sp>
      <p:sp>
        <p:nvSpPr>
          <p:cNvPr id="205826" name="Slide Number Placeholder 4"/>
          <p:cNvSpPr>
            <a:spLocks noGrp="1"/>
          </p:cNvSpPr>
          <p:nvPr>
            <p:ph type="sldNum" sz="quarter" idx="12"/>
          </p:nvPr>
        </p:nvSpPr>
        <p:spPr>
          <a:noFill/>
        </p:spPr>
        <p:txBody>
          <a:bodyPr/>
          <a:lstStyle/>
          <a:p>
            <a:fld id="{A3081275-DE80-4B81-8F16-F09A781167FE}" type="slidenum">
              <a:rPr lang="en-US"/>
              <a:pPr/>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Rot="1" noChangeArrowheads="1"/>
          </p:cNvSpPr>
          <p:nvPr>
            <p:ph type="title"/>
          </p:nvPr>
        </p:nvSpPr>
        <p:spPr>
          <a:xfrm>
            <a:off x="457200" y="274638"/>
            <a:ext cx="8229600" cy="706437"/>
          </a:xfrm>
        </p:spPr>
        <p:txBody>
          <a:bodyPr/>
          <a:lstStyle/>
          <a:p>
            <a:pPr eaLnBrk="1" hangingPunct="1">
              <a:defRPr/>
            </a:pPr>
            <a:r>
              <a:rPr lang="en-US" sz="3600" b="0" smtClean="0">
                <a:latin typeface="Times New Roman" pitchFamily="18" charset="0"/>
              </a:rPr>
              <a:t>Corrective Action (1)</a:t>
            </a:r>
          </a:p>
        </p:txBody>
      </p:sp>
      <p:sp>
        <p:nvSpPr>
          <p:cNvPr id="335875" name="Rectangle 3"/>
          <p:cNvSpPr>
            <a:spLocks noGrp="1" noChangeArrowheads="1"/>
          </p:cNvSpPr>
          <p:nvPr>
            <p:ph idx="1"/>
          </p:nvPr>
        </p:nvSpPr>
        <p:spPr>
          <a:xfrm>
            <a:off x="457200" y="1268413"/>
            <a:ext cx="8229600" cy="4857750"/>
          </a:xfrm>
        </p:spPr>
        <p:txBody>
          <a:bodyPr/>
          <a:lstStyle/>
          <a:p>
            <a:pPr eaLnBrk="1" hangingPunct="1">
              <a:buFont typeface="Wingdings" pitchFamily="2" charset="2"/>
              <a:buNone/>
              <a:defRPr/>
            </a:pPr>
            <a:r>
              <a:rPr lang="en-US" sz="2800" b="1" smtClean="0">
                <a:latin typeface="Times New Roman" pitchFamily="18" charset="0"/>
              </a:rPr>
              <a:t>What to do when something goes wrong /Immediate Action:-</a:t>
            </a:r>
          </a:p>
          <a:p>
            <a:pPr eaLnBrk="1" hangingPunct="1">
              <a:defRPr/>
            </a:pPr>
            <a:r>
              <a:rPr lang="en-US" sz="2800" smtClean="0">
                <a:latin typeface="Times New Roman" pitchFamily="18" charset="0"/>
              </a:rPr>
              <a:t>Who is to take the action?</a:t>
            </a:r>
          </a:p>
          <a:p>
            <a:pPr eaLnBrk="1" hangingPunct="1">
              <a:defRPr/>
            </a:pPr>
            <a:r>
              <a:rPr lang="en-US" sz="2800" smtClean="0">
                <a:latin typeface="Times New Roman" pitchFamily="18" charset="0"/>
              </a:rPr>
              <a:t>What is to be done and when?</a:t>
            </a:r>
          </a:p>
          <a:p>
            <a:pPr eaLnBrk="1" hangingPunct="1">
              <a:defRPr/>
            </a:pPr>
            <a:r>
              <a:rPr lang="en-US" sz="2800" smtClean="0">
                <a:latin typeface="Times New Roman" pitchFamily="18" charset="0"/>
              </a:rPr>
              <a:t>Who is to be informed?</a:t>
            </a:r>
          </a:p>
          <a:p>
            <a:pPr eaLnBrk="1" hangingPunct="1">
              <a:buFont typeface="Wingdings" pitchFamily="2" charset="2"/>
              <a:buNone/>
              <a:defRPr/>
            </a:pPr>
            <a:r>
              <a:rPr lang="en-US" sz="2800" smtClean="0">
                <a:latin typeface="Times New Roman" pitchFamily="18" charset="0"/>
              </a:rPr>
              <a:t>(Do we still have the product?)</a:t>
            </a:r>
          </a:p>
          <a:p>
            <a:pPr eaLnBrk="1" hangingPunct="1">
              <a:defRPr/>
            </a:pPr>
            <a:endParaRPr lang="en-US" sz="2800" smtClean="0">
              <a:latin typeface="Times New Roman" pitchFamily="18" charset="0"/>
            </a:endParaRPr>
          </a:p>
          <a:p>
            <a:pPr eaLnBrk="1" hangingPunct="1">
              <a:defRPr/>
            </a:pPr>
            <a:endParaRPr lang="en-US" smtClean="0"/>
          </a:p>
        </p:txBody>
      </p:sp>
      <p:sp>
        <p:nvSpPr>
          <p:cNvPr id="206850" name="Slide Number Placeholder 4"/>
          <p:cNvSpPr>
            <a:spLocks noGrp="1"/>
          </p:cNvSpPr>
          <p:nvPr>
            <p:ph type="sldNum" sz="quarter" idx="12"/>
          </p:nvPr>
        </p:nvSpPr>
        <p:spPr>
          <a:noFill/>
        </p:spPr>
        <p:txBody>
          <a:bodyPr/>
          <a:lstStyle/>
          <a:p>
            <a:fld id="{CCC6D964-7DC2-43F1-A458-508F40755492}" type="slidenum">
              <a:rPr lang="en-US"/>
              <a:pPr/>
              <a:t>45</a:t>
            </a:fld>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Rot="1" noChangeArrowheads="1"/>
          </p:cNvSpPr>
          <p:nvPr>
            <p:ph type="title"/>
          </p:nvPr>
        </p:nvSpPr>
        <p:spPr>
          <a:xfrm>
            <a:off x="457200" y="274638"/>
            <a:ext cx="8229600" cy="850900"/>
          </a:xfrm>
        </p:spPr>
        <p:txBody>
          <a:bodyPr/>
          <a:lstStyle/>
          <a:p>
            <a:pPr eaLnBrk="1" hangingPunct="1">
              <a:defRPr/>
            </a:pPr>
            <a:r>
              <a:rPr lang="en-US" sz="3600" b="0" smtClean="0">
                <a:latin typeface="Times New Roman" pitchFamily="18" charset="0"/>
              </a:rPr>
              <a:t>Corrective Action (2)</a:t>
            </a:r>
          </a:p>
        </p:txBody>
      </p:sp>
      <p:sp>
        <p:nvSpPr>
          <p:cNvPr id="336899" name="Rectangle 3"/>
          <p:cNvSpPr>
            <a:spLocks noGrp="1" noChangeArrowheads="1"/>
          </p:cNvSpPr>
          <p:nvPr>
            <p:ph idx="1"/>
          </p:nvPr>
        </p:nvSpPr>
        <p:spPr/>
        <p:txBody>
          <a:bodyPr/>
          <a:lstStyle/>
          <a:p>
            <a:pPr eaLnBrk="1" hangingPunct="1">
              <a:lnSpc>
                <a:spcPct val="80000"/>
              </a:lnSpc>
              <a:buFont typeface="Wingdings" pitchFamily="2" charset="2"/>
              <a:buNone/>
              <a:defRPr/>
            </a:pPr>
            <a:r>
              <a:rPr lang="en-US" sz="2800" b="1" smtClean="0">
                <a:latin typeface="Times New Roman" pitchFamily="18" charset="0"/>
              </a:rPr>
              <a:t>What happens to the product?</a:t>
            </a:r>
          </a:p>
          <a:p>
            <a:pPr eaLnBrk="1" hangingPunct="1">
              <a:lnSpc>
                <a:spcPct val="80000"/>
              </a:lnSpc>
              <a:defRPr/>
            </a:pPr>
            <a:r>
              <a:rPr lang="en-US" sz="2800" b="1" smtClean="0">
                <a:latin typeface="Times New Roman" pitchFamily="18" charset="0"/>
              </a:rPr>
              <a:t>Divert to other use</a:t>
            </a:r>
          </a:p>
          <a:p>
            <a:pPr eaLnBrk="1" hangingPunct="1">
              <a:lnSpc>
                <a:spcPct val="80000"/>
              </a:lnSpc>
              <a:defRPr/>
            </a:pPr>
            <a:r>
              <a:rPr lang="en-US" sz="2800" b="1" smtClean="0">
                <a:latin typeface="Times New Roman" pitchFamily="18" charset="0"/>
              </a:rPr>
              <a:t>Re-work</a:t>
            </a:r>
          </a:p>
          <a:p>
            <a:pPr eaLnBrk="1" hangingPunct="1">
              <a:lnSpc>
                <a:spcPct val="80000"/>
              </a:lnSpc>
              <a:defRPr/>
            </a:pPr>
            <a:r>
              <a:rPr lang="en-US" sz="2800" b="1" smtClean="0">
                <a:latin typeface="Times New Roman" pitchFamily="18" charset="0"/>
              </a:rPr>
              <a:t>Discard</a:t>
            </a:r>
          </a:p>
          <a:p>
            <a:pPr eaLnBrk="1" hangingPunct="1">
              <a:lnSpc>
                <a:spcPct val="80000"/>
              </a:lnSpc>
              <a:buFont typeface="Wingdings" pitchFamily="2" charset="2"/>
              <a:buNone/>
              <a:defRPr/>
            </a:pPr>
            <a:endParaRPr lang="en-US" sz="2800" b="1" smtClean="0">
              <a:latin typeface="Times New Roman" pitchFamily="18" charset="0"/>
            </a:endParaRPr>
          </a:p>
          <a:p>
            <a:pPr eaLnBrk="1" hangingPunct="1">
              <a:lnSpc>
                <a:spcPct val="80000"/>
              </a:lnSpc>
              <a:buFont typeface="Wingdings" pitchFamily="2" charset="2"/>
              <a:buNone/>
              <a:defRPr/>
            </a:pPr>
            <a:r>
              <a:rPr lang="en-US" sz="2800" b="1" smtClean="0">
                <a:latin typeface="Times New Roman" pitchFamily="18" charset="0"/>
              </a:rPr>
              <a:t>Investigation</a:t>
            </a:r>
          </a:p>
          <a:p>
            <a:pPr eaLnBrk="1" hangingPunct="1">
              <a:lnSpc>
                <a:spcPct val="80000"/>
              </a:lnSpc>
              <a:defRPr/>
            </a:pPr>
            <a:r>
              <a:rPr lang="en-US" sz="2800" smtClean="0">
                <a:latin typeface="Times New Roman" pitchFamily="18" charset="0"/>
              </a:rPr>
              <a:t>What caused the problem?</a:t>
            </a:r>
          </a:p>
          <a:p>
            <a:pPr eaLnBrk="1" hangingPunct="1">
              <a:lnSpc>
                <a:spcPct val="80000"/>
              </a:lnSpc>
              <a:defRPr/>
            </a:pPr>
            <a:r>
              <a:rPr lang="en-US" sz="2800" smtClean="0">
                <a:latin typeface="Times New Roman" pitchFamily="18" charset="0"/>
              </a:rPr>
              <a:t>How can recurrence be prevented?</a:t>
            </a:r>
          </a:p>
          <a:p>
            <a:pPr eaLnBrk="1" hangingPunct="1">
              <a:lnSpc>
                <a:spcPct val="80000"/>
              </a:lnSpc>
              <a:defRPr/>
            </a:pPr>
            <a:r>
              <a:rPr lang="en-US" sz="2800" smtClean="0">
                <a:latin typeface="Times New Roman" pitchFamily="18" charset="0"/>
              </a:rPr>
              <a:t>What corrective action has been taken?</a:t>
            </a:r>
          </a:p>
          <a:p>
            <a:pPr eaLnBrk="1" hangingPunct="1">
              <a:lnSpc>
                <a:spcPct val="80000"/>
              </a:lnSpc>
              <a:defRPr/>
            </a:pPr>
            <a:r>
              <a:rPr lang="en-US" sz="2800" smtClean="0">
                <a:latin typeface="Times New Roman" pitchFamily="18" charset="0"/>
              </a:rPr>
              <a:t>Has the incident been recorded?</a:t>
            </a:r>
          </a:p>
          <a:p>
            <a:pPr eaLnBrk="1" hangingPunct="1">
              <a:lnSpc>
                <a:spcPct val="80000"/>
              </a:lnSpc>
              <a:defRPr/>
            </a:pPr>
            <a:endParaRPr lang="en-US" sz="2800" smtClean="0">
              <a:latin typeface="Times New Roman" pitchFamily="18" charset="0"/>
            </a:endParaRPr>
          </a:p>
        </p:txBody>
      </p:sp>
      <p:sp>
        <p:nvSpPr>
          <p:cNvPr id="207874" name="Slide Number Placeholder 4"/>
          <p:cNvSpPr>
            <a:spLocks noGrp="1"/>
          </p:cNvSpPr>
          <p:nvPr>
            <p:ph type="sldNum" sz="quarter" idx="12"/>
          </p:nvPr>
        </p:nvSpPr>
        <p:spPr>
          <a:noFill/>
        </p:spPr>
        <p:txBody>
          <a:bodyPr/>
          <a:lstStyle/>
          <a:p>
            <a:fld id="{9FF8E023-0759-4C32-9488-5FCC30C31941}" type="slidenum">
              <a:rPr lang="en-US"/>
              <a:pPr/>
              <a:t>46</a:t>
            </a:fld>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2"/>
          <p:cNvSpPr>
            <a:spLocks noGrp="1" noRot="1" noChangeArrowheads="1"/>
          </p:cNvSpPr>
          <p:nvPr>
            <p:ph type="title"/>
          </p:nvPr>
        </p:nvSpPr>
        <p:spPr/>
        <p:txBody>
          <a:bodyPr/>
          <a:lstStyle/>
          <a:p>
            <a:pPr eaLnBrk="1" hangingPunct="1">
              <a:defRPr/>
            </a:pPr>
            <a:r>
              <a:rPr lang="en-US" sz="3600" b="0" smtClean="0">
                <a:latin typeface="Times New Roman" pitchFamily="18" charset="0"/>
              </a:rPr>
              <a:t>Corrective Action (3)</a:t>
            </a:r>
          </a:p>
        </p:txBody>
      </p:sp>
      <p:sp>
        <p:nvSpPr>
          <p:cNvPr id="337923" name="Rectangle 3"/>
          <p:cNvSpPr>
            <a:spLocks noGrp="1" noChangeArrowheads="1"/>
          </p:cNvSpPr>
          <p:nvPr>
            <p:ph idx="1"/>
          </p:nvPr>
        </p:nvSpPr>
        <p:spPr/>
        <p:txBody>
          <a:bodyPr/>
          <a:lstStyle/>
          <a:p>
            <a:pPr eaLnBrk="1" hangingPunct="1">
              <a:buFont typeface="Wingdings" pitchFamily="2" charset="2"/>
              <a:buNone/>
              <a:defRPr/>
            </a:pPr>
            <a:r>
              <a:rPr lang="en-US" sz="2800" b="1" smtClean="0">
                <a:latin typeface="Times New Roman" pitchFamily="18" charset="0"/>
              </a:rPr>
              <a:t>Responsibility:-</a:t>
            </a:r>
          </a:p>
          <a:p>
            <a:pPr eaLnBrk="1" hangingPunct="1">
              <a:buFont typeface="Wingdings" pitchFamily="2" charset="2"/>
              <a:buNone/>
              <a:defRPr/>
            </a:pPr>
            <a:endParaRPr lang="en-US" sz="2800" b="1" smtClean="0">
              <a:latin typeface="Times New Roman" pitchFamily="18" charset="0"/>
            </a:endParaRPr>
          </a:p>
          <a:p>
            <a:pPr eaLnBrk="1" hangingPunct="1">
              <a:buFont typeface="Wingdings" pitchFamily="2" charset="2"/>
              <a:buNone/>
              <a:defRPr/>
            </a:pPr>
            <a:r>
              <a:rPr lang="en-US" sz="2800" smtClean="0">
                <a:latin typeface="Times New Roman" pitchFamily="18" charset="0"/>
              </a:rPr>
              <a:t>Who assumes responsibility for decision making when corrective actions are taken?</a:t>
            </a:r>
          </a:p>
          <a:p>
            <a:pPr eaLnBrk="1" hangingPunct="1">
              <a:defRPr/>
            </a:pPr>
            <a:endParaRPr lang="en-US" sz="2800" smtClean="0">
              <a:latin typeface="Times New Roman" pitchFamily="18" charset="0"/>
            </a:endParaRPr>
          </a:p>
        </p:txBody>
      </p:sp>
      <p:sp>
        <p:nvSpPr>
          <p:cNvPr id="208898" name="Slide Number Placeholder 4"/>
          <p:cNvSpPr>
            <a:spLocks noGrp="1"/>
          </p:cNvSpPr>
          <p:nvPr>
            <p:ph type="sldNum" sz="quarter" idx="12"/>
          </p:nvPr>
        </p:nvSpPr>
        <p:spPr>
          <a:noFill/>
        </p:spPr>
        <p:txBody>
          <a:bodyPr/>
          <a:lstStyle/>
          <a:p>
            <a:fld id="{179CDB46-2258-4486-9C6D-714F8D18FF71}" type="slidenum">
              <a:rPr lang="en-US"/>
              <a:pPr/>
              <a:t>47</a:t>
            </a:fld>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noRot="1" noChangeArrowheads="1"/>
          </p:cNvSpPr>
          <p:nvPr>
            <p:ph type="title"/>
          </p:nvPr>
        </p:nvSpPr>
        <p:spPr>
          <a:xfrm>
            <a:off x="250825" y="274638"/>
            <a:ext cx="8435975" cy="2001837"/>
          </a:xfrm>
        </p:spPr>
        <p:txBody>
          <a:bodyPr>
            <a:normAutofit fontScale="90000"/>
          </a:bodyPr>
          <a:lstStyle/>
          <a:p>
            <a:pPr eaLnBrk="1" hangingPunct="1">
              <a:defRPr/>
            </a:pPr>
            <a:r>
              <a:rPr lang="en-US" sz="3600" smtClean="0">
                <a:latin typeface="Times New Roman" pitchFamily="18" charset="0"/>
              </a:rPr>
              <a:t/>
            </a:r>
            <a:br>
              <a:rPr lang="en-US" sz="3600" smtClean="0">
                <a:latin typeface="Times New Roman" pitchFamily="18" charset="0"/>
              </a:rPr>
            </a:br>
            <a:r>
              <a:rPr lang="en-US" sz="3600" b="0" smtClean="0">
                <a:latin typeface="Times New Roman" pitchFamily="18" charset="0"/>
              </a:rPr>
              <a:t>Establishing verification procedures to ensure that the HACCP system is working efficiently</a:t>
            </a:r>
            <a:r>
              <a:rPr lang="en-US" sz="4000" b="0" smtClean="0"/>
              <a:t/>
            </a:r>
            <a:br>
              <a:rPr lang="en-US" sz="4000" b="0" smtClean="0"/>
            </a:br>
            <a:endParaRPr lang="en-US" sz="4000" b="0" smtClean="0"/>
          </a:p>
        </p:txBody>
      </p:sp>
      <p:sp>
        <p:nvSpPr>
          <p:cNvPr id="338947" name="Rectangle 3"/>
          <p:cNvSpPr>
            <a:spLocks noGrp="1" noChangeArrowheads="1"/>
          </p:cNvSpPr>
          <p:nvPr>
            <p:ph idx="1"/>
          </p:nvPr>
        </p:nvSpPr>
        <p:spPr>
          <a:xfrm>
            <a:off x="468313" y="2133600"/>
            <a:ext cx="8218487" cy="4319588"/>
          </a:xfrm>
        </p:spPr>
        <p:txBody>
          <a:bodyPr/>
          <a:lstStyle/>
          <a:p>
            <a:pPr eaLnBrk="1" hangingPunct="1">
              <a:buFont typeface="Wingdings" pitchFamily="2" charset="2"/>
              <a:buNone/>
              <a:defRPr/>
            </a:pPr>
            <a:r>
              <a:rPr lang="en-US" sz="2800" b="1" u="sng" smtClean="0">
                <a:latin typeface="Times New Roman" pitchFamily="18" charset="0"/>
              </a:rPr>
              <a:t>Principle 6</a:t>
            </a:r>
          </a:p>
          <a:p>
            <a:pPr eaLnBrk="1" hangingPunct="1">
              <a:buFont typeface="Wingdings" pitchFamily="2" charset="2"/>
              <a:buNone/>
              <a:defRPr/>
            </a:pPr>
            <a:r>
              <a:rPr lang="en-US" sz="2800" b="1" smtClean="0">
                <a:latin typeface="Times New Roman" pitchFamily="18" charset="0"/>
              </a:rPr>
              <a:t>Verification:- </a:t>
            </a:r>
            <a:r>
              <a:rPr lang="en-US" sz="2800" smtClean="0">
                <a:latin typeface="Times New Roman" pitchFamily="18" charset="0"/>
              </a:rPr>
              <a:t>The application of methods, procedures, </a:t>
            </a:r>
            <a:r>
              <a:rPr lang="en-US" sz="2800" b="1" smtClean="0">
                <a:latin typeface="Times New Roman" pitchFamily="18" charset="0"/>
              </a:rPr>
              <a:t>tests </a:t>
            </a:r>
            <a:r>
              <a:rPr lang="en-US" sz="2800" smtClean="0">
                <a:latin typeface="Times New Roman" pitchFamily="18" charset="0"/>
              </a:rPr>
              <a:t>and other evaluations, in addition to monitoring, to determine compliance with the HACCP Plan”</a:t>
            </a:r>
          </a:p>
          <a:p>
            <a:pPr eaLnBrk="1" hangingPunct="1">
              <a:buFont typeface="Wingdings" pitchFamily="2" charset="2"/>
              <a:buNone/>
              <a:defRPr/>
            </a:pPr>
            <a:r>
              <a:rPr lang="en-US" sz="2800" b="1" smtClean="0">
                <a:latin typeface="Times New Roman" pitchFamily="18" charset="0"/>
              </a:rPr>
              <a:t>Validation:- </a:t>
            </a:r>
            <a:r>
              <a:rPr lang="en-US" sz="2800" smtClean="0">
                <a:latin typeface="Times New Roman" pitchFamily="18" charset="0"/>
              </a:rPr>
              <a:t>The assessment of the HACCP plan before implementation to provide confirmation that it is valid, accurate and complete</a:t>
            </a:r>
          </a:p>
          <a:p>
            <a:pPr eaLnBrk="1" hangingPunct="1">
              <a:buFont typeface="Wingdings" pitchFamily="2" charset="2"/>
              <a:buNone/>
              <a:defRPr/>
            </a:pPr>
            <a:r>
              <a:rPr lang="en-US" sz="2800" b="1" smtClean="0">
                <a:latin typeface="Times New Roman" pitchFamily="18" charset="0"/>
              </a:rPr>
              <a:t>Codex:-</a:t>
            </a:r>
            <a:r>
              <a:rPr lang="en-US" sz="2800" smtClean="0">
                <a:latin typeface="Times New Roman" pitchFamily="18" charset="0"/>
              </a:rPr>
              <a:t> “ Obtaining evidence that the elements of the HACCP plan are effective”</a:t>
            </a:r>
          </a:p>
          <a:p>
            <a:pPr eaLnBrk="1" hangingPunct="1">
              <a:defRPr/>
            </a:pPr>
            <a:endParaRPr lang="en-US" sz="2800" smtClean="0">
              <a:latin typeface="Times New Roman" pitchFamily="18" charset="0"/>
            </a:endParaRPr>
          </a:p>
        </p:txBody>
      </p:sp>
      <p:sp>
        <p:nvSpPr>
          <p:cNvPr id="209922" name="Slide Number Placeholder 4"/>
          <p:cNvSpPr>
            <a:spLocks noGrp="1"/>
          </p:cNvSpPr>
          <p:nvPr>
            <p:ph type="sldNum" sz="quarter" idx="12"/>
          </p:nvPr>
        </p:nvSpPr>
        <p:spPr>
          <a:noFill/>
        </p:spPr>
        <p:txBody>
          <a:bodyPr/>
          <a:lstStyle/>
          <a:p>
            <a:fld id="{8C441C6C-DB9B-48E1-ACE5-E87478113BF4}" type="slidenum">
              <a:rPr lang="en-US"/>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p:cNvSpPr>
            <a:spLocks noGrp="1" noRot="1" noChangeArrowheads="1"/>
          </p:cNvSpPr>
          <p:nvPr>
            <p:ph type="title"/>
          </p:nvPr>
        </p:nvSpPr>
        <p:spPr>
          <a:xfrm>
            <a:off x="457200" y="274638"/>
            <a:ext cx="8229600" cy="777875"/>
          </a:xfrm>
        </p:spPr>
        <p:txBody>
          <a:bodyPr/>
          <a:lstStyle/>
          <a:p>
            <a:pPr eaLnBrk="1" hangingPunct="1">
              <a:defRPr/>
            </a:pPr>
            <a:r>
              <a:rPr lang="en-US" sz="3600" b="0" smtClean="0">
                <a:latin typeface="Times New Roman" pitchFamily="18" charset="0"/>
              </a:rPr>
              <a:t>Verification </a:t>
            </a:r>
          </a:p>
        </p:txBody>
      </p:sp>
      <p:sp>
        <p:nvSpPr>
          <p:cNvPr id="339971" name="Rectangle 3"/>
          <p:cNvSpPr>
            <a:spLocks noGrp="1" noChangeArrowheads="1"/>
          </p:cNvSpPr>
          <p:nvPr>
            <p:ph idx="1"/>
          </p:nvPr>
        </p:nvSpPr>
        <p:spPr>
          <a:xfrm>
            <a:off x="468313" y="1125538"/>
            <a:ext cx="8229600" cy="5399087"/>
          </a:xfrm>
        </p:spPr>
        <p:txBody>
          <a:bodyPr/>
          <a:lstStyle/>
          <a:p>
            <a:pPr eaLnBrk="1" hangingPunct="1">
              <a:defRPr/>
            </a:pPr>
            <a:r>
              <a:rPr lang="en-US" sz="2800" dirty="0" smtClean="0">
                <a:latin typeface="Times New Roman" pitchFamily="18" charset="0"/>
              </a:rPr>
              <a:t>Validation of the System</a:t>
            </a:r>
          </a:p>
          <a:p>
            <a:pPr lvl="1" eaLnBrk="1" hangingPunct="1">
              <a:defRPr/>
            </a:pPr>
            <a:r>
              <a:rPr lang="en-US" sz="2400" dirty="0" smtClean="0">
                <a:latin typeface="Times New Roman" pitchFamily="18" charset="0"/>
              </a:rPr>
              <a:t>Review of the HACCP system and its records</a:t>
            </a:r>
          </a:p>
          <a:p>
            <a:pPr lvl="1" eaLnBrk="1" hangingPunct="1">
              <a:defRPr/>
            </a:pPr>
            <a:r>
              <a:rPr lang="en-US" sz="2400" dirty="0" smtClean="0">
                <a:latin typeface="Times New Roman" pitchFamily="18" charset="0"/>
              </a:rPr>
              <a:t>Validation of critical Limits</a:t>
            </a:r>
          </a:p>
          <a:p>
            <a:pPr lvl="1" eaLnBrk="1" hangingPunct="1">
              <a:defRPr/>
            </a:pPr>
            <a:r>
              <a:rPr lang="en-US" sz="2400" dirty="0" smtClean="0">
                <a:latin typeface="Times New Roman" pitchFamily="18" charset="0"/>
              </a:rPr>
              <a:t>Microbiological tests</a:t>
            </a:r>
          </a:p>
          <a:p>
            <a:pPr eaLnBrk="1" hangingPunct="1">
              <a:defRPr/>
            </a:pPr>
            <a:r>
              <a:rPr lang="en-US" sz="2400" dirty="0" smtClean="0">
                <a:latin typeface="Times New Roman" pitchFamily="18" charset="0"/>
              </a:rPr>
              <a:t>Verification confirms that a system is available and it is working</a:t>
            </a:r>
          </a:p>
          <a:p>
            <a:pPr eaLnBrk="1" hangingPunct="1">
              <a:defRPr/>
            </a:pPr>
            <a:r>
              <a:rPr lang="en-US" sz="2400" dirty="0" smtClean="0">
                <a:latin typeface="Times New Roman" pitchFamily="18" charset="0"/>
              </a:rPr>
              <a:t>A form of assessment/audit to identify weakness in the system, if any, before it becomes a failure.</a:t>
            </a:r>
          </a:p>
          <a:p>
            <a:pPr eaLnBrk="1" hangingPunct="1">
              <a:buFont typeface="Wingdings" pitchFamily="2" charset="2"/>
              <a:buNone/>
              <a:defRPr/>
            </a:pPr>
            <a:r>
              <a:rPr lang="en-US" sz="2400" dirty="0" smtClean="0">
                <a:latin typeface="Times New Roman" pitchFamily="18" charset="0"/>
              </a:rPr>
              <a:t>An effective HACCP system is to eliminate microbes from the food. A verification procedure to confirm this is subjecting the food product to microbiological testing.</a:t>
            </a:r>
          </a:p>
        </p:txBody>
      </p:sp>
      <p:sp>
        <p:nvSpPr>
          <p:cNvPr id="210946" name="Slide Number Placeholder 4"/>
          <p:cNvSpPr>
            <a:spLocks noGrp="1"/>
          </p:cNvSpPr>
          <p:nvPr>
            <p:ph type="sldNum" sz="quarter" idx="12"/>
          </p:nvPr>
        </p:nvSpPr>
        <p:spPr>
          <a:noFill/>
        </p:spPr>
        <p:txBody>
          <a:bodyPr/>
          <a:lstStyle/>
          <a:p>
            <a:fld id="{DA1727EE-F9E0-4F1A-AC1F-1F706B9037B3}" type="slidenum">
              <a:rPr lang="en-US"/>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Rot="1" noChangeArrowheads="1"/>
          </p:cNvSpPr>
          <p:nvPr>
            <p:ph type="title"/>
          </p:nvPr>
        </p:nvSpPr>
        <p:spPr/>
        <p:txBody>
          <a:bodyPr>
            <a:normAutofit fontScale="90000"/>
          </a:bodyPr>
          <a:lstStyle/>
          <a:p>
            <a:pPr eaLnBrk="1" hangingPunct="1">
              <a:defRPr/>
            </a:pPr>
            <a:r>
              <a:rPr lang="en-US" sz="4000" smtClean="0"/>
              <a:t/>
            </a:r>
            <a:br>
              <a:rPr lang="en-US" sz="4000" smtClean="0"/>
            </a:br>
            <a:r>
              <a:rPr lang="en-US" sz="3600" b="0" smtClean="0">
                <a:latin typeface="Times New Roman" pitchFamily="18" charset="0"/>
              </a:rPr>
              <a:t>Documentation of the system and maintaining records of results</a:t>
            </a:r>
            <a:br>
              <a:rPr lang="en-US" sz="3600" b="0" smtClean="0">
                <a:latin typeface="Times New Roman" pitchFamily="18" charset="0"/>
              </a:rPr>
            </a:br>
            <a:endParaRPr lang="en-US" sz="3600" b="0" smtClean="0">
              <a:latin typeface="Times New Roman" pitchFamily="18" charset="0"/>
            </a:endParaRPr>
          </a:p>
        </p:txBody>
      </p:sp>
      <p:sp>
        <p:nvSpPr>
          <p:cNvPr id="342019" name="Rectangle 3"/>
          <p:cNvSpPr>
            <a:spLocks noGrp="1" noChangeArrowheads="1"/>
          </p:cNvSpPr>
          <p:nvPr>
            <p:ph idx="1"/>
          </p:nvPr>
        </p:nvSpPr>
        <p:spPr>
          <a:xfrm>
            <a:off x="457200" y="1989138"/>
            <a:ext cx="8229600" cy="4137025"/>
          </a:xfrm>
        </p:spPr>
        <p:txBody>
          <a:bodyPr/>
          <a:lstStyle/>
          <a:p>
            <a:pPr eaLnBrk="1" hangingPunct="1">
              <a:defRPr/>
            </a:pPr>
            <a:r>
              <a:rPr lang="en-US" sz="2800" smtClean="0">
                <a:latin typeface="Times New Roman" pitchFamily="18" charset="0"/>
              </a:rPr>
              <a:t>Documentation should be in the form HACCP manual</a:t>
            </a:r>
          </a:p>
          <a:p>
            <a:pPr eaLnBrk="1" hangingPunct="1">
              <a:defRPr/>
            </a:pPr>
            <a:r>
              <a:rPr lang="en-US" sz="2800" smtClean="0">
                <a:latin typeface="Times New Roman" pitchFamily="18" charset="0"/>
              </a:rPr>
              <a:t>Records form objective evidence on the implementation of the system</a:t>
            </a:r>
          </a:p>
          <a:p>
            <a:pPr eaLnBrk="1" hangingPunct="1">
              <a:defRPr/>
            </a:pPr>
            <a:r>
              <a:rPr lang="en-US" sz="2800" b="1" smtClean="0">
                <a:latin typeface="Times New Roman" pitchFamily="18" charset="0"/>
              </a:rPr>
              <a:t>Records are important for:</a:t>
            </a:r>
          </a:p>
          <a:p>
            <a:pPr lvl="1" eaLnBrk="1" hangingPunct="1">
              <a:defRPr/>
            </a:pPr>
            <a:r>
              <a:rPr lang="en-US" smtClean="0">
                <a:latin typeface="Times New Roman" pitchFamily="18" charset="0"/>
              </a:rPr>
              <a:t>Internal audits</a:t>
            </a:r>
          </a:p>
          <a:p>
            <a:pPr lvl="1" eaLnBrk="1" hangingPunct="1">
              <a:defRPr/>
            </a:pPr>
            <a:r>
              <a:rPr lang="en-US" smtClean="0">
                <a:latin typeface="Times New Roman" pitchFamily="18" charset="0"/>
              </a:rPr>
              <a:t>External audits</a:t>
            </a:r>
          </a:p>
          <a:p>
            <a:pPr lvl="1" eaLnBrk="1" hangingPunct="1">
              <a:defRPr/>
            </a:pPr>
            <a:r>
              <a:rPr lang="en-US" smtClean="0">
                <a:latin typeface="Times New Roman" pitchFamily="18" charset="0"/>
              </a:rPr>
              <a:t>Cases of litigation</a:t>
            </a:r>
          </a:p>
        </p:txBody>
      </p:sp>
      <p:sp>
        <p:nvSpPr>
          <p:cNvPr id="211970" name="Slide Number Placeholder 4"/>
          <p:cNvSpPr>
            <a:spLocks noGrp="1"/>
          </p:cNvSpPr>
          <p:nvPr>
            <p:ph type="sldNum" sz="quarter" idx="12"/>
          </p:nvPr>
        </p:nvSpPr>
        <p:spPr>
          <a:noFill/>
        </p:spPr>
        <p:txBody>
          <a:bodyPr/>
          <a:lstStyle/>
          <a:p>
            <a:fld id="{C7E46A88-5F95-47F6-9748-E97763395F64}" type="slidenum">
              <a:rPr lang="en-US"/>
              <a:pPr/>
              <a:t>50</a:t>
            </a:fld>
            <a:endParaRPr lang="en-US"/>
          </a:p>
        </p:txBody>
      </p:sp>
    </p:spTree>
  </p:cSld>
  <p:clrMapOvr>
    <a:masterClrMapping/>
  </p:clrMapOvr>
  <p:transition advTm="120000"/>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Rot="1" noChangeArrowheads="1"/>
          </p:cNvSpPr>
          <p:nvPr>
            <p:ph type="title"/>
          </p:nvPr>
        </p:nvSpPr>
        <p:spPr/>
        <p:txBody>
          <a:bodyPr>
            <a:normAutofit fontScale="90000"/>
          </a:bodyPr>
          <a:lstStyle/>
          <a:p>
            <a:pPr eaLnBrk="1" hangingPunct="1">
              <a:defRPr/>
            </a:pPr>
            <a:r>
              <a:rPr lang="en-US" sz="4000" smtClean="0"/>
              <a:t/>
            </a:r>
            <a:br>
              <a:rPr lang="en-US" sz="4000" smtClean="0"/>
            </a:br>
            <a:r>
              <a:rPr lang="en-US" sz="4000" smtClean="0"/>
              <a:t> </a:t>
            </a:r>
            <a:r>
              <a:rPr lang="en-US" sz="3600" b="0" smtClean="0">
                <a:latin typeface="Times New Roman" pitchFamily="18" charset="0"/>
              </a:rPr>
              <a:t>Documentation and records keeping (1)</a:t>
            </a:r>
            <a:r>
              <a:rPr lang="en-US" sz="3600" smtClean="0">
                <a:latin typeface="Times New Roman" pitchFamily="18" charset="0"/>
              </a:rPr>
              <a:t> </a:t>
            </a:r>
          </a:p>
        </p:txBody>
      </p:sp>
      <p:sp>
        <p:nvSpPr>
          <p:cNvPr id="343043" name="Rectangle 3"/>
          <p:cNvSpPr>
            <a:spLocks noGrp="1" noChangeArrowheads="1"/>
          </p:cNvSpPr>
          <p:nvPr>
            <p:ph idx="1"/>
          </p:nvPr>
        </p:nvSpPr>
        <p:spPr>
          <a:xfrm>
            <a:off x="457200" y="1909763"/>
            <a:ext cx="8229600" cy="4216400"/>
          </a:xfrm>
        </p:spPr>
        <p:txBody>
          <a:bodyPr>
            <a:normAutofit lnSpcReduction="10000"/>
          </a:bodyPr>
          <a:lstStyle/>
          <a:p>
            <a:pPr eaLnBrk="1" hangingPunct="1">
              <a:buFont typeface="Wingdings" pitchFamily="2" charset="2"/>
              <a:buNone/>
              <a:defRPr/>
            </a:pPr>
            <a:r>
              <a:rPr lang="en-US" sz="2800" b="1" dirty="0" smtClean="0">
                <a:latin typeface="Times New Roman" pitchFamily="18" charset="0"/>
              </a:rPr>
              <a:t>Documents will include:-</a:t>
            </a:r>
          </a:p>
          <a:p>
            <a:pPr eaLnBrk="1" hangingPunct="1">
              <a:defRPr/>
            </a:pPr>
            <a:r>
              <a:rPr lang="en-US" sz="2800" dirty="0" smtClean="0">
                <a:latin typeface="Times New Roman" pitchFamily="18" charset="0"/>
              </a:rPr>
              <a:t>Food ingredient and materials specification</a:t>
            </a:r>
          </a:p>
          <a:p>
            <a:pPr eaLnBrk="1" hangingPunct="1">
              <a:defRPr/>
            </a:pPr>
            <a:r>
              <a:rPr lang="en-US" sz="2800" dirty="0" smtClean="0">
                <a:latin typeface="Times New Roman" pitchFamily="18" charset="0"/>
              </a:rPr>
              <a:t>Plan of the production facility in relation to production processes</a:t>
            </a:r>
          </a:p>
          <a:p>
            <a:pPr eaLnBrk="1" hangingPunct="1">
              <a:defRPr/>
            </a:pPr>
            <a:r>
              <a:rPr lang="en-US" sz="2800" dirty="0" smtClean="0">
                <a:latin typeface="Times New Roman" pitchFamily="18" charset="0"/>
              </a:rPr>
              <a:t>Production flow diagram</a:t>
            </a:r>
          </a:p>
          <a:p>
            <a:pPr eaLnBrk="1" hangingPunct="1">
              <a:defRPr/>
            </a:pPr>
            <a:r>
              <a:rPr lang="en-US" sz="2800" dirty="0" smtClean="0">
                <a:latin typeface="Times New Roman" pitchFamily="18" charset="0"/>
              </a:rPr>
              <a:t>HACCP plan</a:t>
            </a:r>
          </a:p>
          <a:p>
            <a:pPr eaLnBrk="1" hangingPunct="1">
              <a:defRPr/>
            </a:pPr>
            <a:r>
              <a:rPr lang="en-US" sz="2800" dirty="0" smtClean="0">
                <a:latin typeface="Times New Roman" pitchFamily="18" charset="0"/>
              </a:rPr>
              <a:t>Procedures and work instructions for CCPs in HACCP plan</a:t>
            </a:r>
          </a:p>
          <a:p>
            <a:pPr eaLnBrk="1" hangingPunct="1">
              <a:defRPr/>
            </a:pPr>
            <a:r>
              <a:rPr lang="en-US" sz="2800" dirty="0" smtClean="0">
                <a:latin typeface="Times New Roman" pitchFamily="18" charset="0"/>
              </a:rPr>
              <a:t>HACCP records</a:t>
            </a:r>
          </a:p>
        </p:txBody>
      </p:sp>
      <p:sp>
        <p:nvSpPr>
          <p:cNvPr id="212994" name="Slide Number Placeholder 4"/>
          <p:cNvSpPr>
            <a:spLocks noGrp="1"/>
          </p:cNvSpPr>
          <p:nvPr>
            <p:ph type="sldNum" sz="quarter" idx="12"/>
          </p:nvPr>
        </p:nvSpPr>
        <p:spPr>
          <a:noFill/>
        </p:spPr>
        <p:txBody>
          <a:bodyPr/>
          <a:lstStyle/>
          <a:p>
            <a:fld id="{9B733F4D-9EE3-424E-8DA3-96BF345B676F}" type="slidenum">
              <a:rPr lang="en-US"/>
              <a:pPr/>
              <a:t>51</a:t>
            </a:fld>
            <a:endParaRPr lang="en-US"/>
          </a:p>
        </p:txBody>
      </p:sp>
    </p:spTree>
  </p:cSld>
  <p:clrMapOvr>
    <a:masterClrMapping/>
  </p:clrMapOvr>
  <p:transition advTm="120000"/>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Rot="1" noChangeArrowheads="1"/>
          </p:cNvSpPr>
          <p:nvPr>
            <p:ph type="title"/>
          </p:nvPr>
        </p:nvSpPr>
        <p:spPr/>
        <p:txBody>
          <a:bodyPr/>
          <a:lstStyle/>
          <a:p>
            <a:pPr eaLnBrk="1" hangingPunct="1">
              <a:defRPr/>
            </a:pPr>
            <a:r>
              <a:rPr lang="en-US" sz="3600" b="0" smtClean="0">
                <a:latin typeface="Times New Roman" pitchFamily="18" charset="0"/>
              </a:rPr>
              <a:t>Documentation and records keeping (2)</a:t>
            </a:r>
          </a:p>
        </p:txBody>
      </p:sp>
      <p:sp>
        <p:nvSpPr>
          <p:cNvPr id="344067" name="Rectangle 3"/>
          <p:cNvSpPr>
            <a:spLocks noGrp="1" noChangeArrowheads="1"/>
          </p:cNvSpPr>
          <p:nvPr>
            <p:ph idx="1"/>
          </p:nvPr>
        </p:nvSpPr>
        <p:spPr>
          <a:xfrm>
            <a:off x="457200" y="1830388"/>
            <a:ext cx="8229600" cy="4295775"/>
          </a:xfrm>
        </p:spPr>
        <p:txBody>
          <a:bodyPr/>
          <a:lstStyle/>
          <a:p>
            <a:pPr eaLnBrk="1" hangingPunct="1">
              <a:buFont typeface="Wingdings" pitchFamily="2" charset="2"/>
              <a:buNone/>
              <a:defRPr/>
            </a:pPr>
            <a:r>
              <a:rPr lang="en-US" sz="2400" b="1" smtClean="0"/>
              <a:t>Supporting documentation</a:t>
            </a:r>
          </a:p>
          <a:p>
            <a:pPr eaLnBrk="1" hangingPunct="1">
              <a:defRPr/>
            </a:pPr>
            <a:r>
              <a:rPr lang="en-US" sz="2400" smtClean="0"/>
              <a:t>Cleaning Schedules</a:t>
            </a:r>
          </a:p>
          <a:p>
            <a:pPr eaLnBrk="1" hangingPunct="1">
              <a:defRPr/>
            </a:pPr>
            <a:r>
              <a:rPr lang="en-US" sz="2400" smtClean="0"/>
              <a:t>Training records of all personnel</a:t>
            </a:r>
          </a:p>
          <a:p>
            <a:pPr eaLnBrk="1" hangingPunct="1">
              <a:defRPr/>
            </a:pPr>
            <a:r>
              <a:rPr lang="en-US" sz="2400" smtClean="0"/>
              <a:t>Calibration records and certificates</a:t>
            </a:r>
          </a:p>
          <a:p>
            <a:pPr eaLnBrk="1" hangingPunct="1">
              <a:defRPr/>
            </a:pPr>
            <a:r>
              <a:rPr lang="en-US" sz="2400" smtClean="0"/>
              <a:t>Pest policy</a:t>
            </a:r>
          </a:p>
          <a:p>
            <a:pPr eaLnBrk="1" hangingPunct="1">
              <a:defRPr/>
            </a:pPr>
            <a:r>
              <a:rPr lang="en-US" sz="2400" smtClean="0"/>
              <a:t>Glass policy</a:t>
            </a:r>
          </a:p>
          <a:p>
            <a:pPr eaLnBrk="1" hangingPunct="1">
              <a:defRPr/>
            </a:pPr>
            <a:r>
              <a:rPr lang="en-US" sz="2400" smtClean="0"/>
              <a:t>Metal policy</a:t>
            </a:r>
          </a:p>
        </p:txBody>
      </p:sp>
      <p:sp>
        <p:nvSpPr>
          <p:cNvPr id="214018" name="Slide Number Placeholder 4"/>
          <p:cNvSpPr>
            <a:spLocks noGrp="1"/>
          </p:cNvSpPr>
          <p:nvPr>
            <p:ph type="sldNum" sz="quarter" idx="12"/>
          </p:nvPr>
        </p:nvSpPr>
        <p:spPr>
          <a:noFill/>
        </p:spPr>
        <p:txBody>
          <a:bodyPr/>
          <a:lstStyle/>
          <a:p>
            <a:fld id="{9F685DA1-D77F-4301-BB7A-928B2FED6379}" type="slidenum">
              <a:rPr lang="en-US"/>
              <a:pPr/>
              <a:t>52</a:t>
            </a:fld>
            <a:endParaRPr lang="en-US"/>
          </a:p>
        </p:txBody>
      </p:sp>
    </p:spTree>
  </p:cSld>
  <p:clrMapOvr>
    <a:masterClrMapping/>
  </p:clrMapOvr>
  <p:transition advTm="120000"/>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Rot="1" noChangeArrowheads="1"/>
          </p:cNvSpPr>
          <p:nvPr>
            <p:ph type="title"/>
          </p:nvPr>
        </p:nvSpPr>
        <p:spPr/>
        <p:txBody>
          <a:bodyPr/>
          <a:lstStyle/>
          <a:p>
            <a:pPr eaLnBrk="1" hangingPunct="1">
              <a:defRPr/>
            </a:pPr>
            <a:r>
              <a:rPr lang="en-US" sz="3600" b="0" smtClean="0">
                <a:latin typeface="Times New Roman" pitchFamily="18" charset="0"/>
              </a:rPr>
              <a:t>Documentation and records keeping (3)</a:t>
            </a:r>
          </a:p>
        </p:txBody>
      </p:sp>
      <p:sp>
        <p:nvSpPr>
          <p:cNvPr id="345091" name="Rectangle 3"/>
          <p:cNvSpPr>
            <a:spLocks noGrp="1" noChangeArrowheads="1"/>
          </p:cNvSpPr>
          <p:nvPr>
            <p:ph idx="1"/>
          </p:nvPr>
        </p:nvSpPr>
        <p:spPr>
          <a:xfrm>
            <a:off x="457200" y="1752600"/>
            <a:ext cx="8229600" cy="4800600"/>
          </a:xfrm>
        </p:spPr>
        <p:txBody>
          <a:bodyPr/>
          <a:lstStyle/>
          <a:p>
            <a:pPr eaLnBrk="1" hangingPunct="1">
              <a:lnSpc>
                <a:spcPct val="90000"/>
              </a:lnSpc>
              <a:buFont typeface="Wingdings" pitchFamily="2" charset="2"/>
              <a:buNone/>
              <a:defRPr/>
            </a:pPr>
            <a:r>
              <a:rPr lang="en-US" sz="2800" smtClean="0">
                <a:latin typeface="Times New Roman" pitchFamily="18" charset="0"/>
              </a:rPr>
              <a:t>HACCP Records</a:t>
            </a:r>
          </a:p>
          <a:p>
            <a:pPr eaLnBrk="1" hangingPunct="1">
              <a:lnSpc>
                <a:spcPct val="90000"/>
              </a:lnSpc>
              <a:defRPr/>
            </a:pPr>
            <a:r>
              <a:rPr lang="en-US" sz="2800" smtClean="0">
                <a:latin typeface="Times New Roman" pitchFamily="18" charset="0"/>
              </a:rPr>
              <a:t>Critical food ingredients test records</a:t>
            </a:r>
          </a:p>
          <a:p>
            <a:pPr eaLnBrk="1" hangingPunct="1">
              <a:lnSpc>
                <a:spcPct val="90000"/>
              </a:lnSpc>
              <a:defRPr/>
            </a:pPr>
            <a:r>
              <a:rPr lang="en-US" sz="2800" smtClean="0">
                <a:latin typeface="Times New Roman" pitchFamily="18" charset="0"/>
              </a:rPr>
              <a:t>Cooking records</a:t>
            </a:r>
          </a:p>
          <a:p>
            <a:pPr eaLnBrk="1" hangingPunct="1">
              <a:lnSpc>
                <a:spcPct val="90000"/>
              </a:lnSpc>
              <a:defRPr/>
            </a:pPr>
            <a:r>
              <a:rPr lang="en-US" sz="2800" smtClean="0">
                <a:latin typeface="Times New Roman" pitchFamily="18" charset="0"/>
              </a:rPr>
              <a:t>Cleaning and disinfection records</a:t>
            </a:r>
          </a:p>
          <a:p>
            <a:pPr eaLnBrk="1" hangingPunct="1">
              <a:lnSpc>
                <a:spcPct val="90000"/>
              </a:lnSpc>
              <a:defRPr/>
            </a:pPr>
            <a:r>
              <a:rPr lang="en-US" sz="2800" smtClean="0">
                <a:latin typeface="Times New Roman" pitchFamily="18" charset="0"/>
              </a:rPr>
              <a:t>Cooking deviation records</a:t>
            </a:r>
          </a:p>
          <a:p>
            <a:pPr eaLnBrk="1" hangingPunct="1">
              <a:lnSpc>
                <a:spcPct val="90000"/>
              </a:lnSpc>
              <a:defRPr/>
            </a:pPr>
            <a:r>
              <a:rPr lang="en-US" sz="2800" smtClean="0">
                <a:latin typeface="Times New Roman" pitchFamily="18" charset="0"/>
              </a:rPr>
              <a:t>Corrective action and disposal records</a:t>
            </a:r>
          </a:p>
          <a:p>
            <a:pPr eaLnBrk="1" hangingPunct="1">
              <a:lnSpc>
                <a:spcPct val="90000"/>
              </a:lnSpc>
              <a:defRPr/>
            </a:pPr>
            <a:r>
              <a:rPr lang="en-US" sz="2800" smtClean="0">
                <a:latin typeface="Times New Roman" pitchFamily="18" charset="0"/>
              </a:rPr>
              <a:t>Details of HACCP audits, including non-compliances and corrective actions</a:t>
            </a:r>
          </a:p>
          <a:p>
            <a:pPr eaLnBrk="1" hangingPunct="1">
              <a:lnSpc>
                <a:spcPct val="90000"/>
              </a:lnSpc>
              <a:defRPr/>
            </a:pPr>
            <a:r>
              <a:rPr lang="en-US" sz="2800" smtClean="0">
                <a:latin typeface="Times New Roman" pitchFamily="18" charset="0"/>
              </a:rPr>
              <a:t>Process verification data</a:t>
            </a:r>
          </a:p>
          <a:p>
            <a:pPr eaLnBrk="1" hangingPunct="1">
              <a:lnSpc>
                <a:spcPct val="90000"/>
              </a:lnSpc>
              <a:defRPr/>
            </a:pPr>
            <a:endParaRPr lang="en-US" sz="2800" smtClean="0">
              <a:latin typeface="Times New Roman" pitchFamily="18" charset="0"/>
            </a:endParaRPr>
          </a:p>
          <a:p>
            <a:pPr eaLnBrk="1" hangingPunct="1">
              <a:lnSpc>
                <a:spcPct val="90000"/>
              </a:lnSpc>
              <a:defRPr/>
            </a:pPr>
            <a:endParaRPr lang="en-US" smtClean="0"/>
          </a:p>
        </p:txBody>
      </p:sp>
      <p:sp>
        <p:nvSpPr>
          <p:cNvPr id="215042" name="Slide Number Placeholder 4"/>
          <p:cNvSpPr>
            <a:spLocks noGrp="1"/>
          </p:cNvSpPr>
          <p:nvPr>
            <p:ph type="sldNum" sz="quarter" idx="12"/>
          </p:nvPr>
        </p:nvSpPr>
        <p:spPr>
          <a:noFill/>
        </p:spPr>
        <p:txBody>
          <a:bodyPr/>
          <a:lstStyle/>
          <a:p>
            <a:fld id="{04B6A13D-11D3-4CF0-BE32-1878B956EE34}" type="slidenum">
              <a:rPr lang="en-US"/>
              <a:pPr/>
              <a:t>53</a:t>
            </a:fld>
            <a:endParaRPr lang="en-US"/>
          </a:p>
        </p:txBody>
      </p:sp>
    </p:spTree>
  </p:cSld>
  <p:clrMapOvr>
    <a:masterClrMapping/>
  </p:clrMapOvr>
  <p:transition advTm="120000"/>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2" name="Rectangle 4"/>
          <p:cNvSpPr>
            <a:spLocks noGrp="1" noRot="1" noChangeArrowheads="1"/>
          </p:cNvSpPr>
          <p:nvPr>
            <p:ph type="title"/>
          </p:nvPr>
        </p:nvSpPr>
        <p:spPr>
          <a:xfrm>
            <a:off x="762000" y="1295400"/>
            <a:ext cx="7848600" cy="3429000"/>
          </a:xfrm>
        </p:spPr>
        <p:txBody>
          <a:bodyPr/>
          <a:lstStyle/>
          <a:p>
            <a:pPr eaLnBrk="1" hangingPunct="1">
              <a:defRPr/>
            </a:pPr>
            <a:r>
              <a:rPr lang="en-US" sz="3600" b="0" smtClean="0"/>
              <a:t>Implementation of a HACCP System and Internal Audit Protocols</a:t>
            </a:r>
            <a:br>
              <a:rPr lang="en-US" sz="3600" b="0" smtClean="0"/>
            </a:br>
            <a:r>
              <a:rPr lang="en-US" sz="3600" b="0" smtClean="0"/>
              <a:t>for the Food Service Industry</a:t>
            </a:r>
          </a:p>
        </p:txBody>
      </p:sp>
      <p:sp>
        <p:nvSpPr>
          <p:cNvPr id="216066" name="Slide Number Placeholder 3"/>
          <p:cNvSpPr>
            <a:spLocks noGrp="1"/>
          </p:cNvSpPr>
          <p:nvPr>
            <p:ph type="sldNum" sz="quarter" idx="12"/>
          </p:nvPr>
        </p:nvSpPr>
        <p:spPr>
          <a:noFill/>
        </p:spPr>
        <p:txBody>
          <a:bodyPr/>
          <a:lstStyle/>
          <a:p>
            <a:fld id="{2ACF48C1-EC2A-4D4F-B967-30A78E38FD6B}" type="slidenum">
              <a:rPr lang="en-US"/>
              <a:pPr/>
              <a:t>54</a:t>
            </a:fld>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Rot="1" noChangeArrowheads="1"/>
          </p:cNvSpPr>
          <p:nvPr>
            <p:ph type="title"/>
          </p:nvPr>
        </p:nvSpPr>
        <p:spPr/>
        <p:txBody>
          <a:bodyPr>
            <a:normAutofit/>
          </a:bodyPr>
          <a:lstStyle/>
          <a:p>
            <a:pPr eaLnBrk="1" hangingPunct="1">
              <a:defRPr/>
            </a:pPr>
            <a:r>
              <a:rPr lang="en-US" sz="3600" b="0" smtClean="0">
                <a:latin typeface="Times New Roman" pitchFamily="18" charset="0"/>
              </a:rPr>
              <a:t>Guidelines for the implementation of HACCP (1)</a:t>
            </a:r>
          </a:p>
        </p:txBody>
      </p:sp>
      <p:sp>
        <p:nvSpPr>
          <p:cNvPr id="346115" name="Rectangle 3"/>
          <p:cNvSpPr>
            <a:spLocks noGrp="1" noChangeArrowheads="1"/>
          </p:cNvSpPr>
          <p:nvPr>
            <p:ph idx="1"/>
          </p:nvPr>
        </p:nvSpPr>
        <p:spPr/>
        <p:txBody>
          <a:bodyPr/>
          <a:lstStyle/>
          <a:p>
            <a:pPr eaLnBrk="1" hangingPunct="1">
              <a:lnSpc>
                <a:spcPct val="90000"/>
              </a:lnSpc>
              <a:defRPr/>
            </a:pPr>
            <a:r>
              <a:rPr lang="en-US" sz="2800" dirty="0" smtClean="0">
                <a:latin typeface="Times New Roman" pitchFamily="18" charset="0"/>
              </a:rPr>
              <a:t>Prior to application of HACCP there is the need to improve on existing PRPs</a:t>
            </a:r>
          </a:p>
          <a:p>
            <a:pPr eaLnBrk="1" hangingPunct="1">
              <a:lnSpc>
                <a:spcPct val="90000"/>
              </a:lnSpc>
              <a:defRPr/>
            </a:pPr>
            <a:r>
              <a:rPr lang="en-US" sz="2800" dirty="0" smtClean="0">
                <a:latin typeface="Times New Roman" pitchFamily="18" charset="0"/>
              </a:rPr>
              <a:t>Management must be committed for the success of the </a:t>
            </a:r>
            <a:r>
              <a:rPr lang="en-US" sz="2800" dirty="0" err="1" smtClean="0">
                <a:latin typeface="Times New Roman" pitchFamily="18" charset="0"/>
              </a:rPr>
              <a:t>programme</a:t>
            </a:r>
            <a:endParaRPr lang="en-US" sz="2800" dirty="0" smtClean="0">
              <a:latin typeface="Times New Roman" pitchFamily="18" charset="0"/>
            </a:endParaRPr>
          </a:p>
          <a:p>
            <a:pPr eaLnBrk="1" hangingPunct="1">
              <a:lnSpc>
                <a:spcPct val="90000"/>
              </a:lnSpc>
              <a:defRPr/>
            </a:pPr>
            <a:r>
              <a:rPr lang="en-US" sz="2800" dirty="0" smtClean="0">
                <a:latin typeface="Times New Roman" pitchFamily="18" charset="0"/>
              </a:rPr>
              <a:t>The following must be considered during hazard identification and evaluation; impact of food ingredients, role of production process to control hazard, categories of consumers of concern etc.</a:t>
            </a:r>
          </a:p>
        </p:txBody>
      </p:sp>
      <p:sp>
        <p:nvSpPr>
          <p:cNvPr id="217090" name="Slide Number Placeholder 4"/>
          <p:cNvSpPr>
            <a:spLocks noGrp="1"/>
          </p:cNvSpPr>
          <p:nvPr>
            <p:ph type="sldNum" sz="quarter" idx="12"/>
          </p:nvPr>
        </p:nvSpPr>
        <p:spPr>
          <a:noFill/>
        </p:spPr>
        <p:txBody>
          <a:bodyPr/>
          <a:lstStyle/>
          <a:p>
            <a:fld id="{6808A020-0979-4042-99A6-116A22730419}" type="slidenum">
              <a:rPr lang="en-US"/>
              <a:pPr/>
              <a:t>55</a:t>
            </a:fld>
            <a:endParaRPr lang="en-US"/>
          </a:p>
        </p:txBody>
      </p:sp>
    </p:spTree>
  </p:cSld>
  <p:clrMapOvr>
    <a:masterClrMapping/>
  </p:clrMapOvr>
  <p:transition advTm="120000"/>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Rot="1" noChangeArrowheads="1"/>
          </p:cNvSpPr>
          <p:nvPr>
            <p:ph type="title"/>
          </p:nvPr>
        </p:nvSpPr>
        <p:spPr/>
        <p:txBody>
          <a:bodyPr>
            <a:normAutofit/>
          </a:bodyPr>
          <a:lstStyle/>
          <a:p>
            <a:pPr eaLnBrk="1" hangingPunct="1">
              <a:defRPr/>
            </a:pPr>
            <a:r>
              <a:rPr lang="en-US" sz="3600" b="0" smtClean="0">
                <a:latin typeface="Times New Roman" pitchFamily="18" charset="0"/>
              </a:rPr>
              <a:t>Guidelines for the implementation of HACCP (2)</a:t>
            </a:r>
          </a:p>
        </p:txBody>
      </p:sp>
      <p:sp>
        <p:nvSpPr>
          <p:cNvPr id="347139" name="Rectangle 3"/>
          <p:cNvSpPr>
            <a:spLocks noGrp="1" noChangeArrowheads="1"/>
          </p:cNvSpPr>
          <p:nvPr>
            <p:ph idx="1"/>
          </p:nvPr>
        </p:nvSpPr>
        <p:spPr/>
        <p:txBody>
          <a:bodyPr/>
          <a:lstStyle/>
          <a:p>
            <a:pPr eaLnBrk="1" hangingPunct="1">
              <a:defRPr/>
            </a:pPr>
            <a:r>
              <a:rPr lang="en-US" sz="2800" dirty="0" smtClean="0">
                <a:latin typeface="Times New Roman" pitchFamily="18" charset="0"/>
              </a:rPr>
              <a:t>HACCP should be applied to each specific operation separately. </a:t>
            </a:r>
          </a:p>
          <a:p>
            <a:pPr eaLnBrk="1" hangingPunct="1">
              <a:defRPr/>
            </a:pPr>
            <a:r>
              <a:rPr lang="en-US" sz="2800" dirty="0" smtClean="0">
                <a:latin typeface="Times New Roman" pitchFamily="18" charset="0"/>
              </a:rPr>
              <a:t>The HACCP application should be reviewed and necessary changes made when any modification is made in the product, production process, or any step.</a:t>
            </a:r>
          </a:p>
          <a:p>
            <a:pPr eaLnBrk="1" hangingPunct="1">
              <a:defRPr/>
            </a:pPr>
            <a:endParaRPr lang="en-US" sz="2800" dirty="0" smtClean="0">
              <a:latin typeface="Times New Roman" pitchFamily="18" charset="0"/>
            </a:endParaRPr>
          </a:p>
        </p:txBody>
      </p:sp>
      <p:sp>
        <p:nvSpPr>
          <p:cNvPr id="218114" name="Slide Number Placeholder 4"/>
          <p:cNvSpPr>
            <a:spLocks noGrp="1"/>
          </p:cNvSpPr>
          <p:nvPr>
            <p:ph type="sldNum" sz="quarter" idx="12"/>
          </p:nvPr>
        </p:nvSpPr>
        <p:spPr>
          <a:noFill/>
        </p:spPr>
        <p:txBody>
          <a:bodyPr/>
          <a:lstStyle/>
          <a:p>
            <a:fld id="{BF954BF3-E9E3-40F3-825D-CFC2017C75A3}" type="slidenum">
              <a:rPr lang="en-US"/>
              <a:pPr/>
              <a:t>56</a:t>
            </a:fld>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2"/>
          <p:cNvSpPr>
            <a:spLocks noGrp="1" noRot="1" noChangeArrowheads="1"/>
          </p:cNvSpPr>
          <p:nvPr>
            <p:ph type="title"/>
          </p:nvPr>
        </p:nvSpPr>
        <p:spPr>
          <a:xfrm>
            <a:off x="457200" y="228600"/>
            <a:ext cx="8229600" cy="1189038"/>
          </a:xfrm>
        </p:spPr>
        <p:txBody>
          <a:bodyPr>
            <a:normAutofit fontScale="90000"/>
          </a:bodyPr>
          <a:lstStyle/>
          <a:p>
            <a:pPr eaLnBrk="1" hangingPunct="1">
              <a:defRPr/>
            </a:pPr>
            <a:r>
              <a:rPr lang="en-US" sz="4000" smtClean="0"/>
              <a:t/>
            </a:r>
            <a:br>
              <a:rPr lang="en-US" sz="4000" smtClean="0"/>
            </a:br>
            <a:r>
              <a:rPr lang="en-US" sz="3600" b="0" smtClean="0">
                <a:latin typeface="Times New Roman" pitchFamily="18" charset="0"/>
              </a:rPr>
              <a:t>Logic sequence for the implementation of HACCP(1)</a:t>
            </a:r>
            <a:br>
              <a:rPr lang="en-US" sz="3600" b="0" smtClean="0">
                <a:latin typeface="Times New Roman" pitchFamily="18" charset="0"/>
              </a:rPr>
            </a:br>
            <a:endParaRPr lang="en-US" sz="3600" b="0" smtClean="0">
              <a:latin typeface="Times New Roman" pitchFamily="18" charset="0"/>
            </a:endParaRPr>
          </a:p>
        </p:txBody>
      </p:sp>
      <p:sp>
        <p:nvSpPr>
          <p:cNvPr id="348163" name="Rectangle 3"/>
          <p:cNvSpPr>
            <a:spLocks noGrp="1" noChangeArrowheads="1"/>
          </p:cNvSpPr>
          <p:nvPr>
            <p:ph idx="1"/>
          </p:nvPr>
        </p:nvSpPr>
        <p:spPr>
          <a:xfrm>
            <a:off x="228600" y="1844675"/>
            <a:ext cx="8610600" cy="4281488"/>
          </a:xfrm>
        </p:spPr>
        <p:txBody>
          <a:bodyPr/>
          <a:lstStyle/>
          <a:p>
            <a:pPr marL="609600" indent="-609600" eaLnBrk="1" hangingPunct="1">
              <a:buFont typeface="Wingdings" pitchFamily="2" charset="2"/>
              <a:buNone/>
              <a:defRPr/>
            </a:pPr>
            <a:r>
              <a:rPr lang="en-US" sz="2800" b="1" dirty="0" smtClean="0">
                <a:latin typeface="Times New Roman" pitchFamily="18" charset="0"/>
              </a:rPr>
              <a:t>The implementation of the HACCP principles consists of the following tasks;</a:t>
            </a:r>
          </a:p>
          <a:p>
            <a:pPr marL="609600" indent="-609600" eaLnBrk="1" hangingPunct="1">
              <a:buFontTx/>
              <a:buAutoNum type="arabicPeriod"/>
              <a:defRPr/>
            </a:pPr>
            <a:r>
              <a:rPr lang="en-US" sz="2800" dirty="0" smtClean="0">
                <a:latin typeface="Times New Roman" pitchFamily="18" charset="0"/>
              </a:rPr>
              <a:t>Assemble HACCP Team</a:t>
            </a:r>
          </a:p>
          <a:p>
            <a:pPr marL="609600" indent="-609600" eaLnBrk="1" hangingPunct="1">
              <a:buFontTx/>
              <a:buAutoNum type="arabicPeriod"/>
              <a:defRPr/>
            </a:pPr>
            <a:r>
              <a:rPr lang="en-US" sz="2800" dirty="0" smtClean="0">
                <a:latin typeface="Times New Roman" pitchFamily="18" charset="0"/>
              </a:rPr>
              <a:t>Describe  Food product</a:t>
            </a:r>
          </a:p>
          <a:p>
            <a:pPr marL="609600" indent="-609600" eaLnBrk="1" hangingPunct="1">
              <a:buFontTx/>
              <a:buAutoNum type="arabicPeriod"/>
              <a:defRPr/>
            </a:pPr>
            <a:r>
              <a:rPr lang="en-US" sz="2800" dirty="0" smtClean="0">
                <a:latin typeface="Times New Roman" pitchFamily="18" charset="0"/>
              </a:rPr>
              <a:t>Identify Intended Use</a:t>
            </a:r>
          </a:p>
          <a:p>
            <a:pPr marL="609600" indent="-609600" eaLnBrk="1" hangingPunct="1">
              <a:buFontTx/>
              <a:buAutoNum type="arabicPeriod"/>
              <a:defRPr/>
            </a:pPr>
            <a:r>
              <a:rPr lang="en-US" sz="2800" dirty="0" smtClean="0">
                <a:latin typeface="Times New Roman" pitchFamily="18" charset="0"/>
              </a:rPr>
              <a:t>Construct Flow Diagram</a:t>
            </a:r>
          </a:p>
          <a:p>
            <a:pPr marL="609600" indent="-609600" eaLnBrk="1" hangingPunct="1">
              <a:buFontTx/>
              <a:buAutoNum type="arabicPeriod"/>
              <a:defRPr/>
            </a:pPr>
            <a:r>
              <a:rPr lang="en-US" sz="2800" dirty="0" smtClean="0">
                <a:latin typeface="Times New Roman" pitchFamily="18" charset="0"/>
              </a:rPr>
              <a:t>On-site Confirmation of Flow Diagram (Walk the production line)</a:t>
            </a:r>
          </a:p>
        </p:txBody>
      </p:sp>
      <p:sp>
        <p:nvSpPr>
          <p:cNvPr id="219138" name="Slide Number Placeholder 4"/>
          <p:cNvSpPr>
            <a:spLocks noGrp="1"/>
          </p:cNvSpPr>
          <p:nvPr>
            <p:ph type="sldNum" sz="quarter" idx="12"/>
          </p:nvPr>
        </p:nvSpPr>
        <p:spPr>
          <a:noFill/>
        </p:spPr>
        <p:txBody>
          <a:bodyPr/>
          <a:lstStyle/>
          <a:p>
            <a:fld id="{9B3729A3-5B33-42C8-A9FA-B6AD560B436C}" type="slidenum">
              <a:rPr lang="en-US"/>
              <a:pPr/>
              <a:t>57</a:t>
            </a:fld>
            <a:endParaRPr lang="en-US"/>
          </a:p>
        </p:txBody>
      </p:sp>
    </p:spTree>
  </p:cSld>
  <p:clrMapOvr>
    <a:masterClrMapping/>
  </p:clrMapOvr>
  <p:transition advTm="120000"/>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p:cNvSpPr>
            <a:spLocks noGrp="1" noRot="1" noChangeArrowheads="1"/>
          </p:cNvSpPr>
          <p:nvPr>
            <p:ph type="title"/>
          </p:nvPr>
        </p:nvSpPr>
        <p:spPr/>
        <p:txBody>
          <a:bodyPr>
            <a:normAutofit fontScale="90000"/>
          </a:bodyPr>
          <a:lstStyle/>
          <a:p>
            <a:pPr eaLnBrk="1" hangingPunct="1">
              <a:defRPr/>
            </a:pPr>
            <a:r>
              <a:rPr lang="en-US" sz="3600" smtClean="0">
                <a:latin typeface="Times New Roman" pitchFamily="18" charset="0"/>
              </a:rPr>
              <a:t/>
            </a:r>
            <a:br>
              <a:rPr lang="en-US" sz="3600" smtClean="0">
                <a:latin typeface="Times New Roman" pitchFamily="18" charset="0"/>
              </a:rPr>
            </a:br>
            <a:r>
              <a:rPr lang="en-US" sz="3600" b="0" smtClean="0">
                <a:latin typeface="Times New Roman" pitchFamily="18" charset="0"/>
              </a:rPr>
              <a:t>Logic sequence for the implementation of HACCP(2)</a:t>
            </a:r>
            <a:br>
              <a:rPr lang="en-US" sz="3600" b="0" smtClean="0">
                <a:latin typeface="Times New Roman" pitchFamily="18" charset="0"/>
              </a:rPr>
            </a:br>
            <a:endParaRPr lang="en-US" sz="3600" b="0" smtClean="0">
              <a:latin typeface="Times New Roman" pitchFamily="18" charset="0"/>
            </a:endParaRPr>
          </a:p>
        </p:txBody>
      </p:sp>
      <p:sp>
        <p:nvSpPr>
          <p:cNvPr id="349187" name="Rectangle 3"/>
          <p:cNvSpPr>
            <a:spLocks noGrp="1" noChangeArrowheads="1"/>
          </p:cNvSpPr>
          <p:nvPr>
            <p:ph idx="1"/>
          </p:nvPr>
        </p:nvSpPr>
        <p:spPr>
          <a:xfrm>
            <a:off x="323850" y="1844675"/>
            <a:ext cx="8424863" cy="4281488"/>
          </a:xfrm>
        </p:spPr>
        <p:txBody>
          <a:bodyPr/>
          <a:lstStyle/>
          <a:p>
            <a:pPr marL="609600" indent="-609600" eaLnBrk="1" hangingPunct="1">
              <a:buFont typeface="Wingdings" pitchFamily="2" charset="2"/>
              <a:buNone/>
              <a:defRPr/>
            </a:pPr>
            <a:r>
              <a:rPr lang="en-US" sz="2400" smtClean="0"/>
              <a:t>6. </a:t>
            </a:r>
            <a:r>
              <a:rPr lang="en-US" sz="2800" smtClean="0">
                <a:latin typeface="Times New Roman" pitchFamily="18" charset="0"/>
              </a:rPr>
              <a:t>List all Potential Hazards/Conduct a Hazard</a:t>
            </a:r>
          </a:p>
          <a:p>
            <a:pPr marL="609600" indent="-609600" eaLnBrk="1" hangingPunct="1">
              <a:buFont typeface="Wingdings" pitchFamily="2" charset="2"/>
              <a:buNone/>
              <a:defRPr/>
            </a:pPr>
            <a:r>
              <a:rPr lang="en-US" sz="2800" smtClean="0">
                <a:latin typeface="Times New Roman" pitchFamily="18" charset="0"/>
              </a:rPr>
              <a:t>Analysis/Consider Control Measures – </a:t>
            </a:r>
            <a:r>
              <a:rPr lang="en-US" sz="2800" b="1" smtClean="0">
                <a:latin typeface="Times New Roman" pitchFamily="18" charset="0"/>
              </a:rPr>
              <a:t>PRINCIPLE 1</a:t>
            </a:r>
          </a:p>
          <a:p>
            <a:pPr marL="609600" indent="-609600" eaLnBrk="1" hangingPunct="1">
              <a:buFont typeface="Wingdings" pitchFamily="2" charset="2"/>
              <a:buNone/>
              <a:defRPr/>
            </a:pPr>
            <a:r>
              <a:rPr lang="en-US" sz="2800" smtClean="0">
                <a:latin typeface="Times New Roman" pitchFamily="18" charset="0"/>
              </a:rPr>
              <a:t>7. Determine Critical Control Points (CCPs) – </a:t>
            </a:r>
            <a:r>
              <a:rPr lang="en-US" sz="2800" b="1" smtClean="0">
                <a:latin typeface="Times New Roman" pitchFamily="18" charset="0"/>
              </a:rPr>
              <a:t>PRINCIPLE 2</a:t>
            </a:r>
          </a:p>
          <a:p>
            <a:pPr marL="609600" indent="-609600" eaLnBrk="1" hangingPunct="1">
              <a:buFont typeface="Wingdings" pitchFamily="2" charset="2"/>
              <a:buNone/>
              <a:defRPr/>
            </a:pPr>
            <a:r>
              <a:rPr lang="en-US" sz="2800" smtClean="0">
                <a:latin typeface="Times New Roman" pitchFamily="18" charset="0"/>
              </a:rPr>
              <a:t>8. Establish Critical Limits for each CCP – </a:t>
            </a:r>
          </a:p>
          <a:p>
            <a:pPr marL="609600" indent="-609600" eaLnBrk="1" hangingPunct="1">
              <a:buFont typeface="Wingdings" pitchFamily="2" charset="2"/>
              <a:buNone/>
              <a:defRPr/>
            </a:pPr>
            <a:r>
              <a:rPr lang="en-US" sz="2800" smtClean="0">
                <a:latin typeface="Times New Roman" pitchFamily="18" charset="0"/>
              </a:rPr>
              <a:t>     </a:t>
            </a:r>
            <a:r>
              <a:rPr lang="en-US" sz="2800" b="1" smtClean="0">
                <a:latin typeface="Times New Roman" pitchFamily="18" charset="0"/>
              </a:rPr>
              <a:t>PRINCIPLE 3</a:t>
            </a:r>
          </a:p>
          <a:p>
            <a:pPr marL="609600" indent="-609600" eaLnBrk="1" hangingPunct="1">
              <a:buFont typeface="Wingdings" pitchFamily="2" charset="2"/>
              <a:buNone/>
              <a:defRPr/>
            </a:pPr>
            <a:r>
              <a:rPr lang="en-US" sz="2800" smtClean="0">
                <a:latin typeface="Times New Roman" pitchFamily="18" charset="0"/>
              </a:rPr>
              <a:t>9. Establish a monitoring system for each CCP – </a:t>
            </a:r>
            <a:r>
              <a:rPr lang="en-US" sz="2800" b="1" smtClean="0">
                <a:latin typeface="Times New Roman" pitchFamily="18" charset="0"/>
              </a:rPr>
              <a:t>PRINCIPLE 4</a:t>
            </a:r>
          </a:p>
          <a:p>
            <a:pPr marL="609600" indent="-609600" eaLnBrk="1" hangingPunct="1">
              <a:buFont typeface="Wingdings" pitchFamily="2" charset="2"/>
              <a:buNone/>
              <a:defRPr/>
            </a:pPr>
            <a:endParaRPr lang="en-US" sz="2800" b="1" smtClean="0">
              <a:latin typeface="Times New Roman" pitchFamily="18" charset="0"/>
            </a:endParaRPr>
          </a:p>
          <a:p>
            <a:pPr marL="609600" indent="-609600" eaLnBrk="1" hangingPunct="1">
              <a:buFont typeface="Wingdings" pitchFamily="2" charset="2"/>
              <a:buNone/>
              <a:defRPr/>
            </a:pPr>
            <a:endParaRPr lang="en-US" sz="2800" b="1" smtClean="0">
              <a:latin typeface="Times New Roman" pitchFamily="18" charset="0"/>
            </a:endParaRPr>
          </a:p>
        </p:txBody>
      </p:sp>
      <p:sp>
        <p:nvSpPr>
          <p:cNvPr id="220162" name="Slide Number Placeholder 4"/>
          <p:cNvSpPr>
            <a:spLocks noGrp="1"/>
          </p:cNvSpPr>
          <p:nvPr>
            <p:ph type="sldNum" sz="quarter" idx="12"/>
          </p:nvPr>
        </p:nvSpPr>
        <p:spPr>
          <a:noFill/>
        </p:spPr>
        <p:txBody>
          <a:bodyPr/>
          <a:lstStyle/>
          <a:p>
            <a:fld id="{F9F35879-5C26-4E58-96AB-EBB414E706AC}" type="slidenum">
              <a:rPr lang="en-US"/>
              <a:pPr/>
              <a:t>58</a:t>
            </a:fld>
            <a:endParaRPr lang="en-US"/>
          </a:p>
        </p:txBody>
      </p:sp>
    </p:spTree>
  </p:cSld>
  <p:clrMapOvr>
    <a:masterClrMapping/>
  </p:clrMapOvr>
  <p:transition advTm="120000"/>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p:cNvSpPr>
            <a:spLocks noGrp="1" noRot="1" noChangeArrowheads="1"/>
          </p:cNvSpPr>
          <p:nvPr>
            <p:ph type="title"/>
          </p:nvPr>
        </p:nvSpPr>
        <p:spPr/>
        <p:txBody>
          <a:bodyPr>
            <a:normAutofit fontScale="90000"/>
          </a:bodyPr>
          <a:lstStyle/>
          <a:p>
            <a:pPr eaLnBrk="1" hangingPunct="1">
              <a:defRPr/>
            </a:pPr>
            <a:r>
              <a:rPr lang="en-US" sz="3600" smtClean="0">
                <a:latin typeface="Times New Roman" pitchFamily="18" charset="0"/>
              </a:rPr>
              <a:t/>
            </a:r>
            <a:br>
              <a:rPr lang="en-US" sz="3600" smtClean="0">
                <a:latin typeface="Times New Roman" pitchFamily="18" charset="0"/>
              </a:rPr>
            </a:br>
            <a:r>
              <a:rPr lang="en-US" sz="3600" b="0" smtClean="0">
                <a:latin typeface="Times New Roman" pitchFamily="18" charset="0"/>
              </a:rPr>
              <a:t>Logic sequence for the implementation of HACCP(3)</a:t>
            </a:r>
            <a:r>
              <a:rPr lang="en-US" sz="3600" smtClean="0">
                <a:latin typeface="Times New Roman" pitchFamily="18" charset="0"/>
              </a:rPr>
              <a:t/>
            </a:r>
            <a:br>
              <a:rPr lang="en-US" sz="3600" smtClean="0">
                <a:latin typeface="Times New Roman" pitchFamily="18" charset="0"/>
              </a:rPr>
            </a:br>
            <a:endParaRPr lang="en-US" sz="3600" smtClean="0">
              <a:latin typeface="Times New Roman" pitchFamily="18" charset="0"/>
            </a:endParaRPr>
          </a:p>
        </p:txBody>
      </p:sp>
      <p:sp>
        <p:nvSpPr>
          <p:cNvPr id="350211" name="Rectangle 3"/>
          <p:cNvSpPr>
            <a:spLocks noGrp="1" noChangeArrowheads="1"/>
          </p:cNvSpPr>
          <p:nvPr>
            <p:ph idx="1"/>
          </p:nvPr>
        </p:nvSpPr>
        <p:spPr>
          <a:xfrm>
            <a:off x="457200" y="1916113"/>
            <a:ext cx="8229600" cy="4210050"/>
          </a:xfrm>
        </p:spPr>
        <p:txBody>
          <a:bodyPr/>
          <a:lstStyle/>
          <a:p>
            <a:pPr eaLnBrk="1" hangingPunct="1">
              <a:buFont typeface="Wingdings" pitchFamily="2" charset="2"/>
              <a:buNone/>
              <a:defRPr/>
            </a:pPr>
            <a:r>
              <a:rPr lang="en-US" sz="2800" smtClean="0">
                <a:latin typeface="Times New Roman" pitchFamily="18" charset="0"/>
              </a:rPr>
              <a:t>10. Establish Corrective actions –</a:t>
            </a:r>
            <a:r>
              <a:rPr lang="en-US" sz="2800" b="1" smtClean="0">
                <a:latin typeface="Times New Roman" pitchFamily="18" charset="0"/>
              </a:rPr>
              <a:t> PRINCIPLE 5</a:t>
            </a:r>
          </a:p>
          <a:p>
            <a:pPr eaLnBrk="1" hangingPunct="1">
              <a:buFont typeface="Wingdings" pitchFamily="2" charset="2"/>
              <a:buNone/>
              <a:defRPr/>
            </a:pPr>
            <a:r>
              <a:rPr lang="en-US" sz="2800" smtClean="0">
                <a:latin typeface="Times New Roman" pitchFamily="18" charset="0"/>
              </a:rPr>
              <a:t>11. Establish Verification Procedures –</a:t>
            </a:r>
            <a:r>
              <a:rPr lang="en-US" sz="2800" b="1" smtClean="0">
                <a:latin typeface="Times New Roman" pitchFamily="18" charset="0"/>
              </a:rPr>
              <a:t> PRINCIPLE 6</a:t>
            </a:r>
          </a:p>
          <a:p>
            <a:pPr eaLnBrk="1" hangingPunct="1">
              <a:buFont typeface="Wingdings" pitchFamily="2" charset="2"/>
              <a:buNone/>
              <a:defRPr/>
            </a:pPr>
            <a:r>
              <a:rPr lang="en-US" sz="2800" smtClean="0">
                <a:latin typeface="Times New Roman" pitchFamily="18" charset="0"/>
              </a:rPr>
              <a:t>12. Establish Documentation and Record Keeping –</a:t>
            </a:r>
            <a:r>
              <a:rPr lang="en-US" sz="2800" b="1" smtClean="0">
                <a:latin typeface="Times New Roman" pitchFamily="18" charset="0"/>
              </a:rPr>
              <a:t> PRINCIPLE 7</a:t>
            </a:r>
          </a:p>
        </p:txBody>
      </p:sp>
      <p:sp>
        <p:nvSpPr>
          <p:cNvPr id="221186" name="Slide Number Placeholder 4"/>
          <p:cNvSpPr>
            <a:spLocks noGrp="1"/>
          </p:cNvSpPr>
          <p:nvPr>
            <p:ph type="sldNum" sz="quarter" idx="12"/>
          </p:nvPr>
        </p:nvSpPr>
        <p:spPr>
          <a:noFill/>
        </p:spPr>
        <p:txBody>
          <a:bodyPr/>
          <a:lstStyle/>
          <a:p>
            <a:fld id="{4FEF2966-B34E-47F9-89E7-557CF3037EF0}" type="slidenum">
              <a:rPr lang="en-US"/>
              <a:pPr/>
              <a:t>59</a:t>
            </a:fld>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p:cNvSpPr>
            <a:spLocks noGrp="1" noRot="1" noChangeArrowheads="1"/>
          </p:cNvSpPr>
          <p:nvPr>
            <p:ph type="title"/>
          </p:nvPr>
        </p:nvSpPr>
        <p:spPr>
          <a:xfrm>
            <a:off x="457200" y="260350"/>
            <a:ext cx="8229600" cy="882650"/>
          </a:xfrm>
        </p:spPr>
        <p:txBody>
          <a:bodyPr/>
          <a:lstStyle/>
          <a:p>
            <a:pPr eaLnBrk="1" hangingPunct="1">
              <a:defRPr/>
            </a:pPr>
            <a:r>
              <a:rPr lang="en-US" sz="3600" b="0" smtClean="0">
                <a:latin typeface="Times New Roman" pitchFamily="18" charset="0"/>
              </a:rPr>
              <a:t>Functions of the HACCP team (1)</a:t>
            </a:r>
          </a:p>
        </p:txBody>
      </p:sp>
      <p:sp>
        <p:nvSpPr>
          <p:cNvPr id="353283" name="Rectangle 3"/>
          <p:cNvSpPr>
            <a:spLocks noGrp="1" noChangeArrowheads="1"/>
          </p:cNvSpPr>
          <p:nvPr>
            <p:ph idx="1"/>
          </p:nvPr>
        </p:nvSpPr>
        <p:spPr>
          <a:xfrm>
            <a:off x="468313" y="1143000"/>
            <a:ext cx="8351837" cy="5410200"/>
          </a:xfrm>
        </p:spPr>
        <p:txBody>
          <a:bodyPr/>
          <a:lstStyle/>
          <a:p>
            <a:pPr eaLnBrk="1" hangingPunct="1">
              <a:buFont typeface="Wingdings" pitchFamily="2" charset="2"/>
              <a:buNone/>
              <a:defRPr/>
            </a:pPr>
            <a:endParaRPr lang="en-US" sz="2400" b="1" smtClean="0"/>
          </a:p>
          <a:p>
            <a:pPr eaLnBrk="1" hangingPunct="1">
              <a:defRPr/>
            </a:pPr>
            <a:r>
              <a:rPr lang="en-US" sz="2800" b="1" smtClean="0">
                <a:latin typeface="Times New Roman" pitchFamily="18" charset="0"/>
              </a:rPr>
              <a:t>Identification of Scope of the HACCP plan</a:t>
            </a:r>
            <a:r>
              <a:rPr lang="en-US" sz="2800" smtClean="0">
                <a:latin typeface="Times New Roman" pitchFamily="18" charset="0"/>
              </a:rPr>
              <a:t> ; limit to food product and process type, define the type(s) of hazards to be included- biological, physical, chemical.</a:t>
            </a:r>
          </a:p>
          <a:p>
            <a:pPr eaLnBrk="1" hangingPunct="1">
              <a:buFont typeface="Wingdings" pitchFamily="2" charset="2"/>
              <a:buNone/>
              <a:defRPr/>
            </a:pPr>
            <a:r>
              <a:rPr lang="en-US" sz="2800" b="1" smtClean="0">
                <a:latin typeface="Times New Roman" pitchFamily="18" charset="0"/>
              </a:rPr>
              <a:t>Other Responsibilities</a:t>
            </a:r>
          </a:p>
          <a:p>
            <a:pPr eaLnBrk="1" hangingPunct="1">
              <a:defRPr/>
            </a:pPr>
            <a:r>
              <a:rPr lang="en-US" sz="2800" smtClean="0">
                <a:latin typeface="Times New Roman" pitchFamily="18" charset="0"/>
              </a:rPr>
              <a:t>Plans HACCP Project</a:t>
            </a:r>
          </a:p>
          <a:p>
            <a:pPr eaLnBrk="1" hangingPunct="1">
              <a:defRPr/>
            </a:pPr>
            <a:r>
              <a:rPr lang="en-US" sz="2800" smtClean="0">
                <a:latin typeface="Times New Roman" pitchFamily="18" charset="0"/>
              </a:rPr>
              <a:t>Completes study and generates HACCP documentation</a:t>
            </a:r>
          </a:p>
          <a:p>
            <a:pPr eaLnBrk="1" hangingPunct="1">
              <a:defRPr/>
            </a:pPr>
            <a:endParaRPr lang="en-US" sz="2800" b="1" smtClean="0">
              <a:latin typeface="Times New Roman" pitchFamily="18" charset="0"/>
            </a:endParaRPr>
          </a:p>
        </p:txBody>
      </p:sp>
      <p:sp>
        <p:nvSpPr>
          <p:cNvPr id="222210" name="Slide Number Placeholder 4"/>
          <p:cNvSpPr>
            <a:spLocks noGrp="1"/>
          </p:cNvSpPr>
          <p:nvPr>
            <p:ph type="sldNum" sz="quarter" idx="12"/>
          </p:nvPr>
        </p:nvSpPr>
        <p:spPr>
          <a:noFill/>
        </p:spPr>
        <p:txBody>
          <a:bodyPr/>
          <a:lstStyle/>
          <a:p>
            <a:fld id="{7F775FFA-9386-4E7C-B426-541C8D7EE60D}" type="slidenum">
              <a:rPr lang="en-US"/>
              <a:pPr/>
              <a:t>60</a:t>
            </a:fld>
            <a:endParaRPr lang="en-US"/>
          </a:p>
        </p:txBody>
      </p:sp>
    </p:spTree>
  </p:cSld>
  <p:clrMapOvr>
    <a:masterClrMapping/>
  </p:clrMapOvr>
  <p:transition advTm="120000"/>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Rot="1" noChangeArrowheads="1"/>
          </p:cNvSpPr>
          <p:nvPr>
            <p:ph type="title"/>
          </p:nvPr>
        </p:nvSpPr>
        <p:spPr/>
        <p:txBody>
          <a:bodyPr/>
          <a:lstStyle/>
          <a:p>
            <a:pPr eaLnBrk="1" hangingPunct="1">
              <a:defRPr/>
            </a:pPr>
            <a:r>
              <a:rPr lang="en-US" sz="3600" b="0" smtClean="0">
                <a:latin typeface="Times New Roman" pitchFamily="18" charset="0"/>
              </a:rPr>
              <a:t>Functions of the HACCP team (2)</a:t>
            </a:r>
          </a:p>
        </p:txBody>
      </p:sp>
      <p:sp>
        <p:nvSpPr>
          <p:cNvPr id="355331" name="Rectangle 3"/>
          <p:cNvSpPr>
            <a:spLocks noGrp="1" noChangeArrowheads="1"/>
          </p:cNvSpPr>
          <p:nvPr>
            <p:ph idx="1"/>
          </p:nvPr>
        </p:nvSpPr>
        <p:spPr/>
        <p:txBody>
          <a:bodyPr/>
          <a:lstStyle/>
          <a:p>
            <a:pPr eaLnBrk="1" hangingPunct="1">
              <a:defRPr/>
            </a:pPr>
            <a:r>
              <a:rPr lang="en-US" sz="2800" smtClean="0">
                <a:latin typeface="Times New Roman" pitchFamily="18" charset="0"/>
              </a:rPr>
              <a:t>Ensures verification of the HACCP plan</a:t>
            </a:r>
          </a:p>
          <a:p>
            <a:pPr eaLnBrk="1" hangingPunct="1">
              <a:defRPr/>
            </a:pPr>
            <a:r>
              <a:rPr lang="en-US" sz="2800" smtClean="0">
                <a:latin typeface="Times New Roman" pitchFamily="18" charset="0"/>
              </a:rPr>
              <a:t>Communicates and trains</a:t>
            </a:r>
          </a:p>
          <a:p>
            <a:pPr eaLnBrk="1" hangingPunct="1">
              <a:defRPr/>
            </a:pPr>
            <a:r>
              <a:rPr lang="en-US" sz="2800" smtClean="0">
                <a:latin typeface="Times New Roman" pitchFamily="18" charset="0"/>
              </a:rPr>
              <a:t>Reviews deviations from CCPs</a:t>
            </a:r>
          </a:p>
          <a:p>
            <a:pPr eaLnBrk="1" hangingPunct="1">
              <a:defRPr/>
            </a:pPr>
            <a:r>
              <a:rPr lang="en-US" sz="2800" smtClean="0">
                <a:latin typeface="Times New Roman" pitchFamily="18" charset="0"/>
              </a:rPr>
              <a:t>Reviews HACCP activities in response to change</a:t>
            </a:r>
          </a:p>
          <a:p>
            <a:pPr eaLnBrk="1" hangingPunct="1">
              <a:defRPr/>
            </a:pPr>
            <a:r>
              <a:rPr lang="en-US" sz="2800" smtClean="0">
                <a:latin typeface="Times New Roman" pitchFamily="18" charset="0"/>
              </a:rPr>
              <a:t>Schedules and conducts internal audits</a:t>
            </a:r>
          </a:p>
        </p:txBody>
      </p:sp>
      <p:sp>
        <p:nvSpPr>
          <p:cNvPr id="223234" name="Slide Number Placeholder 4"/>
          <p:cNvSpPr>
            <a:spLocks noGrp="1"/>
          </p:cNvSpPr>
          <p:nvPr>
            <p:ph type="sldNum" sz="quarter" idx="12"/>
          </p:nvPr>
        </p:nvSpPr>
        <p:spPr>
          <a:noFill/>
        </p:spPr>
        <p:txBody>
          <a:bodyPr/>
          <a:lstStyle/>
          <a:p>
            <a:fld id="{525C9E49-63F4-4225-A689-94E8F371076E}" type="slidenum">
              <a:rPr lang="en-US"/>
              <a:pPr/>
              <a:t>61</a:t>
            </a:fld>
            <a:endParaRPr 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Rot="1" noChangeArrowheads="1"/>
          </p:cNvSpPr>
          <p:nvPr>
            <p:ph type="title"/>
          </p:nvPr>
        </p:nvSpPr>
        <p:spPr/>
        <p:txBody>
          <a:bodyPr/>
          <a:lstStyle/>
          <a:p>
            <a:pPr eaLnBrk="1" hangingPunct="1">
              <a:defRPr/>
            </a:pPr>
            <a:r>
              <a:rPr lang="en-US" sz="3600" b="0" smtClean="0">
                <a:latin typeface="Times New Roman" pitchFamily="18" charset="0"/>
              </a:rPr>
              <a:t>Why Use A Team? (1)</a:t>
            </a:r>
          </a:p>
        </p:txBody>
      </p:sp>
      <p:sp>
        <p:nvSpPr>
          <p:cNvPr id="356355" name="Rectangle 3"/>
          <p:cNvSpPr>
            <a:spLocks noGrp="1" noChangeArrowheads="1"/>
          </p:cNvSpPr>
          <p:nvPr>
            <p:ph idx="1"/>
          </p:nvPr>
        </p:nvSpPr>
        <p:spPr/>
        <p:txBody>
          <a:bodyPr/>
          <a:lstStyle/>
          <a:p>
            <a:pPr eaLnBrk="1" hangingPunct="1">
              <a:defRPr/>
            </a:pPr>
            <a:r>
              <a:rPr lang="en-US" sz="2800" dirty="0" smtClean="0">
                <a:latin typeface="Times New Roman" pitchFamily="18" charset="0"/>
              </a:rPr>
              <a:t>A greater diversity of knowledge, skill and experience</a:t>
            </a:r>
          </a:p>
          <a:p>
            <a:pPr eaLnBrk="1" hangingPunct="1">
              <a:defRPr/>
            </a:pPr>
            <a:r>
              <a:rPr lang="en-US" sz="2800" dirty="0" smtClean="0">
                <a:latin typeface="Times New Roman" pitchFamily="18" charset="0"/>
              </a:rPr>
              <a:t>A greater variety of problems can be solved that are beyond the ability of any individual</a:t>
            </a:r>
          </a:p>
          <a:p>
            <a:pPr eaLnBrk="1" hangingPunct="1">
              <a:defRPr/>
            </a:pPr>
            <a:r>
              <a:rPr lang="en-US" sz="2800" dirty="0" smtClean="0">
                <a:latin typeface="Times New Roman" pitchFamily="18" charset="0"/>
              </a:rPr>
              <a:t>Processes which cross departments can be more easily tackled</a:t>
            </a:r>
          </a:p>
          <a:p>
            <a:pPr eaLnBrk="1" hangingPunct="1">
              <a:defRPr/>
            </a:pPr>
            <a:r>
              <a:rPr lang="en-US" sz="2800" dirty="0" smtClean="0">
                <a:latin typeface="Times New Roman" pitchFamily="18" charset="0"/>
              </a:rPr>
              <a:t>Recommendations are more likely to be accepted and implemented</a:t>
            </a:r>
          </a:p>
        </p:txBody>
      </p:sp>
      <p:sp>
        <p:nvSpPr>
          <p:cNvPr id="224258" name="Slide Number Placeholder 4"/>
          <p:cNvSpPr>
            <a:spLocks noGrp="1"/>
          </p:cNvSpPr>
          <p:nvPr>
            <p:ph type="sldNum" sz="quarter" idx="12"/>
          </p:nvPr>
        </p:nvSpPr>
        <p:spPr>
          <a:noFill/>
        </p:spPr>
        <p:txBody>
          <a:bodyPr/>
          <a:lstStyle/>
          <a:p>
            <a:fld id="{53F856B7-7DB9-4597-93F4-A77F4294BF41}" type="slidenum">
              <a:rPr lang="en-US"/>
              <a:pPr/>
              <a:t>62</a:t>
            </a:fld>
            <a:endParaRPr lang="en-US"/>
          </a:p>
        </p:txBody>
      </p:sp>
    </p:spTree>
  </p:cSld>
  <p:clrMapOvr>
    <a:masterClrMapping/>
  </p:clrMapOvr>
  <p:transition advTm="120000"/>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p:cNvSpPr>
            <a:spLocks noGrp="1" noRot="1" noChangeArrowheads="1"/>
          </p:cNvSpPr>
          <p:nvPr>
            <p:ph type="title"/>
          </p:nvPr>
        </p:nvSpPr>
        <p:spPr/>
        <p:txBody>
          <a:bodyPr/>
          <a:lstStyle/>
          <a:p>
            <a:pPr eaLnBrk="1" hangingPunct="1">
              <a:defRPr/>
            </a:pPr>
            <a:r>
              <a:rPr lang="en-US" sz="4000" b="0" smtClean="0">
                <a:latin typeface="Times New Roman" pitchFamily="18" charset="0"/>
              </a:rPr>
              <a:t>Why Use A Team? (2)</a:t>
            </a:r>
          </a:p>
        </p:txBody>
      </p:sp>
      <p:sp>
        <p:nvSpPr>
          <p:cNvPr id="357379" name="Rectangle 3"/>
          <p:cNvSpPr>
            <a:spLocks noGrp="1" noChangeArrowheads="1"/>
          </p:cNvSpPr>
          <p:nvPr>
            <p:ph idx="1"/>
          </p:nvPr>
        </p:nvSpPr>
        <p:spPr/>
        <p:txBody>
          <a:bodyPr/>
          <a:lstStyle/>
          <a:p>
            <a:pPr eaLnBrk="1" hangingPunct="1">
              <a:defRPr/>
            </a:pPr>
            <a:r>
              <a:rPr lang="en-US" sz="2800" smtClean="0">
                <a:latin typeface="Times New Roman" pitchFamily="18" charset="0"/>
              </a:rPr>
              <a:t>The approach can be encouraging to team members and boosts morale</a:t>
            </a:r>
          </a:p>
          <a:p>
            <a:pPr eaLnBrk="1" hangingPunct="1">
              <a:defRPr/>
            </a:pPr>
            <a:r>
              <a:rPr lang="en-US" sz="2800" smtClean="0">
                <a:latin typeface="Times New Roman" pitchFamily="18" charset="0"/>
              </a:rPr>
              <a:t>The workload can be shared appropriately</a:t>
            </a:r>
          </a:p>
          <a:p>
            <a:pPr eaLnBrk="1" hangingPunct="1">
              <a:defRPr/>
            </a:pPr>
            <a:r>
              <a:rPr lang="en-US" sz="2800" smtClean="0">
                <a:latin typeface="Times New Roman" pitchFamily="18" charset="0"/>
              </a:rPr>
              <a:t>A challenging environment can be created which questions existing practices and assumptions</a:t>
            </a:r>
          </a:p>
          <a:p>
            <a:pPr eaLnBrk="1" hangingPunct="1">
              <a:defRPr/>
            </a:pPr>
            <a:endParaRPr lang="en-US" sz="2800" smtClean="0">
              <a:latin typeface="Times New Roman" pitchFamily="18" charset="0"/>
            </a:endParaRPr>
          </a:p>
        </p:txBody>
      </p:sp>
      <p:sp>
        <p:nvSpPr>
          <p:cNvPr id="225282" name="Slide Number Placeholder 4"/>
          <p:cNvSpPr>
            <a:spLocks noGrp="1"/>
          </p:cNvSpPr>
          <p:nvPr>
            <p:ph type="sldNum" sz="quarter" idx="12"/>
          </p:nvPr>
        </p:nvSpPr>
        <p:spPr>
          <a:noFill/>
        </p:spPr>
        <p:txBody>
          <a:bodyPr/>
          <a:lstStyle/>
          <a:p>
            <a:fld id="{09927EE7-3A8A-4F4F-9120-896FB81B21C1}" type="slidenum">
              <a:rPr lang="en-US"/>
              <a:pPr/>
              <a:t>63</a:t>
            </a:fld>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9426" name="Rectangle 2"/>
          <p:cNvSpPr>
            <a:spLocks noGrp="1" noRot="1" noChangeArrowheads="1"/>
          </p:cNvSpPr>
          <p:nvPr>
            <p:ph type="title"/>
          </p:nvPr>
        </p:nvSpPr>
        <p:spPr/>
        <p:txBody>
          <a:bodyPr lIns="90488" tIns="44450" rIns="90488" bIns="44450"/>
          <a:lstStyle/>
          <a:p>
            <a:pPr eaLnBrk="1" hangingPunct="1">
              <a:defRPr/>
            </a:pPr>
            <a:r>
              <a:rPr lang="en-GB" sz="3600" b="0" smtClean="0">
                <a:latin typeface="Times New Roman" pitchFamily="18" charset="0"/>
              </a:rPr>
              <a:t>Planning the HACCP project</a:t>
            </a:r>
          </a:p>
        </p:txBody>
      </p:sp>
      <p:sp>
        <p:nvSpPr>
          <p:cNvPr id="359427" name="Rectangle 3"/>
          <p:cNvSpPr>
            <a:spLocks noGrp="1" noChangeArrowheads="1"/>
          </p:cNvSpPr>
          <p:nvPr>
            <p:ph type="body" sz="half" idx="1"/>
          </p:nvPr>
        </p:nvSpPr>
        <p:spPr>
          <a:xfrm>
            <a:off x="457200" y="1600200"/>
            <a:ext cx="5002213" cy="4525963"/>
          </a:xfrm>
        </p:spPr>
        <p:txBody>
          <a:bodyPr lIns="90488" tIns="44450" rIns="90488" bIns="44450"/>
          <a:lstStyle/>
          <a:p>
            <a:pPr eaLnBrk="1" hangingPunct="1">
              <a:lnSpc>
                <a:spcPct val="90000"/>
              </a:lnSpc>
              <a:defRPr/>
            </a:pPr>
            <a:r>
              <a:rPr lang="en-GB" sz="2800" smtClean="0">
                <a:latin typeface="Times New Roman" pitchFamily="18" charset="0"/>
              </a:rPr>
              <a:t>Where are we starting from?</a:t>
            </a:r>
          </a:p>
          <a:p>
            <a:pPr lvl="1" eaLnBrk="1" hangingPunct="1">
              <a:lnSpc>
                <a:spcPct val="90000"/>
              </a:lnSpc>
              <a:buSzPct val="75000"/>
              <a:defRPr/>
            </a:pPr>
            <a:r>
              <a:rPr lang="en-GB" smtClean="0">
                <a:latin typeface="Times New Roman" pitchFamily="18" charset="0"/>
              </a:rPr>
              <a:t>What are our current capabilities?</a:t>
            </a:r>
          </a:p>
          <a:p>
            <a:pPr lvl="1" eaLnBrk="1" hangingPunct="1">
              <a:lnSpc>
                <a:spcPct val="90000"/>
              </a:lnSpc>
              <a:buSzPct val="75000"/>
              <a:defRPr/>
            </a:pPr>
            <a:r>
              <a:rPr lang="en-GB" smtClean="0">
                <a:latin typeface="Times New Roman" pitchFamily="18" charset="0"/>
              </a:rPr>
              <a:t>Gap analysis</a:t>
            </a:r>
          </a:p>
          <a:p>
            <a:pPr lvl="1" eaLnBrk="1" hangingPunct="1">
              <a:lnSpc>
                <a:spcPct val="90000"/>
              </a:lnSpc>
              <a:buSzPct val="75000"/>
              <a:defRPr/>
            </a:pPr>
            <a:r>
              <a:rPr lang="en-GB" smtClean="0">
                <a:latin typeface="Times New Roman" pitchFamily="18" charset="0"/>
              </a:rPr>
              <a:t>What  additional resources are required?</a:t>
            </a:r>
          </a:p>
          <a:p>
            <a:pPr lvl="1" eaLnBrk="1" hangingPunct="1">
              <a:lnSpc>
                <a:spcPct val="90000"/>
              </a:lnSpc>
              <a:buSzPct val="75000"/>
              <a:defRPr/>
            </a:pPr>
            <a:r>
              <a:rPr lang="en-GB" smtClean="0">
                <a:latin typeface="Times New Roman" pitchFamily="18" charset="0"/>
              </a:rPr>
              <a:t>How big is the task?</a:t>
            </a:r>
          </a:p>
          <a:p>
            <a:pPr eaLnBrk="1" hangingPunct="1">
              <a:lnSpc>
                <a:spcPct val="90000"/>
              </a:lnSpc>
              <a:defRPr/>
            </a:pPr>
            <a:r>
              <a:rPr lang="en-GB" sz="2800" smtClean="0">
                <a:latin typeface="Times New Roman" pitchFamily="18" charset="0"/>
              </a:rPr>
              <a:t>How should we structure the HACCP system?</a:t>
            </a:r>
          </a:p>
        </p:txBody>
      </p:sp>
      <p:sp>
        <p:nvSpPr>
          <p:cNvPr id="5123" name="Slide Number Placeholder 5"/>
          <p:cNvSpPr>
            <a:spLocks noGrp="1"/>
          </p:cNvSpPr>
          <p:nvPr>
            <p:ph type="sldNum" sz="quarter" idx="11"/>
          </p:nvPr>
        </p:nvSpPr>
        <p:spPr>
          <a:noFill/>
        </p:spPr>
        <p:txBody>
          <a:bodyPr/>
          <a:lstStyle/>
          <a:p>
            <a:fld id="{27200C5C-0D4A-4423-B91E-F2C5EF57390F}" type="slidenum">
              <a:rPr lang="en-US"/>
              <a:pPr/>
              <a:t>64</a:t>
            </a:fld>
            <a:endParaRPr lang="en-US"/>
          </a:p>
        </p:txBody>
      </p:sp>
      <p:graphicFrame>
        <p:nvGraphicFramePr>
          <p:cNvPr id="5122" name="Object 4">
            <a:hlinkClick r:id="" action="ppaction://ole?verb=0"/>
          </p:cNvPr>
          <p:cNvGraphicFramePr>
            <a:graphicFrameLocks/>
          </p:cNvGraphicFramePr>
          <p:nvPr/>
        </p:nvGraphicFramePr>
        <p:xfrm>
          <a:off x="5638800" y="1905000"/>
          <a:ext cx="2903538" cy="4127500"/>
        </p:xfrm>
        <a:graphic>
          <a:graphicData uri="http://schemas.openxmlformats.org/presentationml/2006/ole">
            <mc:AlternateContent xmlns:mc="http://schemas.openxmlformats.org/markup-compatibility/2006">
              <mc:Choice xmlns:v="urn:schemas-microsoft-com:vml" Requires="v">
                <p:oleObj spid="_x0000_s2052" name="Clip" r:id="rId4" imgW="2901600" imgH="4125600" progId="">
                  <p:embed/>
                </p:oleObj>
              </mc:Choice>
              <mc:Fallback>
                <p:oleObj name="Clip" r:id="rId4" imgW="2901600" imgH="4125600" progId="">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1905000"/>
                        <a:ext cx="2903538" cy="412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942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59427">
                                            <p:txEl>
                                              <p:pRg st="0" end="0"/>
                                            </p:txEl>
                                          </p:spTgt>
                                        </p:tgtEl>
                                        <p:attrNameLst>
                                          <p:attrName>ppt_c</p:attrName>
                                        </p:attrNameLst>
                                      </p:cBhvr>
                                      <p:to>
                                        <a:schemeClr val="bg2"/>
                                      </p:to>
                                    </p:animClr>
                                  </p:subTnLst>
                                </p:cTn>
                              </p:par>
                              <p:par>
                                <p:cTn id="7" presetID="1" presetClass="entr" presetSubtype="0" fill="hold" grpId="0" nodeType="withEffect">
                                  <p:stCondLst>
                                    <p:cond delay="0"/>
                                  </p:stCondLst>
                                  <p:childTnLst>
                                    <p:set>
                                      <p:cBhvr>
                                        <p:cTn id="8" dur="1" fill="hold">
                                          <p:stCondLst>
                                            <p:cond delay="0"/>
                                          </p:stCondLst>
                                        </p:cTn>
                                        <p:tgtEl>
                                          <p:spTgt spid="35942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59427">
                                            <p:txEl>
                                              <p:pRg st="1" end="1"/>
                                            </p:txEl>
                                          </p:spTgt>
                                        </p:tgtEl>
                                        <p:attrNameLst>
                                          <p:attrName>ppt_c</p:attrName>
                                        </p:attrNameLst>
                                      </p:cBhvr>
                                      <p:to>
                                        <a:schemeClr val="bg2"/>
                                      </p:to>
                                    </p:animClr>
                                  </p:subTnLst>
                                </p:cTn>
                              </p:par>
                              <p:par>
                                <p:cTn id="9" presetID="1" presetClass="entr" presetSubtype="0" fill="hold" grpId="0" nodeType="withEffect">
                                  <p:stCondLst>
                                    <p:cond delay="0"/>
                                  </p:stCondLst>
                                  <p:childTnLst>
                                    <p:set>
                                      <p:cBhvr>
                                        <p:cTn id="10" dur="1" fill="hold">
                                          <p:stCondLst>
                                            <p:cond delay="0"/>
                                          </p:stCondLst>
                                        </p:cTn>
                                        <p:tgtEl>
                                          <p:spTgt spid="35942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59427">
                                            <p:txEl>
                                              <p:pRg st="2" end="2"/>
                                            </p:txEl>
                                          </p:spTgt>
                                        </p:tgtEl>
                                        <p:attrNameLst>
                                          <p:attrName>ppt_c</p:attrName>
                                        </p:attrNameLst>
                                      </p:cBhvr>
                                      <p:to>
                                        <a:schemeClr val="bg2"/>
                                      </p:to>
                                    </p:animClr>
                                  </p:subTnLst>
                                </p:cTn>
                              </p:par>
                              <p:par>
                                <p:cTn id="11" presetID="1" presetClass="entr" presetSubtype="0" fill="hold" grpId="0" nodeType="withEffect">
                                  <p:stCondLst>
                                    <p:cond delay="0"/>
                                  </p:stCondLst>
                                  <p:childTnLst>
                                    <p:set>
                                      <p:cBhvr>
                                        <p:cTn id="12" dur="1" fill="hold">
                                          <p:stCondLst>
                                            <p:cond delay="0"/>
                                          </p:stCondLst>
                                        </p:cTn>
                                        <p:tgtEl>
                                          <p:spTgt spid="35942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59427">
                                            <p:txEl>
                                              <p:pRg st="3" end="3"/>
                                            </p:txEl>
                                          </p:spTgt>
                                        </p:tgtEl>
                                        <p:attrNameLst>
                                          <p:attrName>ppt_c</p:attrName>
                                        </p:attrNameLst>
                                      </p:cBhvr>
                                      <p:to>
                                        <a:schemeClr val="bg2"/>
                                      </p:to>
                                    </p:animClr>
                                  </p:subTnLst>
                                </p:cTn>
                              </p:par>
                              <p:par>
                                <p:cTn id="13" presetID="1" presetClass="entr" presetSubtype="0" fill="hold" grpId="0" nodeType="withEffect">
                                  <p:stCondLst>
                                    <p:cond delay="0"/>
                                  </p:stCondLst>
                                  <p:childTnLst>
                                    <p:set>
                                      <p:cBhvr>
                                        <p:cTn id="14" dur="1" fill="hold">
                                          <p:stCondLst>
                                            <p:cond delay="0"/>
                                          </p:stCondLst>
                                        </p:cTn>
                                        <p:tgtEl>
                                          <p:spTgt spid="35942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59427">
                                            <p:txEl>
                                              <p:pRg st="4" end="4"/>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9427">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359427">
                                            <p:txEl>
                                              <p:pRg st="5" end="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427"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2"/>
          <p:cNvSpPr>
            <a:spLocks noGrp="1" noRot="1" noChangeArrowheads="1"/>
          </p:cNvSpPr>
          <p:nvPr>
            <p:ph type="title"/>
          </p:nvPr>
        </p:nvSpPr>
        <p:spPr>
          <a:xfrm>
            <a:off x="457200" y="274638"/>
            <a:ext cx="8229600" cy="974725"/>
          </a:xfrm>
        </p:spPr>
        <p:txBody>
          <a:bodyPr>
            <a:normAutofit fontScale="90000"/>
          </a:bodyPr>
          <a:lstStyle/>
          <a:p>
            <a:pPr eaLnBrk="1" hangingPunct="1">
              <a:defRPr/>
            </a:pPr>
            <a:r>
              <a:rPr lang="en-GB" sz="3600" b="0" smtClean="0">
                <a:latin typeface="Times New Roman" pitchFamily="18" charset="0"/>
              </a:rPr>
              <a:t>Problems Encountered when Introducing HACCP</a:t>
            </a:r>
          </a:p>
        </p:txBody>
      </p:sp>
      <p:graphicFrame>
        <p:nvGraphicFramePr>
          <p:cNvPr id="6146" name="Object 3"/>
          <p:cNvGraphicFramePr>
            <a:graphicFrameLocks noGrp="1" noChangeAspect="1"/>
          </p:cNvGraphicFramePr>
          <p:nvPr>
            <p:ph idx="1"/>
          </p:nvPr>
        </p:nvGraphicFramePr>
        <p:xfrm>
          <a:off x="1889125" y="1628775"/>
          <a:ext cx="5292725" cy="4464050"/>
        </p:xfrm>
        <a:graphic>
          <a:graphicData uri="http://schemas.openxmlformats.org/presentationml/2006/ole">
            <mc:AlternateContent xmlns:mc="http://schemas.openxmlformats.org/markup-compatibility/2006">
              <mc:Choice xmlns:v="urn:schemas-microsoft-com:vml" Requires="v">
                <p:oleObj spid="_x0000_s3076" name="Bitmap Image" r:id="rId3" imgW="6458852" imgH="5447619" progId="PBrush">
                  <p:embed/>
                </p:oleObj>
              </mc:Choice>
              <mc:Fallback>
                <p:oleObj name="Bitmap Image" r:id="rId3" imgW="6458852" imgH="5447619" progId="PBrush">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9125" y="1628775"/>
                        <a:ext cx="5292725" cy="4464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7" name="Slide Number Placeholder 4"/>
          <p:cNvSpPr>
            <a:spLocks noGrp="1"/>
          </p:cNvSpPr>
          <p:nvPr>
            <p:ph type="sldNum" sz="quarter" idx="12"/>
          </p:nvPr>
        </p:nvSpPr>
        <p:spPr>
          <a:noFill/>
        </p:spPr>
        <p:txBody>
          <a:bodyPr/>
          <a:lstStyle/>
          <a:p>
            <a:fld id="{153B7941-4580-4AB2-A50B-D866BD135AB8}" type="slidenum">
              <a:rPr lang="en-US"/>
              <a:pPr/>
              <a:t>65</a:t>
            </a:fld>
            <a:endParaRPr 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p:txBody>
          <a:bodyPr/>
          <a:lstStyle/>
          <a:p>
            <a:r>
              <a:rPr lang="en-GB" dirty="0" smtClean="0"/>
              <a:t>THANK U</a:t>
            </a:r>
            <a:endParaRPr lang="en-GB"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573</TotalTime>
  <Words>2985</Words>
  <Application>Microsoft Office PowerPoint</Application>
  <PresentationFormat>On-screen Show (4:3)</PresentationFormat>
  <Paragraphs>502</Paragraphs>
  <Slides>66</Slides>
  <Notes>5</Notes>
  <HiddenSlides>0</HiddenSlides>
  <MMClips>0</MMClips>
  <ScaleCrop>false</ScaleCrop>
  <HeadingPairs>
    <vt:vector size="6" baseType="variant">
      <vt:variant>
        <vt:lpstr>Theme</vt:lpstr>
      </vt:variant>
      <vt:variant>
        <vt:i4>1</vt:i4>
      </vt:variant>
      <vt:variant>
        <vt:lpstr>Embedded OLE Servers</vt:lpstr>
      </vt:variant>
      <vt:variant>
        <vt:i4>3</vt:i4>
      </vt:variant>
      <vt:variant>
        <vt:lpstr>Slide Titles</vt:lpstr>
      </vt:variant>
      <vt:variant>
        <vt:i4>66</vt:i4>
      </vt:variant>
    </vt:vector>
  </HeadingPairs>
  <TitlesOfParts>
    <vt:vector size="70" baseType="lpstr">
      <vt:lpstr>Flow</vt:lpstr>
      <vt:lpstr>Document</vt:lpstr>
      <vt:lpstr>Clip</vt:lpstr>
      <vt:lpstr>Bitmap Image</vt:lpstr>
      <vt:lpstr>Introduction to the application of the principles to Hazard Analysis and Critical Control Points (HACCP)</vt:lpstr>
      <vt:lpstr>Introduction 1</vt:lpstr>
      <vt:lpstr>Introduction 2</vt:lpstr>
      <vt:lpstr>Concept </vt:lpstr>
      <vt:lpstr>Why use HACCP? </vt:lpstr>
      <vt:lpstr>Benefits of  HACCP to the food industry (1)</vt:lpstr>
      <vt:lpstr>Benefits of  HACCP to the food industry (2)</vt:lpstr>
      <vt:lpstr>The Principles of HACCP  </vt:lpstr>
      <vt:lpstr>HACCP Terminologies </vt:lpstr>
      <vt:lpstr>The HACCP System and Pre-requisite Programmes (PRPs)</vt:lpstr>
      <vt:lpstr>Overview of PRPs (1)</vt:lpstr>
      <vt:lpstr>Overview of PRPs (2)</vt:lpstr>
      <vt:lpstr>Overview of PRPs (3)</vt:lpstr>
      <vt:lpstr>Overview of PRPs (4)</vt:lpstr>
      <vt:lpstr>FOOD SAFETY HAZARDS</vt:lpstr>
      <vt:lpstr>What are Food Safety Hazards?</vt:lpstr>
      <vt:lpstr>Examples Of Biological Hazards (1)</vt:lpstr>
      <vt:lpstr>Examples Of Biological Hazards (2)</vt:lpstr>
      <vt:lpstr>Examples Of Chemical Hazards (1)</vt:lpstr>
      <vt:lpstr>Examples Of Chemical Hazards (2)</vt:lpstr>
      <vt:lpstr>Examples Of Physical Hazards (1)</vt:lpstr>
      <vt:lpstr>Examples Of Physical Hazards (2)</vt:lpstr>
      <vt:lpstr>Examples of Control Measures</vt:lpstr>
      <vt:lpstr>Practical Exercise 3</vt:lpstr>
      <vt:lpstr> Identification of hazards, the source and determination of measures to control them. </vt:lpstr>
      <vt:lpstr>Identification of hazards, the source and determination of measures to control them. </vt:lpstr>
      <vt:lpstr>Hint - 1</vt:lpstr>
      <vt:lpstr>Hint-2</vt:lpstr>
      <vt:lpstr>CCPs, Critical Limits and Monitoring Procedures</vt:lpstr>
      <vt:lpstr> Identification of Critical Control Points (CCPs) [Critical Stages in the food production chain ] </vt:lpstr>
      <vt:lpstr>CCPs (1)</vt:lpstr>
      <vt:lpstr>CCPs (2)</vt:lpstr>
      <vt:lpstr>CCPs (3)</vt:lpstr>
      <vt:lpstr>Tree  Approach</vt:lpstr>
      <vt:lpstr>CCPs (4)</vt:lpstr>
      <vt:lpstr>Establishing of critical limits for each critical point (1)</vt:lpstr>
      <vt:lpstr>Establishing of critical limits for each critical point (2)</vt:lpstr>
      <vt:lpstr>Establishing of critical limits for each critical point (3)</vt:lpstr>
      <vt:lpstr> Establishing monitoring procedures </vt:lpstr>
      <vt:lpstr>Monitoring of CCPs (1)</vt:lpstr>
      <vt:lpstr>Monitoring of CCPs (2)</vt:lpstr>
      <vt:lpstr>Monitoring of CCPs (3)</vt:lpstr>
      <vt:lpstr>Corrective Action, Verification, Records and Documentation Procedures</vt:lpstr>
      <vt:lpstr>Establishing corrective action procedures to be taken when necessary</vt:lpstr>
      <vt:lpstr>Corrective Action (1)</vt:lpstr>
      <vt:lpstr>Corrective Action (2)</vt:lpstr>
      <vt:lpstr>Corrective Action (3)</vt:lpstr>
      <vt:lpstr> Establishing verification procedures to ensure that the HACCP system is working efficiently </vt:lpstr>
      <vt:lpstr>Verification </vt:lpstr>
      <vt:lpstr> Documentation of the system and maintaining records of results </vt:lpstr>
      <vt:lpstr>  Documentation and records keeping (1) </vt:lpstr>
      <vt:lpstr>Documentation and records keeping (2)</vt:lpstr>
      <vt:lpstr>Documentation and records keeping (3)</vt:lpstr>
      <vt:lpstr>Implementation of a HACCP System and Internal Audit Protocols for the Food Service Industry</vt:lpstr>
      <vt:lpstr>Guidelines for the implementation of HACCP (1)</vt:lpstr>
      <vt:lpstr>Guidelines for the implementation of HACCP (2)</vt:lpstr>
      <vt:lpstr> Logic sequence for the implementation of HACCP(1) </vt:lpstr>
      <vt:lpstr> Logic sequence for the implementation of HACCP(2) </vt:lpstr>
      <vt:lpstr> Logic sequence for the implementation of HACCP(3) </vt:lpstr>
      <vt:lpstr>Functions of the HACCP team (1)</vt:lpstr>
      <vt:lpstr>Functions of the HACCP team (2)</vt:lpstr>
      <vt:lpstr>Why Use A Team? (1)</vt:lpstr>
      <vt:lpstr>Why Use A Team? (2)</vt:lpstr>
      <vt:lpstr>Planning the HACCP project</vt:lpstr>
      <vt:lpstr>Problems Encountered when Introducing HACCP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application of the principles to Hazard Analysis and Critical Control Points (HACCP)</dc:title>
  <dc:creator>user</dc:creator>
  <cp:lastModifiedBy>user</cp:lastModifiedBy>
  <cp:revision>43</cp:revision>
  <dcterms:created xsi:type="dcterms:W3CDTF">2009-07-21T17:53:14Z</dcterms:created>
  <dcterms:modified xsi:type="dcterms:W3CDTF">2011-12-12T19:52:34Z</dcterms:modified>
</cp:coreProperties>
</file>