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551" r:id="rId10"/>
    <p:sldId id="265" r:id="rId11"/>
    <p:sldId id="266" r:id="rId12"/>
    <p:sldId id="267" r:id="rId13"/>
    <p:sldId id="268" r:id="rId14"/>
    <p:sldId id="269" r:id="rId15"/>
    <p:sldId id="270" r:id="rId16"/>
    <p:sldId id="271" r:id="rId17"/>
    <p:sldId id="272" r:id="rId18"/>
    <p:sldId id="273" r:id="rId19"/>
    <p:sldId id="274" r:id="rId20"/>
    <p:sldId id="282" r:id="rId21"/>
    <p:sldId id="283" r:id="rId22"/>
    <p:sldId id="284" r:id="rId23"/>
    <p:sldId id="285" r:id="rId24"/>
    <p:sldId id="286" r:id="rId25"/>
    <p:sldId id="275" r:id="rId26"/>
    <p:sldId id="276" r:id="rId27"/>
    <p:sldId id="277" r:id="rId28"/>
    <p:sldId id="278" r:id="rId29"/>
    <p:sldId id="287" r:id="rId30"/>
    <p:sldId id="290" r:id="rId31"/>
    <p:sldId id="552" r:id="rId32"/>
    <p:sldId id="291" r:id="rId33"/>
    <p:sldId id="292" r:id="rId34"/>
    <p:sldId id="293" r:id="rId35"/>
    <p:sldId id="294" r:id="rId36"/>
    <p:sldId id="288" r:id="rId37"/>
    <p:sldId id="553" r:id="rId38"/>
    <p:sldId id="295" r:id="rId39"/>
    <p:sldId id="296" r:id="rId40"/>
    <p:sldId id="289" r:id="rId41"/>
    <p:sldId id="279" r:id="rId42"/>
    <p:sldId id="280" r:id="rId43"/>
    <p:sldId id="281"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53" r:id="rId91"/>
    <p:sldId id="354" r:id="rId92"/>
    <p:sldId id="355" r:id="rId93"/>
    <p:sldId id="356" r:id="rId94"/>
    <p:sldId id="357" r:id="rId95"/>
    <p:sldId id="358" r:id="rId96"/>
    <p:sldId id="359" r:id="rId97"/>
    <p:sldId id="360" r:id="rId98"/>
    <p:sldId id="361" r:id="rId99"/>
    <p:sldId id="362" r:id="rId100"/>
    <p:sldId id="363" r:id="rId101"/>
    <p:sldId id="364" r:id="rId102"/>
    <p:sldId id="554" r:id="rId103"/>
    <p:sldId id="365" r:id="rId104"/>
    <p:sldId id="366" r:id="rId105"/>
    <p:sldId id="367" r:id="rId106"/>
    <p:sldId id="368" r:id="rId107"/>
    <p:sldId id="369" r:id="rId108"/>
    <p:sldId id="370" r:id="rId109"/>
    <p:sldId id="371" r:id="rId110"/>
    <p:sldId id="372" r:id="rId111"/>
    <p:sldId id="373" r:id="rId112"/>
    <p:sldId id="374" r:id="rId113"/>
    <p:sldId id="375" r:id="rId114"/>
    <p:sldId id="376" r:id="rId115"/>
    <p:sldId id="377" r:id="rId116"/>
    <p:sldId id="378" r:id="rId117"/>
    <p:sldId id="379" r:id="rId118"/>
    <p:sldId id="556" r:id="rId119"/>
    <p:sldId id="346" r:id="rId120"/>
    <p:sldId id="347" r:id="rId121"/>
    <p:sldId id="348" r:id="rId122"/>
    <p:sldId id="349" r:id="rId123"/>
    <p:sldId id="350" r:id="rId124"/>
    <p:sldId id="351" r:id="rId125"/>
    <p:sldId id="352" r:id="rId126"/>
    <p:sldId id="330" r:id="rId127"/>
    <p:sldId id="380" r:id="rId128"/>
    <p:sldId id="381" r:id="rId129"/>
    <p:sldId id="382" r:id="rId130"/>
    <p:sldId id="383" r:id="rId131"/>
    <p:sldId id="384" r:id="rId132"/>
    <p:sldId id="385" r:id="rId133"/>
    <p:sldId id="386" r:id="rId134"/>
    <p:sldId id="387" r:id="rId135"/>
    <p:sldId id="331" r:id="rId136"/>
    <p:sldId id="388" r:id="rId137"/>
    <p:sldId id="557" r:id="rId138"/>
    <p:sldId id="389" r:id="rId139"/>
    <p:sldId id="390" r:id="rId140"/>
    <p:sldId id="391" r:id="rId141"/>
    <p:sldId id="392" r:id="rId142"/>
    <p:sldId id="558" r:id="rId143"/>
    <p:sldId id="559" r:id="rId144"/>
    <p:sldId id="393" r:id="rId145"/>
    <p:sldId id="394" r:id="rId146"/>
    <p:sldId id="395" r:id="rId147"/>
    <p:sldId id="396" r:id="rId148"/>
    <p:sldId id="397" r:id="rId149"/>
    <p:sldId id="398" r:id="rId150"/>
    <p:sldId id="399" r:id="rId151"/>
    <p:sldId id="400" r:id="rId152"/>
    <p:sldId id="401" r:id="rId153"/>
    <p:sldId id="560" r:id="rId154"/>
    <p:sldId id="402" r:id="rId155"/>
    <p:sldId id="403" r:id="rId156"/>
    <p:sldId id="404" r:id="rId157"/>
    <p:sldId id="408" r:id="rId158"/>
    <p:sldId id="409" r:id="rId159"/>
    <p:sldId id="410" r:id="rId160"/>
    <p:sldId id="411" r:id="rId161"/>
    <p:sldId id="412" r:id="rId162"/>
    <p:sldId id="413" r:id="rId163"/>
    <p:sldId id="414" r:id="rId164"/>
    <p:sldId id="415" r:id="rId165"/>
    <p:sldId id="40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06" r:id="rId195"/>
    <p:sldId id="444" r:id="rId196"/>
    <p:sldId id="445" r:id="rId197"/>
    <p:sldId id="446" r:id="rId198"/>
    <p:sldId id="555" r:id="rId199"/>
    <p:sldId id="447" r:id="rId200"/>
    <p:sldId id="448" r:id="rId201"/>
    <p:sldId id="407" r:id="rId202"/>
    <p:sldId id="449" r:id="rId203"/>
    <p:sldId id="450" r:id="rId204"/>
    <p:sldId id="561" r:id="rId205"/>
    <p:sldId id="451" r:id="rId206"/>
    <p:sldId id="452" r:id="rId207"/>
    <p:sldId id="453" r:id="rId208"/>
    <p:sldId id="454" r:id="rId209"/>
    <p:sldId id="455" r:id="rId210"/>
    <p:sldId id="456" r:id="rId211"/>
    <p:sldId id="457" r:id="rId212"/>
    <p:sldId id="458" r:id="rId213"/>
    <p:sldId id="459" r:id="rId214"/>
    <p:sldId id="460" r:id="rId215"/>
    <p:sldId id="461" r:id="rId216"/>
    <p:sldId id="462" r:id="rId217"/>
    <p:sldId id="463" r:id="rId218"/>
    <p:sldId id="464" r:id="rId219"/>
    <p:sldId id="465" r:id="rId220"/>
    <p:sldId id="466" r:id="rId221"/>
    <p:sldId id="467" r:id="rId222"/>
    <p:sldId id="468" r:id="rId223"/>
    <p:sldId id="469" r:id="rId224"/>
    <p:sldId id="470" r:id="rId225"/>
    <p:sldId id="471" r:id="rId226"/>
    <p:sldId id="472" r:id="rId227"/>
    <p:sldId id="473" r:id="rId228"/>
    <p:sldId id="474" r:id="rId229"/>
    <p:sldId id="475" r:id="rId230"/>
    <p:sldId id="476" r:id="rId231"/>
    <p:sldId id="477" r:id="rId232"/>
    <p:sldId id="478" r:id="rId233"/>
    <p:sldId id="481" r:id="rId234"/>
    <p:sldId id="482" r:id="rId235"/>
    <p:sldId id="483" r:id="rId236"/>
    <p:sldId id="484" r:id="rId237"/>
    <p:sldId id="485" r:id="rId238"/>
    <p:sldId id="486" r:id="rId239"/>
    <p:sldId id="479" r:id="rId240"/>
    <p:sldId id="480" r:id="rId241"/>
    <p:sldId id="487" r:id="rId242"/>
    <p:sldId id="488" r:id="rId243"/>
    <p:sldId id="489" r:id="rId244"/>
    <p:sldId id="493" r:id="rId245"/>
    <p:sldId id="494" r:id="rId246"/>
    <p:sldId id="490" r:id="rId247"/>
    <p:sldId id="491" r:id="rId248"/>
    <p:sldId id="492" r:id="rId249"/>
    <p:sldId id="499" r:id="rId250"/>
    <p:sldId id="495" r:id="rId251"/>
    <p:sldId id="496" r:id="rId252"/>
    <p:sldId id="497" r:id="rId253"/>
    <p:sldId id="500" r:id="rId254"/>
    <p:sldId id="501" r:id="rId255"/>
    <p:sldId id="502" r:id="rId256"/>
    <p:sldId id="503" r:id="rId257"/>
    <p:sldId id="504" r:id="rId258"/>
    <p:sldId id="505" r:id="rId259"/>
    <p:sldId id="506" r:id="rId260"/>
    <p:sldId id="507" r:id="rId261"/>
    <p:sldId id="508" r:id="rId262"/>
    <p:sldId id="511" r:id="rId263"/>
    <p:sldId id="512" r:id="rId264"/>
    <p:sldId id="513" r:id="rId265"/>
    <p:sldId id="514" r:id="rId266"/>
    <p:sldId id="515" r:id="rId267"/>
    <p:sldId id="509" r:id="rId268"/>
    <p:sldId id="510" r:id="rId269"/>
    <p:sldId id="498" r:id="rId270"/>
    <p:sldId id="516" r:id="rId271"/>
    <p:sldId id="517" r:id="rId272"/>
    <p:sldId id="518" r:id="rId273"/>
    <p:sldId id="519" r:id="rId274"/>
    <p:sldId id="520" r:id="rId275"/>
    <p:sldId id="521" r:id="rId276"/>
    <p:sldId id="522" r:id="rId277"/>
    <p:sldId id="523" r:id="rId278"/>
    <p:sldId id="525" r:id="rId279"/>
    <p:sldId id="526" r:id="rId280"/>
    <p:sldId id="527" r:id="rId281"/>
    <p:sldId id="528" r:id="rId282"/>
    <p:sldId id="529" r:id="rId283"/>
    <p:sldId id="530" r:id="rId284"/>
    <p:sldId id="531" r:id="rId285"/>
    <p:sldId id="532" r:id="rId286"/>
    <p:sldId id="533" r:id="rId287"/>
    <p:sldId id="534" r:id="rId288"/>
    <p:sldId id="535" r:id="rId289"/>
    <p:sldId id="536" r:id="rId290"/>
    <p:sldId id="550" r:id="rId291"/>
    <p:sldId id="537" r:id="rId292"/>
    <p:sldId id="524" r:id="rId293"/>
    <p:sldId id="538" r:id="rId294"/>
    <p:sldId id="539" r:id="rId295"/>
    <p:sldId id="540" r:id="rId296"/>
    <p:sldId id="541" r:id="rId297"/>
    <p:sldId id="542" r:id="rId298"/>
    <p:sldId id="549" r:id="rId299"/>
    <p:sldId id="543" r:id="rId300"/>
    <p:sldId id="544" r:id="rId301"/>
    <p:sldId id="545" r:id="rId302"/>
    <p:sldId id="546" r:id="rId303"/>
    <p:sldId id="547" r:id="rId304"/>
    <p:sldId id="548" r:id="rId30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53" d="100"/>
          <a:sy n="53" d="100"/>
        </p:scale>
        <p:origin x="86" y="101"/>
      </p:cViewPr>
      <p:guideLst/>
    </p:cSldViewPr>
  </p:slideViewPr>
  <p:notesTextViewPr>
    <p:cViewPr>
      <p:scale>
        <a:sx n="1" d="1"/>
        <a:sy n="1" d="1"/>
      </p:scale>
      <p:origin x="0" y="0"/>
    </p:cViewPr>
  </p:notesTextViewPr>
  <p:sorterViewPr>
    <p:cViewPr>
      <p:scale>
        <a:sx n="100" d="100"/>
        <a:sy n="100" d="100"/>
      </p:scale>
      <p:origin x="0" y="-116242"/>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303" Type="http://schemas.openxmlformats.org/officeDocument/2006/relationships/slide" Target="slides/slide302.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slide" Target="slides/slide267.xml"/><Relationship Id="rId289" Type="http://schemas.openxmlformats.org/officeDocument/2006/relationships/slide" Target="slides/slide288.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79" Type="http://schemas.openxmlformats.org/officeDocument/2006/relationships/slide" Target="slides/slide278.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presProps" Target="presProps.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slide" Target="slides/slide260.xml"/><Relationship Id="rId266" Type="http://schemas.openxmlformats.org/officeDocument/2006/relationships/slide" Target="slides/slide265.xml"/><Relationship Id="rId287" Type="http://schemas.openxmlformats.org/officeDocument/2006/relationships/slide" Target="slides/slide286.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282" Type="http://schemas.openxmlformats.org/officeDocument/2006/relationships/slide" Target="slides/slide28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72" Type="http://schemas.openxmlformats.org/officeDocument/2006/relationships/slide" Target="slides/slide271.xml"/><Relationship Id="rId293" Type="http://schemas.openxmlformats.org/officeDocument/2006/relationships/slide" Target="slides/slide292.xml"/><Relationship Id="rId302" Type="http://schemas.openxmlformats.org/officeDocument/2006/relationships/slide" Target="slides/slide301.xml"/><Relationship Id="rId30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283" Type="http://schemas.openxmlformats.org/officeDocument/2006/relationships/slide" Target="slides/slide28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theme" Target="theme/theme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3BB2FF3-E775-439E-A368-D888F5CF1892}" type="datetimeFigureOut">
              <a:rPr lang="en-US" smtClean="0"/>
              <a:t>12/15/2016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BBD747-95FB-4EC8-87A5-B30786A9D33E}" type="slidenum">
              <a:rPr lang="en-US" smtClean="0"/>
              <a:t>‹#›</a:t>
            </a:fld>
            <a:endParaRPr lang="en-US"/>
          </a:p>
        </p:txBody>
      </p:sp>
    </p:spTree>
    <p:extLst>
      <p:ext uri="{BB962C8B-B14F-4D97-AF65-F5344CB8AC3E}">
        <p14:creationId xmlns:p14="http://schemas.microsoft.com/office/powerpoint/2010/main" val="3283056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BB2FF3-E775-439E-A368-D888F5CF1892}" type="datetimeFigureOut">
              <a:rPr lang="en-US" smtClean="0"/>
              <a:t>12/15/2016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BBD747-95FB-4EC8-87A5-B30786A9D33E}" type="slidenum">
              <a:rPr lang="en-US" smtClean="0"/>
              <a:t>‹#›</a:t>
            </a:fld>
            <a:endParaRPr lang="en-US"/>
          </a:p>
        </p:txBody>
      </p:sp>
    </p:spTree>
    <p:extLst>
      <p:ext uri="{BB962C8B-B14F-4D97-AF65-F5344CB8AC3E}">
        <p14:creationId xmlns:p14="http://schemas.microsoft.com/office/powerpoint/2010/main" val="421065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3BB2FF3-E775-439E-A368-D888F5CF1892}" type="datetimeFigureOut">
              <a:rPr lang="en-US" smtClean="0"/>
              <a:t>12/15/2016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BBD747-95FB-4EC8-87A5-B30786A9D33E}" type="slidenum">
              <a:rPr lang="en-US" smtClean="0"/>
              <a:t>‹#›</a:t>
            </a:fld>
            <a:endParaRPr lang="en-US"/>
          </a:p>
        </p:txBody>
      </p:sp>
    </p:spTree>
    <p:extLst>
      <p:ext uri="{BB962C8B-B14F-4D97-AF65-F5344CB8AC3E}">
        <p14:creationId xmlns:p14="http://schemas.microsoft.com/office/powerpoint/2010/main" val="1639017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3BB2FF3-E775-439E-A368-D888F5CF1892}" type="datetimeFigureOut">
              <a:rPr lang="en-US" smtClean="0"/>
              <a:t>12/15/2016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BBD747-95FB-4EC8-87A5-B30786A9D33E}" type="slidenum">
              <a:rPr lang="en-US" smtClean="0"/>
              <a:t>‹#›</a:t>
            </a:fld>
            <a:endParaRPr lang="en-US"/>
          </a:p>
        </p:txBody>
      </p:sp>
    </p:spTree>
    <p:extLst>
      <p:ext uri="{BB962C8B-B14F-4D97-AF65-F5344CB8AC3E}">
        <p14:creationId xmlns:p14="http://schemas.microsoft.com/office/powerpoint/2010/main" val="3028868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3BB2FF3-E775-439E-A368-D888F5CF1892}" type="datetimeFigureOut">
              <a:rPr lang="en-US" smtClean="0"/>
              <a:t>12/15/2016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3BBD747-95FB-4EC8-87A5-B30786A9D33E}" type="slidenum">
              <a:rPr lang="en-US" smtClean="0"/>
              <a:t>‹#›</a:t>
            </a:fld>
            <a:endParaRPr lang="en-US"/>
          </a:p>
        </p:txBody>
      </p:sp>
    </p:spTree>
    <p:extLst>
      <p:ext uri="{BB962C8B-B14F-4D97-AF65-F5344CB8AC3E}">
        <p14:creationId xmlns:p14="http://schemas.microsoft.com/office/powerpoint/2010/main" val="3248624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3BB2FF3-E775-439E-A368-D888F5CF1892}" type="datetimeFigureOut">
              <a:rPr lang="en-US" smtClean="0"/>
              <a:t>12/15/2016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3BBD747-95FB-4EC8-87A5-B30786A9D33E}" type="slidenum">
              <a:rPr lang="en-US" smtClean="0"/>
              <a:t>‹#›</a:t>
            </a:fld>
            <a:endParaRPr lang="en-US"/>
          </a:p>
        </p:txBody>
      </p:sp>
    </p:spTree>
    <p:extLst>
      <p:ext uri="{BB962C8B-B14F-4D97-AF65-F5344CB8AC3E}">
        <p14:creationId xmlns:p14="http://schemas.microsoft.com/office/powerpoint/2010/main" val="104674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BB2FF3-E775-439E-A368-D888F5CF1892}" type="datetimeFigureOut">
              <a:rPr lang="en-US" smtClean="0"/>
              <a:t>12/15/2016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3BBD747-95FB-4EC8-87A5-B30786A9D33E}" type="slidenum">
              <a:rPr lang="en-US" smtClean="0"/>
              <a:t>‹#›</a:t>
            </a:fld>
            <a:endParaRPr lang="en-US"/>
          </a:p>
        </p:txBody>
      </p:sp>
    </p:spTree>
    <p:extLst>
      <p:ext uri="{BB962C8B-B14F-4D97-AF65-F5344CB8AC3E}">
        <p14:creationId xmlns:p14="http://schemas.microsoft.com/office/powerpoint/2010/main" val="1954938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BB2FF3-E775-439E-A368-D888F5CF1892}" type="datetimeFigureOut">
              <a:rPr lang="en-US" smtClean="0"/>
              <a:t>12/15/2016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BBD747-95FB-4EC8-87A5-B30786A9D33E}" type="slidenum">
              <a:rPr lang="en-US" smtClean="0"/>
              <a:t>‹#›</a:t>
            </a:fld>
            <a:endParaRPr lang="en-US"/>
          </a:p>
        </p:txBody>
      </p:sp>
    </p:spTree>
    <p:extLst>
      <p:ext uri="{BB962C8B-B14F-4D97-AF65-F5344CB8AC3E}">
        <p14:creationId xmlns:p14="http://schemas.microsoft.com/office/powerpoint/2010/main" val="4220437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BB2FF3-E775-439E-A368-D888F5CF1892}" type="datetimeFigureOut">
              <a:rPr lang="en-US" smtClean="0"/>
              <a:t>12/15/2016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BBD747-95FB-4EC8-87A5-B30786A9D33E}" type="slidenum">
              <a:rPr lang="en-US" smtClean="0"/>
              <a:t>‹#›</a:t>
            </a:fld>
            <a:endParaRPr lang="en-US"/>
          </a:p>
        </p:txBody>
      </p:sp>
    </p:spTree>
    <p:extLst>
      <p:ext uri="{BB962C8B-B14F-4D97-AF65-F5344CB8AC3E}">
        <p14:creationId xmlns:p14="http://schemas.microsoft.com/office/powerpoint/2010/main" val="3846992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BB2FF3-E775-439E-A368-D888F5CF1892}" type="datetimeFigureOut">
              <a:rPr lang="en-US" smtClean="0"/>
              <a:t>12/15/2016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BBD747-95FB-4EC8-87A5-B30786A9D33E}" type="slidenum">
              <a:rPr lang="en-US" smtClean="0"/>
              <a:t>‹#›</a:t>
            </a:fld>
            <a:endParaRPr lang="en-US"/>
          </a:p>
        </p:txBody>
      </p:sp>
    </p:spTree>
    <p:extLst>
      <p:ext uri="{BB962C8B-B14F-4D97-AF65-F5344CB8AC3E}">
        <p14:creationId xmlns:p14="http://schemas.microsoft.com/office/powerpoint/2010/main" val="4179026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3BB2FF3-E775-439E-A368-D888F5CF1892}" type="datetimeFigureOut">
              <a:rPr lang="en-US" smtClean="0"/>
              <a:t>12/15/2016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BBD747-95FB-4EC8-87A5-B30786A9D33E}" type="slidenum">
              <a:rPr lang="en-US" smtClean="0"/>
              <a:t>‹#›</a:t>
            </a:fld>
            <a:endParaRPr lang="en-US"/>
          </a:p>
        </p:txBody>
      </p:sp>
    </p:spTree>
    <p:extLst>
      <p:ext uri="{BB962C8B-B14F-4D97-AF65-F5344CB8AC3E}">
        <p14:creationId xmlns:p14="http://schemas.microsoft.com/office/powerpoint/2010/main" val="144903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BB2FF3-E775-439E-A368-D888F5CF1892}" type="datetimeFigureOut">
              <a:rPr lang="en-US" smtClean="0"/>
              <a:t>12/15/2016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BBD747-95FB-4EC8-87A5-B30786A9D33E}" type="slidenum">
              <a:rPr lang="en-US" smtClean="0"/>
              <a:t>‹#›</a:t>
            </a:fld>
            <a:endParaRPr lang="en-US"/>
          </a:p>
        </p:txBody>
      </p:sp>
    </p:spTree>
    <p:extLst>
      <p:ext uri="{BB962C8B-B14F-4D97-AF65-F5344CB8AC3E}">
        <p14:creationId xmlns:p14="http://schemas.microsoft.com/office/powerpoint/2010/main" val="163611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4"/>
            <a:ext cx="10515600" cy="860612"/>
          </a:xfrm>
        </p:spPr>
        <p:txBody>
          <a:bodyPr>
            <a:normAutofit fontScale="90000"/>
          </a:bodyPr>
          <a:lstStyle/>
          <a:p>
            <a:pPr algn="ctr"/>
            <a:r>
              <a:rPr lang="en-US" b="1" dirty="0" smtClean="0"/>
              <a:t/>
            </a:r>
            <a:br>
              <a:rPr lang="en-US" b="1" dirty="0" smtClean="0"/>
            </a:br>
            <a:r>
              <a:rPr lang="en-US" b="1" dirty="0" smtClean="0"/>
              <a:t>GENETIC CODE </a:t>
            </a:r>
            <a:r>
              <a:rPr lang="en-US" dirty="0" smtClean="0"/>
              <a:t/>
            </a:r>
            <a:br>
              <a:rPr lang="en-US" dirty="0" smtClean="0"/>
            </a:br>
            <a:endParaRPr lang="en-US" dirty="0"/>
          </a:p>
        </p:txBody>
      </p:sp>
      <p:sp>
        <p:nvSpPr>
          <p:cNvPr id="3" name="Content Placeholder 2"/>
          <p:cNvSpPr>
            <a:spLocks noGrp="1"/>
          </p:cNvSpPr>
          <p:nvPr>
            <p:ph idx="1"/>
          </p:nvPr>
        </p:nvSpPr>
        <p:spPr>
          <a:xfrm>
            <a:off x="838200" y="981636"/>
            <a:ext cx="10515600" cy="5634317"/>
          </a:xfrm>
        </p:spPr>
        <p:txBody>
          <a:bodyPr>
            <a:noAutofit/>
          </a:bodyPr>
          <a:lstStyle/>
          <a:p>
            <a:pPr lvl="0"/>
            <a:r>
              <a:rPr lang="en-US" sz="4000" dirty="0" smtClean="0"/>
              <a:t>Genetic </a:t>
            </a:r>
            <a:r>
              <a:rPr lang="en-US" sz="4000" dirty="0"/>
              <a:t>code refers to the linear relationship between amino acids in the polypeptide chain and triplets in DNA (or RNA). </a:t>
            </a:r>
          </a:p>
          <a:p>
            <a:pPr lvl="0"/>
            <a:r>
              <a:rPr lang="en-US" sz="4000" dirty="0"/>
              <a:t>Gamow (1954) proposed that a sequence of three nitrogenous bases code for one amino acid. </a:t>
            </a:r>
          </a:p>
          <a:p>
            <a:pPr lvl="0"/>
            <a:r>
              <a:rPr lang="en-US" sz="4000" dirty="0"/>
              <a:t>Crick (1961) pointed out that three consecutive nucleotides in mRNA strand determine the position of a single amino acid in a polypeptide chain. </a:t>
            </a:r>
          </a:p>
          <a:p>
            <a:endParaRPr lang="en-US" sz="4000" dirty="0"/>
          </a:p>
        </p:txBody>
      </p:sp>
    </p:spTree>
    <p:extLst>
      <p:ext uri="{BB962C8B-B14F-4D97-AF65-F5344CB8AC3E}">
        <p14:creationId xmlns:p14="http://schemas.microsoft.com/office/powerpoint/2010/main" val="1837741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726141"/>
          </a:xfrm>
        </p:spPr>
        <p:txBody>
          <a:bodyPr>
            <a:normAutofit/>
          </a:bodyPr>
          <a:lstStyle/>
          <a:p>
            <a:pPr algn="ctr"/>
            <a:r>
              <a:rPr lang="en-US" b="1" dirty="0" smtClean="0"/>
              <a:t>Genetic code cont’d</a:t>
            </a:r>
            <a:endParaRPr lang="en-US" dirty="0"/>
          </a:p>
        </p:txBody>
      </p:sp>
      <p:sp>
        <p:nvSpPr>
          <p:cNvPr id="3" name="Content Placeholder 2"/>
          <p:cNvSpPr>
            <a:spLocks noGrp="1"/>
          </p:cNvSpPr>
          <p:nvPr>
            <p:ph idx="1"/>
          </p:nvPr>
        </p:nvSpPr>
        <p:spPr>
          <a:xfrm>
            <a:off x="838200" y="1035424"/>
            <a:ext cx="10515600" cy="5141539"/>
          </a:xfrm>
        </p:spPr>
        <p:txBody>
          <a:bodyPr>
            <a:noAutofit/>
          </a:bodyPr>
          <a:lstStyle/>
          <a:p>
            <a:pPr lvl="0"/>
            <a:r>
              <a:rPr lang="en-US" sz="4000" dirty="0" smtClean="0"/>
              <a:t>Nirenberg and </a:t>
            </a:r>
            <a:r>
              <a:rPr lang="en-US" sz="4000" dirty="0" err="1" smtClean="0"/>
              <a:t>Mathaei</a:t>
            </a:r>
            <a:r>
              <a:rPr lang="en-US" sz="4000" dirty="0" smtClean="0"/>
              <a:t> provided experimental evidence in support of triplet nature of genetic code. </a:t>
            </a:r>
          </a:p>
          <a:p>
            <a:pPr lvl="0"/>
            <a:r>
              <a:rPr lang="en-US" sz="4000" dirty="0"/>
              <a:t>Out of 64 codons, three are terminating codons (UAA, UAG and UGA). </a:t>
            </a:r>
          </a:p>
          <a:p>
            <a:pPr lvl="0"/>
            <a:r>
              <a:rPr lang="en-US" sz="4000" dirty="0"/>
              <a:t>Besides, there are amino acids, which are coded by more than one codon. </a:t>
            </a:r>
          </a:p>
          <a:p>
            <a:pPr lvl="0"/>
            <a:r>
              <a:rPr lang="en-US" sz="4000" dirty="0" smtClean="0"/>
              <a:t>Only amino acid methionine and tryptophan are coded by one codon. </a:t>
            </a:r>
          </a:p>
        </p:txBody>
      </p:sp>
    </p:spTree>
    <p:extLst>
      <p:ext uri="{BB962C8B-B14F-4D97-AF65-F5344CB8AC3E}">
        <p14:creationId xmlns:p14="http://schemas.microsoft.com/office/powerpoint/2010/main" val="268399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75"/>
            <a:ext cx="10515600" cy="645459"/>
          </a:xfrm>
        </p:spPr>
        <p:txBody>
          <a:bodyPr>
            <a:normAutofit fontScale="90000"/>
          </a:bodyPr>
          <a:lstStyle/>
          <a:p>
            <a:pPr algn="ctr"/>
            <a:r>
              <a:rPr lang="en-US" b="1" dirty="0" smtClean="0"/>
              <a:t>Genetic code cont’d</a:t>
            </a:r>
            <a:endParaRPr lang="en-US" dirty="0"/>
          </a:p>
        </p:txBody>
      </p:sp>
      <p:sp>
        <p:nvSpPr>
          <p:cNvPr id="3" name="Content Placeholder 2"/>
          <p:cNvSpPr>
            <a:spLocks noGrp="1"/>
          </p:cNvSpPr>
          <p:nvPr>
            <p:ph idx="1"/>
          </p:nvPr>
        </p:nvSpPr>
        <p:spPr>
          <a:xfrm>
            <a:off x="838200" y="981635"/>
            <a:ext cx="10515600" cy="5195328"/>
          </a:xfrm>
        </p:spPr>
        <p:txBody>
          <a:bodyPr>
            <a:normAutofit/>
          </a:bodyPr>
          <a:lstStyle/>
          <a:p>
            <a:r>
              <a:rPr lang="en-US" sz="4000" dirty="0" smtClean="0"/>
              <a:t>Leucine, serine and arginine have six different codons.</a:t>
            </a:r>
          </a:p>
          <a:p>
            <a:pPr lvl="0"/>
            <a:r>
              <a:rPr lang="en-US" sz="4000" dirty="0"/>
              <a:t>Codon AUG acts as start codon and it codes for amino acid methionine. </a:t>
            </a:r>
          </a:p>
          <a:p>
            <a:r>
              <a:rPr lang="en-US" sz="4000" dirty="0"/>
              <a:t>Codons that specify the same amino acids are called synonyms</a:t>
            </a:r>
            <a:endParaRPr lang="en-US" sz="4000" dirty="0" smtClean="0"/>
          </a:p>
          <a:p>
            <a:endParaRPr lang="en-US" sz="4000" dirty="0"/>
          </a:p>
        </p:txBody>
      </p:sp>
    </p:spTree>
    <p:extLst>
      <p:ext uri="{BB962C8B-B14F-4D97-AF65-F5344CB8AC3E}">
        <p14:creationId xmlns:p14="http://schemas.microsoft.com/office/powerpoint/2010/main" val="2468712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3"/>
            <a:ext cx="10515600" cy="1008528"/>
          </a:xfrm>
        </p:spPr>
        <p:txBody>
          <a:bodyPr>
            <a:noAutofit/>
          </a:bodyPr>
          <a:lstStyle/>
          <a:p>
            <a:pPr algn="ctr"/>
            <a:r>
              <a:rPr lang="en-US" b="1" dirty="0" smtClean="0"/>
              <a:t>Genetic code cont’d</a:t>
            </a:r>
            <a:endParaRPr lang="en-US" dirty="0"/>
          </a:p>
        </p:txBody>
      </p:sp>
      <p:sp>
        <p:nvSpPr>
          <p:cNvPr id="3" name="Content Placeholder 2"/>
          <p:cNvSpPr>
            <a:spLocks noGrp="1"/>
          </p:cNvSpPr>
          <p:nvPr>
            <p:ph idx="1"/>
          </p:nvPr>
        </p:nvSpPr>
        <p:spPr>
          <a:xfrm>
            <a:off x="838200" y="1438835"/>
            <a:ext cx="10515600" cy="4738128"/>
          </a:xfrm>
        </p:spPr>
        <p:txBody>
          <a:bodyPr>
            <a:normAutofit/>
          </a:bodyPr>
          <a:lstStyle/>
          <a:p>
            <a:r>
              <a:rPr lang="en-US" sz="4000" dirty="0"/>
              <a:t>Multiple codons for an amino acid generally show similarity in the first two nitrogenous bases and it is the third base that varies. For example, GGU, </a:t>
            </a:r>
            <a:r>
              <a:rPr lang="en-US" sz="4000" i="1" dirty="0"/>
              <a:t>GGC, </a:t>
            </a:r>
            <a:r>
              <a:rPr lang="en-US" sz="4000" dirty="0"/>
              <a:t>GGA and </a:t>
            </a:r>
            <a:r>
              <a:rPr lang="en-US" sz="4000" i="1" dirty="0"/>
              <a:t>GGG </a:t>
            </a:r>
            <a:r>
              <a:rPr lang="en-US" sz="4000" dirty="0"/>
              <a:t>code for amino acid glycine.</a:t>
            </a:r>
          </a:p>
        </p:txBody>
      </p:sp>
    </p:spTree>
    <p:extLst>
      <p:ext uri="{BB962C8B-B14F-4D97-AF65-F5344CB8AC3E}">
        <p14:creationId xmlns:p14="http://schemas.microsoft.com/office/powerpoint/2010/main" val="2309029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2047"/>
            <a:ext cx="10515600" cy="685801"/>
          </a:xfrm>
        </p:spPr>
        <p:txBody>
          <a:bodyPr>
            <a:normAutofit fontScale="90000"/>
          </a:bodyPr>
          <a:lstStyle/>
          <a:p>
            <a:pPr algn="ctr"/>
            <a:r>
              <a:rPr lang="en-US" b="1" dirty="0" smtClean="0"/>
              <a:t>Genetic code cont’d</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6177" y="766484"/>
            <a:ext cx="10730752" cy="6091516"/>
          </a:xfrm>
        </p:spPr>
      </p:pic>
    </p:spTree>
    <p:extLst>
      <p:ext uri="{BB962C8B-B14F-4D97-AF65-F5344CB8AC3E}">
        <p14:creationId xmlns:p14="http://schemas.microsoft.com/office/powerpoint/2010/main" val="1263139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3"/>
            <a:ext cx="10515600" cy="685799"/>
          </a:xfrm>
        </p:spPr>
        <p:txBody>
          <a:bodyPr>
            <a:normAutofit fontScale="90000"/>
          </a:bodyPr>
          <a:lstStyle/>
          <a:p>
            <a:pPr algn="ctr"/>
            <a:r>
              <a:rPr lang="en-US" b="1" dirty="0" smtClean="0"/>
              <a:t>Genetic code cont’d</a:t>
            </a:r>
            <a:endParaRPr lang="en-US" dirty="0"/>
          </a:p>
        </p:txBody>
      </p:sp>
      <p:sp>
        <p:nvSpPr>
          <p:cNvPr id="3" name="Content Placeholder 2"/>
          <p:cNvSpPr>
            <a:spLocks noGrp="1"/>
          </p:cNvSpPr>
          <p:nvPr>
            <p:ph idx="1"/>
          </p:nvPr>
        </p:nvSpPr>
        <p:spPr>
          <a:xfrm>
            <a:off x="838200" y="1075765"/>
            <a:ext cx="10515600" cy="5101198"/>
          </a:xfrm>
        </p:spPr>
        <p:txBody>
          <a:bodyPr>
            <a:normAutofit/>
          </a:bodyPr>
          <a:lstStyle/>
          <a:p>
            <a:r>
              <a:rPr lang="en-US" sz="4000" dirty="0"/>
              <a:t>Dictionary of genetic code </a:t>
            </a:r>
          </a:p>
          <a:p>
            <a:r>
              <a:rPr lang="en-US" sz="4000" dirty="0"/>
              <a:t>* GUG codes for methionine, When used as initiating codon </a:t>
            </a:r>
            <a:br>
              <a:rPr lang="en-US" sz="4000" dirty="0"/>
            </a:br>
            <a:r>
              <a:rPr lang="en-US" sz="4000" dirty="0"/>
              <a:t>* UAA, UAG and UGA are termination codons </a:t>
            </a:r>
          </a:p>
          <a:p>
            <a:pPr lvl="0"/>
            <a:r>
              <a:rPr lang="en-US" sz="4000" dirty="0"/>
              <a:t>The variation in the third nitrogenous base (known as wobble base) can be explained by the 'wobble hypothesis' . </a:t>
            </a:r>
          </a:p>
          <a:p>
            <a:endParaRPr lang="en-US" sz="4000" dirty="0"/>
          </a:p>
        </p:txBody>
      </p:sp>
    </p:spTree>
    <p:extLst>
      <p:ext uri="{BB962C8B-B14F-4D97-AF65-F5344CB8AC3E}">
        <p14:creationId xmlns:p14="http://schemas.microsoft.com/office/powerpoint/2010/main" val="1336388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793376"/>
          </a:xfrm>
        </p:spPr>
        <p:txBody>
          <a:bodyPr>
            <a:normAutofit/>
          </a:bodyPr>
          <a:lstStyle/>
          <a:p>
            <a:pPr algn="ctr"/>
            <a:r>
              <a:rPr lang="en-US" b="1" dirty="0" smtClean="0"/>
              <a:t>Genetic code cont’d</a:t>
            </a:r>
            <a:endParaRPr lang="en-US" dirty="0"/>
          </a:p>
        </p:txBody>
      </p:sp>
      <p:sp>
        <p:nvSpPr>
          <p:cNvPr id="3" name="Content Placeholder 2"/>
          <p:cNvSpPr>
            <a:spLocks noGrp="1"/>
          </p:cNvSpPr>
          <p:nvPr>
            <p:ph idx="1"/>
          </p:nvPr>
        </p:nvSpPr>
        <p:spPr>
          <a:xfrm>
            <a:off x="838200" y="1008529"/>
            <a:ext cx="10515600" cy="5168434"/>
          </a:xfrm>
        </p:spPr>
        <p:txBody>
          <a:bodyPr>
            <a:normAutofit/>
          </a:bodyPr>
          <a:lstStyle/>
          <a:p>
            <a:r>
              <a:rPr lang="en-US" sz="4000" dirty="0"/>
              <a:t>The wobble hypothesis was proposed by Crick (1965), which states that the first two nitrogenous bases of the triplet codon pair according to set rule, i.e., A with U, G with C but the third base has much more freedom of pairing. The wobble base permits more than one type of pairing</a:t>
            </a:r>
          </a:p>
        </p:txBody>
      </p:sp>
    </p:spTree>
    <p:extLst>
      <p:ext uri="{BB962C8B-B14F-4D97-AF65-F5344CB8AC3E}">
        <p14:creationId xmlns:p14="http://schemas.microsoft.com/office/powerpoint/2010/main" val="829139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5"/>
            <a:ext cx="10515600" cy="766481"/>
          </a:xfrm>
        </p:spPr>
        <p:txBody>
          <a:bodyPr/>
          <a:lstStyle/>
          <a:p>
            <a:pPr algn="ctr"/>
            <a:r>
              <a:rPr lang="en-US" b="1" dirty="0" smtClean="0"/>
              <a:t>Genetic code cont’d</a:t>
            </a:r>
            <a:endParaRPr lang="en-US" dirty="0"/>
          </a:p>
        </p:txBody>
      </p:sp>
      <p:sp>
        <p:nvSpPr>
          <p:cNvPr id="3" name="Content Placeholder 2"/>
          <p:cNvSpPr>
            <a:spLocks noGrp="1"/>
          </p:cNvSpPr>
          <p:nvPr>
            <p:ph idx="1"/>
          </p:nvPr>
        </p:nvSpPr>
        <p:spPr>
          <a:xfrm>
            <a:off x="838200" y="1089212"/>
            <a:ext cx="10515600" cy="5087751"/>
          </a:xfrm>
        </p:spPr>
        <p:txBody>
          <a:bodyPr>
            <a:normAutofit/>
          </a:bodyPr>
          <a:lstStyle/>
          <a:p>
            <a:pPr lvl="0"/>
            <a:r>
              <a:rPr lang="en-US" sz="4000" dirty="0"/>
              <a:t>Crick (1965) found that if U is present at the first position of anticodon, it can pair with A or G at the third position of codon. Similarly, G present in anticodon can pair either with C or U. </a:t>
            </a:r>
          </a:p>
          <a:p>
            <a:r>
              <a:rPr lang="en-US" sz="4000" dirty="0"/>
              <a:t>Thus, wobbling allows economy of </a:t>
            </a:r>
            <a:r>
              <a:rPr lang="en-US" sz="4000" dirty="0" err="1"/>
              <a:t>tRNA</a:t>
            </a:r>
            <a:r>
              <a:rPr lang="en-US" sz="4000" dirty="0"/>
              <a:t> molecule</a:t>
            </a:r>
          </a:p>
        </p:txBody>
      </p:sp>
    </p:spTree>
    <p:extLst>
      <p:ext uri="{BB962C8B-B14F-4D97-AF65-F5344CB8AC3E}">
        <p14:creationId xmlns:p14="http://schemas.microsoft.com/office/powerpoint/2010/main" val="3259260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365"/>
            <a:ext cx="10515600" cy="887507"/>
          </a:xfrm>
        </p:spPr>
        <p:txBody>
          <a:bodyPr>
            <a:normAutofit/>
          </a:bodyPr>
          <a:lstStyle/>
          <a:p>
            <a:pPr algn="ctr"/>
            <a:r>
              <a:rPr lang="en-US" b="1" dirty="0" smtClean="0"/>
              <a:t>Anticodon-Codon Base-Pairing </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9894" y="1344706"/>
            <a:ext cx="9628094" cy="5378823"/>
          </a:xfrm>
        </p:spPr>
      </p:pic>
    </p:spTree>
    <p:extLst>
      <p:ext uri="{BB962C8B-B14F-4D97-AF65-F5344CB8AC3E}">
        <p14:creationId xmlns:p14="http://schemas.microsoft.com/office/powerpoint/2010/main" val="2147990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2"/>
            <a:ext cx="10515600" cy="779930"/>
          </a:xfrm>
        </p:spPr>
        <p:txBody>
          <a:bodyPr>
            <a:normAutofit/>
          </a:bodyPr>
          <a:lstStyle/>
          <a:p>
            <a:pPr algn="ctr"/>
            <a:r>
              <a:rPr lang="en-US" b="1" dirty="0" smtClean="0"/>
              <a:t>Characteristics of Genetic Code</a:t>
            </a:r>
            <a:endParaRPr lang="en-US" dirty="0"/>
          </a:p>
        </p:txBody>
      </p:sp>
      <p:sp>
        <p:nvSpPr>
          <p:cNvPr id="3" name="Content Placeholder 2"/>
          <p:cNvSpPr>
            <a:spLocks noGrp="1"/>
          </p:cNvSpPr>
          <p:nvPr>
            <p:ph idx="1"/>
          </p:nvPr>
        </p:nvSpPr>
        <p:spPr>
          <a:xfrm>
            <a:off x="838200" y="1062318"/>
            <a:ext cx="10515600" cy="5114645"/>
          </a:xfrm>
        </p:spPr>
        <p:txBody>
          <a:bodyPr>
            <a:noAutofit/>
          </a:bodyPr>
          <a:lstStyle/>
          <a:p>
            <a:pPr marL="0" indent="0">
              <a:buNone/>
            </a:pPr>
            <a:r>
              <a:rPr lang="en-US" sz="3600" b="1" dirty="0" smtClean="0"/>
              <a:t>1. Triplet </a:t>
            </a:r>
            <a:r>
              <a:rPr lang="en-US" sz="3600" dirty="0"/>
              <a:t>- Genetic code is triplet, i.e., a sequence of three nitrogenous bases in mRNA code for one amino acid. </a:t>
            </a:r>
          </a:p>
          <a:p>
            <a:pPr marL="0" lvl="0" indent="0">
              <a:buNone/>
            </a:pPr>
            <a:r>
              <a:rPr lang="en-US" sz="3600" b="1" dirty="0" smtClean="0"/>
              <a:t>2. Non-overlapping </a:t>
            </a:r>
            <a:r>
              <a:rPr lang="en-US" sz="3600" dirty="0"/>
              <a:t>- Genetic code is non-overlapping, i.e., one base never participates in the formation of two adjacent codons. </a:t>
            </a:r>
          </a:p>
          <a:p>
            <a:pPr marL="0" indent="0">
              <a:buNone/>
            </a:pPr>
            <a:r>
              <a:rPr lang="en-US" sz="3600" b="1" dirty="0" smtClean="0"/>
              <a:t>3. </a:t>
            </a:r>
            <a:r>
              <a:rPr lang="en-US" sz="3600" b="1" dirty="0" err="1" smtClean="0"/>
              <a:t>Commaless</a:t>
            </a:r>
            <a:r>
              <a:rPr lang="en-US" sz="3600" b="1" dirty="0" smtClean="0"/>
              <a:t> </a:t>
            </a:r>
            <a:r>
              <a:rPr lang="en-US" sz="3600" dirty="0"/>
              <a:t>- There is no punctuation mark between two adjacent codons, i.e., genetic code is </a:t>
            </a:r>
            <a:r>
              <a:rPr lang="en-US" sz="3600" dirty="0" err="1"/>
              <a:t>commaless</a:t>
            </a:r>
            <a:endParaRPr lang="en-US" sz="3600" dirty="0"/>
          </a:p>
        </p:txBody>
      </p:sp>
    </p:spTree>
    <p:extLst>
      <p:ext uri="{BB962C8B-B14F-4D97-AF65-F5344CB8AC3E}">
        <p14:creationId xmlns:p14="http://schemas.microsoft.com/office/powerpoint/2010/main" val="4256505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77"/>
            <a:ext cx="10515600" cy="766482"/>
          </a:xfrm>
        </p:spPr>
        <p:txBody>
          <a:bodyPr/>
          <a:lstStyle/>
          <a:p>
            <a:pPr algn="ctr"/>
            <a:r>
              <a:rPr lang="en-US" b="1" dirty="0" smtClean="0"/>
              <a:t>Characteristics of Genetic Code</a:t>
            </a:r>
            <a:endParaRPr lang="en-US" dirty="0"/>
          </a:p>
        </p:txBody>
      </p:sp>
      <p:sp>
        <p:nvSpPr>
          <p:cNvPr id="3" name="Content Placeholder 2"/>
          <p:cNvSpPr>
            <a:spLocks noGrp="1"/>
          </p:cNvSpPr>
          <p:nvPr>
            <p:ph idx="1"/>
          </p:nvPr>
        </p:nvSpPr>
        <p:spPr>
          <a:xfrm>
            <a:off x="838200" y="874059"/>
            <a:ext cx="10515600" cy="5302904"/>
          </a:xfrm>
        </p:spPr>
        <p:txBody>
          <a:bodyPr>
            <a:normAutofit/>
          </a:bodyPr>
          <a:lstStyle/>
          <a:p>
            <a:pPr marL="0" lvl="0" indent="0">
              <a:buNone/>
            </a:pPr>
            <a:r>
              <a:rPr lang="en-US" sz="4000" b="1" dirty="0" smtClean="0"/>
              <a:t>4. Universal</a:t>
            </a:r>
            <a:r>
              <a:rPr lang="en-US" sz="4000" dirty="0" smtClean="0"/>
              <a:t>- </a:t>
            </a:r>
            <a:r>
              <a:rPr lang="en-US" sz="4000" dirty="0"/>
              <a:t>Genetic code is almost universal, i.e., one codon always codes for the same amino acid in all organisms. </a:t>
            </a:r>
          </a:p>
          <a:p>
            <a:pPr marL="0" lvl="0" indent="0">
              <a:buNone/>
            </a:pPr>
            <a:r>
              <a:rPr lang="en-US" sz="4000" b="1" dirty="0" smtClean="0"/>
              <a:t>5. Degenerate</a:t>
            </a:r>
            <a:r>
              <a:rPr lang="en-US" sz="4000" dirty="0" smtClean="0"/>
              <a:t> </a:t>
            </a:r>
            <a:r>
              <a:rPr lang="en-US" sz="4000" dirty="0"/>
              <a:t>- There are amino acids, which are coded by more than one codon. Thus, genetic code is degenerate. </a:t>
            </a:r>
          </a:p>
          <a:p>
            <a:pPr marL="0" indent="0">
              <a:buNone/>
            </a:pPr>
            <a:r>
              <a:rPr lang="en-US" sz="4000" b="1" dirty="0" smtClean="0"/>
              <a:t>6. Co-linear</a:t>
            </a:r>
            <a:r>
              <a:rPr lang="en-US" sz="4000" dirty="0" smtClean="0"/>
              <a:t> </a:t>
            </a:r>
            <a:r>
              <a:rPr lang="en-US" sz="4000" dirty="0"/>
              <a:t>- Sequence of nitrogenous bases in mRNA (DNA) corresponds to the sequence of amino acids in a polypeptide chain</a:t>
            </a:r>
          </a:p>
        </p:txBody>
      </p:sp>
    </p:spTree>
    <p:extLst>
      <p:ext uri="{BB962C8B-B14F-4D97-AF65-F5344CB8AC3E}">
        <p14:creationId xmlns:p14="http://schemas.microsoft.com/office/powerpoint/2010/main" val="2463896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3"/>
            <a:ext cx="10515600" cy="806822"/>
          </a:xfrm>
        </p:spPr>
        <p:txBody>
          <a:bodyPr/>
          <a:lstStyle/>
          <a:p>
            <a:pPr algn="ctr"/>
            <a:r>
              <a:rPr lang="en-US" b="1" dirty="0" smtClean="0"/>
              <a:t>Characteristics of Genetic Code</a:t>
            </a:r>
            <a:endParaRPr lang="en-US" dirty="0"/>
          </a:p>
        </p:txBody>
      </p:sp>
      <p:sp>
        <p:nvSpPr>
          <p:cNvPr id="3" name="Content Placeholder 2"/>
          <p:cNvSpPr>
            <a:spLocks noGrp="1"/>
          </p:cNvSpPr>
          <p:nvPr>
            <p:ph idx="1"/>
          </p:nvPr>
        </p:nvSpPr>
        <p:spPr>
          <a:xfrm>
            <a:off x="838200" y="1143000"/>
            <a:ext cx="10515600" cy="5033963"/>
          </a:xfrm>
        </p:spPr>
        <p:txBody>
          <a:bodyPr>
            <a:normAutofit/>
          </a:bodyPr>
          <a:lstStyle/>
          <a:p>
            <a:pPr marL="0" lvl="0" indent="0">
              <a:buNone/>
            </a:pPr>
            <a:r>
              <a:rPr lang="en-US" sz="4000" b="1" dirty="0" smtClean="0"/>
              <a:t>7. Initiation </a:t>
            </a:r>
            <a:r>
              <a:rPr lang="en-US" sz="4000" b="1" dirty="0"/>
              <a:t>or Start Codon</a:t>
            </a:r>
            <a:r>
              <a:rPr lang="en-US" sz="4000" dirty="0"/>
              <a:t> - AUG is the initiation codon, which codes for amino acid methionine. Rarely GUG acts as initiation codon. </a:t>
            </a:r>
          </a:p>
          <a:p>
            <a:pPr marL="0" indent="0">
              <a:buNone/>
            </a:pPr>
            <a:r>
              <a:rPr lang="en-US" sz="4000" b="1" dirty="0" smtClean="0"/>
              <a:t>8. Terminating </a:t>
            </a:r>
            <a:r>
              <a:rPr lang="en-US" sz="4000" b="1" dirty="0"/>
              <a:t>or Stop Codons</a:t>
            </a:r>
            <a:r>
              <a:rPr lang="en-US" sz="4000" dirty="0"/>
              <a:t> - Termination of polypeptide chain is brought about by specific codons called terminating codons. There are three terminating codons, viz., UAA (ochre), UAG (amber) and UGA (opal).</a:t>
            </a:r>
          </a:p>
        </p:txBody>
      </p:sp>
    </p:spTree>
    <p:extLst>
      <p:ext uri="{BB962C8B-B14F-4D97-AF65-F5344CB8AC3E}">
        <p14:creationId xmlns:p14="http://schemas.microsoft.com/office/powerpoint/2010/main" val="2109980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365"/>
            <a:ext cx="10515600" cy="739589"/>
          </a:xfrm>
        </p:spPr>
        <p:txBody>
          <a:bodyPr>
            <a:normAutofit/>
          </a:bodyPr>
          <a:lstStyle/>
          <a:p>
            <a:pPr algn="ctr"/>
            <a:r>
              <a:rPr lang="en-US" b="1" dirty="0" smtClean="0"/>
              <a:t>Characteristics of Genetic Code</a:t>
            </a:r>
            <a:endParaRPr lang="en-US" dirty="0"/>
          </a:p>
        </p:txBody>
      </p:sp>
      <p:sp>
        <p:nvSpPr>
          <p:cNvPr id="3" name="Content Placeholder 2"/>
          <p:cNvSpPr>
            <a:spLocks noGrp="1"/>
          </p:cNvSpPr>
          <p:nvPr>
            <p:ph idx="1"/>
          </p:nvPr>
        </p:nvSpPr>
        <p:spPr>
          <a:xfrm>
            <a:off x="838200" y="1035424"/>
            <a:ext cx="10515600" cy="5593976"/>
          </a:xfrm>
        </p:spPr>
        <p:txBody>
          <a:bodyPr>
            <a:normAutofit/>
          </a:bodyPr>
          <a:lstStyle/>
          <a:p>
            <a:pPr marL="0" indent="0">
              <a:buNone/>
            </a:pPr>
            <a:r>
              <a:rPr lang="en-US" sz="4000" b="1" dirty="0" smtClean="0"/>
              <a:t>9.Polarity </a:t>
            </a:r>
            <a:r>
              <a:rPr lang="en-US" sz="4000" dirty="0"/>
              <a:t>- Genetic code is always read in a fixed direction, i.e., in the 5'--&gt; 3' direction</a:t>
            </a:r>
          </a:p>
        </p:txBody>
      </p:sp>
    </p:spTree>
    <p:extLst>
      <p:ext uri="{BB962C8B-B14F-4D97-AF65-F5344CB8AC3E}">
        <p14:creationId xmlns:p14="http://schemas.microsoft.com/office/powerpoint/2010/main" val="1141611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847165"/>
          </a:xfrm>
        </p:spPr>
        <p:txBody>
          <a:bodyPr>
            <a:normAutofit fontScale="90000"/>
          </a:bodyPr>
          <a:lstStyle/>
          <a:p>
            <a:pPr algn="ctr"/>
            <a:r>
              <a:rPr lang="en-US" b="1" dirty="0" smtClean="0"/>
              <a:t/>
            </a:r>
            <a:br>
              <a:rPr lang="en-US" b="1" dirty="0" smtClean="0"/>
            </a:br>
            <a:r>
              <a:rPr lang="en-US" sz="4900" b="1" dirty="0" smtClean="0"/>
              <a:t>Deciphering</a:t>
            </a:r>
            <a:r>
              <a:rPr lang="en-US" b="1" dirty="0" smtClean="0"/>
              <a:t> Genetic Code </a:t>
            </a:r>
            <a:r>
              <a:rPr lang="en-US" dirty="0" smtClean="0"/>
              <a:t/>
            </a:r>
            <a:br>
              <a:rPr lang="en-US" dirty="0" smtClean="0"/>
            </a:br>
            <a:endParaRPr lang="en-US" dirty="0"/>
          </a:p>
        </p:txBody>
      </p:sp>
      <p:sp>
        <p:nvSpPr>
          <p:cNvPr id="3" name="Content Placeholder 2"/>
          <p:cNvSpPr>
            <a:spLocks noGrp="1"/>
          </p:cNvSpPr>
          <p:nvPr>
            <p:ph idx="1"/>
          </p:nvPr>
        </p:nvSpPr>
        <p:spPr>
          <a:xfrm>
            <a:off x="838200" y="1143000"/>
            <a:ext cx="10515600" cy="5230906"/>
          </a:xfrm>
        </p:spPr>
        <p:txBody>
          <a:bodyPr>
            <a:noAutofit/>
          </a:bodyPr>
          <a:lstStyle/>
          <a:p>
            <a:pPr lvl="0"/>
            <a:r>
              <a:rPr lang="en-US" sz="4000" dirty="0" smtClean="0"/>
              <a:t>Nirenberg </a:t>
            </a:r>
            <a:r>
              <a:rPr lang="en-US" sz="4000" dirty="0"/>
              <a:t>and </a:t>
            </a:r>
            <a:r>
              <a:rPr lang="en-US" sz="4000" dirty="0" err="1"/>
              <a:t>Mathaei</a:t>
            </a:r>
            <a:r>
              <a:rPr lang="en-US" sz="4000" dirty="0"/>
              <a:t> (1961) </a:t>
            </a:r>
            <a:r>
              <a:rPr lang="en-US" sz="4000" dirty="0" err="1"/>
              <a:t>synthesised</a:t>
            </a:r>
            <a:r>
              <a:rPr lang="en-US" sz="4000" dirty="0"/>
              <a:t> RNA </a:t>
            </a:r>
            <a:r>
              <a:rPr lang="en-US" sz="4000" dirty="0" err="1"/>
              <a:t>homopolymers</a:t>
            </a:r>
            <a:r>
              <a:rPr lang="en-US" sz="4000" dirty="0"/>
              <a:t> comprising only one type, i.e., they produced mRNA either UUUUUU (poly-V), AAAAAA (poly-A), CCCCCC (poly-C) or </a:t>
            </a:r>
            <a:r>
              <a:rPr lang="en-US" sz="4000" i="1" dirty="0"/>
              <a:t>GGGGGG </a:t>
            </a:r>
            <a:r>
              <a:rPr lang="en-US" sz="4000" dirty="0"/>
              <a:t>(poly-G). </a:t>
            </a:r>
          </a:p>
          <a:p>
            <a:pPr lvl="0"/>
            <a:r>
              <a:rPr lang="en-US" sz="4000" dirty="0"/>
              <a:t>Using in vitro protein synthesis, they found the following results: </a:t>
            </a:r>
          </a:p>
          <a:p>
            <a:pPr lvl="0"/>
            <a:r>
              <a:rPr lang="en-US" sz="4000" dirty="0"/>
              <a:t>UUU codes for amino acid phenylalanine (UUU is the first code to be deciphered). </a:t>
            </a:r>
          </a:p>
          <a:p>
            <a:endParaRPr lang="en-US" sz="4000" dirty="0"/>
          </a:p>
        </p:txBody>
      </p:sp>
    </p:spTree>
    <p:extLst>
      <p:ext uri="{BB962C8B-B14F-4D97-AF65-F5344CB8AC3E}">
        <p14:creationId xmlns:p14="http://schemas.microsoft.com/office/powerpoint/2010/main" val="1221910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707"/>
            <a:ext cx="10515600" cy="900952"/>
          </a:xfrm>
        </p:spPr>
        <p:txBody>
          <a:bodyPr>
            <a:normAutofit fontScale="90000"/>
          </a:bodyPr>
          <a:lstStyle/>
          <a:p>
            <a:pPr algn="ctr"/>
            <a:r>
              <a:rPr lang="en-US" b="1" dirty="0" smtClean="0"/>
              <a:t/>
            </a:r>
            <a:br>
              <a:rPr lang="en-US" b="1" dirty="0" smtClean="0"/>
            </a:br>
            <a:r>
              <a:rPr lang="en-US" sz="4900" b="1" dirty="0" smtClean="0"/>
              <a:t>Deciphering</a:t>
            </a:r>
            <a:r>
              <a:rPr lang="en-US" b="1" dirty="0" smtClean="0"/>
              <a:t> Genetic Code </a:t>
            </a:r>
            <a:r>
              <a:rPr lang="en-US" dirty="0" smtClean="0"/>
              <a:t/>
            </a:r>
            <a:br>
              <a:rPr lang="en-US" dirty="0" smtClean="0"/>
            </a:br>
            <a:endParaRPr lang="en-US" dirty="0"/>
          </a:p>
        </p:txBody>
      </p:sp>
      <p:sp>
        <p:nvSpPr>
          <p:cNvPr id="3" name="Content Placeholder 2"/>
          <p:cNvSpPr>
            <a:spLocks noGrp="1"/>
          </p:cNvSpPr>
          <p:nvPr>
            <p:ph idx="1"/>
          </p:nvPr>
        </p:nvSpPr>
        <p:spPr>
          <a:xfrm>
            <a:off x="838200" y="1250576"/>
            <a:ext cx="10515600" cy="4926387"/>
          </a:xfrm>
        </p:spPr>
        <p:txBody>
          <a:bodyPr>
            <a:normAutofit/>
          </a:bodyPr>
          <a:lstStyle/>
          <a:p>
            <a:pPr lvl="0"/>
            <a:r>
              <a:rPr lang="en-US" sz="4000" dirty="0"/>
              <a:t>AAA codes for amino acid lysine. </a:t>
            </a:r>
          </a:p>
          <a:p>
            <a:pPr lvl="0"/>
            <a:r>
              <a:rPr lang="en-US" sz="4000" dirty="0"/>
              <a:t>CCC codes for </a:t>
            </a:r>
            <a:r>
              <a:rPr lang="en-US" sz="4000" dirty="0" err="1"/>
              <a:t>proline</a:t>
            </a:r>
            <a:r>
              <a:rPr lang="en-US" sz="4000" dirty="0"/>
              <a:t>. </a:t>
            </a:r>
          </a:p>
          <a:p>
            <a:r>
              <a:rPr lang="en-US" sz="4000" dirty="0"/>
              <a:t>However, they could not find any result with poly-G as it did not serve as a template (it attains secondary structure and thus could not attach to ribosome). Thus, three of sixty four codons were easily accounted for.</a:t>
            </a:r>
          </a:p>
        </p:txBody>
      </p:sp>
    </p:spTree>
    <p:extLst>
      <p:ext uri="{BB962C8B-B14F-4D97-AF65-F5344CB8AC3E}">
        <p14:creationId xmlns:p14="http://schemas.microsoft.com/office/powerpoint/2010/main" val="2926071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707"/>
            <a:ext cx="10515600" cy="766482"/>
          </a:xfrm>
        </p:spPr>
        <p:txBody>
          <a:bodyPr>
            <a:normAutofit fontScale="90000"/>
          </a:bodyPr>
          <a:lstStyle/>
          <a:p>
            <a:pPr algn="ctr"/>
            <a:r>
              <a:rPr lang="en-US" b="1" dirty="0" smtClean="0"/>
              <a:t/>
            </a:r>
            <a:br>
              <a:rPr lang="en-US" b="1" dirty="0" smtClean="0"/>
            </a:br>
            <a:r>
              <a:rPr lang="en-US" sz="4900" b="1" dirty="0" smtClean="0"/>
              <a:t>Deciphering</a:t>
            </a:r>
            <a:r>
              <a:rPr lang="en-US" b="1" dirty="0" smtClean="0"/>
              <a:t> Genetic Code </a:t>
            </a:r>
            <a:r>
              <a:rPr lang="en-US" dirty="0" smtClean="0"/>
              <a:t/>
            </a:r>
            <a:br>
              <a:rPr lang="en-US" dirty="0" smtClean="0"/>
            </a:br>
            <a:endParaRPr lang="en-US" dirty="0"/>
          </a:p>
        </p:txBody>
      </p:sp>
      <p:sp>
        <p:nvSpPr>
          <p:cNvPr id="3" name="Content Placeholder 2"/>
          <p:cNvSpPr>
            <a:spLocks noGrp="1"/>
          </p:cNvSpPr>
          <p:nvPr>
            <p:ph idx="1"/>
          </p:nvPr>
        </p:nvSpPr>
        <p:spPr>
          <a:xfrm>
            <a:off x="838200" y="1169894"/>
            <a:ext cx="10515600" cy="5688106"/>
          </a:xfrm>
        </p:spPr>
        <p:txBody>
          <a:bodyPr>
            <a:noAutofit/>
          </a:bodyPr>
          <a:lstStyle/>
          <a:p>
            <a:r>
              <a:rPr lang="en-US" sz="4000" dirty="0"/>
              <a:t>Further, work regarding deciphering genetic code took place by using synthetic mRNA containing two types of nitrogenous bases (</a:t>
            </a:r>
            <a:r>
              <a:rPr lang="en-US" sz="4000" dirty="0" err="1"/>
              <a:t>heteropolymer</a:t>
            </a:r>
            <a:r>
              <a:rPr lang="en-US" sz="4000" dirty="0"/>
              <a:t>) in the laboratories of Ochoa and Nirenberg. The synthetic mRNA contained two types of nitrogenous bases at random (random co-polymers). For example, in a random co-polymer using U and A nucleotides, eight triplets are possible-UUU, UUA, UAA, UAU, AAA, AAU, AUU and AUA</a:t>
            </a:r>
          </a:p>
        </p:txBody>
      </p:sp>
    </p:spTree>
    <p:extLst>
      <p:ext uri="{BB962C8B-B14F-4D97-AF65-F5344CB8AC3E}">
        <p14:creationId xmlns:p14="http://schemas.microsoft.com/office/powerpoint/2010/main" val="1278115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707"/>
            <a:ext cx="10515600" cy="874058"/>
          </a:xfrm>
        </p:spPr>
        <p:txBody>
          <a:bodyPr>
            <a:normAutofit fontScale="90000"/>
          </a:bodyPr>
          <a:lstStyle/>
          <a:p>
            <a:pPr algn="ctr"/>
            <a:r>
              <a:rPr lang="en-US" b="1" dirty="0" smtClean="0"/>
              <a:t/>
            </a:r>
            <a:br>
              <a:rPr lang="en-US" b="1" dirty="0" smtClean="0"/>
            </a:br>
            <a:r>
              <a:rPr lang="en-US" sz="4900" b="1" dirty="0" smtClean="0"/>
              <a:t>Deciphering</a:t>
            </a:r>
            <a:r>
              <a:rPr lang="en-US" b="1" dirty="0" smtClean="0"/>
              <a:t> Genetic Code </a:t>
            </a:r>
            <a:r>
              <a:rPr lang="en-US" dirty="0" smtClean="0"/>
              <a:t/>
            </a:r>
            <a:br>
              <a:rPr lang="en-US" dirty="0" smtClean="0"/>
            </a:br>
            <a:endParaRPr lang="en-US" dirty="0"/>
          </a:p>
        </p:txBody>
      </p:sp>
      <p:sp>
        <p:nvSpPr>
          <p:cNvPr id="3" name="Content Placeholder 2"/>
          <p:cNvSpPr>
            <a:spLocks noGrp="1"/>
          </p:cNvSpPr>
          <p:nvPr>
            <p:ph idx="1"/>
          </p:nvPr>
        </p:nvSpPr>
        <p:spPr>
          <a:xfrm>
            <a:off x="838200" y="1264024"/>
            <a:ext cx="10515600" cy="4912939"/>
          </a:xfrm>
        </p:spPr>
        <p:txBody>
          <a:bodyPr>
            <a:noAutofit/>
          </a:bodyPr>
          <a:lstStyle/>
          <a:p>
            <a:r>
              <a:rPr lang="en-US" sz="4000" dirty="0"/>
              <a:t>Theoretically, eight amino acids could be coded by these eight codons. </a:t>
            </a:r>
            <a:br>
              <a:rPr lang="en-US" sz="4000" dirty="0"/>
            </a:br>
            <a:r>
              <a:rPr lang="en-US" sz="4000" dirty="0"/>
              <a:t>However, the actual experiment yielded only six amino acids-phenylalanine, lysine, tyrosine, </a:t>
            </a:r>
            <a:r>
              <a:rPr lang="en-US" sz="4000" dirty="0" err="1"/>
              <a:t>leucine</a:t>
            </a:r>
            <a:r>
              <a:rPr lang="en-US" sz="4000" dirty="0"/>
              <a:t>, isoleucine and asparagine, by varying the relative composition, U and A, in the random co-polymer as well as determining the percentage of different amino acids in the protein obtained</a:t>
            </a:r>
          </a:p>
        </p:txBody>
      </p:sp>
    </p:spTree>
    <p:extLst>
      <p:ext uri="{BB962C8B-B14F-4D97-AF65-F5344CB8AC3E}">
        <p14:creationId xmlns:p14="http://schemas.microsoft.com/office/powerpoint/2010/main" val="1408637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r>
            <a:br>
              <a:rPr lang="en-US" b="1" dirty="0" smtClean="0"/>
            </a:br>
            <a:r>
              <a:rPr lang="en-US" sz="4900" b="1" dirty="0" smtClean="0"/>
              <a:t>Deciphering</a:t>
            </a:r>
            <a:r>
              <a:rPr lang="en-US" b="1" dirty="0" smtClean="0"/>
              <a:t> Genetic Code </a:t>
            </a:r>
            <a:r>
              <a:rPr lang="en-US" dirty="0" smtClean="0"/>
              <a:t/>
            </a:r>
            <a:br>
              <a:rPr lang="en-US" dirty="0" smtClean="0"/>
            </a:br>
            <a:endParaRPr lang="en-US" dirty="0"/>
          </a:p>
        </p:txBody>
      </p:sp>
      <p:sp>
        <p:nvSpPr>
          <p:cNvPr id="3" name="Content Placeholder 2"/>
          <p:cNvSpPr>
            <a:spLocks noGrp="1"/>
          </p:cNvSpPr>
          <p:nvPr>
            <p:ph idx="1"/>
          </p:nvPr>
        </p:nvSpPr>
        <p:spPr>
          <a:xfrm>
            <a:off x="838200" y="1825625"/>
            <a:ext cx="10515600" cy="4534834"/>
          </a:xfrm>
        </p:spPr>
        <p:txBody>
          <a:bodyPr>
            <a:noAutofit/>
          </a:bodyPr>
          <a:lstStyle/>
          <a:p>
            <a:pPr lvl="0"/>
            <a:r>
              <a:rPr lang="en-US" sz="4000" dirty="0"/>
              <a:t>Lederberg and Nirenberg (1964) used cellulose nitrate filter technique for determining codons of amino acids known as the filter binding technique. </a:t>
            </a:r>
          </a:p>
          <a:p>
            <a:pPr lvl="0"/>
            <a:r>
              <a:rPr lang="en-US" sz="4000" dirty="0"/>
              <a:t>The ribosomes are left on the filter paper while </a:t>
            </a:r>
            <a:r>
              <a:rPr lang="en-US" sz="4000" dirty="0" err="1"/>
              <a:t>tRNA</a:t>
            </a:r>
            <a:r>
              <a:rPr lang="en-US" sz="4000" dirty="0"/>
              <a:t> washed through the filter in the absence of mRNA. But in the presence mRNA and ribosomes, the </a:t>
            </a:r>
            <a:r>
              <a:rPr lang="en-US" sz="4000" dirty="0" err="1"/>
              <a:t>tRNAs</a:t>
            </a:r>
            <a:r>
              <a:rPr lang="en-US" sz="4000" dirty="0"/>
              <a:t> stick to the filter. </a:t>
            </a:r>
          </a:p>
          <a:p>
            <a:endParaRPr lang="en-US" sz="4000" dirty="0"/>
          </a:p>
        </p:txBody>
      </p:sp>
    </p:spTree>
    <p:extLst>
      <p:ext uri="{BB962C8B-B14F-4D97-AF65-F5344CB8AC3E}">
        <p14:creationId xmlns:p14="http://schemas.microsoft.com/office/powerpoint/2010/main" val="3042363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4"/>
            <a:ext cx="10515600" cy="1116106"/>
          </a:xfrm>
        </p:spPr>
        <p:txBody>
          <a:bodyPr>
            <a:normAutofit fontScale="90000"/>
          </a:bodyPr>
          <a:lstStyle/>
          <a:p>
            <a:pPr algn="ctr"/>
            <a:r>
              <a:rPr lang="en-US" b="1" dirty="0" smtClean="0"/>
              <a:t/>
            </a:r>
            <a:br>
              <a:rPr lang="en-US" b="1" dirty="0" smtClean="0"/>
            </a:br>
            <a:r>
              <a:rPr lang="en-US" sz="4900" b="1" dirty="0" smtClean="0"/>
              <a:t>Deciphering</a:t>
            </a:r>
            <a:r>
              <a:rPr lang="en-US" b="1" dirty="0" smtClean="0"/>
              <a:t> Genetic Code </a:t>
            </a:r>
            <a:r>
              <a:rPr lang="en-US" dirty="0" smtClean="0"/>
              <a:t/>
            </a:r>
            <a:br>
              <a:rPr lang="en-US" dirty="0" smtClean="0"/>
            </a:br>
            <a:endParaRPr lang="en-US" dirty="0"/>
          </a:p>
        </p:txBody>
      </p:sp>
      <p:sp>
        <p:nvSpPr>
          <p:cNvPr id="3" name="Content Placeholder 2"/>
          <p:cNvSpPr>
            <a:spLocks noGrp="1"/>
          </p:cNvSpPr>
          <p:nvPr>
            <p:ph idx="1"/>
          </p:nvPr>
        </p:nvSpPr>
        <p:spPr>
          <a:xfrm>
            <a:off x="838200" y="1062318"/>
            <a:ext cx="10515600" cy="5795682"/>
          </a:xfrm>
        </p:spPr>
        <p:txBody>
          <a:bodyPr>
            <a:noAutofit/>
          </a:bodyPr>
          <a:lstStyle/>
          <a:p>
            <a:pPr lvl="0"/>
            <a:r>
              <a:rPr lang="en-US" sz="4000" dirty="0"/>
              <a:t>A mixture of synthetic poly-U mRNA and ribosome was placed on the filter and various </a:t>
            </a:r>
            <a:r>
              <a:rPr lang="en-US" sz="4000" dirty="0" err="1"/>
              <a:t>tRNA</a:t>
            </a:r>
            <a:r>
              <a:rPr lang="en-US" sz="4000" dirty="0"/>
              <a:t> carrying specific amino acids labelled by 14C were separately passed through the filter. </a:t>
            </a:r>
          </a:p>
          <a:p>
            <a:pPr lvl="0"/>
            <a:r>
              <a:rPr lang="en-US" sz="4000" dirty="0"/>
              <a:t>In this process, only amino acid phenylalanine was retained in the filter. Thus, it became clear that UUU is the code for phenylalanine. </a:t>
            </a:r>
          </a:p>
          <a:p>
            <a:pPr lvl="0"/>
            <a:r>
              <a:rPr lang="en-US" sz="4000" dirty="0"/>
              <a:t>Lederberg and Nirenberg were able to determine a sequence of 54 codons out of 64 codons. </a:t>
            </a:r>
          </a:p>
          <a:p>
            <a:endParaRPr lang="en-US" sz="4000" dirty="0"/>
          </a:p>
        </p:txBody>
      </p:sp>
    </p:spTree>
    <p:extLst>
      <p:ext uri="{BB962C8B-B14F-4D97-AF65-F5344CB8AC3E}">
        <p14:creationId xmlns:p14="http://schemas.microsoft.com/office/powerpoint/2010/main" val="2193427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3"/>
            <a:ext cx="10515600" cy="1035422"/>
          </a:xfrm>
        </p:spPr>
        <p:txBody>
          <a:bodyPr/>
          <a:lstStyle/>
          <a:p>
            <a:pPr algn="ctr"/>
            <a:r>
              <a:rPr lang="en-US" b="1" dirty="0" smtClean="0"/>
              <a:t>Exceptions to Genetic Code</a:t>
            </a:r>
            <a:endParaRPr lang="en-US" dirty="0"/>
          </a:p>
        </p:txBody>
      </p:sp>
      <p:sp>
        <p:nvSpPr>
          <p:cNvPr id="3" name="Content Placeholder 2"/>
          <p:cNvSpPr>
            <a:spLocks noGrp="1"/>
          </p:cNvSpPr>
          <p:nvPr>
            <p:ph idx="1"/>
          </p:nvPr>
        </p:nvSpPr>
        <p:spPr>
          <a:xfrm>
            <a:off x="838200" y="1331258"/>
            <a:ext cx="10515600" cy="5526741"/>
          </a:xfrm>
        </p:spPr>
        <p:txBody>
          <a:bodyPr>
            <a:noAutofit/>
          </a:bodyPr>
          <a:lstStyle/>
          <a:p>
            <a:r>
              <a:rPr lang="en-US" sz="4000" dirty="0" smtClean="0"/>
              <a:t>Though </a:t>
            </a:r>
            <a:r>
              <a:rPr lang="en-US" sz="4000" dirty="0"/>
              <a:t>genetic code is universal, there are a few exceptions: </a:t>
            </a:r>
            <a:endParaRPr lang="en-US" sz="4000" dirty="0" smtClean="0"/>
          </a:p>
          <a:p>
            <a:pPr marL="0" indent="0">
              <a:buNone/>
            </a:pPr>
            <a:r>
              <a:rPr lang="en-US" sz="4000" dirty="0"/>
              <a:t>1</a:t>
            </a:r>
            <a:r>
              <a:rPr lang="en-US" sz="4000" dirty="0" smtClean="0"/>
              <a:t>. </a:t>
            </a:r>
            <a:r>
              <a:rPr lang="en-US" sz="4000" dirty="0"/>
              <a:t>In a few viruses, such as &lt;pX174 and SV-40, genes are known to overlap. </a:t>
            </a:r>
          </a:p>
          <a:p>
            <a:pPr marL="0" lvl="0" indent="0">
              <a:buNone/>
            </a:pPr>
            <a:r>
              <a:rPr lang="en-US" sz="4000" dirty="0" smtClean="0"/>
              <a:t>2. The </a:t>
            </a:r>
            <a:r>
              <a:rPr lang="en-US" sz="4000" dirty="0"/>
              <a:t>codons AGG and AGA, code for arginine but in human mitochondria, both these act as terminating codons. </a:t>
            </a:r>
          </a:p>
          <a:p>
            <a:pPr marL="0" lvl="0" indent="0">
              <a:buNone/>
            </a:pPr>
            <a:r>
              <a:rPr lang="en-US" sz="4000" dirty="0" smtClean="0"/>
              <a:t> </a:t>
            </a:r>
            <a:endParaRPr lang="en-US" sz="4000" dirty="0"/>
          </a:p>
        </p:txBody>
      </p:sp>
    </p:spTree>
    <p:extLst>
      <p:ext uri="{BB962C8B-B14F-4D97-AF65-F5344CB8AC3E}">
        <p14:creationId xmlns:p14="http://schemas.microsoft.com/office/powerpoint/2010/main" val="13193949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Exceptions to Genetic Code</a:t>
            </a:r>
            <a:endParaRPr lang="en-US" dirty="0"/>
          </a:p>
        </p:txBody>
      </p:sp>
      <p:sp>
        <p:nvSpPr>
          <p:cNvPr id="3" name="Content Placeholder 2"/>
          <p:cNvSpPr>
            <a:spLocks noGrp="1"/>
          </p:cNvSpPr>
          <p:nvPr>
            <p:ph idx="1"/>
          </p:nvPr>
        </p:nvSpPr>
        <p:spPr/>
        <p:txBody>
          <a:bodyPr>
            <a:normAutofit/>
          </a:bodyPr>
          <a:lstStyle/>
          <a:p>
            <a:pPr marL="0" lvl="0" indent="0">
              <a:buNone/>
            </a:pPr>
            <a:r>
              <a:rPr lang="en-US" sz="4000" dirty="0" smtClean="0"/>
              <a:t>3.In </a:t>
            </a:r>
            <a:r>
              <a:rPr lang="en-US" sz="4000" i="1" dirty="0" smtClean="0"/>
              <a:t>Paramecium </a:t>
            </a:r>
            <a:r>
              <a:rPr lang="en-US" sz="4000" dirty="0" smtClean="0"/>
              <a:t>and some other ciliates, terminating codons UAA and UGA code for amino acid glutamine. </a:t>
            </a:r>
          </a:p>
          <a:p>
            <a:pPr marL="0" indent="0">
              <a:buNone/>
            </a:pPr>
            <a:r>
              <a:rPr lang="en-US" sz="4000" dirty="0" smtClean="0"/>
              <a:t>4. In </a:t>
            </a:r>
            <a:r>
              <a:rPr lang="en-US" sz="4000" i="1" dirty="0" err="1" smtClean="0"/>
              <a:t>Euplotes</a:t>
            </a:r>
            <a:r>
              <a:rPr lang="en-US" sz="4000" i="1" dirty="0" smtClean="0"/>
              <a:t> </a:t>
            </a:r>
            <a:r>
              <a:rPr lang="en-US" sz="4000" i="1" dirty="0" err="1" smtClean="0"/>
              <a:t>octacarinatus</a:t>
            </a:r>
            <a:r>
              <a:rPr lang="en-US" sz="4000" i="1" dirty="0" smtClean="0"/>
              <a:t> </a:t>
            </a:r>
            <a:r>
              <a:rPr lang="en-US" sz="4000" dirty="0" smtClean="0"/>
              <a:t>(ciliate), terminating codon UGA codes for cysteine. Only UAA is used as terminating codon while terminating UAG codon</a:t>
            </a:r>
            <a:endParaRPr lang="en-US" sz="4000" dirty="0"/>
          </a:p>
        </p:txBody>
      </p:sp>
    </p:spTree>
    <p:extLst>
      <p:ext uri="{BB962C8B-B14F-4D97-AF65-F5344CB8AC3E}">
        <p14:creationId xmlns:p14="http://schemas.microsoft.com/office/powerpoint/2010/main" val="1025197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153"/>
            <a:ext cx="10515600" cy="968189"/>
          </a:xfrm>
        </p:spPr>
        <p:txBody>
          <a:bodyPr>
            <a:normAutofit fontScale="90000"/>
          </a:bodyPr>
          <a:lstStyle/>
          <a:p>
            <a:pPr algn="ctr"/>
            <a:r>
              <a:rPr lang="en-US" b="1" dirty="0" smtClean="0"/>
              <a:t/>
            </a:r>
            <a:br>
              <a:rPr lang="en-US" b="1" dirty="0" smtClean="0"/>
            </a:br>
            <a:r>
              <a:rPr lang="en-US" b="1" dirty="0" smtClean="0"/>
              <a:t>GENE REGULATION </a:t>
            </a:r>
            <a:r>
              <a:rPr lang="en-US" dirty="0" smtClean="0"/>
              <a:t/>
            </a:r>
            <a:br>
              <a:rPr lang="en-US" dirty="0" smtClean="0"/>
            </a:br>
            <a:endParaRPr lang="en-US" dirty="0"/>
          </a:p>
        </p:txBody>
      </p:sp>
      <p:sp>
        <p:nvSpPr>
          <p:cNvPr id="3" name="Content Placeholder 2"/>
          <p:cNvSpPr>
            <a:spLocks noGrp="1"/>
          </p:cNvSpPr>
          <p:nvPr>
            <p:ph idx="1"/>
          </p:nvPr>
        </p:nvSpPr>
        <p:spPr>
          <a:xfrm>
            <a:off x="838200" y="1183342"/>
            <a:ext cx="10515600" cy="5499846"/>
          </a:xfrm>
        </p:spPr>
        <p:txBody>
          <a:bodyPr>
            <a:noAutofit/>
          </a:bodyPr>
          <a:lstStyle/>
          <a:p>
            <a:pPr lvl="0"/>
            <a:r>
              <a:rPr lang="en-US" sz="4000" dirty="0" smtClean="0"/>
              <a:t>The </a:t>
            </a:r>
            <a:r>
              <a:rPr lang="en-US" sz="4000" dirty="0"/>
              <a:t>process by which cells translate their genetic information contained in their DNA into proteins is known as gene expression. </a:t>
            </a:r>
          </a:p>
          <a:p>
            <a:pPr lvl="0"/>
            <a:r>
              <a:rPr lang="en-US" sz="4000" dirty="0"/>
              <a:t>These proteins have a variety of functions. </a:t>
            </a:r>
          </a:p>
          <a:p>
            <a:pPr lvl="0"/>
            <a:r>
              <a:rPr lang="en-US" sz="4000" dirty="0"/>
              <a:t>But not all these proteins are needed at a time, i.e., different proteins are required at different times. </a:t>
            </a:r>
          </a:p>
          <a:p>
            <a:pPr lvl="0"/>
            <a:r>
              <a:rPr lang="en-US" sz="4000" dirty="0"/>
              <a:t>Thus, all the functional genes do not simultaneously make protein. </a:t>
            </a:r>
          </a:p>
          <a:p>
            <a:endParaRPr lang="en-US" sz="4000" dirty="0"/>
          </a:p>
        </p:txBody>
      </p:sp>
    </p:spTree>
    <p:extLst>
      <p:ext uri="{BB962C8B-B14F-4D97-AF65-F5344CB8AC3E}">
        <p14:creationId xmlns:p14="http://schemas.microsoft.com/office/powerpoint/2010/main" val="11318170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8557"/>
          </a:xfrm>
        </p:spPr>
        <p:txBody>
          <a:bodyPr>
            <a:normAutofit fontScale="90000"/>
          </a:bodyPr>
          <a:lstStyle/>
          <a:p>
            <a:pPr algn="ctr"/>
            <a:r>
              <a:rPr lang="en-US" b="1" dirty="0" smtClean="0"/>
              <a:t/>
            </a:r>
            <a:br>
              <a:rPr lang="en-US" b="1" dirty="0" smtClean="0"/>
            </a:br>
            <a:r>
              <a:rPr lang="en-US" b="1" dirty="0" smtClean="0"/>
              <a:t>GENE REGULATION </a:t>
            </a:r>
            <a:r>
              <a:rPr lang="en-US" dirty="0" smtClean="0"/>
              <a:t/>
            </a:r>
            <a:br>
              <a:rPr lang="en-US" dirty="0" smtClean="0"/>
            </a:br>
            <a:endParaRPr lang="en-US" dirty="0"/>
          </a:p>
        </p:txBody>
      </p:sp>
      <p:sp>
        <p:nvSpPr>
          <p:cNvPr id="3" name="Content Placeholder 2"/>
          <p:cNvSpPr>
            <a:spLocks noGrp="1"/>
          </p:cNvSpPr>
          <p:nvPr>
            <p:ph idx="1"/>
          </p:nvPr>
        </p:nvSpPr>
        <p:spPr>
          <a:xfrm>
            <a:off x="838200" y="1358153"/>
            <a:ext cx="10515600" cy="4818810"/>
          </a:xfrm>
        </p:spPr>
        <p:txBody>
          <a:bodyPr>
            <a:normAutofit/>
          </a:bodyPr>
          <a:lstStyle/>
          <a:p>
            <a:pPr lvl="0"/>
            <a:r>
              <a:rPr lang="en-US" sz="4000" dirty="0"/>
              <a:t>As the development proceeds, certain genes are activated while certain genes are suppressed. </a:t>
            </a:r>
          </a:p>
          <a:p>
            <a:pPr lvl="0"/>
            <a:r>
              <a:rPr lang="en-US" sz="4000" dirty="0"/>
              <a:t>The activation and suppression of genes at different times is called gene regulation. </a:t>
            </a:r>
          </a:p>
          <a:p>
            <a:r>
              <a:rPr lang="en-US" sz="4000" dirty="0"/>
              <a:t>Gene expressions are controlled at many levels to ensure the organism has appropriate response to its environment or internal changes</a:t>
            </a:r>
          </a:p>
        </p:txBody>
      </p:sp>
    </p:spTree>
    <p:extLst>
      <p:ext uri="{BB962C8B-B14F-4D97-AF65-F5344CB8AC3E}">
        <p14:creationId xmlns:p14="http://schemas.microsoft.com/office/powerpoint/2010/main" val="11213854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707"/>
            <a:ext cx="10515600" cy="941294"/>
          </a:xfrm>
        </p:spPr>
        <p:txBody>
          <a:bodyPr>
            <a:noAutofit/>
          </a:bodyPr>
          <a:lstStyle/>
          <a:p>
            <a:pPr algn="ctr"/>
            <a:r>
              <a:rPr lang="en-US" b="1" dirty="0" smtClean="0"/>
              <a:t/>
            </a:r>
            <a:br>
              <a:rPr lang="en-US" b="1" dirty="0" smtClean="0"/>
            </a:br>
            <a:r>
              <a:rPr lang="en-US" b="1" dirty="0" smtClean="0"/>
              <a:t>Gene Regulation in Prokaryotes </a:t>
            </a:r>
            <a:r>
              <a:rPr lang="en-US" dirty="0" smtClean="0"/>
              <a:t/>
            </a:r>
            <a:br>
              <a:rPr lang="en-US" dirty="0" smtClean="0"/>
            </a:br>
            <a:endParaRPr lang="en-US" dirty="0"/>
          </a:p>
        </p:txBody>
      </p:sp>
      <p:sp>
        <p:nvSpPr>
          <p:cNvPr id="3" name="Content Placeholder 2"/>
          <p:cNvSpPr>
            <a:spLocks noGrp="1"/>
          </p:cNvSpPr>
          <p:nvPr>
            <p:ph idx="1"/>
          </p:nvPr>
        </p:nvSpPr>
        <p:spPr>
          <a:xfrm>
            <a:off x="838200" y="1613647"/>
            <a:ext cx="10515600" cy="4563316"/>
          </a:xfrm>
        </p:spPr>
        <p:txBody>
          <a:bodyPr>
            <a:noAutofit/>
          </a:bodyPr>
          <a:lstStyle/>
          <a:p>
            <a:pPr lvl="0"/>
            <a:r>
              <a:rPr lang="en-US" sz="4000" dirty="0" smtClean="0"/>
              <a:t>Gene </a:t>
            </a:r>
            <a:r>
              <a:rPr lang="en-US" sz="4000" dirty="0"/>
              <a:t>regulation in prokaryotes is essential as they are single-cell organisms and they mainly depend on their environment for their activities. </a:t>
            </a:r>
          </a:p>
          <a:p>
            <a:pPr lvl="0"/>
            <a:r>
              <a:rPr lang="en-US" sz="4000" dirty="0"/>
              <a:t>In bacterial cells, regulation of synthesis of enzymes occurs in a way that these enzymes are produced only when substrates, which are </a:t>
            </a:r>
            <a:r>
              <a:rPr lang="en-US" sz="4000" dirty="0" err="1"/>
              <a:t>utilised</a:t>
            </a:r>
            <a:r>
              <a:rPr lang="en-US" sz="4000" dirty="0"/>
              <a:t> by these enzymes, are present in the cell. </a:t>
            </a:r>
          </a:p>
          <a:p>
            <a:endParaRPr lang="en-US" sz="4000" dirty="0"/>
          </a:p>
        </p:txBody>
      </p:sp>
    </p:spTree>
    <p:extLst>
      <p:ext uri="{BB962C8B-B14F-4D97-AF65-F5344CB8AC3E}">
        <p14:creationId xmlns:p14="http://schemas.microsoft.com/office/powerpoint/2010/main" val="42717106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20272"/>
          </a:xfrm>
        </p:spPr>
        <p:txBody>
          <a:bodyPr>
            <a:normAutofit/>
          </a:bodyPr>
          <a:lstStyle/>
          <a:p>
            <a:pPr algn="ctr"/>
            <a:r>
              <a:rPr lang="en-US" b="1" dirty="0" smtClean="0"/>
              <a:t>Gene Regulation in Prokaryotes</a:t>
            </a:r>
            <a:endParaRPr lang="en-US" dirty="0"/>
          </a:p>
        </p:txBody>
      </p:sp>
      <p:sp>
        <p:nvSpPr>
          <p:cNvPr id="3" name="Content Placeholder 2"/>
          <p:cNvSpPr>
            <a:spLocks noGrp="1"/>
          </p:cNvSpPr>
          <p:nvPr>
            <p:ph idx="1"/>
          </p:nvPr>
        </p:nvSpPr>
        <p:spPr>
          <a:xfrm>
            <a:off x="838200" y="820272"/>
            <a:ext cx="10515600" cy="5356691"/>
          </a:xfrm>
        </p:spPr>
        <p:txBody>
          <a:bodyPr>
            <a:noAutofit/>
          </a:bodyPr>
          <a:lstStyle/>
          <a:p>
            <a:pPr lvl="0"/>
            <a:r>
              <a:rPr lang="en-US" sz="4000" dirty="0"/>
              <a:t>Jacob and Monad (1961) proposed a model for gene regulation in prokaryotes, based on their study on the inducible operon system, for the synthesis of beta-</a:t>
            </a:r>
            <a:r>
              <a:rPr lang="en-US" sz="4000" dirty="0" err="1"/>
              <a:t>galactosidase</a:t>
            </a:r>
            <a:r>
              <a:rPr lang="en-US" sz="4000" dirty="0"/>
              <a:t> enzyme in </a:t>
            </a:r>
            <a:r>
              <a:rPr lang="en-US" sz="4000" i="1" dirty="0"/>
              <a:t>E. coli, </a:t>
            </a:r>
            <a:r>
              <a:rPr lang="en-US" sz="4000" dirty="0"/>
              <a:t>in order to explain the induction or repression of enzyme synthesis. </a:t>
            </a:r>
          </a:p>
          <a:p>
            <a:pPr lvl="0"/>
            <a:r>
              <a:rPr lang="en-US" sz="4000" dirty="0"/>
              <a:t>This model is popularly known as the operon model. </a:t>
            </a:r>
          </a:p>
        </p:txBody>
      </p:sp>
    </p:spTree>
    <p:extLst>
      <p:ext uri="{BB962C8B-B14F-4D97-AF65-F5344CB8AC3E}">
        <p14:creationId xmlns:p14="http://schemas.microsoft.com/office/powerpoint/2010/main" val="3089384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5"/>
            <a:ext cx="10515600" cy="900952"/>
          </a:xfrm>
        </p:spPr>
        <p:txBody>
          <a:bodyPr>
            <a:normAutofit/>
          </a:bodyPr>
          <a:lstStyle/>
          <a:p>
            <a:pPr algn="ctr"/>
            <a:r>
              <a:rPr lang="en-US" b="1" dirty="0" smtClean="0"/>
              <a:t>Gene Regulation in Prokaryotes</a:t>
            </a:r>
            <a:endParaRPr lang="en-US" dirty="0"/>
          </a:p>
        </p:txBody>
      </p:sp>
      <p:sp>
        <p:nvSpPr>
          <p:cNvPr id="3" name="Content Placeholder 2"/>
          <p:cNvSpPr>
            <a:spLocks noGrp="1"/>
          </p:cNvSpPr>
          <p:nvPr>
            <p:ph idx="1"/>
          </p:nvPr>
        </p:nvSpPr>
        <p:spPr>
          <a:xfrm>
            <a:off x="838200" y="1196788"/>
            <a:ext cx="10515600" cy="4980175"/>
          </a:xfrm>
        </p:spPr>
        <p:txBody>
          <a:bodyPr>
            <a:normAutofit/>
          </a:bodyPr>
          <a:lstStyle/>
          <a:p>
            <a:r>
              <a:rPr lang="en-US" sz="4000" dirty="0" smtClean="0"/>
              <a:t>According to this model, control of gene expression in prokaryotes involves control of operon</a:t>
            </a:r>
          </a:p>
          <a:p>
            <a:pPr lvl="0"/>
            <a:r>
              <a:rPr lang="en-US" sz="4000" dirty="0" smtClean="0"/>
              <a:t>An </a:t>
            </a:r>
            <a:r>
              <a:rPr lang="en-US" sz="4000" dirty="0"/>
              <a:t>operon is a coordinate unit of gene expression. </a:t>
            </a:r>
          </a:p>
          <a:p>
            <a:pPr lvl="0"/>
            <a:r>
              <a:rPr lang="en-US" sz="4000" dirty="0"/>
              <a:t>Operon consists of: </a:t>
            </a:r>
          </a:p>
          <a:p>
            <a:pPr marL="0" lvl="0" indent="0">
              <a:buNone/>
            </a:pPr>
            <a:r>
              <a:rPr lang="en-US" sz="4000" b="1" dirty="0" smtClean="0"/>
              <a:t>1. Promoter </a:t>
            </a:r>
            <a:r>
              <a:rPr lang="en-US" sz="4000" dirty="0"/>
              <a:t>- Promoter is the sequence of DNA where </a:t>
            </a:r>
            <a:r>
              <a:rPr lang="en-US" sz="4000" i="1" dirty="0"/>
              <a:t>RNA polymerase </a:t>
            </a:r>
            <a:r>
              <a:rPr lang="en-US" sz="4000" dirty="0"/>
              <a:t>enzyme binds. </a:t>
            </a:r>
          </a:p>
        </p:txBody>
      </p:sp>
    </p:spTree>
    <p:extLst>
      <p:ext uri="{BB962C8B-B14F-4D97-AF65-F5344CB8AC3E}">
        <p14:creationId xmlns:p14="http://schemas.microsoft.com/office/powerpoint/2010/main" val="197870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Gene Regulation in Prokaryotes</a:t>
            </a:r>
            <a:endParaRPr lang="en-US" dirty="0"/>
          </a:p>
        </p:txBody>
      </p:sp>
      <p:sp>
        <p:nvSpPr>
          <p:cNvPr id="3" name="Content Placeholder 2"/>
          <p:cNvSpPr>
            <a:spLocks noGrp="1"/>
          </p:cNvSpPr>
          <p:nvPr>
            <p:ph idx="1"/>
          </p:nvPr>
        </p:nvSpPr>
        <p:spPr>
          <a:xfrm>
            <a:off x="838200" y="1690688"/>
            <a:ext cx="10515600" cy="4486275"/>
          </a:xfrm>
        </p:spPr>
        <p:txBody>
          <a:bodyPr>
            <a:normAutofit/>
          </a:bodyPr>
          <a:lstStyle/>
          <a:p>
            <a:pPr marL="0" indent="0">
              <a:buNone/>
            </a:pPr>
            <a:r>
              <a:rPr lang="en-US" sz="4000" b="1" dirty="0" smtClean="0"/>
              <a:t>2. Operator </a:t>
            </a:r>
            <a:r>
              <a:rPr lang="en-US" sz="4000" dirty="0" smtClean="0"/>
              <a:t>- Operator is the sequence of DNA where active repressor binds. It controls the activity of a number of structural genes and itself is under the control of a repressor molecule </a:t>
            </a:r>
            <a:r>
              <a:rPr lang="en-US" sz="4000" dirty="0" err="1" smtClean="0"/>
              <a:t>synthesised</a:t>
            </a:r>
            <a:r>
              <a:rPr lang="en-US" sz="4000" dirty="0" smtClean="0"/>
              <a:t> by the regulator gene</a:t>
            </a:r>
          </a:p>
          <a:p>
            <a:endParaRPr lang="en-US" sz="4000" dirty="0"/>
          </a:p>
        </p:txBody>
      </p:sp>
    </p:spTree>
    <p:extLst>
      <p:ext uri="{BB962C8B-B14F-4D97-AF65-F5344CB8AC3E}">
        <p14:creationId xmlns:p14="http://schemas.microsoft.com/office/powerpoint/2010/main" val="1178119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Gene Regulation in Prokaryotes</a:t>
            </a:r>
            <a:endParaRPr lang="en-US" dirty="0"/>
          </a:p>
        </p:txBody>
      </p:sp>
      <p:sp>
        <p:nvSpPr>
          <p:cNvPr id="3" name="Content Placeholder 2"/>
          <p:cNvSpPr>
            <a:spLocks noGrp="1"/>
          </p:cNvSpPr>
          <p:nvPr>
            <p:ph idx="1"/>
          </p:nvPr>
        </p:nvSpPr>
        <p:spPr/>
        <p:txBody>
          <a:bodyPr>
            <a:normAutofit/>
          </a:bodyPr>
          <a:lstStyle/>
          <a:p>
            <a:pPr marL="0" lvl="0" indent="0">
              <a:buNone/>
            </a:pPr>
            <a:r>
              <a:rPr lang="en-US" sz="4000" b="1" dirty="0" smtClean="0"/>
              <a:t>3. Structural </a:t>
            </a:r>
            <a:r>
              <a:rPr lang="en-US" sz="4000" dirty="0"/>
              <a:t>Genes - Structural genes are the DNA regions that code for protein. They </a:t>
            </a:r>
            <a:r>
              <a:rPr lang="en-US" sz="4000" dirty="0" err="1"/>
              <a:t>synthesise</a:t>
            </a:r>
            <a:r>
              <a:rPr lang="en-US" sz="4000" dirty="0"/>
              <a:t> mRNA under the control of an operator gene. </a:t>
            </a:r>
          </a:p>
          <a:p>
            <a:endParaRPr lang="en-US" sz="4000" dirty="0"/>
          </a:p>
        </p:txBody>
      </p:sp>
    </p:spTree>
    <p:extLst>
      <p:ext uri="{BB962C8B-B14F-4D97-AF65-F5344CB8AC3E}">
        <p14:creationId xmlns:p14="http://schemas.microsoft.com/office/powerpoint/2010/main" val="17081433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Regulatory Components</a:t>
            </a:r>
            <a:endParaRPr lang="en-US" dirty="0"/>
          </a:p>
        </p:txBody>
      </p:sp>
      <p:sp>
        <p:nvSpPr>
          <p:cNvPr id="3" name="Content Placeholder 2"/>
          <p:cNvSpPr>
            <a:spLocks noGrp="1"/>
          </p:cNvSpPr>
          <p:nvPr>
            <p:ph idx="1"/>
          </p:nvPr>
        </p:nvSpPr>
        <p:spPr/>
        <p:txBody>
          <a:bodyPr>
            <a:normAutofit/>
          </a:bodyPr>
          <a:lstStyle/>
          <a:p>
            <a:pPr marL="0" indent="0">
              <a:buNone/>
            </a:pPr>
            <a:r>
              <a:rPr lang="en-US" sz="4000" b="1" dirty="0" smtClean="0"/>
              <a:t>1. Regulator </a:t>
            </a:r>
            <a:r>
              <a:rPr lang="en-US" sz="4000" b="1" dirty="0"/>
              <a:t>Gene </a:t>
            </a:r>
            <a:r>
              <a:rPr lang="en-US" sz="4000" dirty="0"/>
              <a:t>- It is the sequence of DNA that codes for the production of a repressor protein (often located away from the operon it regulates). </a:t>
            </a:r>
          </a:p>
          <a:p>
            <a:pPr marL="0" indent="0">
              <a:buNone/>
            </a:pPr>
            <a:r>
              <a:rPr lang="en-US" sz="4000" dirty="0" smtClean="0"/>
              <a:t>2.  </a:t>
            </a:r>
            <a:r>
              <a:rPr lang="en-US" sz="4000" b="1" dirty="0"/>
              <a:t>Repressor Protein </a:t>
            </a:r>
            <a:r>
              <a:rPr lang="en-US" sz="4000" dirty="0"/>
              <a:t>- In active form, it binds to the operator to prevent transcription of structural genes</a:t>
            </a:r>
          </a:p>
        </p:txBody>
      </p:sp>
    </p:spTree>
    <p:extLst>
      <p:ext uri="{BB962C8B-B14F-4D97-AF65-F5344CB8AC3E}">
        <p14:creationId xmlns:p14="http://schemas.microsoft.com/office/powerpoint/2010/main" val="15928737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Inducible Operon (Lac Operon) </a:t>
            </a:r>
            <a:r>
              <a:rPr lang="en-US" dirty="0" smtClean="0"/>
              <a:t/>
            </a:r>
            <a:br>
              <a:rPr lang="en-US" dirty="0" smtClean="0"/>
            </a:br>
            <a:endParaRPr lang="en-US" dirty="0"/>
          </a:p>
        </p:txBody>
      </p:sp>
      <p:sp>
        <p:nvSpPr>
          <p:cNvPr id="3" name="Content Placeholder 2"/>
          <p:cNvSpPr>
            <a:spLocks noGrp="1"/>
          </p:cNvSpPr>
          <p:nvPr>
            <p:ph idx="1"/>
          </p:nvPr>
        </p:nvSpPr>
        <p:spPr>
          <a:xfrm>
            <a:off x="838200" y="1492624"/>
            <a:ext cx="10515600" cy="4684339"/>
          </a:xfrm>
        </p:spPr>
        <p:txBody>
          <a:bodyPr>
            <a:noAutofit/>
          </a:bodyPr>
          <a:lstStyle/>
          <a:p>
            <a:r>
              <a:rPr lang="en-US" sz="4000" dirty="0"/>
              <a:t> </a:t>
            </a:r>
            <a:r>
              <a:rPr lang="en-US" sz="4000" dirty="0" smtClean="0"/>
              <a:t>Inducible </a:t>
            </a:r>
            <a:r>
              <a:rPr lang="en-US" sz="4000" dirty="0"/>
              <a:t>operons are generally in the off condition, i.e., their gene products are required occasionally or not at all by the cell. </a:t>
            </a:r>
          </a:p>
          <a:p>
            <a:pPr lvl="0"/>
            <a:r>
              <a:rPr lang="en-US" sz="4000" dirty="0"/>
              <a:t>Repressor proteins are made in active form, and are capable of binding to the operator. </a:t>
            </a:r>
          </a:p>
          <a:p>
            <a:r>
              <a:rPr lang="en-US" sz="4000" dirty="0"/>
              <a:t>Repressor proteins can be inactivated by binding to the inducer (in lac operon it is lactose) which is then activated</a:t>
            </a:r>
          </a:p>
        </p:txBody>
      </p:sp>
    </p:spTree>
    <p:extLst>
      <p:ext uri="{BB962C8B-B14F-4D97-AF65-F5344CB8AC3E}">
        <p14:creationId xmlns:p14="http://schemas.microsoft.com/office/powerpoint/2010/main" val="3263794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4769"/>
          </a:xfrm>
        </p:spPr>
        <p:txBody>
          <a:bodyPr/>
          <a:lstStyle/>
          <a:p>
            <a:pPr algn="ctr"/>
            <a:r>
              <a:rPr lang="en-US" b="1" dirty="0" smtClean="0"/>
              <a:t>Lac Operon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290918"/>
            <a:ext cx="10515600" cy="5405717"/>
          </a:xfrm>
        </p:spPr>
      </p:pic>
    </p:spTree>
    <p:extLst>
      <p:ext uri="{BB962C8B-B14F-4D97-AF65-F5344CB8AC3E}">
        <p14:creationId xmlns:p14="http://schemas.microsoft.com/office/powerpoint/2010/main" val="1481669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Repressible Operon </a:t>
            </a:r>
            <a:r>
              <a:rPr lang="en-US" dirty="0" smtClean="0"/>
              <a:t/>
            </a:r>
            <a:br>
              <a:rPr lang="en-US" dirty="0" smtClean="0"/>
            </a:br>
            <a:endParaRPr lang="en-US" dirty="0"/>
          </a:p>
        </p:txBody>
      </p:sp>
      <p:sp>
        <p:nvSpPr>
          <p:cNvPr id="3" name="Content Placeholder 2"/>
          <p:cNvSpPr>
            <a:spLocks noGrp="1"/>
          </p:cNvSpPr>
          <p:nvPr>
            <p:ph idx="1"/>
          </p:nvPr>
        </p:nvSpPr>
        <p:spPr>
          <a:xfrm>
            <a:off x="838200" y="1532965"/>
            <a:ext cx="10515600" cy="4643998"/>
          </a:xfrm>
        </p:spPr>
        <p:txBody>
          <a:bodyPr>
            <a:noAutofit/>
          </a:bodyPr>
          <a:lstStyle/>
          <a:p>
            <a:pPr lvl="0"/>
            <a:r>
              <a:rPr lang="en-US" sz="4000" dirty="0" smtClean="0"/>
              <a:t>Repressible </a:t>
            </a:r>
            <a:r>
              <a:rPr lang="en-US" sz="4000" dirty="0"/>
              <a:t>operons are generally in the on condition, i.e., the products of genes are generally required, most of the time, by cells for maintenance. </a:t>
            </a:r>
          </a:p>
          <a:p>
            <a:pPr lvl="0"/>
            <a:r>
              <a:rPr lang="en-US" sz="4000" dirty="0"/>
              <a:t>Repressor proteins are made in inactive form, which bind to the operator. </a:t>
            </a:r>
          </a:p>
          <a:p>
            <a:r>
              <a:rPr lang="en-US" sz="4000" dirty="0"/>
              <a:t>A repressor needs to bind to a co-repressor to make it an active repressor</a:t>
            </a:r>
          </a:p>
        </p:txBody>
      </p:sp>
    </p:spTree>
    <p:extLst>
      <p:ext uri="{BB962C8B-B14F-4D97-AF65-F5344CB8AC3E}">
        <p14:creationId xmlns:p14="http://schemas.microsoft.com/office/powerpoint/2010/main" val="221524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39240"/>
          </a:xfrm>
        </p:spPr>
        <p:txBody>
          <a:bodyPr>
            <a:normAutofit fontScale="90000"/>
          </a:bodyPr>
          <a:lstStyle/>
          <a:p>
            <a:pPr algn="ctr"/>
            <a:r>
              <a:rPr lang="en-US" b="1" dirty="0" smtClean="0"/>
              <a:t>Repressible Operon </a:t>
            </a:r>
            <a:r>
              <a:rPr lang="en-US" dirty="0" smtClean="0"/>
              <a:t/>
            </a:r>
            <a:br>
              <a:rPr lang="en-US" dirty="0" smtClean="0"/>
            </a:br>
            <a:endParaRPr lang="en-US" dirty="0"/>
          </a:p>
        </p:txBody>
      </p:sp>
      <p:sp>
        <p:nvSpPr>
          <p:cNvPr id="3" name="Content Placeholder 2"/>
          <p:cNvSpPr>
            <a:spLocks noGrp="1"/>
          </p:cNvSpPr>
          <p:nvPr>
            <p:ph idx="1"/>
          </p:nvPr>
        </p:nvSpPr>
        <p:spPr>
          <a:xfrm>
            <a:off x="838200" y="1506071"/>
            <a:ext cx="10515600" cy="4670892"/>
          </a:xfrm>
        </p:spPr>
        <p:txBody>
          <a:bodyPr>
            <a:normAutofit/>
          </a:bodyPr>
          <a:lstStyle/>
          <a:p>
            <a:pPr lvl="0"/>
            <a:r>
              <a:rPr lang="en-US" sz="4000" dirty="0"/>
              <a:t>A co-repressor is generally an end product of the metabolic pathway coded by the operon. In tryptophan operon, it is tryptophan. </a:t>
            </a:r>
          </a:p>
          <a:p>
            <a:pPr lvl="0"/>
            <a:r>
              <a:rPr lang="en-US" sz="4000" dirty="0"/>
              <a:t>There must be high accumulation of co-repressor before it can bind to the repressor to make it active. </a:t>
            </a:r>
          </a:p>
          <a:p>
            <a:endParaRPr lang="en-US" sz="4000" dirty="0"/>
          </a:p>
        </p:txBody>
      </p:sp>
    </p:spTree>
    <p:extLst>
      <p:ext uri="{BB962C8B-B14F-4D97-AF65-F5344CB8AC3E}">
        <p14:creationId xmlns:p14="http://schemas.microsoft.com/office/powerpoint/2010/main" val="26962780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129552"/>
          </a:xfrm>
        </p:spPr>
        <p:txBody>
          <a:bodyPr>
            <a:noAutofit/>
          </a:bodyPr>
          <a:lstStyle/>
          <a:p>
            <a:pPr algn="ctr"/>
            <a:r>
              <a:rPr lang="en-US" b="1" dirty="0" smtClean="0"/>
              <a:t/>
            </a:r>
            <a:br>
              <a:rPr lang="en-US" b="1" dirty="0" smtClean="0"/>
            </a:br>
            <a:r>
              <a:rPr lang="en-US" b="1" dirty="0" smtClean="0"/>
              <a:t>Negative versus Positive Controls </a:t>
            </a:r>
            <a:r>
              <a:rPr lang="en-US" dirty="0" smtClean="0"/>
              <a:t/>
            </a:r>
            <a:br>
              <a:rPr lang="en-US" dirty="0" smtClean="0"/>
            </a:br>
            <a:endParaRPr lang="en-US" dirty="0"/>
          </a:p>
        </p:txBody>
      </p:sp>
      <p:sp>
        <p:nvSpPr>
          <p:cNvPr id="3" name="Content Placeholder 2"/>
          <p:cNvSpPr>
            <a:spLocks noGrp="1"/>
          </p:cNvSpPr>
          <p:nvPr>
            <p:ph idx="1"/>
          </p:nvPr>
        </p:nvSpPr>
        <p:spPr>
          <a:xfrm>
            <a:off x="838200" y="1129553"/>
            <a:ext cx="10515600" cy="5567082"/>
          </a:xfrm>
        </p:spPr>
        <p:txBody>
          <a:bodyPr>
            <a:noAutofit/>
          </a:bodyPr>
          <a:lstStyle/>
          <a:p>
            <a:pPr lvl="0"/>
            <a:r>
              <a:rPr lang="en-US" sz="4000" dirty="0" smtClean="0"/>
              <a:t>Above </a:t>
            </a:r>
            <a:r>
              <a:rPr lang="en-US" sz="4000" dirty="0"/>
              <a:t>examples simply show on and off at the operator representing a negative control. </a:t>
            </a:r>
          </a:p>
          <a:p>
            <a:pPr lvl="0"/>
            <a:r>
              <a:rPr lang="en-US" sz="4000" dirty="0"/>
              <a:t>Some operons when turned on, do not transcribe at a sufficient rate, as </a:t>
            </a:r>
            <a:r>
              <a:rPr lang="en-US" sz="4000" i="1" dirty="0"/>
              <a:t>RNA polymerase </a:t>
            </a:r>
            <a:r>
              <a:rPr lang="en-US" sz="4000" dirty="0"/>
              <a:t>do not bind effectively to the promoter. </a:t>
            </a:r>
          </a:p>
          <a:p>
            <a:r>
              <a:rPr lang="en-US" sz="4000" dirty="0"/>
              <a:t>These operons can be transcribed effectively by binding efficient binding of </a:t>
            </a:r>
            <a:r>
              <a:rPr lang="en-US" sz="4000" i="1" dirty="0"/>
              <a:t>RNA polymerase. </a:t>
            </a:r>
            <a:r>
              <a:rPr lang="en-US" sz="4000" dirty="0"/>
              <a:t>An activated helper is required for </a:t>
            </a:r>
            <a:r>
              <a:rPr lang="en-US" sz="4000" i="1" dirty="0"/>
              <a:t>RNA polymerase </a:t>
            </a:r>
            <a:r>
              <a:rPr lang="en-US" sz="4000" dirty="0"/>
              <a:t>binding</a:t>
            </a:r>
          </a:p>
        </p:txBody>
      </p:sp>
    </p:spTree>
    <p:extLst>
      <p:ext uri="{BB962C8B-B14F-4D97-AF65-F5344CB8AC3E}">
        <p14:creationId xmlns:p14="http://schemas.microsoft.com/office/powerpoint/2010/main" val="8088624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77"/>
            <a:ext cx="10515600" cy="914399"/>
          </a:xfrm>
        </p:spPr>
        <p:txBody>
          <a:bodyPr/>
          <a:lstStyle/>
          <a:p>
            <a:pPr algn="ctr"/>
            <a:r>
              <a:rPr lang="en-US" b="1" dirty="0" smtClean="0"/>
              <a:t>Gene Regulation in Eukaryotes</a:t>
            </a:r>
            <a:endParaRPr lang="en-US" dirty="0"/>
          </a:p>
        </p:txBody>
      </p:sp>
      <p:sp>
        <p:nvSpPr>
          <p:cNvPr id="3" name="Content Placeholder 2"/>
          <p:cNvSpPr>
            <a:spLocks noGrp="1"/>
          </p:cNvSpPr>
          <p:nvPr>
            <p:ph idx="1"/>
          </p:nvPr>
        </p:nvSpPr>
        <p:spPr>
          <a:xfrm>
            <a:off x="838200" y="1021976"/>
            <a:ext cx="10515600" cy="5154987"/>
          </a:xfrm>
        </p:spPr>
        <p:txBody>
          <a:bodyPr>
            <a:normAutofit/>
          </a:bodyPr>
          <a:lstStyle/>
          <a:p>
            <a:r>
              <a:rPr lang="en-US" sz="4000" b="1" dirty="0" smtClean="0"/>
              <a:t> </a:t>
            </a:r>
            <a:r>
              <a:rPr lang="en-US" sz="4000" dirty="0" smtClean="0"/>
              <a:t>Gene </a:t>
            </a:r>
            <a:r>
              <a:rPr lang="en-US" sz="4000" dirty="0"/>
              <a:t>regulation in eukaryotes is much more complex due to their </a:t>
            </a:r>
            <a:r>
              <a:rPr lang="en-US" sz="4000" dirty="0" err="1"/>
              <a:t>multicellularity</a:t>
            </a:r>
            <a:r>
              <a:rPr lang="en-US" sz="4000" dirty="0"/>
              <a:t>. </a:t>
            </a:r>
          </a:p>
          <a:p>
            <a:pPr lvl="0"/>
            <a:r>
              <a:rPr lang="en-US" sz="4000" dirty="0"/>
              <a:t>In eukaryotes, regulation of gene is needed due to their cell </a:t>
            </a:r>
            <a:r>
              <a:rPr lang="en-US" sz="4000" dirty="0" err="1"/>
              <a:t>specialisation</a:t>
            </a:r>
            <a:r>
              <a:rPr lang="en-US" sz="4000" dirty="0"/>
              <a:t>. </a:t>
            </a:r>
          </a:p>
          <a:p>
            <a:pPr lvl="0"/>
            <a:r>
              <a:rPr lang="en-US" sz="4000" dirty="0"/>
              <a:t>Each cell type differentiates by activating a different subset of genes. </a:t>
            </a:r>
          </a:p>
          <a:p>
            <a:r>
              <a:rPr lang="en-US" sz="4000" dirty="0"/>
              <a:t>Gene regulation in higher eukaryotes may be either short term or long term</a:t>
            </a:r>
          </a:p>
        </p:txBody>
      </p:sp>
    </p:spTree>
    <p:extLst>
      <p:ext uri="{BB962C8B-B14F-4D97-AF65-F5344CB8AC3E}">
        <p14:creationId xmlns:p14="http://schemas.microsoft.com/office/powerpoint/2010/main" val="32384467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14051"/>
          </a:xfrm>
        </p:spPr>
        <p:txBody>
          <a:bodyPr/>
          <a:lstStyle/>
          <a:p>
            <a:pPr algn="ctr"/>
            <a:r>
              <a:rPr lang="en-US" b="1" dirty="0" smtClean="0"/>
              <a:t>Gene Regulation in Eukaryotes</a:t>
            </a:r>
            <a:endParaRPr lang="en-US" dirty="0"/>
          </a:p>
        </p:txBody>
      </p:sp>
      <p:sp>
        <p:nvSpPr>
          <p:cNvPr id="3" name="Content Placeholder 2"/>
          <p:cNvSpPr>
            <a:spLocks noGrp="1"/>
          </p:cNvSpPr>
          <p:nvPr>
            <p:ph idx="1"/>
          </p:nvPr>
        </p:nvSpPr>
        <p:spPr>
          <a:xfrm>
            <a:off x="838200" y="1573306"/>
            <a:ext cx="10515600" cy="4603657"/>
          </a:xfrm>
        </p:spPr>
        <p:txBody>
          <a:bodyPr>
            <a:normAutofit/>
          </a:bodyPr>
          <a:lstStyle/>
          <a:p>
            <a:pPr lvl="0"/>
            <a:r>
              <a:rPr lang="en-US" sz="4000" dirty="0"/>
              <a:t>Gene regulation in eukaryotes occurs at the following levels: </a:t>
            </a:r>
          </a:p>
          <a:p>
            <a:pPr marL="0" lvl="0" indent="0">
              <a:buNone/>
            </a:pPr>
            <a:r>
              <a:rPr lang="en-US" sz="4000" dirty="0" smtClean="0"/>
              <a:t>1. Transcription </a:t>
            </a:r>
            <a:endParaRPr lang="en-US" sz="4000" dirty="0"/>
          </a:p>
          <a:p>
            <a:pPr marL="0" lvl="0" indent="0">
              <a:buNone/>
            </a:pPr>
            <a:r>
              <a:rPr lang="en-US" sz="4000" dirty="0" smtClean="0"/>
              <a:t>2. RNA </a:t>
            </a:r>
            <a:r>
              <a:rPr lang="en-US" sz="4000" dirty="0"/>
              <a:t>processing </a:t>
            </a:r>
          </a:p>
          <a:p>
            <a:pPr marL="0" lvl="0" indent="0">
              <a:buNone/>
            </a:pPr>
            <a:r>
              <a:rPr lang="en-US" sz="4000" dirty="0" smtClean="0"/>
              <a:t>3. mRNA </a:t>
            </a:r>
            <a:r>
              <a:rPr lang="en-US" sz="4000" dirty="0"/>
              <a:t>lifetime (longevity) </a:t>
            </a:r>
          </a:p>
          <a:p>
            <a:pPr marL="0" indent="0">
              <a:buNone/>
            </a:pPr>
            <a:r>
              <a:rPr lang="en-US" sz="4000" dirty="0" smtClean="0"/>
              <a:t>4. Translation </a:t>
            </a:r>
            <a:endParaRPr lang="en-US" sz="4000" dirty="0"/>
          </a:p>
        </p:txBody>
      </p:sp>
    </p:spTree>
    <p:extLst>
      <p:ext uri="{BB962C8B-B14F-4D97-AF65-F5344CB8AC3E}">
        <p14:creationId xmlns:p14="http://schemas.microsoft.com/office/powerpoint/2010/main" val="19829820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0640"/>
          </a:xfrm>
        </p:spPr>
        <p:txBody>
          <a:bodyPr/>
          <a:lstStyle/>
          <a:p>
            <a:pPr algn="ctr"/>
            <a:r>
              <a:rPr lang="en-US" b="1" dirty="0" smtClean="0"/>
              <a:t>Levels of Protein Regulation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9553" y="1344705"/>
            <a:ext cx="8646459" cy="5325035"/>
          </a:xfrm>
        </p:spPr>
      </p:pic>
    </p:spTree>
    <p:extLst>
      <p:ext uri="{BB962C8B-B14F-4D97-AF65-F5344CB8AC3E}">
        <p14:creationId xmlns:p14="http://schemas.microsoft.com/office/powerpoint/2010/main" val="9583826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Gene Regulation in Eukaryotes</a:t>
            </a:r>
            <a:endParaRPr lang="en-US" dirty="0"/>
          </a:p>
        </p:txBody>
      </p:sp>
      <p:sp>
        <p:nvSpPr>
          <p:cNvPr id="3" name="Content Placeholder 2"/>
          <p:cNvSpPr>
            <a:spLocks noGrp="1"/>
          </p:cNvSpPr>
          <p:nvPr>
            <p:ph idx="1"/>
          </p:nvPr>
        </p:nvSpPr>
        <p:spPr>
          <a:xfrm>
            <a:off x="838200" y="1690688"/>
            <a:ext cx="10515600" cy="4486275"/>
          </a:xfrm>
        </p:spPr>
        <p:txBody>
          <a:bodyPr>
            <a:normAutofit/>
          </a:bodyPr>
          <a:lstStyle/>
          <a:p>
            <a:r>
              <a:rPr lang="en-US" sz="4000" dirty="0"/>
              <a:t>One of the most popular models of gene regulation in eukaryotes is the Davidson-Britten's model known as 'Gene Battery Model'. According to this model, gene regulation occurs at the level of RNA processing</a:t>
            </a:r>
          </a:p>
        </p:txBody>
      </p:sp>
    </p:spTree>
    <p:extLst>
      <p:ext uri="{BB962C8B-B14F-4D97-AF65-F5344CB8AC3E}">
        <p14:creationId xmlns:p14="http://schemas.microsoft.com/office/powerpoint/2010/main" val="26034757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739589"/>
          </a:xfrm>
        </p:spPr>
        <p:txBody>
          <a:bodyPr>
            <a:normAutofit fontScale="90000"/>
          </a:bodyPr>
          <a:lstStyle/>
          <a:p>
            <a:pPr algn="ctr"/>
            <a:r>
              <a:rPr lang="en-US" b="1" dirty="0" smtClean="0"/>
              <a:t/>
            </a:r>
            <a:br>
              <a:rPr lang="en-US" b="1" dirty="0" smtClean="0"/>
            </a:br>
            <a:r>
              <a:rPr lang="en-US" b="1" dirty="0" smtClean="0"/>
              <a:t>Human Genome Project cont’d </a:t>
            </a:r>
            <a:r>
              <a:rPr lang="en-US" dirty="0" smtClean="0"/>
              <a:t/>
            </a:r>
            <a:br>
              <a:rPr lang="en-US" dirty="0" smtClean="0"/>
            </a:br>
            <a:endParaRPr lang="en-US" dirty="0"/>
          </a:p>
        </p:txBody>
      </p:sp>
      <p:sp>
        <p:nvSpPr>
          <p:cNvPr id="3" name="Content Placeholder 2"/>
          <p:cNvSpPr>
            <a:spLocks noGrp="1"/>
          </p:cNvSpPr>
          <p:nvPr>
            <p:ph idx="1"/>
          </p:nvPr>
        </p:nvSpPr>
        <p:spPr>
          <a:xfrm>
            <a:off x="838200" y="1048871"/>
            <a:ext cx="10515600" cy="5128092"/>
          </a:xfrm>
        </p:spPr>
        <p:txBody>
          <a:bodyPr>
            <a:normAutofit/>
          </a:bodyPr>
          <a:lstStyle/>
          <a:p>
            <a:r>
              <a:rPr lang="en-US" sz="4000" dirty="0"/>
              <a:t> </a:t>
            </a:r>
            <a:r>
              <a:rPr lang="en-US" sz="4000" dirty="0" smtClean="0"/>
              <a:t>The </a:t>
            </a:r>
            <a:r>
              <a:rPr lang="en-US" sz="4000" dirty="0"/>
              <a:t>Human Genome Project is a mega project that was started in October 1990 and was completed in April 2003. However, the announcement of sequencing of individual chromosomes was published in 2006 with the completion of assigning nucleotide sequences to chromosomes</a:t>
            </a:r>
          </a:p>
        </p:txBody>
      </p:sp>
    </p:spTree>
    <p:extLst>
      <p:ext uri="{BB962C8B-B14F-4D97-AF65-F5344CB8AC3E}">
        <p14:creationId xmlns:p14="http://schemas.microsoft.com/office/powerpoint/2010/main" val="39269629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2"/>
            <a:ext cx="10515600" cy="1210234"/>
          </a:xfrm>
        </p:spPr>
        <p:txBody>
          <a:bodyPr>
            <a:noAutofit/>
          </a:bodyPr>
          <a:lstStyle/>
          <a:p>
            <a:pPr algn="ctr"/>
            <a:r>
              <a:rPr lang="en-US" b="1" dirty="0" smtClean="0"/>
              <a:t/>
            </a:r>
            <a:br>
              <a:rPr lang="en-US" b="1" dirty="0" smtClean="0"/>
            </a:br>
            <a:r>
              <a:rPr lang="en-US" b="1" dirty="0" smtClean="0"/>
              <a:t>Human Genome Project cont’d </a:t>
            </a:r>
            <a:r>
              <a:rPr lang="en-US" dirty="0" smtClean="0"/>
              <a:t/>
            </a:r>
            <a:br>
              <a:rPr lang="en-US" dirty="0" smtClean="0"/>
            </a:br>
            <a:endParaRPr lang="en-US" dirty="0"/>
          </a:p>
        </p:txBody>
      </p:sp>
      <p:sp>
        <p:nvSpPr>
          <p:cNvPr id="3" name="Content Placeholder 2"/>
          <p:cNvSpPr>
            <a:spLocks noGrp="1"/>
          </p:cNvSpPr>
          <p:nvPr>
            <p:ph idx="1"/>
          </p:nvPr>
        </p:nvSpPr>
        <p:spPr>
          <a:xfrm>
            <a:off x="838200" y="1506071"/>
            <a:ext cx="10515600" cy="4670892"/>
          </a:xfrm>
        </p:spPr>
        <p:txBody>
          <a:bodyPr>
            <a:normAutofit/>
          </a:bodyPr>
          <a:lstStyle/>
          <a:p>
            <a:pPr lvl="0"/>
            <a:r>
              <a:rPr lang="en-US" sz="4000" dirty="0"/>
              <a:t>complete genetic blue- print for building a human being. </a:t>
            </a:r>
          </a:p>
          <a:p>
            <a:r>
              <a:rPr lang="en-US" sz="4000" dirty="0"/>
              <a:t>The Human Genome Project was a 13-year-effort coordinated by the US Department of Energy and the National Institute of Health. Besides the United States, geneticists from United Kingdom (Welcome Group), Japan, Germany, France, China and India also joined the project</a:t>
            </a:r>
          </a:p>
        </p:txBody>
      </p:sp>
    </p:spTree>
    <p:extLst>
      <p:ext uri="{BB962C8B-B14F-4D97-AF65-F5344CB8AC3E}">
        <p14:creationId xmlns:p14="http://schemas.microsoft.com/office/powerpoint/2010/main" val="22885706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3"/>
            <a:ext cx="10515600" cy="995082"/>
          </a:xfrm>
        </p:spPr>
        <p:txBody>
          <a:bodyPr>
            <a:noAutofit/>
          </a:bodyPr>
          <a:lstStyle/>
          <a:p>
            <a:pPr algn="ctr"/>
            <a:r>
              <a:rPr lang="en-US" b="1" dirty="0" smtClean="0"/>
              <a:t/>
            </a:r>
            <a:br>
              <a:rPr lang="en-US" b="1" dirty="0" smtClean="0"/>
            </a:br>
            <a:r>
              <a:rPr lang="en-US" b="1" dirty="0" smtClean="0"/>
              <a:t>Human Genome Project cont’d </a:t>
            </a:r>
            <a:r>
              <a:rPr lang="en-US" dirty="0" smtClean="0"/>
              <a:t/>
            </a:r>
            <a:br>
              <a:rPr lang="en-US" dirty="0" smtClean="0"/>
            </a:br>
            <a:endParaRPr lang="en-US" dirty="0"/>
          </a:p>
        </p:txBody>
      </p:sp>
      <p:sp>
        <p:nvSpPr>
          <p:cNvPr id="3" name="Content Placeholder 2"/>
          <p:cNvSpPr>
            <a:spLocks noGrp="1"/>
          </p:cNvSpPr>
          <p:nvPr>
            <p:ph idx="1"/>
          </p:nvPr>
        </p:nvSpPr>
        <p:spPr>
          <a:xfrm>
            <a:off x="838200" y="1264024"/>
            <a:ext cx="10515600" cy="4912939"/>
          </a:xfrm>
        </p:spPr>
        <p:txBody>
          <a:bodyPr>
            <a:normAutofit/>
          </a:bodyPr>
          <a:lstStyle/>
          <a:p>
            <a:pPr lvl="0"/>
            <a:r>
              <a:rPr lang="en-US" sz="4000" dirty="0"/>
              <a:t>The total estimated cost of the Human Genome Project would be approximately nine billion US dollars. </a:t>
            </a:r>
          </a:p>
          <a:p>
            <a:r>
              <a:rPr lang="en-US" sz="4000" dirty="0"/>
              <a:t>James Watson was the first director of the Human Genome Project. He was replaced by Francis Collins in 1993</a:t>
            </a:r>
          </a:p>
        </p:txBody>
      </p:sp>
    </p:spTree>
    <p:extLst>
      <p:ext uri="{BB962C8B-B14F-4D97-AF65-F5344CB8AC3E}">
        <p14:creationId xmlns:p14="http://schemas.microsoft.com/office/powerpoint/2010/main" val="6611107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129"/>
            <a:ext cx="10515600" cy="820271"/>
          </a:xfrm>
        </p:spPr>
        <p:txBody>
          <a:bodyPr>
            <a:normAutofit fontScale="90000"/>
          </a:bodyPr>
          <a:lstStyle/>
          <a:p>
            <a:pPr algn="ctr"/>
            <a:r>
              <a:rPr lang="en-US" b="1" dirty="0" smtClean="0"/>
              <a:t/>
            </a:r>
            <a:br>
              <a:rPr lang="en-US" b="1" dirty="0" smtClean="0"/>
            </a:br>
            <a:r>
              <a:rPr lang="en-US" b="1" dirty="0" smtClean="0"/>
              <a:t>Human Genome Project cont’d </a:t>
            </a:r>
            <a:r>
              <a:rPr lang="en-US" dirty="0" smtClean="0"/>
              <a:t/>
            </a:r>
            <a:br>
              <a:rPr lang="en-US" dirty="0" smtClean="0"/>
            </a:br>
            <a:endParaRPr lang="en-US" dirty="0"/>
          </a:p>
        </p:txBody>
      </p:sp>
      <p:sp>
        <p:nvSpPr>
          <p:cNvPr id="3" name="Content Placeholder 2"/>
          <p:cNvSpPr>
            <a:spLocks noGrp="1"/>
          </p:cNvSpPr>
          <p:nvPr>
            <p:ph idx="1"/>
          </p:nvPr>
        </p:nvSpPr>
        <p:spPr>
          <a:xfrm>
            <a:off x="838200" y="1183341"/>
            <a:ext cx="10515600" cy="4993622"/>
          </a:xfrm>
        </p:spPr>
        <p:txBody>
          <a:bodyPr>
            <a:normAutofit/>
          </a:bodyPr>
          <a:lstStyle/>
          <a:p>
            <a:pPr lvl="0"/>
            <a:r>
              <a:rPr lang="en-US" sz="4000" dirty="0"/>
              <a:t>Francis Collins (Director, Human Genome Project) and J Craig Venter (Founding President, Celera Genomics) are two important scientists associated with the Human Genome Project. </a:t>
            </a:r>
          </a:p>
          <a:p>
            <a:r>
              <a:rPr lang="en-US" sz="4000" dirty="0"/>
              <a:t>The complete sequence of the first human chromosome (chromosome 22) was published in December 1999</a:t>
            </a:r>
          </a:p>
        </p:txBody>
      </p:sp>
    </p:spTree>
    <p:extLst>
      <p:ext uri="{BB962C8B-B14F-4D97-AF65-F5344CB8AC3E}">
        <p14:creationId xmlns:p14="http://schemas.microsoft.com/office/powerpoint/2010/main" val="36735948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5"/>
            <a:ext cx="10515600" cy="820269"/>
          </a:xfrm>
        </p:spPr>
        <p:txBody>
          <a:bodyPr>
            <a:noAutofit/>
          </a:bodyPr>
          <a:lstStyle/>
          <a:p>
            <a:pPr algn="ctr"/>
            <a:r>
              <a:rPr lang="en-US" b="1" dirty="0" smtClean="0"/>
              <a:t/>
            </a:r>
            <a:br>
              <a:rPr lang="en-US" b="1" dirty="0" smtClean="0"/>
            </a:br>
            <a:r>
              <a:rPr lang="en-US" b="1" dirty="0" smtClean="0"/>
              <a:t>Human Genome Project cont’d </a:t>
            </a:r>
            <a:r>
              <a:rPr lang="en-US" dirty="0" smtClean="0"/>
              <a:t/>
            </a:r>
            <a:br>
              <a:rPr lang="en-US" dirty="0" smtClean="0"/>
            </a:br>
            <a:endParaRPr lang="en-US" dirty="0"/>
          </a:p>
        </p:txBody>
      </p:sp>
      <p:sp>
        <p:nvSpPr>
          <p:cNvPr id="3" name="Content Placeholder 2"/>
          <p:cNvSpPr>
            <a:spLocks noGrp="1"/>
          </p:cNvSpPr>
          <p:nvPr>
            <p:ph idx="1"/>
          </p:nvPr>
        </p:nvSpPr>
        <p:spPr>
          <a:xfrm>
            <a:off x="838200" y="1102659"/>
            <a:ext cx="10515600" cy="5074304"/>
          </a:xfrm>
        </p:spPr>
        <p:txBody>
          <a:bodyPr>
            <a:normAutofit/>
          </a:bodyPr>
          <a:lstStyle/>
          <a:p>
            <a:pPr lvl="0"/>
            <a:r>
              <a:rPr lang="en-US" sz="4000" dirty="0"/>
              <a:t>The human genome reference sequences do not represent gene of a particular person's genome. </a:t>
            </a:r>
          </a:p>
          <a:p>
            <a:pPr lvl="0"/>
            <a:r>
              <a:rPr lang="en-US" sz="4000" dirty="0"/>
              <a:t>The knowledge obtained from the sequences is applicable to every person as all humans share a basic set of genes and common genomic regions. </a:t>
            </a:r>
          </a:p>
          <a:p>
            <a:r>
              <a:rPr lang="en-US" sz="4000" dirty="0"/>
              <a:t>Researchers collected blood (female) or sperm (male) samples from a large number of donors</a:t>
            </a:r>
          </a:p>
        </p:txBody>
      </p:sp>
    </p:spTree>
    <p:extLst>
      <p:ext uri="{BB962C8B-B14F-4D97-AF65-F5344CB8AC3E}">
        <p14:creationId xmlns:p14="http://schemas.microsoft.com/office/powerpoint/2010/main" val="9949133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358152"/>
          </a:xfrm>
        </p:spPr>
        <p:txBody>
          <a:bodyPr>
            <a:noAutofit/>
          </a:bodyPr>
          <a:lstStyle/>
          <a:p>
            <a:pPr algn="ctr"/>
            <a:r>
              <a:rPr lang="en-US" b="1" dirty="0" smtClean="0"/>
              <a:t/>
            </a:r>
            <a:br>
              <a:rPr lang="en-US" b="1" dirty="0" smtClean="0"/>
            </a:br>
            <a:r>
              <a:rPr lang="en-US" b="1" dirty="0" smtClean="0"/>
              <a:t>Human Genome Project cont’d </a:t>
            </a:r>
            <a:r>
              <a:rPr lang="en-US" dirty="0" smtClean="0"/>
              <a:t/>
            </a:r>
            <a:br>
              <a:rPr lang="en-US" dirty="0" smtClean="0"/>
            </a:br>
            <a:endParaRPr lang="en-US" dirty="0"/>
          </a:p>
        </p:txBody>
      </p:sp>
      <p:sp>
        <p:nvSpPr>
          <p:cNvPr id="3" name="Content Placeholder 2"/>
          <p:cNvSpPr>
            <a:spLocks noGrp="1"/>
          </p:cNvSpPr>
          <p:nvPr>
            <p:ph idx="1"/>
          </p:nvPr>
        </p:nvSpPr>
        <p:spPr>
          <a:xfrm>
            <a:off x="838200" y="1358153"/>
            <a:ext cx="10515600" cy="4818810"/>
          </a:xfrm>
        </p:spPr>
        <p:txBody>
          <a:bodyPr>
            <a:normAutofit/>
          </a:bodyPr>
          <a:lstStyle/>
          <a:p>
            <a:r>
              <a:rPr lang="en-US" sz="4000" dirty="0"/>
              <a:t>It is easier to prepare DNA cleanly from sperms than other cell types as sperms have a higher ratio of DNA to protein. Although sperms contained all chromosomes necessary for study, scientists involved in the Human Genome Project also used white cells from the female donor's blood</a:t>
            </a:r>
          </a:p>
        </p:txBody>
      </p:sp>
    </p:spTree>
    <p:extLst>
      <p:ext uri="{BB962C8B-B14F-4D97-AF65-F5344CB8AC3E}">
        <p14:creationId xmlns:p14="http://schemas.microsoft.com/office/powerpoint/2010/main" val="39743823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102660"/>
          </a:xfrm>
        </p:spPr>
        <p:txBody>
          <a:bodyPr>
            <a:normAutofit fontScale="90000"/>
          </a:bodyPr>
          <a:lstStyle/>
          <a:p>
            <a:pPr algn="ctr"/>
            <a:r>
              <a:rPr lang="en-US" b="1" dirty="0" smtClean="0"/>
              <a:t/>
            </a:r>
            <a:br>
              <a:rPr lang="en-US" b="1" dirty="0" smtClean="0"/>
            </a:br>
            <a:r>
              <a:rPr lang="en-US" b="1" dirty="0" smtClean="0"/>
              <a:t>Human Genome Project cont’d </a:t>
            </a:r>
            <a:r>
              <a:rPr lang="en-US" dirty="0" smtClean="0"/>
              <a:t/>
            </a:r>
            <a:br>
              <a:rPr lang="en-US" dirty="0" smtClean="0"/>
            </a:br>
            <a:endParaRPr lang="en-US" dirty="0"/>
          </a:p>
        </p:txBody>
      </p:sp>
      <p:sp>
        <p:nvSpPr>
          <p:cNvPr id="3" name="Content Placeholder 2"/>
          <p:cNvSpPr>
            <a:spLocks noGrp="1"/>
          </p:cNvSpPr>
          <p:nvPr>
            <p:ph idx="1"/>
          </p:nvPr>
        </p:nvSpPr>
        <p:spPr>
          <a:xfrm>
            <a:off x="838200" y="1317812"/>
            <a:ext cx="10515600" cy="4859151"/>
          </a:xfrm>
        </p:spPr>
        <p:txBody>
          <a:bodyPr>
            <a:normAutofit/>
          </a:bodyPr>
          <a:lstStyle/>
          <a:p>
            <a:pPr lvl="0"/>
            <a:r>
              <a:rPr lang="en-US" sz="4000" dirty="0"/>
              <a:t>Only a few samples were processed for DNA resources from a large number of donors. Thus, donor identities were protected and even scientists could not know whose DNA was sequenced. </a:t>
            </a:r>
          </a:p>
          <a:p>
            <a:pPr lvl="0"/>
            <a:r>
              <a:rPr lang="en-US" sz="4000" dirty="0"/>
              <a:t>The Human Genome Project is an international scientific research project with a primary goal to </a:t>
            </a:r>
          </a:p>
          <a:p>
            <a:endParaRPr lang="en-US" sz="4000" dirty="0"/>
          </a:p>
        </p:txBody>
      </p:sp>
    </p:spTree>
    <p:extLst>
      <p:ext uri="{BB962C8B-B14F-4D97-AF65-F5344CB8AC3E}">
        <p14:creationId xmlns:p14="http://schemas.microsoft.com/office/powerpoint/2010/main" val="28686726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365"/>
            <a:ext cx="10515600" cy="874059"/>
          </a:xfrm>
        </p:spPr>
        <p:txBody>
          <a:bodyPr>
            <a:normAutofit/>
          </a:bodyPr>
          <a:lstStyle/>
          <a:p>
            <a:pPr algn="ctr"/>
            <a:r>
              <a:rPr lang="en-US" b="1" dirty="0" smtClean="0"/>
              <a:t>Primary Goal of Human Genome Project</a:t>
            </a:r>
            <a:endParaRPr lang="en-US" b="1" dirty="0"/>
          </a:p>
        </p:txBody>
      </p:sp>
      <p:sp>
        <p:nvSpPr>
          <p:cNvPr id="3" name="Content Placeholder 2"/>
          <p:cNvSpPr>
            <a:spLocks noGrp="1"/>
          </p:cNvSpPr>
          <p:nvPr>
            <p:ph idx="1"/>
          </p:nvPr>
        </p:nvSpPr>
        <p:spPr>
          <a:xfrm>
            <a:off x="838200" y="1223682"/>
            <a:ext cx="10515600" cy="4953281"/>
          </a:xfrm>
        </p:spPr>
        <p:txBody>
          <a:bodyPr>
            <a:normAutofit/>
          </a:bodyPr>
          <a:lstStyle/>
          <a:p>
            <a:pPr marL="0" lvl="0" indent="0">
              <a:buNone/>
            </a:pPr>
            <a:r>
              <a:rPr lang="en-US" sz="4000" dirty="0" smtClean="0"/>
              <a:t>1. Identify </a:t>
            </a:r>
            <a:r>
              <a:rPr lang="en-US" sz="4000" dirty="0"/>
              <a:t>all the approximately 20,000-25,000 genes in human DNA. </a:t>
            </a:r>
          </a:p>
          <a:p>
            <a:pPr marL="0" lvl="0" indent="0">
              <a:buNone/>
            </a:pPr>
            <a:r>
              <a:rPr lang="en-US" sz="4000" dirty="0" smtClean="0"/>
              <a:t>2. Determine </a:t>
            </a:r>
            <a:r>
              <a:rPr lang="en-US" sz="4000" dirty="0"/>
              <a:t>sequences of the three billion base pairs that constitute human DNA. </a:t>
            </a:r>
          </a:p>
          <a:p>
            <a:pPr marL="0" lvl="0" indent="0">
              <a:buNone/>
            </a:pPr>
            <a:r>
              <a:rPr lang="en-US" sz="4000" dirty="0" smtClean="0"/>
              <a:t>3. Store </a:t>
            </a:r>
            <a:r>
              <a:rPr lang="en-US" sz="4000" dirty="0"/>
              <a:t>this information in databases. </a:t>
            </a:r>
          </a:p>
          <a:p>
            <a:pPr marL="0" indent="0">
              <a:buNone/>
            </a:pPr>
            <a:r>
              <a:rPr lang="en-US" sz="4000" dirty="0" smtClean="0"/>
              <a:t>4. To </a:t>
            </a:r>
            <a:r>
              <a:rPr lang="en-US" sz="4000" dirty="0"/>
              <a:t>improve tools for data analysis</a:t>
            </a:r>
          </a:p>
        </p:txBody>
      </p:sp>
    </p:spTree>
    <p:extLst>
      <p:ext uri="{BB962C8B-B14F-4D97-AF65-F5344CB8AC3E}">
        <p14:creationId xmlns:p14="http://schemas.microsoft.com/office/powerpoint/2010/main" val="11752023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365"/>
            <a:ext cx="10515600" cy="914400"/>
          </a:xfrm>
        </p:spPr>
        <p:txBody>
          <a:bodyPr>
            <a:normAutofit/>
          </a:bodyPr>
          <a:lstStyle/>
          <a:p>
            <a:pPr algn="ctr"/>
            <a:r>
              <a:rPr lang="en-US" b="1" dirty="0" smtClean="0"/>
              <a:t>Primary Goal of Human Genome Project</a:t>
            </a:r>
            <a:endParaRPr lang="en-US" dirty="0"/>
          </a:p>
        </p:txBody>
      </p:sp>
      <p:sp>
        <p:nvSpPr>
          <p:cNvPr id="3" name="Content Placeholder 2"/>
          <p:cNvSpPr>
            <a:spLocks noGrp="1"/>
          </p:cNvSpPr>
          <p:nvPr>
            <p:ph idx="1"/>
          </p:nvPr>
        </p:nvSpPr>
        <p:spPr>
          <a:xfrm>
            <a:off x="838200" y="1237129"/>
            <a:ext cx="10515600" cy="4939834"/>
          </a:xfrm>
        </p:spPr>
        <p:txBody>
          <a:bodyPr>
            <a:normAutofit/>
          </a:bodyPr>
          <a:lstStyle/>
          <a:p>
            <a:pPr marL="0" lvl="0" indent="0">
              <a:buNone/>
            </a:pPr>
            <a:r>
              <a:rPr lang="en-US" sz="4000" dirty="0" smtClean="0"/>
              <a:t>5. Transfer </a:t>
            </a:r>
            <a:r>
              <a:rPr lang="en-US" sz="4000" dirty="0"/>
              <a:t>related technologies to the private sector. </a:t>
            </a:r>
          </a:p>
          <a:p>
            <a:pPr marL="0" lvl="0" indent="0">
              <a:buNone/>
            </a:pPr>
            <a:r>
              <a:rPr lang="en-US" sz="4000" dirty="0" smtClean="0"/>
              <a:t>6. Address </a:t>
            </a:r>
            <a:r>
              <a:rPr lang="en-US" sz="4000" dirty="0"/>
              <a:t>the ethical, legal and social issues that may arise from the project. </a:t>
            </a:r>
          </a:p>
          <a:p>
            <a:pPr lvl="0"/>
            <a:r>
              <a:rPr lang="en-US" sz="4000" dirty="0"/>
              <a:t>During decoding of the human genome, scientists also identified genes for cystic fibrosis, neurofibromatosis, Huntington's disease and an inheritable form of breast cancer. </a:t>
            </a:r>
          </a:p>
          <a:p>
            <a:endParaRPr lang="en-US" sz="4000" dirty="0"/>
          </a:p>
        </p:txBody>
      </p:sp>
    </p:spTree>
    <p:extLst>
      <p:ext uri="{BB962C8B-B14F-4D97-AF65-F5344CB8AC3E}">
        <p14:creationId xmlns:p14="http://schemas.microsoft.com/office/powerpoint/2010/main" val="26915025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39240"/>
          </a:xfrm>
        </p:spPr>
        <p:txBody>
          <a:bodyPr/>
          <a:lstStyle/>
          <a:p>
            <a:pPr algn="ctr"/>
            <a:r>
              <a:rPr lang="en-US" b="1" dirty="0" smtClean="0"/>
              <a:t>Primary Goal of Human Genome Project</a:t>
            </a:r>
            <a:endParaRPr lang="en-US" dirty="0"/>
          </a:p>
        </p:txBody>
      </p:sp>
      <p:sp>
        <p:nvSpPr>
          <p:cNvPr id="3" name="Content Placeholder 2"/>
          <p:cNvSpPr>
            <a:spLocks noGrp="1"/>
          </p:cNvSpPr>
          <p:nvPr>
            <p:ph idx="1"/>
          </p:nvPr>
        </p:nvSpPr>
        <p:spPr>
          <a:xfrm>
            <a:off x="838200" y="1438835"/>
            <a:ext cx="10515600" cy="4738128"/>
          </a:xfrm>
        </p:spPr>
        <p:txBody>
          <a:bodyPr>
            <a:normAutofit/>
          </a:bodyPr>
          <a:lstStyle/>
          <a:p>
            <a:r>
              <a:rPr lang="en-US" sz="4000" dirty="0"/>
              <a:t>In addition, the project decoded genome of the bacterium </a:t>
            </a:r>
            <a:r>
              <a:rPr lang="en-US" sz="4000" i="1" dirty="0"/>
              <a:t>E. coli, </a:t>
            </a:r>
            <a:r>
              <a:rPr lang="en-US" sz="4000" dirty="0"/>
              <a:t>a fruit fly and a nematode worm, in order to study the genetic similarities among species. A mouse genome was also decoded</a:t>
            </a:r>
          </a:p>
        </p:txBody>
      </p:sp>
    </p:spTree>
    <p:extLst>
      <p:ext uri="{BB962C8B-B14F-4D97-AF65-F5344CB8AC3E}">
        <p14:creationId xmlns:p14="http://schemas.microsoft.com/office/powerpoint/2010/main" val="23351310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5600" cy="766482"/>
          </a:xfrm>
        </p:spPr>
        <p:txBody>
          <a:bodyPr>
            <a:noAutofit/>
          </a:bodyPr>
          <a:lstStyle/>
          <a:p>
            <a:pPr algn="ctr"/>
            <a:r>
              <a:rPr lang="en-US" b="1" dirty="0" smtClean="0"/>
              <a:t/>
            </a:r>
            <a:br>
              <a:rPr lang="en-US" b="1" dirty="0" smtClean="0"/>
            </a:br>
            <a:r>
              <a:rPr lang="en-US" b="1" dirty="0" smtClean="0"/>
              <a:t>Methodology of the Human Genome Project </a:t>
            </a:r>
            <a:r>
              <a:rPr lang="en-US" dirty="0" smtClean="0"/>
              <a:t/>
            </a:r>
            <a:br>
              <a:rPr lang="en-US" dirty="0" smtClean="0"/>
            </a:br>
            <a:endParaRPr lang="en-US" dirty="0"/>
          </a:p>
        </p:txBody>
      </p:sp>
      <p:sp>
        <p:nvSpPr>
          <p:cNvPr id="3" name="Content Placeholder 2"/>
          <p:cNvSpPr>
            <a:spLocks noGrp="1"/>
          </p:cNvSpPr>
          <p:nvPr>
            <p:ph idx="1"/>
          </p:nvPr>
        </p:nvSpPr>
        <p:spPr>
          <a:xfrm>
            <a:off x="838200" y="1116106"/>
            <a:ext cx="10515600" cy="5419165"/>
          </a:xfrm>
        </p:spPr>
        <p:txBody>
          <a:bodyPr>
            <a:noAutofit/>
          </a:bodyPr>
          <a:lstStyle/>
          <a:p>
            <a:pPr lvl="0"/>
            <a:r>
              <a:rPr lang="en-US" sz="4000" dirty="0" smtClean="0"/>
              <a:t>For </a:t>
            </a:r>
            <a:r>
              <a:rPr lang="en-US" sz="4000" dirty="0"/>
              <a:t>sequencing, first complete DNA from a cell is isolated. </a:t>
            </a:r>
          </a:p>
          <a:p>
            <a:pPr lvl="0"/>
            <a:r>
              <a:rPr lang="en-US" sz="4000" dirty="0"/>
              <a:t>The DNA is then broken into relatively small sizes and cloned into a suitable host using a </a:t>
            </a:r>
            <a:r>
              <a:rPr lang="en-US" sz="4000" dirty="0" err="1"/>
              <a:t>specialised</a:t>
            </a:r>
            <a:r>
              <a:rPr lang="en-US" sz="4000" dirty="0"/>
              <a:t> vector. </a:t>
            </a:r>
          </a:p>
          <a:p>
            <a:pPr lvl="0"/>
            <a:r>
              <a:rPr lang="en-US" sz="4000" dirty="0"/>
              <a:t>The commonly used hosts were bacteria and yeast and the vectors were termed as BAC (Bacteria Artificial Chromosome) and YAC (Yeast Artificial Chromosome). </a:t>
            </a:r>
          </a:p>
          <a:p>
            <a:endParaRPr lang="en-US" sz="4000" dirty="0"/>
          </a:p>
        </p:txBody>
      </p:sp>
    </p:spTree>
    <p:extLst>
      <p:ext uri="{BB962C8B-B14F-4D97-AF65-F5344CB8AC3E}">
        <p14:creationId xmlns:p14="http://schemas.microsoft.com/office/powerpoint/2010/main" val="33466728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dirty="0"/>
              <a:t/>
            </a:r>
            <a:br>
              <a:rPr lang="en-US" b="1" dirty="0"/>
            </a:br>
            <a:r>
              <a:rPr lang="en-US" b="1" dirty="0"/>
              <a:t>Methodology of the Human Genome Project </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lvl="0"/>
            <a:r>
              <a:rPr lang="en-US" sz="4000" dirty="0"/>
              <a:t>The cloning resulted in amplification of each fragment of DNA. </a:t>
            </a:r>
            <a:endParaRPr lang="en-GB" sz="4000" dirty="0"/>
          </a:p>
          <a:p>
            <a:pPr lvl="0"/>
            <a:r>
              <a:rPr lang="en-US" sz="4000" dirty="0"/>
              <a:t>The fragments were sequenced using automated DNA sequences that worked on the principle developed by Frederick Sanger. </a:t>
            </a:r>
            <a:endParaRPr lang="en-GB" sz="4000" dirty="0"/>
          </a:p>
          <a:p>
            <a:r>
              <a:rPr lang="en-US" sz="4000" dirty="0"/>
              <a:t>The sequences were then arranged on the basis of some overlapping regions.</a:t>
            </a:r>
          </a:p>
        </p:txBody>
      </p:sp>
    </p:spTree>
    <p:extLst>
      <p:ext uri="{BB962C8B-B14F-4D97-AF65-F5344CB8AC3E}">
        <p14:creationId xmlns:p14="http://schemas.microsoft.com/office/powerpoint/2010/main" val="6608377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dirty="0"/>
              <a:t/>
            </a:r>
            <a:br>
              <a:rPr lang="en-US" b="1" dirty="0"/>
            </a:br>
            <a:r>
              <a:rPr lang="en-US" b="1" dirty="0"/>
              <a:t>Methodology of the Human Genome Project </a:t>
            </a:r>
            <a:r>
              <a:rPr lang="en-US" b="1" dirty="0" smtClean="0"/>
              <a:t> cont’d</a:t>
            </a:r>
            <a:r>
              <a:rPr lang="en-US" dirty="0"/>
              <a:t/>
            </a:r>
            <a:br>
              <a:rPr lang="en-US" dirty="0"/>
            </a:br>
            <a:endParaRPr lang="en-US" dirty="0"/>
          </a:p>
        </p:txBody>
      </p:sp>
      <p:sp>
        <p:nvSpPr>
          <p:cNvPr id="3" name="Content Placeholder 2"/>
          <p:cNvSpPr>
            <a:spLocks noGrp="1"/>
          </p:cNvSpPr>
          <p:nvPr>
            <p:ph idx="1"/>
          </p:nvPr>
        </p:nvSpPr>
        <p:spPr>
          <a:xfrm>
            <a:off x="838200" y="1825625"/>
            <a:ext cx="10515600" cy="4736540"/>
          </a:xfrm>
        </p:spPr>
        <p:txBody>
          <a:bodyPr>
            <a:noAutofit/>
          </a:bodyPr>
          <a:lstStyle/>
          <a:p>
            <a:pPr lvl="0"/>
            <a:r>
              <a:rPr lang="en-US" sz="4000" dirty="0"/>
              <a:t>It resulted in the generation of overlapping fragments for sequencing. </a:t>
            </a:r>
            <a:endParaRPr lang="en-GB" sz="4000" dirty="0"/>
          </a:p>
          <a:p>
            <a:pPr lvl="0"/>
            <a:r>
              <a:rPr lang="en-US" sz="4000" dirty="0"/>
              <a:t>The bases in the overlapping segments were identified and assembled in a linear order, using computer database. </a:t>
            </a:r>
            <a:endParaRPr lang="en-GB" sz="4000" dirty="0"/>
          </a:p>
          <a:p>
            <a:pPr lvl="0"/>
            <a:r>
              <a:rPr lang="en-US" sz="4000" dirty="0"/>
              <a:t>Throughout this process, the DNA fragments of a chromosome were sequenced to recreate its original nucleotide sequence</a:t>
            </a:r>
          </a:p>
        </p:txBody>
      </p:sp>
    </p:spTree>
    <p:extLst>
      <p:ext uri="{BB962C8B-B14F-4D97-AF65-F5344CB8AC3E}">
        <p14:creationId xmlns:p14="http://schemas.microsoft.com/office/powerpoint/2010/main" val="22126260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dirty="0"/>
              <a:t/>
            </a:r>
            <a:br>
              <a:rPr lang="en-US" b="1" dirty="0"/>
            </a:br>
            <a:r>
              <a:rPr lang="en-US" b="1" dirty="0"/>
              <a:t>Methodology of the Human Genome Project  cont’d</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sz="4000" dirty="0"/>
              <a:t>Such a study was conducted on all 23 chromosomes of the human genome to understand the exact genome structure of humans. </a:t>
            </a:r>
            <a:endParaRPr lang="en-GB" sz="4000" dirty="0"/>
          </a:p>
          <a:p>
            <a:endParaRPr lang="en-US" sz="4000" dirty="0"/>
          </a:p>
        </p:txBody>
      </p:sp>
    </p:spTree>
    <p:extLst>
      <p:ext uri="{BB962C8B-B14F-4D97-AF65-F5344CB8AC3E}">
        <p14:creationId xmlns:p14="http://schemas.microsoft.com/office/powerpoint/2010/main" val="20695327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153"/>
            <a:ext cx="10515600" cy="968189"/>
          </a:xfrm>
        </p:spPr>
        <p:txBody>
          <a:bodyPr/>
          <a:lstStyle/>
          <a:p>
            <a:pPr algn="ctr"/>
            <a:r>
              <a:rPr lang="en-US" b="1" dirty="0"/>
              <a:t>Salient Features of Human Genome </a:t>
            </a:r>
            <a:endParaRPr lang="en-US" dirty="0"/>
          </a:p>
        </p:txBody>
      </p:sp>
      <p:sp>
        <p:nvSpPr>
          <p:cNvPr id="3" name="Content Placeholder 2"/>
          <p:cNvSpPr>
            <a:spLocks noGrp="1"/>
          </p:cNvSpPr>
          <p:nvPr>
            <p:ph idx="1"/>
          </p:nvPr>
        </p:nvSpPr>
        <p:spPr>
          <a:xfrm>
            <a:off x="838200" y="1331258"/>
            <a:ext cx="10515600" cy="5526741"/>
          </a:xfrm>
        </p:spPr>
        <p:txBody>
          <a:bodyPr>
            <a:noAutofit/>
          </a:bodyPr>
          <a:lstStyle/>
          <a:p>
            <a:pPr lvl="0"/>
            <a:r>
              <a:rPr lang="en-US" sz="4000" dirty="0">
                <a:solidFill>
                  <a:prstClr val="black"/>
                </a:solidFill>
              </a:rPr>
              <a:t>There are 3.1647 billion base pairs in the human genome. </a:t>
            </a:r>
            <a:endParaRPr lang="en-GB" sz="4000" dirty="0">
              <a:solidFill>
                <a:prstClr val="black"/>
              </a:solidFill>
            </a:endParaRPr>
          </a:p>
          <a:p>
            <a:pPr lvl="0"/>
            <a:r>
              <a:rPr lang="en-US" sz="4000" dirty="0">
                <a:solidFill>
                  <a:prstClr val="black"/>
                </a:solidFill>
              </a:rPr>
              <a:t>The average gene size is 3,000 base pairs. </a:t>
            </a:r>
            <a:r>
              <a:rPr lang="en-US" sz="4000" dirty="0" err="1">
                <a:solidFill>
                  <a:prstClr val="black"/>
                </a:solidFill>
              </a:rPr>
              <a:t>Dystrophin</a:t>
            </a:r>
            <a:r>
              <a:rPr lang="en-US" sz="4000" dirty="0">
                <a:solidFill>
                  <a:prstClr val="black"/>
                </a:solidFill>
              </a:rPr>
              <a:t> is the largest human gene having 2.4 million base pairs. </a:t>
            </a:r>
            <a:endParaRPr lang="en-GB" sz="4000" dirty="0">
              <a:solidFill>
                <a:prstClr val="black"/>
              </a:solidFill>
            </a:endParaRPr>
          </a:p>
          <a:p>
            <a:pPr lvl="0"/>
            <a:r>
              <a:rPr lang="en-US" sz="4000" dirty="0">
                <a:solidFill>
                  <a:prstClr val="black"/>
                </a:solidFill>
              </a:rPr>
              <a:t>The human genome contains approximately 30,000 genes. </a:t>
            </a:r>
            <a:endParaRPr lang="en-GB" sz="4000" dirty="0">
              <a:solidFill>
                <a:prstClr val="black"/>
              </a:solidFill>
            </a:endParaRPr>
          </a:p>
          <a:p>
            <a:pPr lvl="0"/>
            <a:r>
              <a:rPr lang="en-US" sz="4000" dirty="0">
                <a:solidFill>
                  <a:prstClr val="black"/>
                </a:solidFill>
              </a:rPr>
              <a:t>Approximately 99.9 per cent base pairs are similar in all human beings.</a:t>
            </a:r>
            <a:endParaRPr lang="en-GB" sz="4000" dirty="0">
              <a:solidFill>
                <a:prstClr val="black"/>
              </a:solidFill>
            </a:endParaRPr>
          </a:p>
          <a:p>
            <a:endParaRPr lang="en-US" sz="4000" dirty="0"/>
          </a:p>
        </p:txBody>
      </p:sp>
    </p:spTree>
    <p:extLst>
      <p:ext uri="{BB962C8B-B14F-4D97-AF65-F5344CB8AC3E}">
        <p14:creationId xmlns:p14="http://schemas.microsoft.com/office/powerpoint/2010/main" val="38436419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Salient Features of Human Genome </a:t>
            </a:r>
            <a:r>
              <a:rPr lang="en-US" b="1" dirty="0" smtClean="0"/>
              <a:t> cont’d</a:t>
            </a:r>
            <a:endParaRPr lang="en-US" dirty="0"/>
          </a:p>
        </p:txBody>
      </p:sp>
      <p:sp>
        <p:nvSpPr>
          <p:cNvPr id="3" name="Content Placeholder 2"/>
          <p:cNvSpPr>
            <a:spLocks noGrp="1"/>
          </p:cNvSpPr>
          <p:nvPr>
            <p:ph idx="1"/>
          </p:nvPr>
        </p:nvSpPr>
        <p:spPr/>
        <p:txBody>
          <a:bodyPr/>
          <a:lstStyle/>
          <a:p>
            <a:pPr lvl="0"/>
            <a:r>
              <a:rPr lang="en-US" sz="4000" dirty="0">
                <a:solidFill>
                  <a:prstClr val="black"/>
                </a:solidFill>
              </a:rPr>
              <a:t>The function of over 50 per cent genes is unknown. </a:t>
            </a:r>
            <a:endParaRPr lang="en-GB" sz="4000" dirty="0">
              <a:solidFill>
                <a:prstClr val="black"/>
              </a:solidFill>
            </a:endParaRPr>
          </a:p>
          <a:p>
            <a:pPr lvl="0"/>
            <a:r>
              <a:rPr lang="en-US" sz="4000" dirty="0">
                <a:solidFill>
                  <a:prstClr val="black"/>
                </a:solidFill>
              </a:rPr>
              <a:t>Less than two per cent genes code for proteins. </a:t>
            </a:r>
            <a:endParaRPr lang="en-GB" sz="4000" dirty="0">
              <a:solidFill>
                <a:prstClr val="black"/>
              </a:solidFill>
            </a:endParaRPr>
          </a:p>
          <a:p>
            <a:pPr lvl="0"/>
            <a:r>
              <a:rPr lang="en-US" sz="4000" dirty="0">
                <a:solidFill>
                  <a:prstClr val="black"/>
                </a:solidFill>
              </a:rPr>
              <a:t>Chromosome 1 contains 2,968 genes (maximum) while Y chromosome contains 231 genes (minimum). </a:t>
            </a:r>
            <a:endParaRPr lang="en-GB" sz="4000" dirty="0">
              <a:solidFill>
                <a:prstClr val="black"/>
              </a:solidFill>
            </a:endParaRPr>
          </a:p>
          <a:p>
            <a:pPr marL="0" indent="0">
              <a:buNone/>
            </a:pPr>
            <a:endParaRPr lang="en-US" dirty="0"/>
          </a:p>
        </p:txBody>
      </p:sp>
    </p:spTree>
    <p:extLst>
      <p:ext uri="{BB962C8B-B14F-4D97-AF65-F5344CB8AC3E}">
        <p14:creationId xmlns:p14="http://schemas.microsoft.com/office/powerpoint/2010/main" val="36272482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847165"/>
          </a:xfrm>
        </p:spPr>
        <p:txBody>
          <a:bodyPr>
            <a:normAutofit/>
          </a:bodyPr>
          <a:lstStyle/>
          <a:p>
            <a:pPr algn="ctr"/>
            <a:r>
              <a:rPr lang="en-US" b="1" dirty="0"/>
              <a:t>Salient Features of Human Genome  cont’d</a:t>
            </a:r>
            <a:endParaRPr lang="en-US" dirty="0"/>
          </a:p>
        </p:txBody>
      </p:sp>
      <p:sp>
        <p:nvSpPr>
          <p:cNvPr id="3" name="Content Placeholder 2"/>
          <p:cNvSpPr>
            <a:spLocks noGrp="1"/>
          </p:cNvSpPr>
          <p:nvPr>
            <p:ph idx="1"/>
          </p:nvPr>
        </p:nvSpPr>
        <p:spPr>
          <a:xfrm>
            <a:off x="838200" y="981636"/>
            <a:ext cx="10515600" cy="5755340"/>
          </a:xfrm>
        </p:spPr>
        <p:txBody>
          <a:bodyPr>
            <a:normAutofit/>
          </a:bodyPr>
          <a:lstStyle/>
          <a:p>
            <a:pPr lvl="0"/>
            <a:r>
              <a:rPr lang="en-US" sz="4000" dirty="0">
                <a:solidFill>
                  <a:prstClr val="black"/>
                </a:solidFill>
              </a:rPr>
              <a:t>Repeated sequences form the largest part of the human genome. </a:t>
            </a:r>
            <a:endParaRPr lang="en-GB" sz="4000" dirty="0">
              <a:solidFill>
                <a:prstClr val="black"/>
              </a:solidFill>
            </a:endParaRPr>
          </a:p>
          <a:p>
            <a:pPr lvl="0"/>
            <a:r>
              <a:rPr lang="en-US" sz="4000" dirty="0">
                <a:solidFill>
                  <a:prstClr val="black"/>
                </a:solidFill>
              </a:rPr>
              <a:t>A-T rich regions have poor genes while G-C rich regions have dense genes.</a:t>
            </a:r>
            <a:endParaRPr lang="en-GB" sz="4000" dirty="0">
              <a:solidFill>
                <a:prstClr val="black"/>
              </a:solidFill>
            </a:endParaRPr>
          </a:p>
          <a:p>
            <a:pPr lvl="0"/>
            <a:r>
              <a:rPr lang="en-US" sz="4000" dirty="0">
                <a:solidFill>
                  <a:prstClr val="black"/>
                </a:solidFill>
              </a:rPr>
              <a:t>Approximately 1.4 million locations have been identified by scientists in humans, where single base difference occurs (SNPs). They will help in </a:t>
            </a:r>
            <a:r>
              <a:rPr lang="en-US" sz="4000" dirty="0" err="1">
                <a:solidFill>
                  <a:prstClr val="black"/>
                </a:solidFill>
              </a:rPr>
              <a:t>localising</a:t>
            </a:r>
            <a:r>
              <a:rPr lang="en-US" sz="4000" dirty="0">
                <a:solidFill>
                  <a:prstClr val="black"/>
                </a:solidFill>
              </a:rPr>
              <a:t> the disease-associated sequences in the chromosomes. </a:t>
            </a:r>
            <a:endParaRPr lang="en-GB" sz="4000" dirty="0">
              <a:solidFill>
                <a:prstClr val="black"/>
              </a:solidFill>
            </a:endParaRPr>
          </a:p>
          <a:p>
            <a:pPr lvl="0"/>
            <a:endParaRPr lang="en-GB" dirty="0">
              <a:solidFill>
                <a:prstClr val="black"/>
              </a:solidFill>
            </a:endParaRPr>
          </a:p>
          <a:p>
            <a:endParaRPr lang="en-US" dirty="0"/>
          </a:p>
        </p:txBody>
      </p:sp>
    </p:spTree>
    <p:extLst>
      <p:ext uri="{BB962C8B-B14F-4D97-AF65-F5344CB8AC3E}">
        <p14:creationId xmlns:p14="http://schemas.microsoft.com/office/powerpoint/2010/main" val="4397933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1662"/>
          </a:xfrm>
        </p:spPr>
        <p:txBody>
          <a:bodyPr>
            <a:normAutofit/>
          </a:bodyPr>
          <a:lstStyle/>
          <a:p>
            <a:pPr algn="ctr"/>
            <a:r>
              <a:rPr lang="en-US" b="1" dirty="0"/>
              <a:t>Applications of the Genome Project</a:t>
            </a:r>
            <a:endParaRPr lang="en-US" dirty="0"/>
          </a:p>
        </p:txBody>
      </p:sp>
      <p:sp>
        <p:nvSpPr>
          <p:cNvPr id="3" name="Content Placeholder 2"/>
          <p:cNvSpPr>
            <a:spLocks noGrp="1"/>
          </p:cNvSpPr>
          <p:nvPr>
            <p:ph idx="1"/>
          </p:nvPr>
        </p:nvSpPr>
        <p:spPr>
          <a:xfrm>
            <a:off x="838200" y="1452282"/>
            <a:ext cx="10515600" cy="5177117"/>
          </a:xfrm>
        </p:spPr>
        <p:txBody>
          <a:bodyPr/>
          <a:lstStyle/>
          <a:p>
            <a:pPr lvl="0"/>
            <a:r>
              <a:rPr lang="en-US" sz="4000" dirty="0">
                <a:solidFill>
                  <a:prstClr val="black"/>
                </a:solidFill>
              </a:rPr>
              <a:t>The project provides database information of humans. Biotechnology based company may use data to manufacture protein which are used in the treatment of genetic diseases in humans. </a:t>
            </a:r>
            <a:endParaRPr lang="en-GB" sz="4000" dirty="0">
              <a:solidFill>
                <a:prstClr val="black"/>
              </a:solidFill>
            </a:endParaRPr>
          </a:p>
          <a:p>
            <a:pPr lvl="0"/>
            <a:r>
              <a:rPr lang="en-US" sz="4000" dirty="0">
                <a:solidFill>
                  <a:prstClr val="black"/>
                </a:solidFill>
              </a:rPr>
              <a:t>It helps in identifying genetic diseases. </a:t>
            </a:r>
            <a:endParaRPr lang="en-GB" sz="4000" dirty="0">
              <a:solidFill>
                <a:prstClr val="black"/>
              </a:solidFill>
            </a:endParaRPr>
          </a:p>
          <a:p>
            <a:pPr lvl="0"/>
            <a:r>
              <a:rPr lang="en-US" sz="4000" dirty="0">
                <a:solidFill>
                  <a:prstClr val="black"/>
                </a:solidFill>
              </a:rPr>
              <a:t>The project will help in knowing the real bases of human life. </a:t>
            </a:r>
            <a:endParaRPr lang="en-GB" sz="4000" dirty="0">
              <a:solidFill>
                <a:prstClr val="black"/>
              </a:solidFill>
            </a:endParaRPr>
          </a:p>
          <a:p>
            <a:endParaRPr lang="en-US" dirty="0"/>
          </a:p>
        </p:txBody>
      </p:sp>
    </p:spTree>
    <p:extLst>
      <p:ext uri="{BB962C8B-B14F-4D97-AF65-F5344CB8AC3E}">
        <p14:creationId xmlns:p14="http://schemas.microsoft.com/office/powerpoint/2010/main" val="5920941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39240"/>
          </a:xfrm>
        </p:spPr>
        <p:txBody>
          <a:bodyPr/>
          <a:lstStyle/>
          <a:p>
            <a:pPr algn="ctr"/>
            <a:r>
              <a:rPr lang="en-US" b="1" dirty="0"/>
              <a:t>Applications of the Genome </a:t>
            </a:r>
            <a:r>
              <a:rPr lang="en-US" b="1" dirty="0" smtClean="0"/>
              <a:t>Project cont’d</a:t>
            </a:r>
            <a:endParaRPr lang="en-US" dirty="0"/>
          </a:p>
        </p:txBody>
      </p:sp>
      <p:sp>
        <p:nvSpPr>
          <p:cNvPr id="3" name="Content Placeholder 2"/>
          <p:cNvSpPr>
            <a:spLocks noGrp="1"/>
          </p:cNvSpPr>
          <p:nvPr>
            <p:ph idx="1"/>
          </p:nvPr>
        </p:nvSpPr>
        <p:spPr>
          <a:xfrm>
            <a:off x="838200" y="1438835"/>
            <a:ext cx="10515600" cy="5123330"/>
          </a:xfrm>
        </p:spPr>
        <p:txBody>
          <a:bodyPr>
            <a:normAutofit lnSpcReduction="10000"/>
          </a:bodyPr>
          <a:lstStyle/>
          <a:p>
            <a:pPr lvl="0"/>
            <a:r>
              <a:rPr lang="en-US" sz="4000" dirty="0">
                <a:solidFill>
                  <a:prstClr val="black"/>
                </a:solidFill>
              </a:rPr>
              <a:t>By matching genome of human and </a:t>
            </a:r>
            <a:r>
              <a:rPr lang="en-US" sz="4000" i="1" dirty="0">
                <a:solidFill>
                  <a:prstClr val="black"/>
                </a:solidFill>
              </a:rPr>
              <a:t>Drosophila, </a:t>
            </a:r>
            <a:r>
              <a:rPr lang="en-US" sz="4000" dirty="0">
                <a:solidFill>
                  <a:prstClr val="black"/>
                </a:solidFill>
              </a:rPr>
              <a:t>scientists have found that </a:t>
            </a:r>
            <a:r>
              <a:rPr lang="en-US" sz="4000" i="1" dirty="0">
                <a:solidFill>
                  <a:prstClr val="black"/>
                </a:solidFill>
              </a:rPr>
              <a:t>Drosophila </a:t>
            </a:r>
            <a:r>
              <a:rPr lang="en-US" sz="4000" dirty="0">
                <a:solidFill>
                  <a:prstClr val="black"/>
                </a:solidFill>
              </a:rPr>
              <a:t>contains remedial genes for 177 genetic diseases in humans. Thus, remedy is always around us. </a:t>
            </a:r>
            <a:endParaRPr lang="en-GB" sz="4000" dirty="0">
              <a:solidFill>
                <a:prstClr val="black"/>
              </a:solidFill>
            </a:endParaRPr>
          </a:p>
          <a:p>
            <a:pPr lvl="0"/>
            <a:r>
              <a:rPr lang="en-US" sz="4000" dirty="0">
                <a:solidFill>
                  <a:prstClr val="black"/>
                </a:solidFill>
              </a:rPr>
              <a:t>The action of harmful genes can be blocked by introducing antisense gene to stop genetic diseases. </a:t>
            </a:r>
            <a:endParaRPr lang="en-GB" sz="4000" dirty="0">
              <a:solidFill>
                <a:prstClr val="black"/>
              </a:solidFill>
            </a:endParaRPr>
          </a:p>
          <a:p>
            <a:pPr lvl="0"/>
            <a:r>
              <a:rPr lang="en-US" sz="4000" dirty="0">
                <a:solidFill>
                  <a:prstClr val="black"/>
                </a:solidFill>
              </a:rPr>
              <a:t>Efforts are in progress to determine genes that will cause reversion of cancerous cells to normal. </a:t>
            </a:r>
            <a:endParaRPr lang="en-GB" sz="4000" dirty="0">
              <a:solidFill>
                <a:prstClr val="black"/>
              </a:solidFill>
            </a:endParaRPr>
          </a:p>
          <a:p>
            <a:pPr lvl="0"/>
            <a:endParaRPr lang="en-GB" dirty="0">
              <a:solidFill>
                <a:prstClr val="black"/>
              </a:solidFill>
            </a:endParaRPr>
          </a:p>
          <a:p>
            <a:pPr lvl="0"/>
            <a:endParaRPr lang="en-GB" dirty="0">
              <a:solidFill>
                <a:prstClr val="black"/>
              </a:solidFill>
            </a:endParaRPr>
          </a:p>
          <a:p>
            <a:endParaRPr lang="en-US" dirty="0"/>
          </a:p>
        </p:txBody>
      </p:sp>
    </p:spTree>
    <p:extLst>
      <p:ext uri="{BB962C8B-B14F-4D97-AF65-F5344CB8AC3E}">
        <p14:creationId xmlns:p14="http://schemas.microsoft.com/office/powerpoint/2010/main" val="32683329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102660"/>
          </a:xfrm>
        </p:spPr>
        <p:txBody>
          <a:bodyPr/>
          <a:lstStyle/>
          <a:p>
            <a:pPr algn="ctr"/>
            <a:r>
              <a:rPr lang="en-US" b="1" dirty="0"/>
              <a:t>Applications of the Genome Project cont’d</a:t>
            </a:r>
            <a:endParaRPr lang="en-US" dirty="0"/>
          </a:p>
        </p:txBody>
      </p:sp>
      <p:sp>
        <p:nvSpPr>
          <p:cNvPr id="3" name="Content Placeholder 2"/>
          <p:cNvSpPr>
            <a:spLocks noGrp="1"/>
          </p:cNvSpPr>
          <p:nvPr>
            <p:ph idx="1"/>
          </p:nvPr>
        </p:nvSpPr>
        <p:spPr>
          <a:xfrm>
            <a:off x="838200" y="1102660"/>
            <a:ext cx="10515600" cy="5903258"/>
          </a:xfrm>
        </p:spPr>
        <p:txBody>
          <a:bodyPr/>
          <a:lstStyle/>
          <a:p>
            <a:pPr lvl="0"/>
            <a:r>
              <a:rPr lang="en-US" sz="4000" dirty="0">
                <a:solidFill>
                  <a:prstClr val="black"/>
                </a:solidFill>
              </a:rPr>
              <a:t>By matching genome of human and </a:t>
            </a:r>
            <a:r>
              <a:rPr lang="en-US" sz="4000" i="1" dirty="0">
                <a:solidFill>
                  <a:prstClr val="black"/>
                </a:solidFill>
              </a:rPr>
              <a:t>Drosophila, </a:t>
            </a:r>
            <a:r>
              <a:rPr lang="en-US" sz="4000" dirty="0">
                <a:solidFill>
                  <a:prstClr val="black"/>
                </a:solidFill>
              </a:rPr>
              <a:t>scientists have found that </a:t>
            </a:r>
            <a:r>
              <a:rPr lang="en-US" sz="4000" i="1" dirty="0">
                <a:solidFill>
                  <a:prstClr val="black"/>
                </a:solidFill>
              </a:rPr>
              <a:t>Drosophila </a:t>
            </a:r>
            <a:r>
              <a:rPr lang="en-US" sz="4000" dirty="0">
                <a:solidFill>
                  <a:prstClr val="black"/>
                </a:solidFill>
              </a:rPr>
              <a:t>contains remedial genes for 177 genetic diseases in humans. Thus, remedy is always around us. </a:t>
            </a:r>
            <a:endParaRPr lang="en-GB" sz="4000" dirty="0">
              <a:solidFill>
                <a:prstClr val="black"/>
              </a:solidFill>
            </a:endParaRPr>
          </a:p>
          <a:p>
            <a:pPr lvl="0"/>
            <a:r>
              <a:rPr lang="en-US" sz="4000" dirty="0">
                <a:solidFill>
                  <a:prstClr val="black"/>
                </a:solidFill>
              </a:rPr>
              <a:t>The action of harmful genes can be blocked by introducing antisense gene to stop genetic diseases. </a:t>
            </a:r>
            <a:endParaRPr lang="en-GB" sz="4000" dirty="0">
              <a:solidFill>
                <a:prstClr val="black"/>
              </a:solidFill>
            </a:endParaRPr>
          </a:p>
          <a:p>
            <a:pPr lvl="0"/>
            <a:r>
              <a:rPr lang="en-US" sz="4000" dirty="0">
                <a:solidFill>
                  <a:prstClr val="black"/>
                </a:solidFill>
              </a:rPr>
              <a:t>Efforts are in progress to determine genes that will cause reversion of cancerous cells to normal. </a:t>
            </a:r>
            <a:endParaRPr lang="en-GB" sz="4000" dirty="0">
              <a:solidFill>
                <a:prstClr val="black"/>
              </a:solidFill>
            </a:endParaRPr>
          </a:p>
          <a:p>
            <a:pPr lvl="0"/>
            <a:endParaRPr lang="en-GB" dirty="0">
              <a:solidFill>
                <a:prstClr val="black"/>
              </a:solidFill>
            </a:endParaRPr>
          </a:p>
          <a:p>
            <a:pPr lvl="0"/>
            <a:endParaRPr lang="en-GB" dirty="0">
              <a:solidFill>
                <a:prstClr val="black"/>
              </a:solidFill>
            </a:endParaRPr>
          </a:p>
          <a:p>
            <a:endParaRPr lang="en-US" dirty="0"/>
          </a:p>
        </p:txBody>
      </p:sp>
    </p:spTree>
    <p:extLst>
      <p:ext uri="{BB962C8B-B14F-4D97-AF65-F5344CB8AC3E}">
        <p14:creationId xmlns:p14="http://schemas.microsoft.com/office/powerpoint/2010/main" val="25442016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9"/>
            <a:ext cx="10515600" cy="914400"/>
          </a:xfrm>
        </p:spPr>
        <p:txBody>
          <a:bodyPr/>
          <a:lstStyle/>
          <a:p>
            <a:pPr algn="ctr"/>
            <a:r>
              <a:rPr lang="en-US" b="1" dirty="0">
                <a:solidFill>
                  <a:prstClr val="black"/>
                </a:solidFill>
              </a:rPr>
              <a:t>DNA fingerprinting</a:t>
            </a:r>
            <a:endParaRPr lang="en-US" b="1" dirty="0"/>
          </a:p>
        </p:txBody>
      </p:sp>
      <p:sp>
        <p:nvSpPr>
          <p:cNvPr id="3" name="Content Placeholder 2"/>
          <p:cNvSpPr>
            <a:spLocks noGrp="1"/>
          </p:cNvSpPr>
          <p:nvPr>
            <p:ph idx="1"/>
          </p:nvPr>
        </p:nvSpPr>
        <p:spPr>
          <a:xfrm>
            <a:off x="838200" y="1183340"/>
            <a:ext cx="10515600" cy="5419165"/>
          </a:xfrm>
        </p:spPr>
        <p:txBody>
          <a:bodyPr>
            <a:normAutofit/>
          </a:bodyPr>
          <a:lstStyle/>
          <a:p>
            <a:pPr lvl="0"/>
            <a:r>
              <a:rPr lang="en-US" sz="4000" dirty="0">
                <a:solidFill>
                  <a:prstClr val="black"/>
                </a:solidFill>
              </a:rPr>
              <a:t>DNA fingerprinting is a technique to identify a person based on his/her DNA.</a:t>
            </a:r>
            <a:endParaRPr lang="en-GB" sz="4000" dirty="0">
              <a:solidFill>
                <a:prstClr val="black"/>
              </a:solidFill>
            </a:endParaRPr>
          </a:p>
          <a:p>
            <a:pPr lvl="0"/>
            <a:r>
              <a:rPr lang="en-US" sz="4000" dirty="0">
                <a:solidFill>
                  <a:prstClr val="black"/>
                </a:solidFill>
              </a:rPr>
              <a:t>DNA fingerprinting is specific to a person and it cannot be changed by any treatment. </a:t>
            </a:r>
            <a:endParaRPr lang="en-GB" sz="4000" dirty="0">
              <a:solidFill>
                <a:prstClr val="black"/>
              </a:solidFill>
            </a:endParaRPr>
          </a:p>
          <a:p>
            <a:pPr lvl="0"/>
            <a:r>
              <a:rPr lang="en-US" sz="4000" dirty="0">
                <a:solidFill>
                  <a:prstClr val="black"/>
                </a:solidFill>
              </a:rPr>
              <a:t>It is also known as genetic fingerprinting or DNA profiling. </a:t>
            </a:r>
            <a:endParaRPr lang="en-GB" sz="4000" dirty="0">
              <a:solidFill>
                <a:prstClr val="black"/>
              </a:solidFill>
            </a:endParaRPr>
          </a:p>
          <a:p>
            <a:pPr lvl="0"/>
            <a:r>
              <a:rPr lang="en-US" sz="4000" dirty="0">
                <a:solidFill>
                  <a:prstClr val="black"/>
                </a:solidFill>
              </a:rPr>
              <a:t>DNA fingerprinting is a very quick way to compare the DNA sequences of two living organisms. </a:t>
            </a:r>
            <a:endParaRPr lang="en-GB" sz="4000" dirty="0">
              <a:solidFill>
                <a:prstClr val="black"/>
              </a:solidFill>
            </a:endParaRPr>
          </a:p>
          <a:p>
            <a:pPr marL="0" lvl="0" indent="0">
              <a:buNone/>
            </a:pPr>
            <a:endParaRPr lang="en-GB" dirty="0">
              <a:solidFill>
                <a:prstClr val="black"/>
              </a:solidFill>
            </a:endParaRPr>
          </a:p>
        </p:txBody>
      </p:sp>
    </p:spTree>
    <p:extLst>
      <p:ext uri="{BB962C8B-B14F-4D97-AF65-F5344CB8AC3E}">
        <p14:creationId xmlns:p14="http://schemas.microsoft.com/office/powerpoint/2010/main" val="3359363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3746"/>
          </a:xfrm>
        </p:spPr>
        <p:txBody>
          <a:bodyPr>
            <a:normAutofit fontScale="90000"/>
          </a:bodyPr>
          <a:lstStyle/>
          <a:p>
            <a:pPr algn="ctr"/>
            <a:r>
              <a:rPr lang="en-US" b="1" dirty="0">
                <a:solidFill>
                  <a:prstClr val="black"/>
                </a:solidFill>
              </a:rPr>
              <a:t>DNA </a:t>
            </a:r>
            <a:r>
              <a:rPr lang="en-US" b="1" dirty="0" smtClean="0">
                <a:solidFill>
                  <a:prstClr val="black"/>
                </a:solidFill>
              </a:rPr>
              <a:t>fingerprinting cont’d</a:t>
            </a:r>
            <a:endParaRPr lang="en-US" dirty="0"/>
          </a:p>
        </p:txBody>
      </p:sp>
      <p:sp>
        <p:nvSpPr>
          <p:cNvPr id="3" name="Content Placeholder 2"/>
          <p:cNvSpPr>
            <a:spLocks noGrp="1"/>
          </p:cNvSpPr>
          <p:nvPr>
            <p:ph idx="1"/>
          </p:nvPr>
        </p:nvSpPr>
        <p:spPr>
          <a:xfrm>
            <a:off x="838200" y="1196788"/>
            <a:ext cx="10515600" cy="4980175"/>
          </a:xfrm>
        </p:spPr>
        <p:txBody>
          <a:bodyPr/>
          <a:lstStyle/>
          <a:p>
            <a:pPr lvl="0"/>
            <a:r>
              <a:rPr lang="en-US" sz="4000" dirty="0">
                <a:solidFill>
                  <a:prstClr val="black"/>
                </a:solidFill>
              </a:rPr>
              <a:t>Sir Alec Jeffrey (1984) invented the technique of DNA fingerprinting. </a:t>
            </a:r>
            <a:endParaRPr lang="en-GB" sz="4000" dirty="0">
              <a:solidFill>
                <a:prstClr val="black"/>
              </a:solidFill>
            </a:endParaRPr>
          </a:p>
          <a:p>
            <a:pPr lvl="0"/>
            <a:r>
              <a:rPr lang="en-US" sz="4000" dirty="0">
                <a:solidFill>
                  <a:prstClr val="black"/>
                </a:solidFill>
              </a:rPr>
              <a:t>99.9 per cent DNA is identical between individuals, but 0.1 per cent that differs can be used to distinguish one individual from another. </a:t>
            </a:r>
            <a:endParaRPr lang="en-GB" sz="4000" dirty="0">
              <a:solidFill>
                <a:prstClr val="black"/>
              </a:solidFill>
            </a:endParaRPr>
          </a:p>
          <a:p>
            <a:pPr lvl="0"/>
            <a:r>
              <a:rPr lang="en-US" sz="4000" dirty="0">
                <a:solidFill>
                  <a:prstClr val="black"/>
                </a:solidFill>
              </a:rPr>
              <a:t>DNA fingerprinting uses a specific type of DNA sequence, known as microsatellite. </a:t>
            </a:r>
            <a:endParaRPr lang="en-GB" sz="4000" dirty="0">
              <a:solidFill>
                <a:prstClr val="black"/>
              </a:solidFill>
            </a:endParaRPr>
          </a:p>
          <a:p>
            <a:pPr lvl="0"/>
            <a:endParaRPr lang="en-GB" sz="4000" dirty="0">
              <a:solidFill>
                <a:prstClr val="black"/>
              </a:solidFill>
            </a:endParaRPr>
          </a:p>
          <a:p>
            <a:endParaRPr lang="en-US" dirty="0"/>
          </a:p>
        </p:txBody>
      </p:sp>
    </p:spTree>
    <p:extLst>
      <p:ext uri="{BB962C8B-B14F-4D97-AF65-F5344CB8AC3E}">
        <p14:creationId xmlns:p14="http://schemas.microsoft.com/office/powerpoint/2010/main" val="29121182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prstClr val="black"/>
                </a:solidFill>
              </a:rPr>
              <a:t>DNA fingerprinting cont’d</a:t>
            </a:r>
            <a:endParaRPr lang="en-US" dirty="0"/>
          </a:p>
        </p:txBody>
      </p:sp>
      <p:sp>
        <p:nvSpPr>
          <p:cNvPr id="3" name="Content Placeholder 2"/>
          <p:cNvSpPr>
            <a:spLocks noGrp="1"/>
          </p:cNvSpPr>
          <p:nvPr>
            <p:ph idx="1"/>
          </p:nvPr>
        </p:nvSpPr>
        <p:spPr/>
        <p:txBody>
          <a:bodyPr>
            <a:normAutofit/>
          </a:bodyPr>
          <a:lstStyle/>
          <a:p>
            <a:pPr lvl="0"/>
            <a:r>
              <a:rPr lang="en-US" sz="4000" dirty="0"/>
              <a:t>Microsatellites are short pieces of DNA, which repeat many times in a given person's DNA. </a:t>
            </a:r>
            <a:endParaRPr lang="en-GB" sz="4000" dirty="0"/>
          </a:p>
          <a:p>
            <a:pPr lvl="0"/>
            <a:r>
              <a:rPr lang="en-US" sz="4000" dirty="0"/>
              <a:t>In a given area, microsatellites tend to be highly variable that make them ideal for DNA fingerprinting. </a:t>
            </a:r>
            <a:endParaRPr lang="en-GB" sz="4000" dirty="0"/>
          </a:p>
          <a:p>
            <a:pPr lvl="0"/>
            <a:r>
              <a:rPr lang="en-US" sz="4000" dirty="0"/>
              <a:t>By comparing a number of microsatellites in a particular area, a person can be identified easily. </a:t>
            </a:r>
            <a:endParaRPr lang="en-GB" sz="4000" dirty="0"/>
          </a:p>
          <a:p>
            <a:endParaRPr lang="en-US" sz="4000" dirty="0"/>
          </a:p>
        </p:txBody>
      </p:sp>
    </p:spTree>
    <p:extLst>
      <p:ext uri="{BB962C8B-B14F-4D97-AF65-F5344CB8AC3E}">
        <p14:creationId xmlns:p14="http://schemas.microsoft.com/office/powerpoint/2010/main" val="33905409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259"/>
            <a:ext cx="10515600" cy="1129553"/>
          </a:xfrm>
        </p:spPr>
        <p:txBody>
          <a:bodyPr/>
          <a:lstStyle/>
          <a:p>
            <a:pPr algn="ctr"/>
            <a:r>
              <a:rPr lang="en-US" sz="4900" b="1" dirty="0"/>
              <a:t>Technique</a:t>
            </a:r>
            <a:r>
              <a:rPr lang="en-US" b="1" dirty="0"/>
              <a:t> of DNA Fingerprinting</a:t>
            </a:r>
            <a:endParaRPr lang="en-US" dirty="0"/>
          </a:p>
        </p:txBody>
      </p:sp>
      <p:sp>
        <p:nvSpPr>
          <p:cNvPr id="3" name="Content Placeholder 2"/>
          <p:cNvSpPr>
            <a:spLocks noGrp="1"/>
          </p:cNvSpPr>
          <p:nvPr>
            <p:ph idx="1"/>
          </p:nvPr>
        </p:nvSpPr>
        <p:spPr>
          <a:xfrm>
            <a:off x="838200" y="1317812"/>
            <a:ext cx="10515600" cy="4859151"/>
          </a:xfrm>
        </p:spPr>
        <p:txBody>
          <a:bodyPr/>
          <a:lstStyle/>
          <a:p>
            <a:pPr lvl="0"/>
            <a:r>
              <a:rPr lang="en-US" sz="4000" b="1" dirty="0">
                <a:solidFill>
                  <a:prstClr val="black"/>
                </a:solidFill>
              </a:rPr>
              <a:t>Isolation of DNA</a:t>
            </a:r>
            <a:r>
              <a:rPr lang="en-US" sz="4000" dirty="0">
                <a:solidFill>
                  <a:prstClr val="black"/>
                </a:solidFill>
              </a:rPr>
              <a:t> - DNA is obtained from tissues or cells of the body. Only a small amount of tissue like blood, semen, hair, or skin is needed. </a:t>
            </a:r>
            <a:endParaRPr lang="en-GB" sz="4000" dirty="0">
              <a:solidFill>
                <a:prstClr val="black"/>
              </a:solidFill>
            </a:endParaRPr>
          </a:p>
          <a:p>
            <a:pPr lvl="0"/>
            <a:r>
              <a:rPr lang="en-US" sz="4000" b="1" dirty="0">
                <a:solidFill>
                  <a:prstClr val="black"/>
                </a:solidFill>
              </a:rPr>
              <a:t>Cutting, Sizing or Storing</a:t>
            </a:r>
            <a:r>
              <a:rPr lang="en-US" sz="4000" dirty="0">
                <a:solidFill>
                  <a:prstClr val="black"/>
                </a:solidFill>
              </a:rPr>
              <a:t> - DNA is cut into small pieces at specific locations using restriction enzymes. </a:t>
            </a:r>
            <a:endParaRPr lang="en-GB" sz="4000" dirty="0">
              <a:solidFill>
                <a:prstClr val="black"/>
              </a:solidFill>
            </a:endParaRPr>
          </a:p>
          <a:p>
            <a:pPr lvl="0"/>
            <a:r>
              <a:rPr lang="en-US" sz="4000" dirty="0">
                <a:solidFill>
                  <a:prstClr val="black"/>
                </a:solidFill>
              </a:rPr>
              <a:t>DNA pieces are sorted according to size by a process called electrophoresis. </a:t>
            </a:r>
            <a:endParaRPr lang="en-GB" sz="4000" dirty="0">
              <a:solidFill>
                <a:prstClr val="black"/>
              </a:solidFill>
            </a:endParaRPr>
          </a:p>
          <a:p>
            <a:pPr marL="0" lvl="0" indent="0">
              <a:buNone/>
            </a:pPr>
            <a:endParaRPr lang="en-GB" sz="4000" dirty="0">
              <a:solidFill>
                <a:prstClr val="black"/>
              </a:solidFill>
            </a:endParaRPr>
          </a:p>
          <a:p>
            <a:pPr lvl="0"/>
            <a:endParaRPr lang="en-GB" sz="4000" dirty="0">
              <a:solidFill>
                <a:prstClr val="black"/>
              </a:solidFill>
            </a:endParaRPr>
          </a:p>
          <a:p>
            <a:endParaRPr lang="en-US" dirty="0"/>
          </a:p>
        </p:txBody>
      </p:sp>
    </p:spTree>
    <p:extLst>
      <p:ext uri="{BB962C8B-B14F-4D97-AF65-F5344CB8AC3E}">
        <p14:creationId xmlns:p14="http://schemas.microsoft.com/office/powerpoint/2010/main" val="17660728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900" b="1" dirty="0"/>
              <a:t>Technique</a:t>
            </a:r>
            <a:r>
              <a:rPr lang="en-US" b="1" dirty="0"/>
              <a:t> of DNA </a:t>
            </a:r>
            <a:r>
              <a:rPr lang="en-US" b="1" dirty="0" smtClean="0"/>
              <a:t>Fingerprinting cont’d</a:t>
            </a:r>
            <a:endParaRPr lang="en-US" dirty="0"/>
          </a:p>
        </p:txBody>
      </p:sp>
      <p:sp>
        <p:nvSpPr>
          <p:cNvPr id="3" name="Content Placeholder 2"/>
          <p:cNvSpPr>
            <a:spLocks noGrp="1"/>
          </p:cNvSpPr>
          <p:nvPr>
            <p:ph idx="1"/>
          </p:nvPr>
        </p:nvSpPr>
        <p:spPr/>
        <p:txBody>
          <a:bodyPr/>
          <a:lstStyle/>
          <a:p>
            <a:pPr lvl="0"/>
            <a:r>
              <a:rPr lang="en-US" sz="4000" dirty="0">
                <a:solidFill>
                  <a:prstClr val="black"/>
                </a:solidFill>
              </a:rPr>
              <a:t>In electrophoresis, particles are passed through seaweed </a:t>
            </a:r>
            <a:r>
              <a:rPr lang="en-US" sz="4000" dirty="0" err="1">
                <a:solidFill>
                  <a:prstClr val="black"/>
                </a:solidFill>
              </a:rPr>
              <a:t>agarose</a:t>
            </a:r>
            <a:r>
              <a:rPr lang="en-US" sz="4000" dirty="0">
                <a:solidFill>
                  <a:prstClr val="black"/>
                </a:solidFill>
              </a:rPr>
              <a:t> gel to determine particle sizes (DNA). </a:t>
            </a:r>
            <a:endParaRPr lang="en-GB" sz="4000" dirty="0">
              <a:solidFill>
                <a:prstClr val="black"/>
              </a:solidFill>
            </a:endParaRPr>
          </a:p>
          <a:p>
            <a:pPr lvl="0"/>
            <a:r>
              <a:rPr lang="en-US" sz="4000" b="1" dirty="0">
                <a:solidFill>
                  <a:prstClr val="black"/>
                </a:solidFill>
              </a:rPr>
              <a:t>Transfer of DNA to Nylon Sheet</a:t>
            </a:r>
            <a:r>
              <a:rPr lang="en-US" sz="4000" dirty="0">
                <a:solidFill>
                  <a:prstClr val="black"/>
                </a:solidFill>
              </a:rPr>
              <a:t> - The DNA is transferred to nylon sheet by placing the sheet on the gel and letting them soak. </a:t>
            </a:r>
            <a:endParaRPr lang="en-GB" sz="4000" dirty="0">
              <a:solidFill>
                <a:prstClr val="black"/>
              </a:solidFill>
            </a:endParaRPr>
          </a:p>
          <a:p>
            <a:pPr lvl="0"/>
            <a:endParaRPr lang="en-GB" sz="4000" dirty="0">
              <a:solidFill>
                <a:prstClr val="black"/>
              </a:solidFill>
            </a:endParaRPr>
          </a:p>
          <a:p>
            <a:endParaRPr lang="en-US" dirty="0"/>
          </a:p>
        </p:txBody>
      </p:sp>
    </p:spTree>
    <p:extLst>
      <p:ext uri="{BB962C8B-B14F-4D97-AF65-F5344CB8AC3E}">
        <p14:creationId xmlns:p14="http://schemas.microsoft.com/office/powerpoint/2010/main" val="32898753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900" b="1" dirty="0"/>
              <a:t>Technique</a:t>
            </a:r>
            <a:r>
              <a:rPr lang="en-US" b="1" dirty="0"/>
              <a:t> of DNA Fingerprinting cont’d</a:t>
            </a:r>
            <a:endParaRPr lang="en-US" dirty="0"/>
          </a:p>
        </p:txBody>
      </p:sp>
      <p:sp>
        <p:nvSpPr>
          <p:cNvPr id="3" name="Content Placeholder 2"/>
          <p:cNvSpPr>
            <a:spLocks noGrp="1"/>
          </p:cNvSpPr>
          <p:nvPr>
            <p:ph idx="1"/>
          </p:nvPr>
        </p:nvSpPr>
        <p:spPr/>
        <p:txBody>
          <a:bodyPr/>
          <a:lstStyle/>
          <a:p>
            <a:pPr lvl="0"/>
            <a:r>
              <a:rPr lang="en-US" sz="4000" dirty="0">
                <a:solidFill>
                  <a:prstClr val="black"/>
                </a:solidFill>
              </a:rPr>
              <a:t>Probing - Radioactive or </a:t>
            </a:r>
            <a:r>
              <a:rPr lang="en-US" sz="4000" dirty="0" err="1">
                <a:solidFill>
                  <a:prstClr val="black"/>
                </a:solidFill>
              </a:rPr>
              <a:t>coloured</a:t>
            </a:r>
            <a:r>
              <a:rPr lang="en-US" sz="4000" dirty="0">
                <a:solidFill>
                  <a:prstClr val="black"/>
                </a:solidFill>
              </a:rPr>
              <a:t> probes are added to the nylon sheet. By doing so, a pattern is produced. </a:t>
            </a:r>
            <a:endParaRPr lang="en-GB" sz="4000" dirty="0">
              <a:solidFill>
                <a:prstClr val="black"/>
              </a:solidFill>
            </a:endParaRPr>
          </a:p>
          <a:p>
            <a:pPr lvl="0"/>
            <a:r>
              <a:rPr lang="en-US" sz="4000" b="1" dirty="0">
                <a:solidFill>
                  <a:prstClr val="black"/>
                </a:solidFill>
              </a:rPr>
              <a:t>DNA Fingerprinting</a:t>
            </a:r>
            <a:r>
              <a:rPr lang="en-US" sz="4000" dirty="0">
                <a:solidFill>
                  <a:prstClr val="black"/>
                </a:solidFill>
              </a:rPr>
              <a:t> - This pattern is called a DNA fingerprint. </a:t>
            </a:r>
            <a:endParaRPr lang="en-GB" sz="4000" dirty="0">
              <a:solidFill>
                <a:prstClr val="black"/>
              </a:solidFill>
            </a:endParaRPr>
          </a:p>
          <a:p>
            <a:pPr marL="0" lvl="0" indent="0">
              <a:buNone/>
            </a:pPr>
            <a:endParaRPr lang="en-GB" sz="4000" dirty="0">
              <a:solidFill>
                <a:prstClr val="black"/>
              </a:solidFill>
            </a:endParaRPr>
          </a:p>
          <a:p>
            <a:endParaRPr lang="en-US" dirty="0"/>
          </a:p>
        </p:txBody>
      </p:sp>
    </p:spTree>
    <p:extLst>
      <p:ext uri="{BB962C8B-B14F-4D97-AF65-F5344CB8AC3E}">
        <p14:creationId xmlns:p14="http://schemas.microsoft.com/office/powerpoint/2010/main" val="15948856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941294"/>
          </a:xfrm>
        </p:spPr>
        <p:txBody>
          <a:bodyPr>
            <a:noAutofit/>
          </a:bodyPr>
          <a:lstStyle/>
          <a:p>
            <a:pPr algn="ctr"/>
            <a:r>
              <a:rPr lang="en-US" b="1" dirty="0"/>
              <a:t/>
            </a:r>
            <a:br>
              <a:rPr lang="en-US" b="1" dirty="0"/>
            </a:br>
            <a:r>
              <a:rPr lang="en-US" b="1" dirty="0" smtClean="0"/>
              <a:t>MOLECULAR GENETICS OF CANCER </a:t>
            </a:r>
            <a:r>
              <a:rPr lang="en-GB" dirty="0"/>
              <a:t/>
            </a:r>
            <a:br>
              <a:rPr lang="en-GB" dirty="0"/>
            </a:br>
            <a:endParaRPr lang="en-US" dirty="0"/>
          </a:p>
        </p:txBody>
      </p:sp>
      <p:sp>
        <p:nvSpPr>
          <p:cNvPr id="3" name="Content Placeholder 2"/>
          <p:cNvSpPr>
            <a:spLocks noGrp="1"/>
          </p:cNvSpPr>
          <p:nvPr>
            <p:ph idx="1"/>
          </p:nvPr>
        </p:nvSpPr>
        <p:spPr>
          <a:xfrm>
            <a:off x="838200" y="1035424"/>
            <a:ext cx="10515600" cy="5141539"/>
          </a:xfrm>
        </p:spPr>
        <p:txBody>
          <a:bodyPr>
            <a:normAutofit/>
          </a:bodyPr>
          <a:lstStyle/>
          <a:p>
            <a:pPr lvl="0"/>
            <a:r>
              <a:rPr lang="en-US" sz="4000" dirty="0">
                <a:solidFill>
                  <a:prstClr val="black"/>
                </a:solidFill>
              </a:rPr>
              <a:t>Cancer may be defined as the uncontrolled growth of the cells (mitosis) that ultimately kills the organism. </a:t>
            </a:r>
            <a:endParaRPr lang="en-GB" sz="4000" dirty="0">
              <a:solidFill>
                <a:prstClr val="black"/>
              </a:solidFill>
            </a:endParaRPr>
          </a:p>
          <a:p>
            <a:pPr lvl="0"/>
            <a:r>
              <a:rPr lang="en-US" sz="4000" dirty="0">
                <a:solidFill>
                  <a:prstClr val="black"/>
                </a:solidFill>
              </a:rPr>
              <a:t>Cancer is a combination of many diseases with different types of causes, symptoms and treatments. </a:t>
            </a:r>
            <a:endParaRPr lang="en-GB" sz="4000" dirty="0">
              <a:solidFill>
                <a:prstClr val="black"/>
              </a:solidFill>
            </a:endParaRPr>
          </a:p>
          <a:p>
            <a:pPr lvl="0"/>
            <a:r>
              <a:rPr lang="en-US" sz="4000" dirty="0">
                <a:solidFill>
                  <a:prstClr val="black"/>
                </a:solidFill>
              </a:rPr>
              <a:t>Cancer cells are formed when the DNA is damaged and cannot be repaired. </a:t>
            </a:r>
            <a:endParaRPr lang="en-GB" sz="4000" dirty="0">
              <a:solidFill>
                <a:prstClr val="black"/>
              </a:solidFill>
            </a:endParaRPr>
          </a:p>
          <a:p>
            <a:pPr lvl="0"/>
            <a:endParaRPr lang="en-GB" dirty="0">
              <a:solidFill>
                <a:prstClr val="black"/>
              </a:solidFill>
            </a:endParaRPr>
          </a:p>
          <a:p>
            <a:endParaRPr lang="en-US" dirty="0"/>
          </a:p>
        </p:txBody>
      </p:sp>
    </p:spTree>
    <p:extLst>
      <p:ext uri="{BB962C8B-B14F-4D97-AF65-F5344CB8AC3E}">
        <p14:creationId xmlns:p14="http://schemas.microsoft.com/office/powerpoint/2010/main" val="8399912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Molecular Genetics of Cancer cont’d</a:t>
            </a:r>
            <a:endParaRPr lang="en-US" b="1" dirty="0"/>
          </a:p>
        </p:txBody>
      </p:sp>
      <p:sp>
        <p:nvSpPr>
          <p:cNvPr id="3" name="Content Placeholder 2"/>
          <p:cNvSpPr>
            <a:spLocks noGrp="1"/>
          </p:cNvSpPr>
          <p:nvPr>
            <p:ph idx="1"/>
          </p:nvPr>
        </p:nvSpPr>
        <p:spPr/>
        <p:txBody>
          <a:bodyPr/>
          <a:lstStyle/>
          <a:p>
            <a:pPr lvl="0"/>
            <a:r>
              <a:rPr lang="en-US" sz="4000" dirty="0">
                <a:solidFill>
                  <a:prstClr val="black"/>
                </a:solidFill>
              </a:rPr>
              <a:t>Cancer is not a disease of the modern </a:t>
            </a:r>
            <a:r>
              <a:rPr lang="en-US" sz="4000" dirty="0" err="1">
                <a:solidFill>
                  <a:prstClr val="black"/>
                </a:solidFill>
              </a:rPr>
              <a:t>civilisation</a:t>
            </a:r>
            <a:r>
              <a:rPr lang="en-US" sz="4000" dirty="0">
                <a:solidFill>
                  <a:prstClr val="black"/>
                </a:solidFill>
              </a:rPr>
              <a:t>. The earliest recorded history describing cancer is between 3000 BC and 1500 BC. </a:t>
            </a:r>
            <a:endParaRPr lang="en-GB" sz="4000" dirty="0">
              <a:solidFill>
                <a:prstClr val="black"/>
              </a:solidFill>
            </a:endParaRPr>
          </a:p>
          <a:p>
            <a:pPr lvl="0"/>
            <a:r>
              <a:rPr lang="en-US" sz="4000" dirty="0">
                <a:solidFill>
                  <a:prstClr val="black"/>
                </a:solidFill>
              </a:rPr>
              <a:t>If there is abnormal growth and division of cells, without any controlling limit, it results in the formation of </a:t>
            </a:r>
            <a:r>
              <a:rPr lang="en-US" sz="4000" dirty="0" err="1">
                <a:solidFill>
                  <a:prstClr val="black"/>
                </a:solidFill>
              </a:rPr>
              <a:t>tumours</a:t>
            </a:r>
            <a:r>
              <a:rPr lang="en-US" sz="4000" dirty="0">
                <a:solidFill>
                  <a:prstClr val="black"/>
                </a:solidFill>
              </a:rPr>
              <a:t> in the body. </a:t>
            </a:r>
            <a:endParaRPr lang="en-GB" sz="4000" dirty="0">
              <a:solidFill>
                <a:prstClr val="black"/>
              </a:solidFill>
            </a:endParaRPr>
          </a:p>
          <a:p>
            <a:pPr marL="0" lvl="0" indent="0">
              <a:buNone/>
            </a:pPr>
            <a:endParaRPr lang="en-GB" sz="4000" dirty="0">
              <a:solidFill>
                <a:prstClr val="black"/>
              </a:solidFill>
            </a:endParaRPr>
          </a:p>
          <a:p>
            <a:pPr marL="0" lvl="0" indent="0">
              <a:buNone/>
            </a:pPr>
            <a:endParaRPr lang="en-GB" dirty="0">
              <a:solidFill>
                <a:prstClr val="black"/>
              </a:solidFill>
            </a:endParaRPr>
          </a:p>
          <a:p>
            <a:endParaRPr lang="en-US" dirty="0"/>
          </a:p>
        </p:txBody>
      </p:sp>
    </p:spTree>
    <p:extLst>
      <p:ext uri="{BB962C8B-B14F-4D97-AF65-F5344CB8AC3E}">
        <p14:creationId xmlns:p14="http://schemas.microsoft.com/office/powerpoint/2010/main" val="266522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Molecular Genetics of Cancer cont’d</a:t>
            </a:r>
            <a:endParaRPr lang="en-US" dirty="0"/>
          </a:p>
        </p:txBody>
      </p:sp>
      <p:sp>
        <p:nvSpPr>
          <p:cNvPr id="3" name="Content Placeholder 2"/>
          <p:cNvSpPr>
            <a:spLocks noGrp="1"/>
          </p:cNvSpPr>
          <p:nvPr>
            <p:ph idx="1"/>
          </p:nvPr>
        </p:nvSpPr>
        <p:spPr/>
        <p:txBody>
          <a:bodyPr/>
          <a:lstStyle/>
          <a:p>
            <a:pPr lvl="0"/>
            <a:r>
              <a:rPr lang="en-US" sz="4000" dirty="0" err="1">
                <a:solidFill>
                  <a:prstClr val="black"/>
                </a:solidFill>
              </a:rPr>
              <a:t>Tumours</a:t>
            </a:r>
            <a:r>
              <a:rPr lang="en-US" sz="4000" dirty="0">
                <a:solidFill>
                  <a:prstClr val="black"/>
                </a:solidFill>
              </a:rPr>
              <a:t> are of the following two types: </a:t>
            </a:r>
            <a:endParaRPr lang="en-GB" sz="4000" dirty="0">
              <a:solidFill>
                <a:prstClr val="black"/>
              </a:solidFill>
            </a:endParaRPr>
          </a:p>
          <a:p>
            <a:pPr lvl="0"/>
            <a:r>
              <a:rPr lang="en-US" sz="4000" b="1" dirty="0">
                <a:solidFill>
                  <a:prstClr val="black"/>
                </a:solidFill>
              </a:rPr>
              <a:t>Benign Tumour </a:t>
            </a:r>
            <a:endParaRPr lang="en-GB" sz="4000" dirty="0">
              <a:solidFill>
                <a:prstClr val="black"/>
              </a:solidFill>
            </a:endParaRPr>
          </a:p>
          <a:p>
            <a:pPr lvl="0"/>
            <a:r>
              <a:rPr lang="en-US" sz="4000" dirty="0">
                <a:solidFill>
                  <a:prstClr val="black"/>
                </a:solidFill>
              </a:rPr>
              <a:t>Benign </a:t>
            </a:r>
            <a:r>
              <a:rPr lang="en-US" sz="4000" dirty="0" err="1">
                <a:solidFill>
                  <a:prstClr val="black"/>
                </a:solidFill>
              </a:rPr>
              <a:t>tumours</a:t>
            </a:r>
            <a:r>
              <a:rPr lang="en-US" sz="4000" dirty="0">
                <a:solidFill>
                  <a:prstClr val="black"/>
                </a:solidFill>
              </a:rPr>
              <a:t> are not cancerous. </a:t>
            </a:r>
            <a:endParaRPr lang="en-GB" sz="4000" dirty="0">
              <a:solidFill>
                <a:prstClr val="black"/>
              </a:solidFill>
            </a:endParaRPr>
          </a:p>
          <a:p>
            <a:pPr lvl="0"/>
            <a:r>
              <a:rPr lang="en-US" sz="4000" dirty="0">
                <a:solidFill>
                  <a:prstClr val="black"/>
                </a:solidFill>
              </a:rPr>
              <a:t>They consist of well-differentiated cells. </a:t>
            </a:r>
            <a:endParaRPr lang="en-GB" sz="4000" dirty="0">
              <a:solidFill>
                <a:prstClr val="black"/>
              </a:solidFill>
            </a:endParaRPr>
          </a:p>
          <a:p>
            <a:pPr lvl="0"/>
            <a:r>
              <a:rPr lang="en-US" sz="4000" dirty="0">
                <a:solidFill>
                  <a:prstClr val="black"/>
                </a:solidFill>
              </a:rPr>
              <a:t>Benign </a:t>
            </a:r>
            <a:r>
              <a:rPr lang="en-US" sz="4000" dirty="0" err="1">
                <a:solidFill>
                  <a:prstClr val="black"/>
                </a:solidFill>
              </a:rPr>
              <a:t>tumours</a:t>
            </a:r>
            <a:r>
              <a:rPr lang="en-US" sz="4000" dirty="0">
                <a:solidFill>
                  <a:prstClr val="black"/>
                </a:solidFill>
              </a:rPr>
              <a:t> can be treated easily </a:t>
            </a:r>
            <a:endParaRPr lang="en-GB" sz="4000" dirty="0">
              <a:solidFill>
                <a:prstClr val="black"/>
              </a:solidFill>
            </a:endParaRPr>
          </a:p>
          <a:p>
            <a:pPr lvl="0"/>
            <a:r>
              <a:rPr lang="en-US" sz="4000" dirty="0">
                <a:solidFill>
                  <a:prstClr val="black"/>
                </a:solidFill>
              </a:rPr>
              <a:t>They do not spread to other parts of the body. </a:t>
            </a:r>
            <a:endParaRPr lang="en-GB" sz="4000" dirty="0">
              <a:solidFill>
                <a:prstClr val="black"/>
              </a:solidFill>
            </a:endParaRPr>
          </a:p>
          <a:p>
            <a:endParaRPr lang="en-US" dirty="0"/>
          </a:p>
        </p:txBody>
      </p:sp>
    </p:spTree>
    <p:extLst>
      <p:ext uri="{BB962C8B-B14F-4D97-AF65-F5344CB8AC3E}">
        <p14:creationId xmlns:p14="http://schemas.microsoft.com/office/powerpoint/2010/main" val="22875699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021976"/>
          </a:xfrm>
        </p:spPr>
        <p:txBody>
          <a:bodyPr>
            <a:normAutofit/>
          </a:bodyPr>
          <a:lstStyle/>
          <a:p>
            <a:pPr algn="ctr"/>
            <a:r>
              <a:rPr lang="en-US" b="1" dirty="0"/>
              <a:t>Molecular Genetics of Cancer cont’d</a:t>
            </a:r>
            <a:endParaRPr lang="en-US" dirty="0"/>
          </a:p>
        </p:txBody>
      </p:sp>
      <p:sp>
        <p:nvSpPr>
          <p:cNvPr id="3" name="Content Placeholder 2"/>
          <p:cNvSpPr>
            <a:spLocks noGrp="1"/>
          </p:cNvSpPr>
          <p:nvPr>
            <p:ph idx="1"/>
          </p:nvPr>
        </p:nvSpPr>
        <p:spPr>
          <a:xfrm>
            <a:off x="838200" y="900952"/>
            <a:ext cx="10515600" cy="5755342"/>
          </a:xfrm>
        </p:spPr>
        <p:txBody>
          <a:bodyPr>
            <a:normAutofit lnSpcReduction="10000"/>
          </a:bodyPr>
          <a:lstStyle/>
          <a:p>
            <a:pPr lvl="0"/>
            <a:r>
              <a:rPr lang="en-US" sz="4000" b="1" dirty="0">
                <a:solidFill>
                  <a:prstClr val="black"/>
                </a:solidFill>
              </a:rPr>
              <a:t>Malignant Tumour </a:t>
            </a:r>
            <a:endParaRPr lang="en-GB" sz="4000" dirty="0">
              <a:solidFill>
                <a:prstClr val="black"/>
              </a:solidFill>
            </a:endParaRPr>
          </a:p>
          <a:p>
            <a:pPr lvl="0"/>
            <a:r>
              <a:rPr lang="en-US" sz="4000" dirty="0">
                <a:solidFill>
                  <a:prstClr val="black"/>
                </a:solidFill>
              </a:rPr>
              <a:t>Malignant </a:t>
            </a:r>
            <a:r>
              <a:rPr lang="en-US" sz="4000" dirty="0" err="1">
                <a:solidFill>
                  <a:prstClr val="black"/>
                </a:solidFill>
              </a:rPr>
              <a:t>tumours</a:t>
            </a:r>
            <a:r>
              <a:rPr lang="en-US" sz="4000" dirty="0">
                <a:solidFill>
                  <a:prstClr val="black"/>
                </a:solidFill>
              </a:rPr>
              <a:t> are cancerous. </a:t>
            </a:r>
            <a:endParaRPr lang="en-GB" sz="4000" dirty="0">
              <a:solidFill>
                <a:prstClr val="black"/>
              </a:solidFill>
            </a:endParaRPr>
          </a:p>
          <a:p>
            <a:pPr lvl="0"/>
            <a:r>
              <a:rPr lang="en-US" sz="4000" dirty="0">
                <a:solidFill>
                  <a:prstClr val="black"/>
                </a:solidFill>
              </a:rPr>
              <a:t>They cause damage to adjacent organs by spreading cancer cells at a high rate. </a:t>
            </a:r>
            <a:endParaRPr lang="en-GB" sz="4000" dirty="0">
              <a:solidFill>
                <a:prstClr val="black"/>
              </a:solidFill>
            </a:endParaRPr>
          </a:p>
          <a:p>
            <a:pPr lvl="0"/>
            <a:r>
              <a:rPr lang="en-US" sz="4000" dirty="0">
                <a:solidFill>
                  <a:prstClr val="black"/>
                </a:solidFill>
              </a:rPr>
              <a:t>The cells of this </a:t>
            </a:r>
            <a:r>
              <a:rPr lang="en-US" sz="4000" dirty="0" err="1">
                <a:solidFill>
                  <a:prstClr val="black"/>
                </a:solidFill>
              </a:rPr>
              <a:t>tumour</a:t>
            </a:r>
            <a:r>
              <a:rPr lang="en-US" sz="4000" dirty="0">
                <a:solidFill>
                  <a:prstClr val="black"/>
                </a:solidFill>
              </a:rPr>
              <a:t> invade the distant organs and form a new </a:t>
            </a:r>
            <a:r>
              <a:rPr lang="en-US" sz="4000" dirty="0" err="1">
                <a:solidFill>
                  <a:prstClr val="black"/>
                </a:solidFill>
              </a:rPr>
              <a:t>tumour</a:t>
            </a:r>
            <a:r>
              <a:rPr lang="en-US" sz="4000" dirty="0">
                <a:solidFill>
                  <a:prstClr val="black"/>
                </a:solidFill>
              </a:rPr>
              <a:t>, which has the same characteristics as the primary </a:t>
            </a:r>
            <a:r>
              <a:rPr lang="en-US" sz="4000" dirty="0" err="1">
                <a:solidFill>
                  <a:prstClr val="black"/>
                </a:solidFill>
              </a:rPr>
              <a:t>tumour</a:t>
            </a:r>
            <a:r>
              <a:rPr lang="en-US" sz="4000" dirty="0">
                <a:solidFill>
                  <a:prstClr val="black"/>
                </a:solidFill>
              </a:rPr>
              <a:t>. </a:t>
            </a:r>
            <a:endParaRPr lang="en-GB" sz="4000" dirty="0">
              <a:solidFill>
                <a:prstClr val="black"/>
              </a:solidFill>
            </a:endParaRPr>
          </a:p>
          <a:p>
            <a:pPr lvl="0"/>
            <a:r>
              <a:rPr lang="en-US" sz="4000" dirty="0">
                <a:solidFill>
                  <a:prstClr val="black"/>
                </a:solidFill>
              </a:rPr>
              <a:t>They have infinite growth and are </a:t>
            </a:r>
            <a:r>
              <a:rPr lang="en-US" sz="4000" dirty="0" err="1">
                <a:solidFill>
                  <a:prstClr val="black"/>
                </a:solidFill>
              </a:rPr>
              <a:t>characterised</a:t>
            </a:r>
            <a:r>
              <a:rPr lang="en-US" sz="4000" dirty="0">
                <a:solidFill>
                  <a:prstClr val="black"/>
                </a:solidFill>
              </a:rPr>
              <a:t> by decrease in the cytoplasmic-nuclear volume ratio. </a:t>
            </a:r>
            <a:endParaRPr lang="en-GB" sz="4000" dirty="0">
              <a:solidFill>
                <a:prstClr val="black"/>
              </a:solidFill>
            </a:endParaRPr>
          </a:p>
          <a:p>
            <a:endParaRPr lang="en-US" dirty="0"/>
          </a:p>
        </p:txBody>
      </p:sp>
    </p:spTree>
    <p:extLst>
      <p:ext uri="{BB962C8B-B14F-4D97-AF65-F5344CB8AC3E}">
        <p14:creationId xmlns:p14="http://schemas.microsoft.com/office/powerpoint/2010/main" val="10399185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129"/>
            <a:ext cx="10515600" cy="927847"/>
          </a:xfrm>
        </p:spPr>
        <p:txBody>
          <a:bodyPr>
            <a:noAutofit/>
          </a:bodyPr>
          <a:lstStyle/>
          <a:p>
            <a:pPr algn="ctr"/>
            <a:r>
              <a:rPr lang="en-US" b="1" dirty="0" smtClean="0"/>
              <a:t/>
            </a:r>
            <a:br>
              <a:rPr lang="en-US" b="1" dirty="0" smtClean="0"/>
            </a:br>
            <a:r>
              <a:rPr lang="en-US" b="1" dirty="0" err="1" smtClean="0"/>
              <a:t>Classincation</a:t>
            </a:r>
            <a:r>
              <a:rPr lang="en-US" b="1" dirty="0" smtClean="0"/>
              <a:t> </a:t>
            </a:r>
            <a:r>
              <a:rPr lang="en-US" dirty="0"/>
              <a:t/>
            </a:r>
            <a:br>
              <a:rPr lang="en-US" dirty="0"/>
            </a:br>
            <a:endParaRPr lang="en-US" dirty="0"/>
          </a:p>
        </p:txBody>
      </p:sp>
      <p:sp>
        <p:nvSpPr>
          <p:cNvPr id="3" name="Content Placeholder 2"/>
          <p:cNvSpPr>
            <a:spLocks noGrp="1"/>
          </p:cNvSpPr>
          <p:nvPr>
            <p:ph idx="1"/>
          </p:nvPr>
        </p:nvSpPr>
        <p:spPr>
          <a:xfrm>
            <a:off x="838200" y="1169894"/>
            <a:ext cx="10515600" cy="5007069"/>
          </a:xfrm>
        </p:spPr>
        <p:txBody>
          <a:bodyPr>
            <a:normAutofit/>
          </a:bodyPr>
          <a:lstStyle/>
          <a:p>
            <a:pPr lvl="0"/>
            <a:r>
              <a:rPr lang="en-US" sz="4000" dirty="0">
                <a:solidFill>
                  <a:prstClr val="black"/>
                </a:solidFill>
              </a:rPr>
              <a:t>Cancer is grouped, based on its origin and histology, primarily in three major types. </a:t>
            </a:r>
            <a:endParaRPr lang="en-GB" sz="4000" dirty="0">
              <a:solidFill>
                <a:prstClr val="black"/>
              </a:solidFill>
            </a:endParaRPr>
          </a:p>
          <a:p>
            <a:pPr marL="742950" lvl="0" indent="-742950">
              <a:buFont typeface="+mj-lt"/>
              <a:buAutoNum type="arabicPeriod"/>
            </a:pPr>
            <a:r>
              <a:rPr lang="en-US" sz="4000" b="1" dirty="0">
                <a:solidFill>
                  <a:prstClr val="black"/>
                </a:solidFill>
              </a:rPr>
              <a:t>Carcinoma </a:t>
            </a:r>
            <a:endParaRPr lang="en-GB" sz="4000" dirty="0">
              <a:solidFill>
                <a:prstClr val="black"/>
              </a:solidFill>
            </a:endParaRPr>
          </a:p>
          <a:p>
            <a:pPr lvl="0"/>
            <a:r>
              <a:rPr lang="en-US" sz="4000" dirty="0">
                <a:solidFill>
                  <a:prstClr val="black"/>
                </a:solidFill>
              </a:rPr>
              <a:t>Carcinoma is the most prominent type of cancer. It accounts for 85 per cent of all types of cancers. </a:t>
            </a:r>
            <a:endParaRPr lang="en-GB" sz="4000" dirty="0">
              <a:solidFill>
                <a:prstClr val="black"/>
              </a:solidFill>
            </a:endParaRPr>
          </a:p>
          <a:p>
            <a:pPr lvl="0"/>
            <a:r>
              <a:rPr lang="en-US" sz="4000" dirty="0">
                <a:solidFill>
                  <a:prstClr val="black"/>
                </a:solidFill>
              </a:rPr>
              <a:t>Different types of carcinoma develop from epithelial tissues and are ectodermal or endodermal in origin</a:t>
            </a:r>
            <a:endParaRPr lang="en-US" dirty="0"/>
          </a:p>
        </p:txBody>
      </p:sp>
    </p:spTree>
    <p:extLst>
      <p:ext uri="{BB962C8B-B14F-4D97-AF65-F5344CB8AC3E}">
        <p14:creationId xmlns:p14="http://schemas.microsoft.com/office/powerpoint/2010/main" val="21989041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8899"/>
          </a:xfrm>
        </p:spPr>
        <p:txBody>
          <a:bodyPr/>
          <a:lstStyle/>
          <a:p>
            <a:pPr algn="ctr"/>
            <a:r>
              <a:rPr lang="en-US" b="1" dirty="0" smtClean="0"/>
              <a:t>2. </a:t>
            </a:r>
            <a:r>
              <a:rPr lang="en-US" b="1" dirty="0">
                <a:solidFill>
                  <a:prstClr val="black"/>
                </a:solidFill>
              </a:rPr>
              <a:t>Sarcoma</a:t>
            </a:r>
            <a:endParaRPr lang="en-US" b="1" dirty="0"/>
          </a:p>
        </p:txBody>
      </p:sp>
      <p:sp>
        <p:nvSpPr>
          <p:cNvPr id="3" name="Content Placeholder 2"/>
          <p:cNvSpPr>
            <a:spLocks noGrp="1"/>
          </p:cNvSpPr>
          <p:nvPr>
            <p:ph idx="1"/>
          </p:nvPr>
        </p:nvSpPr>
        <p:spPr>
          <a:xfrm>
            <a:off x="838200" y="1264024"/>
            <a:ext cx="10515600" cy="4912939"/>
          </a:xfrm>
        </p:spPr>
        <p:txBody>
          <a:bodyPr>
            <a:normAutofit lnSpcReduction="10000"/>
          </a:bodyPr>
          <a:lstStyle/>
          <a:p>
            <a:pPr marL="0" lvl="0" indent="0">
              <a:buNone/>
            </a:pPr>
            <a:r>
              <a:rPr lang="en-US" b="1" dirty="0">
                <a:solidFill>
                  <a:prstClr val="black"/>
                </a:solidFill>
              </a:rPr>
              <a:t> </a:t>
            </a:r>
            <a:endParaRPr lang="en-GB" dirty="0">
              <a:solidFill>
                <a:prstClr val="black"/>
              </a:solidFill>
            </a:endParaRPr>
          </a:p>
          <a:p>
            <a:pPr lvl="0"/>
            <a:r>
              <a:rPr lang="en-US" sz="4000" dirty="0">
                <a:solidFill>
                  <a:prstClr val="black"/>
                </a:solidFill>
              </a:rPr>
              <a:t>Sarcoma is the rarest type of cancer. It is mesodermal in origin and mainly made up of connective tissue. </a:t>
            </a:r>
            <a:endParaRPr lang="en-GB" sz="4000" dirty="0">
              <a:solidFill>
                <a:prstClr val="black"/>
              </a:solidFill>
            </a:endParaRPr>
          </a:p>
          <a:p>
            <a:pPr lvl="0"/>
            <a:r>
              <a:rPr lang="en-US" sz="4000" dirty="0">
                <a:solidFill>
                  <a:prstClr val="black"/>
                </a:solidFill>
              </a:rPr>
              <a:t>Different types of sarcomas are solid </a:t>
            </a:r>
            <a:r>
              <a:rPr lang="en-US" sz="4000" dirty="0" err="1">
                <a:solidFill>
                  <a:prstClr val="black"/>
                </a:solidFill>
              </a:rPr>
              <a:t>tumours</a:t>
            </a:r>
            <a:r>
              <a:rPr lang="en-US" sz="4000" dirty="0">
                <a:solidFill>
                  <a:prstClr val="black"/>
                </a:solidFill>
              </a:rPr>
              <a:t> growing from a muscle, bone or connective tissue. </a:t>
            </a:r>
            <a:endParaRPr lang="en-GB" sz="4000" dirty="0">
              <a:solidFill>
                <a:prstClr val="black"/>
              </a:solidFill>
            </a:endParaRPr>
          </a:p>
          <a:p>
            <a:pPr lvl="0"/>
            <a:r>
              <a:rPr lang="en-US" sz="4000" dirty="0">
                <a:solidFill>
                  <a:prstClr val="black"/>
                </a:solidFill>
              </a:rPr>
              <a:t>All types of sarcoma account for 1 per cent of all cancers. </a:t>
            </a:r>
            <a:endParaRPr lang="en-GB" sz="4000" dirty="0">
              <a:solidFill>
                <a:prstClr val="black"/>
              </a:solidFill>
            </a:endParaRPr>
          </a:p>
          <a:p>
            <a:pPr lvl="0"/>
            <a:endParaRPr lang="en-GB" sz="4000" dirty="0">
              <a:solidFill>
                <a:prstClr val="black"/>
              </a:solidFill>
            </a:endParaRPr>
          </a:p>
        </p:txBody>
      </p:sp>
    </p:spTree>
    <p:extLst>
      <p:ext uri="{BB962C8B-B14F-4D97-AF65-F5344CB8AC3E}">
        <p14:creationId xmlns:p14="http://schemas.microsoft.com/office/powerpoint/2010/main" val="12228142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706"/>
            <a:ext cx="10515600" cy="753036"/>
          </a:xfrm>
        </p:spPr>
        <p:txBody>
          <a:bodyPr>
            <a:normAutofit/>
          </a:bodyPr>
          <a:lstStyle/>
          <a:p>
            <a:pPr algn="ctr"/>
            <a:r>
              <a:rPr lang="en-GB" b="1" dirty="0"/>
              <a:t>3.Leukemia and Lymphoma</a:t>
            </a:r>
            <a:endParaRPr lang="en-US" b="1" dirty="0"/>
          </a:p>
        </p:txBody>
      </p:sp>
      <p:sp>
        <p:nvSpPr>
          <p:cNvPr id="3" name="Content Placeholder 2"/>
          <p:cNvSpPr>
            <a:spLocks noGrp="1"/>
          </p:cNvSpPr>
          <p:nvPr>
            <p:ph idx="1"/>
          </p:nvPr>
        </p:nvSpPr>
        <p:spPr>
          <a:xfrm>
            <a:off x="838200" y="1223682"/>
            <a:ext cx="10515600" cy="5284694"/>
          </a:xfrm>
        </p:spPr>
        <p:txBody>
          <a:bodyPr/>
          <a:lstStyle/>
          <a:p>
            <a:r>
              <a:rPr lang="en-US" sz="4000" dirty="0" smtClean="0">
                <a:solidFill>
                  <a:prstClr val="black"/>
                </a:solidFill>
              </a:rPr>
              <a:t>Various </a:t>
            </a:r>
            <a:r>
              <a:rPr lang="en-US" sz="4000" dirty="0">
                <a:solidFill>
                  <a:prstClr val="black"/>
                </a:solidFill>
              </a:rPr>
              <a:t>types of these cancers comprise 7 per cent of all cancer cases. </a:t>
            </a:r>
            <a:endParaRPr lang="en-GB" sz="4000" dirty="0">
              <a:solidFill>
                <a:prstClr val="black"/>
              </a:solidFill>
            </a:endParaRPr>
          </a:p>
          <a:p>
            <a:pPr lvl="0"/>
            <a:r>
              <a:rPr lang="en-US" sz="4000" dirty="0">
                <a:solidFill>
                  <a:prstClr val="black"/>
                </a:solidFill>
              </a:rPr>
              <a:t>They are grouped together because they develop in the cells of the immune system. </a:t>
            </a:r>
            <a:endParaRPr lang="en-GB" sz="4000" dirty="0">
              <a:solidFill>
                <a:prstClr val="black"/>
              </a:solidFill>
            </a:endParaRPr>
          </a:p>
          <a:p>
            <a:pPr lvl="0"/>
            <a:r>
              <a:rPr lang="en-US" sz="4000" dirty="0">
                <a:solidFill>
                  <a:prstClr val="black"/>
                </a:solidFill>
              </a:rPr>
              <a:t>Types of leukemia develop in the cells of the myeloid system while types of lymphoma develop in the lymphatic system</a:t>
            </a:r>
            <a:endParaRPr lang="en-GB" sz="4000" dirty="0">
              <a:solidFill>
                <a:prstClr val="black"/>
              </a:solidFill>
            </a:endParaRPr>
          </a:p>
          <a:p>
            <a:endParaRPr lang="en-US" dirty="0"/>
          </a:p>
        </p:txBody>
      </p:sp>
    </p:spTree>
    <p:extLst>
      <p:ext uri="{BB962C8B-B14F-4D97-AF65-F5344CB8AC3E}">
        <p14:creationId xmlns:p14="http://schemas.microsoft.com/office/powerpoint/2010/main" val="7139265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9"/>
            <a:ext cx="10515600" cy="941294"/>
          </a:xfrm>
        </p:spPr>
        <p:txBody>
          <a:bodyPr/>
          <a:lstStyle/>
          <a:p>
            <a:pPr algn="ctr"/>
            <a:r>
              <a:rPr lang="en-US" b="1" dirty="0">
                <a:solidFill>
                  <a:prstClr val="black"/>
                </a:solidFill>
              </a:rPr>
              <a:t>Leukemia and Lymphoma </a:t>
            </a:r>
            <a:r>
              <a:rPr lang="en-US" b="1" dirty="0" smtClean="0">
                <a:solidFill>
                  <a:prstClr val="black"/>
                </a:solidFill>
              </a:rPr>
              <a:t> cont’d</a:t>
            </a:r>
            <a:endParaRPr lang="en-US" dirty="0"/>
          </a:p>
        </p:txBody>
      </p:sp>
      <p:sp>
        <p:nvSpPr>
          <p:cNvPr id="3" name="Content Placeholder 2"/>
          <p:cNvSpPr>
            <a:spLocks noGrp="1"/>
          </p:cNvSpPr>
          <p:nvPr>
            <p:ph idx="1"/>
          </p:nvPr>
        </p:nvSpPr>
        <p:spPr>
          <a:xfrm>
            <a:off x="838200" y="1264024"/>
            <a:ext cx="10515600" cy="4912939"/>
          </a:xfrm>
        </p:spPr>
        <p:txBody>
          <a:bodyPr/>
          <a:lstStyle/>
          <a:p>
            <a:pPr lvl="0"/>
            <a:r>
              <a:rPr lang="en-US" sz="4000" dirty="0">
                <a:solidFill>
                  <a:prstClr val="black"/>
                </a:solidFill>
              </a:rPr>
              <a:t>Hodgkin's disease is an example of lymphomas. </a:t>
            </a:r>
            <a:endParaRPr lang="en-GB" sz="4000" dirty="0">
              <a:solidFill>
                <a:prstClr val="black"/>
              </a:solidFill>
            </a:endParaRPr>
          </a:p>
          <a:p>
            <a:pPr lvl="0"/>
            <a:r>
              <a:rPr lang="en-US" sz="4000" dirty="0">
                <a:solidFill>
                  <a:prstClr val="black"/>
                </a:solidFill>
              </a:rPr>
              <a:t>Besides the above mentioned, multiple myeloma (originates from plasma cells of the bone marrow) and mixed types of cancers are also found. </a:t>
            </a:r>
            <a:endParaRPr lang="en-GB" sz="4000" dirty="0">
              <a:solidFill>
                <a:prstClr val="black"/>
              </a:solidFill>
            </a:endParaRPr>
          </a:p>
          <a:p>
            <a:pPr lvl="0"/>
            <a:endParaRPr lang="en-GB" sz="4000" dirty="0">
              <a:solidFill>
                <a:prstClr val="black"/>
              </a:solidFill>
            </a:endParaRPr>
          </a:p>
          <a:p>
            <a:endParaRPr lang="en-US" dirty="0"/>
          </a:p>
        </p:txBody>
      </p:sp>
    </p:spTree>
    <p:extLst>
      <p:ext uri="{BB962C8B-B14F-4D97-AF65-F5344CB8AC3E}">
        <p14:creationId xmlns:p14="http://schemas.microsoft.com/office/powerpoint/2010/main" val="10526783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129"/>
            <a:ext cx="10515600" cy="793377"/>
          </a:xfrm>
        </p:spPr>
        <p:txBody>
          <a:bodyPr>
            <a:noAutofit/>
          </a:bodyPr>
          <a:lstStyle/>
          <a:p>
            <a:pPr algn="ctr"/>
            <a:r>
              <a:rPr lang="en-US" b="1" dirty="0"/>
              <a:t/>
            </a:r>
            <a:br>
              <a:rPr lang="en-US" b="1" dirty="0"/>
            </a:br>
            <a:r>
              <a:rPr lang="en-US" b="1" dirty="0"/>
              <a:t>Characteristics of Cancer Cells </a:t>
            </a:r>
            <a:r>
              <a:rPr lang="en-GB" dirty="0"/>
              <a:t/>
            </a:r>
            <a:br>
              <a:rPr lang="en-GB" dirty="0"/>
            </a:br>
            <a:endParaRPr lang="en-US" dirty="0"/>
          </a:p>
        </p:txBody>
      </p:sp>
      <p:sp>
        <p:nvSpPr>
          <p:cNvPr id="3" name="Content Placeholder 2"/>
          <p:cNvSpPr>
            <a:spLocks noGrp="1"/>
          </p:cNvSpPr>
          <p:nvPr>
            <p:ph idx="1"/>
          </p:nvPr>
        </p:nvSpPr>
        <p:spPr>
          <a:xfrm>
            <a:off x="838200" y="981634"/>
            <a:ext cx="10515600" cy="5876365"/>
          </a:xfrm>
        </p:spPr>
        <p:txBody>
          <a:bodyPr/>
          <a:lstStyle/>
          <a:p>
            <a:pPr lvl="0"/>
            <a:r>
              <a:rPr lang="en-US" sz="4000" dirty="0">
                <a:solidFill>
                  <a:prstClr val="black"/>
                </a:solidFill>
              </a:rPr>
              <a:t>Tumour cells display characteristic set of features that distinguish them from normal cells. These traits allow the individual cell to form a </a:t>
            </a:r>
            <a:r>
              <a:rPr lang="en-US" sz="4000" dirty="0" err="1">
                <a:solidFill>
                  <a:prstClr val="black"/>
                </a:solidFill>
              </a:rPr>
              <a:t>tumour</a:t>
            </a:r>
            <a:r>
              <a:rPr lang="en-US" sz="4000" dirty="0">
                <a:solidFill>
                  <a:prstClr val="black"/>
                </a:solidFill>
              </a:rPr>
              <a:t> mass and eventually to metastasize to other parts of the body. Some important characteristics of cancer cells are as follows</a:t>
            </a:r>
          </a:p>
          <a:p>
            <a:pPr marL="0" lvl="0" indent="0">
              <a:buNone/>
            </a:pPr>
            <a:r>
              <a:rPr lang="en-US" sz="4000" b="1" dirty="0">
                <a:solidFill>
                  <a:prstClr val="black"/>
                </a:solidFill>
              </a:rPr>
              <a:t>1.Immortalisation -</a:t>
            </a:r>
            <a:r>
              <a:rPr lang="en-US" sz="4000" dirty="0">
                <a:solidFill>
                  <a:prstClr val="black"/>
                </a:solidFill>
              </a:rPr>
              <a:t> Transformed cells are immortal and can grow at an uncontrollable rate, if nutrition is available</a:t>
            </a:r>
            <a:r>
              <a:rPr lang="en-US" dirty="0">
                <a:solidFill>
                  <a:prstClr val="black"/>
                </a:solidFill>
              </a:rPr>
              <a:t>. </a:t>
            </a:r>
            <a:endParaRPr lang="en-GB" dirty="0">
              <a:solidFill>
                <a:prstClr val="black"/>
              </a:solidFill>
            </a:endParaRPr>
          </a:p>
          <a:p>
            <a:pPr lvl="0"/>
            <a:endParaRPr lang="en-GB" dirty="0">
              <a:solidFill>
                <a:prstClr val="black"/>
              </a:solidFill>
            </a:endParaRPr>
          </a:p>
          <a:p>
            <a:endParaRPr lang="en-US" dirty="0"/>
          </a:p>
        </p:txBody>
      </p:sp>
    </p:spTree>
    <p:extLst>
      <p:ext uri="{BB962C8B-B14F-4D97-AF65-F5344CB8AC3E}">
        <p14:creationId xmlns:p14="http://schemas.microsoft.com/office/powerpoint/2010/main" val="3844292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128"/>
            <a:ext cx="10515600" cy="900953"/>
          </a:xfrm>
        </p:spPr>
        <p:txBody>
          <a:bodyPr>
            <a:noAutofit/>
          </a:bodyPr>
          <a:lstStyle/>
          <a:p>
            <a:pPr algn="ctr"/>
            <a:r>
              <a:rPr lang="en-US" b="1" dirty="0"/>
              <a:t/>
            </a:r>
            <a:br>
              <a:rPr lang="en-US" b="1" dirty="0"/>
            </a:br>
            <a:r>
              <a:rPr lang="en-US" b="1" dirty="0"/>
              <a:t>Characteristics of Cancer Cells </a:t>
            </a:r>
            <a:r>
              <a:rPr lang="en-US" b="1" dirty="0" smtClean="0"/>
              <a:t>cont’d</a:t>
            </a:r>
            <a:r>
              <a:rPr lang="en-GB" dirty="0"/>
              <a:t/>
            </a:r>
            <a:br>
              <a:rPr lang="en-GB" dirty="0"/>
            </a:br>
            <a:endParaRPr lang="en-US" dirty="0"/>
          </a:p>
        </p:txBody>
      </p:sp>
      <p:sp>
        <p:nvSpPr>
          <p:cNvPr id="3" name="Content Placeholder 2"/>
          <p:cNvSpPr>
            <a:spLocks noGrp="1"/>
          </p:cNvSpPr>
          <p:nvPr>
            <p:ph idx="1"/>
          </p:nvPr>
        </p:nvSpPr>
        <p:spPr>
          <a:xfrm>
            <a:off x="838200" y="1250577"/>
            <a:ext cx="10515600" cy="5607424"/>
          </a:xfrm>
        </p:spPr>
        <p:txBody>
          <a:bodyPr>
            <a:normAutofit/>
          </a:bodyPr>
          <a:lstStyle/>
          <a:p>
            <a:pPr marL="0" lvl="0" indent="0">
              <a:buNone/>
            </a:pPr>
            <a:r>
              <a:rPr lang="en-US" sz="3700" b="1" dirty="0">
                <a:solidFill>
                  <a:prstClr val="black"/>
                </a:solidFill>
              </a:rPr>
              <a:t>2. Angiogenesis </a:t>
            </a:r>
            <a:r>
              <a:rPr lang="en-US" sz="3700" dirty="0">
                <a:solidFill>
                  <a:prstClr val="black"/>
                </a:solidFill>
              </a:rPr>
              <a:t>- Like any living cell, </a:t>
            </a:r>
            <a:r>
              <a:rPr lang="en-US" sz="3700" dirty="0" err="1">
                <a:solidFill>
                  <a:prstClr val="black"/>
                </a:solidFill>
              </a:rPr>
              <a:t>tumours</a:t>
            </a:r>
            <a:r>
              <a:rPr lang="en-US" sz="3700" dirty="0">
                <a:solidFill>
                  <a:prstClr val="black"/>
                </a:solidFill>
              </a:rPr>
              <a:t> need blood supply for food and oxygen. Cancer cells secrete growth factors that cause nearby blood vessels to produce branches that grow into cancerous tissues. </a:t>
            </a:r>
            <a:endParaRPr lang="en-GB" sz="2600" dirty="0">
              <a:solidFill>
                <a:prstClr val="black"/>
              </a:solidFill>
            </a:endParaRPr>
          </a:p>
          <a:p>
            <a:endParaRPr lang="en-US" dirty="0"/>
          </a:p>
        </p:txBody>
      </p:sp>
    </p:spTree>
    <p:extLst>
      <p:ext uri="{BB962C8B-B14F-4D97-AF65-F5344CB8AC3E}">
        <p14:creationId xmlns:p14="http://schemas.microsoft.com/office/powerpoint/2010/main" val="20982148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46816"/>
          </a:xfrm>
        </p:spPr>
        <p:txBody>
          <a:bodyPr>
            <a:noAutofit/>
          </a:bodyPr>
          <a:lstStyle/>
          <a:p>
            <a:pPr algn="ctr"/>
            <a:r>
              <a:rPr lang="en-US" b="1" dirty="0"/>
              <a:t/>
            </a:r>
            <a:br>
              <a:rPr lang="en-US" b="1" dirty="0"/>
            </a:br>
            <a:r>
              <a:rPr lang="en-US" b="1" dirty="0"/>
              <a:t>Characteristics of Cancer Cells </a:t>
            </a:r>
            <a:r>
              <a:rPr lang="en-GB" b="1" dirty="0"/>
              <a:t/>
            </a:r>
            <a:br>
              <a:rPr lang="en-GB" b="1" dirty="0"/>
            </a:br>
            <a:endParaRPr lang="en-US" b="1" dirty="0"/>
          </a:p>
        </p:txBody>
      </p:sp>
      <p:sp>
        <p:nvSpPr>
          <p:cNvPr id="3" name="Content Placeholder 2"/>
          <p:cNvSpPr>
            <a:spLocks noGrp="1"/>
          </p:cNvSpPr>
          <p:nvPr>
            <p:ph idx="1"/>
          </p:nvPr>
        </p:nvSpPr>
        <p:spPr>
          <a:xfrm>
            <a:off x="838200" y="1506071"/>
            <a:ext cx="10515600" cy="4670892"/>
          </a:xfrm>
        </p:spPr>
        <p:txBody>
          <a:bodyPr/>
          <a:lstStyle/>
          <a:p>
            <a:r>
              <a:rPr lang="en-US" sz="3700" b="1" dirty="0">
                <a:solidFill>
                  <a:prstClr val="black"/>
                </a:solidFill>
              </a:rPr>
              <a:t>3. Loss of Contact Inhibition</a:t>
            </a:r>
            <a:r>
              <a:rPr lang="en-US" sz="3700" dirty="0">
                <a:solidFill>
                  <a:prstClr val="black"/>
                </a:solidFill>
              </a:rPr>
              <a:t> - Normal cells in culture stop growing when the plasma membranes come in contact with each other. This inhibition of growth after contact is called contact inhibition. However, transformed cells lack this property and they go on dividing continuously until they kill themselves</a:t>
            </a:r>
            <a:endParaRPr lang="en-US" dirty="0"/>
          </a:p>
        </p:txBody>
      </p:sp>
    </p:spTree>
    <p:extLst>
      <p:ext uri="{BB962C8B-B14F-4D97-AF65-F5344CB8AC3E}">
        <p14:creationId xmlns:p14="http://schemas.microsoft.com/office/powerpoint/2010/main" val="256209315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39240"/>
          </a:xfrm>
        </p:spPr>
        <p:txBody>
          <a:bodyPr>
            <a:noAutofit/>
          </a:bodyPr>
          <a:lstStyle/>
          <a:p>
            <a:pPr algn="ctr"/>
            <a:r>
              <a:rPr lang="en-US" b="1" dirty="0"/>
              <a:t/>
            </a:r>
            <a:br>
              <a:rPr lang="en-US" b="1" dirty="0"/>
            </a:br>
            <a:r>
              <a:rPr lang="en-US" b="1" dirty="0"/>
              <a:t>Characteristics of Cancer Cells cont’d</a:t>
            </a:r>
            <a:r>
              <a:rPr lang="en-GB" b="1" dirty="0"/>
              <a:t/>
            </a:r>
            <a:br>
              <a:rPr lang="en-GB" b="1" dirty="0"/>
            </a:br>
            <a:endParaRPr lang="en-US" b="1" dirty="0"/>
          </a:p>
        </p:txBody>
      </p:sp>
      <p:sp>
        <p:nvSpPr>
          <p:cNvPr id="3" name="Content Placeholder 2"/>
          <p:cNvSpPr>
            <a:spLocks noGrp="1"/>
          </p:cNvSpPr>
          <p:nvPr>
            <p:ph idx="1"/>
          </p:nvPr>
        </p:nvSpPr>
        <p:spPr>
          <a:xfrm>
            <a:off x="838200" y="1479176"/>
            <a:ext cx="10515600" cy="4697787"/>
          </a:xfrm>
        </p:spPr>
        <p:txBody>
          <a:bodyPr/>
          <a:lstStyle/>
          <a:p>
            <a:pPr marL="0" lvl="0" indent="0">
              <a:buNone/>
            </a:pPr>
            <a:r>
              <a:rPr lang="en-US" sz="4000" b="1" dirty="0">
                <a:solidFill>
                  <a:prstClr val="black"/>
                </a:solidFill>
              </a:rPr>
              <a:t>4.Lack of Differentiation</a:t>
            </a:r>
            <a:r>
              <a:rPr lang="en-US" sz="4000" dirty="0">
                <a:solidFill>
                  <a:prstClr val="black"/>
                </a:solidFill>
              </a:rPr>
              <a:t> - Normally cells differentiate and become capable of specific functions (e.g., muscle cells are </a:t>
            </a:r>
            <a:r>
              <a:rPr lang="en-US" sz="4000" dirty="0" err="1">
                <a:solidFill>
                  <a:prstClr val="black"/>
                </a:solidFill>
              </a:rPr>
              <a:t>specialised</a:t>
            </a:r>
            <a:r>
              <a:rPr lang="en-US" sz="4000" dirty="0">
                <a:solidFill>
                  <a:prstClr val="black"/>
                </a:solidFill>
              </a:rPr>
              <a:t> for contraction but cancer cells are not </a:t>
            </a:r>
            <a:r>
              <a:rPr lang="en-US" sz="4000" dirty="0" err="1">
                <a:solidFill>
                  <a:prstClr val="black"/>
                </a:solidFill>
              </a:rPr>
              <a:t>specialised</a:t>
            </a:r>
            <a:r>
              <a:rPr lang="en-US" sz="4000" dirty="0">
                <a:solidFill>
                  <a:prstClr val="black"/>
                </a:solidFill>
              </a:rPr>
              <a:t>). </a:t>
            </a:r>
            <a:endParaRPr lang="en-GB" sz="4000" dirty="0">
              <a:solidFill>
                <a:prstClr val="black"/>
              </a:solidFill>
            </a:endParaRPr>
          </a:p>
          <a:p>
            <a:endParaRPr lang="en-US" dirty="0"/>
          </a:p>
        </p:txBody>
      </p:sp>
    </p:spTree>
    <p:extLst>
      <p:ext uri="{BB962C8B-B14F-4D97-AF65-F5344CB8AC3E}">
        <p14:creationId xmlns:p14="http://schemas.microsoft.com/office/powerpoint/2010/main" val="21218290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9"/>
            <a:ext cx="10515600" cy="739588"/>
          </a:xfrm>
        </p:spPr>
        <p:txBody>
          <a:bodyPr>
            <a:noAutofit/>
          </a:bodyPr>
          <a:lstStyle/>
          <a:p>
            <a:pPr algn="ctr"/>
            <a:r>
              <a:rPr lang="en-US" b="1" dirty="0"/>
              <a:t/>
            </a:r>
            <a:br>
              <a:rPr lang="en-US" b="1" dirty="0"/>
            </a:br>
            <a:r>
              <a:rPr lang="en-US" b="1" dirty="0"/>
              <a:t>Characteristics of Cancer Cells cont’d</a:t>
            </a:r>
            <a:r>
              <a:rPr lang="en-GB" b="1" dirty="0"/>
              <a:t/>
            </a:r>
            <a:br>
              <a:rPr lang="en-GB" b="1" dirty="0"/>
            </a:br>
            <a:endParaRPr lang="en-US" dirty="0"/>
          </a:p>
        </p:txBody>
      </p:sp>
      <p:sp>
        <p:nvSpPr>
          <p:cNvPr id="3" name="Content Placeholder 2"/>
          <p:cNvSpPr>
            <a:spLocks noGrp="1"/>
          </p:cNvSpPr>
          <p:nvPr>
            <p:ph idx="1"/>
          </p:nvPr>
        </p:nvSpPr>
        <p:spPr>
          <a:xfrm>
            <a:off x="838200" y="1008528"/>
            <a:ext cx="10515600" cy="5647765"/>
          </a:xfrm>
        </p:spPr>
        <p:txBody>
          <a:bodyPr/>
          <a:lstStyle/>
          <a:p>
            <a:pPr marL="0" lvl="0" indent="0">
              <a:buNone/>
            </a:pPr>
            <a:r>
              <a:rPr lang="en-US" sz="4000" b="1" dirty="0" smtClean="0">
                <a:solidFill>
                  <a:prstClr val="black"/>
                </a:solidFill>
              </a:rPr>
              <a:t>5. Cytoplasmic </a:t>
            </a:r>
            <a:r>
              <a:rPr lang="en-US" sz="4000" b="1" dirty="0">
                <a:solidFill>
                  <a:prstClr val="black"/>
                </a:solidFill>
              </a:rPr>
              <a:t>Inclusions </a:t>
            </a:r>
            <a:endParaRPr lang="en-GB" sz="4000" dirty="0">
              <a:solidFill>
                <a:prstClr val="black"/>
              </a:solidFill>
            </a:endParaRPr>
          </a:p>
          <a:p>
            <a:pPr lvl="0"/>
            <a:r>
              <a:rPr lang="en-US" sz="4000" dirty="0">
                <a:solidFill>
                  <a:prstClr val="black"/>
                </a:solidFill>
              </a:rPr>
              <a:t>In transformed cells, microtubules and microfilaments are fewer in number and much thinner in comparison with normal cells. </a:t>
            </a:r>
            <a:endParaRPr lang="en-GB" sz="4000" dirty="0">
              <a:solidFill>
                <a:prstClr val="black"/>
              </a:solidFill>
            </a:endParaRPr>
          </a:p>
          <a:p>
            <a:pPr lvl="0"/>
            <a:r>
              <a:rPr lang="en-US" sz="4000" dirty="0">
                <a:solidFill>
                  <a:prstClr val="black"/>
                </a:solidFill>
              </a:rPr>
              <a:t>The plasma membrane of cancerous cells contains predominantly GM) types of </a:t>
            </a:r>
            <a:r>
              <a:rPr lang="en-US" sz="4000" dirty="0" err="1">
                <a:solidFill>
                  <a:prstClr val="black"/>
                </a:solidFill>
              </a:rPr>
              <a:t>gangliosides</a:t>
            </a:r>
            <a:r>
              <a:rPr lang="en-US" sz="4000" dirty="0">
                <a:solidFill>
                  <a:prstClr val="black"/>
                </a:solidFill>
              </a:rPr>
              <a:t> but the plasma membrane of normal cells contains four types of </a:t>
            </a:r>
            <a:r>
              <a:rPr lang="en-US" sz="4000" dirty="0" err="1">
                <a:solidFill>
                  <a:prstClr val="black"/>
                </a:solidFill>
              </a:rPr>
              <a:t>gangliosides</a:t>
            </a:r>
            <a:r>
              <a:rPr lang="en-US" sz="4000" dirty="0">
                <a:solidFill>
                  <a:prstClr val="black"/>
                </a:solidFill>
              </a:rPr>
              <a:t> -</a:t>
            </a:r>
            <a:r>
              <a:rPr lang="en-US" sz="4000" dirty="0" err="1">
                <a:solidFill>
                  <a:prstClr val="black"/>
                </a:solidFill>
              </a:rPr>
              <a:t>GMIa</a:t>
            </a:r>
            <a:r>
              <a:rPr lang="en-US" sz="4000" dirty="0">
                <a:solidFill>
                  <a:prstClr val="black"/>
                </a:solidFill>
              </a:rPr>
              <a:t>, GM</a:t>
            </a:r>
            <a:r>
              <a:rPr lang="en-US" sz="4000" baseline="-25000" dirty="0">
                <a:solidFill>
                  <a:prstClr val="black"/>
                </a:solidFill>
              </a:rPr>
              <a:t>1</a:t>
            </a:r>
            <a:r>
              <a:rPr lang="en-US" sz="4000" dirty="0">
                <a:solidFill>
                  <a:prstClr val="black"/>
                </a:solidFill>
              </a:rPr>
              <a:t>, GM</a:t>
            </a:r>
            <a:r>
              <a:rPr lang="en-US" sz="4000" baseline="-25000" dirty="0">
                <a:solidFill>
                  <a:prstClr val="black"/>
                </a:solidFill>
              </a:rPr>
              <a:t>2</a:t>
            </a:r>
            <a:r>
              <a:rPr lang="en-US" sz="4000" dirty="0">
                <a:solidFill>
                  <a:prstClr val="black"/>
                </a:solidFill>
              </a:rPr>
              <a:t> and GM)' </a:t>
            </a:r>
            <a:endParaRPr lang="en-GB" sz="4000" dirty="0">
              <a:solidFill>
                <a:prstClr val="black"/>
              </a:solidFill>
            </a:endParaRPr>
          </a:p>
          <a:p>
            <a:endParaRPr lang="en-US" dirty="0"/>
          </a:p>
        </p:txBody>
      </p:sp>
    </p:spTree>
    <p:extLst>
      <p:ext uri="{BB962C8B-B14F-4D97-AF65-F5344CB8AC3E}">
        <p14:creationId xmlns:p14="http://schemas.microsoft.com/office/powerpoint/2010/main" val="316447419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prstClr val="black"/>
                </a:solidFill>
                <a:latin typeface="Calibri" panose="020F0502020204030204"/>
              </a:rPr>
              <a:t>Cytoplasmic </a:t>
            </a:r>
            <a:r>
              <a:rPr lang="en-US" b="1" dirty="0" smtClean="0">
                <a:solidFill>
                  <a:prstClr val="black"/>
                </a:solidFill>
                <a:latin typeface="Calibri" panose="020F0502020204030204"/>
              </a:rPr>
              <a:t>Inclusions cont’d</a:t>
            </a:r>
            <a:endParaRPr lang="en-US" dirty="0"/>
          </a:p>
        </p:txBody>
      </p:sp>
      <p:sp>
        <p:nvSpPr>
          <p:cNvPr id="3" name="Content Placeholder 2"/>
          <p:cNvSpPr>
            <a:spLocks noGrp="1"/>
          </p:cNvSpPr>
          <p:nvPr>
            <p:ph idx="1"/>
          </p:nvPr>
        </p:nvSpPr>
        <p:spPr/>
        <p:txBody>
          <a:bodyPr/>
          <a:lstStyle/>
          <a:p>
            <a:pPr marL="0" lvl="0" indent="0">
              <a:buNone/>
            </a:pPr>
            <a:r>
              <a:rPr lang="en-US" sz="4000" dirty="0">
                <a:solidFill>
                  <a:prstClr val="black"/>
                </a:solidFill>
              </a:rPr>
              <a:t>There is slow disappearance of a major protein called LETS (Large External Transforming Sensitive Proteins). </a:t>
            </a:r>
            <a:endParaRPr lang="en-GB" sz="4000" dirty="0">
              <a:solidFill>
                <a:prstClr val="black"/>
              </a:solidFill>
            </a:endParaRPr>
          </a:p>
          <a:p>
            <a:endParaRPr lang="en-US" dirty="0"/>
          </a:p>
        </p:txBody>
      </p:sp>
    </p:spTree>
    <p:extLst>
      <p:ext uri="{BB962C8B-B14F-4D97-AF65-F5344CB8AC3E}">
        <p14:creationId xmlns:p14="http://schemas.microsoft.com/office/powerpoint/2010/main" val="364824493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129"/>
            <a:ext cx="10515600" cy="833718"/>
          </a:xfrm>
        </p:spPr>
        <p:txBody>
          <a:bodyPr>
            <a:normAutofit/>
          </a:bodyPr>
          <a:lstStyle/>
          <a:p>
            <a:pPr algn="ctr"/>
            <a:r>
              <a:rPr lang="en-US" b="1" dirty="0">
                <a:solidFill>
                  <a:prstClr val="black"/>
                </a:solidFill>
                <a:latin typeface="Calibri" panose="020F0502020204030204"/>
              </a:rPr>
              <a:t>Cytoplasmic Inclusions cont’d</a:t>
            </a:r>
            <a:endParaRPr lang="en-US" dirty="0"/>
          </a:p>
        </p:txBody>
      </p:sp>
      <p:sp>
        <p:nvSpPr>
          <p:cNvPr id="3" name="Content Placeholder 2"/>
          <p:cNvSpPr>
            <a:spLocks noGrp="1"/>
          </p:cNvSpPr>
          <p:nvPr>
            <p:ph idx="1"/>
          </p:nvPr>
        </p:nvSpPr>
        <p:spPr>
          <a:xfrm>
            <a:off x="838200" y="1048871"/>
            <a:ext cx="10515600" cy="5513294"/>
          </a:xfrm>
        </p:spPr>
        <p:txBody>
          <a:bodyPr/>
          <a:lstStyle/>
          <a:p>
            <a:pPr lvl="0"/>
            <a:r>
              <a:rPr lang="en-US" sz="4000" dirty="0">
                <a:solidFill>
                  <a:prstClr val="black"/>
                </a:solidFill>
              </a:rPr>
              <a:t>Mitochondria become swollen and the number of cristae is reduced. </a:t>
            </a:r>
            <a:endParaRPr lang="en-GB" sz="4000" dirty="0">
              <a:solidFill>
                <a:prstClr val="black"/>
              </a:solidFill>
            </a:endParaRPr>
          </a:p>
          <a:p>
            <a:pPr lvl="0"/>
            <a:r>
              <a:rPr lang="en-US" sz="4000" dirty="0">
                <a:solidFill>
                  <a:prstClr val="black"/>
                </a:solidFill>
              </a:rPr>
              <a:t>The mitochondrial matrix becomes </a:t>
            </a:r>
            <a:r>
              <a:rPr lang="en-US" sz="4000" dirty="0" err="1">
                <a:solidFill>
                  <a:prstClr val="black"/>
                </a:solidFill>
              </a:rPr>
              <a:t>nonhomogenous</a:t>
            </a:r>
            <a:r>
              <a:rPr lang="en-US" sz="4000" dirty="0">
                <a:solidFill>
                  <a:prstClr val="black"/>
                </a:solidFill>
              </a:rPr>
              <a:t>. </a:t>
            </a:r>
            <a:endParaRPr lang="en-GB" sz="4000" dirty="0">
              <a:solidFill>
                <a:prstClr val="black"/>
              </a:solidFill>
            </a:endParaRPr>
          </a:p>
          <a:p>
            <a:pPr lvl="0"/>
            <a:r>
              <a:rPr lang="en-US" sz="4000" dirty="0">
                <a:solidFill>
                  <a:prstClr val="black"/>
                </a:solidFill>
              </a:rPr>
              <a:t>Ribosomes and endoplasmic reticulum are abundant. </a:t>
            </a:r>
            <a:endParaRPr lang="en-GB" sz="4000" dirty="0">
              <a:solidFill>
                <a:prstClr val="black"/>
              </a:solidFill>
            </a:endParaRPr>
          </a:p>
          <a:p>
            <a:pPr lvl="0"/>
            <a:r>
              <a:rPr lang="en-US" sz="4000" dirty="0">
                <a:solidFill>
                  <a:prstClr val="black"/>
                </a:solidFill>
              </a:rPr>
              <a:t>Generally, transformed cells have reduced Golgi complex</a:t>
            </a:r>
            <a:endParaRPr lang="en-GB" sz="4000" dirty="0">
              <a:solidFill>
                <a:prstClr val="black"/>
              </a:solidFill>
            </a:endParaRPr>
          </a:p>
          <a:p>
            <a:endParaRPr lang="en-US" dirty="0"/>
          </a:p>
        </p:txBody>
      </p:sp>
    </p:spTree>
    <p:extLst>
      <p:ext uri="{BB962C8B-B14F-4D97-AF65-F5344CB8AC3E}">
        <p14:creationId xmlns:p14="http://schemas.microsoft.com/office/powerpoint/2010/main" val="28790258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366"/>
            <a:ext cx="10515600" cy="968188"/>
          </a:xfrm>
        </p:spPr>
        <p:txBody>
          <a:bodyPr>
            <a:normAutofit fontScale="90000"/>
          </a:bodyPr>
          <a:lstStyle/>
          <a:p>
            <a:pPr algn="ctr"/>
            <a:r>
              <a:rPr lang="en-US" b="1" dirty="0">
                <a:solidFill>
                  <a:prstClr val="black"/>
                </a:solidFill>
              </a:rPr>
              <a:t/>
            </a:r>
            <a:br>
              <a:rPr lang="en-US" b="1" dirty="0">
                <a:solidFill>
                  <a:prstClr val="black"/>
                </a:solidFill>
              </a:rPr>
            </a:br>
            <a:r>
              <a:rPr lang="en-US" b="1" dirty="0">
                <a:solidFill>
                  <a:prstClr val="black"/>
                </a:solidFill>
              </a:rPr>
              <a:t>6. Genetic Changes </a:t>
            </a:r>
            <a:r>
              <a:rPr lang="en-GB" dirty="0">
                <a:solidFill>
                  <a:prstClr val="black"/>
                </a:solidFill>
              </a:rPr>
              <a:t/>
            </a:r>
            <a:br>
              <a:rPr lang="en-GB" dirty="0">
                <a:solidFill>
                  <a:prstClr val="black"/>
                </a:solidFill>
              </a:rPr>
            </a:br>
            <a:endParaRPr lang="en-US" dirty="0"/>
          </a:p>
        </p:txBody>
      </p:sp>
      <p:sp>
        <p:nvSpPr>
          <p:cNvPr id="3" name="Content Placeholder 2"/>
          <p:cNvSpPr>
            <a:spLocks noGrp="1"/>
          </p:cNvSpPr>
          <p:nvPr>
            <p:ph idx="1"/>
          </p:nvPr>
        </p:nvSpPr>
        <p:spPr>
          <a:xfrm>
            <a:off x="838200" y="1250576"/>
            <a:ext cx="10515600" cy="5230906"/>
          </a:xfrm>
        </p:spPr>
        <p:txBody>
          <a:bodyPr/>
          <a:lstStyle/>
          <a:p>
            <a:pPr lvl="0"/>
            <a:r>
              <a:rPr lang="en-US" sz="4000" dirty="0">
                <a:solidFill>
                  <a:prstClr val="black"/>
                </a:solidFill>
              </a:rPr>
              <a:t>The shape and </a:t>
            </a:r>
            <a:r>
              <a:rPr lang="en-US" sz="4000" dirty="0" err="1">
                <a:solidFill>
                  <a:prstClr val="black"/>
                </a:solidFill>
              </a:rPr>
              <a:t>organisation</a:t>
            </a:r>
            <a:r>
              <a:rPr lang="en-US" sz="4000" dirty="0">
                <a:solidFill>
                  <a:prstClr val="black"/>
                </a:solidFill>
              </a:rPr>
              <a:t> of the nuclei of the cancer cell may be markedly different from the nuclei of normal cells of the same origin. This change in appearance may be useful in the diagnosis and staging of </a:t>
            </a:r>
            <a:r>
              <a:rPr lang="en-US" sz="4000" dirty="0" err="1">
                <a:solidFill>
                  <a:prstClr val="black"/>
                </a:solidFill>
              </a:rPr>
              <a:t>tumours</a:t>
            </a:r>
            <a:r>
              <a:rPr lang="en-US" sz="4000" dirty="0">
                <a:solidFill>
                  <a:prstClr val="black"/>
                </a:solidFill>
              </a:rPr>
              <a:t>. </a:t>
            </a:r>
            <a:endParaRPr lang="en-GB" sz="4000" dirty="0">
              <a:solidFill>
                <a:prstClr val="black"/>
              </a:solidFill>
            </a:endParaRPr>
          </a:p>
          <a:p>
            <a:pPr lvl="0"/>
            <a:r>
              <a:rPr lang="en-US" sz="4000" dirty="0">
                <a:solidFill>
                  <a:prstClr val="black"/>
                </a:solidFill>
              </a:rPr>
              <a:t>Some cancer cells have chromosomal mutations, either extra or missing chromosomes or part of chromosomes</a:t>
            </a:r>
            <a:endParaRPr lang="en-GB" sz="4000" dirty="0">
              <a:solidFill>
                <a:prstClr val="black"/>
              </a:solidFill>
            </a:endParaRPr>
          </a:p>
          <a:p>
            <a:pPr marL="0" lvl="0" indent="0">
              <a:buNone/>
            </a:pPr>
            <a:endParaRPr lang="en-GB" sz="4000" dirty="0">
              <a:solidFill>
                <a:prstClr val="black"/>
              </a:solidFill>
            </a:endParaRPr>
          </a:p>
        </p:txBody>
      </p:sp>
    </p:spTree>
    <p:extLst>
      <p:ext uri="{BB962C8B-B14F-4D97-AF65-F5344CB8AC3E}">
        <p14:creationId xmlns:p14="http://schemas.microsoft.com/office/powerpoint/2010/main" val="4517203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5600" cy="995082"/>
          </a:xfrm>
        </p:spPr>
        <p:txBody>
          <a:bodyPr/>
          <a:lstStyle/>
          <a:p>
            <a:pPr algn="ctr"/>
            <a:r>
              <a:rPr lang="en-US" sz="4000" b="1" dirty="0">
                <a:solidFill>
                  <a:prstClr val="black"/>
                </a:solidFill>
              </a:rPr>
              <a:t>Genetic </a:t>
            </a:r>
            <a:r>
              <a:rPr lang="en-US" sz="4000" b="1" dirty="0" smtClean="0">
                <a:solidFill>
                  <a:prstClr val="black"/>
                </a:solidFill>
              </a:rPr>
              <a:t>Changes cont’d</a:t>
            </a:r>
            <a:endParaRPr lang="en-US" dirty="0"/>
          </a:p>
        </p:txBody>
      </p:sp>
      <p:sp>
        <p:nvSpPr>
          <p:cNvPr id="3" name="Content Placeholder 2"/>
          <p:cNvSpPr>
            <a:spLocks noGrp="1"/>
          </p:cNvSpPr>
          <p:nvPr>
            <p:ph idx="1"/>
          </p:nvPr>
        </p:nvSpPr>
        <p:spPr>
          <a:xfrm>
            <a:off x="838200" y="1398494"/>
            <a:ext cx="10515600" cy="5042647"/>
          </a:xfrm>
        </p:spPr>
        <p:txBody>
          <a:bodyPr/>
          <a:lstStyle/>
          <a:p>
            <a:pPr lvl="0"/>
            <a:r>
              <a:rPr lang="en-US" sz="4000" dirty="0">
                <a:solidFill>
                  <a:prstClr val="black"/>
                </a:solidFill>
              </a:rPr>
              <a:t>Cancer cells have extra copies of certain genes, a phenomenon known as gene amplification. </a:t>
            </a:r>
            <a:endParaRPr lang="en-GB" sz="4000" dirty="0">
              <a:solidFill>
                <a:prstClr val="black"/>
              </a:solidFill>
            </a:endParaRPr>
          </a:p>
          <a:p>
            <a:pPr lvl="0"/>
            <a:r>
              <a:rPr lang="en-US" sz="4000" dirty="0">
                <a:solidFill>
                  <a:prstClr val="black"/>
                </a:solidFill>
              </a:rPr>
              <a:t>Cancer is also associated with gene mutation. </a:t>
            </a:r>
            <a:endParaRPr lang="en-GB" sz="4000" dirty="0">
              <a:solidFill>
                <a:prstClr val="black"/>
              </a:solidFill>
            </a:endParaRPr>
          </a:p>
          <a:p>
            <a:pPr lvl="0"/>
            <a:r>
              <a:rPr lang="en-US" sz="4000" dirty="0">
                <a:solidFill>
                  <a:prstClr val="black"/>
                </a:solidFill>
              </a:rPr>
              <a:t>The DNA of cancer cells is different from normal cells, because they are damaged and cannot be repaired. </a:t>
            </a:r>
            <a:endParaRPr lang="en-GB" sz="4000" dirty="0">
              <a:solidFill>
                <a:prstClr val="black"/>
              </a:solidFill>
            </a:endParaRPr>
          </a:p>
          <a:p>
            <a:pPr lvl="0"/>
            <a:endParaRPr lang="en-GB" sz="4000" dirty="0">
              <a:solidFill>
                <a:prstClr val="black"/>
              </a:solidFill>
            </a:endParaRPr>
          </a:p>
          <a:p>
            <a:endParaRPr lang="en-US" dirty="0"/>
          </a:p>
        </p:txBody>
      </p:sp>
    </p:spTree>
    <p:extLst>
      <p:ext uri="{BB962C8B-B14F-4D97-AF65-F5344CB8AC3E}">
        <p14:creationId xmlns:p14="http://schemas.microsoft.com/office/powerpoint/2010/main" val="18677254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dirty="0">
                <a:solidFill>
                  <a:prstClr val="black"/>
                </a:solidFill>
              </a:rPr>
              <a:t>Genetic Changes cont’d</a:t>
            </a:r>
            <a:endParaRPr lang="en-US" dirty="0"/>
          </a:p>
        </p:txBody>
      </p:sp>
      <p:sp>
        <p:nvSpPr>
          <p:cNvPr id="3" name="Content Placeholder 2"/>
          <p:cNvSpPr>
            <a:spLocks noGrp="1"/>
          </p:cNvSpPr>
          <p:nvPr>
            <p:ph idx="1"/>
          </p:nvPr>
        </p:nvSpPr>
        <p:spPr/>
        <p:txBody>
          <a:bodyPr>
            <a:normAutofit/>
          </a:bodyPr>
          <a:lstStyle/>
          <a:p>
            <a:pPr lvl="0"/>
            <a:r>
              <a:rPr lang="en-US" sz="4000" dirty="0"/>
              <a:t>The nuclear membrane exhibits deep invaginations. </a:t>
            </a:r>
            <a:endParaRPr lang="en-GB" sz="4000" dirty="0"/>
          </a:p>
          <a:p>
            <a:pPr lvl="0"/>
            <a:r>
              <a:rPr lang="en-US" sz="4000" dirty="0"/>
              <a:t>The nucleolus becomes irregular and enlarged in size due to polyploidy. </a:t>
            </a:r>
            <a:endParaRPr lang="en-GB" sz="4000" dirty="0"/>
          </a:p>
          <a:p>
            <a:endParaRPr lang="en-GB" sz="4000" dirty="0"/>
          </a:p>
          <a:p>
            <a:endParaRPr lang="en-US" sz="4000" dirty="0"/>
          </a:p>
        </p:txBody>
      </p:sp>
    </p:spTree>
    <p:extLst>
      <p:ext uri="{BB962C8B-B14F-4D97-AF65-F5344CB8AC3E}">
        <p14:creationId xmlns:p14="http://schemas.microsoft.com/office/powerpoint/2010/main" val="124547084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2"/>
            <a:ext cx="10515600" cy="874058"/>
          </a:xfrm>
        </p:spPr>
        <p:txBody>
          <a:bodyPr/>
          <a:lstStyle/>
          <a:p>
            <a:pPr algn="ctr"/>
            <a:r>
              <a:rPr lang="en-US" b="1" dirty="0" smtClean="0"/>
              <a:t>7. Physiological </a:t>
            </a:r>
            <a:r>
              <a:rPr lang="en-US" b="1" dirty="0"/>
              <a:t>Properties</a:t>
            </a:r>
            <a:endParaRPr lang="en-US" dirty="0"/>
          </a:p>
        </p:txBody>
      </p:sp>
      <p:sp>
        <p:nvSpPr>
          <p:cNvPr id="3" name="Content Placeholder 2"/>
          <p:cNvSpPr>
            <a:spLocks noGrp="1"/>
          </p:cNvSpPr>
          <p:nvPr>
            <p:ph idx="1"/>
          </p:nvPr>
        </p:nvSpPr>
        <p:spPr>
          <a:xfrm>
            <a:off x="838200" y="1143000"/>
            <a:ext cx="10515600" cy="5580529"/>
          </a:xfrm>
        </p:spPr>
        <p:txBody>
          <a:bodyPr>
            <a:normAutofit/>
          </a:bodyPr>
          <a:lstStyle/>
          <a:p>
            <a:pPr lvl="0"/>
            <a:r>
              <a:rPr lang="en-US" sz="4000" b="1" dirty="0" smtClean="0"/>
              <a:t> </a:t>
            </a:r>
            <a:r>
              <a:rPr lang="en-US" sz="4000" dirty="0" smtClean="0"/>
              <a:t>Cancer </a:t>
            </a:r>
            <a:r>
              <a:rPr lang="en-US" sz="4000" dirty="0"/>
              <a:t>cells lack anchorage property. </a:t>
            </a:r>
          </a:p>
          <a:p>
            <a:pPr lvl="0"/>
            <a:r>
              <a:rPr lang="en-US" sz="4000" dirty="0"/>
              <a:t>Transformed cells require less amount of serum for their growth in comparison with normal cells. </a:t>
            </a:r>
          </a:p>
          <a:p>
            <a:pPr lvl="0"/>
            <a:r>
              <a:rPr lang="en-US" sz="4000" dirty="0"/>
              <a:t>In transformed cells, there is increased rate of sugar transport. This increases sugar intake by malignant cells. </a:t>
            </a:r>
          </a:p>
          <a:p>
            <a:pPr lvl="0"/>
            <a:r>
              <a:rPr lang="en-US" sz="4000" dirty="0"/>
              <a:t>In malignant cells, anodic movement is generally higher, indicating increase in negative surface charge. </a:t>
            </a:r>
          </a:p>
          <a:p>
            <a:endParaRPr lang="en-US" sz="4000" dirty="0"/>
          </a:p>
        </p:txBody>
      </p:sp>
    </p:spTree>
    <p:extLst>
      <p:ext uri="{BB962C8B-B14F-4D97-AF65-F5344CB8AC3E}">
        <p14:creationId xmlns:p14="http://schemas.microsoft.com/office/powerpoint/2010/main" val="41121871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494"/>
            <a:ext cx="10515600" cy="847166"/>
          </a:xfrm>
        </p:spPr>
        <p:txBody>
          <a:bodyPr/>
          <a:lstStyle/>
          <a:p>
            <a:pPr algn="ctr"/>
            <a:r>
              <a:rPr lang="en-US" b="1" dirty="0"/>
              <a:t>Physiological </a:t>
            </a:r>
            <a:r>
              <a:rPr lang="en-US" b="1" dirty="0" smtClean="0"/>
              <a:t>Properties cont’d</a:t>
            </a:r>
            <a:endParaRPr lang="en-US" dirty="0"/>
          </a:p>
        </p:txBody>
      </p:sp>
      <p:sp>
        <p:nvSpPr>
          <p:cNvPr id="3" name="Content Placeholder 2"/>
          <p:cNvSpPr>
            <a:spLocks noGrp="1"/>
          </p:cNvSpPr>
          <p:nvPr>
            <p:ph idx="1"/>
          </p:nvPr>
        </p:nvSpPr>
        <p:spPr>
          <a:xfrm>
            <a:off x="838200" y="1237128"/>
            <a:ext cx="10515600" cy="5499847"/>
          </a:xfrm>
        </p:spPr>
        <p:txBody>
          <a:bodyPr>
            <a:noAutofit/>
          </a:bodyPr>
          <a:lstStyle/>
          <a:p>
            <a:pPr lvl="0"/>
            <a:r>
              <a:rPr lang="en-US" sz="4000" dirty="0"/>
              <a:t>Cancer cells are unable to </a:t>
            </a:r>
            <a:r>
              <a:rPr lang="en-US" sz="4000" dirty="0" err="1"/>
              <a:t>oxidise</a:t>
            </a:r>
            <a:r>
              <a:rPr lang="en-US" sz="4000" dirty="0"/>
              <a:t> NADH in the mitochondria, as they are deficient in glycerol phosphate dehydrogenase. </a:t>
            </a:r>
          </a:p>
          <a:p>
            <a:pPr lvl="0"/>
            <a:r>
              <a:rPr lang="en-US" sz="4000" dirty="0"/>
              <a:t>Cancer cells exhibit agglutination property with </a:t>
            </a:r>
            <a:r>
              <a:rPr lang="en-US" sz="4000" dirty="0" err="1"/>
              <a:t>lectin</a:t>
            </a:r>
            <a:r>
              <a:rPr lang="en-US" sz="4000" dirty="0"/>
              <a:t>. </a:t>
            </a:r>
          </a:p>
          <a:p>
            <a:pPr lvl="0"/>
            <a:r>
              <a:rPr lang="en-US" sz="4000" dirty="0"/>
              <a:t>Some cancer cells have defective electrical communication. </a:t>
            </a:r>
          </a:p>
          <a:p>
            <a:r>
              <a:rPr lang="en-US" sz="4000" dirty="0"/>
              <a:t>Tumour cells have high levels of protein </a:t>
            </a:r>
            <a:r>
              <a:rPr lang="en-US" sz="4000" dirty="0" err="1"/>
              <a:t>survivin</a:t>
            </a:r>
            <a:r>
              <a:rPr lang="en-US" sz="4000" dirty="0"/>
              <a:t> that inhibits apoptosis</a:t>
            </a:r>
          </a:p>
        </p:txBody>
      </p:sp>
    </p:spTree>
    <p:extLst>
      <p:ext uri="{BB962C8B-B14F-4D97-AF65-F5344CB8AC3E}">
        <p14:creationId xmlns:p14="http://schemas.microsoft.com/office/powerpoint/2010/main" val="4472447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712694"/>
          </a:xfrm>
        </p:spPr>
        <p:txBody>
          <a:bodyPr>
            <a:normAutofit/>
          </a:bodyPr>
          <a:lstStyle/>
          <a:p>
            <a:pPr algn="ctr"/>
            <a:r>
              <a:rPr lang="en-US" b="1" dirty="0"/>
              <a:t>Physiological Properties cont’d</a:t>
            </a:r>
            <a:endParaRPr lang="en-US" dirty="0"/>
          </a:p>
        </p:txBody>
      </p:sp>
      <p:sp>
        <p:nvSpPr>
          <p:cNvPr id="3" name="Content Placeholder 2"/>
          <p:cNvSpPr>
            <a:spLocks noGrp="1"/>
          </p:cNvSpPr>
          <p:nvPr>
            <p:ph idx="1"/>
          </p:nvPr>
        </p:nvSpPr>
        <p:spPr>
          <a:xfrm>
            <a:off x="838200" y="914400"/>
            <a:ext cx="10515600" cy="6051176"/>
          </a:xfrm>
        </p:spPr>
        <p:txBody>
          <a:bodyPr>
            <a:noAutofit/>
          </a:bodyPr>
          <a:lstStyle/>
          <a:p>
            <a:pPr lvl="0"/>
            <a:r>
              <a:rPr lang="en-US" sz="4000" dirty="0"/>
              <a:t>Cancer cells often produce enzymes that help them invade </a:t>
            </a:r>
            <a:r>
              <a:rPr lang="en-US" sz="4000" dirty="0" err="1"/>
              <a:t>neighbouring</a:t>
            </a:r>
            <a:r>
              <a:rPr lang="en-US" sz="4000" dirty="0"/>
              <a:t> tissues. These enzymes digest the barriers to migrate and spread the </a:t>
            </a:r>
            <a:r>
              <a:rPr lang="en-US" sz="4000" dirty="0" err="1"/>
              <a:t>tumour</a:t>
            </a:r>
            <a:r>
              <a:rPr lang="en-US" sz="4000" dirty="0"/>
              <a:t> cells. </a:t>
            </a:r>
          </a:p>
          <a:p>
            <a:pPr lvl="0"/>
            <a:r>
              <a:rPr lang="en-US" sz="4000" dirty="0"/>
              <a:t>The mobility of surface proteins increases in the transformed cells, thus permitting easier agglutination to </a:t>
            </a:r>
            <a:r>
              <a:rPr lang="en-US" sz="4000" dirty="0" err="1"/>
              <a:t>tumour</a:t>
            </a:r>
            <a:r>
              <a:rPr lang="en-US" sz="4000" dirty="0"/>
              <a:t> cells by </a:t>
            </a:r>
            <a:r>
              <a:rPr lang="en-US" sz="4000" dirty="0" err="1"/>
              <a:t>lectins</a:t>
            </a:r>
            <a:r>
              <a:rPr lang="en-US" sz="4000" dirty="0"/>
              <a:t>. </a:t>
            </a:r>
          </a:p>
          <a:p>
            <a:r>
              <a:rPr lang="en-US" sz="4000" dirty="0"/>
              <a:t>Plasma membranes of most transformed cells contain antigens which are absent in normal cells. </a:t>
            </a:r>
          </a:p>
        </p:txBody>
      </p:sp>
    </p:spTree>
    <p:extLst>
      <p:ext uri="{BB962C8B-B14F-4D97-AF65-F5344CB8AC3E}">
        <p14:creationId xmlns:p14="http://schemas.microsoft.com/office/powerpoint/2010/main" val="203663240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129"/>
            <a:ext cx="10515600" cy="820271"/>
          </a:xfrm>
        </p:spPr>
        <p:txBody>
          <a:bodyPr>
            <a:normAutofit/>
          </a:bodyPr>
          <a:lstStyle/>
          <a:p>
            <a:pPr algn="ctr"/>
            <a:r>
              <a:rPr lang="en-US" b="1" dirty="0" smtClean="0"/>
              <a:t>8. Metastasis</a:t>
            </a:r>
            <a:endParaRPr lang="en-US" dirty="0"/>
          </a:p>
        </p:txBody>
      </p:sp>
      <p:sp>
        <p:nvSpPr>
          <p:cNvPr id="3" name="Content Placeholder 2"/>
          <p:cNvSpPr>
            <a:spLocks noGrp="1"/>
          </p:cNvSpPr>
          <p:nvPr>
            <p:ph idx="1"/>
          </p:nvPr>
        </p:nvSpPr>
        <p:spPr>
          <a:xfrm>
            <a:off x="838200" y="1075765"/>
            <a:ext cx="10515600" cy="5101198"/>
          </a:xfrm>
        </p:spPr>
        <p:txBody>
          <a:bodyPr>
            <a:noAutofit/>
          </a:bodyPr>
          <a:lstStyle/>
          <a:p>
            <a:r>
              <a:rPr lang="en-US" sz="4000" dirty="0" smtClean="0"/>
              <a:t>Metastasis </a:t>
            </a:r>
            <a:r>
              <a:rPr lang="en-US" sz="4000" dirty="0"/>
              <a:t>is one of the important characteristics of cancer cells, i.e., they have the capacity to invade other organs. A cancerous </a:t>
            </a:r>
            <a:r>
              <a:rPr lang="en-US" sz="4000" dirty="0" err="1"/>
              <a:t>tumour</a:t>
            </a:r>
            <a:r>
              <a:rPr lang="en-US" sz="4000" dirty="0"/>
              <a:t> may shed cells into blood and lymphatic vessels and are dispersed to distant sites where they form secondary </a:t>
            </a:r>
            <a:r>
              <a:rPr lang="en-US" sz="4000" dirty="0" err="1"/>
              <a:t>tumours</a:t>
            </a:r>
            <a:r>
              <a:rPr lang="en-US" sz="4000" dirty="0"/>
              <a:t>. Due to this property, it is impossible to remove them </a:t>
            </a:r>
            <a:r>
              <a:rPr lang="en-US" sz="4000" dirty="0" smtClean="0"/>
              <a:t>surgically.</a:t>
            </a:r>
            <a:endParaRPr lang="en-US" sz="4000" dirty="0"/>
          </a:p>
        </p:txBody>
      </p:sp>
    </p:spTree>
    <p:extLst>
      <p:ext uri="{BB962C8B-B14F-4D97-AF65-F5344CB8AC3E}">
        <p14:creationId xmlns:p14="http://schemas.microsoft.com/office/powerpoint/2010/main" val="282185086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259"/>
            <a:ext cx="10515600" cy="806823"/>
          </a:xfrm>
        </p:spPr>
        <p:txBody>
          <a:bodyPr>
            <a:noAutofit/>
          </a:bodyPr>
          <a:lstStyle/>
          <a:p>
            <a:pPr algn="ctr"/>
            <a:r>
              <a:rPr lang="en-US" b="1" dirty="0" smtClean="0"/>
              <a:t/>
            </a:r>
            <a:br>
              <a:rPr lang="en-US" b="1" dirty="0" smtClean="0"/>
            </a:br>
            <a:r>
              <a:rPr lang="en-US" b="1" dirty="0" smtClean="0"/>
              <a:t>Genes </a:t>
            </a:r>
            <a:r>
              <a:rPr lang="en-US" b="1" dirty="0"/>
              <a:t>and Cancer </a:t>
            </a:r>
            <a:br>
              <a:rPr lang="en-US" b="1" dirty="0"/>
            </a:br>
            <a:endParaRPr lang="en-US" b="1" dirty="0"/>
          </a:p>
        </p:txBody>
      </p:sp>
      <p:sp>
        <p:nvSpPr>
          <p:cNvPr id="3" name="Content Placeholder 2"/>
          <p:cNvSpPr>
            <a:spLocks noGrp="1"/>
          </p:cNvSpPr>
          <p:nvPr>
            <p:ph idx="1"/>
          </p:nvPr>
        </p:nvSpPr>
        <p:spPr>
          <a:xfrm>
            <a:off x="838200" y="995082"/>
            <a:ext cx="10515600" cy="5526742"/>
          </a:xfrm>
        </p:spPr>
        <p:txBody>
          <a:bodyPr>
            <a:normAutofit/>
          </a:bodyPr>
          <a:lstStyle/>
          <a:p>
            <a:pPr lvl="0"/>
            <a:r>
              <a:rPr lang="en-US" sz="4000" dirty="0" smtClean="0"/>
              <a:t>Cell </a:t>
            </a:r>
            <a:r>
              <a:rPr lang="en-US" sz="4000" dirty="0"/>
              <a:t>division is a normal phenomenon of living organisms, which is dependent on the tightly controlled sequence of events. </a:t>
            </a:r>
          </a:p>
          <a:p>
            <a:pPr lvl="0"/>
            <a:r>
              <a:rPr lang="en-US" sz="4000" dirty="0"/>
              <a:t>These events are based on the proper levels of transcription and translation of certain genes. </a:t>
            </a:r>
          </a:p>
          <a:p>
            <a:pPr lvl="0"/>
            <a:r>
              <a:rPr lang="en-US" sz="4000" dirty="0"/>
              <a:t>Any shortage of disturbance in these processes results in unregulated growth that may lead to cancer. </a:t>
            </a:r>
          </a:p>
          <a:p>
            <a:endParaRPr lang="en-US" sz="4000" dirty="0"/>
          </a:p>
        </p:txBody>
      </p:sp>
    </p:spTree>
    <p:extLst>
      <p:ext uri="{BB962C8B-B14F-4D97-AF65-F5344CB8AC3E}">
        <p14:creationId xmlns:p14="http://schemas.microsoft.com/office/powerpoint/2010/main" val="28503192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494"/>
            <a:ext cx="10515600" cy="847166"/>
          </a:xfrm>
        </p:spPr>
        <p:txBody>
          <a:bodyPr>
            <a:noAutofit/>
          </a:bodyPr>
          <a:lstStyle/>
          <a:p>
            <a:pPr algn="ctr"/>
            <a:r>
              <a:rPr lang="en-US" b="1" dirty="0"/>
              <a:t/>
            </a:r>
            <a:br>
              <a:rPr lang="en-US" b="1" dirty="0"/>
            </a:br>
            <a:r>
              <a:rPr lang="en-US" b="1" dirty="0"/>
              <a:t>Genes and Cancer </a:t>
            </a:r>
            <a:br>
              <a:rPr lang="en-US" b="1" dirty="0"/>
            </a:br>
            <a:endParaRPr lang="en-US" dirty="0"/>
          </a:p>
        </p:txBody>
      </p:sp>
      <p:sp>
        <p:nvSpPr>
          <p:cNvPr id="3" name="Content Placeholder 2"/>
          <p:cNvSpPr>
            <a:spLocks noGrp="1"/>
          </p:cNvSpPr>
          <p:nvPr>
            <p:ph idx="1"/>
          </p:nvPr>
        </p:nvSpPr>
        <p:spPr>
          <a:xfrm>
            <a:off x="838200" y="1277471"/>
            <a:ext cx="10515600" cy="5392270"/>
          </a:xfrm>
        </p:spPr>
        <p:txBody>
          <a:bodyPr>
            <a:normAutofit/>
          </a:bodyPr>
          <a:lstStyle/>
          <a:p>
            <a:pPr lvl="0"/>
            <a:r>
              <a:rPr lang="en-US" sz="4000" dirty="0"/>
              <a:t>The genetic basis of cancer was first discovered through the work with retroviruses that were shown to cause cancer in monkeys, chicken, mice, etc. </a:t>
            </a:r>
          </a:p>
          <a:p>
            <a:pPr lvl="0"/>
            <a:r>
              <a:rPr lang="en-US" sz="4000" dirty="0"/>
              <a:t>The viral genes identified, could be directly linked to the cause of cancer in experimental animals. </a:t>
            </a:r>
          </a:p>
          <a:p>
            <a:r>
              <a:rPr lang="en-US" sz="4000" dirty="0"/>
              <a:t>The identified genes related to these processes are grouped into two categories</a:t>
            </a:r>
          </a:p>
        </p:txBody>
      </p:sp>
    </p:spTree>
    <p:extLst>
      <p:ext uri="{BB962C8B-B14F-4D97-AF65-F5344CB8AC3E}">
        <p14:creationId xmlns:p14="http://schemas.microsoft.com/office/powerpoint/2010/main" val="271406885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1963270"/>
          </a:xfrm>
        </p:spPr>
        <p:txBody>
          <a:bodyPr>
            <a:normAutofit/>
          </a:bodyPr>
          <a:lstStyle/>
          <a:p>
            <a:r>
              <a:rPr lang="en-US" b="1" dirty="0" smtClean="0"/>
              <a:t>Genes </a:t>
            </a:r>
            <a:r>
              <a:rPr lang="en-US" b="1" dirty="0"/>
              <a:t>whose Protein Products Stimulate or Enhance the Division and </a:t>
            </a:r>
            <a:r>
              <a:rPr lang="en-US" b="1" dirty="0" smtClean="0"/>
              <a:t>Viability </a:t>
            </a:r>
            <a:r>
              <a:rPr lang="en-US" b="1" dirty="0"/>
              <a:t>of Cells</a:t>
            </a:r>
            <a:endParaRPr lang="en-US" dirty="0"/>
          </a:p>
        </p:txBody>
      </p:sp>
      <p:sp>
        <p:nvSpPr>
          <p:cNvPr id="3" name="Content Placeholder 2"/>
          <p:cNvSpPr>
            <a:spLocks noGrp="1"/>
          </p:cNvSpPr>
          <p:nvPr>
            <p:ph idx="1"/>
          </p:nvPr>
        </p:nvSpPr>
        <p:spPr>
          <a:xfrm>
            <a:off x="838200" y="2111187"/>
            <a:ext cx="10515600" cy="4612342"/>
          </a:xfrm>
        </p:spPr>
        <p:txBody>
          <a:bodyPr>
            <a:noAutofit/>
          </a:bodyPr>
          <a:lstStyle/>
          <a:p>
            <a:pPr lvl="0"/>
            <a:r>
              <a:rPr lang="en-US" sz="4000" dirty="0"/>
              <a:t>It also includes genes that cause </a:t>
            </a:r>
            <a:r>
              <a:rPr lang="en-US" sz="4000" dirty="0" err="1"/>
              <a:t>tumour</a:t>
            </a:r>
            <a:r>
              <a:rPr lang="en-US" sz="4000" dirty="0"/>
              <a:t> growth by inhibiting cell death. The normal version of these genes is called proto-oncogenes and their mutated or otherwise damaged genes are called oncogenes. Oncogenes lead to cancer. </a:t>
            </a:r>
          </a:p>
          <a:p>
            <a:r>
              <a:rPr lang="en-US" sz="4000" dirty="0" err="1"/>
              <a:t>Michaeal</a:t>
            </a:r>
            <a:r>
              <a:rPr lang="en-US" sz="4000" dirty="0"/>
              <a:t> Bishop and Harold Varmus are pioneers of research on oncogenes and were awarded the Nobel Prize in 1989</a:t>
            </a:r>
          </a:p>
        </p:txBody>
      </p:sp>
    </p:spTree>
    <p:extLst>
      <p:ext uri="{BB962C8B-B14F-4D97-AF65-F5344CB8AC3E}">
        <p14:creationId xmlns:p14="http://schemas.microsoft.com/office/powerpoint/2010/main" val="27223203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153"/>
            <a:ext cx="10515600" cy="1331259"/>
          </a:xfrm>
        </p:spPr>
        <p:txBody>
          <a:bodyPr>
            <a:normAutofit/>
          </a:bodyPr>
          <a:lstStyle/>
          <a:p>
            <a:r>
              <a:rPr lang="en-US" b="1" dirty="0"/>
              <a:t>Genes whose Protein Products Stimulate or Enhance the Division and Viability of </a:t>
            </a:r>
            <a:r>
              <a:rPr lang="en-US" b="1" dirty="0" smtClean="0"/>
              <a:t>Cells </a:t>
            </a:r>
            <a:endParaRPr lang="en-US" dirty="0"/>
          </a:p>
        </p:txBody>
      </p:sp>
      <p:sp>
        <p:nvSpPr>
          <p:cNvPr id="3" name="Content Placeholder 2"/>
          <p:cNvSpPr>
            <a:spLocks noGrp="1"/>
          </p:cNvSpPr>
          <p:nvPr>
            <p:ph idx="1"/>
          </p:nvPr>
        </p:nvSpPr>
        <p:spPr>
          <a:xfrm>
            <a:off x="838200" y="1667435"/>
            <a:ext cx="10515600" cy="4509528"/>
          </a:xfrm>
        </p:spPr>
        <p:txBody>
          <a:bodyPr>
            <a:normAutofit/>
          </a:bodyPr>
          <a:lstStyle/>
          <a:p>
            <a:pPr lvl="0"/>
            <a:r>
              <a:rPr lang="en-US" sz="4000" dirty="0"/>
              <a:t>More than 100 oncogenes have been identified and associated with some form of cancer. However, what activates these genes is not known. External factors, radiation, certain chemicals, etc., may cause activation of oncogenes and result in some types of cancer. </a:t>
            </a:r>
          </a:p>
          <a:p>
            <a:r>
              <a:rPr lang="en-US" sz="4000" dirty="0"/>
              <a:t>These genes stimulate cell growth</a:t>
            </a:r>
          </a:p>
        </p:txBody>
      </p:sp>
    </p:spTree>
    <p:extLst>
      <p:ext uri="{BB962C8B-B14F-4D97-AF65-F5344CB8AC3E}">
        <p14:creationId xmlns:p14="http://schemas.microsoft.com/office/powerpoint/2010/main" val="19734572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2047"/>
            <a:ext cx="10515600" cy="1448641"/>
          </a:xfrm>
        </p:spPr>
        <p:txBody>
          <a:bodyPr/>
          <a:lstStyle/>
          <a:p>
            <a:r>
              <a:rPr lang="en-US" b="1" dirty="0"/>
              <a:t>Genes whose Protein Products Stimulate or Enhance the Division and Viability of Cells </a:t>
            </a:r>
            <a:endParaRPr lang="en-US" dirty="0"/>
          </a:p>
        </p:txBody>
      </p:sp>
      <p:sp>
        <p:nvSpPr>
          <p:cNvPr id="3" name="Content Placeholder 2"/>
          <p:cNvSpPr>
            <a:spLocks noGrp="1"/>
          </p:cNvSpPr>
          <p:nvPr>
            <p:ph idx="1"/>
          </p:nvPr>
        </p:nvSpPr>
        <p:spPr/>
        <p:txBody>
          <a:bodyPr>
            <a:normAutofit/>
          </a:bodyPr>
          <a:lstStyle/>
          <a:p>
            <a:pPr lvl="0"/>
            <a:r>
              <a:rPr lang="en-US" sz="4000" dirty="0"/>
              <a:t>Examples: </a:t>
            </a:r>
          </a:p>
          <a:p>
            <a:r>
              <a:rPr lang="en-US" sz="4000" dirty="0"/>
              <a:t>I. MYC gene, which can result in lymphomas. </a:t>
            </a:r>
          </a:p>
          <a:p>
            <a:pPr lvl="0"/>
            <a:r>
              <a:rPr lang="en-US" sz="4000" dirty="0"/>
              <a:t>RAF genes, which can result in stomach cancer. </a:t>
            </a:r>
          </a:p>
          <a:p>
            <a:r>
              <a:rPr lang="en-US" sz="4000" dirty="0"/>
              <a:t>TRK genes, which can result in thyroid cancer</a:t>
            </a:r>
          </a:p>
        </p:txBody>
      </p:sp>
    </p:spTree>
    <p:extLst>
      <p:ext uri="{BB962C8B-B14F-4D97-AF65-F5344CB8AC3E}">
        <p14:creationId xmlns:p14="http://schemas.microsoft.com/office/powerpoint/2010/main" val="301747721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Activation of Proto-Oncogenes</a:t>
            </a:r>
            <a:endParaRPr lang="en-US" dirty="0"/>
          </a:p>
        </p:txBody>
      </p:sp>
      <p:sp>
        <p:nvSpPr>
          <p:cNvPr id="3" name="Content Placeholder 2"/>
          <p:cNvSpPr>
            <a:spLocks noGrp="1"/>
          </p:cNvSpPr>
          <p:nvPr>
            <p:ph idx="1"/>
          </p:nvPr>
        </p:nvSpPr>
        <p:spPr/>
        <p:txBody>
          <a:bodyPr>
            <a:normAutofit/>
          </a:bodyPr>
          <a:lstStyle/>
          <a:p>
            <a:endParaRPr lang="en-US" sz="4000" dirty="0"/>
          </a:p>
          <a:p>
            <a:pPr lvl="0"/>
            <a:r>
              <a:rPr lang="en-US" sz="4000" dirty="0"/>
              <a:t>The first oncogene was discovered in 1970 and was named </a:t>
            </a:r>
            <a:r>
              <a:rPr lang="en-US" sz="4000" dirty="0" err="1"/>
              <a:t>Src</a:t>
            </a:r>
            <a:r>
              <a:rPr lang="en-US" sz="4000" dirty="0"/>
              <a:t>. </a:t>
            </a:r>
            <a:r>
              <a:rPr lang="en-US" sz="4000" b="1" dirty="0"/>
              <a:t>It </a:t>
            </a:r>
            <a:r>
              <a:rPr lang="en-US" sz="4000" dirty="0"/>
              <a:t>was discovered in chicken retrovirus. </a:t>
            </a:r>
          </a:p>
          <a:p>
            <a:r>
              <a:rPr lang="en-US" sz="4000" dirty="0"/>
              <a:t>Proto-oncogenes are activated in the following three ways</a:t>
            </a:r>
          </a:p>
        </p:txBody>
      </p:sp>
    </p:spTree>
    <p:extLst>
      <p:ext uri="{BB962C8B-B14F-4D97-AF65-F5344CB8AC3E}">
        <p14:creationId xmlns:p14="http://schemas.microsoft.com/office/powerpoint/2010/main" val="231743176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lgn="ctr"/>
            <a:r>
              <a:rPr lang="en-US" b="1" dirty="0" smtClean="0"/>
              <a:t>(a) Gene Mutation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lvl="0"/>
            <a:r>
              <a:rPr lang="en-US" sz="4000" dirty="0" smtClean="0"/>
              <a:t>Gene </a:t>
            </a:r>
            <a:r>
              <a:rPr lang="en-US" sz="4000" dirty="0"/>
              <a:t>mutation can change proto-oncogenes to oncogenes. </a:t>
            </a:r>
          </a:p>
          <a:p>
            <a:r>
              <a:rPr lang="en-US" sz="4000" dirty="0"/>
              <a:t>Such mutations can occur during normal cell division and can be caused by environmental factors such as chemicals, ultraviolet rays from the sun, X-rays and sometimes by DNA repair mechanism</a:t>
            </a:r>
          </a:p>
        </p:txBody>
      </p:sp>
    </p:spTree>
    <p:extLst>
      <p:ext uri="{BB962C8B-B14F-4D97-AF65-F5344CB8AC3E}">
        <p14:creationId xmlns:p14="http://schemas.microsoft.com/office/powerpoint/2010/main" val="396560802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Gene Mutation cont’d </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lvl="0"/>
            <a:r>
              <a:rPr lang="en-US" sz="4400" dirty="0"/>
              <a:t>For example, specific mutations in </a:t>
            </a:r>
            <a:r>
              <a:rPr lang="en-US" sz="4400" i="1" dirty="0" err="1"/>
              <a:t>ras</a:t>
            </a:r>
            <a:r>
              <a:rPr lang="en-US" sz="4400" i="1" dirty="0"/>
              <a:t> </a:t>
            </a:r>
            <a:r>
              <a:rPr lang="en-US" sz="4400" dirty="0"/>
              <a:t>genes are frequently found in cells from varieties of </a:t>
            </a:r>
            <a:r>
              <a:rPr lang="en-US" sz="4400" dirty="0" err="1"/>
              <a:t>tumours</a:t>
            </a:r>
            <a:r>
              <a:rPr lang="en-US" sz="4400" dirty="0"/>
              <a:t> like colon, lung, breast and bladder cancers. </a:t>
            </a:r>
          </a:p>
          <a:p>
            <a:pPr lvl="0"/>
            <a:r>
              <a:rPr lang="en-US" sz="4400" dirty="0"/>
              <a:t>Another example of proto-oncogenes by gene mutation is RET. </a:t>
            </a:r>
          </a:p>
          <a:p>
            <a:endParaRPr lang="en-US" sz="4400" dirty="0"/>
          </a:p>
        </p:txBody>
      </p:sp>
    </p:spTree>
    <p:extLst>
      <p:ext uri="{BB962C8B-B14F-4D97-AF65-F5344CB8AC3E}">
        <p14:creationId xmlns:p14="http://schemas.microsoft.com/office/powerpoint/2010/main" val="173811034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259"/>
            <a:ext cx="10515600" cy="1502429"/>
          </a:xfrm>
        </p:spPr>
        <p:txBody>
          <a:bodyPr>
            <a:normAutofit fontScale="90000"/>
          </a:bodyPr>
          <a:lstStyle/>
          <a:p>
            <a:pPr algn="ctr"/>
            <a:r>
              <a:rPr lang="en-US" b="1" dirty="0" smtClean="0"/>
              <a:t/>
            </a:r>
            <a:br>
              <a:rPr lang="en-US" b="1" dirty="0" smtClean="0"/>
            </a:br>
            <a:r>
              <a:rPr lang="en-US" b="1" dirty="0" smtClean="0"/>
              <a:t>(</a:t>
            </a:r>
            <a:r>
              <a:rPr lang="en-US" b="1" dirty="0"/>
              <a:t>b) Increase in Protein Concentration Leading to Activation of Proto-Oncogenes </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lvl="0"/>
            <a:r>
              <a:rPr lang="en-US" sz="4000" dirty="0" smtClean="0"/>
              <a:t>An </a:t>
            </a:r>
            <a:r>
              <a:rPr lang="en-US" sz="4000" dirty="0"/>
              <a:t>increase in protein concentration may be caused by: </a:t>
            </a:r>
          </a:p>
          <a:p>
            <a:r>
              <a:rPr lang="en-US" sz="4000" dirty="0"/>
              <a:t>I. Gene duplication </a:t>
            </a:r>
          </a:p>
          <a:p>
            <a:pPr lvl="0"/>
            <a:r>
              <a:rPr lang="en-US" sz="4000" dirty="0"/>
              <a:t>An increased protein stability </a:t>
            </a:r>
          </a:p>
          <a:p>
            <a:pPr lvl="0"/>
            <a:r>
              <a:rPr lang="en-US" sz="4000" dirty="0"/>
              <a:t> An increase in protein expression </a:t>
            </a:r>
          </a:p>
          <a:p>
            <a:endParaRPr lang="en-US" sz="4000" dirty="0"/>
          </a:p>
        </p:txBody>
      </p:sp>
    </p:spTree>
    <p:extLst>
      <p:ext uri="{BB962C8B-B14F-4D97-AF65-F5344CB8AC3E}">
        <p14:creationId xmlns:p14="http://schemas.microsoft.com/office/powerpoint/2010/main" val="30704175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94734"/>
          </a:xfrm>
        </p:spPr>
        <p:txBody>
          <a:bodyPr>
            <a:noAutofit/>
          </a:bodyPr>
          <a:lstStyle/>
          <a:p>
            <a:pPr algn="ctr"/>
            <a:r>
              <a:rPr lang="en-US" b="1" dirty="0" smtClean="0"/>
              <a:t/>
            </a:r>
            <a:br>
              <a:rPr lang="en-US" b="1" dirty="0" smtClean="0"/>
            </a:br>
            <a:r>
              <a:rPr lang="en-US" b="1" dirty="0" smtClean="0"/>
              <a:t>(</a:t>
            </a:r>
            <a:r>
              <a:rPr lang="en-US" b="1" dirty="0"/>
              <a:t>c)</a:t>
            </a:r>
            <a:r>
              <a:rPr lang="en-US" dirty="0"/>
              <a:t> </a:t>
            </a:r>
            <a:r>
              <a:rPr lang="en-US" b="1" dirty="0"/>
              <a:t>Translocation or Amplification </a:t>
            </a:r>
            <a:r>
              <a:rPr lang="en-US" b="1" dirty="0" smtClean="0"/>
              <a:t> </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lvl="0"/>
            <a:r>
              <a:rPr lang="en-US" sz="4000" dirty="0" smtClean="0"/>
              <a:t>Oncogenes </a:t>
            </a:r>
            <a:r>
              <a:rPr lang="en-US" sz="4000" dirty="0"/>
              <a:t>can be activated by structural changes called translocation or amplification, which occurs in chromosomes. </a:t>
            </a:r>
          </a:p>
          <a:p>
            <a:pPr lvl="0"/>
            <a:r>
              <a:rPr lang="en-US" sz="4000" dirty="0"/>
              <a:t>During chromosome translocation, a proto-oncogene on one chromosome may move to another </a:t>
            </a:r>
            <a:r>
              <a:rPr lang="en-US" sz="4000" dirty="0" smtClean="0"/>
              <a:t>chromosome</a:t>
            </a:r>
            <a:r>
              <a:rPr lang="en-US" sz="4000" dirty="0"/>
              <a:t>, leading to structural alteration of genes. </a:t>
            </a:r>
          </a:p>
          <a:p>
            <a:endParaRPr lang="en-US" sz="4000" dirty="0"/>
          </a:p>
        </p:txBody>
      </p:sp>
    </p:spTree>
    <p:extLst>
      <p:ext uri="{BB962C8B-B14F-4D97-AF65-F5344CB8AC3E}">
        <p14:creationId xmlns:p14="http://schemas.microsoft.com/office/powerpoint/2010/main" val="66514652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
            </a:r>
            <a:br>
              <a:rPr lang="en-US" b="1" dirty="0"/>
            </a:br>
            <a:r>
              <a:rPr lang="en-US" b="1" dirty="0"/>
              <a:t>(c)</a:t>
            </a:r>
            <a:r>
              <a:rPr lang="en-US" dirty="0"/>
              <a:t> </a:t>
            </a:r>
            <a:r>
              <a:rPr lang="en-US" b="1" dirty="0"/>
              <a:t>Translocation or Amplification </a:t>
            </a:r>
            <a:r>
              <a:rPr lang="en-US" b="1" dirty="0" smtClean="0"/>
              <a:t> cont’d</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sz="4000" dirty="0"/>
              <a:t>For example, translocation between chromosome 9 and 22, which is found in Chronic myeloid </a:t>
            </a:r>
            <a:r>
              <a:rPr lang="en-US" sz="4000" dirty="0" err="1"/>
              <a:t>lekumemia</a:t>
            </a:r>
            <a:r>
              <a:rPr lang="en-US" sz="4000" dirty="0"/>
              <a:t> (CML), a proto-oncogene on chromosome 9 called c-</a:t>
            </a:r>
            <a:r>
              <a:rPr lang="en-US" sz="4000" dirty="0" err="1"/>
              <a:t>Abl</a:t>
            </a:r>
            <a:r>
              <a:rPr lang="en-US" sz="4000" dirty="0"/>
              <a:t>, is moved to chromosome 22, where it fuses with another gene called </a:t>
            </a:r>
            <a:r>
              <a:rPr lang="en-US" sz="4000" dirty="0" err="1"/>
              <a:t>Bcr</a:t>
            </a:r>
            <a:r>
              <a:rPr lang="en-US" sz="4000" dirty="0"/>
              <a:t>. </a:t>
            </a:r>
          </a:p>
        </p:txBody>
      </p:sp>
    </p:spTree>
    <p:extLst>
      <p:ext uri="{BB962C8B-B14F-4D97-AF65-F5344CB8AC3E}">
        <p14:creationId xmlns:p14="http://schemas.microsoft.com/office/powerpoint/2010/main" val="368009749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39240"/>
          </a:xfrm>
        </p:spPr>
        <p:txBody>
          <a:bodyPr>
            <a:normAutofit fontScale="90000"/>
          </a:bodyPr>
          <a:lstStyle/>
          <a:p>
            <a:pPr algn="ctr"/>
            <a:r>
              <a:rPr lang="en-US" b="1" dirty="0"/>
              <a:t/>
            </a:r>
            <a:br>
              <a:rPr lang="en-US" b="1" dirty="0"/>
            </a:br>
            <a:r>
              <a:rPr lang="en-US" b="1" dirty="0"/>
              <a:t>(c)</a:t>
            </a:r>
            <a:r>
              <a:rPr lang="en-US" dirty="0"/>
              <a:t> </a:t>
            </a:r>
            <a:r>
              <a:rPr lang="en-US" b="1" dirty="0"/>
              <a:t>Translocation or Amplification  cont’d</a:t>
            </a:r>
            <a:r>
              <a:rPr lang="en-US" dirty="0"/>
              <a:t/>
            </a:r>
            <a:br>
              <a:rPr lang="en-US" dirty="0"/>
            </a:br>
            <a:endParaRPr lang="en-US" dirty="0"/>
          </a:p>
        </p:txBody>
      </p:sp>
      <p:sp>
        <p:nvSpPr>
          <p:cNvPr id="3" name="Content Placeholder 2"/>
          <p:cNvSpPr>
            <a:spLocks noGrp="1"/>
          </p:cNvSpPr>
          <p:nvPr>
            <p:ph idx="1"/>
          </p:nvPr>
        </p:nvSpPr>
        <p:spPr>
          <a:xfrm>
            <a:off x="838200" y="1304366"/>
            <a:ext cx="10515600" cy="4872597"/>
          </a:xfrm>
        </p:spPr>
        <p:txBody>
          <a:bodyPr>
            <a:noAutofit/>
          </a:bodyPr>
          <a:lstStyle/>
          <a:p>
            <a:r>
              <a:rPr lang="en-US" sz="4000" dirty="0"/>
              <a:t>Oncogenes can be activated by transposition to an active chromatin domain. In </a:t>
            </a:r>
            <a:r>
              <a:rPr lang="en-US" sz="4000" dirty="0" err="1"/>
              <a:t>Burkitt's</a:t>
            </a:r>
            <a:r>
              <a:rPr lang="en-US" sz="4000" dirty="0"/>
              <a:t> lymphoma (a childhood </a:t>
            </a:r>
            <a:r>
              <a:rPr lang="en-US" sz="4000" dirty="0" err="1"/>
              <a:t>tumour</a:t>
            </a:r>
            <a:r>
              <a:rPr lang="en-US" sz="4000" dirty="0"/>
              <a:t>, common in malarial regions of Central Africa and </a:t>
            </a:r>
            <a:r>
              <a:rPr lang="en-US" sz="4000" dirty="0" err="1"/>
              <a:t>Pappua</a:t>
            </a:r>
            <a:r>
              <a:rPr lang="en-US" sz="4000" dirty="0"/>
              <a:t> New Guinea), a characteristic translocation is seen between chromosomes 8 and 14. This translocation puts the MYC oncogene (located on chromosome 8) close to an immunoglobulin gene on chromosome 14</a:t>
            </a:r>
          </a:p>
        </p:txBody>
      </p:sp>
    </p:spTree>
    <p:extLst>
      <p:ext uri="{BB962C8B-B14F-4D97-AF65-F5344CB8AC3E}">
        <p14:creationId xmlns:p14="http://schemas.microsoft.com/office/powerpoint/2010/main" val="209102121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dirty="0"/>
              <a:t/>
            </a:r>
            <a:br>
              <a:rPr lang="en-US" b="1" dirty="0"/>
            </a:br>
            <a:r>
              <a:rPr lang="en-US" b="1" dirty="0"/>
              <a:t>(c)</a:t>
            </a:r>
            <a:r>
              <a:rPr lang="en-US" dirty="0"/>
              <a:t> </a:t>
            </a:r>
            <a:r>
              <a:rPr lang="en-US" b="1" dirty="0"/>
              <a:t>Translocation or Amplification  cont’d</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sz="4000" dirty="0"/>
              <a:t>Proto-oncogenes are also activated by gene amplification. For example, breast cancer amplify ERBB2 and sometimes MYC</a:t>
            </a:r>
          </a:p>
        </p:txBody>
      </p:sp>
    </p:spTree>
    <p:extLst>
      <p:ext uri="{BB962C8B-B14F-4D97-AF65-F5344CB8AC3E}">
        <p14:creationId xmlns:p14="http://schemas.microsoft.com/office/powerpoint/2010/main" val="223974787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9282"/>
            <a:ext cx="10515600" cy="1183342"/>
          </a:xfrm>
        </p:spPr>
        <p:txBody>
          <a:bodyPr>
            <a:noAutofit/>
          </a:bodyPr>
          <a:lstStyle/>
          <a:p>
            <a:pPr algn="ctr"/>
            <a:r>
              <a:rPr lang="en-US" b="1" dirty="0" smtClean="0"/>
              <a:t/>
            </a:r>
            <a:br>
              <a:rPr lang="en-US" b="1" dirty="0" smtClean="0"/>
            </a:br>
            <a:r>
              <a:rPr lang="en-US" b="1" dirty="0" smtClean="0"/>
              <a:t>Genes </a:t>
            </a:r>
            <a:r>
              <a:rPr lang="en-US" b="1" dirty="0"/>
              <a:t>whose Protein Products Directly or Indirectly Prevent Cell Division </a:t>
            </a:r>
            <a:r>
              <a:rPr lang="en-US" dirty="0"/>
              <a:t/>
            </a:r>
            <a:br>
              <a:rPr lang="en-US" dirty="0"/>
            </a:br>
            <a:endParaRPr lang="en-US" dirty="0"/>
          </a:p>
        </p:txBody>
      </p:sp>
      <p:sp>
        <p:nvSpPr>
          <p:cNvPr id="3" name="Content Placeholder 2"/>
          <p:cNvSpPr>
            <a:spLocks noGrp="1"/>
          </p:cNvSpPr>
          <p:nvPr>
            <p:ph idx="1"/>
          </p:nvPr>
        </p:nvSpPr>
        <p:spPr>
          <a:xfrm>
            <a:off x="838200" y="1600200"/>
            <a:ext cx="10515600" cy="4894729"/>
          </a:xfrm>
        </p:spPr>
        <p:txBody>
          <a:bodyPr>
            <a:normAutofit/>
          </a:bodyPr>
          <a:lstStyle/>
          <a:p>
            <a:pPr lvl="0"/>
            <a:r>
              <a:rPr lang="en-US" sz="4000" dirty="0" smtClean="0"/>
              <a:t>They </a:t>
            </a:r>
            <a:r>
              <a:rPr lang="en-US" sz="4000" dirty="0"/>
              <a:t>are called </a:t>
            </a:r>
            <a:r>
              <a:rPr lang="en-US" sz="4000" dirty="0" err="1"/>
              <a:t>tumour</a:t>
            </a:r>
            <a:r>
              <a:rPr lang="en-US" sz="4000" dirty="0"/>
              <a:t>-suppressor genes. </a:t>
            </a:r>
          </a:p>
          <a:p>
            <a:pPr lvl="0"/>
            <a:r>
              <a:rPr lang="en-US" sz="4000" dirty="0" err="1"/>
              <a:t>Tumour</a:t>
            </a:r>
            <a:r>
              <a:rPr lang="en-US" sz="4000" dirty="0"/>
              <a:t>-suppressor genes produce products that normally block the cell cycle, which would normally prevent the cancer. </a:t>
            </a:r>
          </a:p>
          <a:p>
            <a:pPr lvl="0"/>
            <a:r>
              <a:rPr lang="en-US" sz="4000" dirty="0"/>
              <a:t>When this gene mutates, it causes a loss or reduction in its function, leading to cancer. </a:t>
            </a:r>
          </a:p>
          <a:p>
            <a:endParaRPr lang="en-US" sz="4000" dirty="0"/>
          </a:p>
        </p:txBody>
      </p:sp>
    </p:spTree>
    <p:extLst>
      <p:ext uri="{BB962C8B-B14F-4D97-AF65-F5344CB8AC3E}">
        <p14:creationId xmlns:p14="http://schemas.microsoft.com/office/powerpoint/2010/main" val="162588139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
            </a:r>
            <a:br>
              <a:rPr lang="en-US" b="1" dirty="0"/>
            </a:br>
            <a:r>
              <a:rPr lang="en-US" b="1" dirty="0"/>
              <a:t>Genes whose Protein Products Directly or Indirectly Prevent Cell Division </a:t>
            </a:r>
            <a:r>
              <a:rPr lang="en-US" b="1" dirty="0" smtClean="0"/>
              <a:t>cont’d</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lvl="0"/>
            <a:r>
              <a:rPr lang="en-US" sz="4000" dirty="0"/>
              <a:t>When mutated, the mutant allele behaves as a recessive, i.e., as long as the cell contains one normal allele, </a:t>
            </a:r>
            <a:r>
              <a:rPr lang="en-US" sz="4000" dirty="0" err="1"/>
              <a:t>tumour</a:t>
            </a:r>
            <a:r>
              <a:rPr lang="en-US" sz="4000" dirty="0"/>
              <a:t> suppression continues. </a:t>
            </a:r>
          </a:p>
          <a:p>
            <a:r>
              <a:rPr lang="en-US" sz="4000" dirty="0"/>
              <a:t>Because </a:t>
            </a:r>
            <a:r>
              <a:rPr lang="en-US" sz="4000" dirty="0" err="1"/>
              <a:t>tumour</a:t>
            </a:r>
            <a:r>
              <a:rPr lang="en-US" sz="4000" dirty="0"/>
              <a:t>-suppressor genes are recessive, cells that contain one normal and one mutated gene, i.e., heterozygous, still behaves normal (except X-linked </a:t>
            </a:r>
            <a:r>
              <a:rPr lang="en-US" sz="4000" dirty="0" err="1"/>
              <a:t>tumour</a:t>
            </a:r>
            <a:r>
              <a:rPr lang="en-US" sz="4000" dirty="0"/>
              <a:t> suppressor gene WTX</a:t>
            </a:r>
          </a:p>
        </p:txBody>
      </p:sp>
    </p:spTree>
    <p:extLst>
      <p:ext uri="{BB962C8B-B14F-4D97-AF65-F5344CB8AC3E}">
        <p14:creationId xmlns:p14="http://schemas.microsoft.com/office/powerpoint/2010/main" val="389556278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7193"/>
          </a:xfrm>
        </p:spPr>
        <p:txBody>
          <a:bodyPr/>
          <a:lstStyle/>
          <a:p>
            <a:pPr algn="ctr"/>
            <a:r>
              <a:rPr lang="en-US" b="1" dirty="0" smtClean="0"/>
              <a:t>Cancer Regulation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53989" y="1250576"/>
            <a:ext cx="9359152" cy="5459506"/>
          </a:xfrm>
        </p:spPr>
      </p:pic>
    </p:spTree>
    <p:extLst>
      <p:ext uri="{BB962C8B-B14F-4D97-AF65-F5344CB8AC3E}">
        <p14:creationId xmlns:p14="http://schemas.microsoft.com/office/powerpoint/2010/main" val="394975879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365"/>
            <a:ext cx="10515600" cy="820271"/>
          </a:xfrm>
        </p:spPr>
        <p:txBody>
          <a:bodyPr>
            <a:normAutofit/>
          </a:bodyPr>
          <a:lstStyle/>
          <a:p>
            <a:pPr algn="ctr"/>
            <a:r>
              <a:rPr lang="en-US" b="1" dirty="0"/>
              <a:t>Tumour-suppressor genes</a:t>
            </a:r>
          </a:p>
        </p:txBody>
      </p:sp>
      <p:sp>
        <p:nvSpPr>
          <p:cNvPr id="3" name="Content Placeholder 2"/>
          <p:cNvSpPr>
            <a:spLocks noGrp="1"/>
          </p:cNvSpPr>
          <p:nvPr>
            <p:ph idx="1"/>
          </p:nvPr>
        </p:nvSpPr>
        <p:spPr>
          <a:xfrm>
            <a:off x="838200" y="981636"/>
            <a:ext cx="10515600" cy="5195327"/>
          </a:xfrm>
        </p:spPr>
        <p:txBody>
          <a:bodyPr>
            <a:normAutofit/>
          </a:bodyPr>
          <a:lstStyle/>
          <a:p>
            <a:pPr marL="0" indent="0">
              <a:buNone/>
            </a:pPr>
            <a:r>
              <a:rPr lang="en-US" sz="4000" b="1" dirty="0" smtClean="0"/>
              <a:t>1. RB </a:t>
            </a:r>
            <a:r>
              <a:rPr lang="en-US" sz="4000" b="1" dirty="0"/>
              <a:t>Gene</a:t>
            </a:r>
            <a:r>
              <a:rPr lang="en-US" sz="4000" dirty="0"/>
              <a:t> - It is located on chromosome 13. If RB gene becomes bad, it may result in the development of retinoblastoma, bone, breast, lung, prostrate, bladder and other cancers. </a:t>
            </a:r>
          </a:p>
          <a:p>
            <a:pPr marL="0" indent="0">
              <a:buNone/>
            </a:pPr>
            <a:r>
              <a:rPr lang="en-US" sz="4000" b="1" dirty="0" smtClean="0"/>
              <a:t>2. p53 </a:t>
            </a:r>
            <a:r>
              <a:rPr lang="en-US" sz="4000" b="1" dirty="0"/>
              <a:t>Gene</a:t>
            </a:r>
            <a:r>
              <a:rPr lang="en-US" sz="4000" dirty="0"/>
              <a:t> - p53 is a suppressor gene, located on chromosome </a:t>
            </a:r>
            <a:r>
              <a:rPr lang="en-US" sz="4000" dirty="0" smtClean="0"/>
              <a:t>17.</a:t>
            </a:r>
          </a:p>
          <a:p>
            <a:pPr marL="0" indent="0">
              <a:buNone/>
            </a:pPr>
            <a:r>
              <a:rPr lang="en-US" sz="4000" dirty="0"/>
              <a:t>It can arrest replication of cells with damaged genes until the normal process has taken </a:t>
            </a:r>
            <a:r>
              <a:rPr lang="en-US" sz="4000" dirty="0" smtClean="0"/>
              <a:t>place.</a:t>
            </a:r>
            <a:endParaRPr lang="en-US" sz="4000" dirty="0"/>
          </a:p>
        </p:txBody>
      </p:sp>
    </p:spTree>
    <p:extLst>
      <p:ext uri="{BB962C8B-B14F-4D97-AF65-F5344CB8AC3E}">
        <p14:creationId xmlns:p14="http://schemas.microsoft.com/office/powerpoint/2010/main" val="294034902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153"/>
            <a:ext cx="10515600" cy="1021977"/>
          </a:xfrm>
        </p:spPr>
        <p:txBody>
          <a:bodyPr/>
          <a:lstStyle/>
          <a:p>
            <a:pPr algn="ctr"/>
            <a:r>
              <a:rPr lang="en-US" b="1" dirty="0"/>
              <a:t>Tumour-suppressor </a:t>
            </a:r>
            <a:r>
              <a:rPr lang="en-US" b="1" dirty="0" smtClean="0"/>
              <a:t>genes cont’d</a:t>
            </a:r>
            <a:endParaRPr lang="en-US" dirty="0"/>
          </a:p>
        </p:txBody>
      </p:sp>
      <p:sp>
        <p:nvSpPr>
          <p:cNvPr id="3" name="Content Placeholder 2"/>
          <p:cNvSpPr>
            <a:spLocks noGrp="1"/>
          </p:cNvSpPr>
          <p:nvPr>
            <p:ph idx="1"/>
          </p:nvPr>
        </p:nvSpPr>
        <p:spPr>
          <a:xfrm>
            <a:off x="838200" y="1344706"/>
            <a:ext cx="10515600" cy="4832257"/>
          </a:xfrm>
        </p:spPr>
        <p:txBody>
          <a:bodyPr>
            <a:normAutofit/>
          </a:bodyPr>
          <a:lstStyle/>
          <a:p>
            <a:pPr lvl="0"/>
            <a:r>
              <a:rPr lang="en-US" sz="4000" dirty="0"/>
              <a:t>If cells with damaged genes grow and replicate, they may result in cancer. </a:t>
            </a:r>
          </a:p>
          <a:p>
            <a:pPr lvl="0"/>
            <a:r>
              <a:rPr lang="en-US" sz="4000" dirty="0"/>
              <a:t>p53 gene suppresses growth of such cells. </a:t>
            </a:r>
          </a:p>
          <a:p>
            <a:r>
              <a:rPr lang="en-US" sz="4000" dirty="0"/>
              <a:t>If this becomes bad, it may lead to the development of leukemia, breast, colon, soft tissues sarcoma and many other types of cancer</a:t>
            </a:r>
          </a:p>
        </p:txBody>
      </p:sp>
    </p:spTree>
    <p:extLst>
      <p:ext uri="{BB962C8B-B14F-4D97-AF65-F5344CB8AC3E}">
        <p14:creationId xmlns:p14="http://schemas.microsoft.com/office/powerpoint/2010/main" val="189412473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77"/>
            <a:ext cx="10515600" cy="766482"/>
          </a:xfrm>
        </p:spPr>
        <p:txBody>
          <a:bodyPr/>
          <a:lstStyle/>
          <a:p>
            <a:pPr algn="ctr"/>
            <a:r>
              <a:rPr lang="en-US" b="1" dirty="0"/>
              <a:t>Tumour-suppressor genes cont’d</a:t>
            </a:r>
            <a:endParaRPr lang="en-US" dirty="0"/>
          </a:p>
        </p:txBody>
      </p:sp>
      <p:sp>
        <p:nvSpPr>
          <p:cNvPr id="3" name="Content Placeholder 2"/>
          <p:cNvSpPr>
            <a:spLocks noGrp="1"/>
          </p:cNvSpPr>
          <p:nvPr>
            <p:ph idx="1"/>
          </p:nvPr>
        </p:nvSpPr>
        <p:spPr>
          <a:xfrm>
            <a:off x="838200" y="968188"/>
            <a:ext cx="10515600" cy="5741894"/>
          </a:xfrm>
        </p:spPr>
        <p:txBody>
          <a:bodyPr>
            <a:normAutofit/>
          </a:bodyPr>
          <a:lstStyle/>
          <a:p>
            <a:pPr lvl="0"/>
            <a:r>
              <a:rPr lang="en-US" sz="4000" b="1" dirty="0"/>
              <a:t>BRCAI Gene</a:t>
            </a:r>
            <a:r>
              <a:rPr lang="en-US" sz="4000" dirty="0"/>
              <a:t> - It is located on chromosome 17 and if it becomes bad, it may lead to the development of breast cancer. </a:t>
            </a:r>
          </a:p>
          <a:p>
            <a:pPr lvl="0"/>
            <a:r>
              <a:rPr lang="en-US" sz="4000" b="1" dirty="0"/>
              <a:t>BRCA2 Gene</a:t>
            </a:r>
            <a:r>
              <a:rPr lang="en-US" sz="4000" dirty="0"/>
              <a:t> -It is located on chromosome 13 and if it becomes bad, it may result in the development of breast cancer. </a:t>
            </a:r>
          </a:p>
          <a:p>
            <a:r>
              <a:rPr lang="en-US" sz="4000" b="1" dirty="0"/>
              <a:t>APC Gene</a:t>
            </a:r>
            <a:r>
              <a:rPr lang="en-US" sz="4000" dirty="0"/>
              <a:t> - Its bad nature is associated with cancer of colon, pancreas and the stomach</a:t>
            </a:r>
          </a:p>
        </p:txBody>
      </p:sp>
    </p:spTree>
    <p:extLst>
      <p:ext uri="{BB962C8B-B14F-4D97-AF65-F5344CB8AC3E}">
        <p14:creationId xmlns:p14="http://schemas.microsoft.com/office/powerpoint/2010/main" val="73574724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Tumour-suppressor genes cont’d</a:t>
            </a:r>
            <a:endParaRPr lang="en-US" dirty="0"/>
          </a:p>
        </p:txBody>
      </p:sp>
      <p:sp>
        <p:nvSpPr>
          <p:cNvPr id="3" name="Content Placeholder 2"/>
          <p:cNvSpPr>
            <a:spLocks noGrp="1"/>
          </p:cNvSpPr>
          <p:nvPr>
            <p:ph idx="1"/>
          </p:nvPr>
        </p:nvSpPr>
        <p:spPr/>
        <p:txBody>
          <a:bodyPr>
            <a:normAutofit/>
          </a:bodyPr>
          <a:lstStyle/>
          <a:p>
            <a:r>
              <a:rPr lang="en-US" sz="4000" dirty="0"/>
              <a:t>The cancerous state results from alteration of several genes, both proto-oncogenes and </a:t>
            </a:r>
            <a:r>
              <a:rPr lang="en-US" sz="4000" dirty="0" err="1"/>
              <a:t>tumour</a:t>
            </a:r>
            <a:r>
              <a:rPr lang="en-US" sz="4000" dirty="0"/>
              <a:t>-suppressor genes</a:t>
            </a:r>
          </a:p>
        </p:txBody>
      </p:sp>
    </p:spTree>
    <p:extLst>
      <p:ext uri="{BB962C8B-B14F-4D97-AF65-F5344CB8AC3E}">
        <p14:creationId xmlns:p14="http://schemas.microsoft.com/office/powerpoint/2010/main" val="214149234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3"/>
            <a:ext cx="10515600" cy="887505"/>
          </a:xfrm>
        </p:spPr>
        <p:txBody>
          <a:bodyPr/>
          <a:lstStyle/>
          <a:p>
            <a:pPr algn="ctr"/>
            <a:r>
              <a:rPr lang="en-US" b="1" dirty="0"/>
              <a:t>Events that cause Cancer</a:t>
            </a:r>
            <a:endParaRPr lang="en-US" dirty="0"/>
          </a:p>
        </p:txBody>
      </p:sp>
      <p:sp>
        <p:nvSpPr>
          <p:cNvPr id="3" name="Content Placeholder 2"/>
          <p:cNvSpPr>
            <a:spLocks noGrp="1"/>
          </p:cNvSpPr>
          <p:nvPr>
            <p:ph idx="1"/>
          </p:nvPr>
        </p:nvSpPr>
        <p:spPr>
          <a:xfrm>
            <a:off x="838200" y="1062318"/>
            <a:ext cx="10515600" cy="5715000"/>
          </a:xfrm>
        </p:spPr>
        <p:txBody>
          <a:bodyPr>
            <a:noAutofit/>
          </a:bodyPr>
          <a:lstStyle/>
          <a:p>
            <a:r>
              <a:rPr lang="en-US" sz="4000" b="1" dirty="0" smtClean="0"/>
              <a:t> </a:t>
            </a:r>
            <a:r>
              <a:rPr lang="en-US" sz="4000" dirty="0" smtClean="0"/>
              <a:t>Carcinogens </a:t>
            </a:r>
            <a:r>
              <a:rPr lang="en-US" sz="4000" dirty="0"/>
              <a:t>or other cancer-causing agents weaken the cell membrane and due to this weak cell membrane, a microbe is able to enter a normal cell. </a:t>
            </a:r>
          </a:p>
          <a:p>
            <a:pPr lvl="0"/>
            <a:r>
              <a:rPr lang="en-US" sz="4000" dirty="0"/>
              <a:t>The microbe, after its entry, intercepts the glucose entering the cells. </a:t>
            </a:r>
          </a:p>
          <a:p>
            <a:pPr lvl="0"/>
            <a:r>
              <a:rPr lang="en-US" sz="4000" dirty="0"/>
              <a:t>The microbe excretes </a:t>
            </a:r>
            <a:r>
              <a:rPr lang="en-US" sz="4000" dirty="0" err="1"/>
              <a:t>myotoxins</a:t>
            </a:r>
            <a:r>
              <a:rPr lang="en-US" sz="4000" dirty="0"/>
              <a:t>. As </a:t>
            </a:r>
            <a:r>
              <a:rPr lang="en-US" sz="4000" dirty="0" err="1"/>
              <a:t>myotoxins</a:t>
            </a:r>
            <a:r>
              <a:rPr lang="en-US" sz="4000" dirty="0"/>
              <a:t> are highly acidic, the inside of the cell becomes highly acidic, which is a characteristic of cancer cells. </a:t>
            </a:r>
          </a:p>
        </p:txBody>
      </p:sp>
    </p:spTree>
    <p:extLst>
      <p:ext uri="{BB962C8B-B14F-4D97-AF65-F5344CB8AC3E}">
        <p14:creationId xmlns:p14="http://schemas.microsoft.com/office/powerpoint/2010/main" val="51060966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20272"/>
          </a:xfrm>
        </p:spPr>
        <p:txBody>
          <a:bodyPr>
            <a:normAutofit/>
          </a:bodyPr>
          <a:lstStyle/>
          <a:p>
            <a:pPr algn="ctr"/>
            <a:r>
              <a:rPr lang="en-US" b="1" dirty="0"/>
              <a:t>Events that cause </a:t>
            </a:r>
            <a:r>
              <a:rPr lang="en-US" b="1" dirty="0" smtClean="0"/>
              <a:t>Cancer cont’d</a:t>
            </a:r>
            <a:endParaRPr lang="en-US" dirty="0"/>
          </a:p>
        </p:txBody>
      </p:sp>
      <p:sp>
        <p:nvSpPr>
          <p:cNvPr id="3" name="Content Placeholder 2"/>
          <p:cNvSpPr>
            <a:spLocks noGrp="1"/>
          </p:cNvSpPr>
          <p:nvPr>
            <p:ph idx="1"/>
          </p:nvPr>
        </p:nvSpPr>
        <p:spPr>
          <a:xfrm>
            <a:off x="838200" y="941294"/>
            <a:ext cx="10515600" cy="5235669"/>
          </a:xfrm>
        </p:spPr>
        <p:txBody>
          <a:bodyPr>
            <a:noAutofit/>
          </a:bodyPr>
          <a:lstStyle/>
          <a:p>
            <a:pPr lvl="0"/>
            <a:r>
              <a:rPr lang="en-US" sz="4000" dirty="0"/>
              <a:t>The cell's mitochondria that convert glucose into energy, receive very little glucose as the microbe intercepts most of the glucose. </a:t>
            </a:r>
          </a:p>
          <a:p>
            <a:pPr lvl="0"/>
            <a:r>
              <a:rPr lang="en-US" sz="4000" dirty="0"/>
              <a:t>A lot of </a:t>
            </a:r>
            <a:r>
              <a:rPr lang="en-US" sz="4000" dirty="0" err="1"/>
              <a:t>myotoxins</a:t>
            </a:r>
            <a:r>
              <a:rPr lang="en-US" sz="4000" dirty="0"/>
              <a:t> and garbage become available to the mitochondria that they cannot convert into energy. </a:t>
            </a:r>
          </a:p>
          <a:p>
            <a:pPr lvl="0"/>
            <a:r>
              <a:rPr lang="en-US" sz="4000" dirty="0"/>
              <a:t>The mitochondria play a key role in providing energy to a cell (through the Krebs cycle and electron transport chain). </a:t>
            </a:r>
          </a:p>
          <a:p>
            <a:endParaRPr lang="en-US" sz="4000" dirty="0"/>
          </a:p>
        </p:txBody>
      </p:sp>
    </p:spTree>
    <p:extLst>
      <p:ext uri="{BB962C8B-B14F-4D97-AF65-F5344CB8AC3E}">
        <p14:creationId xmlns:p14="http://schemas.microsoft.com/office/powerpoint/2010/main" val="12385775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259"/>
            <a:ext cx="10515600" cy="914401"/>
          </a:xfrm>
        </p:spPr>
        <p:txBody>
          <a:bodyPr/>
          <a:lstStyle/>
          <a:p>
            <a:pPr algn="ctr"/>
            <a:r>
              <a:rPr lang="en-US" b="1" dirty="0"/>
              <a:t>Events that cause Cancer cont’d</a:t>
            </a:r>
            <a:endParaRPr lang="en-US" dirty="0"/>
          </a:p>
        </p:txBody>
      </p:sp>
      <p:sp>
        <p:nvSpPr>
          <p:cNvPr id="3" name="Content Placeholder 2"/>
          <p:cNvSpPr>
            <a:spLocks noGrp="1"/>
          </p:cNvSpPr>
          <p:nvPr>
            <p:ph idx="1"/>
          </p:nvPr>
        </p:nvSpPr>
        <p:spPr>
          <a:xfrm>
            <a:off x="838200" y="1317812"/>
            <a:ext cx="10515600" cy="5298141"/>
          </a:xfrm>
        </p:spPr>
        <p:txBody>
          <a:bodyPr>
            <a:noAutofit/>
          </a:bodyPr>
          <a:lstStyle/>
          <a:p>
            <a:pPr lvl="0"/>
            <a:r>
              <a:rPr lang="en-US" sz="4000" dirty="0"/>
              <a:t>To grab more glucose, signals are sent to the insulin receptors on the cell membrane.</a:t>
            </a:r>
          </a:p>
          <a:p>
            <a:pPr lvl="0"/>
            <a:r>
              <a:rPr lang="en-US" sz="4000" dirty="0"/>
              <a:t>As a result, more glucose enters the cells. However, most of the glucose is </a:t>
            </a:r>
            <a:r>
              <a:rPr lang="en-US" sz="4000" dirty="0" err="1"/>
              <a:t>utilised</a:t>
            </a:r>
            <a:r>
              <a:rPr lang="en-US" sz="4000" dirty="0"/>
              <a:t> by the microbes and </a:t>
            </a:r>
            <a:r>
              <a:rPr lang="en-US" sz="4000" dirty="0" err="1"/>
              <a:t>myotoxins</a:t>
            </a:r>
            <a:r>
              <a:rPr lang="en-US" sz="4000" dirty="0"/>
              <a:t> increase in number. </a:t>
            </a:r>
          </a:p>
          <a:p>
            <a:pPr lvl="0"/>
            <a:r>
              <a:rPr lang="en-US" sz="4000" dirty="0"/>
              <a:t>The cell is now cancerous as its energy levels drop and it is anaerobic. </a:t>
            </a:r>
          </a:p>
          <a:p>
            <a:r>
              <a:rPr lang="en-US" sz="4000" dirty="0"/>
              <a:t>The microbes disturb the Krebs cycle and ETC as long as they are inside the cell. </a:t>
            </a:r>
          </a:p>
        </p:txBody>
      </p:sp>
    </p:spTree>
    <p:extLst>
      <p:ext uri="{BB962C8B-B14F-4D97-AF65-F5344CB8AC3E}">
        <p14:creationId xmlns:p14="http://schemas.microsoft.com/office/powerpoint/2010/main" val="310625734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183341"/>
          </a:xfrm>
        </p:spPr>
        <p:txBody>
          <a:bodyPr/>
          <a:lstStyle/>
          <a:p>
            <a:pPr algn="ctr"/>
            <a:r>
              <a:rPr lang="en-US" b="1" dirty="0"/>
              <a:t>Events that cause Cancer cont’d</a:t>
            </a:r>
            <a:endParaRPr lang="en-US" dirty="0"/>
          </a:p>
        </p:txBody>
      </p:sp>
      <p:sp>
        <p:nvSpPr>
          <p:cNvPr id="3" name="Content Placeholder 2"/>
          <p:cNvSpPr>
            <a:spLocks noGrp="1"/>
          </p:cNvSpPr>
          <p:nvPr>
            <p:ph idx="1"/>
          </p:nvPr>
        </p:nvSpPr>
        <p:spPr>
          <a:xfrm>
            <a:off x="838200" y="1183340"/>
            <a:ext cx="10515600" cy="5472953"/>
          </a:xfrm>
        </p:spPr>
        <p:txBody>
          <a:bodyPr>
            <a:normAutofit/>
          </a:bodyPr>
          <a:lstStyle/>
          <a:p>
            <a:r>
              <a:rPr lang="en-US" sz="4000" dirty="0"/>
              <a:t>Each sick cancer cell contains healthy microbes, so it is not possible to kill microbes without killing the cells</a:t>
            </a:r>
          </a:p>
        </p:txBody>
      </p:sp>
    </p:spTree>
    <p:extLst>
      <p:ext uri="{BB962C8B-B14F-4D97-AF65-F5344CB8AC3E}">
        <p14:creationId xmlns:p14="http://schemas.microsoft.com/office/powerpoint/2010/main" val="367183337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60611"/>
          </a:xfrm>
        </p:spPr>
        <p:txBody>
          <a:bodyPr>
            <a:noAutofit/>
          </a:bodyPr>
          <a:lstStyle/>
          <a:p>
            <a:pPr algn="ctr"/>
            <a:r>
              <a:rPr lang="en-US" b="1" dirty="0" smtClean="0"/>
              <a:t/>
            </a:r>
            <a:br>
              <a:rPr lang="en-US" b="1" dirty="0" smtClean="0"/>
            </a:br>
            <a:r>
              <a:rPr lang="en-US" b="1" dirty="0" smtClean="0"/>
              <a:t>Carcinogens</a:t>
            </a:r>
            <a:r>
              <a:rPr lang="en-US" dirty="0"/>
              <a:t/>
            </a:r>
            <a:br>
              <a:rPr lang="en-US" dirty="0"/>
            </a:br>
            <a:endParaRPr lang="en-US" dirty="0"/>
          </a:p>
        </p:txBody>
      </p:sp>
      <p:sp>
        <p:nvSpPr>
          <p:cNvPr id="3" name="Content Placeholder 2"/>
          <p:cNvSpPr>
            <a:spLocks noGrp="1"/>
          </p:cNvSpPr>
          <p:nvPr>
            <p:ph idx="1"/>
          </p:nvPr>
        </p:nvSpPr>
        <p:spPr>
          <a:xfrm>
            <a:off x="838200" y="1143000"/>
            <a:ext cx="10515600" cy="5836024"/>
          </a:xfrm>
        </p:spPr>
        <p:txBody>
          <a:bodyPr>
            <a:noAutofit/>
          </a:bodyPr>
          <a:lstStyle/>
          <a:p>
            <a:r>
              <a:rPr lang="en-US" sz="4000" b="1" dirty="0"/>
              <a:t> </a:t>
            </a:r>
            <a:r>
              <a:rPr lang="en-US" sz="4000" dirty="0" smtClean="0"/>
              <a:t>A </a:t>
            </a:r>
            <a:r>
              <a:rPr lang="en-US" sz="4000" dirty="0"/>
              <a:t>carcinogen is a substance capable of causing cancer or aggravating cancer in humans and animals. </a:t>
            </a:r>
          </a:p>
          <a:p>
            <a:pPr lvl="0"/>
            <a:r>
              <a:rPr lang="en-US" sz="4000" dirty="0"/>
              <a:t>Carcinogens include chemicals, radiations and some viruses. </a:t>
            </a:r>
          </a:p>
          <a:p>
            <a:pPr lvl="0"/>
            <a:r>
              <a:rPr lang="en-US" sz="4000" dirty="0"/>
              <a:t>Sir Percival Potts (1775), a British Physician primarily suggested that the induction of cancer might be linked to agents in the environments. He suggested that exposure to soot caused high rates of cancer in chimney workers. </a:t>
            </a:r>
          </a:p>
          <a:p>
            <a:endParaRPr lang="en-US" sz="4000" dirty="0"/>
          </a:p>
        </p:txBody>
      </p:sp>
    </p:spTree>
    <p:extLst>
      <p:ext uri="{BB962C8B-B14F-4D97-AF65-F5344CB8AC3E}">
        <p14:creationId xmlns:p14="http://schemas.microsoft.com/office/powerpoint/2010/main" val="395236551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2047"/>
            <a:ext cx="10515600" cy="793377"/>
          </a:xfrm>
        </p:spPr>
        <p:txBody>
          <a:bodyPr>
            <a:noAutofit/>
          </a:bodyPr>
          <a:lstStyle/>
          <a:p>
            <a:pPr algn="ctr"/>
            <a:r>
              <a:rPr lang="en-US" b="1" dirty="0"/>
              <a:t/>
            </a:r>
            <a:br>
              <a:rPr lang="en-US" b="1" dirty="0"/>
            </a:br>
            <a:r>
              <a:rPr lang="en-US" b="1" dirty="0" smtClean="0"/>
              <a:t>Carcinogens cont’d</a:t>
            </a:r>
            <a:r>
              <a:rPr lang="en-US" dirty="0"/>
              <a:t/>
            </a:r>
            <a:br>
              <a:rPr lang="en-US" dirty="0"/>
            </a:br>
            <a:endParaRPr lang="en-US" dirty="0"/>
          </a:p>
        </p:txBody>
      </p:sp>
      <p:sp>
        <p:nvSpPr>
          <p:cNvPr id="3" name="Content Placeholder 2"/>
          <p:cNvSpPr>
            <a:spLocks noGrp="1"/>
          </p:cNvSpPr>
          <p:nvPr>
            <p:ph idx="1"/>
          </p:nvPr>
        </p:nvSpPr>
        <p:spPr>
          <a:xfrm>
            <a:off x="838200" y="1143000"/>
            <a:ext cx="10515600" cy="5365376"/>
          </a:xfrm>
        </p:spPr>
        <p:txBody>
          <a:bodyPr>
            <a:noAutofit/>
          </a:bodyPr>
          <a:lstStyle/>
          <a:p>
            <a:pPr lvl="0"/>
            <a:r>
              <a:rPr lang="en-US" sz="4000" dirty="0"/>
              <a:t>Most carcinogens require promoters for the production of cancer. </a:t>
            </a:r>
          </a:p>
          <a:p>
            <a:pPr lvl="0"/>
            <a:r>
              <a:rPr lang="en-US" sz="4000" dirty="0" err="1"/>
              <a:t>Benzopyrene</a:t>
            </a:r>
            <a:r>
              <a:rPr lang="en-US" sz="4000" dirty="0"/>
              <a:t> applied on skin does not produce cancer. Croton oil when applied on skin also does not produce cancer. But when </a:t>
            </a:r>
            <a:r>
              <a:rPr lang="en-US" sz="4000" dirty="0" err="1"/>
              <a:t>benzopyrene</a:t>
            </a:r>
            <a:r>
              <a:rPr lang="en-US" sz="4000" dirty="0"/>
              <a:t> application is followed by croton oil, malignant growth occurs. Here croton oil acts as promoter. </a:t>
            </a:r>
          </a:p>
          <a:p>
            <a:r>
              <a:rPr lang="en-US" sz="4000" dirty="0"/>
              <a:t>Many mutagens are carcinogens but some carcinogens are not mutagens.</a:t>
            </a:r>
          </a:p>
        </p:txBody>
      </p:sp>
    </p:spTree>
    <p:extLst>
      <p:ext uri="{BB962C8B-B14F-4D97-AF65-F5344CB8AC3E}">
        <p14:creationId xmlns:p14="http://schemas.microsoft.com/office/powerpoint/2010/main" val="342841383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153"/>
            <a:ext cx="10515600" cy="658907"/>
          </a:xfrm>
        </p:spPr>
        <p:txBody>
          <a:bodyPr>
            <a:normAutofit fontScale="90000"/>
          </a:bodyPr>
          <a:lstStyle/>
          <a:p>
            <a:pPr algn="ctr"/>
            <a:r>
              <a:rPr lang="en-US" b="1" dirty="0"/>
              <a:t/>
            </a:r>
            <a:br>
              <a:rPr lang="en-US" b="1" dirty="0"/>
            </a:br>
            <a:r>
              <a:rPr lang="en-US" b="1" dirty="0"/>
              <a:t>Carcinogens cont’d</a:t>
            </a:r>
            <a:r>
              <a:rPr lang="en-US" dirty="0"/>
              <a:t/>
            </a:r>
            <a:br>
              <a:rPr lang="en-US" dirty="0"/>
            </a:br>
            <a:endParaRPr lang="en-US" dirty="0"/>
          </a:p>
        </p:txBody>
      </p:sp>
      <p:sp>
        <p:nvSpPr>
          <p:cNvPr id="3" name="Content Placeholder 2"/>
          <p:cNvSpPr>
            <a:spLocks noGrp="1"/>
          </p:cNvSpPr>
          <p:nvPr>
            <p:ph idx="1"/>
          </p:nvPr>
        </p:nvSpPr>
        <p:spPr>
          <a:xfrm>
            <a:off x="838200" y="1048871"/>
            <a:ext cx="10515600" cy="5365376"/>
          </a:xfrm>
        </p:spPr>
        <p:txBody>
          <a:bodyPr>
            <a:noAutofit/>
          </a:bodyPr>
          <a:lstStyle/>
          <a:p>
            <a:pPr lvl="0"/>
            <a:r>
              <a:rPr lang="en-US" sz="4000" dirty="0"/>
              <a:t>Alcohol and estrogen are examples of carcinogens that are not mutagens. </a:t>
            </a:r>
          </a:p>
          <a:p>
            <a:pPr lvl="0"/>
            <a:r>
              <a:rPr lang="en-US" sz="4000" dirty="0"/>
              <a:t>The process leading to cancer by carcinogens is called carcinogenesis. </a:t>
            </a:r>
          </a:p>
          <a:p>
            <a:pPr lvl="0"/>
            <a:r>
              <a:rPr lang="en-US" sz="4000" dirty="0"/>
              <a:t>The carcinogenic potency of chemical agents depends on their ability to bind to the DNA. </a:t>
            </a:r>
          </a:p>
          <a:p>
            <a:r>
              <a:rPr lang="en-US" sz="4000" dirty="0"/>
              <a:t>It can be said that carcinogenesis is due to changes in DNA because carcinogens are mutagens</a:t>
            </a:r>
          </a:p>
        </p:txBody>
      </p:sp>
    </p:spTree>
    <p:extLst>
      <p:ext uri="{BB962C8B-B14F-4D97-AF65-F5344CB8AC3E}">
        <p14:creationId xmlns:p14="http://schemas.microsoft.com/office/powerpoint/2010/main" val="184747562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726142"/>
          </a:xfrm>
        </p:spPr>
        <p:txBody>
          <a:bodyPr>
            <a:normAutofit fontScale="90000"/>
          </a:bodyPr>
          <a:lstStyle/>
          <a:p>
            <a:pPr algn="ctr"/>
            <a:r>
              <a:rPr lang="en-US" b="1" dirty="0"/>
              <a:t/>
            </a:r>
            <a:br>
              <a:rPr lang="en-US" b="1" dirty="0"/>
            </a:br>
            <a:r>
              <a:rPr lang="en-US" b="1" dirty="0"/>
              <a:t>Carcinogens cont’d</a:t>
            </a:r>
            <a:r>
              <a:rPr lang="en-US" dirty="0"/>
              <a:t/>
            </a:r>
            <a:br>
              <a:rPr lang="en-US" dirty="0"/>
            </a:br>
            <a:endParaRPr lang="en-US" dirty="0"/>
          </a:p>
        </p:txBody>
      </p:sp>
      <p:sp>
        <p:nvSpPr>
          <p:cNvPr id="3" name="Content Placeholder 2"/>
          <p:cNvSpPr>
            <a:spLocks noGrp="1"/>
          </p:cNvSpPr>
          <p:nvPr>
            <p:ph idx="1"/>
          </p:nvPr>
        </p:nvSpPr>
        <p:spPr>
          <a:xfrm>
            <a:off x="838200" y="1116106"/>
            <a:ext cx="10515600" cy="5060857"/>
          </a:xfrm>
        </p:spPr>
        <p:txBody>
          <a:bodyPr>
            <a:noAutofit/>
          </a:bodyPr>
          <a:lstStyle/>
          <a:p>
            <a:pPr lvl="0"/>
            <a:r>
              <a:rPr lang="en-US" sz="4000" dirty="0"/>
              <a:t>Carcinogens are generally electron deficient, so that they can bind certain regions of the DNA through covalent linkages and induce malignant growth. </a:t>
            </a:r>
          </a:p>
          <a:p>
            <a:pPr lvl="0"/>
            <a:r>
              <a:rPr lang="en-US" sz="4000" dirty="0"/>
              <a:t>Carcinogens do not lead to cancer after every exposure. </a:t>
            </a:r>
          </a:p>
        </p:txBody>
      </p:sp>
    </p:spTree>
    <p:extLst>
      <p:ext uri="{BB962C8B-B14F-4D97-AF65-F5344CB8AC3E}">
        <p14:creationId xmlns:p14="http://schemas.microsoft.com/office/powerpoint/2010/main" val="26147890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707"/>
            <a:ext cx="10515600" cy="766482"/>
          </a:xfrm>
        </p:spPr>
        <p:txBody>
          <a:bodyPr>
            <a:normAutofit fontScale="90000"/>
          </a:bodyPr>
          <a:lstStyle/>
          <a:p>
            <a:pPr algn="ctr"/>
            <a:r>
              <a:rPr lang="en-US" b="1" dirty="0"/>
              <a:t/>
            </a:r>
            <a:br>
              <a:rPr lang="en-US" b="1" dirty="0"/>
            </a:br>
            <a:r>
              <a:rPr lang="en-US" b="1" dirty="0"/>
              <a:t>Carcinogens cont’d</a:t>
            </a:r>
            <a:r>
              <a:rPr lang="en-US" dirty="0"/>
              <a:t/>
            </a:r>
            <a:br>
              <a:rPr lang="en-US" dirty="0"/>
            </a:br>
            <a:endParaRPr lang="en-US" dirty="0"/>
          </a:p>
        </p:txBody>
      </p:sp>
      <p:sp>
        <p:nvSpPr>
          <p:cNvPr id="3" name="Content Placeholder 2"/>
          <p:cNvSpPr>
            <a:spLocks noGrp="1"/>
          </p:cNvSpPr>
          <p:nvPr>
            <p:ph idx="1"/>
          </p:nvPr>
        </p:nvSpPr>
        <p:spPr>
          <a:xfrm>
            <a:off x="838200" y="1129553"/>
            <a:ext cx="10515600" cy="5047410"/>
          </a:xfrm>
        </p:spPr>
        <p:txBody>
          <a:bodyPr>
            <a:normAutofit/>
          </a:bodyPr>
          <a:lstStyle/>
          <a:p>
            <a:r>
              <a:rPr lang="en-US" sz="4000" dirty="0"/>
              <a:t>Some carcinogens result in cancerous changes following high-level prolonged exposure, while others may cause damage at lower levels and shorter exposure </a:t>
            </a:r>
            <a:r>
              <a:rPr lang="en-US" sz="4000" dirty="0" smtClean="0"/>
              <a:t>periods.</a:t>
            </a:r>
          </a:p>
          <a:p>
            <a:r>
              <a:rPr lang="en-US" sz="4000" dirty="0"/>
              <a:t>However, the genetic make-up of an individual may influence the body's response to a carcinogen</a:t>
            </a:r>
          </a:p>
          <a:p>
            <a:endParaRPr lang="en-US" sz="4000" dirty="0"/>
          </a:p>
        </p:txBody>
      </p:sp>
    </p:spTree>
    <p:extLst>
      <p:ext uri="{BB962C8B-B14F-4D97-AF65-F5344CB8AC3E}">
        <p14:creationId xmlns:p14="http://schemas.microsoft.com/office/powerpoint/2010/main" val="216494823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2"/>
            <a:ext cx="10515600" cy="874060"/>
          </a:xfrm>
        </p:spPr>
        <p:txBody>
          <a:bodyPr>
            <a:normAutofit fontScale="90000"/>
          </a:bodyPr>
          <a:lstStyle/>
          <a:p>
            <a:pPr algn="ctr"/>
            <a:r>
              <a:rPr lang="en-US" b="1" dirty="0"/>
              <a:t/>
            </a:r>
            <a:br>
              <a:rPr lang="en-US" b="1" dirty="0"/>
            </a:br>
            <a:r>
              <a:rPr lang="en-US" b="1" dirty="0"/>
              <a:t>Carcinogens cont’d</a:t>
            </a:r>
            <a:r>
              <a:rPr lang="en-US" dirty="0"/>
              <a:t/>
            </a:r>
            <a:br>
              <a:rPr lang="en-US" dirty="0"/>
            </a:br>
            <a:endParaRPr lang="en-US" dirty="0"/>
          </a:p>
        </p:txBody>
      </p:sp>
      <p:sp>
        <p:nvSpPr>
          <p:cNvPr id="3" name="Content Placeholder 2"/>
          <p:cNvSpPr>
            <a:spLocks noGrp="1"/>
          </p:cNvSpPr>
          <p:nvPr>
            <p:ph idx="1"/>
          </p:nvPr>
        </p:nvSpPr>
        <p:spPr>
          <a:xfrm>
            <a:off x="838200" y="1169894"/>
            <a:ext cx="10515600" cy="5567082"/>
          </a:xfrm>
        </p:spPr>
        <p:txBody>
          <a:bodyPr>
            <a:noAutofit/>
          </a:bodyPr>
          <a:lstStyle/>
          <a:p>
            <a:pPr lvl="0"/>
            <a:r>
              <a:rPr lang="en-US" sz="4000" dirty="0"/>
              <a:t>Some potent carcinogens are </a:t>
            </a:r>
            <a:r>
              <a:rPr lang="en-US" sz="4000" dirty="0" err="1"/>
              <a:t>aflatoxin</a:t>
            </a:r>
            <a:r>
              <a:rPr lang="en-US" sz="4000" dirty="0"/>
              <a:t>, vinyl chloride, alkylating agents like </a:t>
            </a:r>
            <a:r>
              <a:rPr lang="en-US" sz="4000" dirty="0" err="1"/>
              <a:t>acridine</a:t>
            </a:r>
            <a:r>
              <a:rPr lang="en-US" sz="4000" dirty="0"/>
              <a:t> dyes and polycyclic aromatic compounds such as </a:t>
            </a:r>
            <a:r>
              <a:rPr lang="en-US" sz="4000" dirty="0" err="1"/>
              <a:t>benzopyrene</a:t>
            </a:r>
            <a:r>
              <a:rPr lang="en-US" sz="4000" dirty="0"/>
              <a:t>, </a:t>
            </a:r>
            <a:r>
              <a:rPr lang="en-US" sz="4000" dirty="0" err="1"/>
              <a:t>azodyes</a:t>
            </a:r>
            <a:r>
              <a:rPr lang="en-US" sz="4000" dirty="0"/>
              <a:t>, etc. </a:t>
            </a:r>
          </a:p>
          <a:p>
            <a:pPr lvl="0"/>
            <a:r>
              <a:rPr lang="en-US" sz="4000" dirty="0"/>
              <a:t>Besides ultraviolet radiations, sunlight is also capable of inducing malignant </a:t>
            </a:r>
            <a:r>
              <a:rPr lang="en-US" sz="4000" dirty="0" err="1"/>
              <a:t>tumours</a:t>
            </a:r>
            <a:r>
              <a:rPr lang="en-US" sz="4000" dirty="0"/>
              <a:t>.</a:t>
            </a:r>
          </a:p>
          <a:p>
            <a:pPr marL="0" indent="0">
              <a:buNone/>
            </a:pPr>
            <a:endParaRPr lang="en-US" sz="4000" dirty="0"/>
          </a:p>
        </p:txBody>
      </p:sp>
    </p:spTree>
    <p:extLst>
      <p:ext uri="{BB962C8B-B14F-4D97-AF65-F5344CB8AC3E}">
        <p14:creationId xmlns:p14="http://schemas.microsoft.com/office/powerpoint/2010/main" val="23903113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9"/>
            <a:ext cx="10515600" cy="1102658"/>
          </a:xfrm>
        </p:spPr>
        <p:txBody>
          <a:bodyPr>
            <a:noAutofit/>
          </a:bodyPr>
          <a:lstStyle/>
          <a:p>
            <a:pPr algn="ctr"/>
            <a:r>
              <a:rPr lang="en-US" b="1" dirty="0"/>
              <a:t/>
            </a:r>
            <a:br>
              <a:rPr lang="en-US" b="1" dirty="0"/>
            </a:br>
            <a:r>
              <a:rPr lang="en-US" b="1" dirty="0"/>
              <a:t>Carcinogens cont’d</a:t>
            </a:r>
            <a:r>
              <a:rPr lang="en-US" dirty="0"/>
              <a:t/>
            </a:r>
            <a:br>
              <a:rPr lang="en-US" dirty="0"/>
            </a:br>
            <a:endParaRPr lang="en-US" dirty="0"/>
          </a:p>
        </p:txBody>
      </p:sp>
      <p:sp>
        <p:nvSpPr>
          <p:cNvPr id="3" name="Content Placeholder 2"/>
          <p:cNvSpPr>
            <a:spLocks noGrp="1"/>
          </p:cNvSpPr>
          <p:nvPr>
            <p:ph idx="1"/>
          </p:nvPr>
        </p:nvSpPr>
        <p:spPr>
          <a:xfrm>
            <a:off x="838200" y="1438835"/>
            <a:ext cx="10515600" cy="4738128"/>
          </a:xfrm>
        </p:spPr>
        <p:txBody>
          <a:bodyPr>
            <a:normAutofit/>
          </a:bodyPr>
          <a:lstStyle/>
          <a:p>
            <a:r>
              <a:rPr lang="en-US" sz="4000" dirty="0"/>
              <a:t>Viruses that are known to cause cancer such as HPV (cervical cancer), Hepatitis B (liver cancer) and EBV (a type of lymphoma) are all DNA viruses. </a:t>
            </a:r>
          </a:p>
          <a:p>
            <a:r>
              <a:rPr lang="en-US" sz="4000" dirty="0" smtClean="0"/>
              <a:t>Certain </a:t>
            </a:r>
            <a:r>
              <a:rPr lang="en-US" sz="4000" dirty="0"/>
              <a:t>parasites may also induce cancerous growth, such as </a:t>
            </a:r>
            <a:r>
              <a:rPr lang="en-US" sz="4000" i="1" dirty="0" err="1"/>
              <a:t>Schistosoma</a:t>
            </a:r>
            <a:r>
              <a:rPr lang="en-US" sz="4000" i="1" dirty="0"/>
              <a:t> </a:t>
            </a:r>
            <a:r>
              <a:rPr lang="en-US" sz="4000" i="1" dirty="0" err="1"/>
              <a:t>haematobium</a:t>
            </a:r>
            <a:r>
              <a:rPr lang="en-US" sz="4000" i="1" dirty="0"/>
              <a:t> </a:t>
            </a:r>
            <a:r>
              <a:rPr lang="en-US" sz="4000" dirty="0"/>
              <a:t>which induces cancer of the urinary bladder. </a:t>
            </a:r>
          </a:p>
          <a:p>
            <a:pPr marL="0" indent="0">
              <a:buNone/>
            </a:pPr>
            <a:endParaRPr lang="en-US" sz="4000" dirty="0"/>
          </a:p>
          <a:p>
            <a:endParaRPr lang="en-US" sz="4000" dirty="0"/>
          </a:p>
        </p:txBody>
      </p:sp>
    </p:spTree>
    <p:extLst>
      <p:ext uri="{BB962C8B-B14F-4D97-AF65-F5344CB8AC3E}">
        <p14:creationId xmlns:p14="http://schemas.microsoft.com/office/powerpoint/2010/main" val="294030235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494"/>
            <a:ext cx="10515600" cy="995082"/>
          </a:xfrm>
        </p:spPr>
        <p:txBody>
          <a:bodyPr>
            <a:normAutofit/>
          </a:bodyPr>
          <a:lstStyle/>
          <a:p>
            <a:pPr algn="ctr"/>
            <a:r>
              <a:rPr lang="en-US" dirty="0" smtClean="0"/>
              <a:t>Cancer Causing Agents</a:t>
            </a:r>
            <a:endParaRPr lang="en-US"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021976" y="1371600"/>
            <a:ext cx="10206318" cy="5486399"/>
          </a:xfrm>
          <a:prstGeom prst="rect">
            <a:avLst/>
          </a:prstGeom>
        </p:spPr>
      </p:pic>
    </p:spTree>
    <p:extLst>
      <p:ext uri="{BB962C8B-B14F-4D97-AF65-F5344CB8AC3E}">
        <p14:creationId xmlns:p14="http://schemas.microsoft.com/office/powerpoint/2010/main" val="334095840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153"/>
            <a:ext cx="10515600" cy="753035"/>
          </a:xfrm>
        </p:spPr>
        <p:txBody>
          <a:bodyPr>
            <a:normAutofit/>
          </a:bodyPr>
          <a:lstStyle/>
          <a:p>
            <a:pPr algn="ctr"/>
            <a:r>
              <a:rPr lang="en-US" b="1" dirty="0"/>
              <a:t>IMMUNOGENETICS</a:t>
            </a:r>
            <a:endParaRPr lang="en-US" dirty="0"/>
          </a:p>
        </p:txBody>
      </p:sp>
      <p:sp>
        <p:nvSpPr>
          <p:cNvPr id="3" name="Content Placeholder 2"/>
          <p:cNvSpPr>
            <a:spLocks noGrp="1"/>
          </p:cNvSpPr>
          <p:nvPr>
            <p:ph idx="1"/>
          </p:nvPr>
        </p:nvSpPr>
        <p:spPr>
          <a:xfrm>
            <a:off x="838200" y="1169894"/>
            <a:ext cx="10515600" cy="5432612"/>
          </a:xfrm>
        </p:spPr>
        <p:txBody>
          <a:bodyPr>
            <a:noAutofit/>
          </a:bodyPr>
          <a:lstStyle/>
          <a:p>
            <a:r>
              <a:rPr lang="en-US" sz="4000" dirty="0" err="1" smtClean="0"/>
              <a:t>Immunoglobulins</a:t>
            </a:r>
            <a:r>
              <a:rPr lang="en-US" sz="4000" dirty="0" smtClean="0"/>
              <a:t> </a:t>
            </a:r>
            <a:r>
              <a:rPr lang="en-US" sz="4000" dirty="0"/>
              <a:t>are glycoproteins that function as antibodies. </a:t>
            </a:r>
          </a:p>
          <a:p>
            <a:pPr lvl="0"/>
            <a:r>
              <a:rPr lang="en-US" sz="4000" dirty="0"/>
              <a:t>They are found attached with the cell membrane, secretions or circulating in the blood. </a:t>
            </a:r>
          </a:p>
          <a:p>
            <a:pPr lvl="0"/>
            <a:r>
              <a:rPr lang="en-US" sz="4000" dirty="0"/>
              <a:t>They are produced in response to detection of foreign molecules in the body. </a:t>
            </a:r>
          </a:p>
          <a:p>
            <a:r>
              <a:rPr lang="en-US" sz="4000" dirty="0"/>
              <a:t>These foreign bodies that trigger the formation of antibodies are called antigens</a:t>
            </a:r>
          </a:p>
        </p:txBody>
      </p:sp>
    </p:spTree>
    <p:extLst>
      <p:ext uri="{BB962C8B-B14F-4D97-AF65-F5344CB8AC3E}">
        <p14:creationId xmlns:p14="http://schemas.microsoft.com/office/powerpoint/2010/main" val="56874943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0"/>
            <a:ext cx="10515600" cy="753035"/>
          </a:xfrm>
        </p:spPr>
        <p:txBody>
          <a:bodyPr>
            <a:noAutofit/>
          </a:bodyPr>
          <a:lstStyle/>
          <a:p>
            <a:pPr algn="ctr"/>
            <a:r>
              <a:rPr lang="en-US" b="1" dirty="0" smtClean="0"/>
              <a:t/>
            </a:r>
            <a:br>
              <a:rPr lang="en-US" b="1" dirty="0" smtClean="0"/>
            </a:br>
            <a:r>
              <a:rPr lang="en-US" b="1" dirty="0" smtClean="0"/>
              <a:t>Structure </a:t>
            </a:r>
            <a:r>
              <a:rPr lang="en-US" b="1" dirty="0"/>
              <a:t>of Immunoglobulin </a:t>
            </a:r>
            <a:r>
              <a:rPr lang="en-US" dirty="0"/>
              <a:t/>
            </a:r>
            <a:br>
              <a:rPr lang="en-US" dirty="0"/>
            </a:br>
            <a:endParaRPr lang="en-US" dirty="0"/>
          </a:p>
        </p:txBody>
      </p:sp>
      <p:sp>
        <p:nvSpPr>
          <p:cNvPr id="3" name="Content Placeholder 2"/>
          <p:cNvSpPr>
            <a:spLocks noGrp="1"/>
          </p:cNvSpPr>
          <p:nvPr>
            <p:ph idx="1"/>
          </p:nvPr>
        </p:nvSpPr>
        <p:spPr>
          <a:xfrm>
            <a:off x="838200" y="1102658"/>
            <a:ext cx="10515600" cy="5755341"/>
          </a:xfrm>
        </p:spPr>
        <p:txBody>
          <a:bodyPr>
            <a:noAutofit/>
          </a:bodyPr>
          <a:lstStyle/>
          <a:p>
            <a:pPr lvl="0"/>
            <a:r>
              <a:rPr lang="en-US" sz="4000" dirty="0" smtClean="0"/>
              <a:t>In </a:t>
            </a:r>
            <a:r>
              <a:rPr lang="en-US" sz="4000" dirty="0"/>
              <a:t>1962, the structure of immunoglobulin molecule was independently proposed by Rodney and Gerald Edelman, for which they were awarded the Nobel Prize in 1972. </a:t>
            </a:r>
          </a:p>
          <a:p>
            <a:pPr lvl="0"/>
            <a:r>
              <a:rPr lang="en-US" sz="4000" dirty="0"/>
              <a:t>IgG molecule is made up of two heavy chains and two light chains, joined together by </a:t>
            </a:r>
            <a:r>
              <a:rPr lang="en-US" sz="4000" dirty="0" err="1"/>
              <a:t>disulphide</a:t>
            </a:r>
            <a:r>
              <a:rPr lang="en-US" sz="4000" dirty="0"/>
              <a:t> bridges. </a:t>
            </a:r>
          </a:p>
          <a:p>
            <a:endParaRPr lang="en-US" sz="4000" dirty="0"/>
          </a:p>
        </p:txBody>
      </p:sp>
    </p:spTree>
    <p:extLst>
      <p:ext uri="{BB962C8B-B14F-4D97-AF65-F5344CB8AC3E}">
        <p14:creationId xmlns:p14="http://schemas.microsoft.com/office/powerpoint/2010/main" val="428325100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344706"/>
          </a:xfrm>
        </p:spPr>
        <p:txBody>
          <a:bodyPr/>
          <a:lstStyle/>
          <a:p>
            <a:pPr algn="ctr"/>
            <a:r>
              <a:rPr lang="en-US" b="1" dirty="0"/>
              <a:t>Structure of Immunoglobulin</a:t>
            </a:r>
            <a:endParaRPr lang="en-US" dirty="0"/>
          </a:p>
        </p:txBody>
      </p:sp>
      <p:sp>
        <p:nvSpPr>
          <p:cNvPr id="3" name="Content Placeholder 2"/>
          <p:cNvSpPr>
            <a:spLocks noGrp="1"/>
          </p:cNvSpPr>
          <p:nvPr>
            <p:ph idx="1"/>
          </p:nvPr>
        </p:nvSpPr>
        <p:spPr>
          <a:xfrm>
            <a:off x="838200" y="1613647"/>
            <a:ext cx="10515600" cy="4563316"/>
          </a:xfrm>
        </p:spPr>
        <p:txBody>
          <a:bodyPr>
            <a:normAutofit/>
          </a:bodyPr>
          <a:lstStyle/>
          <a:p>
            <a:pPr lvl="0"/>
            <a:r>
              <a:rPr lang="en-US" sz="4000" dirty="0"/>
              <a:t>In IgG, the heavy (H) chains are composed of 440 amino acids while light (L) chains are made up of 220 amino acids. </a:t>
            </a:r>
          </a:p>
          <a:p>
            <a:r>
              <a:rPr lang="en-US" sz="4000" dirty="0"/>
              <a:t>Depending on heavy chain make-up, immunoglobulin are of the following five types:</a:t>
            </a:r>
          </a:p>
        </p:txBody>
      </p:sp>
    </p:spTree>
    <p:extLst>
      <p:ext uri="{BB962C8B-B14F-4D97-AF65-F5344CB8AC3E}">
        <p14:creationId xmlns:p14="http://schemas.microsoft.com/office/powerpoint/2010/main" val="38085451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820271"/>
          </a:xfrm>
        </p:spPr>
        <p:txBody>
          <a:bodyPr>
            <a:normAutofit/>
          </a:bodyPr>
          <a:lstStyle/>
          <a:p>
            <a:pPr algn="ctr"/>
            <a:r>
              <a:rPr lang="en-US" b="1" dirty="0" smtClean="0"/>
              <a:t>Immunoglobulin types based on heavy chains</a:t>
            </a:r>
            <a:endParaRPr lang="en-US" b="1" dirty="0"/>
          </a:p>
        </p:txBody>
      </p:sp>
      <p:sp>
        <p:nvSpPr>
          <p:cNvPr id="3" name="Content Placeholder 2"/>
          <p:cNvSpPr>
            <a:spLocks noGrp="1"/>
          </p:cNvSpPr>
          <p:nvPr>
            <p:ph idx="1"/>
          </p:nvPr>
        </p:nvSpPr>
        <p:spPr>
          <a:xfrm>
            <a:off x="838200" y="1075765"/>
            <a:ext cx="10515600" cy="5101198"/>
          </a:xfrm>
        </p:spPr>
        <p:txBody>
          <a:bodyPr>
            <a:normAutofit/>
          </a:bodyPr>
          <a:lstStyle/>
          <a:p>
            <a:pPr lvl="0"/>
            <a:r>
              <a:rPr lang="en-US" sz="4000" dirty="0"/>
              <a:t>IgG having y (gamma) heavy chain. </a:t>
            </a:r>
          </a:p>
          <a:p>
            <a:pPr lvl="0"/>
            <a:r>
              <a:rPr lang="en-US" sz="4000" dirty="0" err="1"/>
              <a:t>IgM</a:t>
            </a:r>
            <a:r>
              <a:rPr lang="en-US" sz="4000" dirty="0"/>
              <a:t> having f.1 (mu) heavy chain. </a:t>
            </a:r>
          </a:p>
          <a:p>
            <a:pPr lvl="0"/>
            <a:r>
              <a:rPr lang="en-US" sz="4000" dirty="0"/>
              <a:t>IgA having a. (alpha) heavy chain. </a:t>
            </a:r>
          </a:p>
          <a:p>
            <a:pPr lvl="0"/>
            <a:r>
              <a:rPr lang="en-US" sz="4000" dirty="0" err="1"/>
              <a:t>IgD</a:t>
            </a:r>
            <a:r>
              <a:rPr lang="en-US" sz="4000" dirty="0"/>
              <a:t> having 8 (delta) heavy chain. </a:t>
            </a:r>
          </a:p>
          <a:p>
            <a:r>
              <a:rPr lang="en-US" sz="4000" dirty="0" err="1"/>
              <a:t>IgE</a:t>
            </a:r>
            <a:r>
              <a:rPr lang="en-US" sz="4000" dirty="0"/>
              <a:t> having E (epsilon) heavy chain</a:t>
            </a:r>
          </a:p>
        </p:txBody>
      </p:sp>
    </p:spTree>
    <p:extLst>
      <p:ext uri="{BB962C8B-B14F-4D97-AF65-F5344CB8AC3E}">
        <p14:creationId xmlns:p14="http://schemas.microsoft.com/office/powerpoint/2010/main" val="102167432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153"/>
            <a:ext cx="10515600" cy="820271"/>
          </a:xfrm>
        </p:spPr>
        <p:txBody>
          <a:bodyPr>
            <a:normAutofit/>
          </a:bodyPr>
          <a:lstStyle/>
          <a:p>
            <a:pPr algn="ctr"/>
            <a:r>
              <a:rPr lang="en-US" b="1" dirty="0"/>
              <a:t>Structure of </a:t>
            </a:r>
            <a:r>
              <a:rPr lang="en-US" b="1" dirty="0" smtClean="0"/>
              <a:t>Immunoglobulin cont’d</a:t>
            </a:r>
            <a:endParaRPr lang="en-US" dirty="0"/>
          </a:p>
        </p:txBody>
      </p:sp>
      <p:sp>
        <p:nvSpPr>
          <p:cNvPr id="3" name="Content Placeholder 2"/>
          <p:cNvSpPr>
            <a:spLocks noGrp="1"/>
          </p:cNvSpPr>
          <p:nvPr>
            <p:ph idx="1"/>
          </p:nvPr>
        </p:nvSpPr>
        <p:spPr>
          <a:xfrm>
            <a:off x="838200" y="1129553"/>
            <a:ext cx="10515600" cy="5047410"/>
          </a:xfrm>
        </p:spPr>
        <p:txBody>
          <a:bodyPr>
            <a:normAutofit/>
          </a:bodyPr>
          <a:lstStyle/>
          <a:p>
            <a:pPr lvl="0"/>
            <a:r>
              <a:rPr lang="en-US" sz="4000" dirty="0"/>
              <a:t>Light chains are either kappa (k) or lambda (A,) in all classes. </a:t>
            </a:r>
          </a:p>
          <a:p>
            <a:pPr lvl="0"/>
            <a:r>
              <a:rPr lang="en-US" sz="4000" dirty="0"/>
              <a:t>Each immunoglobulin molecule has either kappa (k) or lambda (A,) chain but not both.</a:t>
            </a:r>
          </a:p>
          <a:p>
            <a:r>
              <a:rPr lang="en-US" sz="4000" dirty="0"/>
              <a:t>Each light chain is linked to one heavy chain and each heavy chain is associated with a light chain and with other heavy chains</a:t>
            </a:r>
          </a:p>
        </p:txBody>
      </p:sp>
    </p:spTree>
    <p:extLst>
      <p:ext uri="{BB962C8B-B14F-4D97-AF65-F5344CB8AC3E}">
        <p14:creationId xmlns:p14="http://schemas.microsoft.com/office/powerpoint/2010/main" val="59740579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4"/>
            <a:ext cx="10515600" cy="968188"/>
          </a:xfrm>
        </p:spPr>
        <p:txBody>
          <a:bodyPr/>
          <a:lstStyle/>
          <a:p>
            <a:pPr algn="ctr"/>
            <a:r>
              <a:rPr lang="en-US" b="1" dirty="0"/>
              <a:t>Structure of Immunoglobulin cont’d</a:t>
            </a:r>
            <a:endParaRPr lang="en-US" dirty="0"/>
          </a:p>
        </p:txBody>
      </p:sp>
      <p:sp>
        <p:nvSpPr>
          <p:cNvPr id="3" name="Content Placeholder 2"/>
          <p:cNvSpPr>
            <a:spLocks noGrp="1"/>
          </p:cNvSpPr>
          <p:nvPr>
            <p:ph idx="1"/>
          </p:nvPr>
        </p:nvSpPr>
        <p:spPr>
          <a:xfrm>
            <a:off x="838200" y="1223682"/>
            <a:ext cx="10515600" cy="4953281"/>
          </a:xfrm>
        </p:spPr>
        <p:txBody>
          <a:bodyPr>
            <a:normAutofit/>
          </a:bodyPr>
          <a:lstStyle/>
          <a:p>
            <a:pPr lvl="0"/>
            <a:r>
              <a:rPr lang="en-US" sz="4000" dirty="0"/>
              <a:t>Both heavy and light chains contain constant (C) and variable (V) regions. </a:t>
            </a:r>
          </a:p>
          <a:p>
            <a:pPr lvl="0"/>
            <a:r>
              <a:rPr lang="en-US" sz="4000" dirty="0"/>
              <a:t>These are designated as CL and VL for light chains and VH and CH for heavy chains. </a:t>
            </a:r>
          </a:p>
          <a:p>
            <a:pPr lvl="0"/>
            <a:r>
              <a:rPr lang="en-US" sz="4000" dirty="0"/>
              <a:t>The amino acid sequence in the variable regions is highly variable. </a:t>
            </a:r>
          </a:p>
          <a:p>
            <a:endParaRPr lang="en-US" sz="4000" dirty="0"/>
          </a:p>
        </p:txBody>
      </p:sp>
    </p:spTree>
    <p:extLst>
      <p:ext uri="{BB962C8B-B14F-4D97-AF65-F5344CB8AC3E}">
        <p14:creationId xmlns:p14="http://schemas.microsoft.com/office/powerpoint/2010/main" val="229166908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153"/>
            <a:ext cx="10515600" cy="685801"/>
          </a:xfrm>
        </p:spPr>
        <p:txBody>
          <a:bodyPr>
            <a:normAutofit fontScale="90000"/>
          </a:bodyPr>
          <a:lstStyle/>
          <a:p>
            <a:pPr algn="ctr"/>
            <a:r>
              <a:rPr lang="en-US" b="1" dirty="0"/>
              <a:t>Structure of Immunoglobulin cont’d</a:t>
            </a:r>
            <a:endParaRPr lang="en-US" dirty="0"/>
          </a:p>
        </p:txBody>
      </p:sp>
      <p:sp>
        <p:nvSpPr>
          <p:cNvPr id="3" name="Content Placeholder 2"/>
          <p:cNvSpPr>
            <a:spLocks noGrp="1"/>
          </p:cNvSpPr>
          <p:nvPr>
            <p:ph idx="1"/>
          </p:nvPr>
        </p:nvSpPr>
        <p:spPr>
          <a:xfrm>
            <a:off x="838200" y="1021976"/>
            <a:ext cx="10515600" cy="6239436"/>
          </a:xfrm>
        </p:spPr>
        <p:txBody>
          <a:bodyPr>
            <a:noAutofit/>
          </a:bodyPr>
          <a:lstStyle/>
          <a:p>
            <a:pPr lvl="0"/>
            <a:r>
              <a:rPr lang="en-US" sz="4000" dirty="0"/>
              <a:t>Within the V region, certain segments are observed to be more variable than other segments and are termed as </a:t>
            </a:r>
            <a:r>
              <a:rPr lang="en-US" sz="4000" dirty="0" err="1"/>
              <a:t>hypervariable</a:t>
            </a:r>
            <a:r>
              <a:rPr lang="en-US" sz="4000" dirty="0"/>
              <a:t> regions. </a:t>
            </a:r>
          </a:p>
          <a:p>
            <a:pPr lvl="0"/>
            <a:r>
              <a:rPr lang="en-US" sz="4000" dirty="0" err="1"/>
              <a:t>Hypervariable</a:t>
            </a:r>
            <a:r>
              <a:rPr lang="en-US" sz="4000" dirty="0"/>
              <a:t> sequences are also called complementary determining regions (CDRs) as they form antigen-binding site complementary to the topology of the antigen structure. </a:t>
            </a:r>
          </a:p>
        </p:txBody>
      </p:sp>
    </p:spTree>
    <p:extLst>
      <p:ext uri="{BB962C8B-B14F-4D97-AF65-F5344CB8AC3E}">
        <p14:creationId xmlns:p14="http://schemas.microsoft.com/office/powerpoint/2010/main" val="404742778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9"/>
            <a:ext cx="10515600" cy="793376"/>
          </a:xfrm>
        </p:spPr>
        <p:txBody>
          <a:bodyPr>
            <a:normAutofit/>
          </a:bodyPr>
          <a:lstStyle/>
          <a:p>
            <a:pPr algn="ctr"/>
            <a:r>
              <a:rPr lang="en-US" b="1" dirty="0"/>
              <a:t>Structure of Immunoglobulin cont’d</a:t>
            </a:r>
            <a:endParaRPr lang="en-US" dirty="0"/>
          </a:p>
        </p:txBody>
      </p:sp>
      <p:sp>
        <p:nvSpPr>
          <p:cNvPr id="3" name="Content Placeholder 2"/>
          <p:cNvSpPr>
            <a:spLocks noGrp="1"/>
          </p:cNvSpPr>
          <p:nvPr>
            <p:ph idx="1"/>
          </p:nvPr>
        </p:nvSpPr>
        <p:spPr>
          <a:xfrm>
            <a:off x="838200" y="1035424"/>
            <a:ext cx="10515600" cy="5540188"/>
          </a:xfrm>
        </p:spPr>
        <p:txBody>
          <a:bodyPr>
            <a:normAutofit/>
          </a:bodyPr>
          <a:lstStyle/>
          <a:p>
            <a:pPr lvl="0"/>
            <a:r>
              <a:rPr lang="en-US" sz="4000" dirty="0"/>
              <a:t>It is the CH region that determines the class of </a:t>
            </a:r>
            <a:r>
              <a:rPr lang="en-US" sz="4000" dirty="0" err="1"/>
              <a:t>immunoglobulins</a:t>
            </a:r>
            <a:r>
              <a:rPr lang="en-US" sz="4000" dirty="0"/>
              <a:t>. </a:t>
            </a:r>
          </a:p>
          <a:p>
            <a:r>
              <a:rPr lang="en-US" sz="4000" dirty="0"/>
              <a:t>The V regions determine the antigen specificity of the antibody molecule</a:t>
            </a:r>
          </a:p>
          <a:p>
            <a:r>
              <a:rPr lang="en-US" sz="4000" dirty="0"/>
              <a:t>Papain cleaves the </a:t>
            </a:r>
            <a:r>
              <a:rPr lang="en-US" sz="4000" dirty="0" err="1"/>
              <a:t>Ig</a:t>
            </a:r>
            <a:r>
              <a:rPr lang="en-US" sz="4000" dirty="0"/>
              <a:t> molecule, so that two Fab (fragment antigen binding) fragments and one Fe (fragment </a:t>
            </a:r>
            <a:r>
              <a:rPr lang="en-US" sz="4000" dirty="0" err="1"/>
              <a:t>crystallisable</a:t>
            </a:r>
            <a:r>
              <a:rPr lang="en-US" sz="4000" dirty="0"/>
              <a:t>) fragment are produced</a:t>
            </a:r>
          </a:p>
        </p:txBody>
      </p:sp>
    </p:spTree>
    <p:extLst>
      <p:ext uri="{BB962C8B-B14F-4D97-AF65-F5344CB8AC3E}">
        <p14:creationId xmlns:p14="http://schemas.microsoft.com/office/powerpoint/2010/main" val="74847369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1663"/>
          </a:xfrm>
        </p:spPr>
        <p:txBody>
          <a:bodyPr/>
          <a:lstStyle/>
          <a:p>
            <a:pPr algn="ctr"/>
            <a:r>
              <a:rPr lang="en-US" b="1" dirty="0"/>
              <a:t>Structure of Immunoglobulin cont’d</a:t>
            </a:r>
            <a:endParaRPr lang="en-US" dirty="0"/>
          </a:p>
        </p:txBody>
      </p:sp>
      <p:sp>
        <p:nvSpPr>
          <p:cNvPr id="3" name="Content Placeholder 2"/>
          <p:cNvSpPr>
            <a:spLocks noGrp="1"/>
          </p:cNvSpPr>
          <p:nvPr>
            <p:ph idx="1"/>
          </p:nvPr>
        </p:nvSpPr>
        <p:spPr>
          <a:xfrm>
            <a:off x="838200" y="1465729"/>
            <a:ext cx="10515600" cy="4711234"/>
          </a:xfrm>
        </p:spPr>
        <p:txBody>
          <a:bodyPr>
            <a:normAutofit/>
          </a:bodyPr>
          <a:lstStyle/>
          <a:p>
            <a:pPr lvl="0"/>
            <a:r>
              <a:rPr lang="en-US" sz="4000" dirty="0"/>
              <a:t>The antigen binding site is located in the Fab. </a:t>
            </a:r>
          </a:p>
          <a:p>
            <a:pPr lvl="0"/>
            <a:r>
              <a:rPr lang="en-US" sz="4000" dirty="0"/>
              <a:t>The Fe portion is not able to bind to the antigen but it contains a complement binding site which is exposed when interaction between Fab fragment and the antigen occurs. </a:t>
            </a:r>
          </a:p>
          <a:p>
            <a:endParaRPr lang="en-US" sz="4000" dirty="0"/>
          </a:p>
        </p:txBody>
      </p:sp>
    </p:spTree>
    <p:extLst>
      <p:ext uri="{BB962C8B-B14F-4D97-AF65-F5344CB8AC3E}">
        <p14:creationId xmlns:p14="http://schemas.microsoft.com/office/powerpoint/2010/main" val="372742109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00604"/>
          </a:xfrm>
        </p:spPr>
        <p:txBody>
          <a:bodyPr/>
          <a:lstStyle/>
          <a:p>
            <a:pPr algn="ctr"/>
            <a:r>
              <a:rPr lang="en-US" b="1" dirty="0"/>
              <a:t>Structure of Immunoglobulin cont’d</a:t>
            </a:r>
            <a:endParaRPr lang="en-US" dirty="0"/>
          </a:p>
        </p:txBody>
      </p:sp>
      <p:sp>
        <p:nvSpPr>
          <p:cNvPr id="3" name="Content Placeholder 2"/>
          <p:cNvSpPr>
            <a:spLocks noGrp="1"/>
          </p:cNvSpPr>
          <p:nvPr>
            <p:ph idx="1"/>
          </p:nvPr>
        </p:nvSpPr>
        <p:spPr>
          <a:xfrm>
            <a:off x="838200" y="1600200"/>
            <a:ext cx="10515600" cy="4576763"/>
          </a:xfrm>
        </p:spPr>
        <p:txBody>
          <a:bodyPr>
            <a:normAutofit/>
          </a:bodyPr>
          <a:lstStyle/>
          <a:p>
            <a:pPr lvl="0"/>
            <a:r>
              <a:rPr lang="en-US" sz="4000" dirty="0"/>
              <a:t>This binding occurs through </a:t>
            </a:r>
            <a:r>
              <a:rPr lang="en-US" sz="4000" dirty="0" err="1"/>
              <a:t>noncovalent</a:t>
            </a:r>
            <a:r>
              <a:rPr lang="en-US" sz="4000" dirty="0"/>
              <a:t> interactions (Van der Waals force, hydrogen bonds, and hydrophobic interactions) and triggers conformational changes similar to that observed in enzyme substrate interaction. </a:t>
            </a:r>
          </a:p>
          <a:p>
            <a:endParaRPr lang="en-US" sz="4000" dirty="0"/>
          </a:p>
        </p:txBody>
      </p:sp>
    </p:spTree>
    <p:extLst>
      <p:ext uri="{BB962C8B-B14F-4D97-AF65-F5344CB8AC3E}">
        <p14:creationId xmlns:p14="http://schemas.microsoft.com/office/powerpoint/2010/main" val="284158920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806823"/>
          </a:xfrm>
        </p:spPr>
        <p:txBody>
          <a:bodyPr>
            <a:normAutofit fontScale="90000"/>
          </a:bodyPr>
          <a:lstStyle/>
          <a:p>
            <a:pPr algn="ctr"/>
            <a:r>
              <a:rPr lang="en-US" b="1" dirty="0" smtClean="0"/>
              <a:t/>
            </a:r>
            <a:br>
              <a:rPr lang="en-US" b="1" dirty="0" smtClean="0"/>
            </a:br>
            <a:r>
              <a:rPr lang="en-US" b="1" dirty="0" smtClean="0"/>
              <a:t>Immunoglobulin </a:t>
            </a:r>
            <a:r>
              <a:rPr lang="en-US" b="1" dirty="0"/>
              <a:t>G (IgG) </a:t>
            </a:r>
            <a:r>
              <a:rPr lang="en-US" dirty="0"/>
              <a:t/>
            </a:r>
            <a:br>
              <a:rPr lang="en-US" dirty="0"/>
            </a:br>
            <a:endParaRPr lang="en-US" dirty="0"/>
          </a:p>
        </p:txBody>
      </p:sp>
      <p:sp>
        <p:nvSpPr>
          <p:cNvPr id="3" name="Content Placeholder 2"/>
          <p:cNvSpPr>
            <a:spLocks noGrp="1"/>
          </p:cNvSpPr>
          <p:nvPr>
            <p:ph idx="1"/>
          </p:nvPr>
        </p:nvSpPr>
        <p:spPr>
          <a:xfrm>
            <a:off x="838200" y="1035424"/>
            <a:ext cx="10515600" cy="5141539"/>
          </a:xfrm>
        </p:spPr>
        <p:txBody>
          <a:bodyPr>
            <a:noAutofit/>
          </a:bodyPr>
          <a:lstStyle/>
          <a:p>
            <a:pPr lvl="0"/>
            <a:r>
              <a:rPr lang="en-US" sz="4000" dirty="0" smtClean="0"/>
              <a:t>Immunoglobulin </a:t>
            </a:r>
            <a:r>
              <a:rPr lang="en-US" sz="4000" dirty="0"/>
              <a:t>that contains ¥ (gamma) heavy chains are called IgG. </a:t>
            </a:r>
          </a:p>
          <a:p>
            <a:pPr lvl="0"/>
            <a:r>
              <a:rPr lang="en-US" sz="4000" dirty="0"/>
              <a:t>IgG forms 70-80 per cent of the total </a:t>
            </a:r>
            <a:r>
              <a:rPr lang="en-US" sz="4000" dirty="0" err="1"/>
              <a:t>immunoglobulins</a:t>
            </a:r>
            <a:r>
              <a:rPr lang="en-US" sz="4000" dirty="0"/>
              <a:t> in circulation. </a:t>
            </a:r>
          </a:p>
          <a:p>
            <a:pPr lvl="0"/>
            <a:r>
              <a:rPr lang="en-US" sz="4000" dirty="0"/>
              <a:t>IgG is also known as 7SIg due to its sedimentation coefficient. </a:t>
            </a:r>
          </a:p>
          <a:p>
            <a:pPr lvl="0"/>
            <a:r>
              <a:rPr lang="en-US" sz="4000" dirty="0"/>
              <a:t>IgG promotes phagocytosis in plasma and activates the complement system. </a:t>
            </a:r>
          </a:p>
          <a:p>
            <a:pPr marL="0" lvl="0" indent="0">
              <a:buNone/>
            </a:pPr>
            <a:endParaRPr lang="en-US" sz="4000" dirty="0"/>
          </a:p>
          <a:p>
            <a:endParaRPr lang="en-US" sz="4000" dirty="0"/>
          </a:p>
        </p:txBody>
      </p:sp>
    </p:spTree>
    <p:extLst>
      <p:ext uri="{BB962C8B-B14F-4D97-AF65-F5344CB8AC3E}">
        <p14:creationId xmlns:p14="http://schemas.microsoft.com/office/powerpoint/2010/main" val="185726479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
            </a:r>
            <a:br>
              <a:rPr lang="en-US" b="1" dirty="0"/>
            </a:br>
            <a:r>
              <a:rPr lang="en-US" b="1" dirty="0"/>
              <a:t>Immunoglobulin G (IgG</a:t>
            </a:r>
            <a:r>
              <a:rPr lang="en-US" b="1" dirty="0" smtClean="0"/>
              <a:t>) cont’d </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sz="4000" dirty="0"/>
              <a:t>IgG are the only kind of antibodies that cross the placenta</a:t>
            </a:r>
          </a:p>
        </p:txBody>
      </p:sp>
    </p:spTree>
    <p:extLst>
      <p:ext uri="{BB962C8B-B14F-4D97-AF65-F5344CB8AC3E}">
        <p14:creationId xmlns:p14="http://schemas.microsoft.com/office/powerpoint/2010/main" val="247809851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981636"/>
          </a:xfrm>
        </p:spPr>
        <p:txBody>
          <a:bodyPr>
            <a:normAutofit fontScale="90000"/>
          </a:bodyPr>
          <a:lstStyle/>
          <a:p>
            <a:pPr algn="ctr"/>
            <a:r>
              <a:rPr lang="en-US" b="1" dirty="0" smtClean="0"/>
              <a:t/>
            </a:r>
            <a:br>
              <a:rPr lang="en-US" b="1" dirty="0" smtClean="0"/>
            </a:br>
            <a:r>
              <a:rPr lang="en-US" b="1" dirty="0" smtClean="0"/>
              <a:t>Immunoglobulin </a:t>
            </a:r>
            <a:r>
              <a:rPr lang="en-US" b="1" dirty="0"/>
              <a:t>A (</a:t>
            </a:r>
            <a:r>
              <a:rPr lang="en-US" b="1" dirty="0" err="1"/>
              <a:t>lgA</a:t>
            </a:r>
            <a:r>
              <a:rPr lang="en-US" b="1" dirty="0"/>
              <a:t>) </a:t>
            </a:r>
            <a:r>
              <a:rPr lang="en-US" dirty="0"/>
              <a:t/>
            </a:r>
            <a:br>
              <a:rPr lang="en-US" dirty="0"/>
            </a:br>
            <a:endParaRPr lang="en-US" dirty="0"/>
          </a:p>
        </p:txBody>
      </p:sp>
      <p:sp>
        <p:nvSpPr>
          <p:cNvPr id="3" name="Content Placeholder 2"/>
          <p:cNvSpPr>
            <a:spLocks noGrp="1"/>
          </p:cNvSpPr>
          <p:nvPr>
            <p:ph idx="1"/>
          </p:nvPr>
        </p:nvSpPr>
        <p:spPr>
          <a:xfrm>
            <a:off x="838200" y="1183341"/>
            <a:ext cx="10515600" cy="5378824"/>
          </a:xfrm>
        </p:spPr>
        <p:txBody>
          <a:bodyPr>
            <a:noAutofit/>
          </a:bodyPr>
          <a:lstStyle/>
          <a:p>
            <a:pPr lvl="0"/>
            <a:r>
              <a:rPr lang="en-US" sz="4000" dirty="0" err="1" smtClean="0"/>
              <a:t>Immunoglobulins</a:t>
            </a:r>
            <a:r>
              <a:rPr lang="en-US" sz="4000" dirty="0" smtClean="0"/>
              <a:t> </a:t>
            </a:r>
            <a:r>
              <a:rPr lang="en-US" sz="4000" dirty="0"/>
              <a:t>containing alpha (u) heavy chains are called IgA. </a:t>
            </a:r>
          </a:p>
          <a:p>
            <a:pPr lvl="0"/>
            <a:r>
              <a:rPr lang="en-US" sz="4000" dirty="0"/>
              <a:t>IgA is basically made up of two light chains (k or A) and two heavy chains. </a:t>
            </a:r>
          </a:p>
          <a:p>
            <a:pPr lvl="0"/>
            <a:r>
              <a:rPr lang="en-US" sz="4000" dirty="0"/>
              <a:t>IgA is the second largest class of </a:t>
            </a:r>
            <a:r>
              <a:rPr lang="en-US" sz="4000" dirty="0" err="1"/>
              <a:t>immunoglobulins</a:t>
            </a:r>
            <a:r>
              <a:rPr lang="en-US" sz="4000" dirty="0"/>
              <a:t>, which accounts for about 10-15 per cent of the total </a:t>
            </a:r>
            <a:r>
              <a:rPr lang="en-US" sz="4000" dirty="0" err="1"/>
              <a:t>immunoglobulins</a:t>
            </a:r>
            <a:r>
              <a:rPr lang="en-US" sz="4000" dirty="0"/>
              <a:t>. </a:t>
            </a:r>
          </a:p>
          <a:p>
            <a:pPr lvl="0"/>
            <a:r>
              <a:rPr lang="en-US" sz="4000" dirty="0"/>
              <a:t>They are found mainly in mucosal secretions, tears, </a:t>
            </a:r>
            <a:r>
              <a:rPr lang="en-US" sz="4000" dirty="0" err="1"/>
              <a:t>colostrums</a:t>
            </a:r>
            <a:r>
              <a:rPr lang="en-US" sz="4000" dirty="0"/>
              <a:t> and milk. </a:t>
            </a:r>
          </a:p>
        </p:txBody>
      </p:sp>
    </p:spTree>
    <p:extLst>
      <p:ext uri="{BB962C8B-B14F-4D97-AF65-F5344CB8AC3E}">
        <p14:creationId xmlns:p14="http://schemas.microsoft.com/office/powerpoint/2010/main" val="55051922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
            </a:r>
            <a:br>
              <a:rPr lang="en-US" b="1" dirty="0"/>
            </a:br>
            <a:r>
              <a:rPr lang="en-US" b="1" dirty="0"/>
              <a:t>Immunoglobulin A (</a:t>
            </a:r>
            <a:r>
              <a:rPr lang="en-US" b="1" dirty="0" err="1"/>
              <a:t>lgA</a:t>
            </a:r>
            <a:r>
              <a:rPr lang="en-US" b="1" dirty="0" smtClean="0"/>
              <a:t>) cont’d </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sz="4000" dirty="0"/>
              <a:t>They are the initial </a:t>
            </a:r>
            <a:r>
              <a:rPr lang="en-US" sz="4000" dirty="0" err="1"/>
              <a:t>defence</a:t>
            </a:r>
            <a:r>
              <a:rPr lang="en-US" sz="4000" dirty="0"/>
              <a:t> in mucosa against </a:t>
            </a:r>
            <a:r>
              <a:rPr lang="en-US" sz="4000" dirty="0" smtClean="0"/>
              <a:t>pathogens</a:t>
            </a:r>
            <a:endParaRPr lang="en-US" sz="4000" dirty="0"/>
          </a:p>
        </p:txBody>
      </p:sp>
    </p:spTree>
    <p:extLst>
      <p:ext uri="{BB962C8B-B14F-4D97-AF65-F5344CB8AC3E}">
        <p14:creationId xmlns:p14="http://schemas.microsoft.com/office/powerpoint/2010/main" val="122660913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77"/>
            <a:ext cx="10515600" cy="860612"/>
          </a:xfrm>
        </p:spPr>
        <p:txBody>
          <a:bodyPr>
            <a:normAutofit/>
          </a:bodyPr>
          <a:lstStyle/>
          <a:p>
            <a:pPr algn="ctr"/>
            <a:r>
              <a:rPr lang="en-US" b="1" dirty="0"/>
              <a:t>Immunoglobulin M (</a:t>
            </a:r>
            <a:r>
              <a:rPr lang="en-US" b="1" dirty="0" err="1"/>
              <a:t>lgM</a:t>
            </a:r>
            <a:r>
              <a:rPr lang="en-US" b="1" dirty="0"/>
              <a:t>)</a:t>
            </a:r>
            <a:endParaRPr lang="en-US" dirty="0"/>
          </a:p>
        </p:txBody>
      </p:sp>
      <p:sp>
        <p:nvSpPr>
          <p:cNvPr id="3" name="Content Placeholder 2"/>
          <p:cNvSpPr>
            <a:spLocks noGrp="1"/>
          </p:cNvSpPr>
          <p:nvPr>
            <p:ph idx="1"/>
          </p:nvPr>
        </p:nvSpPr>
        <p:spPr>
          <a:xfrm>
            <a:off x="838200" y="1062318"/>
            <a:ext cx="10515600" cy="5114645"/>
          </a:xfrm>
        </p:spPr>
        <p:txBody>
          <a:bodyPr>
            <a:normAutofit/>
          </a:bodyPr>
          <a:lstStyle/>
          <a:p>
            <a:r>
              <a:rPr lang="en-US" sz="4000" dirty="0" err="1" smtClean="0"/>
              <a:t>IgM</a:t>
            </a:r>
            <a:r>
              <a:rPr lang="en-US" sz="4000" dirty="0" smtClean="0"/>
              <a:t> </a:t>
            </a:r>
            <a:r>
              <a:rPr lang="en-US" sz="4000" dirty="0"/>
              <a:t>contains mu (u) heavy chains. </a:t>
            </a:r>
          </a:p>
          <a:p>
            <a:pPr lvl="0"/>
            <a:r>
              <a:rPr lang="en-US" sz="4000" dirty="0" err="1"/>
              <a:t>IgM</a:t>
            </a:r>
            <a:r>
              <a:rPr lang="en-US" sz="4000" dirty="0"/>
              <a:t> are also known as </a:t>
            </a:r>
            <a:r>
              <a:rPr lang="en-US" sz="4000" dirty="0" err="1"/>
              <a:t>macroglobulins</a:t>
            </a:r>
            <a:r>
              <a:rPr lang="en-US" sz="4000" dirty="0"/>
              <a:t> or 19S globulins. </a:t>
            </a:r>
          </a:p>
          <a:p>
            <a:pPr lvl="0"/>
            <a:r>
              <a:rPr lang="en-US" sz="4000" dirty="0" err="1"/>
              <a:t>IgM</a:t>
            </a:r>
            <a:r>
              <a:rPr lang="en-US" sz="4000" dirty="0"/>
              <a:t> is a polymer of five immunoglobulin molecules, each consisting of two light and two heavy chains. </a:t>
            </a:r>
          </a:p>
          <a:p>
            <a:r>
              <a:rPr lang="en-US" sz="4000" dirty="0" err="1"/>
              <a:t>IgM</a:t>
            </a:r>
            <a:r>
              <a:rPr lang="en-US" sz="4000" dirty="0"/>
              <a:t> antibodies are expanded in the surface of B cells and are formed primarily in the plasma</a:t>
            </a:r>
          </a:p>
        </p:txBody>
      </p:sp>
    </p:spTree>
    <p:extLst>
      <p:ext uri="{BB962C8B-B14F-4D97-AF65-F5344CB8AC3E}">
        <p14:creationId xmlns:p14="http://schemas.microsoft.com/office/powerpoint/2010/main" val="68597388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5"/>
            <a:ext cx="10515600" cy="995082"/>
          </a:xfrm>
        </p:spPr>
        <p:txBody>
          <a:bodyPr/>
          <a:lstStyle/>
          <a:p>
            <a:pPr algn="ctr"/>
            <a:r>
              <a:rPr lang="en-US" b="1" dirty="0"/>
              <a:t>Immunoglobulin M (</a:t>
            </a:r>
            <a:r>
              <a:rPr lang="en-US" b="1" dirty="0" err="1"/>
              <a:t>lgM</a:t>
            </a:r>
            <a:r>
              <a:rPr lang="en-US" b="1" dirty="0" smtClean="0"/>
              <a:t>) cont’d</a:t>
            </a:r>
            <a:endParaRPr lang="en-US" dirty="0"/>
          </a:p>
        </p:txBody>
      </p:sp>
      <p:sp>
        <p:nvSpPr>
          <p:cNvPr id="3" name="Content Placeholder 2"/>
          <p:cNvSpPr>
            <a:spLocks noGrp="1"/>
          </p:cNvSpPr>
          <p:nvPr>
            <p:ph idx="1"/>
          </p:nvPr>
        </p:nvSpPr>
        <p:spPr>
          <a:xfrm>
            <a:off x="838200" y="1237128"/>
            <a:ext cx="10515600" cy="5338483"/>
          </a:xfrm>
        </p:spPr>
        <p:txBody>
          <a:bodyPr>
            <a:normAutofit/>
          </a:bodyPr>
          <a:lstStyle/>
          <a:p>
            <a:pPr lvl="0"/>
            <a:r>
              <a:rPr lang="en-US" sz="4000" dirty="0"/>
              <a:t>These are the first antibodies produced in significant quantities against an antigen. </a:t>
            </a:r>
          </a:p>
          <a:p>
            <a:pPr lvl="0"/>
            <a:r>
              <a:rPr lang="en-US" sz="4000" dirty="0"/>
              <a:t>Natural antibodies are also </a:t>
            </a:r>
            <a:r>
              <a:rPr lang="en-US" sz="4000" dirty="0" err="1"/>
              <a:t>IgM</a:t>
            </a:r>
            <a:r>
              <a:rPr lang="en-US" sz="4000" dirty="0"/>
              <a:t> in nature. </a:t>
            </a:r>
          </a:p>
          <a:p>
            <a:pPr lvl="0"/>
            <a:r>
              <a:rPr lang="en-US" sz="4000" dirty="0"/>
              <a:t>Due to multivalent sites, </a:t>
            </a:r>
            <a:r>
              <a:rPr lang="en-US" sz="4000" dirty="0" err="1"/>
              <a:t>IgM</a:t>
            </a:r>
            <a:r>
              <a:rPr lang="en-US" sz="4000" dirty="0"/>
              <a:t> is highly effective as an agglutinating antibody. </a:t>
            </a:r>
          </a:p>
          <a:p>
            <a:pPr lvl="0"/>
            <a:r>
              <a:rPr lang="en-US" sz="4000" dirty="0" err="1"/>
              <a:t>IgM</a:t>
            </a:r>
            <a:r>
              <a:rPr lang="en-US" sz="4000" dirty="0"/>
              <a:t> antibodies promote phagocytosis and activate complement system. </a:t>
            </a:r>
          </a:p>
          <a:p>
            <a:endParaRPr lang="en-US" sz="4000" dirty="0"/>
          </a:p>
        </p:txBody>
      </p:sp>
    </p:spTree>
    <p:extLst>
      <p:ext uri="{BB962C8B-B14F-4D97-AF65-F5344CB8AC3E}">
        <p14:creationId xmlns:p14="http://schemas.microsoft.com/office/powerpoint/2010/main" val="157896031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9581"/>
          </a:xfrm>
        </p:spPr>
        <p:txBody>
          <a:bodyPr/>
          <a:lstStyle/>
          <a:p>
            <a:pPr algn="ctr"/>
            <a:r>
              <a:rPr lang="en-US" b="1" dirty="0" smtClean="0"/>
              <a:t>Immunoglobulin D</a:t>
            </a:r>
            <a:endParaRPr lang="en-US" dirty="0"/>
          </a:p>
        </p:txBody>
      </p:sp>
      <p:sp>
        <p:nvSpPr>
          <p:cNvPr id="3" name="Content Placeholder 2"/>
          <p:cNvSpPr>
            <a:spLocks noGrp="1"/>
          </p:cNvSpPr>
          <p:nvPr>
            <p:ph idx="1"/>
          </p:nvPr>
        </p:nvSpPr>
        <p:spPr>
          <a:xfrm>
            <a:off x="838200" y="1452282"/>
            <a:ext cx="10515600" cy="4724681"/>
          </a:xfrm>
        </p:spPr>
        <p:txBody>
          <a:bodyPr>
            <a:normAutofit/>
          </a:bodyPr>
          <a:lstStyle/>
          <a:p>
            <a:pPr lvl="0"/>
            <a:r>
              <a:rPr lang="en-US" sz="4000" dirty="0" err="1" smtClean="0"/>
              <a:t>IgD</a:t>
            </a:r>
            <a:r>
              <a:rPr lang="en-US" sz="4000" dirty="0" smtClean="0"/>
              <a:t> </a:t>
            </a:r>
            <a:r>
              <a:rPr lang="en-US" sz="4000" dirty="0"/>
              <a:t>contains delta (δ) heavy chains. </a:t>
            </a:r>
          </a:p>
          <a:p>
            <a:r>
              <a:rPr lang="en-US" sz="4000" dirty="0" err="1"/>
              <a:t>IgD</a:t>
            </a:r>
            <a:r>
              <a:rPr lang="en-US" sz="4000" dirty="0"/>
              <a:t> antibodies are found on the surface of B cells that have not been exposed to antigens</a:t>
            </a:r>
          </a:p>
        </p:txBody>
      </p:sp>
    </p:spTree>
    <p:extLst>
      <p:ext uri="{BB962C8B-B14F-4D97-AF65-F5344CB8AC3E}">
        <p14:creationId xmlns:p14="http://schemas.microsoft.com/office/powerpoint/2010/main" val="379116959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021976"/>
          </a:xfrm>
        </p:spPr>
        <p:txBody>
          <a:bodyPr>
            <a:normAutofit fontScale="90000"/>
          </a:bodyPr>
          <a:lstStyle/>
          <a:p>
            <a:pPr algn="ctr"/>
            <a:r>
              <a:rPr lang="en-US" b="1" dirty="0" smtClean="0"/>
              <a:t/>
            </a:r>
            <a:br>
              <a:rPr lang="en-US" b="1" dirty="0" smtClean="0"/>
            </a:br>
            <a:r>
              <a:rPr lang="en-US" b="1" dirty="0" smtClean="0"/>
              <a:t>Immunoglobulin </a:t>
            </a:r>
            <a:r>
              <a:rPr lang="en-US" b="1" dirty="0"/>
              <a:t>E (</a:t>
            </a:r>
            <a:r>
              <a:rPr lang="en-US" b="1" dirty="0" err="1"/>
              <a:t>lgE</a:t>
            </a:r>
            <a:r>
              <a:rPr lang="en-US" b="1" dirty="0"/>
              <a:t>) </a:t>
            </a:r>
            <a:r>
              <a:rPr lang="en-US" dirty="0"/>
              <a:t/>
            </a:r>
            <a:br>
              <a:rPr lang="en-US" dirty="0"/>
            </a:br>
            <a:endParaRPr lang="en-US" dirty="0"/>
          </a:p>
        </p:txBody>
      </p:sp>
      <p:sp>
        <p:nvSpPr>
          <p:cNvPr id="3" name="Content Placeholder 2"/>
          <p:cNvSpPr>
            <a:spLocks noGrp="1"/>
          </p:cNvSpPr>
          <p:nvPr>
            <p:ph idx="1"/>
          </p:nvPr>
        </p:nvSpPr>
        <p:spPr>
          <a:xfrm>
            <a:off x="838200" y="900953"/>
            <a:ext cx="10515600" cy="5276010"/>
          </a:xfrm>
        </p:spPr>
        <p:txBody>
          <a:bodyPr>
            <a:noAutofit/>
          </a:bodyPr>
          <a:lstStyle/>
          <a:p>
            <a:pPr lvl="0"/>
            <a:r>
              <a:rPr lang="en-US" sz="4000" dirty="0" err="1" smtClean="0"/>
              <a:t>IgE</a:t>
            </a:r>
            <a:r>
              <a:rPr lang="en-US" sz="4000" dirty="0" smtClean="0"/>
              <a:t> </a:t>
            </a:r>
            <a:r>
              <a:rPr lang="en-US" sz="4000" dirty="0"/>
              <a:t>contains </a:t>
            </a:r>
            <a:r>
              <a:rPr lang="en-US" sz="4000" dirty="0" err="1"/>
              <a:t>eplsion</a:t>
            </a:r>
            <a:r>
              <a:rPr lang="en-US" sz="4000" dirty="0"/>
              <a:t> (€) heavy chains. </a:t>
            </a:r>
          </a:p>
          <a:p>
            <a:pPr lvl="0"/>
            <a:r>
              <a:rPr lang="en-US" sz="4000" dirty="0" err="1"/>
              <a:t>IgE</a:t>
            </a:r>
            <a:r>
              <a:rPr lang="en-US" sz="4000" dirty="0"/>
              <a:t> is present in blood in very small amounts. </a:t>
            </a:r>
          </a:p>
          <a:p>
            <a:pPr lvl="0"/>
            <a:r>
              <a:rPr lang="en-US" sz="4000" dirty="0"/>
              <a:t>Due to its </a:t>
            </a:r>
            <a:r>
              <a:rPr lang="en-US" sz="4000" dirty="0" err="1"/>
              <a:t>cytophilic</a:t>
            </a:r>
            <a:r>
              <a:rPr lang="en-US" sz="4000" dirty="0"/>
              <a:t> properties, it is mostly bound to cells and in circulation, it is present only in trace quantities. </a:t>
            </a:r>
          </a:p>
          <a:p>
            <a:pPr lvl="0"/>
            <a:r>
              <a:rPr lang="en-US" sz="4000" dirty="0" err="1"/>
              <a:t>IgE</a:t>
            </a:r>
            <a:r>
              <a:rPr lang="en-US" sz="4000" dirty="0"/>
              <a:t> is a monomer and plays an important role in allergic reactions. </a:t>
            </a:r>
          </a:p>
          <a:p>
            <a:pPr lvl="0"/>
            <a:r>
              <a:rPr lang="en-US" sz="4000" dirty="0" err="1"/>
              <a:t>IgE</a:t>
            </a:r>
            <a:r>
              <a:rPr lang="en-US" sz="4000" dirty="0"/>
              <a:t> levels increase in worm infections. </a:t>
            </a:r>
          </a:p>
          <a:p>
            <a:pPr marL="0" indent="0">
              <a:buNone/>
            </a:pPr>
            <a:endParaRPr lang="en-US" sz="4000" dirty="0"/>
          </a:p>
          <a:p>
            <a:endParaRPr lang="en-US" sz="4000" dirty="0"/>
          </a:p>
        </p:txBody>
      </p:sp>
    </p:spTree>
    <p:extLst>
      <p:ext uri="{BB962C8B-B14F-4D97-AF65-F5344CB8AC3E}">
        <p14:creationId xmlns:p14="http://schemas.microsoft.com/office/powerpoint/2010/main" val="17991000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4"/>
            <a:ext cx="10515600" cy="1169894"/>
          </a:xfrm>
        </p:spPr>
        <p:txBody>
          <a:bodyPr>
            <a:noAutofit/>
          </a:bodyPr>
          <a:lstStyle/>
          <a:p>
            <a:pPr algn="ctr"/>
            <a:r>
              <a:rPr lang="en-US" b="1" dirty="0" smtClean="0"/>
              <a:t/>
            </a:r>
            <a:br>
              <a:rPr lang="en-US" b="1" dirty="0" smtClean="0"/>
            </a:br>
            <a:r>
              <a:rPr lang="en-US" b="1" dirty="0" smtClean="0"/>
              <a:t>Biological </a:t>
            </a:r>
            <a:r>
              <a:rPr lang="en-US" b="1" dirty="0"/>
              <a:t>properties of different </a:t>
            </a:r>
            <a:r>
              <a:rPr lang="en-US" b="1" dirty="0" err="1"/>
              <a:t>immunoglobulins</a:t>
            </a:r>
            <a:r>
              <a:rPr lang="en-US" dirty="0"/>
              <a:t/>
            </a:r>
            <a:br>
              <a:rPr lang="en-US" dirty="0"/>
            </a:br>
            <a:endParaRPr lang="en-US"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739588" y="1290918"/>
            <a:ext cx="10614212" cy="5190564"/>
          </a:xfrm>
          <a:prstGeom prst="rect">
            <a:avLst/>
          </a:prstGeom>
        </p:spPr>
      </p:pic>
    </p:spTree>
    <p:extLst>
      <p:ext uri="{BB962C8B-B14F-4D97-AF65-F5344CB8AC3E}">
        <p14:creationId xmlns:p14="http://schemas.microsoft.com/office/powerpoint/2010/main" val="159779875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9"/>
            <a:ext cx="10515600" cy="968188"/>
          </a:xfrm>
        </p:spPr>
        <p:txBody>
          <a:bodyPr>
            <a:noAutofit/>
          </a:bodyPr>
          <a:lstStyle/>
          <a:p>
            <a:pPr algn="ctr"/>
            <a:r>
              <a:rPr lang="en-US" b="1" dirty="0" smtClean="0"/>
              <a:t/>
            </a:r>
            <a:br>
              <a:rPr lang="en-US" b="1" dirty="0" smtClean="0"/>
            </a:br>
            <a:r>
              <a:rPr lang="en-US" b="1" dirty="0" smtClean="0"/>
              <a:t>Genetic </a:t>
            </a:r>
            <a:r>
              <a:rPr lang="en-US" b="1" dirty="0"/>
              <a:t>Basis of Antibodies Diversity </a:t>
            </a:r>
            <a:r>
              <a:rPr lang="en-US" dirty="0"/>
              <a:t/>
            </a:r>
            <a:br>
              <a:rPr lang="en-US" dirty="0"/>
            </a:br>
            <a:endParaRPr lang="en-US" dirty="0"/>
          </a:p>
        </p:txBody>
      </p:sp>
      <p:sp>
        <p:nvSpPr>
          <p:cNvPr id="3" name="Content Placeholder 2"/>
          <p:cNvSpPr>
            <a:spLocks noGrp="1"/>
          </p:cNvSpPr>
          <p:nvPr>
            <p:ph idx="1"/>
          </p:nvPr>
        </p:nvSpPr>
        <p:spPr>
          <a:xfrm>
            <a:off x="838200" y="1344706"/>
            <a:ext cx="10515600" cy="4832257"/>
          </a:xfrm>
        </p:spPr>
        <p:txBody>
          <a:bodyPr>
            <a:normAutofit/>
          </a:bodyPr>
          <a:lstStyle/>
          <a:p>
            <a:pPr lvl="0"/>
            <a:r>
              <a:rPr lang="en-US" sz="4000" dirty="0" smtClean="0"/>
              <a:t>The </a:t>
            </a:r>
            <a:r>
              <a:rPr lang="en-US" sz="4000" dirty="0" err="1"/>
              <a:t>Ig</a:t>
            </a:r>
            <a:r>
              <a:rPr lang="en-US" sz="4000" dirty="0"/>
              <a:t> molecule is a tetramer having two types of polypeptide chains, in which, one is known as light (L) chain and the other is called heavy (H) chain. </a:t>
            </a:r>
          </a:p>
          <a:p>
            <a:pPr lvl="0"/>
            <a:r>
              <a:rPr lang="en-US" sz="4000" dirty="0"/>
              <a:t>Each chain is coded by a single interrupted gene. </a:t>
            </a:r>
          </a:p>
          <a:p>
            <a:r>
              <a:rPr lang="en-US" sz="4000" dirty="0"/>
              <a:t>Any type of light chain can associate with any type of heavy chain</a:t>
            </a:r>
          </a:p>
        </p:txBody>
      </p:sp>
    </p:spTree>
    <p:extLst>
      <p:ext uri="{BB962C8B-B14F-4D97-AF65-F5344CB8AC3E}">
        <p14:creationId xmlns:p14="http://schemas.microsoft.com/office/powerpoint/2010/main" val="356649882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259"/>
            <a:ext cx="10515600" cy="833717"/>
          </a:xfrm>
        </p:spPr>
        <p:txBody>
          <a:bodyPr>
            <a:noAutofit/>
          </a:bodyPr>
          <a:lstStyle/>
          <a:p>
            <a:pPr algn="ctr"/>
            <a:r>
              <a:rPr lang="en-US" b="1" dirty="0"/>
              <a:t/>
            </a:r>
            <a:br>
              <a:rPr lang="en-US" b="1" dirty="0"/>
            </a:br>
            <a:r>
              <a:rPr lang="en-US" b="1" dirty="0"/>
              <a:t>Genetic Basis of Antibodies Diversity </a:t>
            </a:r>
            <a:r>
              <a:rPr lang="en-US" b="1" dirty="0" smtClean="0"/>
              <a:t> Cont’d</a:t>
            </a:r>
            <a:r>
              <a:rPr lang="en-US" dirty="0"/>
              <a:t/>
            </a:r>
            <a:br>
              <a:rPr lang="en-US" dirty="0"/>
            </a:br>
            <a:endParaRPr lang="en-US" dirty="0"/>
          </a:p>
        </p:txBody>
      </p:sp>
      <p:sp>
        <p:nvSpPr>
          <p:cNvPr id="3" name="Content Placeholder 2"/>
          <p:cNvSpPr>
            <a:spLocks noGrp="1"/>
          </p:cNvSpPr>
          <p:nvPr>
            <p:ph idx="1"/>
          </p:nvPr>
        </p:nvSpPr>
        <p:spPr>
          <a:xfrm>
            <a:off x="838200" y="1156447"/>
            <a:ext cx="10515600" cy="5020516"/>
          </a:xfrm>
        </p:spPr>
        <p:txBody>
          <a:bodyPr>
            <a:normAutofit/>
          </a:bodyPr>
          <a:lstStyle/>
          <a:p>
            <a:pPr lvl="0"/>
            <a:r>
              <a:rPr lang="en-US" sz="4000" dirty="0"/>
              <a:t>Each protein chain is composed of two main regions, viz., the N-terminal variable or V region and the C-terminal constant or C region. </a:t>
            </a:r>
          </a:p>
          <a:p>
            <a:r>
              <a:rPr lang="en-US" sz="4000" dirty="0"/>
              <a:t>There exists considerable variation in sequence from one protein to another in the variable region, while constant region exhibits considerable homology among the proteins</a:t>
            </a:r>
          </a:p>
        </p:txBody>
      </p:sp>
    </p:spTree>
    <p:extLst>
      <p:ext uri="{BB962C8B-B14F-4D97-AF65-F5344CB8AC3E}">
        <p14:creationId xmlns:p14="http://schemas.microsoft.com/office/powerpoint/2010/main" val="66221685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116105"/>
          </a:xfrm>
        </p:spPr>
        <p:txBody>
          <a:bodyPr>
            <a:normAutofit fontScale="90000"/>
          </a:bodyPr>
          <a:lstStyle/>
          <a:p>
            <a:pPr algn="ctr"/>
            <a:r>
              <a:rPr lang="en-US" b="1" dirty="0"/>
              <a:t/>
            </a:r>
            <a:br>
              <a:rPr lang="en-US" b="1" dirty="0"/>
            </a:br>
            <a:r>
              <a:rPr lang="en-US" b="1" dirty="0"/>
              <a:t>Genetic Basis of Antibodies Diversity  Cont’d</a:t>
            </a:r>
            <a:r>
              <a:rPr lang="en-US" dirty="0"/>
              <a:t/>
            </a:r>
            <a:br>
              <a:rPr lang="en-US" dirty="0"/>
            </a:br>
            <a:endParaRPr lang="en-US" dirty="0"/>
          </a:p>
        </p:txBody>
      </p:sp>
      <p:sp>
        <p:nvSpPr>
          <p:cNvPr id="3" name="Content Placeholder 2"/>
          <p:cNvSpPr>
            <a:spLocks noGrp="1"/>
          </p:cNvSpPr>
          <p:nvPr>
            <p:ph idx="1"/>
          </p:nvPr>
        </p:nvSpPr>
        <p:spPr>
          <a:xfrm>
            <a:off x="838200" y="1116106"/>
            <a:ext cx="10515600" cy="5446059"/>
          </a:xfrm>
        </p:spPr>
        <p:txBody>
          <a:bodyPr>
            <a:normAutofit/>
          </a:bodyPr>
          <a:lstStyle/>
          <a:p>
            <a:pPr lvl="0"/>
            <a:r>
              <a:rPr lang="en-US" sz="4000" dirty="0"/>
              <a:t>The V domain is generated by joining the variable regions of the light and heavy chains. </a:t>
            </a:r>
          </a:p>
          <a:p>
            <a:pPr lvl="0"/>
            <a:r>
              <a:rPr lang="en-US" sz="4000" dirty="0"/>
              <a:t>There are many genes coding for variable regions while there are only few genes coding for constant regions. </a:t>
            </a:r>
          </a:p>
          <a:p>
            <a:r>
              <a:rPr lang="en-US" sz="4000" dirty="0"/>
              <a:t>It is to be noted that neither V gene (coding for variable region) nor C gene (coding for constant region) is expressed independently</a:t>
            </a:r>
          </a:p>
        </p:txBody>
      </p:sp>
    </p:spTree>
    <p:extLst>
      <p:ext uri="{BB962C8B-B14F-4D97-AF65-F5344CB8AC3E}">
        <p14:creationId xmlns:p14="http://schemas.microsoft.com/office/powerpoint/2010/main" val="104800068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008530"/>
          </a:xfrm>
        </p:spPr>
        <p:txBody>
          <a:bodyPr>
            <a:normAutofit fontScale="90000"/>
          </a:bodyPr>
          <a:lstStyle/>
          <a:p>
            <a:pPr algn="ctr"/>
            <a:r>
              <a:rPr lang="en-US" b="1" dirty="0"/>
              <a:t/>
            </a:r>
            <a:br>
              <a:rPr lang="en-US" b="1" dirty="0"/>
            </a:br>
            <a:r>
              <a:rPr lang="en-US" b="1" dirty="0"/>
              <a:t>Genetic Basis of Antibodies Diversity  Cont’d</a:t>
            </a:r>
            <a:r>
              <a:rPr lang="en-US" dirty="0"/>
              <a:t/>
            </a:r>
            <a:br>
              <a:rPr lang="en-US" dirty="0"/>
            </a:br>
            <a:endParaRPr lang="en-US" dirty="0"/>
          </a:p>
        </p:txBody>
      </p:sp>
      <p:sp>
        <p:nvSpPr>
          <p:cNvPr id="3" name="Content Placeholder 2"/>
          <p:cNvSpPr>
            <a:spLocks noGrp="1"/>
          </p:cNvSpPr>
          <p:nvPr>
            <p:ph idx="1"/>
          </p:nvPr>
        </p:nvSpPr>
        <p:spPr>
          <a:xfrm>
            <a:off x="838200" y="1102659"/>
            <a:ext cx="10515600" cy="5074304"/>
          </a:xfrm>
        </p:spPr>
        <p:txBody>
          <a:bodyPr>
            <a:normAutofit/>
          </a:bodyPr>
          <a:lstStyle/>
          <a:p>
            <a:pPr lvl="0"/>
            <a:r>
              <a:rPr lang="en-US" sz="4000" dirty="0"/>
              <a:t>V gene must be joined physically with C gene to form a unit in the form of a light or heavy chain. </a:t>
            </a:r>
          </a:p>
          <a:p>
            <a:pPr lvl="0"/>
            <a:r>
              <a:rPr lang="en-US" sz="4000" dirty="0"/>
              <a:t>Thus, two genes code for a single polypeptide chain. </a:t>
            </a:r>
          </a:p>
          <a:p>
            <a:pPr lvl="0"/>
            <a:r>
              <a:rPr lang="en-US" sz="4000" dirty="0"/>
              <a:t>There are three immunoglobulin gene families: </a:t>
            </a:r>
          </a:p>
          <a:p>
            <a:pPr marL="0" indent="0">
              <a:buNone/>
            </a:pPr>
            <a:endParaRPr lang="en-US" sz="4000" dirty="0"/>
          </a:p>
        </p:txBody>
      </p:sp>
    </p:spTree>
    <p:extLst>
      <p:ext uri="{BB962C8B-B14F-4D97-AF65-F5344CB8AC3E}">
        <p14:creationId xmlns:p14="http://schemas.microsoft.com/office/powerpoint/2010/main" val="102695357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4753" y="430305"/>
            <a:ext cx="10515600" cy="954742"/>
          </a:xfrm>
        </p:spPr>
        <p:txBody>
          <a:bodyPr>
            <a:normAutofit/>
          </a:bodyPr>
          <a:lstStyle/>
          <a:p>
            <a:pPr algn="ctr"/>
            <a:r>
              <a:rPr lang="en-US" b="1" dirty="0"/>
              <a:t>There are three immunoglobulin gene families</a:t>
            </a:r>
          </a:p>
        </p:txBody>
      </p:sp>
      <p:pic>
        <p:nvPicPr>
          <p:cNvPr id="4" name="Content Placeholder 3" descr="C:\Users\DANIEL\Pictures\My Scans\scan0003.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4753" y="1667435"/>
            <a:ext cx="10134600" cy="4827493"/>
          </a:xfrm>
          <a:prstGeom prst="rect">
            <a:avLst/>
          </a:prstGeom>
          <a:noFill/>
          <a:ln>
            <a:noFill/>
          </a:ln>
        </p:spPr>
      </p:pic>
    </p:spTree>
    <p:extLst>
      <p:ext uri="{BB962C8B-B14F-4D97-AF65-F5344CB8AC3E}">
        <p14:creationId xmlns:p14="http://schemas.microsoft.com/office/powerpoint/2010/main" val="135582638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
            </a:r>
            <a:br>
              <a:rPr lang="en-US" b="1" dirty="0"/>
            </a:br>
            <a:r>
              <a:rPr lang="en-US" b="1" dirty="0"/>
              <a:t>Genetic Basis of Antibodies Diversity  Cont’d</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sz="4000" dirty="0"/>
              <a:t>The following two theories have been proposed to explain the ability of B cells to produce </a:t>
            </a:r>
            <a:r>
              <a:rPr lang="en-US" sz="4000" dirty="0" err="1"/>
              <a:t>immunoglobulins</a:t>
            </a:r>
            <a:endParaRPr lang="en-US" sz="4000" dirty="0"/>
          </a:p>
          <a:p>
            <a:endParaRPr lang="en-US" sz="4000" dirty="0"/>
          </a:p>
        </p:txBody>
      </p:sp>
    </p:spTree>
    <p:extLst>
      <p:ext uri="{BB962C8B-B14F-4D97-AF65-F5344CB8AC3E}">
        <p14:creationId xmlns:p14="http://schemas.microsoft.com/office/powerpoint/2010/main" val="106859198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87506"/>
          </a:xfrm>
        </p:spPr>
        <p:txBody>
          <a:bodyPr>
            <a:normAutofit fontScale="90000"/>
          </a:bodyPr>
          <a:lstStyle/>
          <a:p>
            <a:pPr lvl="0" algn="ctr"/>
            <a:r>
              <a:rPr lang="en-US" b="1" dirty="0" smtClean="0"/>
              <a:t/>
            </a:r>
            <a:br>
              <a:rPr lang="en-US" b="1" dirty="0" smtClean="0"/>
            </a:br>
            <a:r>
              <a:rPr lang="en-US" b="1" dirty="0" smtClean="0"/>
              <a:t>1. Somatic </a:t>
            </a:r>
            <a:r>
              <a:rPr lang="en-US" b="1" dirty="0"/>
              <a:t>Variation Theory </a:t>
            </a:r>
            <a:r>
              <a:rPr lang="en-US" dirty="0"/>
              <a:t/>
            </a:r>
            <a:br>
              <a:rPr lang="en-US" dirty="0"/>
            </a:br>
            <a:endParaRPr lang="en-US" dirty="0"/>
          </a:p>
        </p:txBody>
      </p:sp>
      <p:sp>
        <p:nvSpPr>
          <p:cNvPr id="3" name="Content Placeholder 2"/>
          <p:cNvSpPr>
            <a:spLocks noGrp="1"/>
          </p:cNvSpPr>
          <p:nvPr>
            <p:ph idx="1"/>
          </p:nvPr>
        </p:nvSpPr>
        <p:spPr>
          <a:xfrm>
            <a:off x="838200" y="1089212"/>
            <a:ext cx="10515600" cy="5087751"/>
          </a:xfrm>
        </p:spPr>
        <p:txBody>
          <a:bodyPr>
            <a:normAutofit/>
          </a:bodyPr>
          <a:lstStyle/>
          <a:p>
            <a:r>
              <a:rPr lang="en-US" sz="4000" dirty="0" smtClean="0"/>
              <a:t>This </a:t>
            </a:r>
            <a:r>
              <a:rPr lang="en-US" sz="4000" dirty="0"/>
              <a:t>theory states that germ line contains a limited number of variation genes, which are diversified by mutation or </a:t>
            </a:r>
            <a:r>
              <a:rPr lang="en-US" sz="4000" dirty="0" err="1"/>
              <a:t>recombinational</a:t>
            </a:r>
            <a:r>
              <a:rPr lang="en-US" sz="4000" dirty="0"/>
              <a:t> events during embryonic development of the immune system</a:t>
            </a:r>
          </a:p>
          <a:p>
            <a:endParaRPr lang="en-US" sz="4000" dirty="0"/>
          </a:p>
        </p:txBody>
      </p:sp>
    </p:spTree>
    <p:extLst>
      <p:ext uri="{BB962C8B-B14F-4D97-AF65-F5344CB8AC3E}">
        <p14:creationId xmlns:p14="http://schemas.microsoft.com/office/powerpoint/2010/main" val="50415518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365"/>
            <a:ext cx="10515600" cy="927847"/>
          </a:xfrm>
        </p:spPr>
        <p:txBody>
          <a:bodyPr>
            <a:normAutofit fontScale="90000"/>
          </a:bodyPr>
          <a:lstStyle/>
          <a:p>
            <a:pPr lvl="0" algn="ctr"/>
            <a:r>
              <a:rPr lang="en-US" b="1" dirty="0" smtClean="0"/>
              <a:t/>
            </a:r>
            <a:br>
              <a:rPr lang="en-US" b="1" dirty="0" smtClean="0"/>
            </a:br>
            <a:r>
              <a:rPr lang="en-US" b="1" dirty="0" smtClean="0"/>
              <a:t>2. Germ </a:t>
            </a:r>
            <a:r>
              <a:rPr lang="en-US" b="1" dirty="0"/>
              <a:t>Line Theory </a:t>
            </a:r>
            <a:r>
              <a:rPr lang="en-US" dirty="0"/>
              <a:t/>
            </a:r>
            <a:br>
              <a:rPr lang="en-US" dirty="0"/>
            </a:br>
            <a:endParaRPr lang="en-US" dirty="0"/>
          </a:p>
        </p:txBody>
      </p:sp>
      <p:sp>
        <p:nvSpPr>
          <p:cNvPr id="3" name="Content Placeholder 2"/>
          <p:cNvSpPr>
            <a:spLocks noGrp="1"/>
          </p:cNvSpPr>
          <p:nvPr>
            <p:ph idx="1"/>
          </p:nvPr>
        </p:nvSpPr>
        <p:spPr>
          <a:xfrm>
            <a:off x="838200" y="1492624"/>
            <a:ext cx="10515600" cy="4684339"/>
          </a:xfrm>
        </p:spPr>
        <p:txBody>
          <a:bodyPr>
            <a:normAutofit/>
          </a:bodyPr>
          <a:lstStyle/>
          <a:p>
            <a:pPr lvl="0"/>
            <a:r>
              <a:rPr lang="en-US" sz="4000" dirty="0" smtClean="0"/>
              <a:t>This </a:t>
            </a:r>
            <a:r>
              <a:rPr lang="en-US" sz="4000" dirty="0"/>
              <a:t>theory states that all the genes are inherited and antibody diversity is a result of mutations and selection. </a:t>
            </a:r>
          </a:p>
          <a:p>
            <a:pPr lvl="0"/>
            <a:r>
              <a:rPr lang="en-US" sz="4000" dirty="0"/>
              <a:t>However, neither of these theories gave a reasonable explanation of the structure of </a:t>
            </a:r>
            <a:r>
              <a:rPr lang="en-US" sz="4000" dirty="0" err="1"/>
              <a:t>immunoglobulins</a:t>
            </a:r>
            <a:r>
              <a:rPr lang="en-US" sz="4000" dirty="0"/>
              <a:t>. </a:t>
            </a:r>
          </a:p>
          <a:p>
            <a:endParaRPr lang="en-US" sz="4000" dirty="0"/>
          </a:p>
        </p:txBody>
      </p:sp>
    </p:spTree>
    <p:extLst>
      <p:ext uri="{BB962C8B-B14F-4D97-AF65-F5344CB8AC3E}">
        <p14:creationId xmlns:p14="http://schemas.microsoft.com/office/powerpoint/2010/main" val="192978415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685801"/>
          </a:xfrm>
        </p:spPr>
        <p:txBody>
          <a:bodyPr>
            <a:normAutofit fontScale="90000"/>
          </a:bodyPr>
          <a:lstStyle/>
          <a:p>
            <a:pPr algn="ctr"/>
            <a:r>
              <a:rPr lang="en-US" b="1" dirty="0"/>
              <a:t/>
            </a:r>
            <a:br>
              <a:rPr lang="en-US" b="1" dirty="0"/>
            </a:br>
            <a:r>
              <a:rPr lang="en-US" b="1" dirty="0" smtClean="0"/>
              <a:t>Germ </a:t>
            </a:r>
            <a:r>
              <a:rPr lang="en-US" b="1" dirty="0"/>
              <a:t>Line Theory </a:t>
            </a:r>
            <a:r>
              <a:rPr lang="en-US" b="1" dirty="0" smtClean="0"/>
              <a:t>cont’d</a:t>
            </a:r>
            <a:r>
              <a:rPr lang="en-US" dirty="0"/>
              <a:t/>
            </a:r>
            <a:br>
              <a:rPr lang="en-US" dirty="0"/>
            </a:br>
            <a:endParaRPr lang="en-US" dirty="0"/>
          </a:p>
        </p:txBody>
      </p:sp>
      <p:sp>
        <p:nvSpPr>
          <p:cNvPr id="3" name="Content Placeholder 2"/>
          <p:cNvSpPr>
            <a:spLocks noGrp="1"/>
          </p:cNvSpPr>
          <p:nvPr>
            <p:ph idx="1"/>
          </p:nvPr>
        </p:nvSpPr>
        <p:spPr>
          <a:xfrm>
            <a:off x="838200" y="820272"/>
            <a:ext cx="10515600" cy="5356691"/>
          </a:xfrm>
        </p:spPr>
        <p:txBody>
          <a:bodyPr>
            <a:normAutofit/>
          </a:bodyPr>
          <a:lstStyle/>
          <a:p>
            <a:pPr lvl="0"/>
            <a:r>
              <a:rPr lang="en-US" sz="4000" dirty="0"/>
              <a:t>In 1976, </a:t>
            </a:r>
            <a:r>
              <a:rPr lang="en-US" sz="4000" dirty="0" err="1"/>
              <a:t>Tonegawa</a:t>
            </a:r>
            <a:r>
              <a:rPr lang="en-US" sz="4000" dirty="0"/>
              <a:t> and </a:t>
            </a:r>
            <a:r>
              <a:rPr lang="en-US" sz="4000" dirty="0" err="1"/>
              <a:t>Hozumi</a:t>
            </a:r>
            <a:r>
              <a:rPr lang="en-US" sz="4000" dirty="0"/>
              <a:t> reported the first evidence of V and C regions of </a:t>
            </a:r>
            <a:r>
              <a:rPr lang="en-US" sz="4000" dirty="0" err="1"/>
              <a:t>immunoglobulins</a:t>
            </a:r>
            <a:r>
              <a:rPr lang="en-US" sz="4000" dirty="0"/>
              <a:t> being encoded by different genes and the genes being rearranged in the course </a:t>
            </a:r>
            <a:r>
              <a:rPr lang="en-US" sz="4000" dirty="0" err="1"/>
              <a:t>ofB</a:t>
            </a:r>
            <a:r>
              <a:rPr lang="en-US" sz="4000" dirty="0"/>
              <a:t> cell differentiation. </a:t>
            </a:r>
          </a:p>
          <a:p>
            <a:r>
              <a:rPr lang="en-US" sz="4000" dirty="0"/>
              <a:t>There are about 200 different variable CV ) region genes in germ line DNA</a:t>
            </a:r>
          </a:p>
        </p:txBody>
      </p:sp>
    </p:spTree>
    <p:extLst>
      <p:ext uri="{BB962C8B-B14F-4D97-AF65-F5344CB8AC3E}">
        <p14:creationId xmlns:p14="http://schemas.microsoft.com/office/powerpoint/2010/main" val="318684937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77"/>
            <a:ext cx="10515600" cy="860612"/>
          </a:xfrm>
        </p:spPr>
        <p:txBody>
          <a:bodyPr>
            <a:noAutofit/>
          </a:bodyPr>
          <a:lstStyle/>
          <a:p>
            <a:pPr algn="ctr"/>
            <a:r>
              <a:rPr lang="en-US" b="1" dirty="0"/>
              <a:t/>
            </a:r>
            <a:br>
              <a:rPr lang="en-US" b="1" dirty="0"/>
            </a:br>
            <a:r>
              <a:rPr lang="en-US" b="1" dirty="0"/>
              <a:t>Germ Line Theory cont’d</a:t>
            </a:r>
            <a:r>
              <a:rPr lang="en-US" dirty="0"/>
              <a:t/>
            </a:r>
            <a:br>
              <a:rPr lang="en-US" dirty="0"/>
            </a:br>
            <a:endParaRPr lang="en-US" dirty="0"/>
          </a:p>
        </p:txBody>
      </p:sp>
      <p:sp>
        <p:nvSpPr>
          <p:cNvPr id="3" name="Content Placeholder 2"/>
          <p:cNvSpPr>
            <a:spLocks noGrp="1"/>
          </p:cNvSpPr>
          <p:nvPr>
            <p:ph idx="1"/>
          </p:nvPr>
        </p:nvSpPr>
        <p:spPr>
          <a:xfrm>
            <a:off x="838200" y="1183341"/>
            <a:ext cx="10515600" cy="4993622"/>
          </a:xfrm>
        </p:spPr>
        <p:txBody>
          <a:bodyPr>
            <a:normAutofit/>
          </a:bodyPr>
          <a:lstStyle/>
          <a:p>
            <a:pPr lvl="0"/>
            <a:r>
              <a:rPr lang="en-US" sz="4000" dirty="0"/>
              <a:t>There are J 2 diversity (D) region genes and four joining (J) region genes. </a:t>
            </a:r>
          </a:p>
          <a:p>
            <a:pPr lvl="0"/>
            <a:r>
              <a:rPr lang="en-US" sz="4000" dirty="0"/>
              <a:t>Rearrangement of DNA takes place during differentiation of the cell into the B cell. </a:t>
            </a:r>
          </a:p>
          <a:p>
            <a:r>
              <a:rPr lang="en-US" sz="4000" dirty="0"/>
              <a:t>This rearrangement leads to the formation of a functional VDJ recombinant gene</a:t>
            </a:r>
          </a:p>
        </p:txBody>
      </p:sp>
    </p:spTree>
    <p:extLst>
      <p:ext uri="{BB962C8B-B14F-4D97-AF65-F5344CB8AC3E}">
        <p14:creationId xmlns:p14="http://schemas.microsoft.com/office/powerpoint/2010/main" val="25159209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2"/>
            <a:ext cx="10515600" cy="779930"/>
          </a:xfrm>
        </p:spPr>
        <p:txBody>
          <a:bodyPr>
            <a:normAutofit fontScale="90000"/>
          </a:bodyPr>
          <a:lstStyle/>
          <a:p>
            <a:pPr algn="ctr"/>
            <a:r>
              <a:rPr lang="en-US" b="1" dirty="0"/>
              <a:t/>
            </a:r>
            <a:br>
              <a:rPr lang="en-US" b="1" dirty="0"/>
            </a:br>
            <a:r>
              <a:rPr lang="en-US" b="1" dirty="0"/>
              <a:t>Germ Line Theory cont’d</a:t>
            </a:r>
            <a:r>
              <a:rPr lang="en-US" dirty="0"/>
              <a:t/>
            </a:r>
            <a:br>
              <a:rPr lang="en-US" dirty="0"/>
            </a:br>
            <a:endParaRPr lang="en-US" dirty="0"/>
          </a:p>
        </p:txBody>
      </p:sp>
      <p:sp>
        <p:nvSpPr>
          <p:cNvPr id="3" name="Content Placeholder 2"/>
          <p:cNvSpPr>
            <a:spLocks noGrp="1"/>
          </p:cNvSpPr>
          <p:nvPr>
            <p:ph idx="1"/>
          </p:nvPr>
        </p:nvSpPr>
        <p:spPr>
          <a:xfrm>
            <a:off x="838200" y="1116106"/>
            <a:ext cx="10515600" cy="5060857"/>
          </a:xfrm>
        </p:spPr>
        <p:txBody>
          <a:bodyPr>
            <a:normAutofit/>
          </a:bodyPr>
          <a:lstStyle/>
          <a:p>
            <a:pPr lvl="0"/>
            <a:r>
              <a:rPr lang="en-US" sz="4000" dirty="0"/>
              <a:t>As any of the genes may recombine with any others, so this rearrangement has a capacity to produce 200 x 12 x 4 = 9,600 possible combinations. </a:t>
            </a:r>
          </a:p>
          <a:p>
            <a:pPr lvl="0"/>
            <a:r>
              <a:rPr lang="en-US" sz="4000" dirty="0"/>
              <a:t>Likewise, the 200 different V regions of light chains may recombine with five J regions, generating 200 x 5 = J ,000 possible light chains. </a:t>
            </a:r>
          </a:p>
          <a:p>
            <a:endParaRPr lang="en-US" sz="4000" dirty="0"/>
          </a:p>
        </p:txBody>
      </p:sp>
    </p:spTree>
    <p:extLst>
      <p:ext uri="{BB962C8B-B14F-4D97-AF65-F5344CB8AC3E}">
        <p14:creationId xmlns:p14="http://schemas.microsoft.com/office/powerpoint/2010/main" val="73891834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2"/>
            <a:ext cx="10515600" cy="779930"/>
          </a:xfrm>
        </p:spPr>
        <p:txBody>
          <a:bodyPr>
            <a:normAutofit fontScale="90000"/>
          </a:bodyPr>
          <a:lstStyle/>
          <a:p>
            <a:pPr algn="ctr"/>
            <a:r>
              <a:rPr lang="en-US" b="1" dirty="0"/>
              <a:t/>
            </a:r>
            <a:br>
              <a:rPr lang="en-US" b="1" dirty="0"/>
            </a:br>
            <a:r>
              <a:rPr lang="en-US" b="1" dirty="0"/>
              <a:t>Germ Line Theory cont’d</a:t>
            </a:r>
            <a:r>
              <a:rPr lang="en-US" dirty="0"/>
              <a:t/>
            </a:r>
            <a:br>
              <a:rPr lang="en-US" dirty="0"/>
            </a:br>
            <a:endParaRPr lang="en-US" dirty="0"/>
          </a:p>
        </p:txBody>
      </p:sp>
      <p:sp>
        <p:nvSpPr>
          <p:cNvPr id="3" name="Content Placeholder 2"/>
          <p:cNvSpPr>
            <a:spLocks noGrp="1"/>
          </p:cNvSpPr>
          <p:nvPr>
            <p:ph idx="1"/>
          </p:nvPr>
        </p:nvSpPr>
        <p:spPr>
          <a:xfrm>
            <a:off x="838200" y="1129553"/>
            <a:ext cx="10515600" cy="5047410"/>
          </a:xfrm>
        </p:spPr>
        <p:txBody>
          <a:bodyPr>
            <a:normAutofit/>
          </a:bodyPr>
          <a:lstStyle/>
          <a:p>
            <a:pPr lvl="0"/>
            <a:r>
              <a:rPr lang="en-US" sz="4000" dirty="0"/>
              <a:t>Since the antibody combining site is formed from the variable region of one light chain and one heavy chain combination, the total possible immunoglobulin combinations is about 9,600 xl00 = lQ7. </a:t>
            </a:r>
          </a:p>
          <a:p>
            <a:pPr lvl="0"/>
            <a:r>
              <a:rPr lang="en-US" sz="4000" dirty="0"/>
              <a:t>In addition, variations in the precise length </a:t>
            </a:r>
            <a:r>
              <a:rPr lang="en-US" sz="4000" dirty="0" err="1"/>
              <a:t>ofV</a:t>
            </a:r>
            <a:r>
              <a:rPr lang="en-US" sz="4000" dirty="0"/>
              <a:t>-, D- and J-coding sequences and joints between them also lead to increase in diversity. </a:t>
            </a:r>
          </a:p>
          <a:p>
            <a:endParaRPr lang="en-US" sz="4000" dirty="0"/>
          </a:p>
        </p:txBody>
      </p:sp>
    </p:spTree>
    <p:extLst>
      <p:ext uri="{BB962C8B-B14F-4D97-AF65-F5344CB8AC3E}">
        <p14:creationId xmlns:p14="http://schemas.microsoft.com/office/powerpoint/2010/main" val="69901829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1116105"/>
          </a:xfrm>
        </p:spPr>
        <p:txBody>
          <a:bodyPr/>
          <a:lstStyle/>
          <a:p>
            <a:pPr algn="ctr"/>
            <a:r>
              <a:rPr lang="en-US" b="1" dirty="0"/>
              <a:t>Allelic Exclusion</a:t>
            </a:r>
            <a:endParaRPr lang="en-US" dirty="0"/>
          </a:p>
        </p:txBody>
      </p:sp>
      <p:sp>
        <p:nvSpPr>
          <p:cNvPr id="3" name="Content Placeholder 2"/>
          <p:cNvSpPr>
            <a:spLocks noGrp="1"/>
          </p:cNvSpPr>
          <p:nvPr>
            <p:ph idx="1"/>
          </p:nvPr>
        </p:nvSpPr>
        <p:spPr>
          <a:xfrm>
            <a:off x="838200" y="1250576"/>
            <a:ext cx="10515600" cy="5298142"/>
          </a:xfrm>
        </p:spPr>
        <p:txBody>
          <a:bodyPr>
            <a:noAutofit/>
          </a:bodyPr>
          <a:lstStyle/>
          <a:p>
            <a:r>
              <a:rPr lang="en-US" sz="4000" dirty="0" smtClean="0"/>
              <a:t>Like </a:t>
            </a:r>
            <a:r>
              <a:rPr lang="en-US" sz="4000" dirty="0"/>
              <a:t>other somatic cells, B cells are diploid and contain both maternal and paternal chromosomes. </a:t>
            </a:r>
          </a:p>
          <a:p>
            <a:pPr lvl="0"/>
            <a:r>
              <a:rPr lang="en-US" sz="4000" dirty="0"/>
              <a:t>Though B cell is diploid, it expresses the rearranged heavy chain genes from only one chromosome and the rearranged light chain genes from only one chromosome. </a:t>
            </a:r>
          </a:p>
          <a:p>
            <a:pPr lvl="0"/>
            <a:r>
              <a:rPr lang="en-US" sz="4000" dirty="0"/>
              <a:t>The process by which this is done is known as allelic exclusion. </a:t>
            </a:r>
          </a:p>
          <a:p>
            <a:endParaRPr lang="en-US" sz="4000" dirty="0"/>
          </a:p>
        </p:txBody>
      </p:sp>
    </p:spTree>
    <p:extLst>
      <p:ext uri="{BB962C8B-B14F-4D97-AF65-F5344CB8AC3E}">
        <p14:creationId xmlns:p14="http://schemas.microsoft.com/office/powerpoint/2010/main" val="402233820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995082"/>
          </a:xfrm>
        </p:spPr>
        <p:txBody>
          <a:bodyPr>
            <a:normAutofit/>
          </a:bodyPr>
          <a:lstStyle/>
          <a:p>
            <a:pPr algn="ctr"/>
            <a:r>
              <a:rPr lang="en-US" b="1" dirty="0"/>
              <a:t>Allelic </a:t>
            </a:r>
            <a:r>
              <a:rPr lang="en-US" b="1" dirty="0" smtClean="0"/>
              <a:t>Exclusion cont’d</a:t>
            </a:r>
            <a:endParaRPr lang="en-US" dirty="0"/>
          </a:p>
        </p:txBody>
      </p:sp>
      <p:sp>
        <p:nvSpPr>
          <p:cNvPr id="3" name="Content Placeholder 2"/>
          <p:cNvSpPr>
            <a:spLocks noGrp="1"/>
          </p:cNvSpPr>
          <p:nvPr>
            <p:ph idx="1"/>
          </p:nvPr>
        </p:nvSpPr>
        <p:spPr>
          <a:xfrm>
            <a:off x="838200" y="995083"/>
            <a:ext cx="10515600" cy="5181880"/>
          </a:xfrm>
        </p:spPr>
        <p:txBody>
          <a:bodyPr>
            <a:normAutofit/>
          </a:bodyPr>
          <a:lstStyle/>
          <a:p>
            <a:pPr lvl="0"/>
            <a:r>
              <a:rPr lang="en-US" sz="4000" dirty="0"/>
              <a:t>This ensures that functional B cells never contain more than one VH-DH-JH and one VL-JL unit. </a:t>
            </a:r>
          </a:p>
          <a:p>
            <a:pPr lvl="0"/>
            <a:r>
              <a:rPr lang="en-US" sz="4000" dirty="0"/>
              <a:t>It is essential for antigenic specificity of the B cell because the expression of both alleles would make the B cell </a:t>
            </a:r>
            <a:r>
              <a:rPr lang="en-US" sz="4000" dirty="0" err="1"/>
              <a:t>multispecific</a:t>
            </a:r>
            <a:r>
              <a:rPr lang="en-US" sz="4000" dirty="0"/>
              <a:t>. </a:t>
            </a:r>
          </a:p>
          <a:p>
            <a:endParaRPr lang="en-US" sz="4000" dirty="0"/>
          </a:p>
        </p:txBody>
      </p:sp>
    </p:spTree>
    <p:extLst>
      <p:ext uri="{BB962C8B-B14F-4D97-AF65-F5344CB8AC3E}">
        <p14:creationId xmlns:p14="http://schemas.microsoft.com/office/powerpoint/2010/main" val="371820352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388"/>
            <a:ext cx="10515600" cy="847166"/>
          </a:xfrm>
        </p:spPr>
        <p:txBody>
          <a:bodyPr/>
          <a:lstStyle/>
          <a:p>
            <a:pPr algn="ctr"/>
            <a:r>
              <a:rPr lang="en-US" b="1" dirty="0"/>
              <a:t>Allelic Exclusion cont’d</a:t>
            </a:r>
            <a:endParaRPr lang="en-US" dirty="0"/>
          </a:p>
        </p:txBody>
      </p:sp>
      <p:sp>
        <p:nvSpPr>
          <p:cNvPr id="3" name="Content Placeholder 2"/>
          <p:cNvSpPr>
            <a:spLocks noGrp="1"/>
          </p:cNvSpPr>
          <p:nvPr>
            <p:ph idx="1"/>
          </p:nvPr>
        </p:nvSpPr>
        <p:spPr>
          <a:xfrm>
            <a:off x="838200" y="1277471"/>
            <a:ext cx="10515600" cy="4899492"/>
          </a:xfrm>
        </p:spPr>
        <p:txBody>
          <a:bodyPr>
            <a:normAutofit/>
          </a:bodyPr>
          <a:lstStyle/>
          <a:p>
            <a:r>
              <a:rPr lang="en-US" sz="4000" dirty="0"/>
              <a:t>The phenomenon of allelic exclusion suggests that once a YH-DH-JH and VL-JL rearrangement occurred, the recombination machinery is turned off leading to the suppression of expression of heavy light chain genes on the homologous chromosomes</a:t>
            </a:r>
          </a:p>
        </p:txBody>
      </p:sp>
    </p:spTree>
    <p:extLst>
      <p:ext uri="{BB962C8B-B14F-4D97-AF65-F5344CB8AC3E}">
        <p14:creationId xmlns:p14="http://schemas.microsoft.com/office/powerpoint/2010/main" val="4935922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838200" y="1371599"/>
            <a:ext cx="10515600" cy="5015753"/>
          </a:xfrm>
          <a:prstGeom prst="rect">
            <a:avLst/>
          </a:prstGeom>
        </p:spPr>
      </p:pic>
      <p:sp>
        <p:nvSpPr>
          <p:cNvPr id="5" name="Title 4"/>
          <p:cNvSpPr>
            <a:spLocks noGrp="1"/>
          </p:cNvSpPr>
          <p:nvPr>
            <p:ph type="title"/>
          </p:nvPr>
        </p:nvSpPr>
        <p:spPr>
          <a:xfrm>
            <a:off x="838200" y="365126"/>
            <a:ext cx="10515600" cy="1006474"/>
          </a:xfrm>
        </p:spPr>
        <p:txBody>
          <a:bodyPr/>
          <a:lstStyle/>
          <a:p>
            <a:pPr algn="ctr"/>
            <a:r>
              <a:rPr lang="en-US" b="1" dirty="0"/>
              <a:t>Allelic Exclusion cont’d</a:t>
            </a:r>
            <a:endParaRPr lang="en-US" dirty="0"/>
          </a:p>
        </p:txBody>
      </p:sp>
      <p:sp>
        <p:nvSpPr>
          <p:cNvPr id="6" name="Rectangle 5"/>
          <p:cNvSpPr/>
          <p:nvPr/>
        </p:nvSpPr>
        <p:spPr>
          <a:xfrm>
            <a:off x="4924813" y="3244334"/>
            <a:ext cx="2342373" cy="369332"/>
          </a:xfrm>
          <a:prstGeom prst="rect">
            <a:avLst/>
          </a:prstGeom>
        </p:spPr>
        <p:txBody>
          <a:bodyPr wrap="none">
            <a:spAutoFit/>
          </a:bodyPr>
          <a:lstStyle/>
          <a:p>
            <a:r>
              <a:rPr lang="en-US" b="1" dirty="0"/>
              <a:t>Allelic Exclusion cont’d</a:t>
            </a:r>
            <a:endParaRPr lang="en-US" dirty="0"/>
          </a:p>
        </p:txBody>
      </p:sp>
    </p:spTree>
    <p:extLst>
      <p:ext uri="{BB962C8B-B14F-4D97-AF65-F5344CB8AC3E}">
        <p14:creationId xmlns:p14="http://schemas.microsoft.com/office/powerpoint/2010/main" val="322071360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981636"/>
          </a:xfrm>
        </p:spPr>
        <p:txBody>
          <a:bodyPr/>
          <a:lstStyle/>
          <a:p>
            <a:pPr algn="ctr"/>
            <a:r>
              <a:rPr lang="en-US" b="1" dirty="0"/>
              <a:t>PRIONS</a:t>
            </a:r>
            <a:endParaRPr lang="en-US" dirty="0"/>
          </a:p>
        </p:txBody>
      </p:sp>
      <p:sp>
        <p:nvSpPr>
          <p:cNvPr id="3" name="Content Placeholder 2"/>
          <p:cNvSpPr>
            <a:spLocks noGrp="1"/>
          </p:cNvSpPr>
          <p:nvPr>
            <p:ph idx="1"/>
          </p:nvPr>
        </p:nvSpPr>
        <p:spPr>
          <a:xfrm>
            <a:off x="838200" y="1129554"/>
            <a:ext cx="10515600" cy="5047409"/>
          </a:xfrm>
        </p:spPr>
        <p:txBody>
          <a:bodyPr>
            <a:normAutofit/>
          </a:bodyPr>
          <a:lstStyle/>
          <a:p>
            <a:r>
              <a:rPr lang="en-US" sz="4000" dirty="0" smtClean="0"/>
              <a:t>Prions </a:t>
            </a:r>
            <a:r>
              <a:rPr lang="en-US" sz="4000" dirty="0"/>
              <a:t>are infectious agents, composed of proteins that cause fatal brain diseases. </a:t>
            </a:r>
          </a:p>
          <a:p>
            <a:pPr lvl="0"/>
            <a:r>
              <a:rPr lang="en-US" sz="4000" dirty="0"/>
              <a:t>Prions lack nucleic acid (DNA or RNA) but are yet infective, i.e., they can multiply. </a:t>
            </a:r>
          </a:p>
          <a:p>
            <a:pPr lvl="0"/>
            <a:r>
              <a:rPr lang="en-US" sz="4000" dirty="0"/>
              <a:t>A prion is a mutated protein rather than a mutated gene, which means there is a defect in the end product, and not a defect in the code. </a:t>
            </a:r>
          </a:p>
          <a:p>
            <a:endParaRPr lang="en-US" sz="4000" dirty="0"/>
          </a:p>
        </p:txBody>
      </p:sp>
    </p:spTree>
    <p:extLst>
      <p:ext uri="{BB962C8B-B14F-4D97-AF65-F5344CB8AC3E}">
        <p14:creationId xmlns:p14="http://schemas.microsoft.com/office/powerpoint/2010/main" val="50604742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76"/>
            <a:ext cx="10515600" cy="793377"/>
          </a:xfrm>
        </p:spPr>
        <p:txBody>
          <a:bodyPr>
            <a:normAutofit/>
          </a:bodyPr>
          <a:lstStyle/>
          <a:p>
            <a:pPr algn="ctr"/>
            <a:r>
              <a:rPr lang="en-US" b="1" dirty="0" smtClean="0"/>
              <a:t>Prions cont’d</a:t>
            </a:r>
            <a:endParaRPr lang="en-US" dirty="0"/>
          </a:p>
        </p:txBody>
      </p:sp>
      <p:sp>
        <p:nvSpPr>
          <p:cNvPr id="3" name="Content Placeholder 2"/>
          <p:cNvSpPr>
            <a:spLocks noGrp="1"/>
          </p:cNvSpPr>
          <p:nvPr>
            <p:ph idx="1"/>
          </p:nvPr>
        </p:nvSpPr>
        <p:spPr>
          <a:xfrm>
            <a:off x="838200" y="1021975"/>
            <a:ext cx="10515600" cy="5154987"/>
          </a:xfrm>
        </p:spPr>
        <p:txBody>
          <a:bodyPr>
            <a:noAutofit/>
          </a:bodyPr>
          <a:lstStyle/>
          <a:p>
            <a:pPr lvl="0"/>
            <a:r>
              <a:rPr lang="en-US" sz="4000" dirty="0"/>
              <a:t>Prions are 100 to 1,000 times smaller than the smallest organism and as such would be the smallest living. Form on the earth. </a:t>
            </a:r>
          </a:p>
          <a:p>
            <a:pPr lvl="0"/>
            <a:r>
              <a:rPr lang="en-US" sz="4000" dirty="0"/>
              <a:t>Prion itself is capable of modifying protein content of the entire organism. </a:t>
            </a:r>
          </a:p>
          <a:p>
            <a:pPr lvl="0"/>
            <a:r>
              <a:rPr lang="en-US" sz="4000" dirty="0"/>
              <a:t>According to recent researches, the instructions of making prion proteins are on a gene that all mammals have and is mainly active in nerve cells. </a:t>
            </a:r>
          </a:p>
          <a:p>
            <a:endParaRPr lang="en-US" sz="4000" dirty="0"/>
          </a:p>
        </p:txBody>
      </p:sp>
    </p:spTree>
    <p:extLst>
      <p:ext uri="{BB962C8B-B14F-4D97-AF65-F5344CB8AC3E}">
        <p14:creationId xmlns:p14="http://schemas.microsoft.com/office/powerpoint/2010/main" val="156159231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706"/>
            <a:ext cx="10515600" cy="874060"/>
          </a:xfrm>
        </p:spPr>
        <p:txBody>
          <a:bodyPr/>
          <a:lstStyle/>
          <a:p>
            <a:pPr algn="ctr"/>
            <a:r>
              <a:rPr lang="en-US" b="1" dirty="0"/>
              <a:t>Prions cont’d</a:t>
            </a:r>
            <a:endParaRPr lang="en-US" dirty="0"/>
          </a:p>
        </p:txBody>
      </p:sp>
      <p:sp>
        <p:nvSpPr>
          <p:cNvPr id="3" name="Content Placeholder 2"/>
          <p:cNvSpPr>
            <a:spLocks noGrp="1"/>
          </p:cNvSpPr>
          <p:nvPr>
            <p:ph idx="1"/>
          </p:nvPr>
        </p:nvSpPr>
        <p:spPr>
          <a:xfrm>
            <a:off x="838200" y="1183341"/>
            <a:ext cx="10515600" cy="4993622"/>
          </a:xfrm>
        </p:spPr>
        <p:txBody>
          <a:bodyPr>
            <a:normAutofit/>
          </a:bodyPr>
          <a:lstStyle/>
          <a:p>
            <a:pPr lvl="0"/>
            <a:r>
              <a:rPr lang="en-US" sz="4000" dirty="0"/>
              <a:t>Prions are a product of normal human genes, termed as the </a:t>
            </a:r>
            <a:r>
              <a:rPr lang="en-US" sz="4000" dirty="0" err="1"/>
              <a:t>PrP</a:t>
            </a:r>
            <a:r>
              <a:rPr lang="en-US" sz="4000" dirty="0"/>
              <a:t> gene, found on chromosome 20. This gene contains two exons separated by single introns. The </a:t>
            </a:r>
            <a:r>
              <a:rPr lang="en-US" sz="4000" dirty="0" err="1"/>
              <a:t>PrP</a:t>
            </a:r>
            <a:r>
              <a:rPr lang="en-US" sz="4000" dirty="0"/>
              <a:t> protein is the precursor of the prion protein. </a:t>
            </a:r>
          </a:p>
          <a:p>
            <a:r>
              <a:rPr lang="en-US" sz="4000" dirty="0"/>
              <a:t>Prions do not obey the central dogma principle.</a:t>
            </a:r>
          </a:p>
        </p:txBody>
      </p:sp>
    </p:spTree>
    <p:extLst>
      <p:ext uri="{BB962C8B-B14F-4D97-AF65-F5344CB8AC3E}">
        <p14:creationId xmlns:p14="http://schemas.microsoft.com/office/powerpoint/2010/main" val="282729787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259"/>
            <a:ext cx="10515600" cy="1075765"/>
          </a:xfrm>
        </p:spPr>
        <p:txBody>
          <a:bodyPr/>
          <a:lstStyle/>
          <a:p>
            <a:pPr algn="ctr"/>
            <a:r>
              <a:rPr lang="en-US" b="1" dirty="0"/>
              <a:t>Prions cont’d</a:t>
            </a:r>
            <a:endParaRPr lang="en-US" dirty="0"/>
          </a:p>
        </p:txBody>
      </p:sp>
      <p:sp>
        <p:nvSpPr>
          <p:cNvPr id="3" name="Content Placeholder 2"/>
          <p:cNvSpPr>
            <a:spLocks noGrp="1"/>
          </p:cNvSpPr>
          <p:nvPr>
            <p:ph idx="1"/>
          </p:nvPr>
        </p:nvSpPr>
        <p:spPr>
          <a:xfrm>
            <a:off x="838200" y="1264024"/>
            <a:ext cx="10515600" cy="4912939"/>
          </a:xfrm>
        </p:spPr>
        <p:txBody>
          <a:bodyPr>
            <a:normAutofit/>
          </a:bodyPr>
          <a:lstStyle/>
          <a:p>
            <a:pPr lvl="0"/>
            <a:r>
              <a:rPr lang="en-US" sz="4000" dirty="0"/>
              <a:t>Two possible mechanisms have been suggested for their multiplication that violates the central dogma. </a:t>
            </a:r>
          </a:p>
          <a:p>
            <a:r>
              <a:rPr lang="en-US" sz="4000" dirty="0"/>
              <a:t>The first possibility is of reverse translation that creates a nucleic acid sequence of amino acids in </a:t>
            </a:r>
            <a:r>
              <a:rPr lang="en-US" sz="4000" dirty="0" err="1"/>
              <a:t>PrPaod</a:t>
            </a:r>
            <a:r>
              <a:rPr lang="en-US" sz="4000" dirty="0"/>
              <a:t> the second one is that </a:t>
            </a:r>
            <a:r>
              <a:rPr lang="en-US" sz="4000" dirty="0" err="1"/>
              <a:t>PrP</a:t>
            </a:r>
            <a:r>
              <a:rPr lang="en-US" sz="4000" dirty="0"/>
              <a:t> might be acting as template for its own synthesis. </a:t>
            </a:r>
          </a:p>
          <a:p>
            <a:endParaRPr lang="en-US" sz="4000" dirty="0"/>
          </a:p>
        </p:txBody>
      </p:sp>
    </p:spTree>
    <p:extLst>
      <p:ext uri="{BB962C8B-B14F-4D97-AF65-F5344CB8AC3E}">
        <p14:creationId xmlns:p14="http://schemas.microsoft.com/office/powerpoint/2010/main" val="218013952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365"/>
            <a:ext cx="10515600" cy="968189"/>
          </a:xfrm>
        </p:spPr>
        <p:txBody>
          <a:bodyPr/>
          <a:lstStyle/>
          <a:p>
            <a:pPr algn="ctr"/>
            <a:r>
              <a:rPr lang="en-US" b="1" dirty="0"/>
              <a:t>Prions cont’d</a:t>
            </a:r>
            <a:endParaRPr lang="en-US" dirty="0"/>
          </a:p>
        </p:txBody>
      </p:sp>
      <p:sp>
        <p:nvSpPr>
          <p:cNvPr id="3" name="Content Placeholder 2"/>
          <p:cNvSpPr>
            <a:spLocks noGrp="1"/>
          </p:cNvSpPr>
          <p:nvPr>
            <p:ph idx="1"/>
          </p:nvPr>
        </p:nvSpPr>
        <p:spPr>
          <a:xfrm>
            <a:off x="838200" y="1331259"/>
            <a:ext cx="10515600" cy="4845704"/>
          </a:xfrm>
        </p:spPr>
        <p:txBody>
          <a:bodyPr>
            <a:normAutofit/>
          </a:bodyPr>
          <a:lstStyle/>
          <a:p>
            <a:pPr lvl="0"/>
            <a:r>
              <a:rPr lang="en-US" sz="4000" dirty="0"/>
              <a:t>They are rod-shaped particles and may consist of one, two or three protein molecules (</a:t>
            </a:r>
            <a:r>
              <a:rPr lang="en-US" sz="4000" dirty="0" err="1"/>
              <a:t>Pr</a:t>
            </a:r>
            <a:r>
              <a:rPr lang="en-US" sz="4000" dirty="0"/>
              <a:t> P). </a:t>
            </a:r>
          </a:p>
          <a:p>
            <a:pPr lvl="0"/>
            <a:r>
              <a:rPr lang="en-US" sz="4000" dirty="0"/>
              <a:t>The term 'prion' was coined by Stanley B </a:t>
            </a:r>
            <a:r>
              <a:rPr lang="en-US" sz="4000" dirty="0" err="1"/>
              <a:t>Prusiner</a:t>
            </a:r>
            <a:r>
              <a:rPr lang="en-US" sz="4000" dirty="0"/>
              <a:t> (1982). He received the Nobel Prize in Medicine! Physiology, in 1997, for the discovery of prion. </a:t>
            </a:r>
          </a:p>
          <a:p>
            <a:endParaRPr lang="en-US" sz="4000" dirty="0"/>
          </a:p>
        </p:txBody>
      </p:sp>
    </p:spTree>
    <p:extLst>
      <p:ext uri="{BB962C8B-B14F-4D97-AF65-F5344CB8AC3E}">
        <p14:creationId xmlns:p14="http://schemas.microsoft.com/office/powerpoint/2010/main" val="79006574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927848"/>
          </a:xfrm>
        </p:spPr>
        <p:txBody>
          <a:bodyPr>
            <a:normAutofit/>
          </a:bodyPr>
          <a:lstStyle/>
          <a:p>
            <a:pPr algn="ctr"/>
            <a:r>
              <a:rPr lang="en-US" b="1" dirty="0"/>
              <a:t>Prions cont’d</a:t>
            </a:r>
            <a:endParaRPr lang="en-US" dirty="0"/>
          </a:p>
        </p:txBody>
      </p:sp>
      <p:sp>
        <p:nvSpPr>
          <p:cNvPr id="3" name="Content Placeholder 2"/>
          <p:cNvSpPr>
            <a:spLocks noGrp="1"/>
          </p:cNvSpPr>
          <p:nvPr>
            <p:ph idx="1"/>
          </p:nvPr>
        </p:nvSpPr>
        <p:spPr>
          <a:xfrm>
            <a:off x="838200" y="927848"/>
            <a:ext cx="10515600" cy="5249115"/>
          </a:xfrm>
        </p:spPr>
        <p:txBody>
          <a:bodyPr>
            <a:normAutofit/>
          </a:bodyPr>
          <a:lstStyle/>
          <a:p>
            <a:r>
              <a:rPr lang="en-US" sz="4000" dirty="0"/>
              <a:t>According to </a:t>
            </a:r>
            <a:r>
              <a:rPr lang="en-US" sz="4000" dirty="0" err="1"/>
              <a:t>Prusiner</a:t>
            </a:r>
            <a:r>
              <a:rPr lang="en-US" sz="4000" dirty="0"/>
              <a:t>, </a:t>
            </a:r>
            <a:r>
              <a:rPr lang="en-US" sz="4000" dirty="0" err="1"/>
              <a:t>ceratin</a:t>
            </a:r>
            <a:r>
              <a:rPr lang="en-US" sz="4000" dirty="0"/>
              <a:t> proteins come in two varieties, viz., cellular Form designated as </a:t>
            </a:r>
            <a:r>
              <a:rPr lang="en-US" sz="4000" dirty="0" err="1"/>
              <a:t>PrPC</a:t>
            </a:r>
            <a:r>
              <a:rPr lang="en-US" sz="4000" dirty="0"/>
              <a:t> and infectious </a:t>
            </a:r>
            <a:r>
              <a:rPr lang="en-US" sz="4000" dirty="0" err="1"/>
              <a:t>misfold</a:t>
            </a:r>
            <a:r>
              <a:rPr lang="en-US" sz="4000" dirty="0"/>
              <a:t> form called </a:t>
            </a:r>
            <a:r>
              <a:rPr lang="en-US" sz="4000" dirty="0" err="1"/>
              <a:t>PrPSc</a:t>
            </a:r>
            <a:r>
              <a:rPr lang="en-US" sz="4000" dirty="0"/>
              <a:t>. The two forms are identical in their amino acid sequences and differ in their three-dimensional structure</a:t>
            </a:r>
          </a:p>
        </p:txBody>
      </p:sp>
    </p:spTree>
    <p:extLst>
      <p:ext uri="{BB962C8B-B14F-4D97-AF65-F5344CB8AC3E}">
        <p14:creationId xmlns:p14="http://schemas.microsoft.com/office/powerpoint/2010/main" val="56786905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4"/>
            <a:ext cx="10515600" cy="954741"/>
          </a:xfrm>
        </p:spPr>
        <p:txBody>
          <a:bodyPr>
            <a:normAutofit fontScale="90000"/>
          </a:bodyPr>
          <a:lstStyle/>
          <a:p>
            <a:pPr algn="ctr"/>
            <a:r>
              <a:rPr lang="en-US" b="1" dirty="0" smtClean="0"/>
              <a:t/>
            </a:r>
            <a:br>
              <a:rPr lang="en-US" b="1" dirty="0" smtClean="0"/>
            </a:br>
            <a:r>
              <a:rPr lang="en-US" b="1" dirty="0" err="1" smtClean="0"/>
              <a:t>PrPC</a:t>
            </a:r>
            <a:r>
              <a:rPr lang="en-US" b="1" dirty="0" smtClean="0"/>
              <a:t> </a:t>
            </a:r>
            <a:r>
              <a:rPr lang="en-US" dirty="0"/>
              <a:t/>
            </a:r>
            <a:br>
              <a:rPr lang="en-US" dirty="0"/>
            </a:br>
            <a:endParaRPr lang="en-US" dirty="0"/>
          </a:p>
        </p:txBody>
      </p:sp>
      <p:sp>
        <p:nvSpPr>
          <p:cNvPr id="3" name="Content Placeholder 2"/>
          <p:cNvSpPr>
            <a:spLocks noGrp="1"/>
          </p:cNvSpPr>
          <p:nvPr>
            <p:ph idx="1"/>
          </p:nvPr>
        </p:nvSpPr>
        <p:spPr>
          <a:xfrm>
            <a:off x="838200" y="1075764"/>
            <a:ext cx="10515600" cy="5661211"/>
          </a:xfrm>
        </p:spPr>
        <p:txBody>
          <a:bodyPr>
            <a:noAutofit/>
          </a:bodyPr>
          <a:lstStyle/>
          <a:p>
            <a:r>
              <a:rPr lang="en-US" sz="4000" b="1" dirty="0"/>
              <a:t> </a:t>
            </a:r>
            <a:r>
              <a:rPr lang="en-US" sz="4000" dirty="0"/>
              <a:t>The normal protein is called </a:t>
            </a:r>
            <a:r>
              <a:rPr lang="en-US" sz="4000" dirty="0" err="1"/>
              <a:t>PrPC</a:t>
            </a:r>
            <a:r>
              <a:rPr lang="en-US" sz="4000" dirty="0"/>
              <a:t> (for cellular). </a:t>
            </a:r>
          </a:p>
          <a:p>
            <a:pPr lvl="0"/>
            <a:r>
              <a:rPr lang="en-US" sz="4000" dirty="0"/>
              <a:t>It is a </a:t>
            </a:r>
            <a:r>
              <a:rPr lang="en-US" sz="4000" dirty="0" err="1"/>
              <a:t>transmembrane</a:t>
            </a:r>
            <a:r>
              <a:rPr lang="en-US" sz="4000" dirty="0"/>
              <a:t> glycoprotein, generally found at the surface of certain cells (e.g., hematopoietic stem cells). </a:t>
            </a:r>
          </a:p>
          <a:p>
            <a:pPr lvl="0"/>
            <a:r>
              <a:rPr lang="en-US" sz="4000" dirty="0"/>
              <a:t>It has its secondary structure dominated by alpha helices. </a:t>
            </a:r>
          </a:p>
          <a:p>
            <a:pPr lvl="0"/>
            <a:r>
              <a:rPr lang="en-US" sz="4000" dirty="0"/>
              <a:t>It is easily soluble and is easily digested by proteases. </a:t>
            </a:r>
          </a:p>
          <a:p>
            <a:pPr marL="0" lvl="0" indent="0">
              <a:buNone/>
            </a:pPr>
            <a:endParaRPr lang="en-US" sz="4000" dirty="0"/>
          </a:p>
          <a:p>
            <a:endParaRPr lang="en-US" sz="4000" dirty="0"/>
          </a:p>
          <a:p>
            <a:endParaRPr lang="en-US" sz="4000" dirty="0"/>
          </a:p>
        </p:txBody>
      </p:sp>
    </p:spTree>
    <p:extLst>
      <p:ext uri="{BB962C8B-B14F-4D97-AF65-F5344CB8AC3E}">
        <p14:creationId xmlns:p14="http://schemas.microsoft.com/office/powerpoint/2010/main" val="69196574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2047"/>
            <a:ext cx="10515600" cy="833719"/>
          </a:xfrm>
        </p:spPr>
        <p:txBody>
          <a:bodyPr>
            <a:normAutofit fontScale="90000"/>
          </a:bodyPr>
          <a:lstStyle/>
          <a:p>
            <a:pPr algn="ctr"/>
            <a:r>
              <a:rPr lang="en-US" b="1" dirty="0" smtClean="0"/>
              <a:t/>
            </a:r>
            <a:br>
              <a:rPr lang="en-US" b="1" dirty="0" smtClean="0"/>
            </a:br>
            <a:r>
              <a:rPr lang="en-US" b="1" dirty="0" err="1" smtClean="0"/>
              <a:t>PrPC</a:t>
            </a:r>
            <a:r>
              <a:rPr lang="en-US" b="1" dirty="0" smtClean="0"/>
              <a:t>  cont’d</a:t>
            </a:r>
            <a:r>
              <a:rPr lang="en-US" dirty="0"/>
              <a:t/>
            </a:r>
            <a:br>
              <a:rPr lang="en-US" dirty="0"/>
            </a:br>
            <a:endParaRPr lang="en-US" dirty="0"/>
          </a:p>
        </p:txBody>
      </p:sp>
      <p:sp>
        <p:nvSpPr>
          <p:cNvPr id="3" name="Content Placeholder 2"/>
          <p:cNvSpPr>
            <a:spLocks noGrp="1"/>
          </p:cNvSpPr>
          <p:nvPr>
            <p:ph idx="1"/>
          </p:nvPr>
        </p:nvSpPr>
        <p:spPr>
          <a:xfrm>
            <a:off x="838200" y="1223682"/>
            <a:ext cx="10515600" cy="4953281"/>
          </a:xfrm>
        </p:spPr>
        <p:txBody>
          <a:bodyPr>
            <a:normAutofit/>
          </a:bodyPr>
          <a:lstStyle/>
          <a:p>
            <a:r>
              <a:rPr lang="en-US" sz="4000" dirty="0"/>
              <a:t>It is encoded by a gene (PRNP) located on chromosome 20 (in humans).</a:t>
            </a:r>
          </a:p>
        </p:txBody>
      </p:sp>
    </p:spTree>
    <p:extLst>
      <p:ext uri="{BB962C8B-B14F-4D97-AF65-F5344CB8AC3E}">
        <p14:creationId xmlns:p14="http://schemas.microsoft.com/office/powerpoint/2010/main" val="120593676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74060"/>
          </a:xfrm>
        </p:spPr>
        <p:txBody>
          <a:bodyPr>
            <a:normAutofit fontScale="90000"/>
          </a:bodyPr>
          <a:lstStyle/>
          <a:p>
            <a:pPr algn="ctr"/>
            <a:r>
              <a:rPr lang="en-US" b="1" dirty="0" smtClean="0"/>
              <a:t/>
            </a:r>
            <a:br>
              <a:rPr lang="en-US" b="1" dirty="0" smtClean="0"/>
            </a:br>
            <a:r>
              <a:rPr lang="en-US" b="1" dirty="0" err="1" smtClean="0"/>
              <a:t>PrPSc</a:t>
            </a:r>
            <a:r>
              <a:rPr lang="en-US" b="1" dirty="0" smtClean="0"/>
              <a:t> </a:t>
            </a:r>
            <a:r>
              <a:rPr lang="en-US" dirty="0"/>
              <a:t/>
            </a:r>
            <a:br>
              <a:rPr lang="en-US" dirty="0"/>
            </a:br>
            <a:endParaRPr lang="en-US" dirty="0"/>
          </a:p>
        </p:txBody>
      </p:sp>
      <p:sp>
        <p:nvSpPr>
          <p:cNvPr id="3" name="Content Placeholder 2"/>
          <p:cNvSpPr>
            <a:spLocks noGrp="1"/>
          </p:cNvSpPr>
          <p:nvPr>
            <p:ph idx="1"/>
          </p:nvPr>
        </p:nvSpPr>
        <p:spPr>
          <a:xfrm>
            <a:off x="838200" y="1129553"/>
            <a:ext cx="10515600" cy="5047410"/>
          </a:xfrm>
        </p:spPr>
        <p:txBody>
          <a:bodyPr>
            <a:normAutofit/>
          </a:bodyPr>
          <a:lstStyle/>
          <a:p>
            <a:r>
              <a:rPr lang="en-US" sz="4000" dirty="0" smtClean="0"/>
              <a:t>The </a:t>
            </a:r>
            <a:r>
              <a:rPr lang="en-US" sz="4000" dirty="0"/>
              <a:t>abnormal disease-producing gene is called </a:t>
            </a:r>
            <a:r>
              <a:rPr lang="en-US" sz="4000" dirty="0" err="1"/>
              <a:t>PrPSc</a:t>
            </a:r>
            <a:r>
              <a:rPr lang="en-US" sz="4000" dirty="0"/>
              <a:t> (for </a:t>
            </a:r>
            <a:r>
              <a:rPr lang="en-US" sz="4000" dirty="0" err="1"/>
              <a:t>scrapie</a:t>
            </a:r>
            <a:r>
              <a:rPr lang="en-US" sz="4000" dirty="0"/>
              <a:t>). </a:t>
            </a:r>
          </a:p>
          <a:p>
            <a:pPr lvl="0"/>
            <a:r>
              <a:rPr lang="en-US" sz="4000" dirty="0"/>
              <a:t>It has the same number of amino acid sequences as a normal protein, i.e., the primary structures are identical but the secondary structure is dominated by beta conformation.</a:t>
            </a:r>
          </a:p>
          <a:p>
            <a:r>
              <a:rPr lang="en-US" sz="4000" dirty="0"/>
              <a:t>It is insoluble in all the strongest solvents and is highly resistant to digestion by proteases</a:t>
            </a:r>
          </a:p>
        </p:txBody>
      </p:sp>
    </p:spTree>
    <p:extLst>
      <p:ext uri="{BB962C8B-B14F-4D97-AF65-F5344CB8AC3E}">
        <p14:creationId xmlns:p14="http://schemas.microsoft.com/office/powerpoint/2010/main" val="236321230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706"/>
            <a:ext cx="10515600" cy="578223"/>
          </a:xfrm>
        </p:spPr>
        <p:txBody>
          <a:bodyPr>
            <a:normAutofit fontScale="90000"/>
          </a:bodyPr>
          <a:lstStyle/>
          <a:p>
            <a:pPr algn="ctr"/>
            <a:r>
              <a:rPr lang="en-US" b="1" dirty="0"/>
              <a:t/>
            </a:r>
            <a:br>
              <a:rPr lang="en-US" b="1" dirty="0"/>
            </a:br>
            <a:r>
              <a:rPr lang="en-US" b="1" dirty="0" err="1" smtClean="0"/>
              <a:t>PrPSc</a:t>
            </a:r>
            <a:r>
              <a:rPr lang="en-US" b="1" dirty="0" smtClean="0"/>
              <a:t> cont’d </a:t>
            </a:r>
            <a:r>
              <a:rPr lang="en-US" dirty="0"/>
              <a:t/>
            </a:r>
            <a:br>
              <a:rPr lang="en-US" dirty="0"/>
            </a:br>
            <a:endParaRPr lang="en-US" dirty="0"/>
          </a:p>
        </p:txBody>
      </p:sp>
      <p:sp>
        <p:nvSpPr>
          <p:cNvPr id="3" name="Content Placeholder 2"/>
          <p:cNvSpPr>
            <a:spLocks noGrp="1"/>
          </p:cNvSpPr>
          <p:nvPr>
            <p:ph idx="1"/>
          </p:nvPr>
        </p:nvSpPr>
        <p:spPr>
          <a:xfrm>
            <a:off x="838200" y="900953"/>
            <a:ext cx="10515600" cy="5276010"/>
          </a:xfrm>
        </p:spPr>
        <p:txBody>
          <a:bodyPr>
            <a:noAutofit/>
          </a:bodyPr>
          <a:lstStyle/>
          <a:p>
            <a:pPr lvl="0"/>
            <a:r>
              <a:rPr lang="en-US" sz="4000" dirty="0"/>
              <a:t>When </a:t>
            </a:r>
            <a:r>
              <a:rPr lang="en-US" sz="4000" dirty="0" err="1"/>
              <a:t>PrPSc</a:t>
            </a:r>
            <a:r>
              <a:rPr lang="en-US" sz="4000" dirty="0"/>
              <a:t> comes in contact with </a:t>
            </a:r>
            <a:r>
              <a:rPr lang="en-US" sz="4000" dirty="0" err="1"/>
              <a:t>PrPC</a:t>
            </a:r>
            <a:r>
              <a:rPr lang="en-US" sz="4000" dirty="0"/>
              <a:t>, it converts </a:t>
            </a:r>
            <a:r>
              <a:rPr lang="en-US" sz="4000" dirty="0" err="1"/>
              <a:t>PrPSc</a:t>
            </a:r>
            <a:r>
              <a:rPr lang="en-US" sz="4000" dirty="0"/>
              <a:t> into more of itself. </a:t>
            </a:r>
          </a:p>
          <a:p>
            <a:pPr lvl="0"/>
            <a:r>
              <a:rPr lang="en-US" sz="4000" dirty="0"/>
              <a:t>These molecules bind each other forming aggregations. </a:t>
            </a:r>
          </a:p>
          <a:p>
            <a:pPr marL="0" lvl="0" indent="0">
              <a:buNone/>
            </a:pPr>
            <a:endParaRPr lang="en-US" sz="4000" dirty="0"/>
          </a:p>
          <a:p>
            <a:endParaRPr lang="en-US" sz="4000" dirty="0"/>
          </a:p>
        </p:txBody>
      </p:sp>
    </p:spTree>
    <p:extLst>
      <p:ext uri="{BB962C8B-B14F-4D97-AF65-F5344CB8AC3E}">
        <p14:creationId xmlns:p14="http://schemas.microsoft.com/office/powerpoint/2010/main" val="295830850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672353"/>
          </a:xfrm>
        </p:spPr>
        <p:txBody>
          <a:bodyPr>
            <a:normAutofit fontScale="90000"/>
          </a:bodyPr>
          <a:lstStyle/>
          <a:p>
            <a:pPr algn="ctr"/>
            <a:r>
              <a:rPr lang="en-US" b="1" dirty="0"/>
              <a:t/>
            </a:r>
            <a:br>
              <a:rPr lang="en-US" b="1" dirty="0"/>
            </a:br>
            <a:r>
              <a:rPr lang="en-US" b="1" dirty="0" err="1"/>
              <a:t>PrPSc</a:t>
            </a:r>
            <a:r>
              <a:rPr lang="en-US" b="1" dirty="0"/>
              <a:t> cont’d </a:t>
            </a:r>
            <a:r>
              <a:rPr lang="en-US" dirty="0"/>
              <a:t/>
            </a:r>
            <a:br>
              <a:rPr lang="en-US" dirty="0"/>
            </a:br>
            <a:endParaRPr lang="en-US" dirty="0"/>
          </a:p>
        </p:txBody>
      </p:sp>
      <p:sp>
        <p:nvSpPr>
          <p:cNvPr id="3" name="Content Placeholder 2"/>
          <p:cNvSpPr>
            <a:spLocks noGrp="1"/>
          </p:cNvSpPr>
          <p:nvPr>
            <p:ph idx="1"/>
          </p:nvPr>
        </p:nvSpPr>
        <p:spPr>
          <a:xfrm>
            <a:off x="838200" y="806824"/>
            <a:ext cx="10515600" cy="6333564"/>
          </a:xfrm>
        </p:spPr>
        <p:txBody>
          <a:bodyPr>
            <a:noAutofit/>
          </a:bodyPr>
          <a:lstStyle/>
          <a:p>
            <a:r>
              <a:rPr lang="en-US" sz="4000" dirty="0"/>
              <a:t>According to the prion model, the disease progresses when a </a:t>
            </a:r>
            <a:r>
              <a:rPr lang="en-US" sz="4000" dirty="0" err="1"/>
              <a:t>misfold</a:t>
            </a:r>
            <a:r>
              <a:rPr lang="en-US" sz="4000" dirty="0"/>
              <a:t> </a:t>
            </a:r>
            <a:r>
              <a:rPr lang="en-US" sz="4000" dirty="0" err="1"/>
              <a:t>PrPSc</a:t>
            </a:r>
            <a:r>
              <a:rPr lang="en-US" sz="4000" dirty="0"/>
              <a:t> molecule comes in contact with cellular form </a:t>
            </a:r>
            <a:r>
              <a:rPr lang="en-US" sz="4000" dirty="0" err="1"/>
              <a:t>PrPC</a:t>
            </a:r>
            <a:r>
              <a:rPr lang="en-US" sz="4000" dirty="0"/>
              <a:t> . The appearance of </a:t>
            </a:r>
            <a:r>
              <a:rPr lang="en-US" sz="4000" dirty="0" err="1"/>
              <a:t>rnisfold</a:t>
            </a:r>
            <a:r>
              <a:rPr lang="en-US" sz="4000" dirty="0"/>
              <a:t> molecule (</a:t>
            </a:r>
            <a:r>
              <a:rPr lang="en-US" sz="4000" dirty="0" err="1"/>
              <a:t>PrPSc</a:t>
            </a:r>
            <a:r>
              <a:rPr lang="en-US" sz="4000" dirty="0"/>
              <a:t>) may be either spontaneous or caused by feeding an animal some food containing meat of diseased animals</a:t>
            </a:r>
          </a:p>
        </p:txBody>
      </p:sp>
    </p:spTree>
    <p:extLst>
      <p:ext uri="{BB962C8B-B14F-4D97-AF65-F5344CB8AC3E}">
        <p14:creationId xmlns:p14="http://schemas.microsoft.com/office/powerpoint/2010/main" val="427367443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259"/>
            <a:ext cx="10515600" cy="833717"/>
          </a:xfrm>
        </p:spPr>
        <p:txBody>
          <a:bodyPr>
            <a:normAutofit fontScale="90000"/>
          </a:bodyPr>
          <a:lstStyle/>
          <a:p>
            <a:pPr algn="ctr"/>
            <a:r>
              <a:rPr lang="en-US" b="1" dirty="0"/>
              <a:t/>
            </a:r>
            <a:br>
              <a:rPr lang="en-US" b="1" dirty="0"/>
            </a:br>
            <a:r>
              <a:rPr lang="en-US" b="1" dirty="0" err="1"/>
              <a:t>PrPSc</a:t>
            </a:r>
            <a:r>
              <a:rPr lang="en-US" b="1" dirty="0"/>
              <a:t> cont’d </a:t>
            </a:r>
            <a:r>
              <a:rPr lang="en-US" dirty="0"/>
              <a:t/>
            </a:r>
            <a:br>
              <a:rPr lang="en-US" dirty="0"/>
            </a:br>
            <a:endParaRPr lang="en-US" dirty="0"/>
          </a:p>
        </p:txBody>
      </p:sp>
      <p:sp>
        <p:nvSpPr>
          <p:cNvPr id="3" name="Content Placeholder 2"/>
          <p:cNvSpPr>
            <a:spLocks noGrp="1"/>
          </p:cNvSpPr>
          <p:nvPr>
            <p:ph idx="1"/>
          </p:nvPr>
        </p:nvSpPr>
        <p:spPr>
          <a:xfrm>
            <a:off x="838200" y="1156447"/>
            <a:ext cx="10515600" cy="5020516"/>
          </a:xfrm>
        </p:spPr>
        <p:txBody>
          <a:bodyPr>
            <a:normAutofit/>
          </a:bodyPr>
          <a:lstStyle/>
          <a:p>
            <a:pPr lvl="0"/>
            <a:r>
              <a:rPr lang="en-US" sz="4000" dirty="0"/>
              <a:t>Prion diseases include </a:t>
            </a:r>
            <a:r>
              <a:rPr lang="en-US" sz="4000" dirty="0" err="1"/>
              <a:t>scrapie</a:t>
            </a:r>
            <a:r>
              <a:rPr lang="en-US" sz="4000" dirty="0"/>
              <a:t> in sheep, mad cow disease (bovine spongiform encephalopathy or BSE) in cattle, </a:t>
            </a:r>
            <a:r>
              <a:rPr lang="en-US" sz="4000" dirty="0" err="1"/>
              <a:t>Kuru</a:t>
            </a:r>
            <a:r>
              <a:rPr lang="en-US" sz="4000" dirty="0"/>
              <a:t> and </a:t>
            </a:r>
            <a:r>
              <a:rPr lang="en-US" sz="4000" dirty="0" err="1"/>
              <a:t>Cruetzfeldt-Jakob</a:t>
            </a:r>
            <a:r>
              <a:rPr lang="en-US" sz="4000" dirty="0"/>
              <a:t> disease in humans. </a:t>
            </a:r>
          </a:p>
          <a:p>
            <a:pPr lvl="0"/>
            <a:r>
              <a:rPr lang="en-US" sz="4000" dirty="0"/>
              <a:t>BSE was first </a:t>
            </a:r>
            <a:r>
              <a:rPr lang="en-US" sz="4000" dirty="0" err="1"/>
              <a:t>recognised</a:t>
            </a:r>
            <a:r>
              <a:rPr lang="en-US" sz="4000" dirty="0"/>
              <a:t> in 1986, whereas </a:t>
            </a:r>
            <a:r>
              <a:rPr lang="en-US" sz="4000" dirty="0" err="1"/>
              <a:t>Kuru</a:t>
            </a:r>
            <a:r>
              <a:rPr lang="en-US" sz="4000" dirty="0"/>
              <a:t> had already been identified in 1957. </a:t>
            </a:r>
            <a:r>
              <a:rPr lang="en-US" sz="4000" dirty="0" err="1"/>
              <a:t>Scrapie</a:t>
            </a:r>
            <a:r>
              <a:rPr lang="en-US" sz="4000" dirty="0"/>
              <a:t> is known for at least 200 years. </a:t>
            </a:r>
          </a:p>
          <a:p>
            <a:endParaRPr lang="en-US" sz="4000" dirty="0"/>
          </a:p>
        </p:txBody>
      </p:sp>
    </p:spTree>
    <p:extLst>
      <p:ext uri="{BB962C8B-B14F-4D97-AF65-F5344CB8AC3E}">
        <p14:creationId xmlns:p14="http://schemas.microsoft.com/office/powerpoint/2010/main" val="4442873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91321"/>
          </a:xfrm>
        </p:spPr>
        <p:txBody>
          <a:bodyPr>
            <a:normAutofit fontScale="90000"/>
          </a:bodyPr>
          <a:lstStyle/>
          <a:p>
            <a:pPr algn="ctr"/>
            <a:r>
              <a:rPr lang="en-US" b="1" dirty="0"/>
              <a:t/>
            </a:r>
            <a:br>
              <a:rPr lang="en-US" b="1" dirty="0"/>
            </a:br>
            <a:r>
              <a:rPr lang="en-US" b="1" dirty="0" err="1"/>
              <a:t>PrPSc</a:t>
            </a:r>
            <a:r>
              <a:rPr lang="en-US" b="1" dirty="0"/>
              <a:t> cont’d </a:t>
            </a:r>
            <a:r>
              <a:rPr lang="en-US" dirty="0"/>
              <a:t/>
            </a:r>
            <a:br>
              <a:rPr lang="en-US" dirty="0"/>
            </a:br>
            <a:endParaRPr lang="en-US" dirty="0"/>
          </a:p>
        </p:txBody>
      </p:sp>
      <p:sp>
        <p:nvSpPr>
          <p:cNvPr id="3" name="Content Placeholder 2"/>
          <p:cNvSpPr>
            <a:spLocks noGrp="1"/>
          </p:cNvSpPr>
          <p:nvPr>
            <p:ph idx="1"/>
          </p:nvPr>
        </p:nvSpPr>
        <p:spPr>
          <a:xfrm>
            <a:off x="838200" y="1398494"/>
            <a:ext cx="10515600" cy="4778469"/>
          </a:xfrm>
        </p:spPr>
        <p:txBody>
          <a:bodyPr>
            <a:normAutofit/>
          </a:bodyPr>
          <a:lstStyle/>
          <a:p>
            <a:r>
              <a:rPr lang="en-US" sz="4000" dirty="0"/>
              <a:t>A prion disease, also called transmissible spongiform </a:t>
            </a:r>
            <a:r>
              <a:rPr lang="en-US" sz="4000" dirty="0" err="1"/>
              <a:t>encephalopathies</a:t>
            </a:r>
            <a:r>
              <a:rPr lang="en-US" sz="4000" dirty="0"/>
              <a:t>, is transmissible host to host in a single species and sometimes even from one species to another. In this disease, the brain tissue is destroyed, giving it a spongy appearance</a:t>
            </a:r>
          </a:p>
        </p:txBody>
      </p:sp>
    </p:spTree>
    <p:extLst>
      <p:ext uri="{BB962C8B-B14F-4D97-AF65-F5344CB8AC3E}">
        <p14:creationId xmlns:p14="http://schemas.microsoft.com/office/powerpoint/2010/main" val="18341981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4"/>
            <a:ext cx="10515600" cy="806824"/>
          </a:xfrm>
        </p:spPr>
        <p:txBody>
          <a:bodyPr>
            <a:normAutofit fontScale="90000"/>
          </a:bodyPr>
          <a:lstStyle/>
          <a:p>
            <a:pPr algn="ctr"/>
            <a:r>
              <a:rPr lang="en-US" b="1" dirty="0"/>
              <a:t/>
            </a:r>
            <a:br>
              <a:rPr lang="en-US" b="1" dirty="0"/>
            </a:br>
            <a:r>
              <a:rPr lang="en-US" b="1" dirty="0" err="1"/>
              <a:t>PrPSc</a:t>
            </a:r>
            <a:r>
              <a:rPr lang="en-US" b="1" dirty="0"/>
              <a:t> cont’d </a:t>
            </a:r>
            <a:r>
              <a:rPr lang="en-US" dirty="0"/>
              <a:t/>
            </a:r>
            <a:br>
              <a:rPr lang="en-US" dirty="0"/>
            </a:br>
            <a:endParaRPr lang="en-US" dirty="0"/>
          </a:p>
        </p:txBody>
      </p:sp>
      <p:sp>
        <p:nvSpPr>
          <p:cNvPr id="3" name="Content Placeholder 2"/>
          <p:cNvSpPr>
            <a:spLocks noGrp="1"/>
          </p:cNvSpPr>
          <p:nvPr>
            <p:ph idx="1"/>
          </p:nvPr>
        </p:nvSpPr>
        <p:spPr>
          <a:xfrm>
            <a:off x="838200" y="1129553"/>
            <a:ext cx="10515600" cy="5047410"/>
          </a:xfrm>
        </p:spPr>
        <p:txBody>
          <a:bodyPr>
            <a:normAutofit/>
          </a:bodyPr>
          <a:lstStyle/>
          <a:p>
            <a:pPr lvl="0"/>
            <a:r>
              <a:rPr lang="en-US" sz="4000" dirty="0"/>
              <a:t>All prion diseases affect the structure of the brain or the neural tube and are universally fatal. </a:t>
            </a:r>
          </a:p>
          <a:p>
            <a:r>
              <a:rPr lang="en-US" sz="4000" dirty="0"/>
              <a:t>Prion diseases may be present as genetic, infectious or sporadic; all of which involve variation of prion protein</a:t>
            </a:r>
          </a:p>
        </p:txBody>
      </p:sp>
    </p:spTree>
    <p:extLst>
      <p:ext uri="{BB962C8B-B14F-4D97-AF65-F5344CB8AC3E}">
        <p14:creationId xmlns:p14="http://schemas.microsoft.com/office/powerpoint/2010/main" val="215293255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3"/>
            <a:ext cx="10515600" cy="941294"/>
          </a:xfrm>
        </p:spPr>
        <p:txBody>
          <a:bodyPr>
            <a:normAutofit fontScale="90000"/>
          </a:bodyPr>
          <a:lstStyle/>
          <a:p>
            <a:pPr algn="ctr"/>
            <a:r>
              <a:rPr lang="en-US" b="1" dirty="0"/>
              <a:t/>
            </a:r>
            <a:br>
              <a:rPr lang="en-US" b="1" dirty="0"/>
            </a:br>
            <a:r>
              <a:rPr lang="en-US" b="1" dirty="0" err="1"/>
              <a:t>PrPSc</a:t>
            </a:r>
            <a:r>
              <a:rPr lang="en-US" b="1" dirty="0"/>
              <a:t> cont’d </a:t>
            </a:r>
            <a:r>
              <a:rPr lang="en-US" dirty="0"/>
              <a:t/>
            </a:r>
            <a:br>
              <a:rPr lang="en-US" dirty="0"/>
            </a:br>
            <a:endParaRPr lang="en-US" dirty="0"/>
          </a:p>
        </p:txBody>
      </p:sp>
      <p:sp>
        <p:nvSpPr>
          <p:cNvPr id="3" name="Content Placeholder 2"/>
          <p:cNvSpPr>
            <a:spLocks noGrp="1"/>
          </p:cNvSpPr>
          <p:nvPr>
            <p:ph idx="1"/>
          </p:nvPr>
        </p:nvSpPr>
        <p:spPr>
          <a:xfrm>
            <a:off x="838200" y="1116107"/>
            <a:ext cx="10515600" cy="5060856"/>
          </a:xfrm>
        </p:spPr>
        <p:txBody>
          <a:bodyPr>
            <a:normAutofit/>
          </a:bodyPr>
          <a:lstStyle/>
          <a:p>
            <a:pPr lvl="0"/>
            <a:r>
              <a:rPr lang="en-US" sz="4000" dirty="0"/>
              <a:t>More than 20 mutations of the </a:t>
            </a:r>
            <a:r>
              <a:rPr lang="en-US" sz="4000" i="1" dirty="0" err="1"/>
              <a:t>Prp</a:t>
            </a:r>
            <a:r>
              <a:rPr lang="en-US" sz="4000" i="1" dirty="0"/>
              <a:t> </a:t>
            </a:r>
            <a:r>
              <a:rPr lang="en-US" sz="4000" dirty="0"/>
              <a:t>gene are known to cause inheritable human prion diseases. </a:t>
            </a:r>
          </a:p>
          <a:p>
            <a:pPr lvl="0"/>
            <a:r>
              <a:rPr lang="en-US" sz="4000" dirty="0"/>
              <a:t>Like other life forms, prions have the ability to evolve through mutations and natural selection. </a:t>
            </a:r>
          </a:p>
          <a:p>
            <a:r>
              <a:rPr lang="en-US" sz="4000" dirty="0"/>
              <a:t>Prions have been discovered in fungi. It is </a:t>
            </a:r>
            <a:r>
              <a:rPr lang="en-US" sz="4000" dirty="0" err="1"/>
              <a:t>theorised</a:t>
            </a:r>
            <a:r>
              <a:rPr lang="en-US" sz="4000" dirty="0"/>
              <a:t> that they may playa symbiotic role in the Fungi immune system</a:t>
            </a:r>
          </a:p>
        </p:txBody>
      </p:sp>
    </p:spTree>
    <p:extLst>
      <p:ext uri="{BB962C8B-B14F-4D97-AF65-F5344CB8AC3E}">
        <p14:creationId xmlns:p14="http://schemas.microsoft.com/office/powerpoint/2010/main" val="382791706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706"/>
            <a:ext cx="10515600" cy="847166"/>
          </a:xfrm>
        </p:spPr>
        <p:txBody>
          <a:bodyPr>
            <a:normAutofit fontScale="90000"/>
          </a:bodyPr>
          <a:lstStyle/>
          <a:p>
            <a:pPr algn="ctr"/>
            <a:r>
              <a:rPr lang="en-US" b="1" dirty="0"/>
              <a:t/>
            </a:r>
            <a:br>
              <a:rPr lang="en-US" b="1" dirty="0"/>
            </a:br>
            <a:r>
              <a:rPr lang="en-US" b="1" dirty="0" err="1"/>
              <a:t>PrPSc</a:t>
            </a:r>
            <a:r>
              <a:rPr lang="en-US" b="1" dirty="0"/>
              <a:t> cont’d </a:t>
            </a:r>
            <a:r>
              <a:rPr lang="en-US" dirty="0"/>
              <a:t/>
            </a:r>
            <a:br>
              <a:rPr lang="en-US" dirty="0"/>
            </a:br>
            <a:endParaRPr lang="en-US" dirty="0"/>
          </a:p>
        </p:txBody>
      </p:sp>
      <p:sp>
        <p:nvSpPr>
          <p:cNvPr id="3" name="Content Placeholder 2"/>
          <p:cNvSpPr>
            <a:spLocks noGrp="1"/>
          </p:cNvSpPr>
          <p:nvPr>
            <p:ph idx="1"/>
          </p:nvPr>
        </p:nvSpPr>
        <p:spPr>
          <a:xfrm>
            <a:off x="838200" y="1048872"/>
            <a:ext cx="10515600" cy="5128091"/>
          </a:xfrm>
        </p:spPr>
        <p:txBody>
          <a:bodyPr>
            <a:normAutofit/>
          </a:bodyPr>
          <a:lstStyle/>
          <a:p>
            <a:pPr lvl="0"/>
            <a:r>
              <a:rPr lang="en-US" sz="4000" dirty="0"/>
              <a:t>Prions can be detected with high sensitivity by Protein </a:t>
            </a:r>
            <a:r>
              <a:rPr lang="en-US" sz="4000" dirty="0" err="1"/>
              <a:t>Misfolding</a:t>
            </a:r>
            <a:r>
              <a:rPr lang="en-US" sz="4000" dirty="0"/>
              <a:t> Cyclic Amplification (PMCA) technology. </a:t>
            </a:r>
          </a:p>
          <a:p>
            <a:pPr lvl="0"/>
            <a:r>
              <a:rPr lang="en-US" sz="4000" dirty="0"/>
              <a:t>On the whole, the prions are against the basic tenet that all forms of life must contain nucleic acid. </a:t>
            </a:r>
          </a:p>
          <a:p>
            <a:endParaRPr lang="en-US" sz="4000" dirty="0"/>
          </a:p>
        </p:txBody>
      </p:sp>
    </p:spTree>
    <p:extLst>
      <p:ext uri="{BB962C8B-B14F-4D97-AF65-F5344CB8AC3E}">
        <p14:creationId xmlns:p14="http://schemas.microsoft.com/office/powerpoint/2010/main" val="336453872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766482"/>
          </a:xfrm>
        </p:spPr>
        <p:txBody>
          <a:bodyPr>
            <a:normAutofit/>
          </a:bodyPr>
          <a:lstStyle/>
          <a:p>
            <a:pPr algn="ctr"/>
            <a:r>
              <a:rPr lang="en-US" b="1" dirty="0"/>
              <a:t>TRANSPOSONS</a:t>
            </a:r>
            <a:endParaRPr lang="en-US" dirty="0"/>
          </a:p>
        </p:txBody>
      </p:sp>
      <p:sp>
        <p:nvSpPr>
          <p:cNvPr id="3" name="Content Placeholder 2"/>
          <p:cNvSpPr>
            <a:spLocks noGrp="1"/>
          </p:cNvSpPr>
          <p:nvPr>
            <p:ph idx="1"/>
          </p:nvPr>
        </p:nvSpPr>
        <p:spPr>
          <a:xfrm>
            <a:off x="838200" y="766483"/>
            <a:ext cx="10515600" cy="5410480"/>
          </a:xfrm>
        </p:spPr>
        <p:txBody>
          <a:bodyPr>
            <a:normAutofit/>
          </a:bodyPr>
          <a:lstStyle/>
          <a:p>
            <a:r>
              <a:rPr lang="en-US" sz="4000" b="1" dirty="0" smtClean="0"/>
              <a:t> </a:t>
            </a:r>
            <a:r>
              <a:rPr lang="en-US" sz="4000" dirty="0" smtClean="0"/>
              <a:t>Transposons </a:t>
            </a:r>
            <a:r>
              <a:rPr lang="en-US" sz="4000" dirty="0"/>
              <a:t>are the segments of DNA that move around different locations in the genome of a single cell. </a:t>
            </a:r>
          </a:p>
          <a:p>
            <a:r>
              <a:rPr lang="en-US" sz="4000" dirty="0"/>
              <a:t>Transposons are also termed as transposable elements, mobile elements, </a:t>
            </a:r>
            <a:r>
              <a:rPr lang="en-US" sz="4000" dirty="0" err="1"/>
              <a:t>translocatable</a:t>
            </a:r>
            <a:r>
              <a:rPr lang="en-US" sz="4000" dirty="0"/>
              <a:t> elements, insertion elements and selfish genes or hopping genes</a:t>
            </a:r>
          </a:p>
        </p:txBody>
      </p:sp>
    </p:spTree>
    <p:extLst>
      <p:ext uri="{BB962C8B-B14F-4D97-AF65-F5344CB8AC3E}">
        <p14:creationId xmlns:p14="http://schemas.microsoft.com/office/powerpoint/2010/main" val="85089502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860611"/>
          </a:xfrm>
        </p:spPr>
        <p:txBody>
          <a:bodyPr>
            <a:normAutofit/>
          </a:bodyPr>
          <a:lstStyle/>
          <a:p>
            <a:pPr algn="ctr"/>
            <a:r>
              <a:rPr lang="en-US" b="1" dirty="0" smtClean="0"/>
              <a:t>Transposons cont’d</a:t>
            </a:r>
            <a:endParaRPr lang="en-US" b="1" dirty="0"/>
          </a:p>
        </p:txBody>
      </p:sp>
      <p:sp>
        <p:nvSpPr>
          <p:cNvPr id="3" name="Content Placeholder 2"/>
          <p:cNvSpPr>
            <a:spLocks noGrp="1"/>
          </p:cNvSpPr>
          <p:nvPr>
            <p:ph idx="1"/>
          </p:nvPr>
        </p:nvSpPr>
        <p:spPr>
          <a:xfrm>
            <a:off x="838200" y="995082"/>
            <a:ext cx="10515600" cy="5181881"/>
          </a:xfrm>
        </p:spPr>
        <p:txBody>
          <a:bodyPr>
            <a:normAutofit/>
          </a:bodyPr>
          <a:lstStyle/>
          <a:p>
            <a:pPr lvl="0"/>
            <a:r>
              <a:rPr lang="en-US" sz="4000" dirty="0"/>
              <a:t>Transposons are also known as jumping genes as they are segments of DNA that are able to jump from location to location within a genome. </a:t>
            </a:r>
          </a:p>
          <a:p>
            <a:pPr lvl="0"/>
            <a:r>
              <a:rPr lang="en-US" sz="4000" dirty="0"/>
              <a:t>Transposons have been called selfish DNA as their only function is (or appears so) to make more copies of themselves and junk DNA because there is no obvious benefit to their host. </a:t>
            </a:r>
          </a:p>
          <a:p>
            <a:endParaRPr lang="en-US" sz="4000" dirty="0"/>
          </a:p>
        </p:txBody>
      </p:sp>
    </p:spTree>
    <p:extLst>
      <p:ext uri="{BB962C8B-B14F-4D97-AF65-F5344CB8AC3E}">
        <p14:creationId xmlns:p14="http://schemas.microsoft.com/office/powerpoint/2010/main" val="228609868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72354"/>
          </a:xfrm>
        </p:spPr>
        <p:txBody>
          <a:bodyPr>
            <a:normAutofit fontScale="90000"/>
          </a:bodyPr>
          <a:lstStyle/>
          <a:p>
            <a:pPr algn="ctr"/>
            <a:r>
              <a:rPr lang="en-US" b="1" dirty="0"/>
              <a:t>Transposons cont’d</a:t>
            </a:r>
            <a:endParaRPr lang="en-US" dirty="0"/>
          </a:p>
        </p:txBody>
      </p:sp>
      <p:sp>
        <p:nvSpPr>
          <p:cNvPr id="3" name="Content Placeholder 2"/>
          <p:cNvSpPr>
            <a:spLocks noGrp="1"/>
          </p:cNvSpPr>
          <p:nvPr>
            <p:ph idx="1"/>
          </p:nvPr>
        </p:nvSpPr>
        <p:spPr>
          <a:xfrm>
            <a:off x="838200" y="1048871"/>
            <a:ext cx="10515600" cy="5128092"/>
          </a:xfrm>
        </p:spPr>
        <p:txBody>
          <a:bodyPr>
            <a:normAutofit/>
          </a:bodyPr>
          <a:lstStyle/>
          <a:p>
            <a:pPr lvl="0"/>
            <a:r>
              <a:rPr lang="en-US" sz="4000" dirty="0"/>
              <a:t>Transposons are long DNA sequences generally 10</a:t>
            </a:r>
            <a:r>
              <a:rPr lang="en-US" sz="4000" baseline="30000" dirty="0"/>
              <a:t>2</a:t>
            </a:r>
            <a:r>
              <a:rPr lang="en-US" sz="4000" dirty="0"/>
              <a:t> to 10</a:t>
            </a:r>
            <a:r>
              <a:rPr lang="en-US" sz="4000" baseline="30000" dirty="0"/>
              <a:t>4</a:t>
            </a:r>
            <a:r>
              <a:rPr lang="en-US" sz="4000" dirty="0"/>
              <a:t> </a:t>
            </a:r>
          </a:p>
          <a:p>
            <a:pPr lvl="0"/>
            <a:r>
              <a:rPr lang="en-US" sz="4000" dirty="0"/>
              <a:t>Each transposon carries the gene that encodes enzyme </a:t>
            </a:r>
            <a:r>
              <a:rPr lang="en-US" sz="4000" dirty="0" err="1"/>
              <a:t>transposae</a:t>
            </a:r>
            <a:r>
              <a:rPr lang="en-US" sz="4000" dirty="0"/>
              <a:t>, which are required for its own transposition. </a:t>
            </a:r>
          </a:p>
          <a:p>
            <a:pPr lvl="0"/>
            <a:r>
              <a:rPr lang="en-US" sz="4000" dirty="0"/>
              <a:t>Transposons form a large fraction of C value in eukaryotic cells. </a:t>
            </a:r>
          </a:p>
          <a:p>
            <a:endParaRPr lang="en-US" sz="4000" dirty="0"/>
          </a:p>
        </p:txBody>
      </p:sp>
    </p:spTree>
    <p:extLst>
      <p:ext uri="{BB962C8B-B14F-4D97-AF65-F5344CB8AC3E}">
        <p14:creationId xmlns:p14="http://schemas.microsoft.com/office/powerpoint/2010/main" val="145230700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3"/>
            <a:ext cx="10515600" cy="793376"/>
          </a:xfrm>
        </p:spPr>
        <p:txBody>
          <a:bodyPr>
            <a:normAutofit/>
          </a:bodyPr>
          <a:lstStyle/>
          <a:p>
            <a:pPr algn="ctr"/>
            <a:r>
              <a:rPr lang="en-US" b="1" dirty="0"/>
              <a:t>Transposons cont’d</a:t>
            </a:r>
            <a:endParaRPr lang="en-US" dirty="0"/>
          </a:p>
        </p:txBody>
      </p:sp>
      <p:sp>
        <p:nvSpPr>
          <p:cNvPr id="3" name="Content Placeholder 2"/>
          <p:cNvSpPr>
            <a:spLocks noGrp="1"/>
          </p:cNvSpPr>
          <p:nvPr>
            <p:ph idx="1"/>
          </p:nvPr>
        </p:nvSpPr>
        <p:spPr>
          <a:xfrm>
            <a:off x="838200" y="1062318"/>
            <a:ext cx="10515600" cy="5114645"/>
          </a:xfrm>
        </p:spPr>
        <p:txBody>
          <a:bodyPr>
            <a:normAutofit/>
          </a:bodyPr>
          <a:lstStyle/>
          <a:p>
            <a:pPr lvl="0"/>
            <a:r>
              <a:rPr lang="en-US" sz="4000" dirty="0"/>
              <a:t>The first transposons were discovered in maize by McClintock in 1940 for which she was awarded the Nobel Prize in 1983. She noticed insertion, deletion and translocation by these transposons. </a:t>
            </a:r>
          </a:p>
          <a:p>
            <a:pPr lvl="0"/>
            <a:r>
              <a:rPr lang="en-US" sz="4000" dirty="0"/>
              <a:t>Transposons produce gene products and are often involved in gene regulation. </a:t>
            </a:r>
          </a:p>
          <a:p>
            <a:endParaRPr lang="en-US" sz="4000" dirty="0"/>
          </a:p>
        </p:txBody>
      </p:sp>
    </p:spTree>
    <p:extLst>
      <p:ext uri="{BB962C8B-B14F-4D97-AF65-F5344CB8AC3E}">
        <p14:creationId xmlns:p14="http://schemas.microsoft.com/office/powerpoint/2010/main" val="43759238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259"/>
            <a:ext cx="10515600" cy="806823"/>
          </a:xfrm>
        </p:spPr>
        <p:txBody>
          <a:bodyPr>
            <a:normAutofit/>
          </a:bodyPr>
          <a:lstStyle/>
          <a:p>
            <a:pPr algn="ctr"/>
            <a:r>
              <a:rPr lang="en-US" b="1" dirty="0"/>
              <a:t>Transposons cont’d</a:t>
            </a:r>
            <a:endParaRPr lang="en-US" dirty="0"/>
          </a:p>
        </p:txBody>
      </p:sp>
      <p:sp>
        <p:nvSpPr>
          <p:cNvPr id="3" name="Content Placeholder 2"/>
          <p:cNvSpPr>
            <a:spLocks noGrp="1"/>
          </p:cNvSpPr>
          <p:nvPr>
            <p:ph idx="1"/>
          </p:nvPr>
        </p:nvSpPr>
        <p:spPr>
          <a:xfrm>
            <a:off x="838200" y="1102659"/>
            <a:ext cx="10515600" cy="5074304"/>
          </a:xfrm>
        </p:spPr>
        <p:txBody>
          <a:bodyPr>
            <a:normAutofit/>
          </a:bodyPr>
          <a:lstStyle/>
          <a:p>
            <a:pPr lvl="0"/>
            <a:r>
              <a:rPr lang="en-US" sz="4000" dirty="0"/>
              <a:t>Larger transposons carry one or more genes in addition to those necessary for transposition. </a:t>
            </a:r>
          </a:p>
          <a:p>
            <a:pPr lvl="0"/>
            <a:r>
              <a:rPr lang="en-US" sz="4000" dirty="0"/>
              <a:t>Transposons may grow to include more genes. </a:t>
            </a:r>
          </a:p>
          <a:p>
            <a:r>
              <a:rPr lang="en-US" sz="4000" dirty="0"/>
              <a:t>In many cases transposons carry a sequence that acts as promoter, altering the regulation of genes at the site of insertion</a:t>
            </a:r>
          </a:p>
        </p:txBody>
      </p:sp>
    </p:spTree>
    <p:extLst>
      <p:ext uri="{BB962C8B-B14F-4D97-AF65-F5344CB8AC3E}">
        <p14:creationId xmlns:p14="http://schemas.microsoft.com/office/powerpoint/2010/main" val="374289493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981635"/>
          </a:xfrm>
        </p:spPr>
        <p:txBody>
          <a:bodyPr/>
          <a:lstStyle/>
          <a:p>
            <a:pPr algn="ctr"/>
            <a:r>
              <a:rPr lang="en-US" b="1" dirty="0"/>
              <a:t>Transposons cont’d</a:t>
            </a:r>
            <a:endParaRPr lang="en-US" dirty="0"/>
          </a:p>
        </p:txBody>
      </p:sp>
      <p:sp>
        <p:nvSpPr>
          <p:cNvPr id="3" name="Content Placeholder 2"/>
          <p:cNvSpPr>
            <a:spLocks noGrp="1"/>
          </p:cNvSpPr>
          <p:nvPr>
            <p:ph idx="1"/>
          </p:nvPr>
        </p:nvSpPr>
        <p:spPr>
          <a:xfrm>
            <a:off x="838200" y="1116106"/>
            <a:ext cx="10515600" cy="5060857"/>
          </a:xfrm>
        </p:spPr>
        <p:txBody>
          <a:bodyPr>
            <a:normAutofit/>
          </a:bodyPr>
          <a:lstStyle/>
          <a:p>
            <a:r>
              <a:rPr lang="en-US" sz="4000" dirty="0"/>
              <a:t>The ability of transposons to increase genetic diversity along with the ability of genomes to inhibit most transposable elements activity results in a balance that makes transposons an important part of evolution as well as gene regulation</a:t>
            </a:r>
          </a:p>
        </p:txBody>
      </p:sp>
    </p:spTree>
    <p:extLst>
      <p:ext uri="{BB962C8B-B14F-4D97-AF65-F5344CB8AC3E}">
        <p14:creationId xmlns:p14="http://schemas.microsoft.com/office/powerpoint/2010/main" val="3196597815"/>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365"/>
            <a:ext cx="10515600" cy="605117"/>
          </a:xfrm>
        </p:spPr>
        <p:txBody>
          <a:bodyPr>
            <a:normAutofit fontScale="90000"/>
          </a:bodyPr>
          <a:lstStyle/>
          <a:p>
            <a:pPr algn="ctr"/>
            <a:r>
              <a:rPr lang="en-US" b="1" dirty="0"/>
              <a:t>Transposons cont’d</a:t>
            </a:r>
            <a:endParaRPr lang="en-US" dirty="0"/>
          </a:p>
        </p:txBody>
      </p:sp>
      <p:sp>
        <p:nvSpPr>
          <p:cNvPr id="3" name="Content Placeholder 2"/>
          <p:cNvSpPr>
            <a:spLocks noGrp="1"/>
          </p:cNvSpPr>
          <p:nvPr>
            <p:ph idx="1"/>
          </p:nvPr>
        </p:nvSpPr>
        <p:spPr>
          <a:xfrm>
            <a:off x="838200" y="927846"/>
            <a:ext cx="10515600" cy="5809129"/>
          </a:xfrm>
        </p:spPr>
        <p:txBody>
          <a:bodyPr>
            <a:noAutofit/>
          </a:bodyPr>
          <a:lstStyle/>
          <a:p>
            <a:pPr lvl="0"/>
            <a:r>
              <a:rPr lang="en-US" sz="4000" dirty="0"/>
              <a:t>In the process of moving from location to location, transposons may cause mutations and increase or decrease the amount of DNA in the genome. </a:t>
            </a:r>
          </a:p>
          <a:p>
            <a:pPr lvl="0"/>
            <a:r>
              <a:rPr lang="en-US" sz="4000" dirty="0"/>
              <a:t>It has been estimated that 80 per cent of spontaneous mutations are caused by transposons. </a:t>
            </a:r>
          </a:p>
          <a:p>
            <a:pPr lvl="0"/>
            <a:r>
              <a:rPr lang="en-US" sz="4000" dirty="0"/>
              <a:t>Transposon elements are found both in prokaryotes and eukaryotes but are more abundant in eukaryotic genes </a:t>
            </a:r>
          </a:p>
          <a:p>
            <a:endParaRPr lang="en-US" sz="4000" dirty="0"/>
          </a:p>
        </p:txBody>
      </p:sp>
    </p:spTree>
    <p:extLst>
      <p:ext uri="{BB962C8B-B14F-4D97-AF65-F5344CB8AC3E}">
        <p14:creationId xmlns:p14="http://schemas.microsoft.com/office/powerpoint/2010/main" val="381902478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914401"/>
          </a:xfrm>
        </p:spPr>
        <p:txBody>
          <a:bodyPr>
            <a:normAutofit/>
          </a:bodyPr>
          <a:lstStyle/>
          <a:p>
            <a:pPr algn="ctr"/>
            <a:r>
              <a:rPr lang="en-US" b="1" dirty="0" smtClean="0"/>
              <a:t>Types of transposons</a:t>
            </a:r>
            <a:endParaRPr lang="en-US" b="1" dirty="0"/>
          </a:p>
        </p:txBody>
      </p:sp>
      <p:sp>
        <p:nvSpPr>
          <p:cNvPr id="3" name="Content Placeholder 2"/>
          <p:cNvSpPr>
            <a:spLocks noGrp="1"/>
          </p:cNvSpPr>
          <p:nvPr>
            <p:ph idx="1"/>
          </p:nvPr>
        </p:nvSpPr>
        <p:spPr>
          <a:xfrm>
            <a:off x="838200" y="1048872"/>
            <a:ext cx="10515600" cy="5593975"/>
          </a:xfrm>
        </p:spPr>
        <p:txBody>
          <a:bodyPr>
            <a:noAutofit/>
          </a:bodyPr>
          <a:lstStyle/>
          <a:p>
            <a:pPr lvl="0"/>
            <a:r>
              <a:rPr lang="en-US" sz="4000" dirty="0"/>
              <a:t>There are three types of transposons: </a:t>
            </a:r>
          </a:p>
          <a:p>
            <a:r>
              <a:rPr lang="en-US" sz="4000" b="1" dirty="0"/>
              <a:t>1. Class II Transposons </a:t>
            </a:r>
            <a:endParaRPr lang="en-US" sz="4000" dirty="0"/>
          </a:p>
          <a:p>
            <a:r>
              <a:rPr lang="en-US" sz="4000" dirty="0"/>
              <a:t>Consist only of DNA that moves directly from one location to another. </a:t>
            </a:r>
          </a:p>
          <a:p>
            <a:pPr lvl="0"/>
            <a:r>
              <a:rPr lang="en-US" sz="4000" b="1" dirty="0" smtClean="0"/>
              <a:t>2. Class </a:t>
            </a:r>
            <a:r>
              <a:rPr lang="en-US" sz="4000" b="1" dirty="0"/>
              <a:t>III Transposons </a:t>
            </a:r>
            <a:endParaRPr lang="en-US" sz="4000" dirty="0"/>
          </a:p>
          <a:p>
            <a:pPr lvl="0"/>
            <a:r>
              <a:rPr lang="en-US" sz="4000" dirty="0"/>
              <a:t>Also known as Miniature Inverted repeats Transposable Elements (MITEs). </a:t>
            </a:r>
          </a:p>
          <a:p>
            <a:r>
              <a:rPr lang="en-US" sz="4000" dirty="0"/>
              <a:t>The genomes of rice and C. </a:t>
            </a:r>
            <a:r>
              <a:rPr lang="en-US" sz="4000" i="1" dirty="0" err="1"/>
              <a:t>eLegans</a:t>
            </a:r>
            <a:r>
              <a:rPr lang="en-US" sz="4000" i="1" dirty="0"/>
              <a:t> </a:t>
            </a:r>
            <a:r>
              <a:rPr lang="en-US" sz="4000" dirty="0"/>
              <a:t>contain thousands of copies of recurring </a:t>
            </a:r>
          </a:p>
        </p:txBody>
      </p:sp>
    </p:spTree>
    <p:extLst>
      <p:ext uri="{BB962C8B-B14F-4D97-AF65-F5344CB8AC3E}">
        <p14:creationId xmlns:p14="http://schemas.microsoft.com/office/powerpoint/2010/main" val="173802065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5"/>
            <a:ext cx="10515600" cy="672352"/>
          </a:xfrm>
        </p:spPr>
        <p:txBody>
          <a:bodyPr>
            <a:noAutofit/>
          </a:bodyPr>
          <a:lstStyle/>
          <a:p>
            <a:pPr lvl="0" algn="ctr"/>
            <a:r>
              <a:rPr lang="en-US" b="1" dirty="0" smtClean="0"/>
              <a:t/>
            </a:r>
            <a:br>
              <a:rPr lang="en-US" b="1" dirty="0" smtClean="0"/>
            </a:br>
            <a:r>
              <a:rPr lang="en-US" b="1" dirty="0" smtClean="0"/>
              <a:t>2. Class </a:t>
            </a:r>
            <a:r>
              <a:rPr lang="en-US" b="1" dirty="0"/>
              <a:t>III Transposons </a:t>
            </a:r>
            <a:r>
              <a:rPr lang="en-US" b="1" dirty="0" smtClean="0"/>
              <a:t> cont’d</a:t>
            </a:r>
            <a:r>
              <a:rPr lang="en-US" b="1" dirty="0"/>
              <a:t/>
            </a:r>
            <a:br>
              <a:rPr lang="en-US" b="1" dirty="0"/>
            </a:br>
            <a:endParaRPr lang="en-US" b="1" dirty="0"/>
          </a:p>
        </p:txBody>
      </p:sp>
      <p:sp>
        <p:nvSpPr>
          <p:cNvPr id="3" name="Content Placeholder 2"/>
          <p:cNvSpPr>
            <a:spLocks noGrp="1"/>
          </p:cNvSpPr>
          <p:nvPr>
            <p:ph idx="1"/>
          </p:nvPr>
        </p:nvSpPr>
        <p:spPr>
          <a:xfrm>
            <a:off x="838200" y="914400"/>
            <a:ext cx="10515600" cy="5262563"/>
          </a:xfrm>
        </p:spPr>
        <p:txBody>
          <a:bodyPr>
            <a:noAutofit/>
          </a:bodyPr>
          <a:lstStyle/>
          <a:p>
            <a:pPr lvl="0"/>
            <a:r>
              <a:rPr lang="en-US" sz="4000" dirty="0"/>
              <a:t>The genomes of rice and C. </a:t>
            </a:r>
            <a:r>
              <a:rPr lang="en-US" sz="4000" i="1" dirty="0" err="1"/>
              <a:t>eLegans</a:t>
            </a:r>
            <a:r>
              <a:rPr lang="en-US" sz="4000" i="1" dirty="0"/>
              <a:t> </a:t>
            </a:r>
            <a:r>
              <a:rPr lang="en-US" sz="4000" dirty="0"/>
              <a:t>contain thousands of copies of recurring motif, consisting of almost identical sequence of about 400 base pairs flanked by characteristic inverted repeats of about 15 base pairs. </a:t>
            </a:r>
          </a:p>
          <a:p>
            <a:pPr lvl="0"/>
            <a:r>
              <a:rPr lang="en-US" sz="4000" dirty="0"/>
              <a:t>The genome of rice contains about 1,00,000 MITEs. </a:t>
            </a:r>
          </a:p>
          <a:p>
            <a:r>
              <a:rPr lang="en-US" sz="4000" dirty="0"/>
              <a:t>MIETEs have also been reported in mice, humans and </a:t>
            </a:r>
            <a:r>
              <a:rPr lang="en-US" sz="4000" i="1" dirty="0" err="1"/>
              <a:t>Xenopus</a:t>
            </a:r>
            <a:endParaRPr lang="en-US" sz="4000" dirty="0"/>
          </a:p>
        </p:txBody>
      </p:sp>
    </p:spTree>
    <p:extLst>
      <p:ext uri="{BB962C8B-B14F-4D97-AF65-F5344CB8AC3E}">
        <p14:creationId xmlns:p14="http://schemas.microsoft.com/office/powerpoint/2010/main" val="65759331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645459"/>
          </a:xfrm>
        </p:spPr>
        <p:txBody>
          <a:bodyPr>
            <a:normAutofit fontScale="90000"/>
          </a:bodyPr>
          <a:lstStyle/>
          <a:p>
            <a:pPr lvl="0" algn="ctr"/>
            <a:r>
              <a:rPr lang="en-US" b="1" dirty="0" smtClean="0"/>
              <a:t/>
            </a:r>
            <a:br>
              <a:rPr lang="en-US" b="1" dirty="0" smtClean="0"/>
            </a:br>
            <a:r>
              <a:rPr lang="en-US" b="1" dirty="0" smtClean="0"/>
              <a:t>3. </a:t>
            </a:r>
            <a:r>
              <a:rPr lang="en-US" b="1" dirty="0" err="1" smtClean="0"/>
              <a:t>Retrotransposons</a:t>
            </a:r>
            <a:r>
              <a:rPr lang="en-US" b="1" dirty="0" smtClean="0"/>
              <a:t> (Class I) </a:t>
            </a:r>
            <a:r>
              <a:rPr lang="en-US" dirty="0" smtClean="0"/>
              <a:t/>
            </a:r>
            <a:br>
              <a:rPr lang="en-US" dirty="0" smtClean="0"/>
            </a:br>
            <a:endParaRPr lang="en-US" dirty="0"/>
          </a:p>
        </p:txBody>
      </p:sp>
      <p:sp>
        <p:nvSpPr>
          <p:cNvPr id="3" name="Content Placeholder 2"/>
          <p:cNvSpPr>
            <a:spLocks noGrp="1"/>
          </p:cNvSpPr>
          <p:nvPr>
            <p:ph idx="1"/>
          </p:nvPr>
        </p:nvSpPr>
        <p:spPr>
          <a:xfrm>
            <a:off x="838200" y="954741"/>
            <a:ext cx="10515600" cy="5222222"/>
          </a:xfrm>
        </p:spPr>
        <p:txBody>
          <a:bodyPr>
            <a:noAutofit/>
          </a:bodyPr>
          <a:lstStyle/>
          <a:p>
            <a:pPr lvl="0"/>
            <a:r>
              <a:rPr lang="en-US" sz="4000" dirty="0" err="1" smtClean="0"/>
              <a:t>Retrotransposons</a:t>
            </a:r>
            <a:r>
              <a:rPr lang="en-US" sz="4000" dirty="0" smtClean="0"/>
              <a:t> </a:t>
            </a:r>
            <a:r>
              <a:rPr lang="en-US" sz="4000" dirty="0"/>
              <a:t>first transcribe DNA into RNA and then use reverse transcriptase to form a DNA copy of the RNA to insert it in a new location. </a:t>
            </a:r>
          </a:p>
          <a:p>
            <a:pPr lvl="0"/>
            <a:r>
              <a:rPr lang="en-US" sz="4000" dirty="0"/>
              <a:t>Many </a:t>
            </a:r>
            <a:r>
              <a:rPr lang="en-US" sz="4000" dirty="0" err="1"/>
              <a:t>retrotransposons</a:t>
            </a:r>
            <a:r>
              <a:rPr lang="en-US" sz="4000" dirty="0"/>
              <a:t> have long terminal repeats (LTRs) at their ends. There may be over more than 1,000 base pairs in each. </a:t>
            </a:r>
          </a:p>
          <a:p>
            <a:r>
              <a:rPr lang="en-US" sz="4000" dirty="0" err="1"/>
              <a:t>Retrotransposons</a:t>
            </a:r>
            <a:r>
              <a:rPr lang="en-US" sz="4000" dirty="0"/>
              <a:t> also generate direct repeats at their new site of insertion. </a:t>
            </a:r>
          </a:p>
        </p:txBody>
      </p:sp>
    </p:spTree>
    <p:extLst>
      <p:ext uri="{BB962C8B-B14F-4D97-AF65-F5344CB8AC3E}">
        <p14:creationId xmlns:p14="http://schemas.microsoft.com/office/powerpoint/2010/main" val="119708790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5"/>
            <a:ext cx="10515600" cy="739587"/>
          </a:xfrm>
        </p:spPr>
        <p:txBody>
          <a:bodyPr>
            <a:normAutofit fontScale="90000"/>
          </a:bodyPr>
          <a:lstStyle/>
          <a:p>
            <a:pPr algn="ctr"/>
            <a:r>
              <a:rPr lang="en-US" b="1" dirty="0"/>
              <a:t/>
            </a:r>
            <a:br>
              <a:rPr lang="en-US" b="1" dirty="0"/>
            </a:br>
            <a:r>
              <a:rPr lang="en-US" b="1" dirty="0"/>
              <a:t>3. </a:t>
            </a:r>
            <a:r>
              <a:rPr lang="en-US" b="1" dirty="0" err="1"/>
              <a:t>Retrotransposons</a:t>
            </a:r>
            <a:r>
              <a:rPr lang="en-US" b="1" dirty="0"/>
              <a:t> (Class I) </a:t>
            </a:r>
            <a:r>
              <a:rPr lang="en-US" b="1" dirty="0" smtClean="0"/>
              <a:t> cont’d</a:t>
            </a:r>
            <a:r>
              <a:rPr lang="en-US" dirty="0"/>
              <a:t/>
            </a:r>
            <a:br>
              <a:rPr lang="en-US" dirty="0"/>
            </a:br>
            <a:endParaRPr lang="en-US" dirty="0"/>
          </a:p>
        </p:txBody>
      </p:sp>
      <p:sp>
        <p:nvSpPr>
          <p:cNvPr id="3" name="Content Placeholder 2"/>
          <p:cNvSpPr>
            <a:spLocks noGrp="1"/>
          </p:cNvSpPr>
          <p:nvPr>
            <p:ph idx="1"/>
          </p:nvPr>
        </p:nvSpPr>
        <p:spPr>
          <a:xfrm>
            <a:off x="838200" y="1062318"/>
            <a:ext cx="10515600" cy="5114645"/>
          </a:xfrm>
        </p:spPr>
        <p:txBody>
          <a:bodyPr>
            <a:normAutofit/>
          </a:bodyPr>
          <a:lstStyle/>
          <a:p>
            <a:pPr lvl="0"/>
            <a:r>
              <a:rPr lang="en-US" sz="4000" dirty="0"/>
              <a:t>HIV-I and other human retroviruses (HIL-l, the human T-cell </a:t>
            </a:r>
            <a:r>
              <a:rPr lang="en-US" sz="4000" dirty="0" err="1"/>
              <a:t>leukaemia</a:t>
            </a:r>
            <a:r>
              <a:rPr lang="en-US" sz="4000" dirty="0"/>
              <a:t> virus) behave like </a:t>
            </a:r>
            <a:r>
              <a:rPr lang="en-US" sz="4000" dirty="0" err="1"/>
              <a:t>retrotransposons</a:t>
            </a:r>
            <a:r>
              <a:rPr lang="en-US" sz="4000" dirty="0"/>
              <a:t>. </a:t>
            </a:r>
          </a:p>
          <a:p>
            <a:r>
              <a:rPr lang="en-US" sz="4000" dirty="0"/>
              <a:t>The RNA genome of HIV contains one gene for transcriptase and one for </a:t>
            </a:r>
            <a:r>
              <a:rPr lang="en-US" sz="4000" dirty="0" err="1"/>
              <a:t>integrase</a:t>
            </a:r>
            <a:r>
              <a:rPr lang="en-US" sz="4000" dirty="0"/>
              <a:t>. The </a:t>
            </a:r>
            <a:r>
              <a:rPr lang="en-US" sz="4000" dirty="0" err="1"/>
              <a:t>integrase</a:t>
            </a:r>
            <a:r>
              <a:rPr lang="en-US" sz="4000" dirty="0"/>
              <a:t> serves the same function as the </a:t>
            </a:r>
            <a:r>
              <a:rPr lang="en-US" sz="4000" dirty="0" err="1"/>
              <a:t>transposases</a:t>
            </a:r>
            <a:r>
              <a:rPr lang="en-US" sz="4000" dirty="0"/>
              <a:t> of DNA transposons</a:t>
            </a:r>
          </a:p>
        </p:txBody>
      </p:sp>
    </p:spTree>
    <p:extLst>
      <p:ext uri="{BB962C8B-B14F-4D97-AF65-F5344CB8AC3E}">
        <p14:creationId xmlns:p14="http://schemas.microsoft.com/office/powerpoint/2010/main" val="427015819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259"/>
            <a:ext cx="10515600" cy="833717"/>
          </a:xfrm>
        </p:spPr>
        <p:txBody>
          <a:bodyPr>
            <a:normAutofit fontScale="90000"/>
          </a:bodyPr>
          <a:lstStyle/>
          <a:p>
            <a:pPr algn="ctr"/>
            <a:r>
              <a:rPr lang="en-US" b="1" dirty="0"/>
              <a:t/>
            </a:r>
            <a:br>
              <a:rPr lang="en-US" b="1" dirty="0"/>
            </a:br>
            <a:r>
              <a:rPr lang="en-US" b="1" dirty="0"/>
              <a:t>3. </a:t>
            </a:r>
            <a:r>
              <a:rPr lang="en-US" b="1" dirty="0" err="1"/>
              <a:t>Retrotransposons</a:t>
            </a:r>
            <a:r>
              <a:rPr lang="en-US" b="1" dirty="0"/>
              <a:t> (Class I)  cont’d</a:t>
            </a:r>
            <a:r>
              <a:rPr lang="en-US" dirty="0"/>
              <a:t/>
            </a:r>
            <a:br>
              <a:rPr lang="en-US" dirty="0"/>
            </a:br>
            <a:endParaRPr lang="en-US" dirty="0"/>
          </a:p>
        </p:txBody>
      </p:sp>
      <p:sp>
        <p:nvSpPr>
          <p:cNvPr id="3" name="Content Placeholder 2"/>
          <p:cNvSpPr>
            <a:spLocks noGrp="1"/>
          </p:cNvSpPr>
          <p:nvPr>
            <p:ph idx="1"/>
          </p:nvPr>
        </p:nvSpPr>
        <p:spPr>
          <a:xfrm>
            <a:off x="838200" y="1223682"/>
            <a:ext cx="10515600" cy="4953281"/>
          </a:xfrm>
        </p:spPr>
        <p:txBody>
          <a:bodyPr>
            <a:normAutofit/>
          </a:bodyPr>
          <a:lstStyle/>
          <a:p>
            <a:pPr lvl="0"/>
            <a:r>
              <a:rPr lang="en-US" sz="4000" dirty="0"/>
              <a:t>42 per cent of the entire human genome consists of </a:t>
            </a:r>
            <a:r>
              <a:rPr lang="en-US" sz="4000" dirty="0" err="1"/>
              <a:t>retrotransposons</a:t>
            </a:r>
            <a:r>
              <a:rPr lang="en-US" sz="4000" dirty="0"/>
              <a:t>. </a:t>
            </a:r>
          </a:p>
          <a:p>
            <a:r>
              <a:rPr lang="en-US" sz="4000" dirty="0"/>
              <a:t>Transposable sequences identified both in prokaryotic and eukaryotic organisms have been grouped into two categories, viz., insertion sequences and longer transposons</a:t>
            </a:r>
          </a:p>
        </p:txBody>
      </p:sp>
    </p:spTree>
    <p:extLst>
      <p:ext uri="{BB962C8B-B14F-4D97-AF65-F5344CB8AC3E}">
        <p14:creationId xmlns:p14="http://schemas.microsoft.com/office/powerpoint/2010/main" val="230721614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954741"/>
          </a:xfrm>
        </p:spPr>
        <p:txBody>
          <a:bodyPr>
            <a:normAutofit fontScale="90000"/>
          </a:bodyPr>
          <a:lstStyle/>
          <a:p>
            <a:r>
              <a:rPr lang="en-US" b="1" dirty="0"/>
              <a:t/>
            </a:r>
            <a:br>
              <a:rPr lang="en-US" b="1" dirty="0"/>
            </a:br>
            <a:r>
              <a:rPr lang="en-US" b="1" dirty="0"/>
              <a:t>3. </a:t>
            </a:r>
            <a:r>
              <a:rPr lang="en-US" b="1" dirty="0" err="1"/>
              <a:t>Retrotransposons</a:t>
            </a:r>
            <a:r>
              <a:rPr lang="en-US" b="1" dirty="0"/>
              <a:t> (Class I)  cont’d</a:t>
            </a:r>
            <a:r>
              <a:rPr lang="en-US" dirty="0"/>
              <a:t/>
            </a:r>
            <a:br>
              <a:rPr lang="en-US" dirty="0"/>
            </a:br>
            <a:endParaRPr lang="en-US" dirty="0"/>
          </a:p>
        </p:txBody>
      </p:sp>
      <p:sp>
        <p:nvSpPr>
          <p:cNvPr id="3" name="Content Placeholder 2"/>
          <p:cNvSpPr>
            <a:spLocks noGrp="1"/>
          </p:cNvSpPr>
          <p:nvPr>
            <p:ph idx="1"/>
          </p:nvPr>
        </p:nvSpPr>
        <p:spPr>
          <a:xfrm>
            <a:off x="838200" y="1089212"/>
            <a:ext cx="10515600" cy="5087751"/>
          </a:xfrm>
        </p:spPr>
        <p:txBody>
          <a:bodyPr>
            <a:normAutofit/>
          </a:bodyPr>
          <a:lstStyle/>
          <a:p>
            <a:pPr lvl="0"/>
            <a:r>
              <a:rPr lang="en-US" sz="4000" dirty="0"/>
              <a:t>Insertion sequences (IS) are short and of about 1,000 bases while longer transposons may be longer than even thousand bases. </a:t>
            </a:r>
          </a:p>
        </p:txBody>
      </p:sp>
    </p:spTree>
    <p:extLst>
      <p:ext uri="{BB962C8B-B14F-4D97-AF65-F5344CB8AC3E}">
        <p14:creationId xmlns:p14="http://schemas.microsoft.com/office/powerpoint/2010/main" val="324245303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075766"/>
          </a:xfrm>
        </p:spPr>
        <p:txBody>
          <a:bodyPr>
            <a:normAutofit fontScale="90000"/>
          </a:bodyPr>
          <a:lstStyle/>
          <a:p>
            <a:pPr algn="ctr"/>
            <a:r>
              <a:rPr lang="en-US" b="1" dirty="0" smtClean="0"/>
              <a:t/>
            </a:r>
            <a:br>
              <a:rPr lang="en-US" b="1" dirty="0" smtClean="0"/>
            </a:br>
            <a:r>
              <a:rPr lang="en-US" b="1" dirty="0" smtClean="0"/>
              <a:t>Insertion </a:t>
            </a:r>
            <a:r>
              <a:rPr lang="en-US" b="1" dirty="0"/>
              <a:t>Sequences </a:t>
            </a:r>
            <a:r>
              <a:rPr lang="en-US" dirty="0"/>
              <a:t/>
            </a:r>
            <a:br>
              <a:rPr lang="en-US" dirty="0"/>
            </a:br>
            <a:endParaRPr lang="en-US" dirty="0"/>
          </a:p>
        </p:txBody>
      </p:sp>
      <p:sp>
        <p:nvSpPr>
          <p:cNvPr id="3" name="Content Placeholder 2"/>
          <p:cNvSpPr>
            <a:spLocks noGrp="1"/>
          </p:cNvSpPr>
          <p:nvPr>
            <p:ph idx="1"/>
          </p:nvPr>
        </p:nvSpPr>
        <p:spPr>
          <a:xfrm>
            <a:off x="838200" y="1075766"/>
            <a:ext cx="10515600" cy="5459505"/>
          </a:xfrm>
        </p:spPr>
        <p:txBody>
          <a:bodyPr>
            <a:noAutofit/>
          </a:bodyPr>
          <a:lstStyle/>
          <a:p>
            <a:pPr lvl="0"/>
            <a:r>
              <a:rPr lang="en-US" sz="4000" dirty="0" smtClean="0"/>
              <a:t>Insertion </a:t>
            </a:r>
            <a:r>
              <a:rPr lang="en-US" sz="4000" dirty="0"/>
              <a:t>sequences are small compared with other transposable elements. </a:t>
            </a:r>
          </a:p>
          <a:p>
            <a:pPr lvl="0"/>
            <a:r>
              <a:rPr lang="en-US" sz="4000" dirty="0"/>
              <a:t>They only code for proteins involved in transposition activity. </a:t>
            </a:r>
          </a:p>
          <a:p>
            <a:pPr lvl="0"/>
            <a:r>
              <a:rPr lang="en-US" sz="4000" dirty="0"/>
              <a:t>They can insert at different regions of bacterial chromosomes and plasmid by the process of illegitimate recombination. </a:t>
            </a:r>
          </a:p>
          <a:p>
            <a:r>
              <a:rPr lang="en-US" sz="4000" dirty="0"/>
              <a:t>The coding region of an insertion sequence is generally flanked by inverted repeats</a:t>
            </a:r>
          </a:p>
        </p:txBody>
      </p:sp>
    </p:spTree>
    <p:extLst>
      <p:ext uri="{BB962C8B-B14F-4D97-AF65-F5344CB8AC3E}">
        <p14:creationId xmlns:p14="http://schemas.microsoft.com/office/powerpoint/2010/main" val="70778428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2"/>
            <a:ext cx="10515600" cy="874058"/>
          </a:xfrm>
        </p:spPr>
        <p:txBody>
          <a:bodyPr>
            <a:normAutofit fontScale="90000"/>
          </a:bodyPr>
          <a:lstStyle/>
          <a:p>
            <a:pPr algn="ctr"/>
            <a:r>
              <a:rPr lang="en-US" b="1" dirty="0"/>
              <a:t/>
            </a:r>
            <a:br>
              <a:rPr lang="en-US" b="1" dirty="0"/>
            </a:br>
            <a:r>
              <a:rPr lang="en-US" b="1" dirty="0"/>
              <a:t>Insertion Sequences </a:t>
            </a:r>
            <a:r>
              <a:rPr lang="en-US" dirty="0"/>
              <a:t/>
            </a:r>
            <a:br>
              <a:rPr lang="en-US" dirty="0"/>
            </a:br>
            <a:endParaRPr lang="en-US" dirty="0"/>
          </a:p>
        </p:txBody>
      </p:sp>
      <p:sp>
        <p:nvSpPr>
          <p:cNvPr id="3" name="Content Placeholder 2"/>
          <p:cNvSpPr>
            <a:spLocks noGrp="1"/>
          </p:cNvSpPr>
          <p:nvPr>
            <p:ph idx="1"/>
          </p:nvPr>
        </p:nvSpPr>
        <p:spPr>
          <a:xfrm>
            <a:off x="838200" y="1008530"/>
            <a:ext cx="10515600" cy="5849470"/>
          </a:xfrm>
        </p:spPr>
        <p:txBody>
          <a:bodyPr>
            <a:noAutofit/>
          </a:bodyPr>
          <a:lstStyle/>
          <a:p>
            <a:pPr lvl="0"/>
            <a:r>
              <a:rPr lang="en-US" sz="4000" dirty="0"/>
              <a:t>Insertion sequences move by conservative transposition. </a:t>
            </a:r>
          </a:p>
          <a:p>
            <a:pPr lvl="0"/>
            <a:r>
              <a:rPr lang="en-US" sz="4000" dirty="0"/>
              <a:t>The insertion sequences (IS elements) are </a:t>
            </a:r>
            <a:r>
              <a:rPr lang="en-US" sz="4000" dirty="0" err="1"/>
              <a:t>categorised</a:t>
            </a:r>
            <a:r>
              <a:rPr lang="en-US" sz="4000" dirty="0"/>
              <a:t> according to form IS., where </a:t>
            </a:r>
            <a:r>
              <a:rPr lang="en-US" sz="4000" i="1" dirty="0"/>
              <a:t>n </a:t>
            </a:r>
            <a:r>
              <a:rPr lang="en-US" sz="4000" dirty="0"/>
              <a:t>is the number (e.g., IS" IS</a:t>
            </a:r>
            <a:r>
              <a:rPr lang="en-US" sz="4000" baseline="-25000" dirty="0"/>
              <a:t>2</a:t>
            </a:r>
            <a:r>
              <a:rPr lang="en-US" sz="4000" dirty="0"/>
              <a:t>, IS) IS</a:t>
            </a:r>
            <a:r>
              <a:rPr lang="en-US" sz="4000" baseline="-25000" dirty="0"/>
              <a:t>4</a:t>
            </a:r>
            <a:r>
              <a:rPr lang="en-US" sz="4000" dirty="0"/>
              <a:t>, </a:t>
            </a:r>
            <a:r>
              <a:rPr lang="en-US" sz="4000" dirty="0" err="1"/>
              <a:t>IS,o</a:t>
            </a:r>
            <a:r>
              <a:rPr lang="en-US" sz="4000" dirty="0"/>
              <a:t>' </a:t>
            </a:r>
            <a:r>
              <a:rPr lang="en-US" sz="4000" dirty="0" err="1"/>
              <a:t>etc</a:t>
            </a:r>
            <a:r>
              <a:rPr lang="en-US" sz="4000" dirty="0"/>
              <a:t>). </a:t>
            </a:r>
          </a:p>
          <a:p>
            <a:pPr lvl="0"/>
            <a:r>
              <a:rPr lang="en-US" sz="4000" dirty="0"/>
              <a:t>The mutagenic activity of IS elements is due to their insertion in the DNA and subsequent errors in the process of transcription. </a:t>
            </a:r>
          </a:p>
          <a:p>
            <a:r>
              <a:rPr lang="en-US" sz="4000" dirty="0"/>
              <a:t>IS elements play a key role in the re-orientation and joining the genetic material</a:t>
            </a:r>
          </a:p>
        </p:txBody>
      </p:sp>
    </p:spTree>
    <p:extLst>
      <p:ext uri="{BB962C8B-B14F-4D97-AF65-F5344CB8AC3E}">
        <p14:creationId xmlns:p14="http://schemas.microsoft.com/office/powerpoint/2010/main" val="52039396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927847"/>
          </a:xfrm>
        </p:spPr>
        <p:txBody>
          <a:bodyPr>
            <a:noAutofit/>
          </a:bodyPr>
          <a:lstStyle/>
          <a:p>
            <a:pPr algn="ctr"/>
            <a:r>
              <a:rPr lang="en-US" b="1" dirty="0" smtClean="0"/>
              <a:t/>
            </a:r>
            <a:br>
              <a:rPr lang="en-US" b="1" dirty="0" smtClean="0"/>
            </a:br>
            <a:r>
              <a:rPr lang="en-US" b="1" dirty="0" smtClean="0"/>
              <a:t>Prokaryotic </a:t>
            </a:r>
            <a:r>
              <a:rPr lang="en-US" b="1" dirty="0"/>
              <a:t>Transposons </a:t>
            </a:r>
            <a:r>
              <a:rPr lang="en-US" dirty="0"/>
              <a:t/>
            </a:r>
            <a:br>
              <a:rPr lang="en-US" dirty="0"/>
            </a:br>
            <a:endParaRPr lang="en-US" dirty="0"/>
          </a:p>
        </p:txBody>
      </p:sp>
      <p:sp>
        <p:nvSpPr>
          <p:cNvPr id="3" name="Content Placeholder 2"/>
          <p:cNvSpPr>
            <a:spLocks noGrp="1"/>
          </p:cNvSpPr>
          <p:nvPr>
            <p:ph idx="1"/>
          </p:nvPr>
        </p:nvSpPr>
        <p:spPr>
          <a:xfrm>
            <a:off x="838200" y="1062318"/>
            <a:ext cx="10515600" cy="5114645"/>
          </a:xfrm>
        </p:spPr>
        <p:txBody>
          <a:bodyPr>
            <a:normAutofit/>
          </a:bodyPr>
          <a:lstStyle/>
          <a:p>
            <a:pPr lvl="0"/>
            <a:r>
              <a:rPr lang="en-US" sz="4000" dirty="0" smtClean="0"/>
              <a:t>The </a:t>
            </a:r>
            <a:r>
              <a:rPr lang="en-US" sz="4000" dirty="0"/>
              <a:t>prokaryotic transposons are composite and </a:t>
            </a:r>
            <a:r>
              <a:rPr lang="en-US" sz="4000" dirty="0" err="1"/>
              <a:t>noncomposite</a:t>
            </a:r>
            <a:r>
              <a:rPr lang="en-US" sz="4000" dirty="0"/>
              <a:t>. </a:t>
            </a:r>
          </a:p>
          <a:p>
            <a:pPr lvl="0"/>
            <a:r>
              <a:rPr lang="en-US" sz="4000" dirty="0"/>
              <a:t>Composite transposons (such as </a:t>
            </a:r>
            <a:r>
              <a:rPr lang="en-US" sz="4000" dirty="0" err="1"/>
              <a:t>Tn,o</a:t>
            </a:r>
            <a:r>
              <a:rPr lang="en-US" sz="4000" dirty="0"/>
              <a:t>) consist of a central element, which contain several genes that provide resistance to antibiotics. It is </a:t>
            </a:r>
            <a:r>
              <a:rPr lang="en-US" sz="4000" dirty="0" err="1"/>
              <a:t>mobilised</a:t>
            </a:r>
            <a:r>
              <a:rPr lang="en-US" sz="4000" dirty="0"/>
              <a:t> through the activity of a </a:t>
            </a:r>
            <a:r>
              <a:rPr lang="en-US" sz="4000" dirty="0" err="1"/>
              <a:t>transposase</a:t>
            </a:r>
            <a:r>
              <a:rPr lang="en-US" sz="4000" dirty="0"/>
              <a:t> encoded within the insertion sequences flanking the element. </a:t>
            </a:r>
          </a:p>
          <a:p>
            <a:endParaRPr lang="en-US" sz="4000" dirty="0"/>
          </a:p>
        </p:txBody>
      </p:sp>
    </p:spTree>
    <p:extLst>
      <p:ext uri="{BB962C8B-B14F-4D97-AF65-F5344CB8AC3E}">
        <p14:creationId xmlns:p14="http://schemas.microsoft.com/office/powerpoint/2010/main" val="207363558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2"/>
            <a:ext cx="10515600" cy="766482"/>
          </a:xfrm>
        </p:spPr>
        <p:txBody>
          <a:bodyPr>
            <a:normAutofit fontScale="90000"/>
          </a:bodyPr>
          <a:lstStyle/>
          <a:p>
            <a:pPr algn="ctr"/>
            <a:r>
              <a:rPr lang="en-US" b="1" dirty="0"/>
              <a:t/>
            </a:r>
            <a:br>
              <a:rPr lang="en-US" b="1" dirty="0"/>
            </a:br>
            <a:r>
              <a:rPr lang="en-US" b="1" dirty="0"/>
              <a:t>Prokaryotic Transposons </a:t>
            </a:r>
            <a:r>
              <a:rPr lang="en-US" dirty="0"/>
              <a:t/>
            </a:r>
            <a:br>
              <a:rPr lang="en-US" dirty="0"/>
            </a:br>
            <a:endParaRPr lang="en-US" dirty="0"/>
          </a:p>
        </p:txBody>
      </p:sp>
      <p:sp>
        <p:nvSpPr>
          <p:cNvPr id="3" name="Content Placeholder 2"/>
          <p:cNvSpPr>
            <a:spLocks noGrp="1"/>
          </p:cNvSpPr>
          <p:nvPr>
            <p:ph idx="1"/>
          </p:nvPr>
        </p:nvSpPr>
        <p:spPr>
          <a:xfrm>
            <a:off x="838200" y="1075765"/>
            <a:ext cx="10515600" cy="5101198"/>
          </a:xfrm>
        </p:spPr>
        <p:txBody>
          <a:bodyPr>
            <a:normAutofit/>
          </a:bodyPr>
          <a:lstStyle/>
          <a:p>
            <a:pPr lvl="0"/>
            <a:r>
              <a:rPr lang="en-US" sz="4000" dirty="0"/>
              <a:t>Certain composite transposons are flanked by two copies IS either in direct or in inverted orientation. </a:t>
            </a:r>
          </a:p>
          <a:p>
            <a:pPr lvl="0"/>
            <a:r>
              <a:rPr lang="en-US" sz="4000" dirty="0"/>
              <a:t>The frequency of transposition of composite transposons declines with increasing distance between IS sequences. </a:t>
            </a:r>
          </a:p>
          <a:p>
            <a:pPr lvl="0"/>
            <a:r>
              <a:rPr lang="en-US" sz="4000" dirty="0"/>
              <a:t>Complex transposons may be replicated by either conservative or replicative transposition. </a:t>
            </a:r>
          </a:p>
          <a:p>
            <a:endParaRPr lang="en-US" sz="4000" dirty="0"/>
          </a:p>
        </p:txBody>
      </p:sp>
    </p:spTree>
    <p:extLst>
      <p:ext uri="{BB962C8B-B14F-4D97-AF65-F5344CB8AC3E}">
        <p14:creationId xmlns:p14="http://schemas.microsoft.com/office/powerpoint/2010/main" val="99100053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981635"/>
          </a:xfrm>
        </p:spPr>
        <p:txBody>
          <a:bodyPr>
            <a:normAutofit fontScale="90000"/>
          </a:bodyPr>
          <a:lstStyle/>
          <a:p>
            <a:pPr algn="ctr"/>
            <a:r>
              <a:rPr lang="en-US" b="1" dirty="0"/>
              <a:t/>
            </a:r>
            <a:br>
              <a:rPr lang="en-US" b="1" dirty="0"/>
            </a:br>
            <a:r>
              <a:rPr lang="en-US" b="1" dirty="0"/>
              <a:t>Prokaryotic Transposons </a:t>
            </a:r>
            <a:r>
              <a:rPr lang="en-US" dirty="0"/>
              <a:t/>
            </a:r>
            <a:br>
              <a:rPr lang="en-US" dirty="0"/>
            </a:br>
            <a:endParaRPr lang="en-US" dirty="0"/>
          </a:p>
        </p:txBody>
      </p:sp>
      <p:sp>
        <p:nvSpPr>
          <p:cNvPr id="3" name="Content Placeholder 2"/>
          <p:cNvSpPr>
            <a:spLocks noGrp="1"/>
          </p:cNvSpPr>
          <p:nvPr>
            <p:ph idx="1"/>
          </p:nvPr>
        </p:nvSpPr>
        <p:spPr>
          <a:xfrm>
            <a:off x="838200" y="1116106"/>
            <a:ext cx="10515600" cy="5060857"/>
          </a:xfrm>
        </p:spPr>
        <p:txBody>
          <a:bodyPr>
            <a:normAutofit/>
          </a:bodyPr>
          <a:lstStyle/>
          <a:p>
            <a:pPr lvl="0"/>
            <a:r>
              <a:rPr lang="en-US" sz="4000" dirty="0"/>
              <a:t>Composite transposons can be easily </a:t>
            </a:r>
            <a:r>
              <a:rPr lang="en-US" sz="4000" dirty="0" err="1"/>
              <a:t>recognised</a:t>
            </a:r>
            <a:r>
              <a:rPr lang="en-US" sz="4000" dirty="0"/>
              <a:t> when they carry identifiable gene markers as those provide antibiotic resistance and produce toxin. </a:t>
            </a:r>
          </a:p>
          <a:p>
            <a:r>
              <a:rPr lang="en-US" sz="4000" dirty="0" err="1"/>
              <a:t>Noncomposite</a:t>
            </a:r>
            <a:r>
              <a:rPr lang="en-US" sz="4000" dirty="0"/>
              <a:t> transposons (such as </a:t>
            </a:r>
            <a:r>
              <a:rPr lang="en-US" sz="4000" dirty="0" err="1"/>
              <a:t>Tn</a:t>
            </a:r>
            <a:r>
              <a:rPr lang="en-US" sz="4000" dirty="0"/>
              <a:t>)) lack insertion sequence at their extremities. They have inverted repeats necessary for transposition</a:t>
            </a:r>
          </a:p>
        </p:txBody>
      </p:sp>
    </p:spTree>
    <p:extLst>
      <p:ext uri="{BB962C8B-B14F-4D97-AF65-F5344CB8AC3E}">
        <p14:creationId xmlns:p14="http://schemas.microsoft.com/office/powerpoint/2010/main" val="72221801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726142"/>
          </a:xfrm>
        </p:spPr>
        <p:txBody>
          <a:bodyPr>
            <a:noAutofit/>
          </a:bodyPr>
          <a:lstStyle/>
          <a:p>
            <a:pPr algn="ctr"/>
            <a:r>
              <a:rPr lang="en-US" b="1" dirty="0" smtClean="0"/>
              <a:t/>
            </a:r>
            <a:br>
              <a:rPr lang="en-US" b="1" dirty="0" smtClean="0"/>
            </a:br>
            <a:r>
              <a:rPr lang="en-US" b="1" dirty="0" smtClean="0"/>
              <a:t>Eukaryotic </a:t>
            </a:r>
            <a:r>
              <a:rPr lang="en-US" b="1" dirty="0"/>
              <a:t>Transposons </a:t>
            </a:r>
            <a:r>
              <a:rPr lang="en-US" dirty="0"/>
              <a:t/>
            </a:r>
            <a:br>
              <a:rPr lang="en-US" dirty="0"/>
            </a:br>
            <a:endParaRPr lang="en-US" dirty="0"/>
          </a:p>
        </p:txBody>
      </p:sp>
      <p:sp>
        <p:nvSpPr>
          <p:cNvPr id="3" name="Content Placeholder 2"/>
          <p:cNvSpPr>
            <a:spLocks noGrp="1"/>
          </p:cNvSpPr>
          <p:nvPr>
            <p:ph idx="1"/>
          </p:nvPr>
        </p:nvSpPr>
        <p:spPr>
          <a:xfrm>
            <a:off x="838200" y="981635"/>
            <a:ext cx="10515600" cy="5195328"/>
          </a:xfrm>
        </p:spPr>
        <p:txBody>
          <a:bodyPr>
            <a:normAutofit/>
          </a:bodyPr>
          <a:lstStyle/>
          <a:p>
            <a:pPr lvl="0"/>
            <a:r>
              <a:rPr lang="en-US" sz="4000" dirty="0" smtClean="0"/>
              <a:t>Eukaryotic </a:t>
            </a:r>
            <a:r>
              <a:rPr lang="en-US" sz="4000" dirty="0"/>
              <a:t>transposons were first discovered by Barbara Me </a:t>
            </a:r>
            <a:r>
              <a:rPr lang="en-US" sz="4000" dirty="0" err="1"/>
              <a:t>Clintock</a:t>
            </a:r>
            <a:r>
              <a:rPr lang="en-US" sz="4000" dirty="0"/>
              <a:t> for maize in the 1940s. </a:t>
            </a:r>
          </a:p>
          <a:p>
            <a:pPr lvl="0"/>
            <a:r>
              <a:rPr lang="en-US" sz="4000" dirty="0"/>
              <a:t>Most transposons found in eukaryotic cells transpose via RNA intermediates including those found in humans. </a:t>
            </a:r>
          </a:p>
          <a:p>
            <a:pPr lvl="0"/>
            <a:r>
              <a:rPr lang="en-US" sz="4000" dirty="0"/>
              <a:t>Eukaryotic transposons resemble prokaryotic transposons in many features. </a:t>
            </a:r>
          </a:p>
        </p:txBody>
      </p:sp>
    </p:spTree>
    <p:extLst>
      <p:ext uri="{BB962C8B-B14F-4D97-AF65-F5344CB8AC3E}">
        <p14:creationId xmlns:p14="http://schemas.microsoft.com/office/powerpoint/2010/main" val="797953427"/>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9223" y="-174811"/>
            <a:ext cx="10515600" cy="968188"/>
          </a:xfrm>
        </p:spPr>
        <p:txBody>
          <a:bodyPr>
            <a:normAutofit fontScale="90000"/>
          </a:bodyPr>
          <a:lstStyle/>
          <a:p>
            <a:pPr algn="ctr"/>
            <a:r>
              <a:rPr lang="en-US" b="1" dirty="0" smtClean="0"/>
              <a:t/>
            </a:r>
            <a:br>
              <a:rPr lang="en-US" b="1" dirty="0" smtClean="0"/>
            </a:br>
            <a:r>
              <a:rPr lang="en-US" b="1" dirty="0" smtClean="0"/>
              <a:t>Eukaryotic </a:t>
            </a:r>
            <a:r>
              <a:rPr lang="en-US" b="1" dirty="0"/>
              <a:t>Transposons </a:t>
            </a:r>
            <a:r>
              <a:rPr lang="en-US" dirty="0"/>
              <a:t/>
            </a:r>
            <a:br>
              <a:rPr lang="en-US" dirty="0"/>
            </a:br>
            <a:endParaRPr lang="en-US" dirty="0"/>
          </a:p>
        </p:txBody>
      </p:sp>
      <p:sp>
        <p:nvSpPr>
          <p:cNvPr id="3" name="Content Placeholder 2"/>
          <p:cNvSpPr>
            <a:spLocks noGrp="1"/>
          </p:cNvSpPr>
          <p:nvPr>
            <p:ph idx="1"/>
          </p:nvPr>
        </p:nvSpPr>
        <p:spPr>
          <a:xfrm>
            <a:off x="838200" y="914400"/>
            <a:ext cx="10515600" cy="5262563"/>
          </a:xfrm>
        </p:spPr>
        <p:txBody>
          <a:bodyPr>
            <a:normAutofit/>
          </a:bodyPr>
          <a:lstStyle/>
          <a:p>
            <a:r>
              <a:rPr lang="en-US" sz="4000" dirty="0"/>
              <a:t>Some important eukaryotic transposons are P elements in </a:t>
            </a:r>
            <a:r>
              <a:rPr lang="en-US" sz="4000" i="1" dirty="0"/>
              <a:t>Drosophila melanogaster; </a:t>
            </a:r>
            <a:r>
              <a:rPr lang="en-US" sz="4000" dirty="0"/>
              <a:t>TY elements in yeast, </a:t>
            </a:r>
            <a:r>
              <a:rPr lang="en-US" sz="4000" dirty="0" err="1"/>
              <a:t>lAP</a:t>
            </a:r>
            <a:r>
              <a:rPr lang="en-US" sz="4000" dirty="0"/>
              <a:t> and VL elements in rodents. The most common form of transposons in humans is the A!U sequence, which is about 300 bases long</a:t>
            </a:r>
          </a:p>
        </p:txBody>
      </p:sp>
    </p:spTree>
    <p:extLst>
      <p:ext uri="{BB962C8B-B14F-4D97-AF65-F5344CB8AC3E}">
        <p14:creationId xmlns:p14="http://schemas.microsoft.com/office/powerpoint/2010/main" val="24791996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793377"/>
          </a:xfrm>
        </p:spPr>
        <p:txBody>
          <a:bodyPr>
            <a:normAutofit fontScale="90000"/>
          </a:bodyPr>
          <a:lstStyle/>
          <a:p>
            <a:pPr algn="ctr"/>
            <a:r>
              <a:rPr lang="en-US" b="1" dirty="0" smtClean="0"/>
              <a:t/>
            </a:r>
            <a:br>
              <a:rPr lang="en-US" b="1" dirty="0" smtClean="0"/>
            </a:br>
            <a:r>
              <a:rPr lang="en-US" b="1" dirty="0" smtClean="0"/>
              <a:t>Significance  of </a:t>
            </a:r>
            <a:r>
              <a:rPr lang="en-US" b="1" dirty="0" err="1" smtClean="0"/>
              <a:t>transpons</a:t>
            </a:r>
            <a:r>
              <a:rPr lang="en-US" b="1" dirty="0" smtClean="0"/>
              <a:t> </a:t>
            </a:r>
            <a:r>
              <a:rPr lang="en-US" dirty="0"/>
              <a:t/>
            </a:r>
            <a:br>
              <a:rPr lang="en-US" dirty="0"/>
            </a:br>
            <a:endParaRPr lang="en-US" dirty="0"/>
          </a:p>
        </p:txBody>
      </p:sp>
      <p:sp>
        <p:nvSpPr>
          <p:cNvPr id="3" name="Content Placeholder 2"/>
          <p:cNvSpPr>
            <a:spLocks noGrp="1"/>
          </p:cNvSpPr>
          <p:nvPr>
            <p:ph idx="1"/>
          </p:nvPr>
        </p:nvSpPr>
        <p:spPr>
          <a:xfrm>
            <a:off x="838200" y="927848"/>
            <a:ext cx="10515600" cy="5249115"/>
          </a:xfrm>
        </p:spPr>
        <p:txBody>
          <a:bodyPr>
            <a:normAutofit/>
          </a:bodyPr>
          <a:lstStyle/>
          <a:p>
            <a:r>
              <a:rPr lang="en-US" sz="4000" b="1" dirty="0" smtClean="0"/>
              <a:t>Transposons</a:t>
            </a:r>
            <a:r>
              <a:rPr lang="en-US" sz="4000" b="1" dirty="0"/>
              <a:t>: </a:t>
            </a:r>
            <a:endParaRPr lang="en-US" sz="4000" dirty="0"/>
          </a:p>
          <a:p>
            <a:pPr lvl="0"/>
            <a:r>
              <a:rPr lang="en-US" sz="4000" dirty="0"/>
              <a:t>Cause mutation and chromosomal break </a:t>
            </a:r>
          </a:p>
          <a:p>
            <a:pPr lvl="0"/>
            <a:r>
              <a:rPr lang="en-US" sz="4000" dirty="0"/>
              <a:t>May be used as genetic markers </a:t>
            </a:r>
          </a:p>
          <a:p>
            <a:pPr lvl="0"/>
            <a:r>
              <a:rPr lang="en-US" sz="4000" dirty="0"/>
              <a:t>Regulate gene expression </a:t>
            </a:r>
          </a:p>
          <a:p>
            <a:r>
              <a:rPr lang="en-US" sz="4000" dirty="0"/>
              <a:t>Form a large part of constitutive heterochromatin region of the chromosomes that are permanently condensed and for most part generally inactive in every cell</a:t>
            </a:r>
          </a:p>
        </p:txBody>
      </p:sp>
    </p:spTree>
    <p:extLst>
      <p:ext uri="{BB962C8B-B14F-4D97-AF65-F5344CB8AC3E}">
        <p14:creationId xmlns:p14="http://schemas.microsoft.com/office/powerpoint/2010/main" val="3104625756"/>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76"/>
            <a:ext cx="10515600" cy="847166"/>
          </a:xfrm>
        </p:spPr>
        <p:txBody>
          <a:bodyPr>
            <a:noAutofit/>
          </a:bodyPr>
          <a:lstStyle/>
          <a:p>
            <a:pPr algn="ctr"/>
            <a:r>
              <a:rPr lang="en-US" b="1" dirty="0"/>
              <a:t/>
            </a:r>
            <a:br>
              <a:rPr lang="en-US" b="1" dirty="0"/>
            </a:br>
            <a:r>
              <a:rPr lang="en-US" b="1" dirty="0"/>
              <a:t>Significance  of </a:t>
            </a:r>
            <a:r>
              <a:rPr lang="en-US" b="1" dirty="0" err="1"/>
              <a:t>transpons</a:t>
            </a:r>
            <a:r>
              <a:rPr lang="en-US" b="1" dirty="0"/>
              <a:t> </a:t>
            </a:r>
            <a:r>
              <a:rPr lang="en-US" dirty="0"/>
              <a:t/>
            </a:r>
            <a:br>
              <a:rPr lang="en-US" dirty="0"/>
            </a:br>
            <a:endParaRPr lang="en-US" dirty="0"/>
          </a:p>
        </p:txBody>
      </p:sp>
      <p:sp>
        <p:nvSpPr>
          <p:cNvPr id="3" name="Content Placeholder 2"/>
          <p:cNvSpPr>
            <a:spLocks noGrp="1"/>
          </p:cNvSpPr>
          <p:nvPr>
            <p:ph idx="1"/>
          </p:nvPr>
        </p:nvSpPr>
        <p:spPr>
          <a:xfrm>
            <a:off x="838200" y="1089212"/>
            <a:ext cx="10515600" cy="5087751"/>
          </a:xfrm>
        </p:spPr>
        <p:txBody>
          <a:bodyPr>
            <a:normAutofit/>
          </a:bodyPr>
          <a:lstStyle/>
          <a:p>
            <a:r>
              <a:rPr lang="en-US" sz="4000" dirty="0"/>
              <a:t>Some have been found to cause genetic diseases such as </a:t>
            </a:r>
            <a:r>
              <a:rPr lang="en-US" sz="4000" dirty="0" err="1"/>
              <a:t>haemophilia</a:t>
            </a:r>
            <a:r>
              <a:rPr lang="en-US" sz="4000" dirty="0"/>
              <a:t>, severe combined immune </a:t>
            </a:r>
            <a:br>
              <a:rPr lang="en-US" sz="4000" dirty="0"/>
            </a:br>
            <a:r>
              <a:rPr lang="en-US" sz="4000" dirty="0"/>
              <a:t>deficiency, </a:t>
            </a:r>
            <a:r>
              <a:rPr lang="en-US" sz="4000" dirty="0" err="1"/>
              <a:t>Duchenne</a:t>
            </a:r>
            <a:r>
              <a:rPr lang="en-US" sz="4000" dirty="0"/>
              <a:t> muscular dystrophy, etc. </a:t>
            </a:r>
          </a:p>
          <a:p>
            <a:pPr lvl="0"/>
            <a:r>
              <a:rPr lang="en-US" sz="4000" dirty="0"/>
              <a:t>May be used as transformation vectors. </a:t>
            </a:r>
          </a:p>
          <a:p>
            <a:pPr lvl="0"/>
            <a:r>
              <a:rPr lang="en-US" sz="4000" dirty="0"/>
              <a:t>Used for tagging desirable genes. </a:t>
            </a:r>
          </a:p>
          <a:p>
            <a:endParaRPr lang="en-US" sz="4000" dirty="0"/>
          </a:p>
        </p:txBody>
      </p:sp>
    </p:spTree>
    <p:extLst>
      <p:ext uri="{BB962C8B-B14F-4D97-AF65-F5344CB8AC3E}">
        <p14:creationId xmlns:p14="http://schemas.microsoft.com/office/powerpoint/2010/main" val="254824133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129"/>
            <a:ext cx="10515600" cy="847165"/>
          </a:xfrm>
        </p:spPr>
        <p:txBody>
          <a:bodyPr>
            <a:noAutofit/>
          </a:bodyPr>
          <a:lstStyle/>
          <a:p>
            <a:pPr algn="ctr"/>
            <a:r>
              <a:rPr lang="en-US" b="1" dirty="0" smtClean="0"/>
              <a:t/>
            </a:r>
            <a:br>
              <a:rPr lang="en-US" b="1" dirty="0" smtClean="0"/>
            </a:br>
            <a:r>
              <a:rPr lang="en-US" b="1" dirty="0" smtClean="0"/>
              <a:t>APOPTOSIS </a:t>
            </a:r>
            <a:r>
              <a:rPr lang="en-US" dirty="0"/>
              <a:t/>
            </a:r>
            <a:br>
              <a:rPr lang="en-US" dirty="0"/>
            </a:br>
            <a:endParaRPr lang="en-US" dirty="0"/>
          </a:p>
        </p:txBody>
      </p:sp>
      <p:sp>
        <p:nvSpPr>
          <p:cNvPr id="3" name="Content Placeholder 2"/>
          <p:cNvSpPr>
            <a:spLocks noGrp="1"/>
          </p:cNvSpPr>
          <p:nvPr>
            <p:ph idx="1"/>
          </p:nvPr>
        </p:nvSpPr>
        <p:spPr>
          <a:xfrm>
            <a:off x="838200" y="1102659"/>
            <a:ext cx="10515600" cy="5074304"/>
          </a:xfrm>
        </p:spPr>
        <p:txBody>
          <a:bodyPr>
            <a:noAutofit/>
          </a:bodyPr>
          <a:lstStyle/>
          <a:p>
            <a:r>
              <a:rPr lang="en-US" sz="4000" dirty="0"/>
              <a:t> </a:t>
            </a:r>
            <a:r>
              <a:rPr lang="en-US" sz="4000" dirty="0" smtClean="0"/>
              <a:t>Apoptosis </a:t>
            </a:r>
            <a:r>
              <a:rPr lang="en-US" sz="4000" dirty="0"/>
              <a:t>is the programmed </a:t>
            </a:r>
            <a:r>
              <a:rPr lang="en-US" sz="4000" dirty="0" smtClean="0"/>
              <a:t>cell </a:t>
            </a:r>
            <a:r>
              <a:rPr lang="en-US" sz="4000" dirty="0"/>
              <a:t>death, which occurs in the life cycle of all multicellular organisms. </a:t>
            </a:r>
          </a:p>
          <a:p>
            <a:pPr lvl="0"/>
            <a:r>
              <a:rPr lang="en-US" sz="4000" dirty="0"/>
              <a:t>It is a genetically determined process. </a:t>
            </a:r>
          </a:p>
          <a:p>
            <a:pPr lvl="0"/>
            <a:r>
              <a:rPr lang="en-US" sz="4000" dirty="0"/>
              <a:t>Apoptosis regulating genes have been found in every organism. </a:t>
            </a:r>
          </a:p>
          <a:p>
            <a:pPr lvl="0"/>
            <a:r>
              <a:rPr lang="en-US" sz="4000" dirty="0"/>
              <a:t>It occurs during normal cell turnover, development and in the immune system.</a:t>
            </a:r>
          </a:p>
          <a:p>
            <a:pPr marL="0" indent="0">
              <a:buNone/>
            </a:pPr>
            <a:r>
              <a:rPr lang="en-US" sz="4000" dirty="0"/>
              <a:t> </a:t>
            </a:r>
          </a:p>
          <a:p>
            <a:endParaRPr lang="en-US" sz="4000" dirty="0"/>
          </a:p>
        </p:txBody>
      </p:sp>
    </p:spTree>
    <p:extLst>
      <p:ext uri="{BB962C8B-B14F-4D97-AF65-F5344CB8AC3E}">
        <p14:creationId xmlns:p14="http://schemas.microsoft.com/office/powerpoint/2010/main" val="425830759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76"/>
            <a:ext cx="10515600" cy="847166"/>
          </a:xfrm>
        </p:spPr>
        <p:txBody>
          <a:bodyPr>
            <a:normAutofit/>
          </a:bodyPr>
          <a:lstStyle/>
          <a:p>
            <a:pPr algn="ctr"/>
            <a:r>
              <a:rPr lang="en-US" b="1" dirty="0" smtClean="0"/>
              <a:t>Apoptosis cont’d</a:t>
            </a:r>
            <a:endParaRPr lang="en-US" b="1" dirty="0"/>
          </a:p>
        </p:txBody>
      </p:sp>
      <p:sp>
        <p:nvSpPr>
          <p:cNvPr id="3" name="Content Placeholder 2"/>
          <p:cNvSpPr>
            <a:spLocks noGrp="1"/>
          </p:cNvSpPr>
          <p:nvPr>
            <p:ph idx="1"/>
          </p:nvPr>
        </p:nvSpPr>
        <p:spPr>
          <a:xfrm>
            <a:off x="838200" y="1075765"/>
            <a:ext cx="10515600" cy="5101198"/>
          </a:xfrm>
        </p:spPr>
        <p:txBody>
          <a:bodyPr>
            <a:normAutofit/>
          </a:bodyPr>
          <a:lstStyle/>
          <a:p>
            <a:pPr lvl="0"/>
            <a:r>
              <a:rPr lang="en-US" sz="4000" dirty="0"/>
              <a:t>It is an active process that requires energy in the form of ATP. </a:t>
            </a:r>
          </a:p>
          <a:p>
            <a:pPr lvl="0"/>
            <a:r>
              <a:rPr lang="en-US" sz="4000" dirty="0"/>
              <a:t>It may occur when a cell has become mutated and is on the verge of becoming cancer. </a:t>
            </a:r>
          </a:p>
          <a:p>
            <a:endParaRPr lang="en-US" sz="4000" dirty="0"/>
          </a:p>
        </p:txBody>
      </p:sp>
    </p:spTree>
    <p:extLst>
      <p:ext uri="{BB962C8B-B14F-4D97-AF65-F5344CB8AC3E}">
        <p14:creationId xmlns:p14="http://schemas.microsoft.com/office/powerpoint/2010/main" val="35536333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129"/>
            <a:ext cx="10515600" cy="887506"/>
          </a:xfrm>
        </p:spPr>
        <p:txBody>
          <a:bodyPr>
            <a:normAutofit/>
          </a:bodyPr>
          <a:lstStyle/>
          <a:p>
            <a:pPr algn="ctr"/>
            <a:r>
              <a:rPr lang="en-US" b="1" dirty="0"/>
              <a:t>Chief features of apoptosis</a:t>
            </a:r>
          </a:p>
        </p:txBody>
      </p:sp>
      <p:sp>
        <p:nvSpPr>
          <p:cNvPr id="3" name="Content Placeholder 2"/>
          <p:cNvSpPr>
            <a:spLocks noGrp="1"/>
          </p:cNvSpPr>
          <p:nvPr>
            <p:ph idx="1"/>
          </p:nvPr>
        </p:nvSpPr>
        <p:spPr>
          <a:xfrm>
            <a:off x="838200" y="1116106"/>
            <a:ext cx="10515600" cy="5060857"/>
          </a:xfrm>
        </p:spPr>
        <p:txBody>
          <a:bodyPr>
            <a:normAutofit/>
          </a:bodyPr>
          <a:lstStyle/>
          <a:p>
            <a:r>
              <a:rPr lang="en-US" sz="4000" dirty="0" smtClean="0"/>
              <a:t> (</a:t>
            </a:r>
            <a:r>
              <a:rPr lang="en-US" sz="4000" dirty="0"/>
              <a:t>a) Cell shrinkage </a:t>
            </a:r>
          </a:p>
          <a:p>
            <a:r>
              <a:rPr lang="en-US" sz="4000" dirty="0"/>
              <a:t>(b) </a:t>
            </a:r>
            <a:r>
              <a:rPr lang="en-US" sz="4000" dirty="0" err="1"/>
              <a:t>Blebbing</a:t>
            </a:r>
            <a:r>
              <a:rPr lang="en-US" sz="4000" dirty="0"/>
              <a:t> </a:t>
            </a:r>
          </a:p>
          <a:p>
            <a:r>
              <a:rPr lang="en-US" sz="4000" dirty="0"/>
              <a:t>(c) Chromatin condensation </a:t>
            </a:r>
          </a:p>
          <a:p>
            <a:r>
              <a:rPr lang="en-US" sz="4000" dirty="0"/>
              <a:t>(d) Preservation of </a:t>
            </a:r>
            <a:r>
              <a:rPr lang="en-US" sz="4000" dirty="0" err="1"/>
              <a:t>organeJles</a:t>
            </a:r>
            <a:r>
              <a:rPr lang="en-US" sz="4000" dirty="0"/>
              <a:t> and cell membrane </a:t>
            </a:r>
            <a:br>
              <a:rPr lang="en-US" sz="4000" dirty="0"/>
            </a:br>
            <a:r>
              <a:rPr lang="en-US" sz="4000" dirty="0"/>
              <a:t>(e) DNA fragmentation </a:t>
            </a:r>
          </a:p>
          <a:p>
            <a:r>
              <a:rPr lang="en-US" sz="4000" dirty="0"/>
              <a:t>(t) Rapid engulfment by </a:t>
            </a:r>
            <a:r>
              <a:rPr lang="en-US" sz="4000" dirty="0" err="1"/>
              <a:t>neighbouring</a:t>
            </a:r>
            <a:r>
              <a:rPr lang="en-US" sz="4000" dirty="0"/>
              <a:t> </a:t>
            </a:r>
            <a:r>
              <a:rPr lang="en-US" sz="4000" dirty="0" err="1"/>
              <a:t>ceJls</a:t>
            </a:r>
            <a:r>
              <a:rPr lang="en-US" sz="4000" dirty="0"/>
              <a:t> prevent inflammation </a:t>
            </a:r>
          </a:p>
          <a:p>
            <a:endParaRPr lang="en-US" sz="4000" dirty="0"/>
          </a:p>
        </p:txBody>
      </p:sp>
    </p:spTree>
    <p:extLst>
      <p:ext uri="{BB962C8B-B14F-4D97-AF65-F5344CB8AC3E}">
        <p14:creationId xmlns:p14="http://schemas.microsoft.com/office/powerpoint/2010/main" val="190916985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153"/>
            <a:ext cx="10515600" cy="779929"/>
          </a:xfrm>
        </p:spPr>
        <p:txBody>
          <a:bodyPr>
            <a:normAutofit/>
          </a:bodyPr>
          <a:lstStyle/>
          <a:p>
            <a:pPr algn="ctr"/>
            <a:r>
              <a:rPr lang="en-US" b="1" dirty="0" smtClean="0"/>
              <a:t>Apoptosis cont’d</a:t>
            </a:r>
            <a:endParaRPr lang="en-US" b="1" dirty="0"/>
          </a:p>
        </p:txBody>
      </p:sp>
      <p:sp>
        <p:nvSpPr>
          <p:cNvPr id="3" name="Content Placeholder 2"/>
          <p:cNvSpPr>
            <a:spLocks noGrp="1"/>
          </p:cNvSpPr>
          <p:nvPr>
            <p:ph idx="1"/>
          </p:nvPr>
        </p:nvSpPr>
        <p:spPr>
          <a:xfrm>
            <a:off x="838200" y="1156447"/>
            <a:ext cx="10515600" cy="5020516"/>
          </a:xfrm>
        </p:spPr>
        <p:txBody>
          <a:bodyPr>
            <a:normAutofit/>
          </a:bodyPr>
          <a:lstStyle/>
          <a:p>
            <a:pPr lvl="0"/>
            <a:r>
              <a:rPr lang="en-US" sz="4000" dirty="0"/>
              <a:t>The term 'apoptosis' was used by Kerr et at. (1972). </a:t>
            </a:r>
          </a:p>
          <a:p>
            <a:pPr lvl="0"/>
            <a:r>
              <a:rPr lang="en-US" sz="4000" dirty="0"/>
              <a:t>Apoptosis differs from necrosis in which </a:t>
            </a:r>
            <a:r>
              <a:rPr lang="en-US" sz="4000" dirty="0" err="1"/>
              <a:t>ceJlular</a:t>
            </a:r>
            <a:r>
              <a:rPr lang="en-US" sz="4000" dirty="0"/>
              <a:t> debris can damage the organism. </a:t>
            </a:r>
          </a:p>
          <a:p>
            <a:r>
              <a:rPr lang="en-US" sz="4000" dirty="0"/>
              <a:t>Apoptosis involves only single scattered cells.</a:t>
            </a:r>
          </a:p>
        </p:txBody>
      </p:sp>
    </p:spTree>
    <p:extLst>
      <p:ext uri="{BB962C8B-B14F-4D97-AF65-F5344CB8AC3E}">
        <p14:creationId xmlns:p14="http://schemas.microsoft.com/office/powerpoint/2010/main" val="244462344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77"/>
            <a:ext cx="10515600" cy="1008530"/>
          </a:xfrm>
        </p:spPr>
        <p:txBody>
          <a:bodyPr/>
          <a:lstStyle/>
          <a:p>
            <a:pPr algn="ctr"/>
            <a:r>
              <a:rPr lang="en-US" b="1" dirty="0"/>
              <a:t>Apoptosis cont’d</a:t>
            </a:r>
            <a:endParaRPr lang="en-US" dirty="0"/>
          </a:p>
        </p:txBody>
      </p:sp>
      <p:sp>
        <p:nvSpPr>
          <p:cNvPr id="3" name="Content Placeholder 2"/>
          <p:cNvSpPr>
            <a:spLocks noGrp="1"/>
          </p:cNvSpPr>
          <p:nvPr>
            <p:ph idx="1"/>
          </p:nvPr>
        </p:nvSpPr>
        <p:spPr>
          <a:xfrm>
            <a:off x="838200" y="1116107"/>
            <a:ext cx="10515600" cy="5060856"/>
          </a:xfrm>
        </p:spPr>
        <p:txBody>
          <a:bodyPr>
            <a:normAutofit/>
          </a:bodyPr>
          <a:lstStyle/>
          <a:p>
            <a:r>
              <a:rPr lang="en-US" sz="4000" dirty="0"/>
              <a:t>In general, apoptosis is advantageous in the life cycle of an organism. For example, differentiation of fingers and toes in a developing embryo occurs because the </a:t>
            </a:r>
            <a:br>
              <a:rPr lang="en-US" sz="4000" dirty="0"/>
            </a:br>
            <a:r>
              <a:rPr lang="en-US" sz="4000" dirty="0"/>
              <a:t>fingers </a:t>
            </a:r>
            <a:r>
              <a:rPr lang="en-US" sz="4000" dirty="0" err="1"/>
              <a:t>apoptose</a:t>
            </a:r>
            <a:r>
              <a:rPr lang="en-US" sz="4000" dirty="0"/>
              <a:t>, resulting in separation of the digits</a:t>
            </a:r>
          </a:p>
        </p:txBody>
      </p:sp>
    </p:spTree>
    <p:extLst>
      <p:ext uri="{BB962C8B-B14F-4D97-AF65-F5344CB8AC3E}">
        <p14:creationId xmlns:p14="http://schemas.microsoft.com/office/powerpoint/2010/main" val="918222121"/>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9"/>
            <a:ext cx="10515600" cy="941294"/>
          </a:xfrm>
        </p:spPr>
        <p:txBody>
          <a:bodyPr/>
          <a:lstStyle/>
          <a:p>
            <a:pPr algn="ctr"/>
            <a:r>
              <a:rPr lang="en-US" b="1" dirty="0"/>
              <a:t>Apoptosis cont’d</a:t>
            </a:r>
            <a:endParaRPr lang="en-US" dirty="0"/>
          </a:p>
        </p:txBody>
      </p:sp>
      <p:sp>
        <p:nvSpPr>
          <p:cNvPr id="3" name="Content Placeholder 2"/>
          <p:cNvSpPr>
            <a:spLocks noGrp="1"/>
          </p:cNvSpPr>
          <p:nvPr>
            <p:ph idx="1"/>
          </p:nvPr>
        </p:nvSpPr>
        <p:spPr>
          <a:xfrm>
            <a:off x="838200" y="1196788"/>
            <a:ext cx="10515600" cy="4980175"/>
          </a:xfrm>
        </p:spPr>
        <p:txBody>
          <a:bodyPr>
            <a:normAutofit/>
          </a:bodyPr>
          <a:lstStyle/>
          <a:p>
            <a:pPr lvl="0"/>
            <a:r>
              <a:rPr lang="en-US" sz="4000" dirty="0"/>
              <a:t>Excessive apoptosis may cause atrophy, such as in neurodegenerative diseases, while too less apoptosis results in uncontrolled cell proliferation in cancer. </a:t>
            </a:r>
          </a:p>
          <a:p>
            <a:pPr lvl="0"/>
            <a:r>
              <a:rPr lang="en-US" sz="4000" dirty="0"/>
              <a:t>Apoptosis is highly related with </a:t>
            </a:r>
            <a:r>
              <a:rPr lang="en-US" sz="4000" dirty="0" err="1"/>
              <a:t>caspases</a:t>
            </a:r>
            <a:r>
              <a:rPr lang="en-US" sz="4000" dirty="0"/>
              <a:t>, Bcl-2 proteins and </a:t>
            </a:r>
            <a:r>
              <a:rPr lang="en-US" sz="4000" dirty="0" err="1"/>
              <a:t>granzyme</a:t>
            </a:r>
            <a:r>
              <a:rPr lang="en-US" sz="4000" dirty="0"/>
              <a:t> B. </a:t>
            </a:r>
          </a:p>
          <a:p>
            <a:pPr marL="0" indent="0">
              <a:buNone/>
            </a:pPr>
            <a:endParaRPr lang="en-US" sz="4000" dirty="0"/>
          </a:p>
        </p:txBody>
      </p:sp>
    </p:spTree>
    <p:extLst>
      <p:ext uri="{BB962C8B-B14F-4D97-AF65-F5344CB8AC3E}">
        <p14:creationId xmlns:p14="http://schemas.microsoft.com/office/powerpoint/2010/main" val="1077402407"/>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2047"/>
            <a:ext cx="10515600" cy="820271"/>
          </a:xfrm>
        </p:spPr>
        <p:txBody>
          <a:bodyPr/>
          <a:lstStyle/>
          <a:p>
            <a:pPr algn="ctr"/>
            <a:r>
              <a:rPr lang="en-US" b="1" dirty="0" smtClean="0"/>
              <a:t>Apoptosis of Norman cell</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1156447"/>
            <a:ext cx="10201836" cy="5795682"/>
          </a:xfrm>
        </p:spPr>
      </p:pic>
    </p:spTree>
    <p:extLst>
      <p:ext uri="{BB962C8B-B14F-4D97-AF65-F5344CB8AC3E}">
        <p14:creationId xmlns:p14="http://schemas.microsoft.com/office/powerpoint/2010/main" val="106943338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388"/>
            <a:ext cx="10515600" cy="847166"/>
          </a:xfrm>
        </p:spPr>
        <p:txBody>
          <a:bodyPr/>
          <a:lstStyle/>
          <a:p>
            <a:pPr algn="ctr"/>
            <a:r>
              <a:rPr lang="en-US" b="1" dirty="0"/>
              <a:t>Apoptosis cont’d</a:t>
            </a:r>
            <a:endParaRPr lang="en-US" dirty="0"/>
          </a:p>
        </p:txBody>
      </p:sp>
      <p:sp>
        <p:nvSpPr>
          <p:cNvPr id="3" name="Content Placeholder 2"/>
          <p:cNvSpPr>
            <a:spLocks noGrp="1"/>
          </p:cNvSpPr>
          <p:nvPr>
            <p:ph idx="1"/>
          </p:nvPr>
        </p:nvSpPr>
        <p:spPr>
          <a:xfrm>
            <a:off x="838200" y="1304365"/>
            <a:ext cx="10515600" cy="4872598"/>
          </a:xfrm>
        </p:spPr>
        <p:txBody>
          <a:bodyPr>
            <a:normAutofit/>
          </a:bodyPr>
          <a:lstStyle/>
          <a:p>
            <a:pPr marL="0" lvl="0" indent="0">
              <a:buNone/>
            </a:pPr>
            <a:r>
              <a:rPr lang="en-US" sz="4000" b="1" dirty="0" smtClean="0"/>
              <a:t>1. Apoptosis </a:t>
            </a:r>
            <a:r>
              <a:rPr lang="en-US" sz="4000" b="1" dirty="0"/>
              <a:t>Triggered by Mitochondrial (Internal Signals) Pathway </a:t>
            </a:r>
            <a:endParaRPr lang="en-US" sz="4000" dirty="0"/>
          </a:p>
          <a:p>
            <a:pPr lvl="0"/>
            <a:r>
              <a:rPr lang="en-US" sz="4000" dirty="0"/>
              <a:t>Bcl-2 protein is present on the outer surface of the mitochondria of a healthy </a:t>
            </a:r>
            <a:r>
              <a:rPr lang="en-US" sz="4000" dirty="0" err="1"/>
              <a:t>ceJl</a:t>
            </a:r>
            <a:r>
              <a:rPr lang="en-US" sz="4000" dirty="0"/>
              <a:t> that prevents apoptosis. </a:t>
            </a:r>
          </a:p>
          <a:p>
            <a:r>
              <a:rPr lang="en-US" sz="4000" dirty="0"/>
              <a:t>Internal damage to the cell results in the migration of the </a:t>
            </a:r>
            <a:r>
              <a:rPr lang="en-US" sz="4000" dirty="0" err="1"/>
              <a:t>Bax</a:t>
            </a:r>
            <a:r>
              <a:rPr lang="en-US" sz="4000" dirty="0"/>
              <a:t> protein to the surface of the mitochondrion</a:t>
            </a:r>
          </a:p>
        </p:txBody>
      </p:sp>
    </p:spTree>
    <p:extLst>
      <p:ext uri="{BB962C8B-B14F-4D97-AF65-F5344CB8AC3E}">
        <p14:creationId xmlns:p14="http://schemas.microsoft.com/office/powerpoint/2010/main" val="53879300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927847"/>
          </a:xfrm>
        </p:spPr>
        <p:txBody>
          <a:bodyPr/>
          <a:lstStyle/>
          <a:p>
            <a:pPr algn="ctr"/>
            <a:r>
              <a:rPr lang="en-US" b="1" dirty="0"/>
              <a:t>Apoptosis cont’d</a:t>
            </a:r>
            <a:endParaRPr lang="en-US" dirty="0"/>
          </a:p>
        </p:txBody>
      </p:sp>
      <p:sp>
        <p:nvSpPr>
          <p:cNvPr id="3" name="Content Placeholder 2"/>
          <p:cNvSpPr>
            <a:spLocks noGrp="1"/>
          </p:cNvSpPr>
          <p:nvPr>
            <p:ph idx="1"/>
          </p:nvPr>
        </p:nvSpPr>
        <p:spPr>
          <a:xfrm>
            <a:off x="838200" y="1196788"/>
            <a:ext cx="10515600" cy="5244353"/>
          </a:xfrm>
        </p:spPr>
        <p:txBody>
          <a:bodyPr>
            <a:noAutofit/>
          </a:bodyPr>
          <a:lstStyle/>
          <a:p>
            <a:pPr lvl="0"/>
            <a:r>
              <a:rPr lang="en-US" sz="4000" dirty="0"/>
              <a:t>Here it inhibits the protective effect of Bcl-2 and it also inserts itself in the outer membrane resulting in the formation of a hole causing release of cytochrome c. </a:t>
            </a:r>
          </a:p>
          <a:p>
            <a:pPr lvl="0"/>
            <a:r>
              <a:rPr lang="en-US" sz="4000" dirty="0"/>
              <a:t>This cytochrome 'c' binds with the protein </a:t>
            </a:r>
            <a:r>
              <a:rPr lang="en-US" sz="4000" dirty="0" err="1"/>
              <a:t>Apaf</a:t>
            </a:r>
            <a:r>
              <a:rPr lang="en-US" sz="4000" dirty="0"/>
              <a:t>-l (apoptotic protease activating factor-I) resulting in the formation of </a:t>
            </a:r>
            <a:r>
              <a:rPr lang="en-US" sz="4000" dirty="0" err="1"/>
              <a:t>apoptosomes</a:t>
            </a:r>
            <a:r>
              <a:rPr lang="en-US" sz="4000" dirty="0"/>
              <a:t>. </a:t>
            </a:r>
          </a:p>
          <a:p>
            <a:r>
              <a:rPr lang="en-US" sz="4000" dirty="0"/>
              <a:t>This binding requires energy which is provided by ATP</a:t>
            </a:r>
          </a:p>
        </p:txBody>
      </p:sp>
    </p:spTree>
    <p:extLst>
      <p:ext uri="{BB962C8B-B14F-4D97-AF65-F5344CB8AC3E}">
        <p14:creationId xmlns:p14="http://schemas.microsoft.com/office/powerpoint/2010/main" val="1108739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153"/>
            <a:ext cx="10515600" cy="995083"/>
          </a:xfrm>
        </p:spPr>
        <p:txBody>
          <a:bodyPr/>
          <a:lstStyle/>
          <a:p>
            <a:pPr algn="ctr"/>
            <a:r>
              <a:rPr lang="en-US" b="1" dirty="0"/>
              <a:t>Apoptosis cont’d</a:t>
            </a:r>
            <a:endParaRPr lang="en-US" dirty="0"/>
          </a:p>
        </p:txBody>
      </p:sp>
      <p:sp>
        <p:nvSpPr>
          <p:cNvPr id="3" name="Content Placeholder 2"/>
          <p:cNvSpPr>
            <a:spLocks noGrp="1"/>
          </p:cNvSpPr>
          <p:nvPr>
            <p:ph idx="1"/>
          </p:nvPr>
        </p:nvSpPr>
        <p:spPr>
          <a:xfrm>
            <a:off x="838200" y="1210236"/>
            <a:ext cx="10515600" cy="4966727"/>
          </a:xfrm>
        </p:spPr>
        <p:txBody>
          <a:bodyPr>
            <a:normAutofit/>
          </a:bodyPr>
          <a:lstStyle/>
          <a:p>
            <a:pPr lvl="0"/>
            <a:r>
              <a:rPr lang="en-US" sz="4000" dirty="0" smtClean="0"/>
              <a:t>The </a:t>
            </a:r>
            <a:r>
              <a:rPr lang="en-US" sz="4000" dirty="0" err="1" smtClean="0"/>
              <a:t>apoptosomes</a:t>
            </a:r>
            <a:r>
              <a:rPr lang="en-US" sz="4000" dirty="0" smtClean="0"/>
              <a:t> binds with caspase-9 and activates it. </a:t>
            </a:r>
          </a:p>
          <a:p>
            <a:pPr lvl="0"/>
            <a:r>
              <a:rPr lang="en-US" sz="4000" dirty="0" smtClean="0"/>
              <a:t>Caspase-9 is cleaved and doing so it activates </a:t>
            </a:r>
            <a:r>
              <a:rPr lang="en-US" sz="4000" dirty="0" err="1" smtClean="0"/>
              <a:t>caspases</a:t>
            </a:r>
            <a:r>
              <a:rPr lang="en-US" sz="4000" dirty="0" smtClean="0"/>
              <a:t> 3 and 7. </a:t>
            </a:r>
          </a:p>
          <a:p>
            <a:r>
              <a:rPr lang="en-US" sz="4000" dirty="0" smtClean="0"/>
              <a:t>The activation of these </a:t>
            </a:r>
            <a:r>
              <a:rPr lang="en-US" sz="4000" dirty="0" err="1" smtClean="0"/>
              <a:t>caspases</a:t>
            </a:r>
            <a:r>
              <a:rPr lang="en-US" sz="4000" dirty="0" smtClean="0"/>
              <a:t> results in the digestion of structural proteins in the cytoplasm as well as degradation of chromosomal DNA and lastly phagocytosis of the cell.</a:t>
            </a:r>
            <a:endParaRPr lang="en-US" sz="4000" dirty="0"/>
          </a:p>
        </p:txBody>
      </p:sp>
    </p:spTree>
    <p:extLst>
      <p:ext uri="{BB962C8B-B14F-4D97-AF65-F5344CB8AC3E}">
        <p14:creationId xmlns:p14="http://schemas.microsoft.com/office/powerpoint/2010/main" val="3011291235"/>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494"/>
            <a:ext cx="10515600" cy="1021978"/>
          </a:xfrm>
        </p:spPr>
        <p:txBody>
          <a:bodyPr/>
          <a:lstStyle/>
          <a:p>
            <a:pPr algn="ctr"/>
            <a:r>
              <a:rPr lang="en-US" b="1" dirty="0"/>
              <a:t>Apoptosis cont’d</a:t>
            </a:r>
            <a:endParaRPr lang="en-US" dirty="0"/>
          </a:p>
        </p:txBody>
      </p:sp>
      <p:sp>
        <p:nvSpPr>
          <p:cNvPr id="3" name="Content Placeholder 2"/>
          <p:cNvSpPr>
            <a:spLocks noGrp="1"/>
          </p:cNvSpPr>
          <p:nvPr>
            <p:ph idx="1"/>
          </p:nvPr>
        </p:nvSpPr>
        <p:spPr>
          <a:xfrm>
            <a:off x="838200" y="1277472"/>
            <a:ext cx="10515600" cy="4899491"/>
          </a:xfrm>
        </p:spPr>
        <p:txBody>
          <a:bodyPr>
            <a:noAutofit/>
          </a:bodyPr>
          <a:lstStyle/>
          <a:p>
            <a:pPr marL="0" lvl="0" indent="0">
              <a:buNone/>
            </a:pPr>
            <a:r>
              <a:rPr lang="en-US" sz="4000" b="1" dirty="0" smtClean="0"/>
              <a:t>2. Apoptosis </a:t>
            </a:r>
            <a:r>
              <a:rPr lang="en-US" sz="4000" b="1" dirty="0"/>
              <a:t>Triggered by External Signals </a:t>
            </a:r>
            <a:endParaRPr lang="en-US" sz="4000" dirty="0"/>
          </a:p>
          <a:p>
            <a:pPr lvl="0"/>
            <a:r>
              <a:rPr lang="en-US" sz="4000" dirty="0"/>
              <a:t>Fas and TNF receptors are integral membrane proteins. </a:t>
            </a:r>
          </a:p>
          <a:p>
            <a:pPr lvl="0"/>
            <a:r>
              <a:rPr lang="en-US" sz="4000" dirty="0"/>
              <a:t>Their receptor domains are exposed to the </a:t>
            </a:r>
            <a:r>
              <a:rPr lang="en-US" sz="4000" dirty="0" err="1"/>
              <a:t>ce</a:t>
            </a:r>
            <a:r>
              <a:rPr lang="en-US" sz="4000" dirty="0"/>
              <a:t>\l surface. </a:t>
            </a:r>
          </a:p>
          <a:p>
            <a:pPr lvl="0"/>
            <a:r>
              <a:rPr lang="en-US" sz="4000" dirty="0"/>
              <a:t>Binding of </a:t>
            </a:r>
            <a:r>
              <a:rPr lang="en-US" sz="4000" dirty="0" err="1"/>
              <a:t>FasL</a:t>
            </a:r>
            <a:r>
              <a:rPr lang="en-US" sz="4000" dirty="0"/>
              <a:t> and TNF results in the transmission of a signal to the cytoplasm that activates </a:t>
            </a:r>
            <a:r>
              <a:rPr lang="en-US" sz="4000" dirty="0" err="1"/>
              <a:t>caspases</a:t>
            </a:r>
            <a:r>
              <a:rPr lang="en-US" sz="4000" dirty="0"/>
              <a:t>. </a:t>
            </a:r>
          </a:p>
          <a:p>
            <a:pPr marL="0" indent="0">
              <a:buNone/>
            </a:pPr>
            <a:endParaRPr lang="en-US" sz="4000" dirty="0"/>
          </a:p>
        </p:txBody>
      </p:sp>
    </p:spTree>
    <p:extLst>
      <p:ext uri="{BB962C8B-B14F-4D97-AF65-F5344CB8AC3E}">
        <p14:creationId xmlns:p14="http://schemas.microsoft.com/office/powerpoint/2010/main" val="2013207655"/>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494"/>
            <a:ext cx="10515600" cy="1048872"/>
          </a:xfrm>
        </p:spPr>
        <p:txBody>
          <a:bodyPr/>
          <a:lstStyle/>
          <a:p>
            <a:pPr algn="ctr"/>
            <a:r>
              <a:rPr lang="en-US" b="1" dirty="0"/>
              <a:t>Apoptosis cont’d</a:t>
            </a:r>
            <a:endParaRPr lang="en-US" dirty="0"/>
          </a:p>
        </p:txBody>
      </p:sp>
      <p:sp>
        <p:nvSpPr>
          <p:cNvPr id="3" name="Content Placeholder 2"/>
          <p:cNvSpPr>
            <a:spLocks noGrp="1"/>
          </p:cNvSpPr>
          <p:nvPr>
            <p:ph idx="1"/>
          </p:nvPr>
        </p:nvSpPr>
        <p:spPr>
          <a:xfrm>
            <a:off x="838200" y="1452282"/>
            <a:ext cx="10515600" cy="4724681"/>
          </a:xfrm>
        </p:spPr>
        <p:txBody>
          <a:bodyPr>
            <a:normAutofit/>
          </a:bodyPr>
          <a:lstStyle/>
          <a:p>
            <a:pPr lvl="0"/>
            <a:r>
              <a:rPr lang="en-US" sz="4000" dirty="0"/>
              <a:t>Caspase-8 activates cascade of </a:t>
            </a:r>
            <a:r>
              <a:rPr lang="en-US" sz="4000" dirty="0" err="1"/>
              <a:t>caspase</a:t>
            </a:r>
            <a:r>
              <a:rPr lang="en-US" sz="4000" dirty="0"/>
              <a:t> activation resulting in phagocytosis of the cell. </a:t>
            </a:r>
            <a:endParaRPr lang="en-US" sz="4000" dirty="0" smtClean="0"/>
          </a:p>
          <a:p>
            <a:pPr lvl="0"/>
            <a:endParaRPr lang="en-US" sz="4000" dirty="0"/>
          </a:p>
          <a:p>
            <a:endParaRPr lang="en-US" sz="4000" dirty="0"/>
          </a:p>
        </p:txBody>
      </p:sp>
    </p:spTree>
    <p:extLst>
      <p:ext uri="{BB962C8B-B14F-4D97-AF65-F5344CB8AC3E}">
        <p14:creationId xmlns:p14="http://schemas.microsoft.com/office/powerpoint/2010/main" val="170095110"/>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76"/>
            <a:ext cx="10515600" cy="847166"/>
          </a:xfrm>
        </p:spPr>
        <p:txBody>
          <a:bodyPr>
            <a:normAutofit/>
          </a:bodyPr>
          <a:lstStyle/>
          <a:p>
            <a:pPr algn="ctr"/>
            <a:r>
              <a:rPr lang="en-US" b="1" dirty="0" smtClean="0"/>
              <a:t>Events </a:t>
            </a:r>
            <a:r>
              <a:rPr lang="en-US" b="1" dirty="0"/>
              <a:t>S</a:t>
            </a:r>
            <a:r>
              <a:rPr lang="en-US" b="1" dirty="0" smtClean="0"/>
              <a:t>howing Apoptosis</a:t>
            </a:r>
            <a:endParaRPr lang="en-US" b="1"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838199" y="1143001"/>
            <a:ext cx="10148047" cy="5526740"/>
          </a:xfrm>
          <a:prstGeom prst="rect">
            <a:avLst/>
          </a:prstGeom>
        </p:spPr>
      </p:pic>
    </p:spTree>
    <p:extLst>
      <p:ext uri="{BB962C8B-B14F-4D97-AF65-F5344CB8AC3E}">
        <p14:creationId xmlns:p14="http://schemas.microsoft.com/office/powerpoint/2010/main" val="2344809380"/>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3"/>
            <a:ext cx="10515600" cy="860612"/>
          </a:xfrm>
        </p:spPr>
        <p:txBody>
          <a:bodyPr>
            <a:normAutofit/>
          </a:bodyPr>
          <a:lstStyle/>
          <a:p>
            <a:pPr algn="ctr"/>
            <a:r>
              <a:rPr lang="en-US" b="1" dirty="0"/>
              <a:t>Apoptosis cont’d</a:t>
            </a:r>
          </a:p>
        </p:txBody>
      </p:sp>
      <p:sp>
        <p:nvSpPr>
          <p:cNvPr id="3" name="Content Placeholder 2"/>
          <p:cNvSpPr>
            <a:spLocks noGrp="1"/>
          </p:cNvSpPr>
          <p:nvPr>
            <p:ph idx="1"/>
          </p:nvPr>
        </p:nvSpPr>
        <p:spPr>
          <a:xfrm>
            <a:off x="838200" y="1143000"/>
            <a:ext cx="10515600" cy="5378824"/>
          </a:xfrm>
        </p:spPr>
        <p:txBody>
          <a:bodyPr>
            <a:noAutofit/>
          </a:bodyPr>
          <a:lstStyle/>
          <a:p>
            <a:pPr lvl="0"/>
            <a:r>
              <a:rPr lang="en-US" sz="4000" b="1" dirty="0"/>
              <a:t>Apoptosis-Inducing Factor (ANF) </a:t>
            </a:r>
            <a:endParaRPr lang="en-US" sz="4000" dirty="0"/>
          </a:p>
          <a:p>
            <a:pPr lvl="0"/>
            <a:r>
              <a:rPr lang="en-US" sz="4000" dirty="0"/>
              <a:t>Apoptosis-inducing factor is a protein which is </a:t>
            </a:r>
            <a:r>
              <a:rPr lang="en-US" sz="4000" dirty="0" smtClean="0"/>
              <a:t>generally </a:t>
            </a:r>
            <a:r>
              <a:rPr lang="en-US" sz="4000" dirty="0"/>
              <a:t>found in the membrane space of the mitochondria. </a:t>
            </a:r>
          </a:p>
          <a:p>
            <a:pPr lvl="0"/>
            <a:r>
              <a:rPr lang="en-US" sz="4000" dirty="0"/>
              <a:t>When the </a:t>
            </a:r>
            <a:r>
              <a:rPr lang="en-US" sz="4000" dirty="0" smtClean="0"/>
              <a:t>ce</a:t>
            </a:r>
            <a:r>
              <a:rPr lang="en-US" sz="4000" dirty="0"/>
              <a:t>l</a:t>
            </a:r>
            <a:r>
              <a:rPr lang="en-US" sz="4000" dirty="0" smtClean="0"/>
              <a:t>l </a:t>
            </a:r>
            <a:r>
              <a:rPr lang="en-US" sz="4000" dirty="0"/>
              <a:t>receives a signal relating to death, the apoptosis-inducing factor is released from the mitochondria. </a:t>
            </a:r>
          </a:p>
          <a:p>
            <a:pPr lvl="0"/>
            <a:r>
              <a:rPr lang="en-US" sz="4000" dirty="0"/>
              <a:t>It then reaches to nucleus and binds with the DNA </a:t>
            </a:r>
          </a:p>
        </p:txBody>
      </p:sp>
    </p:spTree>
    <p:extLst>
      <p:ext uri="{BB962C8B-B14F-4D97-AF65-F5344CB8AC3E}">
        <p14:creationId xmlns:p14="http://schemas.microsoft.com/office/powerpoint/2010/main" val="89314437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76"/>
            <a:ext cx="10515600" cy="1021978"/>
          </a:xfrm>
        </p:spPr>
        <p:txBody>
          <a:bodyPr/>
          <a:lstStyle/>
          <a:p>
            <a:pPr algn="ctr"/>
            <a:r>
              <a:rPr lang="en-US" b="1" dirty="0"/>
              <a:t>Apoptosis cont’d</a:t>
            </a:r>
            <a:endParaRPr lang="en-US" dirty="0"/>
          </a:p>
        </p:txBody>
      </p:sp>
      <p:sp>
        <p:nvSpPr>
          <p:cNvPr id="3" name="Content Placeholder 2"/>
          <p:cNvSpPr>
            <a:spLocks noGrp="1"/>
          </p:cNvSpPr>
          <p:nvPr>
            <p:ph idx="1"/>
          </p:nvPr>
        </p:nvSpPr>
        <p:spPr>
          <a:xfrm>
            <a:off x="838200" y="1344706"/>
            <a:ext cx="10515600" cy="4832257"/>
          </a:xfrm>
        </p:spPr>
        <p:txBody>
          <a:bodyPr>
            <a:normAutofit/>
          </a:bodyPr>
          <a:lstStyle/>
          <a:p>
            <a:r>
              <a:rPr lang="en-US" sz="4000" dirty="0"/>
              <a:t>Binding results in the fragmentation of the DNA and ultimately death of the cell.</a:t>
            </a:r>
          </a:p>
        </p:txBody>
      </p:sp>
    </p:spTree>
    <p:extLst>
      <p:ext uri="{BB962C8B-B14F-4D97-AF65-F5344CB8AC3E}">
        <p14:creationId xmlns:p14="http://schemas.microsoft.com/office/powerpoint/2010/main" val="4041645855"/>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388"/>
            <a:ext cx="10515600" cy="995084"/>
          </a:xfrm>
        </p:spPr>
        <p:txBody>
          <a:bodyPr/>
          <a:lstStyle/>
          <a:p>
            <a:pPr algn="ctr"/>
            <a:r>
              <a:rPr lang="en-US" b="1" dirty="0" smtClean="0"/>
              <a:t>Apoptosis and  Diseases</a:t>
            </a:r>
            <a:endParaRPr lang="en-US" b="1" dirty="0"/>
          </a:p>
        </p:txBody>
      </p:sp>
      <p:sp>
        <p:nvSpPr>
          <p:cNvPr id="3" name="Content Placeholder 2"/>
          <p:cNvSpPr>
            <a:spLocks noGrp="1"/>
          </p:cNvSpPr>
          <p:nvPr>
            <p:ph idx="1"/>
          </p:nvPr>
        </p:nvSpPr>
        <p:spPr>
          <a:xfrm>
            <a:off x="838200" y="1277472"/>
            <a:ext cx="10515600" cy="4899491"/>
          </a:xfrm>
        </p:spPr>
        <p:txBody>
          <a:bodyPr>
            <a:normAutofit/>
          </a:bodyPr>
          <a:lstStyle/>
          <a:p>
            <a:r>
              <a:rPr lang="en-US" sz="4000" dirty="0" smtClean="0"/>
              <a:t>Apoptosis </a:t>
            </a:r>
            <a:r>
              <a:rPr lang="en-US" sz="4000" dirty="0"/>
              <a:t>is genetically regulated. </a:t>
            </a:r>
          </a:p>
          <a:p>
            <a:r>
              <a:rPr lang="en-US" sz="4000" dirty="0"/>
              <a:t>There exists a balance between cell death and cell proliferation and any imbalance between these two results in abnormal expression of genes resulting in disease states</a:t>
            </a:r>
          </a:p>
        </p:txBody>
      </p:sp>
    </p:spTree>
    <p:extLst>
      <p:ext uri="{BB962C8B-B14F-4D97-AF65-F5344CB8AC3E}">
        <p14:creationId xmlns:p14="http://schemas.microsoft.com/office/powerpoint/2010/main" val="32362672"/>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5600" cy="874060"/>
          </a:xfrm>
        </p:spPr>
        <p:txBody>
          <a:bodyPr/>
          <a:lstStyle/>
          <a:p>
            <a:pPr algn="ctr"/>
            <a:r>
              <a:rPr lang="en-US" b="1" dirty="0"/>
              <a:t>Apoptosis and  </a:t>
            </a:r>
            <a:r>
              <a:rPr lang="en-US" b="1" dirty="0" smtClean="0"/>
              <a:t>Diseases cont’d</a:t>
            </a:r>
            <a:endParaRPr lang="en-US" dirty="0"/>
          </a:p>
        </p:txBody>
      </p:sp>
      <p:sp>
        <p:nvSpPr>
          <p:cNvPr id="3" name="Content Placeholder 2"/>
          <p:cNvSpPr>
            <a:spLocks noGrp="1"/>
          </p:cNvSpPr>
          <p:nvPr>
            <p:ph idx="1"/>
          </p:nvPr>
        </p:nvSpPr>
        <p:spPr>
          <a:xfrm>
            <a:off x="838200" y="1250576"/>
            <a:ext cx="10515600" cy="5607424"/>
          </a:xfrm>
        </p:spPr>
        <p:txBody>
          <a:bodyPr>
            <a:noAutofit/>
          </a:bodyPr>
          <a:lstStyle/>
          <a:p>
            <a:pPr lvl="0"/>
            <a:r>
              <a:rPr lang="en-US" sz="4000" dirty="0"/>
              <a:t>Several disease states have been associated with an abnormal expression of genes involved in programmed cell death such as neurodegenerative diseases (Parkinson's disease, Huntington's disease and Alzheimer's disease) in which there is an increase in apoptosis. </a:t>
            </a:r>
          </a:p>
          <a:p>
            <a:r>
              <a:rPr lang="en-US" sz="4000" dirty="0"/>
              <a:t>About half of the known cancers have mutations in one of the key regulators of apoptotic pathway</a:t>
            </a:r>
          </a:p>
        </p:txBody>
      </p:sp>
    </p:spTree>
    <p:extLst>
      <p:ext uri="{BB962C8B-B14F-4D97-AF65-F5344CB8AC3E}">
        <p14:creationId xmlns:p14="http://schemas.microsoft.com/office/powerpoint/2010/main" val="3812065800"/>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Apoptosis and  Diseases cont’d</a:t>
            </a:r>
            <a:endParaRPr lang="en-US" dirty="0"/>
          </a:p>
        </p:txBody>
      </p:sp>
      <p:sp>
        <p:nvSpPr>
          <p:cNvPr id="3" name="Content Placeholder 2"/>
          <p:cNvSpPr>
            <a:spLocks noGrp="1"/>
          </p:cNvSpPr>
          <p:nvPr>
            <p:ph idx="1"/>
          </p:nvPr>
        </p:nvSpPr>
        <p:spPr/>
        <p:txBody>
          <a:bodyPr>
            <a:normAutofit/>
          </a:bodyPr>
          <a:lstStyle/>
          <a:p>
            <a:pPr lvl="0"/>
            <a:r>
              <a:rPr lang="en-US" sz="4000" dirty="0"/>
              <a:t>It has been suggested that an increase in apoptosis results in excessive depletion of CD4 cells in patients suffering from AIDS. </a:t>
            </a:r>
          </a:p>
          <a:p>
            <a:pPr lvl="0"/>
            <a:r>
              <a:rPr lang="en-US" sz="4000" dirty="0"/>
              <a:t>Recent researches have revealed that HIV-infected lymphocytes express elevated levels of Fas/Apo-I receptors on their surfaces. </a:t>
            </a:r>
          </a:p>
          <a:p>
            <a:endParaRPr lang="en-US" sz="4000" dirty="0"/>
          </a:p>
        </p:txBody>
      </p:sp>
    </p:spTree>
    <p:extLst>
      <p:ext uri="{BB962C8B-B14F-4D97-AF65-F5344CB8AC3E}">
        <p14:creationId xmlns:p14="http://schemas.microsoft.com/office/powerpoint/2010/main" val="186146727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927848"/>
          </a:xfrm>
        </p:spPr>
        <p:txBody>
          <a:bodyPr/>
          <a:lstStyle/>
          <a:p>
            <a:pPr algn="ctr"/>
            <a:r>
              <a:rPr lang="en-US" b="1" dirty="0"/>
              <a:t>MOLECULAR BIOL0GY OF AGEING</a:t>
            </a:r>
            <a:endParaRPr lang="en-US" dirty="0"/>
          </a:p>
        </p:txBody>
      </p:sp>
      <p:sp>
        <p:nvSpPr>
          <p:cNvPr id="3" name="Content Placeholder 2"/>
          <p:cNvSpPr>
            <a:spLocks noGrp="1"/>
          </p:cNvSpPr>
          <p:nvPr>
            <p:ph idx="1"/>
          </p:nvPr>
        </p:nvSpPr>
        <p:spPr>
          <a:xfrm>
            <a:off x="838200" y="1075766"/>
            <a:ext cx="10515600" cy="5101197"/>
          </a:xfrm>
        </p:spPr>
        <p:txBody>
          <a:bodyPr>
            <a:normAutofit/>
          </a:bodyPr>
          <a:lstStyle/>
          <a:p>
            <a:r>
              <a:rPr lang="en-US" sz="4000" dirty="0" smtClean="0"/>
              <a:t>The </a:t>
            </a:r>
            <a:r>
              <a:rPr lang="en-US" sz="4000" dirty="0"/>
              <a:t>collection of changes that lead human beings progressively more likely to die is termed as ageing. </a:t>
            </a:r>
          </a:p>
          <a:p>
            <a:pPr lvl="0"/>
            <a:r>
              <a:rPr lang="en-US" sz="4000" dirty="0"/>
              <a:t>Ageing is a complex multifactorial process, which is influenced both by genes and the environment. </a:t>
            </a:r>
          </a:p>
          <a:p>
            <a:r>
              <a:rPr lang="en-US" sz="4000" dirty="0"/>
              <a:t>Ageing is a universal phenomenon that occurs in almost all animals</a:t>
            </a:r>
          </a:p>
        </p:txBody>
      </p:sp>
    </p:spTree>
    <p:extLst>
      <p:ext uri="{BB962C8B-B14F-4D97-AF65-F5344CB8AC3E}">
        <p14:creationId xmlns:p14="http://schemas.microsoft.com/office/powerpoint/2010/main" val="2699393708"/>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259"/>
            <a:ext cx="10515600" cy="1143001"/>
          </a:xfrm>
        </p:spPr>
        <p:txBody>
          <a:bodyPr/>
          <a:lstStyle/>
          <a:p>
            <a:pPr algn="ctr"/>
            <a:r>
              <a:rPr lang="en-US" b="1" dirty="0" smtClean="0"/>
              <a:t>Molecular Biology of  Ageing cont’d</a:t>
            </a:r>
            <a:endParaRPr lang="en-US" b="1" dirty="0"/>
          </a:p>
        </p:txBody>
      </p:sp>
      <p:sp>
        <p:nvSpPr>
          <p:cNvPr id="3" name="Content Placeholder 2"/>
          <p:cNvSpPr>
            <a:spLocks noGrp="1"/>
          </p:cNvSpPr>
          <p:nvPr>
            <p:ph idx="1"/>
          </p:nvPr>
        </p:nvSpPr>
        <p:spPr>
          <a:xfrm>
            <a:off x="838200" y="1331260"/>
            <a:ext cx="10515600" cy="5284693"/>
          </a:xfrm>
        </p:spPr>
        <p:txBody>
          <a:bodyPr>
            <a:noAutofit/>
          </a:bodyPr>
          <a:lstStyle/>
          <a:p>
            <a:pPr lvl="0"/>
            <a:r>
              <a:rPr lang="en-US" sz="4000" dirty="0"/>
              <a:t>Ageing can be influenced by our genes and can be regulated. </a:t>
            </a:r>
          </a:p>
          <a:p>
            <a:pPr lvl="0"/>
            <a:r>
              <a:rPr lang="en-US" sz="4000" dirty="0"/>
              <a:t>Old age is a major factor in causing many diseases including cancer, cardiovascular and neurodegenerative diseases. </a:t>
            </a:r>
          </a:p>
          <a:p>
            <a:pPr lvl="0"/>
            <a:r>
              <a:rPr lang="en-US" sz="4000" dirty="0"/>
              <a:t>The molecular and physiological causes of ageing are not fully known. However, a number of genetic factors that assist in determining the lifespan of animals have been identified. </a:t>
            </a:r>
          </a:p>
          <a:p>
            <a:endParaRPr lang="en-US" sz="4000" dirty="0"/>
          </a:p>
        </p:txBody>
      </p:sp>
    </p:spTree>
    <p:extLst>
      <p:ext uri="{BB962C8B-B14F-4D97-AF65-F5344CB8AC3E}">
        <p14:creationId xmlns:p14="http://schemas.microsoft.com/office/powerpoint/2010/main" val="329311981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706"/>
            <a:ext cx="10515600" cy="954742"/>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425388"/>
            <a:ext cx="10515600" cy="4751575"/>
          </a:xfrm>
        </p:spPr>
        <p:txBody>
          <a:bodyPr>
            <a:normAutofit/>
          </a:bodyPr>
          <a:lstStyle/>
          <a:p>
            <a:pPr lvl="0"/>
            <a:r>
              <a:rPr lang="en-US" sz="4000" dirty="0"/>
              <a:t>Genetics of ageing is the science of heredity for traits related to ageing such as lifespan, age at menopause, age at the onset of specific diseases later in life (e.g., Alzheimer's disease, prostate cancer, etc.). </a:t>
            </a:r>
          </a:p>
          <a:p>
            <a:pPr lvl="0"/>
            <a:r>
              <a:rPr lang="en-US" sz="4000" dirty="0"/>
              <a:t>The genetics of ageing is closely related to the biology of lifespan. </a:t>
            </a:r>
          </a:p>
          <a:p>
            <a:endParaRPr lang="en-US" sz="4000" dirty="0"/>
          </a:p>
        </p:txBody>
      </p:sp>
    </p:spTree>
    <p:extLst>
      <p:ext uri="{BB962C8B-B14F-4D97-AF65-F5344CB8AC3E}">
        <p14:creationId xmlns:p14="http://schemas.microsoft.com/office/powerpoint/2010/main" val="2941219567"/>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5600" cy="995082"/>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331259"/>
            <a:ext cx="10515600" cy="4845704"/>
          </a:xfrm>
        </p:spPr>
        <p:txBody>
          <a:bodyPr>
            <a:noAutofit/>
          </a:bodyPr>
          <a:lstStyle/>
          <a:p>
            <a:pPr lvl="0"/>
            <a:r>
              <a:rPr lang="en-US" sz="4000" dirty="0"/>
              <a:t>A large number of structural and functional changes occur both at cellular and tissue levels with ageing of human beings and animals. Some of these important changes are as follows: </a:t>
            </a:r>
          </a:p>
          <a:p>
            <a:r>
              <a:rPr lang="en-US" sz="4000" dirty="0"/>
              <a:t>(a) There is a progressive increase in oxidative stress. </a:t>
            </a:r>
          </a:p>
          <a:p>
            <a:r>
              <a:rPr lang="en-US" sz="4000" dirty="0"/>
              <a:t>(b) Activation of inflammatory mediators. </a:t>
            </a:r>
          </a:p>
          <a:p>
            <a:r>
              <a:rPr lang="en-US" sz="4000" dirty="0"/>
              <a:t>(c) Decrease in the number of post mitotic cells. </a:t>
            </a:r>
            <a:br>
              <a:rPr lang="en-US" sz="4000" dirty="0"/>
            </a:br>
            <a:endParaRPr lang="en-US" sz="4000" dirty="0"/>
          </a:p>
        </p:txBody>
      </p:sp>
    </p:spTree>
    <p:extLst>
      <p:ext uri="{BB962C8B-B14F-4D97-AF65-F5344CB8AC3E}">
        <p14:creationId xmlns:p14="http://schemas.microsoft.com/office/powerpoint/2010/main" val="3114948502"/>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169894"/>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169895"/>
            <a:ext cx="10515600" cy="5007068"/>
          </a:xfrm>
        </p:spPr>
        <p:txBody>
          <a:bodyPr/>
          <a:lstStyle/>
          <a:p>
            <a:r>
              <a:rPr lang="en-US" dirty="0"/>
              <a:t>(j) 	There is significant change in </a:t>
            </a:r>
            <a:r>
              <a:rPr lang="en-US" dirty="0" err="1"/>
              <a:t>Apolipoprotein</a:t>
            </a:r>
            <a:r>
              <a:rPr lang="en-US" dirty="0"/>
              <a:t> D gene expression (</a:t>
            </a:r>
            <a:r>
              <a:rPr lang="en-US" dirty="0" err="1"/>
              <a:t>Apoplipoprotein</a:t>
            </a:r>
            <a:r>
              <a:rPr lang="en-US" dirty="0"/>
              <a:t> D gene is involved in a mechanism that protects cells from ageing). </a:t>
            </a:r>
          </a:p>
          <a:p>
            <a:r>
              <a:rPr lang="en-US" dirty="0"/>
              <a:t>(k) DNA methylation (leading to deactivation of gene) and histone acetylation (leading to activation of dormant gene). </a:t>
            </a:r>
          </a:p>
          <a:p>
            <a:r>
              <a:rPr lang="en-US" dirty="0"/>
              <a:t>(I) Increase in chromosomal abnormalities and somatic mutations. </a:t>
            </a:r>
          </a:p>
          <a:p>
            <a:r>
              <a:rPr lang="en-US" dirty="0"/>
              <a:t>(m) Increase in cross linking and tensile strength of collagen. </a:t>
            </a:r>
          </a:p>
          <a:p>
            <a:endParaRPr lang="en-US" dirty="0"/>
          </a:p>
        </p:txBody>
      </p:sp>
    </p:spTree>
    <p:extLst>
      <p:ext uri="{BB962C8B-B14F-4D97-AF65-F5344CB8AC3E}">
        <p14:creationId xmlns:p14="http://schemas.microsoft.com/office/powerpoint/2010/main" val="3183274777"/>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77"/>
            <a:ext cx="10515600" cy="1048870"/>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457201" y="1156446"/>
            <a:ext cx="11214846" cy="5446059"/>
          </a:xfrm>
        </p:spPr>
        <p:txBody>
          <a:bodyPr>
            <a:normAutofit/>
          </a:bodyPr>
          <a:lstStyle/>
          <a:p>
            <a:r>
              <a:rPr lang="en-US" sz="4000" dirty="0"/>
              <a:t>(e) Decrease in the levels of hormones. </a:t>
            </a:r>
          </a:p>
          <a:p>
            <a:r>
              <a:rPr lang="en-US" sz="4000" dirty="0"/>
              <a:t>(f) Decrease in the levels of certain enzymes and increase in the levels of few enzymes. </a:t>
            </a:r>
            <a:br>
              <a:rPr lang="en-US" sz="4000" dirty="0"/>
            </a:br>
            <a:r>
              <a:rPr lang="en-US" sz="4000" dirty="0"/>
              <a:t>(g) Decrease in the permeability of cell membranes. </a:t>
            </a:r>
          </a:p>
          <a:p>
            <a:r>
              <a:rPr lang="en-US" sz="4000" dirty="0"/>
              <a:t>(h) Accumulation of age pigments. </a:t>
            </a:r>
          </a:p>
          <a:p>
            <a:r>
              <a:rPr lang="en-US" sz="4000" dirty="0" smtClean="0"/>
              <a:t>(I ) </a:t>
            </a:r>
            <a:r>
              <a:rPr lang="en-US" sz="4000" dirty="0"/>
              <a:t>Decrease in immunocompetence</a:t>
            </a:r>
            <a:r>
              <a:rPr lang="en-US" sz="4000" dirty="0" smtClean="0"/>
              <a:t>.</a:t>
            </a:r>
          </a:p>
          <a:p>
            <a:pPr lvl="0"/>
            <a:r>
              <a:rPr lang="en-US" sz="4000" dirty="0" smtClean="0"/>
              <a:t> </a:t>
            </a:r>
            <a:r>
              <a:rPr lang="en-US" sz="4000" dirty="0">
                <a:solidFill>
                  <a:prstClr val="black"/>
                </a:solidFill>
              </a:rPr>
              <a:t>(I) Increase in chromosomal abnormalities and somatic mutations. </a:t>
            </a:r>
          </a:p>
          <a:p>
            <a:endParaRPr lang="en-US" sz="4000" dirty="0"/>
          </a:p>
        </p:txBody>
      </p:sp>
    </p:spTree>
    <p:extLst>
      <p:ext uri="{BB962C8B-B14F-4D97-AF65-F5344CB8AC3E}">
        <p14:creationId xmlns:p14="http://schemas.microsoft.com/office/powerpoint/2010/main" val="1715389052"/>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3"/>
            <a:ext cx="10515600" cy="874058"/>
          </a:xfrm>
        </p:spPr>
        <p:txBody>
          <a:bodyPr>
            <a:normAutofit/>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210234"/>
            <a:ext cx="10515600" cy="5244353"/>
          </a:xfrm>
        </p:spPr>
        <p:txBody>
          <a:bodyPr>
            <a:noAutofit/>
          </a:bodyPr>
          <a:lstStyle/>
          <a:p>
            <a:r>
              <a:rPr lang="en-US" sz="4000" dirty="0"/>
              <a:t>(j) 	There is significant change in </a:t>
            </a:r>
            <a:r>
              <a:rPr lang="en-US" sz="4000" dirty="0" err="1"/>
              <a:t>Apolipoprotein</a:t>
            </a:r>
            <a:r>
              <a:rPr lang="en-US" sz="4000" dirty="0"/>
              <a:t> D gene expression (</a:t>
            </a:r>
            <a:r>
              <a:rPr lang="en-US" sz="4000" dirty="0" err="1"/>
              <a:t>Apoplipoprotein</a:t>
            </a:r>
            <a:r>
              <a:rPr lang="en-US" sz="4000" dirty="0"/>
              <a:t> D gene is involved in a mechanism that protects cells from ageing). </a:t>
            </a:r>
          </a:p>
          <a:p>
            <a:r>
              <a:rPr lang="en-US" sz="4000" dirty="0"/>
              <a:t>(k) DNA methylation (leading to deactivation of gene) and histone acetylation (leading to activation of dormant gene). </a:t>
            </a:r>
          </a:p>
          <a:p>
            <a:r>
              <a:rPr lang="en-US" sz="4000" dirty="0" smtClean="0"/>
              <a:t>(</a:t>
            </a:r>
            <a:r>
              <a:rPr lang="en-US" sz="4000" dirty="0"/>
              <a:t>m) Increase in cross linking and tensile strength of collagen. </a:t>
            </a:r>
          </a:p>
          <a:p>
            <a:endParaRPr lang="en-US" sz="4000" dirty="0"/>
          </a:p>
        </p:txBody>
      </p:sp>
    </p:spTree>
    <p:extLst>
      <p:ext uri="{BB962C8B-B14F-4D97-AF65-F5344CB8AC3E}">
        <p14:creationId xmlns:p14="http://schemas.microsoft.com/office/powerpoint/2010/main" val="1639614562"/>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2729"/>
            <a:ext cx="10515600" cy="941295"/>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425388"/>
            <a:ext cx="10515600" cy="4751575"/>
          </a:xfrm>
        </p:spPr>
        <p:txBody>
          <a:bodyPr>
            <a:normAutofit/>
          </a:bodyPr>
          <a:lstStyle/>
          <a:p>
            <a:r>
              <a:rPr lang="en-US" sz="4000" dirty="0"/>
              <a:t>(n) Increase in common disorders such as cardiovascular disease, cancer, dementia and diabetes. </a:t>
            </a:r>
          </a:p>
          <a:p>
            <a:pPr lvl="0"/>
            <a:r>
              <a:rPr lang="en-US" sz="4000" dirty="0"/>
              <a:t>According to the genetic theory of ageing, lifespan is mainly determined by the genes we inherit. </a:t>
            </a:r>
          </a:p>
          <a:p>
            <a:pPr lvl="0"/>
            <a:r>
              <a:rPr lang="en-US" sz="4000" dirty="0"/>
              <a:t>This theory suggests that our potential age is determined at the time of conception. </a:t>
            </a:r>
          </a:p>
          <a:p>
            <a:endParaRPr lang="en-US" sz="4000" dirty="0"/>
          </a:p>
        </p:txBody>
      </p:sp>
    </p:spTree>
    <p:extLst>
      <p:ext uri="{BB962C8B-B14F-4D97-AF65-F5344CB8AC3E}">
        <p14:creationId xmlns:p14="http://schemas.microsoft.com/office/powerpoint/2010/main" val="144608869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707"/>
            <a:ext cx="10515600" cy="1048870"/>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250577"/>
            <a:ext cx="10515600" cy="4926386"/>
          </a:xfrm>
        </p:spPr>
        <p:txBody>
          <a:bodyPr>
            <a:normAutofit/>
          </a:bodyPr>
          <a:lstStyle/>
          <a:p>
            <a:r>
              <a:rPr lang="en-US" sz="4000" dirty="0"/>
              <a:t>The number of ageing genes (</a:t>
            </a:r>
            <a:r>
              <a:rPr lang="en-US" sz="4000" dirty="0" err="1"/>
              <a:t>gerontogenes</a:t>
            </a:r>
            <a:r>
              <a:rPr lang="en-US" sz="4000" dirty="0"/>
              <a:t>) remains to be established. However, there are no doubts about their existence. For example, in humans one of the forms of a gene coding, </a:t>
            </a:r>
            <a:r>
              <a:rPr lang="en-US" sz="4000" dirty="0" err="1"/>
              <a:t>apolipoprotein</a:t>
            </a:r>
            <a:r>
              <a:rPr lang="en-US" sz="4000" dirty="0"/>
              <a:t> E (ApoEe2), is associated with exceptional longevity and decreased susceptibility to Alzheimer's disease</a:t>
            </a:r>
          </a:p>
        </p:txBody>
      </p:sp>
    </p:spTree>
    <p:extLst>
      <p:ext uri="{BB962C8B-B14F-4D97-AF65-F5344CB8AC3E}">
        <p14:creationId xmlns:p14="http://schemas.microsoft.com/office/powerpoint/2010/main" val="1577170489"/>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365"/>
            <a:ext cx="10515600" cy="954741"/>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223682"/>
            <a:ext cx="10515600" cy="4953281"/>
          </a:xfrm>
        </p:spPr>
        <p:txBody>
          <a:bodyPr>
            <a:normAutofit/>
          </a:bodyPr>
          <a:lstStyle/>
          <a:p>
            <a:pPr lvl="0"/>
            <a:r>
              <a:rPr lang="en-US" sz="4000" dirty="0"/>
              <a:t>Every human cell (except egg and sperm) contains two sets of23 chromosomes (one set from the mother and the other set from the father). However, the relative proportion of aberrant cells with unusual number of chromosomes increases with age, and the process may cause cancer and other diseases. </a:t>
            </a:r>
          </a:p>
          <a:p>
            <a:endParaRPr lang="en-US" sz="4000" dirty="0"/>
          </a:p>
        </p:txBody>
      </p:sp>
    </p:spTree>
    <p:extLst>
      <p:ext uri="{BB962C8B-B14F-4D97-AF65-F5344CB8AC3E}">
        <p14:creationId xmlns:p14="http://schemas.microsoft.com/office/powerpoint/2010/main" val="829482089"/>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008530"/>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008530"/>
            <a:ext cx="10515600" cy="5168433"/>
          </a:xfrm>
        </p:spPr>
        <p:txBody>
          <a:bodyPr>
            <a:noAutofit/>
          </a:bodyPr>
          <a:lstStyle/>
          <a:p>
            <a:r>
              <a:rPr lang="en-US" sz="4000" dirty="0"/>
              <a:t>All features of an organism are determined by genes. However, external features depend upon a complex interaction between genes and their environment, which is known as gene-environment interaction. Gene environment action is important, as gene action may be different in different conditions. </a:t>
            </a:r>
          </a:p>
        </p:txBody>
      </p:sp>
    </p:spTree>
    <p:extLst>
      <p:ext uri="{BB962C8B-B14F-4D97-AF65-F5344CB8AC3E}">
        <p14:creationId xmlns:p14="http://schemas.microsoft.com/office/powerpoint/2010/main" val="640668766"/>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5"/>
            <a:ext cx="10515600" cy="874058"/>
          </a:xfrm>
        </p:spPr>
        <p:txBody>
          <a:bodyPr>
            <a:normAutofit/>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196788"/>
            <a:ext cx="10515600" cy="4980175"/>
          </a:xfrm>
        </p:spPr>
        <p:txBody>
          <a:bodyPr>
            <a:noAutofit/>
          </a:bodyPr>
          <a:lstStyle/>
          <a:p>
            <a:pPr lvl="0"/>
            <a:r>
              <a:rPr lang="en-US" sz="4000" dirty="0"/>
              <a:t>It has been observed from the effects of diet restriction on mice and other species that gene-environment interactions can modify lifespan and the rate of ageing to a great </a:t>
            </a:r>
            <a:r>
              <a:rPr lang="en-US" sz="4000" dirty="0" smtClean="0"/>
              <a:t>extent. </a:t>
            </a:r>
            <a:r>
              <a:rPr lang="en-US" sz="4000" dirty="0"/>
              <a:t>The proper understanding of interaction between genes and restricted diet is very important, as calorie restriction is known to be the most effective way for cultivating longevity as well as delaying age-related diseases in mammals. </a:t>
            </a:r>
          </a:p>
          <a:p>
            <a:endParaRPr lang="en-US" sz="4000" dirty="0"/>
          </a:p>
          <a:p>
            <a:endParaRPr lang="en-US" sz="4000" dirty="0"/>
          </a:p>
        </p:txBody>
      </p:sp>
    </p:spTree>
    <p:extLst>
      <p:ext uri="{BB962C8B-B14F-4D97-AF65-F5344CB8AC3E}">
        <p14:creationId xmlns:p14="http://schemas.microsoft.com/office/powerpoint/2010/main" val="4129960452"/>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1089211"/>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223682"/>
            <a:ext cx="10515600" cy="4953281"/>
          </a:xfrm>
        </p:spPr>
        <p:txBody>
          <a:bodyPr>
            <a:noAutofit/>
          </a:bodyPr>
          <a:lstStyle/>
          <a:p>
            <a:r>
              <a:rPr lang="en-US" sz="4000" dirty="0"/>
              <a:t>Different genes can be activated (switched on) or inactivated (switched off) depending on cell differentiation, which is known as differential gene expression. Gene expression may change overtime, within a given cell, during development and ageing. Differential gene expression is important for differentiation in early childhood, but it may persist further and become a key force in the ageing process</a:t>
            </a:r>
          </a:p>
        </p:txBody>
      </p:sp>
    </p:spTree>
    <p:extLst>
      <p:ext uri="{BB962C8B-B14F-4D97-AF65-F5344CB8AC3E}">
        <p14:creationId xmlns:p14="http://schemas.microsoft.com/office/powerpoint/2010/main" val="1928566802"/>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365"/>
            <a:ext cx="10515600" cy="1075765"/>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344706"/>
            <a:ext cx="10515600" cy="6400800"/>
          </a:xfrm>
        </p:spPr>
        <p:txBody>
          <a:bodyPr>
            <a:noAutofit/>
          </a:bodyPr>
          <a:lstStyle/>
          <a:p>
            <a:r>
              <a:rPr lang="en-US" sz="4000" dirty="0"/>
              <a:t>Some genes are beneficial and enhance longevity. For example, a gene that assists a person in </a:t>
            </a:r>
            <a:r>
              <a:rPr lang="en-US" sz="4000" dirty="0" err="1"/>
              <a:t>metabolising</a:t>
            </a:r>
            <a:r>
              <a:rPr lang="en-US" sz="4000" dirty="0"/>
              <a:t> cholesterol would reduce the risk of heart disease. However, some genes are harmful, like those that increase the risk of cancer. Some gene mutations are also inheritable and may shorten lifespan. Mutations may also </a:t>
            </a:r>
            <a:r>
              <a:rPr lang="en-US" sz="4000" dirty="0" smtClean="0"/>
              <a:t>occur </a:t>
            </a:r>
            <a:r>
              <a:rPr lang="en-US" sz="4000" dirty="0"/>
              <a:t>after birth due to exposure to toxins, free radicals and radiations that may cause gene </a:t>
            </a:r>
            <a:r>
              <a:rPr lang="en-US" sz="4000" dirty="0" smtClean="0"/>
              <a:t>changes.</a:t>
            </a:r>
            <a:endParaRPr lang="en-US" sz="4000" dirty="0"/>
          </a:p>
        </p:txBody>
      </p:sp>
    </p:spTree>
    <p:extLst>
      <p:ext uri="{BB962C8B-B14F-4D97-AF65-F5344CB8AC3E}">
        <p14:creationId xmlns:p14="http://schemas.microsoft.com/office/powerpoint/2010/main" val="3688340355"/>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4"/>
            <a:ext cx="10515600" cy="914400"/>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210235"/>
            <a:ext cx="10515600" cy="4966728"/>
          </a:xfrm>
        </p:spPr>
        <p:txBody>
          <a:bodyPr>
            <a:noAutofit/>
          </a:bodyPr>
          <a:lstStyle/>
          <a:p>
            <a:pPr lvl="0"/>
            <a:r>
              <a:rPr lang="en-US" sz="4000" dirty="0"/>
              <a:t>It has been estimated that genes can explain a maximum of 35 per cent of lifespan, while the other larger percentage can be explained in relation to environmental and hazardous factors. </a:t>
            </a:r>
          </a:p>
          <a:p>
            <a:pPr lvl="0"/>
            <a:r>
              <a:rPr lang="en-US" sz="4000" dirty="0"/>
              <a:t>People with long-lived parents are more likely to live long and identical twins (have exact the same genes) have a closer lifespan than siblings. Both these lend support to genetic basis of ageing. </a:t>
            </a:r>
          </a:p>
          <a:p>
            <a:pPr marL="0" indent="0">
              <a:buNone/>
            </a:pPr>
            <a:endParaRPr lang="en-US" sz="4000" dirty="0"/>
          </a:p>
        </p:txBody>
      </p:sp>
    </p:spTree>
    <p:extLst>
      <p:ext uri="{BB962C8B-B14F-4D97-AF65-F5344CB8AC3E}">
        <p14:creationId xmlns:p14="http://schemas.microsoft.com/office/powerpoint/2010/main" val="2445437626"/>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9"/>
            <a:ext cx="10515600" cy="1075763"/>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223682"/>
            <a:ext cx="10515600" cy="4953281"/>
          </a:xfrm>
        </p:spPr>
        <p:txBody>
          <a:bodyPr>
            <a:noAutofit/>
          </a:bodyPr>
          <a:lstStyle/>
          <a:p>
            <a:r>
              <a:rPr lang="en-US" sz="4000" dirty="0"/>
              <a:t>It has been reported that </a:t>
            </a:r>
            <a:r>
              <a:rPr lang="en-US" sz="4000" i="1" dirty="0" err="1"/>
              <a:t>Caenorhabditis</a:t>
            </a:r>
            <a:r>
              <a:rPr lang="en-US" sz="4000" i="1" dirty="0"/>
              <a:t> </a:t>
            </a:r>
            <a:r>
              <a:rPr lang="en-US" sz="4000" i="1" dirty="0" err="1"/>
              <a:t>elegan</a:t>
            </a:r>
            <a:r>
              <a:rPr lang="en-US" sz="4000" i="1" dirty="0"/>
              <a:t> </a:t>
            </a:r>
            <a:r>
              <a:rPr lang="en-US" sz="4000" dirty="0"/>
              <a:t>(a microscopic nematode) with a specific single-gene mutation lived twice as long as members of the species that lacked this mutation (Kenyon et al. 1993). </a:t>
            </a:r>
            <a:br>
              <a:rPr lang="en-US" sz="4000" dirty="0"/>
            </a:br>
            <a:r>
              <a:rPr lang="en-US" sz="4000" dirty="0"/>
              <a:t>This finding was groundbreaking for a number of reasons. First, it challenged the prevailing concept that ageing occurs as the body deteriorates over time</a:t>
            </a:r>
          </a:p>
        </p:txBody>
      </p:sp>
    </p:spTree>
    <p:extLst>
      <p:ext uri="{BB962C8B-B14F-4D97-AF65-F5344CB8AC3E}">
        <p14:creationId xmlns:p14="http://schemas.microsoft.com/office/powerpoint/2010/main" val="2254558676"/>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366"/>
            <a:ext cx="10515600" cy="887506"/>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169894"/>
            <a:ext cx="10515600" cy="5007069"/>
          </a:xfrm>
        </p:spPr>
        <p:txBody>
          <a:bodyPr>
            <a:normAutofit/>
          </a:bodyPr>
          <a:lstStyle/>
          <a:p>
            <a:r>
              <a:rPr lang="en-US" sz="4000" dirty="0"/>
              <a:t>Second, it led to a shift in thinking even among researchers, who already believed that ageing was subject to some sort of genetic control. Prior to this point, most scientists figured that ageing, age-related illnesses, and death were consequences of multiple cellular and </a:t>
            </a:r>
            <a:br>
              <a:rPr lang="en-US" sz="4000" dirty="0"/>
            </a:br>
            <a:r>
              <a:rPr lang="en-US" sz="4000" dirty="0"/>
              <a:t>physiological processes and, therefore, under the regulation of a wide and diverse set of genes</a:t>
            </a:r>
          </a:p>
        </p:txBody>
      </p:sp>
    </p:spTree>
    <p:extLst>
      <p:ext uri="{BB962C8B-B14F-4D97-AF65-F5344CB8AC3E}">
        <p14:creationId xmlns:p14="http://schemas.microsoft.com/office/powerpoint/2010/main" val="2103570717"/>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366"/>
            <a:ext cx="10515600" cy="968188"/>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129554"/>
            <a:ext cx="10515600" cy="5047409"/>
          </a:xfrm>
        </p:spPr>
        <p:txBody>
          <a:bodyPr>
            <a:normAutofit/>
          </a:bodyPr>
          <a:lstStyle/>
          <a:p>
            <a:r>
              <a:rPr lang="en-US" sz="4000" dirty="0"/>
              <a:t>However, this finding suggested that a single gene could dramatically regulate how long an organism lived, thus opening the door to new hypothesis about modifying lifespan through genetic manipulation</a:t>
            </a:r>
          </a:p>
        </p:txBody>
      </p:sp>
    </p:spTree>
    <p:extLst>
      <p:ext uri="{BB962C8B-B14F-4D97-AF65-F5344CB8AC3E}">
        <p14:creationId xmlns:p14="http://schemas.microsoft.com/office/powerpoint/2010/main" val="1104379002"/>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259"/>
            <a:ext cx="10515600" cy="753035"/>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075765"/>
            <a:ext cx="10515600" cy="5101198"/>
          </a:xfrm>
        </p:spPr>
        <p:txBody>
          <a:bodyPr>
            <a:normAutofit/>
          </a:bodyPr>
          <a:lstStyle/>
          <a:p>
            <a:r>
              <a:rPr lang="en-US" sz="4000" dirty="0"/>
              <a:t>The responsible gene is called </a:t>
            </a:r>
            <a:r>
              <a:rPr lang="en-US" sz="4000" i="1" dirty="0"/>
              <a:t>daf-2. </a:t>
            </a:r>
            <a:r>
              <a:rPr lang="en-US" sz="4000" dirty="0"/>
              <a:t>The protein coded for by this gene (designated DAF-2) looked much like the receptor protein within humans that responds to the hormone insulin. In other words, the worm protein is simply a primitive form of our own insulin receptors</a:t>
            </a:r>
          </a:p>
        </p:txBody>
      </p:sp>
    </p:spTree>
    <p:extLst>
      <p:ext uri="{BB962C8B-B14F-4D97-AF65-F5344CB8AC3E}">
        <p14:creationId xmlns:p14="http://schemas.microsoft.com/office/powerpoint/2010/main" val="161100231"/>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3"/>
            <a:ext cx="10515600" cy="1008528"/>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344706"/>
            <a:ext cx="10515600" cy="5513294"/>
          </a:xfrm>
        </p:spPr>
        <p:txBody>
          <a:bodyPr>
            <a:noAutofit/>
          </a:bodyPr>
          <a:lstStyle/>
          <a:p>
            <a:r>
              <a:rPr lang="en-US" sz="4000" dirty="0"/>
              <a:t>The gene </a:t>
            </a:r>
            <a:r>
              <a:rPr lang="en-US" sz="4000" i="1" dirty="0"/>
              <a:t>daf-2 </a:t>
            </a:r>
            <a:r>
              <a:rPr lang="en-US" sz="4000" dirty="0"/>
              <a:t>is now known to regulate a number of factors in addition to ageing (like stress resistance, metabolism and development). This gene and its hormone signaling protein have been conserved evolutionarily and they are found in other animals (from fruit flies to mice). </a:t>
            </a:r>
          </a:p>
        </p:txBody>
      </p:sp>
    </p:spTree>
    <p:extLst>
      <p:ext uri="{BB962C8B-B14F-4D97-AF65-F5344CB8AC3E}">
        <p14:creationId xmlns:p14="http://schemas.microsoft.com/office/powerpoint/2010/main" val="1118457130"/>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5"/>
            <a:ext cx="10515600" cy="981634"/>
          </a:xfrm>
        </p:spPr>
        <p:txBody>
          <a:bodyPr/>
          <a:lstStyle/>
          <a:p>
            <a:pPr algn="ctr"/>
            <a:r>
              <a:rPr lang="en-US" b="1"/>
              <a:t>Molecular Biology of  Ageing cont’d</a:t>
            </a:r>
            <a:endParaRPr lang="en-US"/>
          </a:p>
        </p:txBody>
      </p:sp>
      <p:sp>
        <p:nvSpPr>
          <p:cNvPr id="3" name="Content Placeholder 2"/>
          <p:cNvSpPr>
            <a:spLocks noGrp="1"/>
          </p:cNvSpPr>
          <p:nvPr>
            <p:ph idx="1"/>
          </p:nvPr>
        </p:nvSpPr>
        <p:spPr>
          <a:xfrm>
            <a:off x="838200" y="1210235"/>
            <a:ext cx="10515600" cy="4966728"/>
          </a:xfrm>
        </p:spPr>
        <p:txBody>
          <a:bodyPr>
            <a:normAutofit/>
          </a:bodyPr>
          <a:lstStyle/>
          <a:p>
            <a:r>
              <a:rPr lang="en-US" sz="4000" dirty="0"/>
              <a:t>In worms and flies, the gene codes for a receptor protein that is activated by an 'insulin-like' growth </a:t>
            </a:r>
            <a:r>
              <a:rPr lang="en-US" sz="4000" dirty="0" smtClean="0"/>
              <a:t>factor</a:t>
            </a:r>
            <a:r>
              <a:rPr lang="en-US" sz="4000" dirty="0"/>
              <a:t>.</a:t>
            </a:r>
            <a:endParaRPr lang="en-US" sz="4000" dirty="0" smtClean="0"/>
          </a:p>
          <a:p>
            <a:r>
              <a:rPr lang="en-US" sz="4000" dirty="0" smtClean="0"/>
              <a:t>This </a:t>
            </a:r>
            <a:r>
              <a:rPr lang="en-US" sz="4000" dirty="0"/>
              <a:t>signaling pathway is analogous to the mammalian insulin pathway</a:t>
            </a:r>
          </a:p>
        </p:txBody>
      </p:sp>
    </p:spTree>
    <p:extLst>
      <p:ext uri="{BB962C8B-B14F-4D97-AF65-F5344CB8AC3E}">
        <p14:creationId xmlns:p14="http://schemas.microsoft.com/office/powerpoint/2010/main" val="3425461876"/>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3"/>
            <a:ext cx="10515600" cy="968187"/>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304365"/>
            <a:ext cx="10515600" cy="4872598"/>
          </a:xfrm>
        </p:spPr>
        <p:txBody>
          <a:bodyPr>
            <a:normAutofit lnSpcReduction="10000"/>
          </a:bodyPr>
          <a:lstStyle/>
          <a:p>
            <a:pPr lvl="0"/>
            <a:r>
              <a:rPr lang="en-US" sz="4000" dirty="0">
                <a:solidFill>
                  <a:prstClr val="black"/>
                </a:solidFill>
              </a:rPr>
              <a:t>Scientists have reported gene p63 (a sister gene to the cancer-suppressing gene p53 that accelerated ageing in adult mice, when it was switched off). </a:t>
            </a:r>
          </a:p>
          <a:p>
            <a:pPr lvl="0"/>
            <a:r>
              <a:rPr lang="en-US" sz="4000" dirty="0">
                <a:solidFill>
                  <a:prstClr val="black"/>
                </a:solidFill>
              </a:rPr>
              <a:t>Degradation of telomeres (pieces of DNA that cap the ends of chromosomes) is one of the possible causes of ageing. As cells divide repeatedly, their telomeres become increasingly shorter</a:t>
            </a:r>
          </a:p>
          <a:p>
            <a:pPr marL="0" indent="0">
              <a:buNone/>
            </a:pPr>
            <a:endParaRPr lang="en-US" dirty="0"/>
          </a:p>
        </p:txBody>
      </p:sp>
    </p:spTree>
    <p:extLst>
      <p:ext uri="{BB962C8B-B14F-4D97-AF65-F5344CB8AC3E}">
        <p14:creationId xmlns:p14="http://schemas.microsoft.com/office/powerpoint/2010/main" val="1888615729"/>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5"/>
            <a:ext cx="10515600" cy="874057"/>
          </a:xfrm>
        </p:spPr>
        <p:txBody>
          <a:bodyPr/>
          <a:lstStyle/>
          <a:p>
            <a:pPr algn="ctr"/>
            <a:r>
              <a:rPr lang="en-US" b="1" dirty="0"/>
              <a:t>Molecular Biology of  Ageing cont’d</a:t>
            </a:r>
            <a:endParaRPr lang="en-US" dirty="0"/>
          </a:p>
        </p:txBody>
      </p:sp>
      <p:sp>
        <p:nvSpPr>
          <p:cNvPr id="3" name="Content Placeholder 2"/>
          <p:cNvSpPr>
            <a:spLocks noGrp="1"/>
          </p:cNvSpPr>
          <p:nvPr>
            <p:ph idx="1"/>
          </p:nvPr>
        </p:nvSpPr>
        <p:spPr>
          <a:xfrm>
            <a:off x="838200" y="1169894"/>
            <a:ext cx="10515600" cy="5007069"/>
          </a:xfrm>
        </p:spPr>
        <p:txBody>
          <a:bodyPr>
            <a:noAutofit/>
          </a:bodyPr>
          <a:lstStyle/>
          <a:p>
            <a:pPr lvl="0"/>
            <a:r>
              <a:rPr lang="en-US" sz="4000" dirty="0"/>
              <a:t>Gradually, they become so short that the cells can no longer divide. </a:t>
            </a:r>
            <a:r>
              <a:rPr lang="en-US" sz="4000" dirty="0" err="1"/>
              <a:t>Telomeric</a:t>
            </a:r>
            <a:r>
              <a:rPr lang="en-US" sz="4000" dirty="0"/>
              <a:t> length is now known as the marker of a given cell's age. As they shorten with each division, they cause the chromosome to fold differently, exposing a different portion of the genome. This is how a person looks different, for example, at 62 years or 2 years of age</a:t>
            </a:r>
          </a:p>
        </p:txBody>
      </p:sp>
    </p:spTree>
    <p:extLst>
      <p:ext uri="{BB962C8B-B14F-4D97-AF65-F5344CB8AC3E}">
        <p14:creationId xmlns:p14="http://schemas.microsoft.com/office/powerpoint/2010/main" val="904024444"/>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5600" cy="914400"/>
          </a:xfrm>
        </p:spPr>
        <p:txBody>
          <a:bodyPr/>
          <a:lstStyle/>
          <a:p>
            <a:pPr algn="ctr"/>
            <a:r>
              <a:rPr lang="en-US" b="1" dirty="0"/>
              <a:t>Ageing and the Immune System</a:t>
            </a:r>
            <a:endParaRPr lang="en-US" dirty="0"/>
          </a:p>
        </p:txBody>
      </p:sp>
      <p:sp>
        <p:nvSpPr>
          <p:cNvPr id="3" name="Content Placeholder 2"/>
          <p:cNvSpPr>
            <a:spLocks noGrp="1"/>
          </p:cNvSpPr>
          <p:nvPr>
            <p:ph idx="1"/>
          </p:nvPr>
        </p:nvSpPr>
        <p:spPr>
          <a:xfrm>
            <a:off x="838200" y="1344706"/>
            <a:ext cx="10515600" cy="4832257"/>
          </a:xfrm>
        </p:spPr>
        <p:txBody>
          <a:bodyPr>
            <a:normAutofit/>
          </a:bodyPr>
          <a:lstStyle/>
          <a:p>
            <a:r>
              <a:rPr lang="en-US" sz="4000" dirty="0" smtClean="0"/>
              <a:t>There </a:t>
            </a:r>
            <a:r>
              <a:rPr lang="en-US" sz="4000" dirty="0"/>
              <a:t>are two types of immune cells, viz., B cells which produce antibodies and T cells which regulate the activities of other white blood cells. </a:t>
            </a:r>
          </a:p>
          <a:p>
            <a:pPr lvl="0"/>
            <a:r>
              <a:rPr lang="en-US" sz="4000" dirty="0"/>
              <a:t>As we age, the immune functions, particularly that of T cells tends to decline. </a:t>
            </a:r>
          </a:p>
          <a:p>
            <a:pPr lvl="0"/>
            <a:r>
              <a:rPr lang="en-US" sz="4000" dirty="0"/>
              <a:t>The ratio of various T cells is altered and the decrease in anti-inflammatory cells results in less regulation of B cells and other white blood cells. </a:t>
            </a:r>
          </a:p>
          <a:p>
            <a:endParaRPr lang="en-US" sz="4000" dirty="0"/>
          </a:p>
        </p:txBody>
      </p:sp>
    </p:spTree>
    <p:extLst>
      <p:ext uri="{BB962C8B-B14F-4D97-AF65-F5344CB8AC3E}">
        <p14:creationId xmlns:p14="http://schemas.microsoft.com/office/powerpoint/2010/main" val="1071923532"/>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9"/>
            <a:ext cx="10515600" cy="847164"/>
          </a:xfrm>
        </p:spPr>
        <p:txBody>
          <a:bodyPr>
            <a:normAutofit/>
          </a:bodyPr>
          <a:lstStyle/>
          <a:p>
            <a:pPr algn="ctr"/>
            <a:r>
              <a:rPr lang="en-US" b="1" dirty="0"/>
              <a:t>Ageing and the Immune </a:t>
            </a:r>
            <a:r>
              <a:rPr lang="en-US" b="1" dirty="0" smtClean="0"/>
              <a:t>System </a:t>
            </a:r>
            <a:r>
              <a:rPr lang="en-US" b="1" dirty="0" err="1" smtClean="0"/>
              <a:t>cont’t</a:t>
            </a:r>
            <a:endParaRPr lang="en-US" b="1" dirty="0"/>
          </a:p>
        </p:txBody>
      </p:sp>
      <p:sp>
        <p:nvSpPr>
          <p:cNvPr id="3" name="Content Placeholder 2"/>
          <p:cNvSpPr>
            <a:spLocks noGrp="1"/>
          </p:cNvSpPr>
          <p:nvPr>
            <p:ph idx="1"/>
          </p:nvPr>
        </p:nvSpPr>
        <p:spPr>
          <a:xfrm>
            <a:off x="838200" y="1183341"/>
            <a:ext cx="10515600" cy="4993622"/>
          </a:xfrm>
        </p:spPr>
        <p:txBody>
          <a:bodyPr>
            <a:normAutofit/>
          </a:bodyPr>
          <a:lstStyle/>
          <a:p>
            <a:pPr lvl="0"/>
            <a:r>
              <a:rPr lang="en-US" sz="4000" dirty="0"/>
              <a:t>As a result, the tendency for self-destruction of one's tissues, known as autoimmunity, increases. </a:t>
            </a:r>
          </a:p>
          <a:p>
            <a:r>
              <a:rPr lang="en-US" sz="4000" dirty="0"/>
              <a:t>It is estimated that 10 to 15 per cent healthy older individuals have increased levels of antibodies against their own tissues</a:t>
            </a:r>
          </a:p>
        </p:txBody>
      </p:sp>
    </p:spTree>
    <p:extLst>
      <p:ext uri="{BB962C8B-B14F-4D97-AF65-F5344CB8AC3E}">
        <p14:creationId xmlns:p14="http://schemas.microsoft.com/office/powerpoint/2010/main" val="2362874455"/>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707"/>
            <a:ext cx="10515600" cy="793375"/>
          </a:xfrm>
        </p:spPr>
        <p:txBody>
          <a:bodyPr>
            <a:normAutofit fontScale="90000"/>
          </a:bodyPr>
          <a:lstStyle/>
          <a:p>
            <a:pPr algn="ctr"/>
            <a:r>
              <a:rPr lang="en-US" b="1" dirty="0" smtClean="0"/>
              <a:t/>
            </a:r>
            <a:br>
              <a:rPr lang="en-US" b="1" dirty="0" smtClean="0"/>
            </a:br>
            <a:r>
              <a:rPr lang="en-US" b="1" dirty="0" smtClean="0"/>
              <a:t/>
            </a:r>
            <a:br>
              <a:rPr lang="en-US" b="1" dirty="0" smtClean="0"/>
            </a:br>
            <a:r>
              <a:rPr lang="en-US" b="1" dirty="0" smtClean="0"/>
              <a:t>The </a:t>
            </a:r>
            <a:r>
              <a:rPr lang="en-US" b="1" dirty="0"/>
              <a:t>Thymus Gland </a:t>
            </a:r>
            <a:r>
              <a:rPr lang="en-US" b="1" dirty="0" smtClean="0"/>
              <a:t/>
            </a:r>
            <a:br>
              <a:rPr lang="en-US" b="1" dirty="0" smtClean="0"/>
            </a:br>
            <a:r>
              <a:rPr lang="en-US" dirty="0"/>
              <a:t/>
            </a:r>
            <a:br>
              <a:rPr lang="en-US" dirty="0"/>
            </a:br>
            <a:endParaRPr lang="en-US" dirty="0"/>
          </a:p>
        </p:txBody>
      </p:sp>
      <p:sp>
        <p:nvSpPr>
          <p:cNvPr id="3" name="Content Placeholder 2"/>
          <p:cNvSpPr>
            <a:spLocks noGrp="1"/>
          </p:cNvSpPr>
          <p:nvPr>
            <p:ph idx="1"/>
          </p:nvPr>
        </p:nvSpPr>
        <p:spPr>
          <a:xfrm>
            <a:off x="838200" y="1237129"/>
            <a:ext cx="10515600" cy="4939834"/>
          </a:xfrm>
        </p:spPr>
        <p:txBody>
          <a:bodyPr>
            <a:normAutofit/>
          </a:bodyPr>
          <a:lstStyle/>
          <a:p>
            <a:pPr lvl="0"/>
            <a:r>
              <a:rPr lang="en-US" sz="4000" dirty="0" smtClean="0"/>
              <a:t>The </a:t>
            </a:r>
            <a:r>
              <a:rPr lang="en-US" sz="4000" dirty="0"/>
              <a:t>thymus gland is responsible for producing generic stem cells that can be programmed into different kinds of immune cells. </a:t>
            </a:r>
          </a:p>
          <a:p>
            <a:pPr lvl="0"/>
            <a:r>
              <a:rPr lang="en-US" sz="4000" dirty="0"/>
              <a:t>The thymus is the most active during childhood and shrinks in size with decreased production of stem cells with ageing. </a:t>
            </a:r>
          </a:p>
          <a:p>
            <a:r>
              <a:rPr lang="en-US" sz="4000" dirty="0"/>
              <a:t>There is now a widely accepted connection between ageing and immune dysfunction</a:t>
            </a:r>
          </a:p>
        </p:txBody>
      </p:sp>
    </p:spTree>
    <p:extLst>
      <p:ext uri="{BB962C8B-B14F-4D97-AF65-F5344CB8AC3E}">
        <p14:creationId xmlns:p14="http://schemas.microsoft.com/office/powerpoint/2010/main" val="316094280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5835"/>
            <a:ext cx="10515600" cy="820271"/>
          </a:xfrm>
        </p:spPr>
        <p:txBody>
          <a:bodyPr>
            <a:normAutofit fontScale="90000"/>
          </a:bodyPr>
          <a:lstStyle/>
          <a:p>
            <a:pPr algn="ctr"/>
            <a:r>
              <a:rPr lang="en-US" b="1" dirty="0"/>
              <a:t/>
            </a:r>
            <a:br>
              <a:rPr lang="en-US" b="1" dirty="0"/>
            </a:br>
            <a:r>
              <a:rPr lang="en-US" b="1" dirty="0"/>
              <a:t/>
            </a:r>
            <a:br>
              <a:rPr lang="en-US" b="1" dirty="0"/>
            </a:br>
            <a:r>
              <a:rPr lang="en-US" b="1" dirty="0"/>
              <a:t>The Thymus Gland </a:t>
            </a:r>
            <a:r>
              <a:rPr lang="en-US" b="1" dirty="0" smtClean="0"/>
              <a:t>cont’d</a:t>
            </a:r>
            <a:r>
              <a:rPr lang="en-US" b="1" dirty="0"/>
              <a:t/>
            </a:r>
            <a:br>
              <a:rPr lang="en-US" b="1" dirty="0"/>
            </a:br>
            <a:r>
              <a:rPr lang="en-US" dirty="0"/>
              <a:t/>
            </a:r>
            <a:br>
              <a:rPr lang="en-US" dirty="0"/>
            </a:br>
            <a:endParaRPr lang="en-US" dirty="0"/>
          </a:p>
        </p:txBody>
      </p:sp>
      <p:sp>
        <p:nvSpPr>
          <p:cNvPr id="3" name="Content Placeholder 2"/>
          <p:cNvSpPr>
            <a:spLocks noGrp="1"/>
          </p:cNvSpPr>
          <p:nvPr>
            <p:ph idx="1"/>
          </p:nvPr>
        </p:nvSpPr>
        <p:spPr>
          <a:xfrm>
            <a:off x="838200" y="1290918"/>
            <a:ext cx="10515600" cy="5392270"/>
          </a:xfrm>
        </p:spPr>
        <p:txBody>
          <a:bodyPr>
            <a:noAutofit/>
          </a:bodyPr>
          <a:lstStyle/>
          <a:p>
            <a:pPr lvl="0"/>
            <a:r>
              <a:rPr lang="en-US" sz="4000" dirty="0"/>
              <a:t>Besides, there is also clear evidence of information exchange between the central nervous system and the immune system. </a:t>
            </a:r>
          </a:p>
          <a:p>
            <a:pPr lvl="0"/>
            <a:r>
              <a:rPr lang="en-US" sz="4000" dirty="0"/>
              <a:t>Oxidative stress and its subsequent consequences caused by free radicals are the primary causes of ageing. </a:t>
            </a:r>
          </a:p>
          <a:p>
            <a:pPr lvl="0"/>
            <a:r>
              <a:rPr lang="en-US" sz="4000" dirty="0"/>
              <a:t>DNA damage and reduced DNA repair capability are some critical signs in considering how to live a longer healthier life. </a:t>
            </a:r>
          </a:p>
          <a:p>
            <a:pPr marL="0" indent="0">
              <a:buNone/>
            </a:pPr>
            <a:endParaRPr lang="en-US" sz="4000" dirty="0"/>
          </a:p>
        </p:txBody>
      </p:sp>
    </p:spTree>
    <p:extLst>
      <p:ext uri="{BB962C8B-B14F-4D97-AF65-F5344CB8AC3E}">
        <p14:creationId xmlns:p14="http://schemas.microsoft.com/office/powerpoint/2010/main" val="599603613"/>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9"/>
            <a:ext cx="10515600" cy="900952"/>
          </a:xfrm>
        </p:spPr>
        <p:txBody>
          <a:bodyPr>
            <a:normAutofit fontScale="90000"/>
          </a:bodyPr>
          <a:lstStyle/>
          <a:p>
            <a:pPr algn="ctr"/>
            <a:r>
              <a:rPr lang="en-US" b="1" dirty="0" smtClean="0"/>
              <a:t/>
            </a:r>
            <a:br>
              <a:rPr lang="en-US" b="1" dirty="0" smtClean="0"/>
            </a:br>
            <a:r>
              <a:rPr lang="en-US" b="1" dirty="0" smtClean="0"/>
              <a:t>GENETIC </a:t>
            </a:r>
            <a:r>
              <a:rPr lang="en-US" b="1" dirty="0"/>
              <a:t>ENGINEERING </a:t>
            </a:r>
            <a:r>
              <a:rPr lang="en-US" dirty="0"/>
              <a:t/>
            </a:r>
            <a:br>
              <a:rPr lang="en-US" dirty="0"/>
            </a:br>
            <a:endParaRPr lang="en-US" dirty="0"/>
          </a:p>
        </p:txBody>
      </p:sp>
      <p:sp>
        <p:nvSpPr>
          <p:cNvPr id="3" name="Content Placeholder 2"/>
          <p:cNvSpPr>
            <a:spLocks noGrp="1"/>
          </p:cNvSpPr>
          <p:nvPr>
            <p:ph idx="1"/>
          </p:nvPr>
        </p:nvSpPr>
        <p:spPr>
          <a:xfrm>
            <a:off x="838200" y="1196788"/>
            <a:ext cx="10515600" cy="4980175"/>
          </a:xfrm>
        </p:spPr>
        <p:txBody>
          <a:bodyPr>
            <a:normAutofit/>
          </a:bodyPr>
          <a:lstStyle/>
          <a:p>
            <a:r>
              <a:rPr lang="en-US" sz="4000" dirty="0" smtClean="0"/>
              <a:t>Genetic </a:t>
            </a:r>
            <a:r>
              <a:rPr lang="en-US" sz="4000" dirty="0"/>
              <a:t>engineering is a highly </a:t>
            </a:r>
            <a:r>
              <a:rPr lang="en-US" sz="4000" dirty="0" err="1"/>
              <a:t>specialised</a:t>
            </a:r>
            <a:r>
              <a:rPr lang="en-US" sz="4000" dirty="0"/>
              <a:t> technique by which a DNA molecule (prokaryotic or eukaryotic) is broken at two desired places to isolate a specific DNA segment and then insert it in another DNA molecule at a desired position. The resultant DNA is called 'recombinant DNA'</a:t>
            </a:r>
          </a:p>
        </p:txBody>
      </p:sp>
    </p:spTree>
    <p:extLst>
      <p:ext uri="{BB962C8B-B14F-4D97-AF65-F5344CB8AC3E}">
        <p14:creationId xmlns:p14="http://schemas.microsoft.com/office/powerpoint/2010/main" val="3964965036"/>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365"/>
            <a:ext cx="10515600" cy="954741"/>
          </a:xfrm>
        </p:spPr>
        <p:txBody>
          <a:bodyPr/>
          <a:lstStyle/>
          <a:p>
            <a:pPr algn="ctr"/>
            <a:r>
              <a:rPr lang="en-US" b="1" dirty="0" smtClean="0"/>
              <a:t>Genetic Engineering cont’d</a:t>
            </a:r>
            <a:endParaRPr lang="en-US" b="1" dirty="0"/>
          </a:p>
        </p:txBody>
      </p:sp>
      <p:sp>
        <p:nvSpPr>
          <p:cNvPr id="3" name="Content Placeholder 2"/>
          <p:cNvSpPr>
            <a:spLocks noGrp="1"/>
          </p:cNvSpPr>
          <p:nvPr>
            <p:ph idx="1"/>
          </p:nvPr>
        </p:nvSpPr>
        <p:spPr>
          <a:xfrm>
            <a:off x="838200" y="1237129"/>
            <a:ext cx="10515600" cy="4939834"/>
          </a:xfrm>
        </p:spPr>
        <p:txBody>
          <a:bodyPr>
            <a:normAutofit/>
          </a:bodyPr>
          <a:lstStyle/>
          <a:p>
            <a:r>
              <a:rPr lang="en-US" sz="4000" dirty="0"/>
              <a:t>Using this technique, isolation and cloning of a single copy of a gene or a DNA segment into an indefinite number of identical copies has become possible. This process has become possible because bacteria, phages and </a:t>
            </a:r>
            <a:r>
              <a:rPr lang="en-US" sz="4000" dirty="0" err="1"/>
              <a:t>plasm</a:t>
            </a:r>
            <a:r>
              <a:rPr lang="en-US" sz="4000" dirty="0"/>
              <a:t> ids reproduce in their usual manner even after the insertion of foreign </a:t>
            </a:r>
            <a:r>
              <a:rPr lang="en-US" sz="4000" dirty="0" smtClean="0"/>
              <a:t>DNA.</a:t>
            </a:r>
            <a:endParaRPr lang="en-US" sz="4000" dirty="0"/>
          </a:p>
        </p:txBody>
      </p:sp>
    </p:spTree>
    <p:extLst>
      <p:ext uri="{BB962C8B-B14F-4D97-AF65-F5344CB8AC3E}">
        <p14:creationId xmlns:p14="http://schemas.microsoft.com/office/powerpoint/2010/main" val="3908229091"/>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Genetic Engineering cont’d</a:t>
            </a:r>
            <a:endParaRPr lang="en-US" dirty="0"/>
          </a:p>
        </p:txBody>
      </p:sp>
      <p:sp>
        <p:nvSpPr>
          <p:cNvPr id="3" name="Content Placeholder 2"/>
          <p:cNvSpPr>
            <a:spLocks noGrp="1"/>
          </p:cNvSpPr>
          <p:nvPr>
            <p:ph idx="1"/>
          </p:nvPr>
        </p:nvSpPr>
        <p:spPr/>
        <p:txBody>
          <a:bodyPr>
            <a:normAutofit/>
          </a:bodyPr>
          <a:lstStyle/>
          <a:p>
            <a:r>
              <a:rPr lang="en-US" sz="4000" dirty="0"/>
              <a:t>The inserted DNA also replicates faithfully with the parent DNA. This technique is called 'gene cloning'. Another technique for making millions of copies of a DNA segment of choice has been developed called 'Polymerase Chain Reaction' (PCR). In PCR, a thermo-stable </a:t>
            </a:r>
            <a:br>
              <a:rPr lang="en-US" sz="4000" dirty="0"/>
            </a:br>
            <a:r>
              <a:rPr lang="en-US" sz="4000" dirty="0"/>
              <a:t>DNA polymerase </a:t>
            </a:r>
            <a:r>
              <a:rPr lang="en-US" sz="4000" i="1" dirty="0"/>
              <a:t>(</a:t>
            </a:r>
            <a:r>
              <a:rPr lang="en-US" sz="4000" i="1" dirty="0" err="1"/>
              <a:t>Taq</a:t>
            </a:r>
            <a:r>
              <a:rPr lang="en-US" sz="4000" i="1" dirty="0"/>
              <a:t> polymerase) </a:t>
            </a:r>
            <a:r>
              <a:rPr lang="en-US" sz="4000" dirty="0"/>
              <a:t>is used.</a:t>
            </a:r>
          </a:p>
        </p:txBody>
      </p:sp>
    </p:spTree>
    <p:extLst>
      <p:ext uri="{BB962C8B-B14F-4D97-AF65-F5344CB8AC3E}">
        <p14:creationId xmlns:p14="http://schemas.microsoft.com/office/powerpoint/2010/main" val="1885134973"/>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Genetic Engineering cont’d</a:t>
            </a:r>
            <a:endParaRPr lang="en-US" dirty="0"/>
          </a:p>
        </p:txBody>
      </p:sp>
      <p:sp>
        <p:nvSpPr>
          <p:cNvPr id="3" name="Content Placeholder 2"/>
          <p:cNvSpPr>
            <a:spLocks noGrp="1"/>
          </p:cNvSpPr>
          <p:nvPr>
            <p:ph idx="1"/>
          </p:nvPr>
        </p:nvSpPr>
        <p:spPr/>
        <p:txBody>
          <a:bodyPr>
            <a:normAutofit/>
          </a:bodyPr>
          <a:lstStyle/>
          <a:p>
            <a:r>
              <a:rPr lang="en-US" sz="4000" dirty="0"/>
              <a:t>The </a:t>
            </a:r>
            <a:r>
              <a:rPr lang="en-US" sz="4000" i="1" dirty="0" err="1"/>
              <a:t>Taq</a:t>
            </a:r>
            <a:r>
              <a:rPr lang="en-US" sz="4000" i="1" dirty="0"/>
              <a:t> polymerase </a:t>
            </a:r>
            <a:r>
              <a:rPr lang="en-US" sz="4000" dirty="0"/>
              <a:t>is a DNA polymerase enzyme that is isolated from the bacterium </a:t>
            </a:r>
            <a:r>
              <a:rPr lang="en-US" sz="4000" i="1" dirty="0" err="1"/>
              <a:t>Thermus</a:t>
            </a:r>
            <a:r>
              <a:rPr lang="en-US" sz="4000" i="1" dirty="0"/>
              <a:t> </a:t>
            </a:r>
            <a:r>
              <a:rPr lang="en-US" sz="4000" i="1" dirty="0" err="1"/>
              <a:t>aquaticus</a:t>
            </a:r>
            <a:r>
              <a:rPr lang="en-US" sz="4000" i="1" dirty="0"/>
              <a:t> </a:t>
            </a:r>
            <a:r>
              <a:rPr lang="en-US" sz="4000" dirty="0"/>
              <a:t>growing in the hot water springs. This enzyme acts best at </a:t>
            </a:r>
            <a:r>
              <a:rPr lang="en-US" sz="4000" i="1" dirty="0" err="1"/>
              <a:t>noc</a:t>
            </a:r>
            <a:r>
              <a:rPr lang="en-US" sz="4000" i="1" dirty="0"/>
              <a:t> </a:t>
            </a:r>
            <a:r>
              <a:rPr lang="en-US" sz="4000" dirty="0"/>
              <a:t>and is not denatured at 90°C. </a:t>
            </a:r>
          </a:p>
        </p:txBody>
      </p:sp>
    </p:spTree>
    <p:extLst>
      <p:ext uri="{BB962C8B-B14F-4D97-AF65-F5344CB8AC3E}">
        <p14:creationId xmlns:p14="http://schemas.microsoft.com/office/powerpoint/2010/main" val="3345750571"/>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76"/>
            <a:ext cx="10515600" cy="874060"/>
          </a:xfrm>
        </p:spPr>
        <p:txBody>
          <a:bodyPr>
            <a:normAutofit/>
          </a:bodyPr>
          <a:lstStyle/>
          <a:p>
            <a:pPr algn="ctr"/>
            <a:r>
              <a:rPr lang="en-US" b="1" dirty="0"/>
              <a:t>Genetic Engineering cont’d</a:t>
            </a:r>
            <a:endParaRPr lang="en-US" dirty="0"/>
          </a:p>
        </p:txBody>
      </p:sp>
      <p:sp>
        <p:nvSpPr>
          <p:cNvPr id="3" name="Content Placeholder 2"/>
          <p:cNvSpPr>
            <a:spLocks noGrp="1"/>
          </p:cNvSpPr>
          <p:nvPr>
            <p:ph idx="1"/>
          </p:nvPr>
        </p:nvSpPr>
        <p:spPr>
          <a:xfrm>
            <a:off x="838200" y="1089212"/>
            <a:ext cx="10515600" cy="5087751"/>
          </a:xfrm>
        </p:spPr>
        <p:txBody>
          <a:bodyPr>
            <a:normAutofit/>
          </a:bodyPr>
          <a:lstStyle/>
          <a:p>
            <a:r>
              <a:rPr lang="en-US" sz="4000" dirty="0"/>
              <a:t>The process of isolation, cloning and transfer of desired gene or genes in the DNA of a desired organism is called 'recombinant DNA technology'. Replication or cloning is possible only when the alien gene becomes part of the chromosome (genome) or </a:t>
            </a:r>
            <a:r>
              <a:rPr lang="en-US" sz="4000" dirty="0" err="1"/>
              <a:t>extrachromosomal</a:t>
            </a:r>
            <a:r>
              <a:rPr lang="en-US" sz="4000" dirty="0"/>
              <a:t> DNA (</a:t>
            </a:r>
            <a:r>
              <a:rPr lang="en-US" sz="4000" dirty="0" err="1"/>
              <a:t>extragenomic</a:t>
            </a:r>
            <a:r>
              <a:rPr lang="en-US" sz="4000" dirty="0"/>
              <a:t> DNA) which has its own origin of replication or </a:t>
            </a:r>
            <a:r>
              <a:rPr lang="en-US" sz="4000" i="1" dirty="0"/>
              <a:t>'</a:t>
            </a:r>
            <a:r>
              <a:rPr lang="en-US" sz="4000" i="1" dirty="0" err="1"/>
              <a:t>ori</a:t>
            </a:r>
            <a:r>
              <a:rPr lang="en-US" sz="4000" i="1" dirty="0"/>
              <a:t>'.</a:t>
            </a:r>
            <a:endParaRPr lang="en-US" sz="4000" dirty="0"/>
          </a:p>
        </p:txBody>
      </p:sp>
    </p:spTree>
    <p:extLst>
      <p:ext uri="{BB962C8B-B14F-4D97-AF65-F5344CB8AC3E}">
        <p14:creationId xmlns:p14="http://schemas.microsoft.com/office/powerpoint/2010/main" val="3401929882"/>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153"/>
            <a:ext cx="10515600" cy="833719"/>
          </a:xfrm>
        </p:spPr>
        <p:txBody>
          <a:bodyPr>
            <a:normAutofit/>
          </a:bodyPr>
          <a:lstStyle/>
          <a:p>
            <a:pPr algn="ctr"/>
            <a:r>
              <a:rPr lang="en-US" b="1" dirty="0"/>
              <a:t>Genetic Engineering cont’d</a:t>
            </a:r>
            <a:endParaRPr lang="en-US" dirty="0"/>
          </a:p>
        </p:txBody>
      </p:sp>
      <p:sp>
        <p:nvSpPr>
          <p:cNvPr id="3" name="Content Placeholder 2"/>
          <p:cNvSpPr>
            <a:spLocks noGrp="1"/>
          </p:cNvSpPr>
          <p:nvPr>
            <p:ph idx="1"/>
          </p:nvPr>
        </p:nvSpPr>
        <p:spPr>
          <a:xfrm>
            <a:off x="838200" y="1156447"/>
            <a:ext cx="10515600" cy="5020516"/>
          </a:xfrm>
        </p:spPr>
        <p:txBody>
          <a:bodyPr>
            <a:normAutofit/>
          </a:bodyPr>
          <a:lstStyle/>
          <a:p>
            <a:r>
              <a:rPr lang="en-US" sz="4000" dirty="0"/>
              <a:t>The' </a:t>
            </a:r>
            <a:r>
              <a:rPr lang="en-US" sz="4000" i="1" dirty="0" err="1"/>
              <a:t>ori</a:t>
            </a:r>
            <a:r>
              <a:rPr lang="en-US" sz="4000" i="1" dirty="0"/>
              <a:t>' </a:t>
            </a:r>
            <a:r>
              <a:rPr lang="en-US" sz="4000" dirty="0"/>
              <a:t>is present in the plasmid. The plasmids are the extra-</a:t>
            </a:r>
            <a:r>
              <a:rPr lang="en-US" sz="4000" dirty="0" err="1"/>
              <a:t>chromosom</a:t>
            </a:r>
            <a:r>
              <a:rPr lang="en-US" sz="4000" dirty="0"/>
              <a:t>-al, self-replicating circular DNA segment present in the bacterial cytoplasm. Cohen and Boyer (1972) first produced a recombinant DNA by attaching an 'antibiotic resistance gene' with the plasmid of the bacterium </a:t>
            </a:r>
            <a:r>
              <a:rPr lang="en-US" sz="4000" i="1" dirty="0"/>
              <a:t>Salmonella </a:t>
            </a:r>
            <a:r>
              <a:rPr lang="en-US" sz="4000" i="1" dirty="0" err="1"/>
              <a:t>typhimurium</a:t>
            </a:r>
            <a:r>
              <a:rPr lang="en-US" sz="4000" i="1" dirty="0"/>
              <a:t> </a:t>
            </a:r>
            <a:r>
              <a:rPr lang="en-US" sz="4000" dirty="0"/>
              <a:t>with the help of </a:t>
            </a:r>
            <a:r>
              <a:rPr lang="en-US" sz="4000" i="1" dirty="0"/>
              <a:t>restriction endonuclease </a:t>
            </a:r>
            <a:r>
              <a:rPr lang="en-US" sz="4000" dirty="0"/>
              <a:t>enzyme</a:t>
            </a:r>
          </a:p>
        </p:txBody>
      </p:sp>
    </p:spTree>
    <p:extLst>
      <p:ext uri="{BB962C8B-B14F-4D97-AF65-F5344CB8AC3E}">
        <p14:creationId xmlns:p14="http://schemas.microsoft.com/office/powerpoint/2010/main" val="3722130481"/>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8899"/>
          </a:xfrm>
        </p:spPr>
        <p:txBody>
          <a:bodyPr/>
          <a:lstStyle/>
          <a:p>
            <a:pPr algn="ctr"/>
            <a:r>
              <a:rPr lang="en-US" b="1" dirty="0"/>
              <a:t>Genetic Engineering cont’d</a:t>
            </a:r>
            <a:endParaRPr lang="en-US" dirty="0"/>
          </a:p>
        </p:txBody>
      </p:sp>
      <p:sp>
        <p:nvSpPr>
          <p:cNvPr id="3" name="Content Placeholder 2"/>
          <p:cNvSpPr>
            <a:spLocks noGrp="1"/>
          </p:cNvSpPr>
          <p:nvPr>
            <p:ph idx="1"/>
          </p:nvPr>
        </p:nvSpPr>
        <p:spPr>
          <a:xfrm>
            <a:off x="838200" y="1398495"/>
            <a:ext cx="10515600" cy="5230906"/>
          </a:xfrm>
        </p:spPr>
        <p:txBody>
          <a:bodyPr>
            <a:noAutofit/>
          </a:bodyPr>
          <a:lstStyle/>
          <a:p>
            <a:r>
              <a:rPr lang="en-US" sz="4000" dirty="0"/>
              <a:t>The </a:t>
            </a:r>
            <a:r>
              <a:rPr lang="en-US" sz="4000" i="1" dirty="0"/>
              <a:t>restriction endonuclease </a:t>
            </a:r>
            <a:r>
              <a:rPr lang="en-US" sz="4000" dirty="0"/>
              <a:t>enzyme cuts the two strands of the DNA double helix at a specific region that has complementary sticky ends. </a:t>
            </a:r>
            <a:br>
              <a:rPr lang="en-US" sz="4000" dirty="0"/>
            </a:br>
            <a:r>
              <a:rPr lang="en-US" sz="4000" dirty="0"/>
              <a:t>The cut ends of the DNA double helix are joined together by </a:t>
            </a:r>
            <a:r>
              <a:rPr lang="en-US" sz="4000" i="1" dirty="0"/>
              <a:t>ligase </a:t>
            </a:r>
            <a:r>
              <a:rPr lang="en-US" sz="4000" dirty="0"/>
              <a:t>enzyme. The recombinant DNA is now transferred into </a:t>
            </a:r>
            <a:r>
              <a:rPr lang="en-US" sz="4000" i="1" dirty="0"/>
              <a:t>E. coli </a:t>
            </a:r>
            <a:r>
              <a:rPr lang="en-US" sz="4000" dirty="0"/>
              <a:t>bacterium where it replicates by using the host nucleotides and </a:t>
            </a:r>
            <a:r>
              <a:rPr lang="en-US" sz="4000" i="1" dirty="0"/>
              <a:t>DNA polymerase </a:t>
            </a:r>
            <a:r>
              <a:rPr lang="en-US" sz="4000" dirty="0"/>
              <a:t>and forms multiple copies of the DNA. </a:t>
            </a:r>
          </a:p>
        </p:txBody>
      </p:sp>
    </p:spTree>
    <p:extLst>
      <p:ext uri="{BB962C8B-B14F-4D97-AF65-F5344CB8AC3E}">
        <p14:creationId xmlns:p14="http://schemas.microsoft.com/office/powerpoint/2010/main" val="3231678290"/>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153"/>
            <a:ext cx="10515600" cy="874059"/>
          </a:xfrm>
        </p:spPr>
        <p:txBody>
          <a:bodyPr>
            <a:normAutofit fontScale="90000"/>
          </a:bodyPr>
          <a:lstStyle/>
          <a:p>
            <a:pPr algn="ctr"/>
            <a:r>
              <a:rPr lang="en-US" b="1" dirty="0" smtClean="0"/>
              <a:t/>
            </a:r>
            <a:br>
              <a:rPr lang="en-US" b="1" dirty="0" smtClean="0"/>
            </a:br>
            <a:r>
              <a:rPr lang="en-US" b="1" dirty="0" smtClean="0"/>
              <a:t>Tools </a:t>
            </a:r>
            <a:r>
              <a:rPr lang="en-US" b="1" dirty="0"/>
              <a:t>of Recombinant Technology</a:t>
            </a:r>
            <a:r>
              <a:rPr lang="en-US" dirty="0"/>
              <a:t/>
            </a:r>
            <a:br>
              <a:rPr lang="en-US" dirty="0"/>
            </a:br>
            <a:endParaRPr lang="en-US" dirty="0"/>
          </a:p>
        </p:txBody>
      </p:sp>
      <p:sp>
        <p:nvSpPr>
          <p:cNvPr id="3" name="Content Placeholder 2"/>
          <p:cNvSpPr>
            <a:spLocks noGrp="1"/>
          </p:cNvSpPr>
          <p:nvPr>
            <p:ph idx="1"/>
          </p:nvPr>
        </p:nvSpPr>
        <p:spPr>
          <a:xfrm>
            <a:off x="838200" y="1210235"/>
            <a:ext cx="10515600" cy="4966728"/>
          </a:xfrm>
        </p:spPr>
        <p:txBody>
          <a:bodyPr>
            <a:normAutofit/>
          </a:bodyPr>
          <a:lstStyle/>
          <a:p>
            <a:r>
              <a:rPr lang="en-US" sz="4000" b="1" dirty="0"/>
              <a:t> </a:t>
            </a:r>
            <a:r>
              <a:rPr lang="en-US" sz="4000" dirty="0" smtClean="0"/>
              <a:t>Source </a:t>
            </a:r>
            <a:r>
              <a:rPr lang="en-US" sz="4000" dirty="0"/>
              <a:t>of the donor DNA </a:t>
            </a:r>
            <a:endParaRPr lang="en-US" sz="4000" dirty="0" smtClean="0"/>
          </a:p>
          <a:p>
            <a:r>
              <a:rPr lang="en-US" sz="4000" dirty="0" smtClean="0"/>
              <a:t>Restriction </a:t>
            </a:r>
            <a:r>
              <a:rPr lang="en-US" sz="4000" dirty="0"/>
              <a:t>enzymes </a:t>
            </a:r>
            <a:endParaRPr lang="en-US" sz="4000" dirty="0" smtClean="0"/>
          </a:p>
          <a:p>
            <a:r>
              <a:rPr lang="en-US" sz="4000" dirty="0" smtClean="0"/>
              <a:t>DNA </a:t>
            </a:r>
            <a:r>
              <a:rPr lang="en-US" sz="4000" dirty="0"/>
              <a:t>polymerase enzyme </a:t>
            </a:r>
            <a:endParaRPr lang="en-US" sz="4000" dirty="0" smtClean="0"/>
          </a:p>
          <a:p>
            <a:r>
              <a:rPr lang="en-US" sz="4000" dirty="0" smtClean="0"/>
              <a:t>Ligase </a:t>
            </a:r>
            <a:r>
              <a:rPr lang="en-US" sz="4000" dirty="0"/>
              <a:t>enzyme </a:t>
            </a:r>
          </a:p>
          <a:p>
            <a:r>
              <a:rPr lang="en-US" sz="4000" dirty="0"/>
              <a:t>Vectors </a:t>
            </a:r>
          </a:p>
          <a:p>
            <a:r>
              <a:rPr lang="en-US" sz="4000" dirty="0"/>
              <a:t>Host cell/Organisms </a:t>
            </a:r>
          </a:p>
          <a:p>
            <a:endParaRPr lang="en-US" sz="4000" dirty="0"/>
          </a:p>
        </p:txBody>
      </p:sp>
    </p:spTree>
    <p:extLst>
      <p:ext uri="{BB962C8B-B14F-4D97-AF65-F5344CB8AC3E}">
        <p14:creationId xmlns:p14="http://schemas.microsoft.com/office/powerpoint/2010/main" val="3974384195"/>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259"/>
            <a:ext cx="10515600" cy="779929"/>
          </a:xfrm>
        </p:spPr>
        <p:txBody>
          <a:bodyPr>
            <a:normAutofit fontScale="90000"/>
          </a:bodyPr>
          <a:lstStyle/>
          <a:p>
            <a:pPr algn="ctr"/>
            <a:r>
              <a:rPr lang="en-US" b="1" dirty="0"/>
              <a:t/>
            </a:r>
            <a:br>
              <a:rPr lang="en-US" b="1" dirty="0"/>
            </a:br>
            <a:r>
              <a:rPr lang="en-US" b="1" dirty="0"/>
              <a:t>Tools of Recombinant </a:t>
            </a:r>
            <a:r>
              <a:rPr lang="en-US" b="1" dirty="0" smtClean="0"/>
              <a:t>Technology cont’d</a:t>
            </a:r>
            <a:r>
              <a:rPr lang="en-US" dirty="0"/>
              <a:t/>
            </a:r>
            <a:br>
              <a:rPr lang="en-US" dirty="0"/>
            </a:br>
            <a:endParaRPr lang="en-US" dirty="0"/>
          </a:p>
        </p:txBody>
      </p:sp>
      <p:sp>
        <p:nvSpPr>
          <p:cNvPr id="3" name="Content Placeholder 2"/>
          <p:cNvSpPr>
            <a:spLocks noGrp="1"/>
          </p:cNvSpPr>
          <p:nvPr>
            <p:ph idx="1"/>
          </p:nvPr>
        </p:nvSpPr>
        <p:spPr>
          <a:xfrm>
            <a:off x="838200" y="1102659"/>
            <a:ext cx="10515600" cy="5074304"/>
          </a:xfrm>
        </p:spPr>
        <p:txBody>
          <a:bodyPr>
            <a:normAutofit/>
          </a:bodyPr>
          <a:lstStyle/>
          <a:p>
            <a:r>
              <a:rPr lang="en-US" sz="4000" i="1" dirty="0"/>
              <a:t>E. coli </a:t>
            </a:r>
            <a:r>
              <a:rPr lang="en-US" sz="4000" dirty="0"/>
              <a:t>can protect itself from the bacteriophage attack with the help of a </a:t>
            </a:r>
            <a:r>
              <a:rPr lang="en-US" sz="4000" dirty="0" err="1"/>
              <a:t>defence</a:t>
            </a:r>
            <a:r>
              <a:rPr lang="en-US" sz="4000" dirty="0"/>
              <a:t> mechanism called 'restriction-modification system'. The 'restriction-modification system' has two functional components, viz., </a:t>
            </a:r>
            <a:br>
              <a:rPr lang="en-US" sz="4000" dirty="0"/>
            </a:br>
            <a:r>
              <a:rPr lang="en-US" sz="4000" dirty="0"/>
              <a:t>(a) restriction enzyme and </a:t>
            </a:r>
            <a:r>
              <a:rPr lang="en-US" sz="4000" i="1" dirty="0"/>
              <a:t>(b) </a:t>
            </a:r>
            <a:r>
              <a:rPr lang="en-US" sz="4000" dirty="0" err="1"/>
              <a:t>methylase</a:t>
            </a:r>
            <a:endParaRPr lang="en-US" sz="4000" dirty="0"/>
          </a:p>
        </p:txBody>
      </p:sp>
    </p:spTree>
    <p:extLst>
      <p:ext uri="{BB962C8B-B14F-4D97-AF65-F5344CB8AC3E}">
        <p14:creationId xmlns:p14="http://schemas.microsoft.com/office/powerpoint/2010/main" val="477585120"/>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3"/>
            <a:ext cx="10515600" cy="914399"/>
          </a:xfrm>
        </p:spPr>
        <p:txBody>
          <a:bodyPr>
            <a:noAutofit/>
          </a:bodyPr>
          <a:lstStyle/>
          <a:p>
            <a:pPr algn="ctr"/>
            <a:r>
              <a:rPr lang="en-US" sz="4800" b="1" dirty="0"/>
              <a:t/>
            </a:r>
            <a:br>
              <a:rPr lang="en-US" sz="4800" b="1" dirty="0"/>
            </a:br>
            <a:r>
              <a:rPr lang="en-US" sz="4800" b="1" dirty="0"/>
              <a:t>Tools of Recombinant Technology cont’d</a:t>
            </a:r>
            <a:r>
              <a:rPr lang="en-US" sz="4800" dirty="0"/>
              <a:t/>
            </a:r>
            <a:br>
              <a:rPr lang="en-US" sz="4800" dirty="0"/>
            </a:br>
            <a:endParaRPr lang="en-US" sz="4800" dirty="0"/>
          </a:p>
        </p:txBody>
      </p:sp>
      <p:sp>
        <p:nvSpPr>
          <p:cNvPr id="3" name="Content Placeholder 2"/>
          <p:cNvSpPr>
            <a:spLocks noGrp="1"/>
          </p:cNvSpPr>
          <p:nvPr>
            <p:ph idx="1"/>
          </p:nvPr>
        </p:nvSpPr>
        <p:spPr>
          <a:xfrm>
            <a:off x="838200" y="1089212"/>
            <a:ext cx="10515600" cy="5768788"/>
          </a:xfrm>
        </p:spPr>
        <p:txBody>
          <a:bodyPr>
            <a:noAutofit/>
          </a:bodyPr>
          <a:lstStyle/>
          <a:p>
            <a:r>
              <a:rPr lang="en-US" sz="4000" dirty="0"/>
              <a:t>(a) </a:t>
            </a:r>
            <a:r>
              <a:rPr lang="en-US" sz="4000" b="1" dirty="0"/>
              <a:t>Restriction Enzyme </a:t>
            </a:r>
            <a:r>
              <a:rPr lang="en-US" sz="4000" dirty="0"/>
              <a:t>- It is a nuclease enzyme which </a:t>
            </a:r>
            <a:r>
              <a:rPr lang="en-US" sz="4000" dirty="0" err="1"/>
              <a:t>recognises</a:t>
            </a:r>
            <a:r>
              <a:rPr lang="en-US" sz="4000" dirty="0"/>
              <a:t> a specific </a:t>
            </a:r>
            <a:r>
              <a:rPr lang="en-US" sz="4000" dirty="0" err="1"/>
              <a:t>pallindromic</a:t>
            </a:r>
            <a:r>
              <a:rPr lang="en-US" sz="4000" dirty="0"/>
              <a:t> DNA sequence and degrades it. It is called restriction enzyme because it restricts the multiplication of bacteriophage (foreign DNA) in the bacterial cell. </a:t>
            </a:r>
          </a:p>
          <a:p>
            <a:r>
              <a:rPr lang="en-US" sz="4000" dirty="0"/>
              <a:t>(b) </a:t>
            </a:r>
            <a:r>
              <a:rPr lang="en-US" sz="4000" b="1" dirty="0" err="1" smtClean="0"/>
              <a:t>Methylase</a:t>
            </a:r>
            <a:r>
              <a:rPr lang="en-US" sz="4000" b="1" dirty="0" smtClean="0"/>
              <a:t> </a:t>
            </a:r>
            <a:r>
              <a:rPr lang="en-US" sz="4000" dirty="0"/>
              <a:t>- The </a:t>
            </a:r>
            <a:r>
              <a:rPr lang="en-US" sz="4000" dirty="0" err="1"/>
              <a:t>methylase</a:t>
            </a:r>
            <a:r>
              <a:rPr lang="en-US" sz="4000" dirty="0"/>
              <a:t> enzyme adds methyl groups in the </a:t>
            </a:r>
            <a:r>
              <a:rPr lang="en-US" sz="4000" dirty="0" err="1"/>
              <a:t>pallindromic</a:t>
            </a:r>
            <a:r>
              <a:rPr lang="en-US" sz="4000" dirty="0"/>
              <a:t> region present in the bacterial DNA. The methylated bacterial DNA is not damaged by the action of the restriction enzyme. </a:t>
            </a:r>
          </a:p>
          <a:p>
            <a:endParaRPr lang="en-US" sz="4000" dirty="0"/>
          </a:p>
        </p:txBody>
      </p:sp>
    </p:spTree>
    <p:extLst>
      <p:ext uri="{BB962C8B-B14F-4D97-AF65-F5344CB8AC3E}">
        <p14:creationId xmlns:p14="http://schemas.microsoft.com/office/powerpoint/2010/main" val="320942060"/>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0"/>
            <a:ext cx="10515600" cy="806824"/>
          </a:xfrm>
        </p:spPr>
        <p:txBody>
          <a:bodyPr>
            <a:noAutofit/>
          </a:bodyPr>
          <a:lstStyle/>
          <a:p>
            <a:pPr algn="ctr"/>
            <a:r>
              <a:rPr lang="en-US" b="1" dirty="0"/>
              <a:t/>
            </a:r>
            <a:br>
              <a:rPr lang="en-US" b="1" dirty="0"/>
            </a:br>
            <a:r>
              <a:rPr lang="en-US" b="1" dirty="0"/>
              <a:t>Tools of Recombinant Technology cont’d</a:t>
            </a:r>
            <a:r>
              <a:rPr lang="en-US" dirty="0"/>
              <a:t/>
            </a:r>
            <a:br>
              <a:rPr lang="en-US" dirty="0"/>
            </a:br>
            <a:endParaRPr lang="en-US" dirty="0"/>
          </a:p>
        </p:txBody>
      </p:sp>
      <p:sp>
        <p:nvSpPr>
          <p:cNvPr id="3" name="Content Placeholder 2"/>
          <p:cNvSpPr>
            <a:spLocks noGrp="1"/>
          </p:cNvSpPr>
          <p:nvPr>
            <p:ph idx="1"/>
          </p:nvPr>
        </p:nvSpPr>
        <p:spPr>
          <a:xfrm>
            <a:off x="838200" y="1156447"/>
            <a:ext cx="10515600" cy="5020516"/>
          </a:xfrm>
        </p:spPr>
        <p:txBody>
          <a:bodyPr>
            <a:normAutofit/>
          </a:bodyPr>
          <a:lstStyle/>
          <a:p>
            <a:r>
              <a:rPr lang="en-US" sz="4000" dirty="0"/>
              <a:t>The restriction enzyme is also called restriction endonuclease (REN). The first discovered restriction endonuclease is </a:t>
            </a:r>
            <a:r>
              <a:rPr lang="en-US" sz="4000" i="1" dirty="0"/>
              <a:t>Hind 1/ </a:t>
            </a:r>
            <a:r>
              <a:rPr lang="en-US" sz="4000" dirty="0"/>
              <a:t>(from the bacterium </a:t>
            </a:r>
            <a:r>
              <a:rPr lang="en-US" sz="4000" i="1" dirty="0" err="1"/>
              <a:t>Haemophilus</a:t>
            </a:r>
            <a:r>
              <a:rPr lang="en-US" sz="4000" i="1" dirty="0"/>
              <a:t> </a:t>
            </a:r>
            <a:r>
              <a:rPr lang="en-US" sz="4000" i="1" dirty="0" err="1"/>
              <a:t>infiuenzae</a:t>
            </a:r>
            <a:r>
              <a:rPr lang="en-US" sz="4000" i="1" dirty="0"/>
              <a:t> </a:t>
            </a:r>
            <a:r>
              <a:rPr lang="en-US" sz="4000" dirty="0"/>
              <a:t>by Smith, 1968) and the other is Ban HI (from the bacterium </a:t>
            </a:r>
            <a:r>
              <a:rPr lang="en-US" sz="4000" i="1" dirty="0"/>
              <a:t>Bacillus </a:t>
            </a:r>
            <a:r>
              <a:rPr lang="en-US" sz="4000" i="1" dirty="0" err="1"/>
              <a:t>amyloliquefaciens</a:t>
            </a:r>
            <a:r>
              <a:rPr lang="en-US" sz="4000" i="1" dirty="0"/>
              <a:t>). </a:t>
            </a:r>
            <a:r>
              <a:rPr lang="en-US" sz="4000" dirty="0"/>
              <a:t>The restriction endonuclease enzyme is of two types, viz., (a) </a:t>
            </a:r>
            <a:r>
              <a:rPr lang="en-US" sz="4000" dirty="0" err="1"/>
              <a:t>exonucleases</a:t>
            </a:r>
            <a:r>
              <a:rPr lang="en-US" sz="4000" dirty="0"/>
              <a:t> and </a:t>
            </a:r>
            <a:r>
              <a:rPr lang="en-US" sz="4000" i="1" dirty="0"/>
              <a:t>(b) </a:t>
            </a:r>
            <a:r>
              <a:rPr lang="en-US" sz="4000" dirty="0"/>
              <a:t>endonucleases</a:t>
            </a:r>
          </a:p>
        </p:txBody>
      </p:sp>
    </p:spTree>
    <p:extLst>
      <p:ext uri="{BB962C8B-B14F-4D97-AF65-F5344CB8AC3E}">
        <p14:creationId xmlns:p14="http://schemas.microsoft.com/office/powerpoint/2010/main" val="2797012789"/>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129"/>
            <a:ext cx="10515600" cy="1223683"/>
          </a:xfrm>
        </p:spPr>
        <p:txBody>
          <a:bodyPr>
            <a:noAutofit/>
          </a:bodyPr>
          <a:lstStyle/>
          <a:p>
            <a:pPr algn="ctr"/>
            <a:r>
              <a:rPr lang="en-US" b="1" dirty="0"/>
              <a:t/>
            </a:r>
            <a:br>
              <a:rPr lang="en-US" b="1" dirty="0"/>
            </a:br>
            <a:r>
              <a:rPr lang="en-US" b="1" dirty="0"/>
              <a:t>Tools of Recombinant Technology cont’d</a:t>
            </a:r>
            <a:r>
              <a:rPr lang="en-US" dirty="0"/>
              <a:t/>
            </a:r>
            <a:br>
              <a:rPr lang="en-US" dirty="0"/>
            </a:br>
            <a:endParaRPr lang="en-US" dirty="0"/>
          </a:p>
        </p:txBody>
      </p:sp>
      <p:sp>
        <p:nvSpPr>
          <p:cNvPr id="3" name="Content Placeholder 2"/>
          <p:cNvSpPr>
            <a:spLocks noGrp="1"/>
          </p:cNvSpPr>
          <p:nvPr>
            <p:ph idx="1"/>
          </p:nvPr>
        </p:nvSpPr>
        <p:spPr>
          <a:xfrm>
            <a:off x="838200" y="1452282"/>
            <a:ext cx="10515600" cy="5405718"/>
          </a:xfrm>
        </p:spPr>
        <p:txBody>
          <a:bodyPr>
            <a:noAutofit/>
          </a:bodyPr>
          <a:lstStyle/>
          <a:p>
            <a:endParaRPr lang="en-US" sz="4000" dirty="0" smtClean="0"/>
          </a:p>
          <a:p>
            <a:r>
              <a:rPr lang="en-US" sz="4000" dirty="0" smtClean="0"/>
              <a:t>The </a:t>
            </a:r>
            <a:r>
              <a:rPr lang="en-US" sz="4000" dirty="0" err="1"/>
              <a:t>exonucleases</a:t>
            </a:r>
            <a:r>
              <a:rPr lang="en-US" sz="4000" dirty="0"/>
              <a:t> cut the DNAIRNA molecules from the ends, </a:t>
            </a:r>
            <a:r>
              <a:rPr lang="en-US" sz="4000" dirty="0" smtClean="0"/>
              <a:t>whereas </a:t>
            </a:r>
            <a:r>
              <a:rPr lang="en-US" sz="4000" dirty="0"/>
              <a:t>the endonucleases cut the DNA molecule at intercalary positions. The cut made by restriction endonucleases at specific places are called recognition sequences. </a:t>
            </a:r>
          </a:p>
        </p:txBody>
      </p:sp>
    </p:spTree>
    <p:extLst>
      <p:ext uri="{BB962C8B-B14F-4D97-AF65-F5344CB8AC3E}">
        <p14:creationId xmlns:p14="http://schemas.microsoft.com/office/powerpoint/2010/main" val="3795355187"/>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800" b="1" dirty="0"/>
              <a:t/>
            </a:r>
            <a:br>
              <a:rPr lang="en-US" sz="4800" b="1" dirty="0"/>
            </a:br>
            <a:r>
              <a:rPr lang="en-US" sz="4800" b="1" dirty="0"/>
              <a:t>Tools of Recombinant Technology cont’d</a:t>
            </a:r>
            <a:r>
              <a:rPr lang="en-US" sz="4800" dirty="0"/>
              <a:t/>
            </a:r>
            <a:br>
              <a:rPr lang="en-US" sz="4800" dirty="0"/>
            </a:br>
            <a:endParaRPr lang="en-US" sz="4800" dirty="0"/>
          </a:p>
        </p:txBody>
      </p:sp>
      <p:sp>
        <p:nvSpPr>
          <p:cNvPr id="3" name="Content Placeholder 2"/>
          <p:cNvSpPr>
            <a:spLocks noGrp="1"/>
          </p:cNvSpPr>
          <p:nvPr>
            <p:ph idx="1"/>
          </p:nvPr>
        </p:nvSpPr>
        <p:spPr/>
        <p:txBody>
          <a:bodyPr>
            <a:normAutofit/>
          </a:bodyPr>
          <a:lstStyle/>
          <a:p>
            <a:r>
              <a:rPr lang="en-US" sz="4000" dirty="0"/>
              <a:t>The restriction endonuclease first scans the DNA, finds out the recognition sequences, attaches itself with it and then cuts both the strands of the DNA double helix at specific places through the sugar-phosphate backbone in the DNA double helix</a:t>
            </a:r>
          </a:p>
        </p:txBody>
      </p:sp>
    </p:spTree>
    <p:extLst>
      <p:ext uri="{BB962C8B-B14F-4D97-AF65-F5344CB8AC3E}">
        <p14:creationId xmlns:p14="http://schemas.microsoft.com/office/powerpoint/2010/main" val="4028046234"/>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900954"/>
          </a:xfrm>
        </p:spPr>
        <p:txBody>
          <a:bodyPr>
            <a:noAutofit/>
          </a:bodyPr>
          <a:lstStyle/>
          <a:p>
            <a:pPr algn="ctr"/>
            <a:r>
              <a:rPr lang="en-US" sz="4800" b="1" dirty="0"/>
              <a:t/>
            </a:r>
            <a:br>
              <a:rPr lang="en-US" sz="4800" b="1" dirty="0"/>
            </a:br>
            <a:r>
              <a:rPr lang="en-US" sz="4800" b="1" dirty="0"/>
              <a:t>Tools of Recombinant Technology cont’d</a:t>
            </a:r>
            <a:r>
              <a:rPr lang="en-US" sz="4800" dirty="0"/>
              <a:t/>
            </a:r>
            <a:br>
              <a:rPr lang="en-US" sz="4800" dirty="0"/>
            </a:br>
            <a:endParaRPr lang="en-US" sz="4800" dirty="0"/>
          </a:p>
        </p:txBody>
      </p:sp>
      <p:sp>
        <p:nvSpPr>
          <p:cNvPr id="3" name="Content Placeholder 2"/>
          <p:cNvSpPr>
            <a:spLocks noGrp="1"/>
          </p:cNvSpPr>
          <p:nvPr>
            <p:ph idx="1"/>
          </p:nvPr>
        </p:nvSpPr>
        <p:spPr>
          <a:xfrm>
            <a:off x="838200" y="1411941"/>
            <a:ext cx="10515600" cy="5446058"/>
          </a:xfrm>
        </p:spPr>
        <p:txBody>
          <a:bodyPr>
            <a:noAutofit/>
          </a:bodyPr>
          <a:lstStyle/>
          <a:p>
            <a:r>
              <a:rPr lang="en-US" sz="4000" dirty="0"/>
              <a:t>The recognition sequence is always a </a:t>
            </a:r>
            <a:r>
              <a:rPr lang="en-US" sz="4000" dirty="0" err="1"/>
              <a:t>pallindromic</a:t>
            </a:r>
            <a:r>
              <a:rPr lang="en-US" sz="4000" dirty="0"/>
              <a:t> sequence in the DNA double helix. The restriction endonuclease enzyme gets attached with the </a:t>
            </a:r>
            <a:r>
              <a:rPr lang="en-US" sz="4000" dirty="0" err="1"/>
              <a:t>pallindromic</a:t>
            </a:r>
            <a:r>
              <a:rPr lang="en-US" sz="4000" dirty="0"/>
              <a:t> sequence and cuts the hydrogen bonds between the two polynucleotide chains of the DNA double helix. Hence, it is also called molecular scissor or chemical scalpel. </a:t>
            </a:r>
          </a:p>
        </p:txBody>
      </p:sp>
    </p:spTree>
    <p:extLst>
      <p:ext uri="{BB962C8B-B14F-4D97-AF65-F5344CB8AC3E}">
        <p14:creationId xmlns:p14="http://schemas.microsoft.com/office/powerpoint/2010/main" val="2293285927"/>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76"/>
            <a:ext cx="10515600" cy="981635"/>
          </a:xfrm>
        </p:spPr>
        <p:txBody>
          <a:bodyPr>
            <a:normAutofit fontScale="90000"/>
          </a:bodyPr>
          <a:lstStyle/>
          <a:p>
            <a:pPr algn="ctr"/>
            <a:r>
              <a:rPr lang="en-US" b="1" dirty="0"/>
              <a:t/>
            </a:r>
            <a:br>
              <a:rPr lang="en-US" b="1" dirty="0"/>
            </a:br>
            <a:r>
              <a:rPr lang="en-US" b="1" dirty="0"/>
              <a:t>Tools of Recombinant Technology cont’d</a:t>
            </a:r>
            <a:r>
              <a:rPr lang="en-US" dirty="0"/>
              <a:t/>
            </a:r>
            <a:br>
              <a:rPr lang="en-US" dirty="0"/>
            </a:br>
            <a:endParaRPr lang="en-US" dirty="0"/>
          </a:p>
        </p:txBody>
      </p:sp>
      <p:sp>
        <p:nvSpPr>
          <p:cNvPr id="3" name="Content Placeholder 2"/>
          <p:cNvSpPr>
            <a:spLocks noGrp="1"/>
          </p:cNvSpPr>
          <p:nvPr>
            <p:ph idx="1"/>
          </p:nvPr>
        </p:nvSpPr>
        <p:spPr>
          <a:xfrm>
            <a:off x="838200" y="1237129"/>
            <a:ext cx="10515600" cy="4939834"/>
          </a:xfrm>
        </p:spPr>
        <p:txBody>
          <a:bodyPr>
            <a:normAutofit/>
          </a:bodyPr>
          <a:lstStyle/>
          <a:p>
            <a:r>
              <a:rPr lang="en-US" sz="4000" dirty="0"/>
              <a:t>The cut ends of the DNA double helix are called staggered ends, sticky ends or cohesive </a:t>
            </a:r>
            <a:r>
              <a:rPr lang="en-US" sz="4000" dirty="0" smtClean="0"/>
              <a:t>ends.</a:t>
            </a:r>
          </a:p>
          <a:p>
            <a:r>
              <a:rPr lang="en-US" sz="4000" dirty="0" smtClean="0"/>
              <a:t>When </a:t>
            </a:r>
            <a:r>
              <a:rPr lang="en-US" sz="4000" dirty="0"/>
              <a:t>the DNA from different sources are cut by the same restriction endonuclease, complementary sticky ends are formed which can be joined with the DNA ligase enzyme to form a recombinant DNA. </a:t>
            </a:r>
          </a:p>
        </p:txBody>
      </p:sp>
    </p:spTree>
    <p:extLst>
      <p:ext uri="{BB962C8B-B14F-4D97-AF65-F5344CB8AC3E}">
        <p14:creationId xmlns:p14="http://schemas.microsoft.com/office/powerpoint/2010/main" val="3905563175"/>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39240"/>
          </a:xfrm>
        </p:spPr>
        <p:txBody>
          <a:bodyPr>
            <a:noAutofit/>
          </a:bodyPr>
          <a:lstStyle/>
          <a:p>
            <a:pPr algn="ctr"/>
            <a:r>
              <a:rPr lang="en-US" sz="4800" b="1" dirty="0"/>
              <a:t/>
            </a:r>
            <a:br>
              <a:rPr lang="en-US" sz="4800" b="1" dirty="0"/>
            </a:br>
            <a:r>
              <a:rPr lang="en-US" sz="4800" b="1" dirty="0"/>
              <a:t>Tools of Recombinant Technology cont’d</a:t>
            </a:r>
            <a:r>
              <a:rPr lang="en-US" sz="4800" dirty="0"/>
              <a:t/>
            </a:r>
            <a:br>
              <a:rPr lang="en-US" sz="4800" dirty="0"/>
            </a:br>
            <a:endParaRPr lang="en-US" sz="4800" dirty="0"/>
          </a:p>
        </p:txBody>
      </p:sp>
      <p:sp>
        <p:nvSpPr>
          <p:cNvPr id="3" name="Content Placeholder 2"/>
          <p:cNvSpPr>
            <a:spLocks noGrp="1"/>
          </p:cNvSpPr>
          <p:nvPr>
            <p:ph idx="1"/>
          </p:nvPr>
        </p:nvSpPr>
        <p:spPr>
          <a:xfrm>
            <a:off x="838200" y="1304366"/>
            <a:ext cx="10515600" cy="4872597"/>
          </a:xfrm>
        </p:spPr>
        <p:txBody>
          <a:bodyPr>
            <a:normAutofit/>
          </a:bodyPr>
          <a:lstStyle/>
          <a:p>
            <a:r>
              <a:rPr lang="en-US" sz="4000" dirty="0"/>
              <a:t>The other group of endonuclease cuts the two strands of the DNA double helix at the same place in such a way that the single-stranded DNA polynucleotide chain is not formed at the end.</a:t>
            </a:r>
            <a:endParaRPr lang="en-US" sz="4000" dirty="0" smtClean="0"/>
          </a:p>
          <a:p>
            <a:r>
              <a:rPr lang="en-US" sz="4000" dirty="0" smtClean="0"/>
              <a:t>The </a:t>
            </a:r>
            <a:r>
              <a:rPr lang="en-US" sz="4000" dirty="0"/>
              <a:t>ends of the DNA double helix without single-stranded polynucleotide sequence are called 'blunt ends'. The endonuclease of this class is </a:t>
            </a:r>
            <a:r>
              <a:rPr lang="en-US" sz="4000" dirty="0" err="1"/>
              <a:t>Sma</a:t>
            </a:r>
            <a:r>
              <a:rPr lang="en-US" sz="4000" dirty="0"/>
              <a:t> I (from </a:t>
            </a:r>
            <a:r>
              <a:rPr lang="en-US" sz="4000" i="1" dirty="0" err="1"/>
              <a:t>Serratia</a:t>
            </a:r>
            <a:r>
              <a:rPr lang="en-US" sz="4000" i="1" dirty="0"/>
              <a:t> </a:t>
            </a:r>
            <a:r>
              <a:rPr lang="en-US" sz="4000" i="1" dirty="0" err="1"/>
              <a:t>marcescens</a:t>
            </a:r>
            <a:r>
              <a:rPr lang="en-US" sz="4000" i="1" dirty="0"/>
              <a:t>) </a:t>
            </a:r>
            <a:r>
              <a:rPr lang="en-US" sz="4000" dirty="0"/>
              <a:t>and </a:t>
            </a:r>
            <a:r>
              <a:rPr lang="en-US" sz="4000" dirty="0" err="1"/>
              <a:t>Sca</a:t>
            </a:r>
            <a:r>
              <a:rPr lang="en-US" sz="4000" dirty="0"/>
              <a:t> I. </a:t>
            </a:r>
          </a:p>
        </p:txBody>
      </p:sp>
    </p:spTree>
    <p:extLst>
      <p:ext uri="{BB962C8B-B14F-4D97-AF65-F5344CB8AC3E}">
        <p14:creationId xmlns:p14="http://schemas.microsoft.com/office/powerpoint/2010/main" val="2718035714"/>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259"/>
            <a:ext cx="10515600" cy="820271"/>
          </a:xfrm>
        </p:spPr>
        <p:txBody>
          <a:bodyPr>
            <a:noAutofit/>
          </a:bodyPr>
          <a:lstStyle/>
          <a:p>
            <a:pPr algn="ctr"/>
            <a:r>
              <a:rPr lang="en-US" sz="4800" b="1" dirty="0"/>
              <a:t/>
            </a:r>
            <a:br>
              <a:rPr lang="en-US" sz="4800" b="1" dirty="0"/>
            </a:br>
            <a:r>
              <a:rPr lang="en-US" sz="4800" b="1" dirty="0"/>
              <a:t>Tools of Recombinant Technology cont’d</a:t>
            </a:r>
            <a:r>
              <a:rPr lang="en-US" sz="4800" dirty="0"/>
              <a:t/>
            </a:r>
            <a:br>
              <a:rPr lang="en-US" sz="4800" dirty="0"/>
            </a:br>
            <a:endParaRPr lang="en-US" sz="4800" dirty="0"/>
          </a:p>
        </p:txBody>
      </p:sp>
      <p:sp>
        <p:nvSpPr>
          <p:cNvPr id="3" name="Content Placeholder 2"/>
          <p:cNvSpPr>
            <a:spLocks noGrp="1"/>
          </p:cNvSpPr>
          <p:nvPr>
            <p:ph idx="1"/>
          </p:nvPr>
        </p:nvSpPr>
        <p:spPr>
          <a:xfrm>
            <a:off x="838200" y="1223682"/>
            <a:ext cx="10515600" cy="4953281"/>
          </a:xfrm>
        </p:spPr>
        <p:txBody>
          <a:bodyPr>
            <a:normAutofit/>
          </a:bodyPr>
          <a:lstStyle/>
          <a:p>
            <a:r>
              <a:rPr lang="en-US" sz="4000" dirty="0"/>
              <a:t>The DNA is treated with restriction endonuclease to cut into small DNA fragments of different lengths. These DNA fragments are </a:t>
            </a:r>
            <a:r>
              <a:rPr lang="en-US" sz="4000" dirty="0" err="1"/>
              <a:t>ric</a:t>
            </a:r>
            <a:r>
              <a:rPr lang="en-US" sz="4000" dirty="0"/>
              <a:t> field by keeping it on '</a:t>
            </a:r>
            <a:r>
              <a:rPr lang="en-US" sz="4000" dirty="0" err="1"/>
              <a:t>agarose</a:t>
            </a:r>
            <a:r>
              <a:rPr lang="en-US" sz="4000" dirty="0"/>
              <a:t>' (a natural polymer extracted from sea weeds </a:t>
            </a:r>
            <a:r>
              <a:rPr lang="en-US" sz="4000" i="1" dirty="0" err="1"/>
              <a:t>Gracillaria</a:t>
            </a:r>
            <a:r>
              <a:rPr lang="en-US" sz="4000" i="1" dirty="0"/>
              <a:t> </a:t>
            </a:r>
            <a:r>
              <a:rPr lang="en-US" sz="4000" dirty="0"/>
              <a:t>and </a:t>
            </a:r>
            <a:r>
              <a:rPr lang="en-US" sz="4000" i="1" dirty="0" err="1"/>
              <a:t>Gellidium</a:t>
            </a:r>
            <a:r>
              <a:rPr lang="en-US" sz="4000" i="1" dirty="0"/>
              <a:t>) </a:t>
            </a:r>
            <a:r>
              <a:rPr lang="en-US" sz="4000" dirty="0"/>
              <a:t>separated by Gel electrophoresis</a:t>
            </a:r>
            <a:r>
              <a:rPr lang="en-US" sz="4000" dirty="0" smtClean="0"/>
              <a:t>.</a:t>
            </a:r>
          </a:p>
          <a:p>
            <a:r>
              <a:rPr lang="en-US" sz="4000" dirty="0"/>
              <a:t>Gel electrophoresis is a technique of separating biomolecules under an </a:t>
            </a:r>
            <a:r>
              <a:rPr lang="en-US" sz="4000" dirty="0" err="1"/>
              <a:t>electgel</a:t>
            </a:r>
            <a:r>
              <a:rPr lang="en-US" sz="4000" dirty="0"/>
              <a:t> matrix.</a:t>
            </a:r>
          </a:p>
        </p:txBody>
      </p:sp>
    </p:spTree>
    <p:extLst>
      <p:ext uri="{BB962C8B-B14F-4D97-AF65-F5344CB8AC3E}">
        <p14:creationId xmlns:p14="http://schemas.microsoft.com/office/powerpoint/2010/main" val="212892376"/>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5600" cy="833718"/>
          </a:xfrm>
        </p:spPr>
        <p:txBody>
          <a:bodyPr>
            <a:noAutofit/>
          </a:bodyPr>
          <a:lstStyle/>
          <a:p>
            <a:pPr algn="ctr"/>
            <a:r>
              <a:rPr lang="en-US" sz="4800" b="1" dirty="0"/>
              <a:t/>
            </a:r>
            <a:br>
              <a:rPr lang="en-US" sz="4800" b="1" dirty="0"/>
            </a:br>
            <a:r>
              <a:rPr lang="en-US" sz="4800" b="1" dirty="0"/>
              <a:t>Tools of Recombinant Technology cont’d</a:t>
            </a:r>
            <a:r>
              <a:rPr lang="en-US" sz="4800" dirty="0"/>
              <a:t/>
            </a:r>
            <a:br>
              <a:rPr lang="en-US" sz="4800" dirty="0"/>
            </a:br>
            <a:endParaRPr lang="en-US" sz="4800" dirty="0"/>
          </a:p>
        </p:txBody>
      </p:sp>
      <p:sp>
        <p:nvSpPr>
          <p:cNvPr id="3" name="Content Placeholder 2"/>
          <p:cNvSpPr>
            <a:spLocks noGrp="1"/>
          </p:cNvSpPr>
          <p:nvPr>
            <p:ph idx="1"/>
          </p:nvPr>
        </p:nvSpPr>
        <p:spPr>
          <a:xfrm>
            <a:off x="838200" y="1169894"/>
            <a:ext cx="10515600" cy="5007069"/>
          </a:xfrm>
        </p:spPr>
        <p:txBody>
          <a:bodyPr>
            <a:noAutofit/>
          </a:bodyPr>
          <a:lstStyle/>
          <a:p>
            <a:r>
              <a:rPr lang="en-US" sz="4000" dirty="0"/>
              <a:t>The DNA fragments are placed at the cathode end in the wells. When the electric field is activated, the negatively charged DNA fragments move towards the positively charged anode. The DNA fragments separate (resolve) according to size due to sieving effect of the </a:t>
            </a:r>
            <a:r>
              <a:rPr lang="en-US" sz="4000" dirty="0" err="1"/>
              <a:t>agarose</a:t>
            </a:r>
            <a:r>
              <a:rPr lang="en-US" sz="4000" dirty="0"/>
              <a:t> gel. The larger DNA fragments move slowly and the smaller fragments quickly towards the anode end. </a:t>
            </a:r>
          </a:p>
        </p:txBody>
      </p:sp>
    </p:spTree>
    <p:extLst>
      <p:ext uri="{BB962C8B-B14F-4D97-AF65-F5344CB8AC3E}">
        <p14:creationId xmlns:p14="http://schemas.microsoft.com/office/powerpoint/2010/main" val="2549474322"/>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153"/>
            <a:ext cx="10515600" cy="1169894"/>
          </a:xfrm>
        </p:spPr>
        <p:txBody>
          <a:bodyPr>
            <a:noAutofit/>
          </a:bodyPr>
          <a:lstStyle/>
          <a:p>
            <a:r>
              <a:rPr lang="en-US" sz="4800" b="1" dirty="0"/>
              <a:t/>
            </a:r>
            <a:br>
              <a:rPr lang="en-US" sz="4800" b="1" dirty="0"/>
            </a:br>
            <a:r>
              <a:rPr lang="en-US" sz="4800" b="1" dirty="0"/>
              <a:t>Tools of Recombinant Technology cont’d</a:t>
            </a:r>
            <a:r>
              <a:rPr lang="en-US" sz="4800" dirty="0"/>
              <a:t/>
            </a:r>
            <a:br>
              <a:rPr lang="en-US" sz="4800" dirty="0"/>
            </a:br>
            <a:endParaRPr lang="en-US" sz="4800" dirty="0"/>
          </a:p>
        </p:txBody>
      </p:sp>
      <p:sp>
        <p:nvSpPr>
          <p:cNvPr id="3" name="Content Placeholder 2"/>
          <p:cNvSpPr>
            <a:spLocks noGrp="1"/>
          </p:cNvSpPr>
          <p:nvPr>
            <p:ph idx="1"/>
          </p:nvPr>
        </p:nvSpPr>
        <p:spPr>
          <a:xfrm>
            <a:off x="838200" y="1532965"/>
            <a:ext cx="10515600" cy="4643998"/>
          </a:xfrm>
        </p:spPr>
        <p:txBody>
          <a:bodyPr>
            <a:normAutofit/>
          </a:bodyPr>
          <a:lstStyle/>
          <a:p>
            <a:r>
              <a:rPr lang="en-US" sz="4000" dirty="0"/>
              <a:t>The separated DNA fragments are stained with </a:t>
            </a:r>
            <a:r>
              <a:rPr lang="en-US" sz="4000" dirty="0" err="1"/>
              <a:t>ethidium</a:t>
            </a:r>
            <a:r>
              <a:rPr lang="en-US" sz="4000" dirty="0"/>
              <a:t> bromide and then exposed to UV radiation; bright orange-</a:t>
            </a:r>
            <a:r>
              <a:rPr lang="en-US" sz="4000" dirty="0" err="1"/>
              <a:t>coloured</a:t>
            </a:r>
            <a:r>
              <a:rPr lang="en-US" sz="4000" dirty="0"/>
              <a:t> bands of DNA fragments are seen. The separated DNA bands are cut out and extracted from the </a:t>
            </a:r>
            <a:r>
              <a:rPr lang="en-US" sz="4000" dirty="0" err="1"/>
              <a:t>agarose</a:t>
            </a:r>
            <a:r>
              <a:rPr lang="en-US" sz="4000" dirty="0"/>
              <a:t> gel. This step is called 'elution'. The purified DNA fragments are used in constructing recombinant DNAs by attaching them to the cloning vectors</a:t>
            </a:r>
          </a:p>
        </p:txBody>
      </p:sp>
    </p:spTree>
    <p:extLst>
      <p:ext uri="{BB962C8B-B14F-4D97-AF65-F5344CB8AC3E}">
        <p14:creationId xmlns:p14="http://schemas.microsoft.com/office/powerpoint/2010/main" val="1902769745"/>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707"/>
            <a:ext cx="10515600" cy="887505"/>
          </a:xfrm>
        </p:spPr>
        <p:txBody>
          <a:bodyPr>
            <a:noAutofit/>
          </a:bodyPr>
          <a:lstStyle/>
          <a:p>
            <a:pPr algn="ctr"/>
            <a:r>
              <a:rPr lang="en-US" sz="4800" b="1" dirty="0" smtClean="0"/>
              <a:t/>
            </a:r>
            <a:br>
              <a:rPr lang="en-US" sz="4800" b="1" dirty="0" smtClean="0"/>
            </a:br>
            <a:r>
              <a:rPr lang="en-US" sz="4800" b="1" dirty="0" smtClean="0"/>
              <a:t>Cloning </a:t>
            </a:r>
            <a:r>
              <a:rPr lang="en-US" sz="4800" b="1" dirty="0"/>
              <a:t>Vectors </a:t>
            </a:r>
            <a:r>
              <a:rPr lang="en-US" sz="4800" dirty="0"/>
              <a:t/>
            </a:r>
            <a:br>
              <a:rPr lang="en-US" sz="4800" dirty="0"/>
            </a:br>
            <a:endParaRPr lang="en-US" sz="4800" dirty="0"/>
          </a:p>
        </p:txBody>
      </p:sp>
      <p:sp>
        <p:nvSpPr>
          <p:cNvPr id="3" name="Content Placeholder 2"/>
          <p:cNvSpPr>
            <a:spLocks noGrp="1"/>
          </p:cNvSpPr>
          <p:nvPr>
            <p:ph idx="1"/>
          </p:nvPr>
        </p:nvSpPr>
        <p:spPr>
          <a:xfrm>
            <a:off x="838200" y="1183341"/>
            <a:ext cx="10515600" cy="4993622"/>
          </a:xfrm>
        </p:spPr>
        <p:txBody>
          <a:bodyPr>
            <a:normAutofit/>
          </a:bodyPr>
          <a:lstStyle/>
          <a:p>
            <a:r>
              <a:rPr lang="en-US" sz="4000" dirty="0" smtClean="0"/>
              <a:t>Cloning </a:t>
            </a:r>
            <a:r>
              <a:rPr lang="en-US" sz="4000" dirty="0"/>
              <a:t>vectors are the carriers or vehicles of desired DNA fragments (passenger DNA) which have the ability of independent DNA replication, to increase the number of desired genes, (e.g., </a:t>
            </a:r>
            <a:r>
              <a:rPr lang="en-US" sz="4000" dirty="0" err="1"/>
              <a:t>plasrnids</a:t>
            </a:r>
            <a:r>
              <a:rPr lang="en-US" sz="4000" dirty="0"/>
              <a:t>, bacteriophages). </a:t>
            </a:r>
            <a:br>
              <a:rPr lang="en-US" sz="4000" dirty="0"/>
            </a:br>
            <a:r>
              <a:rPr lang="en-US" sz="4000" dirty="0"/>
              <a:t>Plasmids and bacteriophages have the ability to replicate inside the bacterial cells, independent of any bacterial genomic DNA control</a:t>
            </a:r>
          </a:p>
        </p:txBody>
      </p:sp>
    </p:spTree>
    <p:extLst>
      <p:ext uri="{BB962C8B-B14F-4D97-AF65-F5344CB8AC3E}">
        <p14:creationId xmlns:p14="http://schemas.microsoft.com/office/powerpoint/2010/main" val="165720041"/>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5"/>
            <a:ext cx="10515600" cy="806822"/>
          </a:xfrm>
        </p:spPr>
        <p:txBody>
          <a:bodyPr>
            <a:normAutofit fontScale="90000"/>
          </a:bodyPr>
          <a:lstStyle/>
          <a:p>
            <a:pPr algn="ctr"/>
            <a:r>
              <a:rPr lang="en-US" sz="4800" b="1" dirty="0">
                <a:solidFill>
                  <a:prstClr val="black"/>
                </a:solidFill>
              </a:rPr>
              <a:t/>
            </a:r>
            <a:br>
              <a:rPr lang="en-US" sz="4800" b="1" dirty="0">
                <a:solidFill>
                  <a:prstClr val="black"/>
                </a:solidFill>
              </a:rPr>
            </a:br>
            <a:r>
              <a:rPr lang="en-US" sz="4800" b="1" dirty="0">
                <a:solidFill>
                  <a:prstClr val="black"/>
                </a:solidFill>
              </a:rPr>
              <a:t>Cloning Vectors </a:t>
            </a:r>
            <a:r>
              <a:rPr lang="en-US" sz="4800" dirty="0">
                <a:solidFill>
                  <a:prstClr val="black"/>
                </a:solidFill>
              </a:rPr>
              <a:t/>
            </a:r>
            <a:br>
              <a:rPr lang="en-US" sz="4800" dirty="0">
                <a:solidFill>
                  <a:prstClr val="black"/>
                </a:solidFill>
              </a:rPr>
            </a:br>
            <a:endParaRPr lang="en-US" dirty="0"/>
          </a:p>
        </p:txBody>
      </p:sp>
      <p:sp>
        <p:nvSpPr>
          <p:cNvPr id="3" name="Content Placeholder 2"/>
          <p:cNvSpPr>
            <a:spLocks noGrp="1"/>
          </p:cNvSpPr>
          <p:nvPr>
            <p:ph idx="1"/>
          </p:nvPr>
        </p:nvSpPr>
        <p:spPr>
          <a:xfrm>
            <a:off x="838200" y="1089212"/>
            <a:ext cx="10515600" cy="5674659"/>
          </a:xfrm>
        </p:spPr>
        <p:txBody>
          <a:bodyPr>
            <a:noAutofit/>
          </a:bodyPr>
          <a:lstStyle/>
          <a:p>
            <a:r>
              <a:rPr lang="en-US" sz="4000" dirty="0"/>
              <a:t>The bacteriophages are present in a very high number in the bacterial cell; therefore, their genomic copy number in these bacterial cells is very high. The number of plasmid in a bacterial cell is generally 1 or 2 but it may be 15 or 100 or even higher sometimes. When an alien piece of DNA is combined with the bacteriophage or plasmid DNA, the alien DNA multiplies its number equal to the copy number of the bacteriophage or </a:t>
            </a:r>
            <a:r>
              <a:rPr lang="en-US" sz="4000" dirty="0" smtClean="0"/>
              <a:t>plasmid.</a:t>
            </a:r>
            <a:endParaRPr lang="en-US" sz="4000" dirty="0"/>
          </a:p>
        </p:txBody>
      </p:sp>
    </p:spTree>
    <p:extLst>
      <p:ext uri="{BB962C8B-B14F-4D97-AF65-F5344CB8AC3E}">
        <p14:creationId xmlns:p14="http://schemas.microsoft.com/office/powerpoint/2010/main" val="1998327904"/>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259"/>
            <a:ext cx="10515600" cy="1438835"/>
          </a:xfrm>
        </p:spPr>
        <p:txBody>
          <a:bodyPr>
            <a:noAutofit/>
          </a:bodyPr>
          <a:lstStyle/>
          <a:p>
            <a:pPr algn="ctr"/>
            <a:r>
              <a:rPr lang="en-US" sz="4800" b="1" dirty="0"/>
              <a:t/>
            </a:r>
            <a:br>
              <a:rPr lang="en-US" sz="4800" b="1" dirty="0"/>
            </a:br>
            <a:r>
              <a:rPr lang="en-US" sz="4800" b="1" dirty="0"/>
              <a:t>Cloning Vectors </a:t>
            </a:r>
            <a:r>
              <a:rPr lang="en-US" sz="4800" dirty="0"/>
              <a:t/>
            </a:r>
            <a:br>
              <a:rPr lang="en-US" sz="4800" dirty="0"/>
            </a:br>
            <a:endParaRPr lang="en-US" sz="4800" dirty="0"/>
          </a:p>
        </p:txBody>
      </p:sp>
      <p:sp>
        <p:nvSpPr>
          <p:cNvPr id="3" name="Content Placeholder 2"/>
          <p:cNvSpPr>
            <a:spLocks noGrp="1"/>
          </p:cNvSpPr>
          <p:nvPr>
            <p:ph idx="1"/>
          </p:nvPr>
        </p:nvSpPr>
        <p:spPr>
          <a:xfrm>
            <a:off x="838200" y="1627094"/>
            <a:ext cx="10515600" cy="4549869"/>
          </a:xfrm>
        </p:spPr>
        <p:txBody>
          <a:bodyPr>
            <a:normAutofit/>
          </a:bodyPr>
          <a:lstStyle/>
          <a:p>
            <a:r>
              <a:rPr lang="en-US" sz="4000" dirty="0"/>
              <a:t>Cloning vectors are artificially designed and </a:t>
            </a:r>
            <a:r>
              <a:rPr lang="en-US" sz="4000" dirty="0" err="1"/>
              <a:t>synthesised</a:t>
            </a:r>
            <a:r>
              <a:rPr lang="en-US" sz="4000" dirty="0"/>
              <a:t> in such a way that they become easily linked with the alien DNA and selection of recombinants from </a:t>
            </a:r>
            <a:r>
              <a:rPr lang="en-US" sz="4000" dirty="0" err="1"/>
              <a:t>nonrecombinants</a:t>
            </a:r>
            <a:r>
              <a:rPr lang="en-US" sz="4000" dirty="0"/>
              <a:t>. </a:t>
            </a:r>
          </a:p>
        </p:txBody>
      </p:sp>
    </p:spTree>
    <p:extLst>
      <p:ext uri="{BB962C8B-B14F-4D97-AF65-F5344CB8AC3E}">
        <p14:creationId xmlns:p14="http://schemas.microsoft.com/office/powerpoint/2010/main" val="4277303646"/>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706"/>
            <a:ext cx="10515600" cy="927848"/>
          </a:xfrm>
        </p:spPr>
        <p:txBody>
          <a:bodyPr>
            <a:noAutofit/>
          </a:bodyPr>
          <a:lstStyle/>
          <a:p>
            <a:pPr algn="ctr"/>
            <a:r>
              <a:rPr lang="en-US" sz="4800" b="1" dirty="0" smtClean="0"/>
              <a:t/>
            </a:r>
            <a:br>
              <a:rPr lang="en-US" sz="4800" b="1" dirty="0" smtClean="0"/>
            </a:br>
            <a:r>
              <a:rPr lang="en-US" sz="4800" b="1" dirty="0" smtClean="0"/>
              <a:t>Features </a:t>
            </a:r>
            <a:r>
              <a:rPr lang="en-US" sz="4800" b="1" dirty="0"/>
              <a:t>in Cloning Vectors </a:t>
            </a:r>
            <a:r>
              <a:rPr lang="en-US" sz="4800" dirty="0"/>
              <a:t/>
            </a:r>
            <a:br>
              <a:rPr lang="en-US" sz="4800" dirty="0"/>
            </a:br>
            <a:endParaRPr lang="en-US" sz="4800" dirty="0"/>
          </a:p>
        </p:txBody>
      </p:sp>
      <p:sp>
        <p:nvSpPr>
          <p:cNvPr id="3" name="Content Placeholder 2"/>
          <p:cNvSpPr>
            <a:spLocks noGrp="1"/>
          </p:cNvSpPr>
          <p:nvPr>
            <p:ph idx="1"/>
          </p:nvPr>
        </p:nvSpPr>
        <p:spPr>
          <a:xfrm>
            <a:off x="838200" y="1277471"/>
            <a:ext cx="10515600" cy="4899492"/>
          </a:xfrm>
        </p:spPr>
        <p:txBody>
          <a:bodyPr>
            <a:normAutofit/>
          </a:bodyPr>
          <a:lstStyle/>
          <a:p>
            <a:r>
              <a:rPr lang="en-US" sz="4000" dirty="0" smtClean="0"/>
              <a:t>A </a:t>
            </a:r>
            <a:r>
              <a:rPr lang="en-US" sz="4000" dirty="0"/>
              <a:t>cloning vector must have the following features: </a:t>
            </a:r>
          </a:p>
          <a:p>
            <a:pPr lvl="0"/>
            <a:r>
              <a:rPr lang="en-US" sz="4000" dirty="0"/>
              <a:t>Origin of replication </a:t>
            </a:r>
            <a:r>
              <a:rPr lang="en-US" sz="4000" i="1" dirty="0"/>
              <a:t>(</a:t>
            </a:r>
            <a:r>
              <a:rPr lang="en-US" sz="4000" i="1" dirty="0" err="1"/>
              <a:t>ori</a:t>
            </a:r>
            <a:r>
              <a:rPr lang="en-US" sz="4000" i="1" dirty="0"/>
              <a:t>) </a:t>
            </a:r>
            <a:endParaRPr lang="en-US" sz="4000" dirty="0"/>
          </a:p>
          <a:p>
            <a:pPr lvl="0"/>
            <a:r>
              <a:rPr lang="en-US" sz="4000" dirty="0"/>
              <a:t>Selectable markers (for identifying recombinants from </a:t>
            </a:r>
            <a:r>
              <a:rPr lang="en-US" sz="4000" dirty="0" err="1"/>
              <a:t>nonrecombinants</a:t>
            </a:r>
            <a:r>
              <a:rPr lang="en-US" sz="4000" dirty="0"/>
              <a:t>) </a:t>
            </a:r>
          </a:p>
          <a:p>
            <a:pPr lvl="0"/>
            <a:r>
              <a:rPr lang="en-US" sz="4000" dirty="0"/>
              <a:t>A single recognition site for cloning </a:t>
            </a:r>
          </a:p>
          <a:p>
            <a:pPr marL="0" indent="0">
              <a:buNone/>
            </a:pPr>
            <a:endParaRPr lang="en-US" sz="4000" dirty="0"/>
          </a:p>
        </p:txBody>
      </p:sp>
    </p:spTree>
    <p:extLst>
      <p:ext uri="{BB962C8B-B14F-4D97-AF65-F5344CB8AC3E}">
        <p14:creationId xmlns:p14="http://schemas.microsoft.com/office/powerpoint/2010/main" val="2254293899"/>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388"/>
            <a:ext cx="10515600" cy="833718"/>
          </a:xfrm>
        </p:spPr>
        <p:txBody>
          <a:bodyPr>
            <a:normAutofit/>
          </a:bodyPr>
          <a:lstStyle/>
          <a:p>
            <a:pPr algn="ctr"/>
            <a:r>
              <a:rPr lang="en-US" b="1" dirty="0"/>
              <a:t>Types of Cloning Vectors</a:t>
            </a:r>
            <a:endParaRPr lang="en-US" dirty="0"/>
          </a:p>
        </p:txBody>
      </p:sp>
      <p:sp>
        <p:nvSpPr>
          <p:cNvPr id="3" name="Content Placeholder 2"/>
          <p:cNvSpPr>
            <a:spLocks noGrp="1"/>
          </p:cNvSpPr>
          <p:nvPr>
            <p:ph idx="1"/>
          </p:nvPr>
        </p:nvSpPr>
        <p:spPr>
          <a:xfrm>
            <a:off x="838200" y="1290918"/>
            <a:ext cx="10515600" cy="4886045"/>
          </a:xfrm>
        </p:spPr>
        <p:txBody>
          <a:bodyPr>
            <a:noAutofit/>
          </a:bodyPr>
          <a:lstStyle/>
          <a:p>
            <a:r>
              <a:rPr lang="en-US" sz="4000" dirty="0" smtClean="0"/>
              <a:t>Cloning </a:t>
            </a:r>
            <a:r>
              <a:rPr lang="en-US" sz="4000" dirty="0"/>
              <a:t>vectors are of the following four types: </a:t>
            </a:r>
          </a:p>
          <a:p>
            <a:pPr lvl="0"/>
            <a:r>
              <a:rPr lang="en-US" sz="4000" dirty="0"/>
              <a:t>Plasmids </a:t>
            </a:r>
          </a:p>
          <a:p>
            <a:pPr lvl="0"/>
            <a:r>
              <a:rPr lang="en-US" sz="4000" dirty="0"/>
              <a:t>Viruses </a:t>
            </a:r>
          </a:p>
          <a:p>
            <a:pPr lvl="0"/>
            <a:r>
              <a:rPr lang="en-US" sz="4000" dirty="0" err="1"/>
              <a:t>Cosmids</a:t>
            </a:r>
            <a:r>
              <a:rPr lang="en-US" sz="4000" dirty="0"/>
              <a:t> </a:t>
            </a:r>
          </a:p>
          <a:p>
            <a:pPr lvl="0"/>
            <a:r>
              <a:rPr lang="en-US" sz="4000" dirty="0"/>
              <a:t>Artificial chromosomes </a:t>
            </a:r>
          </a:p>
          <a:p>
            <a:r>
              <a:rPr lang="en-US" sz="4000" dirty="0"/>
              <a:t>Plasmid vectors for plants are different from others</a:t>
            </a:r>
          </a:p>
        </p:txBody>
      </p:sp>
    </p:spTree>
    <p:extLst>
      <p:ext uri="{BB962C8B-B14F-4D97-AF65-F5344CB8AC3E}">
        <p14:creationId xmlns:p14="http://schemas.microsoft.com/office/powerpoint/2010/main" val="598886648"/>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5"/>
            <a:ext cx="10515600" cy="941294"/>
          </a:xfrm>
        </p:spPr>
        <p:txBody>
          <a:bodyPr/>
          <a:lstStyle/>
          <a:p>
            <a:pPr algn="ctr"/>
            <a:r>
              <a:rPr lang="en-US" b="1" dirty="0"/>
              <a:t>Types of Cloning </a:t>
            </a:r>
            <a:r>
              <a:rPr lang="en-US" b="1" dirty="0" smtClean="0"/>
              <a:t>Vectors cont’d</a:t>
            </a:r>
            <a:endParaRPr lang="en-US" dirty="0"/>
          </a:p>
        </p:txBody>
      </p:sp>
      <p:sp>
        <p:nvSpPr>
          <p:cNvPr id="3" name="Content Placeholder 2"/>
          <p:cNvSpPr>
            <a:spLocks noGrp="1"/>
          </p:cNvSpPr>
          <p:nvPr>
            <p:ph idx="1"/>
          </p:nvPr>
        </p:nvSpPr>
        <p:spPr>
          <a:xfrm>
            <a:off x="838200" y="1290918"/>
            <a:ext cx="10515600" cy="4886045"/>
          </a:xfrm>
        </p:spPr>
        <p:txBody>
          <a:bodyPr>
            <a:normAutofit/>
          </a:bodyPr>
          <a:lstStyle/>
          <a:p>
            <a:pPr lvl="0"/>
            <a:r>
              <a:rPr lang="en-US" sz="4000" dirty="0"/>
              <a:t>The best-known and commercially available vectors are pBR-322 and pUC-18. Both of these plasmids are modified natural </a:t>
            </a:r>
            <a:r>
              <a:rPr lang="en-US" sz="4000" dirty="0" err="1"/>
              <a:t>plasm</a:t>
            </a:r>
            <a:r>
              <a:rPr lang="en-US" sz="4000" dirty="0"/>
              <a:t> ids of </a:t>
            </a:r>
            <a:r>
              <a:rPr lang="en-US" sz="4000" i="1" dirty="0"/>
              <a:t>E. coli. </a:t>
            </a:r>
            <a:r>
              <a:rPr lang="en-US" sz="4000" dirty="0"/>
              <a:t>The </a:t>
            </a:r>
            <a:r>
              <a:rPr lang="en-US" sz="4000" dirty="0" err="1"/>
              <a:t>pUC</a:t>
            </a:r>
            <a:r>
              <a:rPr lang="en-US" sz="4000" dirty="0"/>
              <a:t> series of plasmid vectors are named so because they were initially developed in the University of California. The plasmid </a:t>
            </a:r>
            <a:r>
              <a:rPr lang="en-US" sz="4000" dirty="0" err="1"/>
              <a:t>pUC</a:t>
            </a:r>
            <a:r>
              <a:rPr lang="en-US" sz="4000" dirty="0"/>
              <a:t> are derived from pBR-322. The plasmids are about 2,700 </a:t>
            </a:r>
            <a:r>
              <a:rPr lang="en-US" sz="4000" dirty="0" err="1"/>
              <a:t>bp</a:t>
            </a:r>
            <a:r>
              <a:rPr lang="en-US" sz="4000" dirty="0"/>
              <a:t> (base pair) long. </a:t>
            </a:r>
          </a:p>
          <a:p>
            <a:endParaRPr lang="en-US" sz="4000" dirty="0"/>
          </a:p>
        </p:txBody>
      </p:sp>
    </p:spTree>
    <p:extLst>
      <p:ext uri="{BB962C8B-B14F-4D97-AF65-F5344CB8AC3E}">
        <p14:creationId xmlns:p14="http://schemas.microsoft.com/office/powerpoint/2010/main" val="1331716182"/>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1196788"/>
          </a:xfrm>
        </p:spPr>
        <p:txBody>
          <a:bodyPr>
            <a:normAutofit fontScale="90000"/>
          </a:bodyPr>
          <a:lstStyle/>
          <a:p>
            <a:pPr algn="ctr"/>
            <a:r>
              <a:rPr lang="en-US" b="1" dirty="0" smtClean="0"/>
              <a:t/>
            </a:r>
            <a:br>
              <a:rPr lang="en-US" b="1" dirty="0" smtClean="0"/>
            </a:br>
            <a:r>
              <a:rPr lang="en-US" b="1" dirty="0" smtClean="0"/>
              <a:t>Amplification </a:t>
            </a:r>
            <a:r>
              <a:rPr lang="en-US" b="1" dirty="0"/>
              <a:t>of </a:t>
            </a:r>
            <a:r>
              <a:rPr lang="en-US" b="1" dirty="0" smtClean="0"/>
              <a:t>Gene </a:t>
            </a:r>
            <a:r>
              <a:rPr lang="en-US" b="1" dirty="0"/>
              <a:t>of Interest using PCR (Polymerase Chain Reaction) </a:t>
            </a:r>
            <a:r>
              <a:rPr lang="en-US" dirty="0"/>
              <a:t/>
            </a:r>
            <a:br>
              <a:rPr lang="en-US" dirty="0"/>
            </a:br>
            <a:endParaRPr lang="en-US" dirty="0"/>
          </a:p>
        </p:txBody>
      </p:sp>
      <p:sp>
        <p:nvSpPr>
          <p:cNvPr id="3" name="Content Placeholder 2"/>
          <p:cNvSpPr>
            <a:spLocks noGrp="1"/>
          </p:cNvSpPr>
          <p:nvPr>
            <p:ph idx="1"/>
          </p:nvPr>
        </p:nvSpPr>
        <p:spPr>
          <a:xfrm>
            <a:off x="838200" y="1331259"/>
            <a:ext cx="10515600" cy="4845704"/>
          </a:xfrm>
        </p:spPr>
        <p:txBody>
          <a:bodyPr>
            <a:normAutofit/>
          </a:bodyPr>
          <a:lstStyle/>
          <a:p>
            <a:r>
              <a:rPr lang="en-US" sz="4000" dirty="0" smtClean="0"/>
              <a:t>Mullis </a:t>
            </a:r>
            <a:r>
              <a:rPr lang="en-US" sz="4000" dirty="0"/>
              <a:t>(1985) developed the technique of Polymerase Chain Reaction (PCR). PCR is the </a:t>
            </a:r>
            <a:r>
              <a:rPr lang="en-US" sz="4000" dirty="0" err="1"/>
              <a:t>invitro</a:t>
            </a:r>
            <a:r>
              <a:rPr lang="en-US" sz="4000" dirty="0"/>
              <a:t> synthesis of multiple copies of a gene or desired DNA segment. In PCR, two sets of small, chemically </a:t>
            </a:r>
            <a:r>
              <a:rPr lang="en-US" sz="4000" dirty="0" err="1"/>
              <a:t>synthesised</a:t>
            </a:r>
            <a:r>
              <a:rPr lang="en-US" sz="4000" dirty="0"/>
              <a:t> oligonucleotide primers, which are complimentary to the DNA part and a thermo-stable DNA polymerase (</a:t>
            </a:r>
            <a:r>
              <a:rPr lang="en-US" sz="4000" dirty="0" err="1"/>
              <a:t>Taq</a:t>
            </a:r>
            <a:r>
              <a:rPr lang="en-US" sz="4000" dirty="0"/>
              <a:t> polymerase), are </a:t>
            </a:r>
            <a:r>
              <a:rPr lang="en-US" sz="4000" dirty="0" smtClean="0"/>
              <a:t>required.</a:t>
            </a:r>
            <a:endParaRPr lang="en-US" sz="4000" dirty="0"/>
          </a:p>
        </p:txBody>
      </p:sp>
    </p:spTree>
    <p:extLst>
      <p:ext uri="{BB962C8B-B14F-4D97-AF65-F5344CB8AC3E}">
        <p14:creationId xmlns:p14="http://schemas.microsoft.com/office/powerpoint/2010/main" val="2881185982"/>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5600" cy="1358152"/>
          </a:xfrm>
        </p:spPr>
        <p:txBody>
          <a:bodyPr>
            <a:noAutofit/>
          </a:bodyPr>
          <a:lstStyle/>
          <a:p>
            <a:pPr algn="ctr"/>
            <a:r>
              <a:rPr lang="en-US" b="1" dirty="0">
                <a:solidFill>
                  <a:prstClr val="black"/>
                </a:solidFill>
              </a:rPr>
              <a:t/>
            </a:r>
            <a:br>
              <a:rPr lang="en-US" b="1" dirty="0">
                <a:solidFill>
                  <a:prstClr val="black"/>
                </a:solidFill>
              </a:rPr>
            </a:br>
            <a:r>
              <a:rPr lang="en-US" b="1" dirty="0" err="1">
                <a:solidFill>
                  <a:prstClr val="black"/>
                </a:solidFill>
              </a:rPr>
              <a:t>Amplincation</a:t>
            </a:r>
            <a:r>
              <a:rPr lang="en-US" b="1" dirty="0">
                <a:solidFill>
                  <a:prstClr val="black"/>
                </a:solidFill>
              </a:rPr>
              <a:t> of Gene of Interest using PCR (Polymerase Chain Reaction) </a:t>
            </a:r>
            <a:r>
              <a:rPr lang="en-US" dirty="0">
                <a:solidFill>
                  <a:prstClr val="black"/>
                </a:solidFill>
              </a:rPr>
              <a:t/>
            </a:r>
            <a:br>
              <a:rPr lang="en-US" dirty="0">
                <a:solidFill>
                  <a:prstClr val="black"/>
                </a:solidFill>
              </a:rPr>
            </a:br>
            <a:endParaRPr lang="en-US" dirty="0"/>
          </a:p>
        </p:txBody>
      </p:sp>
      <p:sp>
        <p:nvSpPr>
          <p:cNvPr id="3" name="Content Placeholder 2"/>
          <p:cNvSpPr>
            <a:spLocks noGrp="1"/>
          </p:cNvSpPr>
          <p:nvPr>
            <p:ph idx="1"/>
          </p:nvPr>
        </p:nvSpPr>
        <p:spPr>
          <a:xfrm>
            <a:off x="838200" y="1586753"/>
            <a:ext cx="10515600" cy="4590210"/>
          </a:xfrm>
        </p:spPr>
        <p:txBody>
          <a:bodyPr>
            <a:noAutofit/>
          </a:bodyPr>
          <a:lstStyle/>
          <a:p>
            <a:r>
              <a:rPr lang="en-US" sz="4000" i="1" dirty="0" err="1"/>
              <a:t>Taq</a:t>
            </a:r>
            <a:r>
              <a:rPr lang="en-US" sz="4000" i="1" dirty="0"/>
              <a:t> polymerase </a:t>
            </a:r>
            <a:r>
              <a:rPr lang="en-US" sz="4000" dirty="0"/>
              <a:t>is obtained from the hot spring bacterium </a:t>
            </a:r>
            <a:r>
              <a:rPr lang="en-US" sz="4000" i="1" dirty="0" err="1"/>
              <a:t>Thermus</a:t>
            </a:r>
            <a:r>
              <a:rPr lang="en-US" sz="4000" i="1" dirty="0"/>
              <a:t> </a:t>
            </a:r>
            <a:r>
              <a:rPr lang="en-US" sz="4000" i="1" dirty="0" err="1"/>
              <a:t>aquaticus</a:t>
            </a:r>
            <a:r>
              <a:rPr lang="en-US" sz="4000" i="1" dirty="0"/>
              <a:t>. </a:t>
            </a:r>
            <a:r>
              <a:rPr lang="en-US" sz="4000" dirty="0" smtClean="0"/>
              <a:t>PC</a:t>
            </a:r>
            <a:r>
              <a:rPr lang="en-US" sz="4000" dirty="0" smtClean="0"/>
              <a:t>R </a:t>
            </a:r>
            <a:r>
              <a:rPr lang="en-US" sz="4000" dirty="0"/>
              <a:t>has the following three steps: </a:t>
            </a:r>
          </a:p>
          <a:p>
            <a:pPr marL="0" indent="0">
              <a:buNone/>
            </a:pPr>
            <a:r>
              <a:rPr lang="en-US" sz="4000" dirty="0"/>
              <a:t>1</a:t>
            </a:r>
            <a:r>
              <a:rPr lang="en-US" sz="4000" dirty="0" smtClean="0"/>
              <a:t>. </a:t>
            </a:r>
            <a:r>
              <a:rPr lang="en-US" sz="4000" dirty="0"/>
              <a:t>Denaturation </a:t>
            </a:r>
          </a:p>
          <a:p>
            <a:pPr marL="0" lvl="0" indent="0">
              <a:buNone/>
            </a:pPr>
            <a:r>
              <a:rPr lang="en-US" sz="4000" dirty="0" smtClean="0"/>
              <a:t>2. Annealing </a:t>
            </a:r>
            <a:endParaRPr lang="en-US" sz="4000" dirty="0"/>
          </a:p>
          <a:p>
            <a:pPr marL="0" lvl="0" indent="0">
              <a:buNone/>
            </a:pPr>
            <a:r>
              <a:rPr lang="en-US" sz="4000" dirty="0" smtClean="0"/>
              <a:t>3. Extension </a:t>
            </a:r>
            <a:endParaRPr lang="en-US" sz="4000" dirty="0"/>
          </a:p>
          <a:p>
            <a:pPr marL="0" indent="0">
              <a:buNone/>
            </a:pPr>
            <a:endParaRPr lang="en-US" sz="4000" dirty="0"/>
          </a:p>
        </p:txBody>
      </p:sp>
    </p:spTree>
    <p:extLst>
      <p:ext uri="{BB962C8B-B14F-4D97-AF65-F5344CB8AC3E}">
        <p14:creationId xmlns:p14="http://schemas.microsoft.com/office/powerpoint/2010/main" val="1537527703"/>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1344706"/>
          </a:xfrm>
        </p:spPr>
        <p:txBody>
          <a:bodyPr>
            <a:noAutofit/>
          </a:bodyPr>
          <a:lstStyle/>
          <a:p>
            <a:pPr algn="ctr"/>
            <a:r>
              <a:rPr lang="en-US" b="1" dirty="0"/>
              <a:t/>
            </a:r>
            <a:br>
              <a:rPr lang="en-US" b="1" dirty="0"/>
            </a:br>
            <a:r>
              <a:rPr lang="en-US" b="1" dirty="0" err="1"/>
              <a:t>Amplincation</a:t>
            </a:r>
            <a:r>
              <a:rPr lang="en-US" b="1" dirty="0"/>
              <a:t> of Gene of Interest using PCR (Polymerase Chain Reaction) </a:t>
            </a:r>
            <a:r>
              <a:rPr lang="en-US" b="1" dirty="0" smtClean="0"/>
              <a:t>cont’d</a:t>
            </a:r>
            <a:r>
              <a:rPr lang="en-US" dirty="0"/>
              <a:t/>
            </a:r>
            <a:br>
              <a:rPr lang="en-US" dirty="0"/>
            </a:br>
            <a:endParaRPr lang="en-US" dirty="0"/>
          </a:p>
        </p:txBody>
      </p:sp>
      <p:sp>
        <p:nvSpPr>
          <p:cNvPr id="3" name="Content Placeholder 2"/>
          <p:cNvSpPr>
            <a:spLocks noGrp="1"/>
          </p:cNvSpPr>
          <p:nvPr>
            <p:ph idx="1"/>
          </p:nvPr>
        </p:nvSpPr>
        <p:spPr>
          <a:xfrm>
            <a:off x="838200" y="1909482"/>
            <a:ext cx="10515600" cy="4267481"/>
          </a:xfrm>
        </p:spPr>
        <p:txBody>
          <a:bodyPr>
            <a:normAutofit/>
          </a:bodyPr>
          <a:lstStyle/>
          <a:p>
            <a:pPr marL="0" lvl="0" indent="0">
              <a:buNone/>
            </a:pPr>
            <a:r>
              <a:rPr lang="en-US" sz="4000" b="1" dirty="0" smtClean="0"/>
              <a:t>1. Denaturation </a:t>
            </a:r>
            <a:r>
              <a:rPr lang="en-US" sz="4000" dirty="0"/>
              <a:t>- The target DNA double helix is heated at about 94°C, which causes separation of the two polynucleotide chains of the DNA double helix. The separated DNA helices act as templates. </a:t>
            </a:r>
          </a:p>
          <a:p>
            <a:endParaRPr lang="en-US" sz="4000" dirty="0"/>
          </a:p>
        </p:txBody>
      </p:sp>
    </p:spTree>
    <p:extLst>
      <p:ext uri="{BB962C8B-B14F-4D97-AF65-F5344CB8AC3E}">
        <p14:creationId xmlns:p14="http://schemas.microsoft.com/office/powerpoint/2010/main" val="2534865107"/>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b="1" dirty="0"/>
              <a:t/>
            </a:r>
            <a:br>
              <a:rPr lang="en-US" b="1" dirty="0"/>
            </a:br>
            <a:r>
              <a:rPr lang="en-US" b="1" dirty="0" err="1"/>
              <a:t>Amplincation</a:t>
            </a:r>
            <a:r>
              <a:rPr lang="en-US" b="1" dirty="0"/>
              <a:t> of Gene of Interest using PCR (Polymerase Chain Reaction) </a:t>
            </a:r>
            <a:r>
              <a:rPr lang="en-US" b="1" dirty="0" smtClean="0"/>
              <a:t>cont’d</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marL="0" lvl="0" indent="0">
              <a:buNone/>
            </a:pPr>
            <a:r>
              <a:rPr lang="en-US" sz="4000" b="1" dirty="0" smtClean="0"/>
              <a:t>2. Annealing </a:t>
            </a:r>
            <a:r>
              <a:rPr lang="en-US" sz="4000" dirty="0"/>
              <a:t>- The pairing or </a:t>
            </a:r>
            <a:r>
              <a:rPr lang="en-US" sz="4000" dirty="0" err="1"/>
              <a:t>hybridisation</a:t>
            </a:r>
            <a:r>
              <a:rPr lang="en-US" sz="4000" dirty="0"/>
              <a:t> of oligonucleotide primers with each of the single-stranded DNA templates at its 3' end is called annealing. Annealing is done at low temperatures (at </a:t>
            </a:r>
            <a:r>
              <a:rPr lang="en-US" sz="4000" i="1" dirty="0" err="1"/>
              <a:t>n°C</a:t>
            </a:r>
            <a:r>
              <a:rPr lang="en-US" sz="4000" i="1" dirty="0"/>
              <a:t>) </a:t>
            </a:r>
            <a:r>
              <a:rPr lang="en-US" sz="4000" dirty="0"/>
              <a:t>with the addition of </a:t>
            </a:r>
            <a:r>
              <a:rPr lang="en-US" sz="4000" i="1" dirty="0" err="1"/>
              <a:t>Taq</a:t>
            </a:r>
            <a:r>
              <a:rPr lang="en-US" sz="4000" i="1" dirty="0"/>
              <a:t> polymerase, </a:t>
            </a:r>
            <a:r>
              <a:rPr lang="en-US" sz="4000" dirty="0" err="1"/>
              <a:t>deoxynucleoside</a:t>
            </a:r>
            <a:r>
              <a:rPr lang="en-US" sz="4000" dirty="0"/>
              <a:t> triphosphates and Mg++ ions. </a:t>
            </a:r>
          </a:p>
          <a:p>
            <a:endParaRPr lang="en-US" sz="4000" dirty="0"/>
          </a:p>
        </p:txBody>
      </p:sp>
    </p:spTree>
    <p:extLst>
      <p:ext uri="{BB962C8B-B14F-4D97-AF65-F5344CB8AC3E}">
        <p14:creationId xmlns:p14="http://schemas.microsoft.com/office/powerpoint/2010/main" val="3528818609"/>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2047"/>
            <a:ext cx="10515600" cy="1264024"/>
          </a:xfrm>
        </p:spPr>
        <p:txBody>
          <a:bodyPr>
            <a:noAutofit/>
          </a:bodyPr>
          <a:lstStyle/>
          <a:p>
            <a:pPr algn="ctr"/>
            <a:r>
              <a:rPr lang="en-US" b="1" dirty="0"/>
              <a:t/>
            </a:r>
            <a:br>
              <a:rPr lang="en-US" b="1" dirty="0"/>
            </a:br>
            <a:r>
              <a:rPr lang="en-US" b="1" dirty="0" err="1"/>
              <a:t>Amplincation</a:t>
            </a:r>
            <a:r>
              <a:rPr lang="en-US" b="1" dirty="0"/>
              <a:t> of Gene of Interest using PCR (Polymerase Chain Reaction) cont’d</a:t>
            </a:r>
            <a:r>
              <a:rPr lang="en-US" dirty="0"/>
              <a:t/>
            </a:r>
            <a:br>
              <a:rPr lang="en-US" dirty="0"/>
            </a:br>
            <a:endParaRPr lang="en-US" dirty="0"/>
          </a:p>
        </p:txBody>
      </p:sp>
      <p:sp>
        <p:nvSpPr>
          <p:cNvPr id="3" name="Content Placeholder 2"/>
          <p:cNvSpPr>
            <a:spLocks noGrp="1"/>
          </p:cNvSpPr>
          <p:nvPr>
            <p:ph idx="1"/>
          </p:nvPr>
        </p:nvSpPr>
        <p:spPr>
          <a:xfrm>
            <a:off x="838200" y="1721224"/>
            <a:ext cx="10515600" cy="4455739"/>
          </a:xfrm>
        </p:spPr>
        <p:txBody>
          <a:bodyPr>
            <a:normAutofit/>
          </a:bodyPr>
          <a:lstStyle/>
          <a:p>
            <a:pPr marL="0" lvl="0" indent="0">
              <a:buNone/>
            </a:pPr>
            <a:r>
              <a:rPr lang="en-US" sz="4000" b="1" dirty="0" smtClean="0"/>
              <a:t>3. Extension</a:t>
            </a:r>
            <a:r>
              <a:rPr lang="en-US" sz="4000" dirty="0" smtClean="0"/>
              <a:t> </a:t>
            </a:r>
            <a:r>
              <a:rPr lang="en-US" sz="4000" dirty="0"/>
              <a:t>- The synthesis of new DNA polynucleotide chains, complementary to the template DNA strands, with the help of </a:t>
            </a:r>
            <a:r>
              <a:rPr lang="en-US" sz="4000" i="1" dirty="0" err="1"/>
              <a:t>Taq</a:t>
            </a:r>
            <a:r>
              <a:rPr lang="en-US" sz="4000" i="1" dirty="0"/>
              <a:t> polymerase </a:t>
            </a:r>
            <a:r>
              <a:rPr lang="en-US" sz="4000" dirty="0"/>
              <a:t>is called extension. This process is repeated and after every time the amount of DNA is doubled. The amplified DNA segment is ligated with the vector to form recombinant DNA (</a:t>
            </a:r>
            <a:r>
              <a:rPr lang="en-US" sz="4000" dirty="0" err="1"/>
              <a:t>rDNA</a:t>
            </a:r>
            <a:r>
              <a:rPr lang="en-US" sz="4000" dirty="0"/>
              <a:t>). </a:t>
            </a:r>
          </a:p>
          <a:p>
            <a:endParaRPr lang="en-US" sz="4000" dirty="0"/>
          </a:p>
        </p:txBody>
      </p:sp>
    </p:spTree>
    <p:extLst>
      <p:ext uri="{BB962C8B-B14F-4D97-AF65-F5344CB8AC3E}">
        <p14:creationId xmlns:p14="http://schemas.microsoft.com/office/powerpoint/2010/main" val="831751121"/>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259"/>
            <a:ext cx="10515600" cy="981635"/>
          </a:xfrm>
        </p:spPr>
        <p:txBody>
          <a:bodyPr/>
          <a:lstStyle/>
          <a:p>
            <a:pPr algn="ctr"/>
            <a:r>
              <a:rPr lang="en-US" b="1" dirty="0"/>
              <a:t>Bioreactors</a:t>
            </a:r>
            <a:endParaRPr lang="en-US" dirty="0"/>
          </a:p>
        </p:txBody>
      </p:sp>
      <p:sp>
        <p:nvSpPr>
          <p:cNvPr id="3" name="Content Placeholder 2"/>
          <p:cNvSpPr>
            <a:spLocks noGrp="1"/>
          </p:cNvSpPr>
          <p:nvPr>
            <p:ph idx="1"/>
          </p:nvPr>
        </p:nvSpPr>
        <p:spPr>
          <a:xfrm>
            <a:off x="838200" y="1317812"/>
            <a:ext cx="10515600" cy="4859151"/>
          </a:xfrm>
        </p:spPr>
        <p:txBody>
          <a:bodyPr>
            <a:normAutofit/>
          </a:bodyPr>
          <a:lstStyle/>
          <a:p>
            <a:r>
              <a:rPr lang="en-US" sz="4000" b="1" dirty="0" smtClean="0"/>
              <a:t> </a:t>
            </a:r>
            <a:r>
              <a:rPr lang="en-US" sz="4000" dirty="0" smtClean="0"/>
              <a:t>Bioreactors </a:t>
            </a:r>
            <a:r>
              <a:rPr lang="en-US" sz="4000" dirty="0"/>
              <a:t>are large cylindrical metal containers, of 100 to 1,000 </a:t>
            </a:r>
            <a:r>
              <a:rPr lang="en-US" sz="4000" dirty="0" err="1"/>
              <a:t>litres</a:t>
            </a:r>
            <a:r>
              <a:rPr lang="en-US" sz="4000" dirty="0"/>
              <a:t> capacity, with a curved base for better mixing of contents. In bioreactors, the raw materials are biologically converted into specific products, individual enzymes, etc., using microbial plant, animal and human </a:t>
            </a:r>
            <a:r>
              <a:rPr lang="en-US" sz="4000" dirty="0" smtClean="0"/>
              <a:t>cells.</a:t>
            </a:r>
            <a:endParaRPr lang="en-US" sz="4000" dirty="0"/>
          </a:p>
        </p:txBody>
      </p:sp>
    </p:spTree>
    <p:extLst>
      <p:ext uri="{BB962C8B-B14F-4D97-AF65-F5344CB8AC3E}">
        <p14:creationId xmlns:p14="http://schemas.microsoft.com/office/powerpoint/2010/main" val="916659570"/>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1663"/>
          </a:xfrm>
        </p:spPr>
        <p:txBody>
          <a:bodyPr/>
          <a:lstStyle/>
          <a:p>
            <a:pPr algn="ctr"/>
            <a:r>
              <a:rPr lang="en-US" b="1" dirty="0" smtClean="0"/>
              <a:t>Bioreactors cont’d</a:t>
            </a:r>
            <a:endParaRPr lang="en-US" dirty="0"/>
          </a:p>
        </p:txBody>
      </p:sp>
      <p:sp>
        <p:nvSpPr>
          <p:cNvPr id="3" name="Content Placeholder 2"/>
          <p:cNvSpPr>
            <a:spLocks noGrp="1"/>
          </p:cNvSpPr>
          <p:nvPr>
            <p:ph idx="1"/>
          </p:nvPr>
        </p:nvSpPr>
        <p:spPr>
          <a:xfrm>
            <a:off x="838200" y="1358153"/>
            <a:ext cx="10515600" cy="4818810"/>
          </a:xfrm>
        </p:spPr>
        <p:txBody>
          <a:bodyPr>
            <a:normAutofit/>
          </a:bodyPr>
          <a:lstStyle/>
          <a:p>
            <a:r>
              <a:rPr lang="en-US" sz="4000" dirty="0"/>
              <a:t>In bioreactors, the optimum growth and development conditions (temperature, pH, substrate concentration, salts, vitamins, water content and </a:t>
            </a:r>
            <a:r>
              <a:rPr lang="en-US" sz="4000" dirty="0" smtClean="0"/>
              <a:t>oxygen</a:t>
            </a:r>
            <a:r>
              <a:rPr lang="en-US" sz="4000" dirty="0"/>
              <a:t>) are provided to obtain the desired product. </a:t>
            </a:r>
          </a:p>
        </p:txBody>
      </p:sp>
    </p:spTree>
    <p:extLst>
      <p:ext uri="{BB962C8B-B14F-4D97-AF65-F5344CB8AC3E}">
        <p14:creationId xmlns:p14="http://schemas.microsoft.com/office/powerpoint/2010/main" val="1110882629"/>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707"/>
            <a:ext cx="10515600" cy="1102658"/>
          </a:xfrm>
        </p:spPr>
        <p:txBody>
          <a:bodyPr>
            <a:noAutofit/>
          </a:bodyPr>
          <a:lstStyle/>
          <a:p>
            <a:pPr algn="ctr"/>
            <a:r>
              <a:rPr lang="en-US" sz="4800" b="1" dirty="0" smtClean="0"/>
              <a:t/>
            </a:r>
            <a:br>
              <a:rPr lang="en-US" sz="4800" b="1" dirty="0" smtClean="0"/>
            </a:br>
            <a:r>
              <a:rPr lang="en-US" sz="4800" b="1" dirty="0" smtClean="0"/>
              <a:t>Downstream </a:t>
            </a:r>
            <a:r>
              <a:rPr lang="en-US" sz="4800" b="1" dirty="0"/>
              <a:t>Processing </a:t>
            </a:r>
            <a:r>
              <a:rPr lang="en-US" sz="4800" dirty="0"/>
              <a:t/>
            </a:r>
            <a:br>
              <a:rPr lang="en-US" sz="4800" dirty="0"/>
            </a:br>
            <a:endParaRPr lang="en-US" sz="4800" dirty="0"/>
          </a:p>
        </p:txBody>
      </p:sp>
      <p:sp>
        <p:nvSpPr>
          <p:cNvPr id="3" name="Content Placeholder 2"/>
          <p:cNvSpPr>
            <a:spLocks noGrp="1"/>
          </p:cNvSpPr>
          <p:nvPr>
            <p:ph idx="1"/>
          </p:nvPr>
        </p:nvSpPr>
        <p:spPr>
          <a:xfrm>
            <a:off x="838200" y="1304365"/>
            <a:ext cx="10515600" cy="4872598"/>
          </a:xfrm>
        </p:spPr>
        <p:txBody>
          <a:bodyPr>
            <a:noAutofit/>
          </a:bodyPr>
          <a:lstStyle/>
          <a:p>
            <a:r>
              <a:rPr lang="en-US" sz="4000" dirty="0" smtClean="0"/>
              <a:t>The </a:t>
            </a:r>
            <a:r>
              <a:rPr lang="en-US" sz="4000" dirty="0"/>
              <a:t>process of separation and purification of useful product from the fully grown genetically modified cells is called downstream processing. The product is formulated with suitable preservatives. The formulation undergoes clinical trials to know its uses and any immediate or long-term adverse effect like drugs. The formulated product also undergoes strict quality control testing. </a:t>
            </a:r>
          </a:p>
          <a:p>
            <a:endParaRPr lang="en-US" sz="4000" dirty="0"/>
          </a:p>
        </p:txBody>
      </p:sp>
    </p:spTree>
    <p:extLst>
      <p:ext uri="{BB962C8B-B14F-4D97-AF65-F5344CB8AC3E}">
        <p14:creationId xmlns:p14="http://schemas.microsoft.com/office/powerpoint/2010/main" val="1947168003"/>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4"/>
            <a:ext cx="10515600" cy="1008530"/>
          </a:xfrm>
        </p:spPr>
        <p:txBody>
          <a:bodyPr>
            <a:noAutofit/>
          </a:bodyPr>
          <a:lstStyle/>
          <a:p>
            <a:pPr algn="ctr"/>
            <a:r>
              <a:rPr lang="en-US" b="1" dirty="0" smtClean="0"/>
              <a:t/>
            </a:r>
            <a:br>
              <a:rPr lang="en-US" b="1" dirty="0" smtClean="0"/>
            </a:br>
            <a:r>
              <a:rPr lang="en-US" b="1" dirty="0" smtClean="0"/>
              <a:t>Biotechnology </a:t>
            </a:r>
            <a:r>
              <a:rPr lang="en-US" b="1" dirty="0"/>
              <a:t>and Its Application </a:t>
            </a:r>
            <a:r>
              <a:rPr lang="en-US" dirty="0"/>
              <a:t/>
            </a:r>
            <a:br>
              <a:rPr lang="en-US" dirty="0"/>
            </a:br>
            <a:endParaRPr lang="en-US" dirty="0"/>
          </a:p>
        </p:txBody>
      </p:sp>
      <p:sp>
        <p:nvSpPr>
          <p:cNvPr id="3" name="Content Placeholder 2"/>
          <p:cNvSpPr>
            <a:spLocks noGrp="1"/>
          </p:cNvSpPr>
          <p:nvPr>
            <p:ph idx="1"/>
          </p:nvPr>
        </p:nvSpPr>
        <p:spPr>
          <a:xfrm>
            <a:off x="945777" y="1233954"/>
            <a:ext cx="10515600" cy="5624045"/>
          </a:xfrm>
        </p:spPr>
        <p:txBody>
          <a:bodyPr>
            <a:noAutofit/>
          </a:bodyPr>
          <a:lstStyle/>
          <a:p>
            <a:r>
              <a:rPr lang="en-US" sz="4000" b="1" dirty="0" smtClean="0"/>
              <a:t> </a:t>
            </a:r>
            <a:r>
              <a:rPr lang="en-US" sz="4000" dirty="0" smtClean="0"/>
              <a:t>Plants</a:t>
            </a:r>
            <a:r>
              <a:rPr lang="en-US" sz="4000" dirty="0"/>
              <a:t>, animals, bacteria and fungi with genetically modified genes or DNA are called genetically modified organisms. </a:t>
            </a:r>
          </a:p>
          <a:p>
            <a:r>
              <a:rPr lang="en-US" sz="4000" b="1" dirty="0"/>
              <a:t>In Agriculture </a:t>
            </a:r>
            <a:endParaRPr lang="en-US" sz="4000" dirty="0"/>
          </a:p>
          <a:p>
            <a:r>
              <a:rPr lang="en-US" sz="4000" b="1" dirty="0" err="1"/>
              <a:t>Bt</a:t>
            </a:r>
            <a:r>
              <a:rPr lang="en-US" sz="4000" b="1" dirty="0"/>
              <a:t> Cotton </a:t>
            </a:r>
            <a:endParaRPr lang="en-US" sz="4000" dirty="0"/>
          </a:p>
          <a:p>
            <a:r>
              <a:rPr lang="en-US" sz="4000" dirty="0"/>
              <a:t>Some strains of the bacterium </a:t>
            </a:r>
            <a:r>
              <a:rPr lang="en-US" sz="4000" i="1" dirty="0"/>
              <a:t>Bacillus </a:t>
            </a:r>
            <a:r>
              <a:rPr lang="en-US" sz="4000" i="1" dirty="0" err="1"/>
              <a:t>thuringiensis</a:t>
            </a:r>
            <a:r>
              <a:rPr lang="en-US" sz="4000" i="1" dirty="0"/>
              <a:t> </a:t>
            </a:r>
            <a:r>
              <a:rPr lang="en-US" sz="4000" dirty="0"/>
              <a:t>produce protein crystals during a particular stage of their growth, which is toxic to certain insects</a:t>
            </a:r>
          </a:p>
        </p:txBody>
      </p:sp>
    </p:spTree>
    <p:extLst>
      <p:ext uri="{BB962C8B-B14F-4D97-AF65-F5344CB8AC3E}">
        <p14:creationId xmlns:p14="http://schemas.microsoft.com/office/powerpoint/2010/main" val="3033413538"/>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008530"/>
          </a:xfrm>
        </p:spPr>
        <p:txBody>
          <a:bodyPr>
            <a:normAutofit/>
          </a:bodyPr>
          <a:lstStyle/>
          <a:p>
            <a:pPr algn="ctr"/>
            <a:r>
              <a:rPr lang="en-US" b="1" dirty="0"/>
              <a:t>Biotechnology and Its </a:t>
            </a:r>
            <a:r>
              <a:rPr lang="en-US" b="1" dirty="0" smtClean="0"/>
              <a:t>Application cont’d</a:t>
            </a:r>
            <a:endParaRPr lang="en-US" dirty="0"/>
          </a:p>
        </p:txBody>
      </p:sp>
      <p:sp>
        <p:nvSpPr>
          <p:cNvPr id="3" name="Content Placeholder 2"/>
          <p:cNvSpPr>
            <a:spLocks noGrp="1"/>
          </p:cNvSpPr>
          <p:nvPr>
            <p:ph idx="1"/>
          </p:nvPr>
        </p:nvSpPr>
        <p:spPr>
          <a:xfrm>
            <a:off x="838200" y="1196788"/>
            <a:ext cx="10515600" cy="4980175"/>
          </a:xfrm>
        </p:spPr>
        <p:txBody>
          <a:bodyPr>
            <a:normAutofit/>
          </a:bodyPr>
          <a:lstStyle/>
          <a:p>
            <a:r>
              <a:rPr lang="en-US" sz="4000" dirty="0"/>
              <a:t>This genetically modified cotton plant is named </a:t>
            </a:r>
            <a:r>
              <a:rPr lang="en-US" sz="4000" dirty="0" err="1"/>
              <a:t>Bt</a:t>
            </a:r>
            <a:r>
              <a:rPr lang="en-US" sz="4000" dirty="0"/>
              <a:t> cotton. </a:t>
            </a:r>
            <a:r>
              <a:rPr lang="en-US" sz="4000" dirty="0" err="1"/>
              <a:t>Bt</a:t>
            </a:r>
            <a:r>
              <a:rPr lang="en-US" sz="4000" dirty="0"/>
              <a:t> cotton plants are resistant to the cotton bollworm due to the presence of two </a:t>
            </a:r>
            <a:r>
              <a:rPr lang="en-US" sz="4000" i="1" dirty="0"/>
              <a:t>cry </a:t>
            </a:r>
            <a:r>
              <a:rPr lang="en-US" sz="4000" dirty="0"/>
              <a:t>genes that produce toxic cry proteins. The </a:t>
            </a:r>
            <a:r>
              <a:rPr lang="en-US" sz="4000" i="1" dirty="0"/>
              <a:t>cry </a:t>
            </a:r>
            <a:r>
              <a:rPr lang="en-US" sz="4000" dirty="0"/>
              <a:t>gene </a:t>
            </a:r>
            <a:r>
              <a:rPr lang="en-US" sz="4000" i="1" dirty="0" err="1"/>
              <a:t>crylAb</a:t>
            </a:r>
            <a:r>
              <a:rPr lang="en-US" sz="4000" i="1" dirty="0"/>
              <a:t> </a:t>
            </a:r>
            <a:r>
              <a:rPr lang="en-US" sz="4000" dirty="0"/>
              <a:t>has been incorporated into the </a:t>
            </a:r>
            <a:r>
              <a:rPr lang="en-US" sz="4000" dirty="0" err="1"/>
              <a:t>Bt</a:t>
            </a:r>
            <a:r>
              <a:rPr lang="en-US" sz="4000" dirty="0"/>
              <a:t> corn plant to protect it from corn borer</a:t>
            </a:r>
          </a:p>
        </p:txBody>
      </p:sp>
    </p:spTree>
    <p:extLst>
      <p:ext uri="{BB962C8B-B14F-4D97-AF65-F5344CB8AC3E}">
        <p14:creationId xmlns:p14="http://schemas.microsoft.com/office/powerpoint/2010/main" val="2724606434"/>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2"/>
            <a:ext cx="10515600" cy="1008530"/>
          </a:xfrm>
        </p:spPr>
        <p:txBody>
          <a:bodyPr>
            <a:noAutofit/>
          </a:bodyPr>
          <a:lstStyle/>
          <a:p>
            <a:pPr algn="ctr"/>
            <a:r>
              <a:rPr lang="en-US" sz="4800" b="1" dirty="0" smtClean="0"/>
              <a:t/>
            </a:r>
            <a:br>
              <a:rPr lang="en-US" sz="4800" b="1" dirty="0" smtClean="0"/>
            </a:br>
            <a:r>
              <a:rPr lang="en-US" sz="4800" b="1" dirty="0" smtClean="0"/>
              <a:t>Pest </a:t>
            </a:r>
            <a:r>
              <a:rPr lang="en-US" sz="4800" b="1" dirty="0"/>
              <a:t>Resistant Plants </a:t>
            </a:r>
            <a:r>
              <a:rPr lang="en-US" sz="4800" dirty="0"/>
              <a:t/>
            </a:r>
            <a:br>
              <a:rPr lang="en-US" sz="4800" dirty="0"/>
            </a:br>
            <a:endParaRPr lang="en-US" sz="4800" dirty="0"/>
          </a:p>
        </p:txBody>
      </p:sp>
      <p:sp>
        <p:nvSpPr>
          <p:cNvPr id="3" name="Content Placeholder 2"/>
          <p:cNvSpPr>
            <a:spLocks noGrp="1"/>
          </p:cNvSpPr>
          <p:nvPr>
            <p:ph idx="1"/>
          </p:nvPr>
        </p:nvSpPr>
        <p:spPr>
          <a:xfrm>
            <a:off x="838200" y="1358153"/>
            <a:ext cx="10515600" cy="4818810"/>
          </a:xfrm>
        </p:spPr>
        <p:txBody>
          <a:bodyPr>
            <a:normAutofit/>
          </a:bodyPr>
          <a:lstStyle/>
          <a:p>
            <a:r>
              <a:rPr lang="en-US" sz="4000" dirty="0" smtClean="0"/>
              <a:t>Nematodes </a:t>
            </a:r>
            <a:r>
              <a:rPr lang="en-US" sz="4000" dirty="0"/>
              <a:t>are common parasites, which infect a number of plants, animals and human beings. A nematode </a:t>
            </a:r>
            <a:r>
              <a:rPr lang="en-US" sz="4000" i="1" dirty="0" err="1"/>
              <a:t>Meloidegyne</a:t>
            </a:r>
            <a:r>
              <a:rPr lang="en-US" sz="4000" i="1" dirty="0"/>
              <a:t> </a:t>
            </a:r>
            <a:r>
              <a:rPr lang="en-US" sz="4000" i="1" dirty="0" err="1"/>
              <a:t>incognitia</a:t>
            </a:r>
            <a:r>
              <a:rPr lang="en-US" sz="4000" i="1" dirty="0"/>
              <a:t> </a:t>
            </a:r>
            <a:r>
              <a:rPr lang="en-US" sz="4000" dirty="0"/>
              <a:t>causes root-knot disease in </a:t>
            </a:r>
            <a:r>
              <a:rPr lang="en-US" sz="4000" dirty="0" err="1"/>
              <a:t>brinjals</a:t>
            </a:r>
            <a:r>
              <a:rPr lang="en-US" sz="4000" dirty="0"/>
              <a:t>, tomatoes and tobacco. The parasitic nematode drain a lot of nutrients from the host plant, and cracks develop in the roots which lead to secondary infections.</a:t>
            </a:r>
          </a:p>
        </p:txBody>
      </p:sp>
    </p:spTree>
    <p:extLst>
      <p:ext uri="{BB962C8B-B14F-4D97-AF65-F5344CB8AC3E}">
        <p14:creationId xmlns:p14="http://schemas.microsoft.com/office/powerpoint/2010/main" val="3370352561"/>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259"/>
            <a:ext cx="10515600" cy="1048871"/>
          </a:xfrm>
        </p:spPr>
        <p:txBody>
          <a:bodyPr>
            <a:normAutofit fontScale="90000"/>
          </a:bodyPr>
          <a:lstStyle/>
          <a:p>
            <a:pPr algn="ctr"/>
            <a:r>
              <a:rPr lang="en-US" b="1" dirty="0"/>
              <a:t/>
            </a:r>
            <a:br>
              <a:rPr lang="en-US" b="1" dirty="0"/>
            </a:br>
            <a:r>
              <a:rPr lang="en-US" b="1" dirty="0"/>
              <a:t>Pest Resistant Plants </a:t>
            </a:r>
            <a:r>
              <a:rPr lang="en-US" b="1" dirty="0" smtClean="0"/>
              <a:t> cont’d</a:t>
            </a:r>
            <a:r>
              <a:rPr lang="en-US" dirty="0"/>
              <a:t/>
            </a:r>
            <a:br>
              <a:rPr lang="en-US" dirty="0"/>
            </a:br>
            <a:endParaRPr lang="en-US" dirty="0"/>
          </a:p>
        </p:txBody>
      </p:sp>
      <p:sp>
        <p:nvSpPr>
          <p:cNvPr id="3" name="Content Placeholder 2"/>
          <p:cNvSpPr>
            <a:spLocks noGrp="1"/>
          </p:cNvSpPr>
          <p:nvPr>
            <p:ph idx="1"/>
          </p:nvPr>
        </p:nvSpPr>
        <p:spPr>
          <a:xfrm>
            <a:off x="838200" y="1358153"/>
            <a:ext cx="10515600" cy="4818810"/>
          </a:xfrm>
        </p:spPr>
        <p:txBody>
          <a:bodyPr/>
          <a:lstStyle/>
          <a:p>
            <a:r>
              <a:rPr lang="en-US" dirty="0"/>
              <a:t>Water and mineral absorption are impaired which leads to great reduction in crop yield. The process of RNA interference (</a:t>
            </a:r>
            <a:r>
              <a:rPr lang="en-US" dirty="0" err="1"/>
              <a:t>RNAi</a:t>
            </a:r>
            <a:r>
              <a:rPr lang="en-US" dirty="0"/>
              <a:t>) introduced resistance in these plants. RNA interference (</a:t>
            </a:r>
            <a:r>
              <a:rPr lang="en-US" dirty="0" err="1"/>
              <a:t>RNAi</a:t>
            </a:r>
            <a:r>
              <a:rPr lang="en-US" dirty="0"/>
              <a:t>) is a technique of inhibiting the activity of a gene through production of sense and antisense RNAs. The two RNAs produce a double stranded RNA (</a:t>
            </a:r>
            <a:r>
              <a:rPr lang="en-US" dirty="0" err="1"/>
              <a:t>dsRNA</a:t>
            </a:r>
            <a:r>
              <a:rPr lang="en-US" dirty="0"/>
              <a:t>) which undergoes fragmentation and forms short segments called short interference </a:t>
            </a:r>
            <a:br>
              <a:rPr lang="en-US" dirty="0"/>
            </a:br>
            <a:r>
              <a:rPr lang="en-US" dirty="0"/>
              <a:t>RNA (</a:t>
            </a:r>
            <a:r>
              <a:rPr lang="en-US" dirty="0" err="1"/>
              <a:t>siRNA</a:t>
            </a:r>
            <a:r>
              <a:rPr lang="en-US" dirty="0"/>
              <a:t>). </a:t>
            </a:r>
          </a:p>
        </p:txBody>
      </p:sp>
    </p:spTree>
    <p:extLst>
      <p:ext uri="{BB962C8B-B14F-4D97-AF65-F5344CB8AC3E}">
        <p14:creationId xmlns:p14="http://schemas.microsoft.com/office/powerpoint/2010/main" val="868157365"/>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5835"/>
            <a:ext cx="10515600" cy="900953"/>
          </a:xfrm>
        </p:spPr>
        <p:txBody>
          <a:bodyPr>
            <a:normAutofit fontScale="90000"/>
          </a:bodyPr>
          <a:lstStyle/>
          <a:p>
            <a:pPr algn="ctr"/>
            <a:r>
              <a:rPr lang="en-US" sz="4000" b="1" dirty="0">
                <a:solidFill>
                  <a:prstClr val="black"/>
                </a:solidFill>
              </a:rPr>
              <a:t/>
            </a:r>
            <a:br>
              <a:rPr lang="en-US" sz="4000" b="1" dirty="0">
                <a:solidFill>
                  <a:prstClr val="black"/>
                </a:solidFill>
              </a:rPr>
            </a:br>
            <a:r>
              <a:rPr lang="en-US" sz="4000" b="1" dirty="0">
                <a:solidFill>
                  <a:prstClr val="black"/>
                </a:solidFill>
              </a:rPr>
              <a:t>Pest Resistant Plants  cont’d</a:t>
            </a:r>
            <a:r>
              <a:rPr lang="en-US" sz="4000" dirty="0">
                <a:solidFill>
                  <a:prstClr val="black"/>
                </a:solidFill>
              </a:rPr>
              <a:t/>
            </a:r>
            <a:br>
              <a:rPr lang="en-US" sz="4000" dirty="0">
                <a:solidFill>
                  <a:prstClr val="black"/>
                </a:solidFill>
              </a:rPr>
            </a:br>
            <a:endParaRPr lang="en-US" dirty="0"/>
          </a:p>
        </p:txBody>
      </p:sp>
      <p:sp>
        <p:nvSpPr>
          <p:cNvPr id="3" name="Content Placeholder 2"/>
          <p:cNvSpPr>
            <a:spLocks noGrp="1"/>
          </p:cNvSpPr>
          <p:nvPr>
            <p:ph idx="1"/>
          </p:nvPr>
        </p:nvSpPr>
        <p:spPr>
          <a:xfrm>
            <a:off x="838200" y="1290918"/>
            <a:ext cx="10515600" cy="4886045"/>
          </a:xfrm>
        </p:spPr>
        <p:txBody>
          <a:bodyPr>
            <a:noAutofit/>
          </a:bodyPr>
          <a:lstStyle/>
          <a:p>
            <a:r>
              <a:rPr lang="en-US" sz="4000" dirty="0"/>
              <a:t>The short interference RNA (</a:t>
            </a:r>
            <a:r>
              <a:rPr lang="en-US" sz="4000" dirty="0" err="1"/>
              <a:t>siRNA</a:t>
            </a:r>
            <a:r>
              <a:rPr lang="en-US" sz="4000" dirty="0"/>
              <a:t>) binds with the mRNA, and forms silencing complex, which cleaves the mRNA having complementary base sequence and makes the mRNA silent by stopping translation. The source of this complementary RNA may be an infection by viruses having RNA genome or mobile genetic elements (transposons) which replicate through an RNA intermediate. </a:t>
            </a:r>
          </a:p>
          <a:p>
            <a:endParaRPr lang="en-US" sz="4000" dirty="0"/>
          </a:p>
        </p:txBody>
      </p:sp>
    </p:spTree>
    <p:extLst>
      <p:ext uri="{BB962C8B-B14F-4D97-AF65-F5344CB8AC3E}">
        <p14:creationId xmlns:p14="http://schemas.microsoft.com/office/powerpoint/2010/main" val="2288564753"/>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r>
            <a:br>
              <a:rPr lang="en-US" b="1" dirty="0" smtClean="0"/>
            </a:br>
            <a:r>
              <a:rPr lang="en-US" b="1" dirty="0" err="1" smtClean="0"/>
              <a:t>Hirudin</a:t>
            </a:r>
            <a:r>
              <a:rPr lang="en-US" b="1" dirty="0" smtClean="0"/>
              <a:t> </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sz="4000" dirty="0" err="1" smtClean="0"/>
              <a:t>Hirudin</a:t>
            </a:r>
            <a:r>
              <a:rPr lang="en-US" sz="4000" dirty="0" smtClean="0"/>
              <a:t> </a:t>
            </a:r>
            <a:r>
              <a:rPr lang="en-US" sz="4000" dirty="0"/>
              <a:t>is a protein that prevents blood clotting. Natural source of </a:t>
            </a:r>
            <a:r>
              <a:rPr lang="en-US" sz="4000" dirty="0" err="1"/>
              <a:t>Hirudin</a:t>
            </a:r>
            <a:r>
              <a:rPr lang="en-US" sz="4000" dirty="0"/>
              <a:t> protein is cattle leech </a:t>
            </a:r>
            <a:r>
              <a:rPr lang="en-US" sz="4000" i="1" dirty="0"/>
              <a:t>(</a:t>
            </a:r>
            <a:r>
              <a:rPr lang="en-US" sz="4000" i="1" dirty="0" err="1"/>
              <a:t>Hirudinaria</a:t>
            </a:r>
            <a:r>
              <a:rPr lang="en-US" sz="4000" i="1" dirty="0"/>
              <a:t>). </a:t>
            </a:r>
            <a:r>
              <a:rPr lang="en-US" sz="4000" dirty="0"/>
              <a:t>Gene coding for </a:t>
            </a:r>
            <a:r>
              <a:rPr lang="en-US" sz="4000" dirty="0" err="1"/>
              <a:t>Hirudin</a:t>
            </a:r>
            <a:r>
              <a:rPr lang="en-US" sz="4000" dirty="0"/>
              <a:t> protein was artificially </a:t>
            </a:r>
            <a:r>
              <a:rPr lang="en-US" sz="4000" dirty="0" err="1"/>
              <a:t>synthesised</a:t>
            </a:r>
            <a:r>
              <a:rPr lang="en-US" sz="4000" dirty="0"/>
              <a:t> and introduced in the </a:t>
            </a:r>
            <a:r>
              <a:rPr lang="en-US" sz="4000" i="1" dirty="0"/>
              <a:t>Brassica </a:t>
            </a:r>
            <a:r>
              <a:rPr lang="en-US" sz="4000" i="1" dirty="0" err="1"/>
              <a:t>napus</a:t>
            </a:r>
            <a:r>
              <a:rPr lang="en-US" sz="4000" i="1" dirty="0"/>
              <a:t> </a:t>
            </a:r>
            <a:r>
              <a:rPr lang="en-US" sz="4000" dirty="0"/>
              <a:t>(Rapeseed) plant</a:t>
            </a:r>
          </a:p>
        </p:txBody>
      </p:sp>
    </p:spTree>
    <p:extLst>
      <p:ext uri="{BB962C8B-B14F-4D97-AF65-F5344CB8AC3E}">
        <p14:creationId xmlns:p14="http://schemas.microsoft.com/office/powerpoint/2010/main" val="2705990701"/>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1663"/>
          </a:xfrm>
        </p:spPr>
        <p:txBody>
          <a:bodyPr>
            <a:normAutofit/>
          </a:bodyPr>
          <a:lstStyle/>
          <a:p>
            <a:pPr algn="ctr"/>
            <a:r>
              <a:rPr lang="en-US" b="1" dirty="0" err="1" smtClean="0"/>
              <a:t>Hirudin</a:t>
            </a:r>
            <a:r>
              <a:rPr lang="en-US" b="1" dirty="0" smtClean="0"/>
              <a:t> </a:t>
            </a:r>
            <a:r>
              <a:rPr lang="en-US" dirty="0" smtClean="0"/>
              <a:t>cont’d</a:t>
            </a:r>
            <a:endParaRPr lang="en-US" dirty="0"/>
          </a:p>
        </p:txBody>
      </p:sp>
      <p:sp>
        <p:nvSpPr>
          <p:cNvPr id="3" name="Content Placeholder 2"/>
          <p:cNvSpPr>
            <a:spLocks noGrp="1"/>
          </p:cNvSpPr>
          <p:nvPr>
            <p:ph idx="1"/>
          </p:nvPr>
        </p:nvSpPr>
        <p:spPr>
          <a:xfrm>
            <a:off x="838200" y="1358153"/>
            <a:ext cx="10515600" cy="4818810"/>
          </a:xfrm>
        </p:spPr>
        <p:txBody>
          <a:bodyPr>
            <a:normAutofit/>
          </a:bodyPr>
          <a:lstStyle/>
          <a:p>
            <a:r>
              <a:rPr lang="en-US" sz="4000" dirty="0"/>
              <a:t>The transgenic </a:t>
            </a:r>
            <a:r>
              <a:rPr lang="en-US" sz="4000" i="1" dirty="0"/>
              <a:t>Brassica </a:t>
            </a:r>
            <a:r>
              <a:rPr lang="en-US" sz="4000" i="1" dirty="0" err="1"/>
              <a:t>napus</a:t>
            </a:r>
            <a:r>
              <a:rPr lang="en-US" sz="4000" i="1" dirty="0"/>
              <a:t> </a:t>
            </a:r>
            <a:r>
              <a:rPr lang="en-US" sz="4000" dirty="0"/>
              <a:t>(Rapeseed) plant </a:t>
            </a:r>
            <a:r>
              <a:rPr lang="en-US" sz="4000" dirty="0" err="1"/>
              <a:t>synthesises</a:t>
            </a:r>
            <a:r>
              <a:rPr lang="en-US" sz="4000" dirty="0"/>
              <a:t> the </a:t>
            </a:r>
            <a:r>
              <a:rPr lang="en-US" sz="4000" dirty="0" err="1"/>
              <a:t>Hirudin</a:t>
            </a:r>
            <a:r>
              <a:rPr lang="en-US" sz="4000" dirty="0"/>
              <a:t> protein in its cells and the </a:t>
            </a:r>
            <a:r>
              <a:rPr lang="en-US" sz="4000" dirty="0" err="1"/>
              <a:t>Hirudin</a:t>
            </a:r>
            <a:r>
              <a:rPr lang="en-US" sz="4000" dirty="0"/>
              <a:t> accumulate in the seeds in larger quantities. The </a:t>
            </a:r>
            <a:r>
              <a:rPr lang="en-US" sz="4000" dirty="0" err="1"/>
              <a:t>Hirudin</a:t>
            </a:r>
            <a:r>
              <a:rPr lang="en-US" sz="4000" dirty="0"/>
              <a:t> from the seed is extracted, purified and used as medicine (as an anticoagulant in surgery and dialysis). The transgenic product </a:t>
            </a:r>
            <a:r>
              <a:rPr lang="en-US" sz="4000" dirty="0" err="1"/>
              <a:t>Hirudin</a:t>
            </a:r>
            <a:r>
              <a:rPr lang="en-US" sz="4000" dirty="0"/>
              <a:t> is of great interest. </a:t>
            </a:r>
          </a:p>
          <a:p>
            <a:endParaRPr lang="en-US" sz="4000" dirty="0"/>
          </a:p>
        </p:txBody>
      </p:sp>
    </p:spTree>
    <p:extLst>
      <p:ext uri="{BB962C8B-B14F-4D97-AF65-F5344CB8AC3E}">
        <p14:creationId xmlns:p14="http://schemas.microsoft.com/office/powerpoint/2010/main" val="1174799482"/>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153"/>
            <a:ext cx="10515600" cy="860613"/>
          </a:xfrm>
        </p:spPr>
        <p:txBody>
          <a:bodyPr>
            <a:normAutofit fontScale="90000"/>
          </a:bodyPr>
          <a:lstStyle/>
          <a:p>
            <a:pPr algn="ctr"/>
            <a:r>
              <a:rPr lang="en-US" b="1" dirty="0" smtClean="0"/>
              <a:t/>
            </a:r>
            <a:br>
              <a:rPr lang="en-US" b="1" dirty="0" smtClean="0"/>
            </a:br>
            <a:r>
              <a:rPr lang="en-US" b="1" dirty="0"/>
              <a:t/>
            </a:r>
            <a:br>
              <a:rPr lang="en-US" b="1" dirty="0"/>
            </a:br>
            <a:r>
              <a:rPr lang="en-US" b="1" dirty="0" smtClean="0"/>
              <a:t>Genetically </a:t>
            </a:r>
            <a:r>
              <a:rPr lang="en-US" b="1" dirty="0"/>
              <a:t>Engineered Insulin or </a:t>
            </a:r>
            <a:r>
              <a:rPr lang="en-US" b="1" dirty="0" err="1"/>
              <a:t>Humulin</a:t>
            </a:r>
            <a:r>
              <a:rPr lang="en-US" b="1" dirty="0"/>
              <a:t> </a:t>
            </a:r>
            <a:r>
              <a:rPr lang="en-US" dirty="0"/>
              <a:t/>
            </a:r>
            <a:br>
              <a:rPr lang="en-US" dirty="0"/>
            </a:br>
            <a:r>
              <a:rPr lang="en-US" dirty="0" smtClean="0"/>
              <a:t/>
            </a:r>
            <a:br>
              <a:rPr lang="en-US" dirty="0" smtClean="0"/>
            </a:br>
            <a:endParaRPr lang="en-US" dirty="0"/>
          </a:p>
        </p:txBody>
      </p:sp>
      <p:sp>
        <p:nvSpPr>
          <p:cNvPr id="3" name="Content Placeholder 2"/>
          <p:cNvSpPr>
            <a:spLocks noGrp="1"/>
          </p:cNvSpPr>
          <p:nvPr>
            <p:ph idx="1"/>
          </p:nvPr>
        </p:nvSpPr>
        <p:spPr>
          <a:xfrm>
            <a:off x="838200" y="1277471"/>
            <a:ext cx="10515600" cy="4899492"/>
          </a:xfrm>
        </p:spPr>
        <p:txBody>
          <a:bodyPr>
            <a:normAutofit/>
          </a:bodyPr>
          <a:lstStyle/>
          <a:p>
            <a:r>
              <a:rPr lang="en-US" sz="4000" dirty="0" smtClean="0"/>
              <a:t>Insulin </a:t>
            </a:r>
            <a:r>
              <a:rPr lang="en-US" sz="4000" dirty="0"/>
              <a:t>is a hormone secreted by pancreas. It is essential for maintaining the glucose-glycogen balance in the human blood. The reduced secretion of insulin leads to an increase in the glucose level in the blood because the cells fail to take up glucose from the blood. </a:t>
            </a:r>
          </a:p>
        </p:txBody>
      </p:sp>
    </p:spTree>
    <p:extLst>
      <p:ext uri="{BB962C8B-B14F-4D97-AF65-F5344CB8AC3E}">
        <p14:creationId xmlns:p14="http://schemas.microsoft.com/office/powerpoint/2010/main" val="1796125834"/>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2"/>
            <a:ext cx="10515600" cy="1102660"/>
          </a:xfrm>
        </p:spPr>
        <p:txBody>
          <a:bodyPr>
            <a:normAutofit fontScale="90000"/>
          </a:bodyPr>
          <a:lstStyle/>
          <a:p>
            <a:r>
              <a:rPr lang="en-US" b="1" dirty="0"/>
              <a:t/>
            </a:r>
            <a:br>
              <a:rPr lang="en-US" b="1" dirty="0"/>
            </a:br>
            <a:r>
              <a:rPr lang="en-US" b="1" dirty="0"/>
              <a:t/>
            </a:r>
            <a:br>
              <a:rPr lang="en-US" b="1" dirty="0"/>
            </a:br>
            <a:r>
              <a:rPr lang="en-US" b="1" dirty="0"/>
              <a:t>Genetically Engineered Insulin or </a:t>
            </a:r>
            <a:r>
              <a:rPr lang="en-US" b="1" dirty="0" err="1"/>
              <a:t>Humulin</a:t>
            </a:r>
            <a:r>
              <a:rPr lang="en-US" b="1" dirty="0"/>
              <a:t> </a:t>
            </a:r>
            <a:r>
              <a:rPr lang="en-US" b="1" dirty="0" smtClean="0"/>
              <a:t>cont’d</a:t>
            </a:r>
            <a:r>
              <a:rPr lang="en-US" dirty="0"/>
              <a:t/>
            </a:r>
            <a:br>
              <a:rPr lang="en-US" dirty="0"/>
            </a:br>
            <a:r>
              <a:rPr lang="en-US" dirty="0"/>
              <a:t/>
            </a:r>
            <a:br>
              <a:rPr lang="en-US" dirty="0"/>
            </a:br>
            <a:endParaRPr lang="en-US" dirty="0"/>
          </a:p>
        </p:txBody>
      </p:sp>
      <p:sp>
        <p:nvSpPr>
          <p:cNvPr id="3" name="Content Placeholder 2"/>
          <p:cNvSpPr>
            <a:spLocks noGrp="1"/>
          </p:cNvSpPr>
          <p:nvPr>
            <p:ph idx="1"/>
          </p:nvPr>
        </p:nvSpPr>
        <p:spPr>
          <a:xfrm>
            <a:off x="838200" y="1506071"/>
            <a:ext cx="10515600" cy="4670892"/>
          </a:xfrm>
        </p:spPr>
        <p:txBody>
          <a:bodyPr>
            <a:normAutofit/>
          </a:bodyPr>
          <a:lstStyle/>
          <a:p>
            <a:r>
              <a:rPr lang="en-US" sz="4000" dirty="0"/>
              <a:t>The resultant disease is called diabetes mellitus-type </a:t>
            </a:r>
            <a:r>
              <a:rPr lang="en-US" sz="4000" dirty="0" smtClean="0"/>
              <a:t>II</a:t>
            </a:r>
            <a:r>
              <a:rPr lang="en-US" sz="4000" dirty="0"/>
              <a:t>. The disease can be treated by regular and small injection dose of insulin. The insulin used for diabetes was extracted from the pancreas of slaughtered cattle and pigs. This animal source insulin (protein) caused allergy or some other type of reactions in some diabetic patients</a:t>
            </a:r>
          </a:p>
        </p:txBody>
      </p:sp>
    </p:spTree>
    <p:extLst>
      <p:ext uri="{BB962C8B-B14F-4D97-AF65-F5344CB8AC3E}">
        <p14:creationId xmlns:p14="http://schemas.microsoft.com/office/powerpoint/2010/main" val="1890693059"/>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365"/>
            <a:ext cx="10515600" cy="941295"/>
          </a:xfrm>
        </p:spPr>
        <p:txBody>
          <a:bodyPr>
            <a:normAutofit fontScale="90000"/>
          </a:bodyPr>
          <a:lstStyle/>
          <a:p>
            <a:pPr algn="ctr"/>
            <a:r>
              <a:rPr lang="en-US" b="1" dirty="0"/>
              <a:t>Genetically Engineered Insulin or </a:t>
            </a:r>
            <a:r>
              <a:rPr lang="en-US" b="1" dirty="0" err="1"/>
              <a:t>Humulin</a:t>
            </a:r>
            <a:r>
              <a:rPr lang="en-US" b="1" dirty="0"/>
              <a:t> cont’d</a:t>
            </a:r>
            <a:endParaRPr lang="en-US" dirty="0"/>
          </a:p>
        </p:txBody>
      </p:sp>
      <p:sp>
        <p:nvSpPr>
          <p:cNvPr id="3" name="Content Placeholder 2"/>
          <p:cNvSpPr>
            <a:spLocks noGrp="1"/>
          </p:cNvSpPr>
          <p:nvPr>
            <p:ph idx="1"/>
          </p:nvPr>
        </p:nvSpPr>
        <p:spPr>
          <a:xfrm>
            <a:off x="838200" y="1290918"/>
            <a:ext cx="10515600" cy="4886045"/>
          </a:xfrm>
        </p:spPr>
        <p:txBody>
          <a:bodyPr>
            <a:noAutofit/>
          </a:bodyPr>
          <a:lstStyle/>
          <a:p>
            <a:r>
              <a:rPr lang="en-US" sz="4000" dirty="0"/>
              <a:t>Structurally the insulin, a protein hormone, is made up of two short polypeptide chains, viz., chain A and chain B, which are linked by </a:t>
            </a:r>
            <a:r>
              <a:rPr lang="en-US" sz="4000" dirty="0" err="1"/>
              <a:t>disulphide</a:t>
            </a:r>
            <a:r>
              <a:rPr lang="en-US" sz="4000" dirty="0"/>
              <a:t> bonds. In mammals, including human beings, the insulin hormone is </a:t>
            </a:r>
            <a:r>
              <a:rPr lang="en-US" sz="4000" dirty="0" err="1"/>
              <a:t>synthesised</a:t>
            </a:r>
            <a:r>
              <a:rPr lang="en-US" sz="4000" dirty="0"/>
              <a:t> as a pro-hormone, which is processed to become fully mature and functional hormone after releasing the extra polypeptide chain called C peptide</a:t>
            </a:r>
          </a:p>
        </p:txBody>
      </p:sp>
    </p:spTree>
    <p:extLst>
      <p:ext uri="{BB962C8B-B14F-4D97-AF65-F5344CB8AC3E}">
        <p14:creationId xmlns:p14="http://schemas.microsoft.com/office/powerpoint/2010/main" val="1751405167"/>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76"/>
            <a:ext cx="10515600" cy="820272"/>
          </a:xfrm>
        </p:spPr>
        <p:txBody>
          <a:bodyPr>
            <a:normAutofit fontScale="90000"/>
          </a:bodyPr>
          <a:lstStyle/>
          <a:p>
            <a:pPr algn="ctr"/>
            <a:r>
              <a:rPr lang="en-US" b="1" dirty="0"/>
              <a:t>Genetically Engineered Insulin or </a:t>
            </a:r>
            <a:r>
              <a:rPr lang="en-US" b="1" dirty="0" err="1"/>
              <a:t>Humulin</a:t>
            </a:r>
            <a:r>
              <a:rPr lang="en-US" b="1" dirty="0"/>
              <a:t> cont’d</a:t>
            </a:r>
            <a:endParaRPr lang="en-US" dirty="0"/>
          </a:p>
        </p:txBody>
      </p:sp>
      <p:sp>
        <p:nvSpPr>
          <p:cNvPr id="3" name="Content Placeholder 2"/>
          <p:cNvSpPr>
            <a:spLocks noGrp="1"/>
          </p:cNvSpPr>
          <p:nvPr>
            <p:ph idx="1"/>
          </p:nvPr>
        </p:nvSpPr>
        <p:spPr>
          <a:xfrm>
            <a:off x="838200" y="927848"/>
            <a:ext cx="10515600" cy="5607423"/>
          </a:xfrm>
        </p:spPr>
        <p:txBody>
          <a:bodyPr>
            <a:noAutofit/>
          </a:bodyPr>
          <a:lstStyle/>
          <a:p>
            <a:r>
              <a:rPr lang="en-US" sz="4000" dirty="0"/>
              <a:t>The C peptide is not present in the mature insulin. In </a:t>
            </a:r>
            <a:br>
              <a:rPr lang="en-US" sz="4000" dirty="0"/>
            </a:br>
            <a:r>
              <a:rPr lang="en-US" sz="4000" dirty="0"/>
              <a:t>1983, a US company Eli Lilly, first prepared the two separate DNA sequences corresponding to polypeptide chain-A and chain-B of human insulin by recombinant DNA (</a:t>
            </a:r>
            <a:r>
              <a:rPr lang="en-US" sz="4000" dirty="0" err="1"/>
              <a:t>rDNA</a:t>
            </a:r>
            <a:r>
              <a:rPr lang="en-US" sz="4000" dirty="0"/>
              <a:t>) technology and introduced it in the plasmids of </a:t>
            </a:r>
            <a:r>
              <a:rPr lang="en-US" sz="4000" i="1" dirty="0"/>
              <a:t>E. coli </a:t>
            </a:r>
            <a:r>
              <a:rPr lang="en-US" sz="4000" dirty="0"/>
              <a:t>to </a:t>
            </a:r>
            <a:r>
              <a:rPr lang="en-US" sz="4000" dirty="0" err="1"/>
              <a:t>synthesise</a:t>
            </a:r>
            <a:r>
              <a:rPr lang="en-US" sz="4000" dirty="0"/>
              <a:t> insulin. Chain A and chain B were </a:t>
            </a:r>
            <a:r>
              <a:rPr lang="en-US" sz="4000" dirty="0" err="1"/>
              <a:t>synthesised</a:t>
            </a:r>
            <a:r>
              <a:rPr lang="en-US" sz="4000" dirty="0"/>
              <a:t> separately, extracted and joined by creating </a:t>
            </a:r>
            <a:r>
              <a:rPr lang="en-US" sz="4000" dirty="0" err="1"/>
              <a:t>disulphide</a:t>
            </a:r>
            <a:r>
              <a:rPr lang="en-US" sz="4000" dirty="0"/>
              <a:t> bond to form human insulin. </a:t>
            </a:r>
          </a:p>
          <a:p>
            <a:endParaRPr lang="en-US" sz="4000" dirty="0"/>
          </a:p>
        </p:txBody>
      </p:sp>
    </p:spTree>
    <p:extLst>
      <p:ext uri="{BB962C8B-B14F-4D97-AF65-F5344CB8AC3E}">
        <p14:creationId xmlns:p14="http://schemas.microsoft.com/office/powerpoint/2010/main" val="3810803955"/>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0"/>
            <a:ext cx="10515600" cy="874060"/>
          </a:xfrm>
        </p:spPr>
        <p:txBody>
          <a:bodyPr/>
          <a:lstStyle/>
          <a:p>
            <a:pPr algn="ctr"/>
            <a:r>
              <a:rPr lang="en-US" b="1" dirty="0" err="1" smtClean="0"/>
              <a:t>Biopatent</a:t>
            </a:r>
            <a:r>
              <a:rPr lang="en-US" b="1" dirty="0" smtClean="0"/>
              <a:t> cont’d</a:t>
            </a:r>
            <a:endParaRPr lang="en-US" dirty="0"/>
          </a:p>
        </p:txBody>
      </p:sp>
      <p:sp>
        <p:nvSpPr>
          <p:cNvPr id="3" name="Content Placeholder 2"/>
          <p:cNvSpPr>
            <a:spLocks noGrp="1"/>
          </p:cNvSpPr>
          <p:nvPr>
            <p:ph idx="1"/>
          </p:nvPr>
        </p:nvSpPr>
        <p:spPr>
          <a:xfrm>
            <a:off x="838200" y="1264024"/>
            <a:ext cx="10515600" cy="4912939"/>
          </a:xfrm>
        </p:spPr>
        <p:txBody>
          <a:bodyPr>
            <a:normAutofit/>
          </a:bodyPr>
          <a:lstStyle/>
          <a:p>
            <a:r>
              <a:rPr lang="en-US" sz="4000" b="1" dirty="0" smtClean="0"/>
              <a:t> </a:t>
            </a:r>
            <a:r>
              <a:rPr lang="en-US" sz="4000" dirty="0" err="1" smtClean="0"/>
              <a:t>Biopatent</a:t>
            </a:r>
            <a:r>
              <a:rPr lang="en-US" sz="4000" dirty="0" smtClean="0"/>
              <a:t> </a:t>
            </a:r>
            <a:r>
              <a:rPr lang="en-US" sz="4000" dirty="0"/>
              <a:t>is an official right granted by a government to an inventor or agency or an </a:t>
            </a:r>
            <a:r>
              <a:rPr lang="en-US" sz="4000" dirty="0" err="1"/>
              <a:t>organisation</a:t>
            </a:r>
            <a:r>
              <a:rPr lang="en-US" sz="4000" dirty="0"/>
              <a:t>. It is the sole right for commercial production, marketing and selling a particular biological material for a certain period</a:t>
            </a:r>
            <a:r>
              <a:rPr lang="en-US" sz="4000" dirty="0" smtClean="0"/>
              <a:t>. </a:t>
            </a:r>
            <a:r>
              <a:rPr lang="en-US" sz="4000" dirty="0"/>
              <a:t>This right prevents the others from commercial use of the invention or product prepared by a patent holder. </a:t>
            </a:r>
          </a:p>
        </p:txBody>
      </p:sp>
    </p:spTree>
    <p:extLst>
      <p:ext uri="{BB962C8B-B14F-4D97-AF65-F5344CB8AC3E}">
        <p14:creationId xmlns:p14="http://schemas.microsoft.com/office/powerpoint/2010/main" val="330902541"/>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153"/>
            <a:ext cx="10515600" cy="954741"/>
          </a:xfrm>
        </p:spPr>
        <p:txBody>
          <a:bodyPr/>
          <a:lstStyle/>
          <a:p>
            <a:pPr algn="ctr"/>
            <a:r>
              <a:rPr lang="en-US" b="1" dirty="0" err="1"/>
              <a:t>Biopatent</a:t>
            </a:r>
            <a:r>
              <a:rPr lang="en-US" b="1" dirty="0"/>
              <a:t> cont’d</a:t>
            </a:r>
            <a:endParaRPr lang="en-US" dirty="0"/>
          </a:p>
        </p:txBody>
      </p:sp>
      <p:sp>
        <p:nvSpPr>
          <p:cNvPr id="3" name="Content Placeholder 2"/>
          <p:cNvSpPr>
            <a:spLocks noGrp="1"/>
          </p:cNvSpPr>
          <p:nvPr>
            <p:ph idx="1"/>
          </p:nvPr>
        </p:nvSpPr>
        <p:spPr>
          <a:xfrm>
            <a:off x="838200" y="1169894"/>
            <a:ext cx="10515600" cy="5688106"/>
          </a:xfrm>
        </p:spPr>
        <p:txBody>
          <a:bodyPr>
            <a:noAutofit/>
          </a:bodyPr>
          <a:lstStyle/>
          <a:p>
            <a:r>
              <a:rPr lang="en-US" sz="4000" dirty="0" err="1"/>
              <a:t>Biopatent</a:t>
            </a:r>
            <a:r>
              <a:rPr lang="en-US" sz="4000" dirty="0"/>
              <a:t> is done for the commercial exploitation of the following: </a:t>
            </a:r>
          </a:p>
          <a:p>
            <a:r>
              <a:rPr lang="en-US" sz="4000" dirty="0"/>
              <a:t>(a) Strains of microorganisms </a:t>
            </a:r>
          </a:p>
          <a:p>
            <a:r>
              <a:rPr lang="en-US" sz="4000" dirty="0"/>
              <a:t>(b) Cell lines </a:t>
            </a:r>
          </a:p>
          <a:p>
            <a:r>
              <a:rPr lang="en-US" sz="4000" dirty="0"/>
              <a:t>(c) Genetically modified plants and animals </a:t>
            </a:r>
            <a:br>
              <a:rPr lang="en-US" sz="4000" dirty="0"/>
            </a:br>
            <a:r>
              <a:rPr lang="en-US" sz="4000" dirty="0"/>
              <a:t>(d) DNA sequences </a:t>
            </a:r>
          </a:p>
          <a:p>
            <a:r>
              <a:rPr lang="en-US" sz="4000" dirty="0"/>
              <a:t>(e) Protein encoded by DNA sequences </a:t>
            </a:r>
            <a:br>
              <a:rPr lang="en-US" sz="4000" dirty="0"/>
            </a:br>
            <a:r>
              <a:rPr lang="en-US" sz="4000" dirty="0"/>
              <a:t>(f) Biotechnological methods </a:t>
            </a:r>
          </a:p>
          <a:p>
            <a:r>
              <a:rPr lang="en-US" sz="4000" dirty="0"/>
              <a:t>(g) Products and their applications </a:t>
            </a:r>
          </a:p>
          <a:p>
            <a:endParaRPr lang="en-US" sz="4000" dirty="0"/>
          </a:p>
        </p:txBody>
      </p:sp>
    </p:spTree>
    <p:extLst>
      <p:ext uri="{BB962C8B-B14F-4D97-AF65-F5344CB8AC3E}">
        <p14:creationId xmlns:p14="http://schemas.microsoft.com/office/powerpoint/2010/main" val="2488363245"/>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5494"/>
            <a:ext cx="10515600" cy="753036"/>
          </a:xfrm>
        </p:spPr>
        <p:txBody>
          <a:bodyPr>
            <a:normAutofit fontScale="90000"/>
          </a:bodyPr>
          <a:lstStyle/>
          <a:p>
            <a:pPr algn="ctr"/>
            <a:r>
              <a:rPr lang="en-US" b="1" dirty="0" smtClean="0"/>
              <a:t/>
            </a:r>
            <a:br>
              <a:rPr lang="en-US" b="1" dirty="0" smtClean="0"/>
            </a:br>
            <a:r>
              <a:rPr lang="en-US" b="1" dirty="0" err="1" smtClean="0"/>
              <a:t>Biopiracy</a:t>
            </a:r>
            <a:r>
              <a:rPr lang="en-US" b="1" dirty="0" smtClean="0"/>
              <a:t> </a:t>
            </a:r>
            <a:r>
              <a:rPr lang="en-US" dirty="0"/>
              <a:t/>
            </a:r>
            <a:br>
              <a:rPr lang="en-US" dirty="0"/>
            </a:br>
            <a:endParaRPr lang="en-US" dirty="0"/>
          </a:p>
        </p:txBody>
      </p:sp>
      <p:sp>
        <p:nvSpPr>
          <p:cNvPr id="3" name="Content Placeholder 2"/>
          <p:cNvSpPr>
            <a:spLocks noGrp="1"/>
          </p:cNvSpPr>
          <p:nvPr>
            <p:ph idx="1"/>
          </p:nvPr>
        </p:nvSpPr>
        <p:spPr>
          <a:xfrm>
            <a:off x="838200" y="1169894"/>
            <a:ext cx="10515600" cy="5007069"/>
          </a:xfrm>
        </p:spPr>
        <p:txBody>
          <a:bodyPr>
            <a:normAutofit/>
          </a:bodyPr>
          <a:lstStyle/>
          <a:p>
            <a:r>
              <a:rPr lang="en-US" sz="4000" dirty="0" smtClean="0"/>
              <a:t>Patenting </a:t>
            </a:r>
            <a:r>
              <a:rPr lang="en-US" sz="4000" dirty="0"/>
              <a:t>and exploitation of biological resources by other countries, multinational companies and other </a:t>
            </a:r>
            <a:r>
              <a:rPr lang="en-US" sz="4000" dirty="0" err="1"/>
              <a:t>organisations</a:t>
            </a:r>
            <a:r>
              <a:rPr lang="en-US" sz="4000" dirty="0"/>
              <a:t> without proper </a:t>
            </a:r>
            <a:r>
              <a:rPr lang="en-US" sz="4000" dirty="0" err="1"/>
              <a:t>authorisation</a:t>
            </a:r>
            <a:r>
              <a:rPr lang="en-US" sz="4000" dirty="0"/>
              <a:t>, benefit sharing agreement or compensatory payment to the countries and people concerned. </a:t>
            </a:r>
          </a:p>
          <a:p>
            <a:endParaRPr lang="en-US" sz="4000" b="1" dirty="0"/>
          </a:p>
        </p:txBody>
      </p:sp>
    </p:spTree>
    <p:extLst>
      <p:ext uri="{BB962C8B-B14F-4D97-AF65-F5344CB8AC3E}">
        <p14:creationId xmlns:p14="http://schemas.microsoft.com/office/powerpoint/2010/main" val="3158713415"/>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389"/>
            <a:ext cx="10515600" cy="981636"/>
          </a:xfrm>
        </p:spPr>
        <p:txBody>
          <a:bodyPr>
            <a:normAutofit fontScale="90000"/>
          </a:bodyPr>
          <a:lstStyle/>
          <a:p>
            <a:pPr algn="ctr"/>
            <a:r>
              <a:rPr lang="en-US" b="1" dirty="0" smtClean="0"/>
              <a:t/>
            </a:r>
            <a:br>
              <a:rPr lang="en-US" b="1" dirty="0" smtClean="0"/>
            </a:br>
            <a:r>
              <a:rPr lang="en-US" b="1" dirty="0" smtClean="0"/>
              <a:t>GENETICS </a:t>
            </a:r>
            <a:r>
              <a:rPr lang="en-US" b="1" dirty="0"/>
              <a:t>OF BACTERIOPHAGES </a:t>
            </a:r>
            <a:r>
              <a:rPr lang="en-US" b="1" dirty="0" smtClean="0"/>
              <a:t> </a:t>
            </a:r>
            <a:r>
              <a:rPr lang="en-US" dirty="0"/>
              <a:t/>
            </a:r>
            <a:br>
              <a:rPr lang="en-US" dirty="0"/>
            </a:br>
            <a:endParaRPr lang="en-US" dirty="0"/>
          </a:p>
        </p:txBody>
      </p:sp>
      <p:sp>
        <p:nvSpPr>
          <p:cNvPr id="3" name="Content Placeholder 2"/>
          <p:cNvSpPr>
            <a:spLocks noGrp="1"/>
          </p:cNvSpPr>
          <p:nvPr>
            <p:ph idx="1"/>
          </p:nvPr>
        </p:nvSpPr>
        <p:spPr>
          <a:xfrm>
            <a:off x="838200" y="1385046"/>
            <a:ext cx="10515600" cy="5728447"/>
          </a:xfrm>
        </p:spPr>
        <p:txBody>
          <a:bodyPr>
            <a:noAutofit/>
          </a:bodyPr>
          <a:lstStyle/>
          <a:p>
            <a:pPr lvl="0"/>
            <a:r>
              <a:rPr lang="en-US" sz="4000" dirty="0" smtClean="0"/>
              <a:t>Bacteriophages </a:t>
            </a:r>
            <a:r>
              <a:rPr lang="en-US" sz="4000" dirty="0"/>
              <a:t>are viruses that infect bacteria. </a:t>
            </a:r>
          </a:p>
          <a:p>
            <a:pPr lvl="0"/>
            <a:r>
              <a:rPr lang="en-US" sz="4000" dirty="0"/>
              <a:t>They are also known as bacterial viruses or phages. </a:t>
            </a:r>
          </a:p>
          <a:p>
            <a:pPr lvl="0"/>
            <a:r>
              <a:rPr lang="en-US" sz="4000" dirty="0"/>
              <a:t>The phages possess </a:t>
            </a:r>
            <a:r>
              <a:rPr lang="en-US" sz="4000" dirty="0" err="1"/>
              <a:t>dsDNA</a:t>
            </a:r>
            <a:r>
              <a:rPr lang="en-US" sz="4000" dirty="0"/>
              <a:t>, </a:t>
            </a:r>
            <a:r>
              <a:rPr lang="en-US" sz="4000" dirty="0" err="1"/>
              <a:t>ssDNA</a:t>
            </a:r>
            <a:r>
              <a:rPr lang="en-US" sz="4000" dirty="0"/>
              <a:t>, </a:t>
            </a:r>
            <a:r>
              <a:rPr lang="en-US" sz="4000" dirty="0" err="1"/>
              <a:t>dsRNA</a:t>
            </a:r>
            <a:r>
              <a:rPr lang="en-US" sz="4000" dirty="0"/>
              <a:t> or </a:t>
            </a:r>
            <a:r>
              <a:rPr lang="en-US" sz="4000" dirty="0" err="1"/>
              <a:t>ssRNA</a:t>
            </a:r>
            <a:r>
              <a:rPr lang="en-US" sz="4000" dirty="0"/>
              <a:t> as genetic material. </a:t>
            </a:r>
          </a:p>
          <a:p>
            <a:pPr lvl="0"/>
            <a:r>
              <a:rPr lang="en-US" sz="4000" dirty="0"/>
              <a:t>Bacteriophages were discovered by F W </a:t>
            </a:r>
            <a:r>
              <a:rPr lang="en-US" sz="4000" dirty="0" err="1"/>
              <a:t>Twort</a:t>
            </a:r>
            <a:r>
              <a:rPr lang="en-US" sz="4000" dirty="0"/>
              <a:t> (1915) and de </a:t>
            </a:r>
            <a:r>
              <a:rPr lang="en-US" sz="4000" dirty="0" err="1"/>
              <a:t>Herelle</a:t>
            </a:r>
            <a:r>
              <a:rPr lang="en-US" sz="4000" dirty="0"/>
              <a:t> (1917). </a:t>
            </a:r>
          </a:p>
          <a:p>
            <a:pPr lvl="0"/>
            <a:r>
              <a:rPr lang="en-US" sz="4000" dirty="0"/>
              <a:t>The term 'bacteriophage' was given by de </a:t>
            </a:r>
            <a:r>
              <a:rPr lang="en-US" sz="4000" dirty="0" err="1"/>
              <a:t>Herelle</a:t>
            </a:r>
            <a:r>
              <a:rPr lang="en-US" sz="4000" dirty="0"/>
              <a:t>. </a:t>
            </a:r>
          </a:p>
          <a:p>
            <a:endParaRPr lang="en-US" sz="4000" dirty="0"/>
          </a:p>
        </p:txBody>
      </p:sp>
    </p:spTree>
    <p:extLst>
      <p:ext uri="{BB962C8B-B14F-4D97-AF65-F5344CB8AC3E}">
        <p14:creationId xmlns:p14="http://schemas.microsoft.com/office/powerpoint/2010/main" val="197332194"/>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8941"/>
            <a:ext cx="10515600" cy="900953"/>
          </a:xfrm>
        </p:spPr>
        <p:txBody>
          <a:bodyPr/>
          <a:lstStyle/>
          <a:p>
            <a:pPr algn="ctr"/>
            <a:r>
              <a:rPr lang="en-US" b="1" dirty="0"/>
              <a:t>GENETICS OF </a:t>
            </a:r>
            <a:r>
              <a:rPr lang="en-US" b="1" dirty="0" smtClean="0"/>
              <a:t>BACTERIOPHAGES CONT’D</a:t>
            </a:r>
            <a:endParaRPr lang="en-US" dirty="0"/>
          </a:p>
        </p:txBody>
      </p:sp>
      <p:sp>
        <p:nvSpPr>
          <p:cNvPr id="3" name="Content Placeholder 2"/>
          <p:cNvSpPr>
            <a:spLocks noGrp="1"/>
          </p:cNvSpPr>
          <p:nvPr>
            <p:ph idx="1"/>
          </p:nvPr>
        </p:nvSpPr>
        <p:spPr>
          <a:xfrm>
            <a:off x="838200" y="1169894"/>
            <a:ext cx="10515600" cy="5007069"/>
          </a:xfrm>
        </p:spPr>
        <p:txBody>
          <a:bodyPr>
            <a:noAutofit/>
          </a:bodyPr>
          <a:lstStyle/>
          <a:p>
            <a:pPr lvl="0"/>
            <a:r>
              <a:rPr lang="en-US" sz="4000" dirty="0"/>
              <a:t>Bradley (1967) </a:t>
            </a:r>
            <a:r>
              <a:rPr lang="en-US" sz="4000" dirty="0" err="1"/>
              <a:t>categorised</a:t>
            </a:r>
            <a:r>
              <a:rPr lang="en-US" sz="4000" dirty="0"/>
              <a:t> Bacteriophages on the basis of their morphological structure. </a:t>
            </a:r>
          </a:p>
          <a:p>
            <a:pPr lvl="0"/>
            <a:r>
              <a:rPr lang="en-US" sz="4000" dirty="0"/>
              <a:t>Each kind of bacteriophage infects a particular species of bacteria. </a:t>
            </a:r>
          </a:p>
          <a:p>
            <a:pPr lvl="0"/>
            <a:r>
              <a:rPr lang="en-US" sz="4000" dirty="0"/>
              <a:t>Bacteriophages are the most thoroughly and well-understood viruses. </a:t>
            </a:r>
          </a:p>
          <a:p>
            <a:pPr marL="0" indent="0">
              <a:buNone/>
            </a:pPr>
            <a:endParaRPr lang="en-US" sz="4000" dirty="0"/>
          </a:p>
        </p:txBody>
      </p:sp>
    </p:spTree>
    <p:extLst>
      <p:ext uri="{BB962C8B-B14F-4D97-AF65-F5344CB8AC3E}">
        <p14:creationId xmlns:p14="http://schemas.microsoft.com/office/powerpoint/2010/main" val="2315669056"/>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365"/>
            <a:ext cx="10515600" cy="1089211"/>
          </a:xfrm>
        </p:spPr>
        <p:txBody>
          <a:bodyPr/>
          <a:lstStyle/>
          <a:p>
            <a:pPr algn="ctr"/>
            <a:r>
              <a:rPr lang="en-US" b="1" dirty="0"/>
              <a:t>GENETICS OF BACTERIOPHAGES CONT’D</a:t>
            </a:r>
            <a:endParaRPr lang="en-US" dirty="0"/>
          </a:p>
        </p:txBody>
      </p:sp>
      <p:sp>
        <p:nvSpPr>
          <p:cNvPr id="3" name="Content Placeholder 2"/>
          <p:cNvSpPr>
            <a:spLocks noGrp="1"/>
          </p:cNvSpPr>
          <p:nvPr>
            <p:ph idx="1"/>
          </p:nvPr>
        </p:nvSpPr>
        <p:spPr>
          <a:xfrm>
            <a:off x="838200" y="1344706"/>
            <a:ext cx="10515600" cy="5311588"/>
          </a:xfrm>
        </p:spPr>
        <p:txBody>
          <a:bodyPr>
            <a:noAutofit/>
          </a:bodyPr>
          <a:lstStyle/>
          <a:p>
            <a:pPr lvl="0"/>
            <a:r>
              <a:rPr lang="en-US" sz="4000" dirty="0"/>
              <a:t>Bacteriophages have proven to be a valuable scientific research tool for a variety of applications such as models for study of viral infections mechanisms, as tools of biotechnology that introduce new genes into bacterial cells, etc. </a:t>
            </a:r>
          </a:p>
          <a:p>
            <a:pPr lvl="0"/>
            <a:r>
              <a:rPr lang="en-US" sz="4000" dirty="0"/>
              <a:t>Three common forms of bacteriophages are known; these are tailed, cubic and filamentous. </a:t>
            </a:r>
          </a:p>
          <a:p>
            <a:pPr lvl="0"/>
            <a:r>
              <a:rPr lang="en-US" sz="4000" dirty="0"/>
              <a:t>The tailed bacteriophages form the largest group and have been studied in detail. </a:t>
            </a:r>
          </a:p>
          <a:p>
            <a:endParaRPr lang="en-US" sz="4000" dirty="0"/>
          </a:p>
        </p:txBody>
      </p:sp>
    </p:spTree>
    <p:extLst>
      <p:ext uri="{BB962C8B-B14F-4D97-AF65-F5344CB8AC3E}">
        <p14:creationId xmlns:p14="http://schemas.microsoft.com/office/powerpoint/2010/main" val="80733276"/>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9"/>
            <a:ext cx="10515600" cy="968188"/>
          </a:xfrm>
        </p:spPr>
        <p:txBody>
          <a:bodyPr>
            <a:noAutofit/>
          </a:bodyPr>
          <a:lstStyle/>
          <a:p>
            <a:pPr algn="ctr"/>
            <a:r>
              <a:rPr lang="en-US" sz="4800" b="1" dirty="0" smtClean="0"/>
              <a:t/>
            </a:r>
            <a:br>
              <a:rPr lang="en-US" sz="4800" b="1" dirty="0" smtClean="0"/>
            </a:br>
            <a:r>
              <a:rPr lang="en-US" sz="4800" b="1" dirty="0" smtClean="0"/>
              <a:t>Structure </a:t>
            </a:r>
            <a:r>
              <a:rPr lang="en-US" sz="4800" b="1" dirty="0"/>
              <a:t>of </a:t>
            </a:r>
            <a:r>
              <a:rPr lang="en-US" sz="4800" b="1" dirty="0" smtClean="0"/>
              <a:t>Bacteriophage</a:t>
            </a:r>
            <a:r>
              <a:rPr lang="en-US" sz="4800" dirty="0"/>
              <a:t/>
            </a:r>
            <a:br>
              <a:rPr lang="en-US" sz="4800" dirty="0"/>
            </a:br>
            <a:endParaRPr lang="en-US" sz="4800" dirty="0"/>
          </a:p>
        </p:txBody>
      </p:sp>
      <p:sp>
        <p:nvSpPr>
          <p:cNvPr id="3" name="Content Placeholder 2"/>
          <p:cNvSpPr>
            <a:spLocks noGrp="1"/>
          </p:cNvSpPr>
          <p:nvPr>
            <p:ph idx="1"/>
          </p:nvPr>
        </p:nvSpPr>
        <p:spPr>
          <a:xfrm>
            <a:off x="838200" y="1250576"/>
            <a:ext cx="10515600" cy="4926387"/>
          </a:xfrm>
        </p:spPr>
        <p:txBody>
          <a:bodyPr>
            <a:noAutofit/>
          </a:bodyPr>
          <a:lstStyle/>
          <a:p>
            <a:pPr lvl="0"/>
            <a:r>
              <a:rPr lang="en-US" sz="4000" dirty="0" smtClean="0"/>
              <a:t>A </a:t>
            </a:r>
            <a:r>
              <a:rPr lang="en-US" sz="4000" dirty="0"/>
              <a:t>typical bacteriophage (T</a:t>
            </a:r>
            <a:r>
              <a:rPr lang="en-US" sz="4000" baseline="-25000" dirty="0"/>
              <a:t>4</a:t>
            </a:r>
            <a:r>
              <a:rPr lang="en-US" sz="4000" dirty="0"/>
              <a:t>) consists of three distinct parts, viz., head, neck and tail. </a:t>
            </a:r>
          </a:p>
          <a:p>
            <a:pPr lvl="0"/>
            <a:r>
              <a:rPr lang="en-US" sz="4000" b="1" dirty="0"/>
              <a:t>Head </a:t>
            </a:r>
            <a:endParaRPr lang="en-US" sz="4000" dirty="0"/>
          </a:p>
          <a:p>
            <a:pPr lvl="0"/>
            <a:r>
              <a:rPr lang="en-US" sz="4000" dirty="0"/>
              <a:t>Head is polyhedral in shape. In many cases, it is icosahedral. </a:t>
            </a:r>
          </a:p>
          <a:p>
            <a:pPr lvl="0"/>
            <a:r>
              <a:rPr lang="en-US" sz="4000" dirty="0"/>
              <a:t>Head is covered with a protein covering called capsid. </a:t>
            </a:r>
          </a:p>
          <a:p>
            <a:pPr lvl="0"/>
            <a:r>
              <a:rPr lang="en-US" sz="4000" dirty="0"/>
              <a:t>The capsid contains the nucleic acid. </a:t>
            </a:r>
          </a:p>
        </p:txBody>
      </p:sp>
    </p:spTree>
    <p:extLst>
      <p:ext uri="{BB962C8B-B14F-4D97-AF65-F5344CB8AC3E}">
        <p14:creationId xmlns:p14="http://schemas.microsoft.com/office/powerpoint/2010/main" val="3362526222"/>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
            </a:r>
            <a:br>
              <a:rPr lang="en-US" b="1" dirty="0"/>
            </a:br>
            <a:r>
              <a:rPr lang="en-US" b="1" dirty="0"/>
              <a:t>Structure of </a:t>
            </a:r>
            <a:r>
              <a:rPr lang="en-US" b="1" dirty="0" smtClean="0"/>
              <a:t>Bacteriophage cont’d</a:t>
            </a:r>
            <a:r>
              <a:rPr lang="en-US" dirty="0"/>
              <a:t/>
            </a:r>
            <a:br>
              <a:rPr lang="en-US" dirty="0"/>
            </a:br>
            <a:endParaRPr lang="en-US" dirty="0"/>
          </a:p>
        </p:txBody>
      </p:sp>
      <p:sp>
        <p:nvSpPr>
          <p:cNvPr id="3" name="Content Placeholder 2"/>
          <p:cNvSpPr>
            <a:spLocks noGrp="1"/>
          </p:cNvSpPr>
          <p:nvPr>
            <p:ph idx="1"/>
          </p:nvPr>
        </p:nvSpPr>
        <p:spPr>
          <a:xfrm>
            <a:off x="838200" y="1825625"/>
            <a:ext cx="10515600" cy="4615516"/>
          </a:xfrm>
        </p:spPr>
        <p:txBody>
          <a:bodyPr>
            <a:noAutofit/>
          </a:bodyPr>
          <a:lstStyle/>
          <a:p>
            <a:r>
              <a:rPr lang="en-US" sz="4000" dirty="0"/>
              <a:t>The nucleic acid may be single stranded or double stranded, linear or circular in most </a:t>
            </a:r>
            <a:r>
              <a:rPr lang="en-US" sz="4000" dirty="0" smtClean="0"/>
              <a:t>phages.</a:t>
            </a:r>
          </a:p>
          <a:p>
            <a:pPr lvl="0"/>
            <a:r>
              <a:rPr lang="en-US" sz="4000" dirty="0"/>
              <a:t>Some phages may have linear RNA with one or more proteins. </a:t>
            </a:r>
          </a:p>
          <a:p>
            <a:pPr lvl="0"/>
            <a:r>
              <a:rPr lang="en-US" sz="4000" dirty="0"/>
              <a:t>&lt;p6 bacteriophage contains three double-stranded linear RNA molecules with variable base sequences. </a:t>
            </a:r>
          </a:p>
          <a:p>
            <a:endParaRPr lang="en-US" sz="4000" dirty="0"/>
          </a:p>
        </p:txBody>
      </p:sp>
    </p:spTree>
    <p:extLst>
      <p:ext uri="{BB962C8B-B14F-4D97-AF65-F5344CB8AC3E}">
        <p14:creationId xmlns:p14="http://schemas.microsoft.com/office/powerpoint/2010/main" val="4110591656"/>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
            </a:r>
            <a:br>
              <a:rPr lang="en-US" b="1" dirty="0"/>
            </a:br>
            <a:r>
              <a:rPr lang="en-US" b="1" dirty="0"/>
              <a:t>Structure of Bacteriophage cont’d</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lvl="0"/>
            <a:r>
              <a:rPr lang="en-US" sz="4000" dirty="0"/>
              <a:t>The protein coat protects nucleic acid from nucleases during phage infection. </a:t>
            </a:r>
          </a:p>
          <a:p>
            <a:r>
              <a:rPr lang="en-US" sz="4000" dirty="0"/>
              <a:t>In the simplest phages, nucleic acid code for 3-5 gene products while in complex phage it may code for </a:t>
            </a:r>
            <a:r>
              <a:rPr lang="en-US" sz="4000" dirty="0" err="1"/>
              <a:t>lOO</a:t>
            </a:r>
            <a:r>
              <a:rPr lang="en-US" sz="4000" dirty="0"/>
              <a:t> gene products</a:t>
            </a:r>
          </a:p>
          <a:p>
            <a:endParaRPr lang="en-US" sz="4000" dirty="0"/>
          </a:p>
        </p:txBody>
      </p:sp>
    </p:spTree>
    <p:extLst>
      <p:ext uri="{BB962C8B-B14F-4D97-AF65-F5344CB8AC3E}">
        <p14:creationId xmlns:p14="http://schemas.microsoft.com/office/powerpoint/2010/main" val="2731163876"/>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259"/>
            <a:ext cx="10515600" cy="874059"/>
          </a:xfrm>
        </p:spPr>
        <p:txBody>
          <a:bodyPr/>
          <a:lstStyle/>
          <a:p>
            <a:pPr algn="ctr"/>
            <a:r>
              <a:rPr lang="en-US" b="1" dirty="0" smtClean="0"/>
              <a:t>Bacteriophage </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72553" y="1062319"/>
            <a:ext cx="5365376" cy="5795682"/>
          </a:xfrm>
        </p:spPr>
      </p:pic>
    </p:spTree>
    <p:extLst>
      <p:ext uri="{BB962C8B-B14F-4D97-AF65-F5344CB8AC3E}">
        <p14:creationId xmlns:p14="http://schemas.microsoft.com/office/powerpoint/2010/main" val="2407280835"/>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1"/>
            <a:ext cx="10515600" cy="887505"/>
          </a:xfrm>
        </p:spPr>
        <p:txBody>
          <a:bodyPr>
            <a:normAutofit fontScale="90000"/>
          </a:bodyPr>
          <a:lstStyle/>
          <a:p>
            <a:pPr lvl="0" algn="ctr"/>
            <a:r>
              <a:rPr lang="en-US" b="1" dirty="0" smtClean="0"/>
              <a:t/>
            </a:r>
            <a:br>
              <a:rPr lang="en-US" b="1" dirty="0" smtClean="0"/>
            </a:br>
            <a:r>
              <a:rPr lang="en-US" b="1" dirty="0" smtClean="0"/>
              <a:t>Neck </a:t>
            </a:r>
            <a:r>
              <a:rPr lang="en-US" dirty="0"/>
              <a:t/>
            </a:r>
            <a:br>
              <a:rPr lang="en-US" dirty="0"/>
            </a:br>
            <a:endParaRPr lang="en-US" dirty="0"/>
          </a:p>
        </p:txBody>
      </p:sp>
      <p:sp>
        <p:nvSpPr>
          <p:cNvPr id="3" name="Content Placeholder 2"/>
          <p:cNvSpPr>
            <a:spLocks noGrp="1"/>
          </p:cNvSpPr>
          <p:nvPr>
            <p:ph idx="1"/>
          </p:nvPr>
        </p:nvSpPr>
        <p:spPr>
          <a:xfrm>
            <a:off x="838200" y="1250576"/>
            <a:ext cx="10515600" cy="4926387"/>
          </a:xfrm>
        </p:spPr>
        <p:txBody>
          <a:bodyPr>
            <a:normAutofit/>
          </a:bodyPr>
          <a:lstStyle/>
          <a:p>
            <a:pPr lvl="0"/>
            <a:r>
              <a:rPr lang="en-US" sz="4000" dirty="0" smtClean="0"/>
              <a:t>Neck </a:t>
            </a:r>
            <a:r>
              <a:rPr lang="en-US" sz="4000" dirty="0"/>
              <a:t>of bacteriophages is very short and has a collar. </a:t>
            </a:r>
          </a:p>
          <a:p>
            <a:pPr lvl="0"/>
            <a:r>
              <a:rPr lang="en-US" sz="4000" dirty="0"/>
              <a:t>Neck connects head with tail. </a:t>
            </a:r>
          </a:p>
          <a:p>
            <a:endParaRPr lang="en-US" sz="4000" dirty="0"/>
          </a:p>
        </p:txBody>
      </p:sp>
    </p:spTree>
    <p:extLst>
      <p:ext uri="{BB962C8B-B14F-4D97-AF65-F5344CB8AC3E}">
        <p14:creationId xmlns:p14="http://schemas.microsoft.com/office/powerpoint/2010/main" val="1286448554"/>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2047"/>
            <a:ext cx="10515600" cy="927847"/>
          </a:xfrm>
        </p:spPr>
        <p:txBody>
          <a:bodyPr>
            <a:normAutofit fontScale="90000"/>
          </a:bodyPr>
          <a:lstStyle/>
          <a:p>
            <a:pPr lvl="0" algn="ctr"/>
            <a:r>
              <a:rPr lang="en-US" b="1" dirty="0" smtClean="0"/>
              <a:t/>
            </a:r>
            <a:br>
              <a:rPr lang="en-US" b="1" dirty="0" smtClean="0"/>
            </a:br>
            <a:r>
              <a:rPr lang="en-US" b="1" dirty="0" smtClean="0"/>
              <a:t>Tail </a:t>
            </a:r>
            <a:r>
              <a:rPr lang="en-US" dirty="0"/>
              <a:t/>
            </a:r>
            <a:br>
              <a:rPr lang="en-US" dirty="0"/>
            </a:br>
            <a:endParaRPr lang="en-US" dirty="0"/>
          </a:p>
        </p:txBody>
      </p:sp>
      <p:sp>
        <p:nvSpPr>
          <p:cNvPr id="3" name="Content Placeholder 2"/>
          <p:cNvSpPr>
            <a:spLocks noGrp="1"/>
          </p:cNvSpPr>
          <p:nvPr>
            <p:ph idx="1"/>
          </p:nvPr>
        </p:nvSpPr>
        <p:spPr>
          <a:xfrm>
            <a:off x="838200" y="1169894"/>
            <a:ext cx="10515600" cy="5007069"/>
          </a:xfrm>
        </p:spPr>
        <p:txBody>
          <a:bodyPr>
            <a:noAutofit/>
          </a:bodyPr>
          <a:lstStyle/>
          <a:p>
            <a:pPr lvl="0"/>
            <a:r>
              <a:rPr lang="en-US" sz="4000" dirty="0" smtClean="0"/>
              <a:t>Tail </a:t>
            </a:r>
            <a:r>
              <a:rPr lang="en-US" sz="4000" dirty="0"/>
              <a:t>is a complex multicomponent structure. </a:t>
            </a:r>
          </a:p>
          <a:p>
            <a:pPr lvl="0"/>
            <a:r>
              <a:rPr lang="en-US" sz="4000" dirty="0"/>
              <a:t>Tail contains a central hollow core through which nucleic acid passes into the host cell during infection. </a:t>
            </a:r>
          </a:p>
          <a:p>
            <a:pPr lvl="0"/>
            <a:r>
              <a:rPr lang="en-US" sz="4000" dirty="0"/>
              <a:t>Tail is surrounded by a contractile sheath. </a:t>
            </a:r>
          </a:p>
          <a:p>
            <a:pPr lvl="0"/>
            <a:r>
              <a:rPr lang="en-US" sz="4000" dirty="0"/>
              <a:t>The sheath has the ability to contract longitudinally. </a:t>
            </a:r>
          </a:p>
          <a:p>
            <a:endParaRPr lang="en-US" sz="4000" dirty="0"/>
          </a:p>
        </p:txBody>
      </p:sp>
    </p:spTree>
    <p:extLst>
      <p:ext uri="{BB962C8B-B14F-4D97-AF65-F5344CB8AC3E}">
        <p14:creationId xmlns:p14="http://schemas.microsoft.com/office/powerpoint/2010/main" val="201895576"/>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5600" cy="941294"/>
          </a:xfrm>
        </p:spPr>
        <p:txBody>
          <a:bodyPr>
            <a:normAutofit fontScale="90000"/>
          </a:bodyPr>
          <a:lstStyle/>
          <a:p>
            <a:pPr algn="ctr"/>
            <a:r>
              <a:rPr lang="en-US" b="1" dirty="0"/>
              <a:t/>
            </a:r>
            <a:br>
              <a:rPr lang="en-US" b="1" dirty="0"/>
            </a:br>
            <a:r>
              <a:rPr lang="en-US" b="1" dirty="0" smtClean="0"/>
              <a:t>Tail cont’d </a:t>
            </a:r>
            <a:r>
              <a:rPr lang="en-US" dirty="0"/>
              <a:t/>
            </a:r>
            <a:br>
              <a:rPr lang="en-US" dirty="0"/>
            </a:br>
            <a:endParaRPr lang="en-US" dirty="0"/>
          </a:p>
        </p:txBody>
      </p:sp>
      <p:sp>
        <p:nvSpPr>
          <p:cNvPr id="3" name="Content Placeholder 2"/>
          <p:cNvSpPr>
            <a:spLocks noGrp="1"/>
          </p:cNvSpPr>
          <p:nvPr>
            <p:ph idx="1"/>
          </p:nvPr>
        </p:nvSpPr>
        <p:spPr>
          <a:xfrm>
            <a:off x="838200" y="1304365"/>
            <a:ext cx="10515600" cy="4872598"/>
          </a:xfrm>
        </p:spPr>
        <p:txBody>
          <a:bodyPr>
            <a:normAutofit/>
          </a:bodyPr>
          <a:lstStyle/>
          <a:p>
            <a:pPr lvl="0"/>
            <a:r>
              <a:rPr lang="en-US" sz="4000" dirty="0"/>
              <a:t>The tail end of a bacteriophage is attached to the end plate, which is hexagonal. </a:t>
            </a:r>
          </a:p>
          <a:p>
            <a:pPr lvl="0"/>
            <a:r>
              <a:rPr lang="en-US" sz="4000" dirty="0"/>
              <a:t>The endplate terminates into tail </a:t>
            </a:r>
            <a:r>
              <a:rPr lang="en-US" sz="4000" dirty="0" err="1"/>
              <a:t>fibres</a:t>
            </a:r>
            <a:r>
              <a:rPr lang="en-US" sz="4000" dirty="0"/>
              <a:t>. </a:t>
            </a:r>
            <a:endParaRPr lang="en-US" sz="4000" dirty="0" smtClean="0"/>
          </a:p>
          <a:p>
            <a:pPr lvl="0"/>
            <a:r>
              <a:rPr lang="en-US" sz="4000" dirty="0"/>
              <a:t>The tail </a:t>
            </a:r>
            <a:r>
              <a:rPr lang="en-US" sz="4000" dirty="0" err="1"/>
              <a:t>fibres</a:t>
            </a:r>
            <a:r>
              <a:rPr lang="en-US" sz="4000" dirty="0"/>
              <a:t> are involved in the attachment of the phages to the bacterial cell.</a:t>
            </a:r>
          </a:p>
          <a:p>
            <a:pPr lvl="0"/>
            <a:r>
              <a:rPr lang="en-US" sz="4000" dirty="0"/>
              <a:t>The process by which the tail attaches to the surface of bacteria is called adsorption. </a:t>
            </a:r>
          </a:p>
          <a:p>
            <a:pPr lvl="0"/>
            <a:endParaRPr lang="en-US" sz="4000" dirty="0"/>
          </a:p>
          <a:p>
            <a:endParaRPr lang="en-US" sz="4000" dirty="0"/>
          </a:p>
        </p:txBody>
      </p:sp>
    </p:spTree>
    <p:extLst>
      <p:ext uri="{BB962C8B-B14F-4D97-AF65-F5344CB8AC3E}">
        <p14:creationId xmlns:p14="http://schemas.microsoft.com/office/powerpoint/2010/main" val="2046170063"/>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4813"/>
            <a:ext cx="10515600" cy="887506"/>
          </a:xfrm>
        </p:spPr>
        <p:txBody>
          <a:bodyPr>
            <a:normAutofit fontScale="90000"/>
          </a:bodyPr>
          <a:lstStyle/>
          <a:p>
            <a:pPr algn="ctr"/>
            <a:r>
              <a:rPr lang="en-US" b="1" dirty="0"/>
              <a:t/>
            </a:r>
            <a:br>
              <a:rPr lang="en-US" b="1" dirty="0"/>
            </a:br>
            <a:r>
              <a:rPr lang="en-US" b="1" dirty="0"/>
              <a:t>Tail cont’d </a:t>
            </a:r>
            <a:r>
              <a:rPr lang="en-US" dirty="0"/>
              <a:t/>
            </a:r>
            <a:br>
              <a:rPr lang="en-US" dirty="0"/>
            </a:br>
            <a:endParaRPr lang="en-US" dirty="0"/>
          </a:p>
        </p:txBody>
      </p:sp>
      <p:sp>
        <p:nvSpPr>
          <p:cNvPr id="3" name="Content Placeholder 2"/>
          <p:cNvSpPr>
            <a:spLocks noGrp="1"/>
          </p:cNvSpPr>
          <p:nvPr>
            <p:ph idx="1"/>
          </p:nvPr>
        </p:nvSpPr>
        <p:spPr>
          <a:xfrm>
            <a:off x="838200" y="1196788"/>
            <a:ext cx="10515600" cy="4980175"/>
          </a:xfrm>
        </p:spPr>
        <p:txBody>
          <a:bodyPr>
            <a:normAutofit/>
          </a:bodyPr>
          <a:lstStyle/>
          <a:p>
            <a:pPr lvl="0"/>
            <a:r>
              <a:rPr lang="en-US" sz="4000" dirty="0"/>
              <a:t>Some phages lack endplate and tail </a:t>
            </a:r>
            <a:r>
              <a:rPr lang="en-US" sz="4000" dirty="0" err="1"/>
              <a:t>fibres</a:t>
            </a:r>
            <a:r>
              <a:rPr lang="en-US" sz="4000" dirty="0"/>
              <a:t>. </a:t>
            </a:r>
          </a:p>
          <a:p>
            <a:pPr lvl="0"/>
            <a:r>
              <a:rPr lang="en-US" sz="4000" dirty="0"/>
              <a:t>On the basis of their interaction with the host bacterium, the phages are divided into two groups, viz., virulent and temperate. </a:t>
            </a:r>
          </a:p>
          <a:p>
            <a:endParaRPr lang="en-US" sz="4000" dirty="0"/>
          </a:p>
        </p:txBody>
      </p:sp>
    </p:spTree>
    <p:extLst>
      <p:ext uri="{BB962C8B-B14F-4D97-AF65-F5344CB8AC3E}">
        <p14:creationId xmlns:p14="http://schemas.microsoft.com/office/powerpoint/2010/main" val="3269487805"/>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5600" cy="941294"/>
          </a:xfrm>
        </p:spPr>
        <p:txBody>
          <a:bodyPr/>
          <a:lstStyle/>
          <a:p>
            <a:pPr algn="ctr"/>
            <a:r>
              <a:rPr lang="en-US" b="1" dirty="0"/>
              <a:t>Virulent phages</a:t>
            </a:r>
            <a:endParaRPr lang="en-US" dirty="0"/>
          </a:p>
        </p:txBody>
      </p:sp>
      <p:sp>
        <p:nvSpPr>
          <p:cNvPr id="3" name="Content Placeholder 2"/>
          <p:cNvSpPr>
            <a:spLocks noGrp="1"/>
          </p:cNvSpPr>
          <p:nvPr>
            <p:ph idx="1"/>
          </p:nvPr>
        </p:nvSpPr>
        <p:spPr>
          <a:xfrm>
            <a:off x="838200" y="1264024"/>
            <a:ext cx="10515600" cy="4912939"/>
          </a:xfrm>
        </p:spPr>
        <p:txBody>
          <a:bodyPr>
            <a:normAutofit/>
          </a:bodyPr>
          <a:lstStyle/>
          <a:p>
            <a:pPr lvl="0"/>
            <a:r>
              <a:rPr lang="en-US" sz="4000" b="1" dirty="0"/>
              <a:t>Virulent phages</a:t>
            </a:r>
            <a:r>
              <a:rPr lang="en-US" sz="4000" dirty="0"/>
              <a:t> are those that normally lyse (destroy) the attached host/bacterial cells; there is probably no alternative strategy for their multiplication. This characteristic growth of virulent bacteriophages is called 'lytic cycle' (e.g., T-even phages). </a:t>
            </a:r>
          </a:p>
          <a:p>
            <a:endParaRPr lang="en-US" sz="4000" dirty="0"/>
          </a:p>
        </p:txBody>
      </p:sp>
    </p:spTree>
    <p:extLst>
      <p:ext uri="{BB962C8B-B14F-4D97-AF65-F5344CB8AC3E}">
        <p14:creationId xmlns:p14="http://schemas.microsoft.com/office/powerpoint/2010/main" val="1305190513"/>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9"/>
            <a:ext cx="10515600" cy="1021976"/>
          </a:xfrm>
        </p:spPr>
        <p:txBody>
          <a:bodyPr/>
          <a:lstStyle/>
          <a:p>
            <a:pPr algn="ctr"/>
            <a:r>
              <a:rPr lang="en-US" b="1" dirty="0"/>
              <a:t>Temperate phages</a:t>
            </a:r>
            <a:endParaRPr lang="en-US" dirty="0"/>
          </a:p>
        </p:txBody>
      </p:sp>
      <p:sp>
        <p:nvSpPr>
          <p:cNvPr id="3" name="Content Placeholder 2"/>
          <p:cNvSpPr>
            <a:spLocks noGrp="1"/>
          </p:cNvSpPr>
          <p:nvPr>
            <p:ph idx="1"/>
          </p:nvPr>
        </p:nvSpPr>
        <p:spPr>
          <a:xfrm>
            <a:off x="838200" y="1264024"/>
            <a:ext cx="10515600" cy="4912939"/>
          </a:xfrm>
        </p:spPr>
        <p:txBody>
          <a:bodyPr>
            <a:normAutofit/>
          </a:bodyPr>
          <a:lstStyle/>
          <a:p>
            <a:pPr lvl="0"/>
            <a:r>
              <a:rPr lang="en-US" sz="4000" b="1" dirty="0"/>
              <a:t>Temperate phages</a:t>
            </a:r>
            <a:r>
              <a:rPr lang="en-US" sz="4000" dirty="0"/>
              <a:t> adopt two alternative modes for their multiplication: (a) They may enter a lytic cycle and behave like a virulent phage or (b) they may integrate themselves into the bacterial chromosome, thus resulting in an </a:t>
            </a:r>
            <a:r>
              <a:rPr lang="en-US" sz="4000" dirty="0" err="1"/>
              <a:t>iysogenic</a:t>
            </a:r>
            <a:r>
              <a:rPr lang="en-US" sz="4000" dirty="0"/>
              <a:t> cycle; in the integrated (lysogenic) state the phage is described as a </a:t>
            </a:r>
            <a:r>
              <a:rPr lang="en-US" sz="4000" dirty="0" err="1"/>
              <a:t>prophage</a:t>
            </a:r>
            <a:r>
              <a:rPr lang="en-US" sz="4000" dirty="0"/>
              <a:t> (e.g., lambda phage). </a:t>
            </a:r>
          </a:p>
          <a:p>
            <a:endParaRPr lang="en-US" sz="4000" dirty="0"/>
          </a:p>
        </p:txBody>
      </p:sp>
    </p:spTree>
    <p:extLst>
      <p:ext uri="{BB962C8B-B14F-4D97-AF65-F5344CB8AC3E}">
        <p14:creationId xmlns:p14="http://schemas.microsoft.com/office/powerpoint/2010/main" val="253406638"/>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4472"/>
            <a:ext cx="10515600" cy="793376"/>
          </a:xfrm>
        </p:spPr>
        <p:txBody>
          <a:bodyPr>
            <a:normAutofit/>
          </a:bodyPr>
          <a:lstStyle/>
          <a:p>
            <a:pPr algn="ctr"/>
            <a:r>
              <a:rPr lang="en-US" b="1" dirty="0"/>
              <a:t>Life </a:t>
            </a:r>
            <a:r>
              <a:rPr lang="en-US" b="1" dirty="0" smtClean="0"/>
              <a:t>Cycle </a:t>
            </a:r>
            <a:endParaRPr lang="en-US" dirty="0"/>
          </a:p>
        </p:txBody>
      </p:sp>
      <p:sp>
        <p:nvSpPr>
          <p:cNvPr id="3" name="Content Placeholder 2"/>
          <p:cNvSpPr>
            <a:spLocks noGrp="1"/>
          </p:cNvSpPr>
          <p:nvPr>
            <p:ph idx="1"/>
          </p:nvPr>
        </p:nvSpPr>
        <p:spPr>
          <a:xfrm>
            <a:off x="838200" y="1048871"/>
            <a:ext cx="10515600" cy="5128092"/>
          </a:xfrm>
        </p:spPr>
        <p:txBody>
          <a:bodyPr>
            <a:normAutofit/>
          </a:bodyPr>
          <a:lstStyle/>
          <a:p>
            <a:r>
              <a:rPr lang="en-US" sz="4000" b="1" dirty="0" smtClean="0"/>
              <a:t> </a:t>
            </a:r>
            <a:r>
              <a:rPr lang="en-US" sz="4000" dirty="0" smtClean="0"/>
              <a:t>Bacteriophages </a:t>
            </a:r>
            <a:r>
              <a:rPr lang="en-US" sz="4000" dirty="0"/>
              <a:t>exhibit two types </a:t>
            </a:r>
            <a:r>
              <a:rPr lang="en-US" sz="4000" dirty="0" err="1"/>
              <a:t>oflife</a:t>
            </a:r>
            <a:r>
              <a:rPr lang="en-US" sz="4000" dirty="0"/>
              <a:t> cycles, viz., lytic cycle and lysogenic cycle.  </a:t>
            </a:r>
          </a:p>
          <a:p>
            <a:pPr lvl="0"/>
            <a:r>
              <a:rPr lang="en-US" sz="4000" dirty="0"/>
              <a:t>All the T-series bacteriophages exhibit lytic cycle. These bacteriophages infect </a:t>
            </a:r>
            <a:br>
              <a:rPr lang="en-US" sz="4000" dirty="0"/>
            </a:br>
            <a:r>
              <a:rPr lang="en-US" sz="4000" dirty="0"/>
              <a:t>bacteria and after completion of the life cycle, they cause rupture of the bacterial cell. Therefore, life cycle is known as lytic cycle. Lytic cycle involves the </a:t>
            </a:r>
            <a:r>
              <a:rPr lang="en-US" sz="4000" dirty="0" smtClean="0"/>
              <a:t>following </a:t>
            </a:r>
            <a:r>
              <a:rPr lang="en-US" sz="4000" dirty="0"/>
              <a:t>steps: </a:t>
            </a:r>
          </a:p>
          <a:p>
            <a:endParaRPr lang="en-US" sz="4000" dirty="0"/>
          </a:p>
        </p:txBody>
      </p:sp>
    </p:spTree>
    <p:extLst>
      <p:ext uri="{BB962C8B-B14F-4D97-AF65-F5344CB8AC3E}">
        <p14:creationId xmlns:p14="http://schemas.microsoft.com/office/powerpoint/2010/main" val="663552126"/>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388"/>
            <a:ext cx="10515600" cy="645460"/>
          </a:xfrm>
        </p:spPr>
        <p:txBody>
          <a:bodyPr>
            <a:normAutofit fontScale="90000"/>
          </a:bodyPr>
          <a:lstStyle/>
          <a:p>
            <a:pPr algn="ctr"/>
            <a:r>
              <a:rPr lang="en-US" b="1" dirty="0" smtClean="0"/>
              <a:t>Bacteriophage life cycle</a:t>
            </a:r>
            <a:endParaRPr lang="en-US" b="1"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075765"/>
            <a:ext cx="10515600" cy="5688106"/>
          </a:xfrm>
        </p:spPr>
      </p:pic>
    </p:spTree>
    <p:extLst>
      <p:ext uri="{BB962C8B-B14F-4D97-AF65-F5344CB8AC3E}">
        <p14:creationId xmlns:p14="http://schemas.microsoft.com/office/powerpoint/2010/main" val="2831496258"/>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7577"/>
            <a:ext cx="10515600" cy="887506"/>
          </a:xfrm>
        </p:spPr>
        <p:txBody>
          <a:bodyPr>
            <a:normAutofit/>
          </a:bodyPr>
          <a:lstStyle/>
          <a:p>
            <a:pPr algn="ctr"/>
            <a:r>
              <a:rPr lang="en-US" b="1" dirty="0"/>
              <a:t>Life Cycle </a:t>
            </a:r>
            <a:r>
              <a:rPr lang="en-US" b="1" dirty="0" smtClean="0"/>
              <a:t> cont’d</a:t>
            </a:r>
            <a:endParaRPr lang="en-US" dirty="0"/>
          </a:p>
        </p:txBody>
      </p:sp>
      <p:sp>
        <p:nvSpPr>
          <p:cNvPr id="3" name="Content Placeholder 2"/>
          <p:cNvSpPr>
            <a:spLocks noGrp="1"/>
          </p:cNvSpPr>
          <p:nvPr>
            <p:ph idx="1"/>
          </p:nvPr>
        </p:nvSpPr>
        <p:spPr>
          <a:xfrm>
            <a:off x="838200" y="1102659"/>
            <a:ext cx="10515600" cy="5074304"/>
          </a:xfrm>
        </p:spPr>
        <p:txBody>
          <a:bodyPr>
            <a:normAutofit/>
          </a:bodyPr>
          <a:lstStyle/>
          <a:p>
            <a:pPr lvl="0"/>
            <a:r>
              <a:rPr lang="en-US" sz="4000" dirty="0"/>
              <a:t>When a bacteriophage infects a bacterium, it gets attached with the bacterial cell by its tail. </a:t>
            </a:r>
          </a:p>
          <a:p>
            <a:pPr lvl="0"/>
            <a:r>
              <a:rPr lang="en-US" sz="4000" dirty="0"/>
              <a:t>The tail secretes </a:t>
            </a:r>
            <a:r>
              <a:rPr lang="en-US" sz="4000" dirty="0" err="1"/>
              <a:t>proteolytic</a:t>
            </a:r>
            <a:r>
              <a:rPr lang="en-US" sz="4000" dirty="0"/>
              <a:t> enzymes that make a hole in the bacterial cell. </a:t>
            </a:r>
          </a:p>
          <a:p>
            <a:r>
              <a:rPr lang="en-US" sz="4000" dirty="0"/>
              <a:t>The DNA of the head is injected into the bacterial cell. </a:t>
            </a:r>
          </a:p>
          <a:p>
            <a:pPr lvl="0"/>
            <a:r>
              <a:rPr lang="en-US" sz="4000" dirty="0"/>
              <a:t>The protein coat remains outside the cell. </a:t>
            </a:r>
          </a:p>
          <a:p>
            <a:endParaRPr lang="en-US" sz="4000" dirty="0"/>
          </a:p>
        </p:txBody>
      </p:sp>
    </p:spTree>
    <p:extLst>
      <p:ext uri="{BB962C8B-B14F-4D97-AF65-F5344CB8AC3E}">
        <p14:creationId xmlns:p14="http://schemas.microsoft.com/office/powerpoint/2010/main" val="57225561"/>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900954"/>
          </a:xfrm>
        </p:spPr>
        <p:txBody>
          <a:bodyPr>
            <a:normAutofit/>
          </a:bodyPr>
          <a:lstStyle/>
          <a:p>
            <a:pPr algn="ctr"/>
            <a:r>
              <a:rPr lang="en-US" b="1" dirty="0"/>
              <a:t>Life Cycle  cont’d</a:t>
            </a:r>
            <a:endParaRPr lang="en-US" dirty="0"/>
          </a:p>
        </p:txBody>
      </p:sp>
      <p:sp>
        <p:nvSpPr>
          <p:cNvPr id="3" name="Content Placeholder 2"/>
          <p:cNvSpPr>
            <a:spLocks noGrp="1"/>
          </p:cNvSpPr>
          <p:nvPr>
            <p:ph idx="1"/>
          </p:nvPr>
        </p:nvSpPr>
        <p:spPr>
          <a:xfrm>
            <a:off x="838200" y="1237129"/>
            <a:ext cx="10515600" cy="4939834"/>
          </a:xfrm>
        </p:spPr>
        <p:txBody>
          <a:bodyPr>
            <a:noAutofit/>
          </a:bodyPr>
          <a:lstStyle/>
          <a:p>
            <a:pPr lvl="0"/>
            <a:r>
              <a:rPr lang="en-US" sz="4000" dirty="0"/>
              <a:t>The phage DNA inside the bacterial cell start replicating by </a:t>
            </a:r>
            <a:r>
              <a:rPr lang="en-US" sz="4000" dirty="0" err="1"/>
              <a:t>utilising</a:t>
            </a:r>
            <a:r>
              <a:rPr lang="en-US" sz="4000" dirty="0"/>
              <a:t> precursor substances from the host </a:t>
            </a:r>
            <a:r>
              <a:rPr lang="en-US" sz="4000" dirty="0" smtClean="0"/>
              <a:t>cytoplasm </a:t>
            </a:r>
            <a:r>
              <a:rPr lang="en-US" sz="4000" dirty="0"/>
              <a:t>to form its own progeny (such a phage is called virulent phage) or becomes integrated into the host chromosome as </a:t>
            </a:r>
            <a:r>
              <a:rPr lang="en-US" sz="4000" dirty="0" err="1"/>
              <a:t>prophage</a:t>
            </a:r>
            <a:r>
              <a:rPr lang="en-US" sz="4000" dirty="0"/>
              <a:t> and replicate in synchrony with the bacterial chromosome (such a phage is called </a:t>
            </a:r>
            <a:r>
              <a:rPr lang="en-US" sz="4000" dirty="0" err="1"/>
              <a:t>nonvirulent</a:t>
            </a:r>
            <a:r>
              <a:rPr lang="en-US" sz="4000" dirty="0"/>
              <a:t> or temperate phage). </a:t>
            </a:r>
          </a:p>
          <a:p>
            <a:endParaRPr lang="en-US" sz="4000" dirty="0"/>
          </a:p>
        </p:txBody>
      </p:sp>
    </p:spTree>
    <p:extLst>
      <p:ext uri="{BB962C8B-B14F-4D97-AF65-F5344CB8AC3E}">
        <p14:creationId xmlns:p14="http://schemas.microsoft.com/office/powerpoint/2010/main" val="503433367"/>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1707"/>
            <a:ext cx="10515600" cy="968188"/>
          </a:xfrm>
        </p:spPr>
        <p:txBody>
          <a:bodyPr/>
          <a:lstStyle/>
          <a:p>
            <a:pPr algn="ctr"/>
            <a:r>
              <a:rPr lang="en-US" b="1" dirty="0"/>
              <a:t>Life Cycle  cont’d</a:t>
            </a:r>
            <a:endParaRPr lang="en-US" dirty="0"/>
          </a:p>
        </p:txBody>
      </p:sp>
      <p:sp>
        <p:nvSpPr>
          <p:cNvPr id="3" name="Content Placeholder 2"/>
          <p:cNvSpPr>
            <a:spLocks noGrp="1"/>
          </p:cNvSpPr>
          <p:nvPr>
            <p:ph idx="1"/>
          </p:nvPr>
        </p:nvSpPr>
        <p:spPr>
          <a:xfrm>
            <a:off x="838200" y="1169895"/>
            <a:ext cx="10515600" cy="5007068"/>
          </a:xfrm>
        </p:spPr>
        <p:txBody>
          <a:bodyPr>
            <a:noAutofit/>
          </a:bodyPr>
          <a:lstStyle/>
          <a:p>
            <a:pPr lvl="0"/>
            <a:r>
              <a:rPr lang="en-US" sz="4000" dirty="0"/>
              <a:t>Each copy of the DNA is enclosed by a protein coat, producing a new bacteriophage. </a:t>
            </a:r>
          </a:p>
          <a:p>
            <a:pPr lvl="0"/>
            <a:r>
              <a:rPr lang="en-US" sz="4000" dirty="0"/>
              <a:t>The host cell containing the virulent phage soon bursts, releasing hundreds of new viral particles. </a:t>
            </a:r>
          </a:p>
          <a:p>
            <a:pPr lvl="0"/>
            <a:r>
              <a:rPr lang="en-US" sz="4000" dirty="0"/>
              <a:t>The new viral particles may repeat the same cycle. </a:t>
            </a:r>
          </a:p>
          <a:p>
            <a:pPr lvl="0"/>
            <a:r>
              <a:rPr lang="en-US" sz="4000" dirty="0"/>
              <a:t>The virulent phage thus destroys the host cell. </a:t>
            </a:r>
          </a:p>
          <a:p>
            <a:pPr marL="0" lvl="0" indent="0">
              <a:buNone/>
            </a:pPr>
            <a:r>
              <a:rPr lang="en-US" sz="4000" dirty="0" smtClean="0"/>
              <a:t> </a:t>
            </a:r>
            <a:endParaRPr lang="en-US" sz="4000" dirty="0"/>
          </a:p>
          <a:p>
            <a:endParaRPr lang="en-US" sz="4000" dirty="0"/>
          </a:p>
        </p:txBody>
      </p:sp>
    </p:spTree>
    <p:extLst>
      <p:ext uri="{BB962C8B-B14F-4D97-AF65-F5344CB8AC3E}">
        <p14:creationId xmlns:p14="http://schemas.microsoft.com/office/powerpoint/2010/main" val="303579829"/>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5"/>
            <a:ext cx="10515600" cy="900952"/>
          </a:xfrm>
        </p:spPr>
        <p:txBody>
          <a:bodyPr>
            <a:normAutofit/>
          </a:bodyPr>
          <a:lstStyle/>
          <a:p>
            <a:pPr algn="ctr"/>
            <a:r>
              <a:rPr lang="en-US" b="1" dirty="0"/>
              <a:t>Life Cycle  cont’d</a:t>
            </a:r>
            <a:endParaRPr lang="en-US" dirty="0"/>
          </a:p>
        </p:txBody>
      </p:sp>
      <p:sp>
        <p:nvSpPr>
          <p:cNvPr id="3" name="Content Placeholder 2"/>
          <p:cNvSpPr>
            <a:spLocks noGrp="1"/>
          </p:cNvSpPr>
          <p:nvPr>
            <p:ph idx="1"/>
          </p:nvPr>
        </p:nvSpPr>
        <p:spPr>
          <a:xfrm>
            <a:off x="838200" y="1021977"/>
            <a:ext cx="10515600" cy="5154986"/>
          </a:xfrm>
        </p:spPr>
        <p:txBody>
          <a:bodyPr>
            <a:normAutofit/>
          </a:bodyPr>
          <a:lstStyle/>
          <a:p>
            <a:pPr lvl="0"/>
            <a:r>
              <a:rPr lang="en-US" sz="4000" dirty="0"/>
              <a:t>The temperate phage does not destroy the bacterial cell. </a:t>
            </a:r>
          </a:p>
          <a:p>
            <a:pPr lvl="0"/>
            <a:r>
              <a:rPr lang="en-US" sz="4000" dirty="0"/>
              <a:t>Rarely, a bacterium containing a temperate phage will lyse liberating many infectious viral progeny</a:t>
            </a:r>
            <a:r>
              <a:rPr lang="en-US" sz="4000" dirty="0" smtClean="0"/>
              <a:t>.</a:t>
            </a:r>
          </a:p>
          <a:p>
            <a:pPr lvl="0"/>
            <a:r>
              <a:rPr lang="en-US" sz="4000" dirty="0"/>
              <a:t>As the host cells are potentially subject to </a:t>
            </a:r>
            <a:r>
              <a:rPr lang="en-US" sz="4000" dirty="0" err="1"/>
              <a:t>lysis</a:t>
            </a:r>
            <a:r>
              <a:rPr lang="en-US" sz="4000" dirty="0"/>
              <a:t>, they are called lysogenic.</a:t>
            </a:r>
          </a:p>
        </p:txBody>
      </p:sp>
    </p:spTree>
    <p:extLst>
      <p:ext uri="{BB962C8B-B14F-4D97-AF65-F5344CB8AC3E}">
        <p14:creationId xmlns:p14="http://schemas.microsoft.com/office/powerpoint/2010/main" val="473998404"/>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9"/>
            <a:ext cx="10515600" cy="941294"/>
          </a:xfrm>
        </p:spPr>
        <p:txBody>
          <a:bodyPr/>
          <a:lstStyle/>
          <a:p>
            <a:pPr algn="ctr"/>
            <a:r>
              <a:rPr lang="en-US" b="1" dirty="0"/>
              <a:t>Life Cycle  cont’d</a:t>
            </a:r>
            <a:endParaRPr lang="en-US" dirty="0"/>
          </a:p>
        </p:txBody>
      </p:sp>
      <p:sp>
        <p:nvSpPr>
          <p:cNvPr id="3" name="Content Placeholder 2"/>
          <p:cNvSpPr>
            <a:spLocks noGrp="1"/>
          </p:cNvSpPr>
          <p:nvPr>
            <p:ph idx="1"/>
          </p:nvPr>
        </p:nvSpPr>
        <p:spPr>
          <a:xfrm>
            <a:off x="838200" y="1089213"/>
            <a:ext cx="10515600" cy="5087750"/>
          </a:xfrm>
        </p:spPr>
        <p:txBody>
          <a:bodyPr>
            <a:normAutofit/>
          </a:bodyPr>
          <a:lstStyle/>
          <a:p>
            <a:pPr lvl="0"/>
            <a:r>
              <a:rPr lang="en-US" sz="4000" dirty="0"/>
              <a:t>A virulent phage may remain in quiescent for a long time but may convert into reproductive virulent phage by some radiation sources (such as ultra violet or X-rays) and disrupt the bacterial cell. </a:t>
            </a:r>
          </a:p>
          <a:p>
            <a:pPr lvl="0"/>
            <a:r>
              <a:rPr lang="en-US" sz="4000" dirty="0"/>
              <a:t>Virulent phages cannot become </a:t>
            </a:r>
            <a:r>
              <a:rPr lang="en-US" sz="4000" dirty="0" err="1"/>
              <a:t>prophages</a:t>
            </a:r>
            <a:r>
              <a:rPr lang="en-US" sz="4000" dirty="0"/>
              <a:t>. They are always lytic. </a:t>
            </a:r>
          </a:p>
          <a:p>
            <a:endParaRPr lang="en-US" sz="4000" dirty="0"/>
          </a:p>
        </p:txBody>
      </p:sp>
    </p:spTree>
    <p:extLst>
      <p:ext uri="{BB962C8B-B14F-4D97-AF65-F5344CB8AC3E}">
        <p14:creationId xmlns:p14="http://schemas.microsoft.com/office/powerpoint/2010/main" val="2292971372"/>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Life Cycle  cont’d</a:t>
            </a:r>
            <a:endParaRPr lang="en-US" dirty="0"/>
          </a:p>
        </p:txBody>
      </p:sp>
      <p:sp>
        <p:nvSpPr>
          <p:cNvPr id="3" name="Content Placeholder 2"/>
          <p:cNvSpPr>
            <a:spLocks noGrp="1"/>
          </p:cNvSpPr>
          <p:nvPr>
            <p:ph idx="1"/>
          </p:nvPr>
        </p:nvSpPr>
        <p:spPr/>
        <p:txBody>
          <a:bodyPr>
            <a:normAutofit/>
          </a:bodyPr>
          <a:lstStyle/>
          <a:p>
            <a:pPr lvl="0"/>
            <a:r>
              <a:rPr lang="en-US" sz="4000" dirty="0"/>
              <a:t>Temperate phages can integrate into bacterial chromosome as </a:t>
            </a:r>
            <a:r>
              <a:rPr lang="en-US" sz="4000" dirty="0" err="1" smtClean="0"/>
              <a:t>prophages</a:t>
            </a:r>
            <a:r>
              <a:rPr lang="en-US" sz="4000" dirty="0" smtClean="0"/>
              <a:t> , </a:t>
            </a:r>
            <a:r>
              <a:rPr lang="en-US" sz="4000" dirty="0"/>
              <a:t>allowing the host cells to survive in the lysogenic state. </a:t>
            </a:r>
          </a:p>
          <a:p>
            <a:pPr lvl="0"/>
            <a:r>
              <a:rPr lang="en-US" sz="4000" dirty="0" err="1"/>
              <a:t>Prophages</a:t>
            </a:r>
            <a:r>
              <a:rPr lang="en-US" sz="4000" dirty="0"/>
              <a:t> occasionally exit the bacterial chromosome and enter the lytic </a:t>
            </a:r>
            <a:r>
              <a:rPr lang="en-US" sz="4000" dirty="0" smtClean="0"/>
              <a:t>cycle.</a:t>
            </a:r>
            <a:endParaRPr lang="en-US" sz="4000" dirty="0"/>
          </a:p>
          <a:p>
            <a:pPr marL="0" indent="0">
              <a:buNone/>
            </a:pPr>
            <a:endParaRPr lang="en-US" sz="4000" dirty="0"/>
          </a:p>
        </p:txBody>
      </p:sp>
    </p:spTree>
    <p:extLst>
      <p:ext uri="{BB962C8B-B14F-4D97-AF65-F5344CB8AC3E}">
        <p14:creationId xmlns:p14="http://schemas.microsoft.com/office/powerpoint/2010/main" val="29346340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1041</TotalTime>
  <Words>14174</Words>
  <Application>Microsoft Office PowerPoint</Application>
  <PresentationFormat>Widescreen</PresentationFormat>
  <Paragraphs>1002</Paragraphs>
  <Slides>304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304</vt:i4>
      </vt:variant>
    </vt:vector>
  </HeadingPairs>
  <TitlesOfParts>
    <vt:vector size="308" baseType="lpstr">
      <vt:lpstr>Arial</vt:lpstr>
      <vt:lpstr>Calibri</vt:lpstr>
      <vt:lpstr>Calibri Light</vt:lpstr>
      <vt:lpstr>Office Theme</vt:lpstr>
      <vt:lpstr> GENETIC CODE  </vt:lpstr>
      <vt:lpstr>Genetic code cont’d</vt:lpstr>
      <vt:lpstr>Genetic code cont’d</vt:lpstr>
      <vt:lpstr>Genetic code cont’d</vt:lpstr>
      <vt:lpstr>Genetic code cont’d</vt:lpstr>
      <vt:lpstr>Genetic code cont’d</vt:lpstr>
      <vt:lpstr>Genetic code cont’d</vt:lpstr>
      <vt:lpstr>Genetic code cont’d</vt:lpstr>
      <vt:lpstr>Anticodon-Codon Base-Pairing </vt:lpstr>
      <vt:lpstr>Characteristics of Genetic Code</vt:lpstr>
      <vt:lpstr>Characteristics of Genetic Code</vt:lpstr>
      <vt:lpstr>Characteristics of Genetic Code</vt:lpstr>
      <vt:lpstr>Characteristics of Genetic Code</vt:lpstr>
      <vt:lpstr> Deciphering Genetic Code  </vt:lpstr>
      <vt:lpstr> Deciphering Genetic Code  </vt:lpstr>
      <vt:lpstr> Deciphering Genetic Code  </vt:lpstr>
      <vt:lpstr> Deciphering Genetic Code  </vt:lpstr>
      <vt:lpstr> Deciphering Genetic Code  </vt:lpstr>
      <vt:lpstr> Deciphering Genetic Code  </vt:lpstr>
      <vt:lpstr>Exceptions to Genetic Code</vt:lpstr>
      <vt:lpstr>Exceptions to Genetic Code</vt:lpstr>
      <vt:lpstr> GENE REGULATION  </vt:lpstr>
      <vt:lpstr> GENE REGULATION  </vt:lpstr>
      <vt:lpstr> Gene Regulation in Prokaryotes  </vt:lpstr>
      <vt:lpstr>Gene Regulation in Prokaryotes</vt:lpstr>
      <vt:lpstr>Gene Regulation in Prokaryotes</vt:lpstr>
      <vt:lpstr>Gene Regulation in Prokaryotes</vt:lpstr>
      <vt:lpstr>Gene Regulation in Prokaryotes</vt:lpstr>
      <vt:lpstr>Regulatory Components</vt:lpstr>
      <vt:lpstr>Inducible Operon (Lac Operon)  </vt:lpstr>
      <vt:lpstr>Lac Operon</vt:lpstr>
      <vt:lpstr>Repressible Operon  </vt:lpstr>
      <vt:lpstr>Repressible Operon  </vt:lpstr>
      <vt:lpstr> Negative versus Positive Controls  </vt:lpstr>
      <vt:lpstr>Gene Regulation in Eukaryotes</vt:lpstr>
      <vt:lpstr>Gene Regulation in Eukaryotes</vt:lpstr>
      <vt:lpstr>Levels of Protein Regulation</vt:lpstr>
      <vt:lpstr>Gene Regulation in Eukaryotes</vt:lpstr>
      <vt:lpstr> Human Genome Project cont’d  </vt:lpstr>
      <vt:lpstr> Human Genome Project cont’d  </vt:lpstr>
      <vt:lpstr> Human Genome Project cont’d  </vt:lpstr>
      <vt:lpstr> Human Genome Project cont’d  </vt:lpstr>
      <vt:lpstr> Human Genome Project cont’d  </vt:lpstr>
      <vt:lpstr> Human Genome Project cont’d  </vt:lpstr>
      <vt:lpstr> Human Genome Project cont’d  </vt:lpstr>
      <vt:lpstr>Primary Goal of Human Genome Project</vt:lpstr>
      <vt:lpstr>Primary Goal of Human Genome Project</vt:lpstr>
      <vt:lpstr>Primary Goal of Human Genome Project</vt:lpstr>
      <vt:lpstr> Methodology of the Human Genome Project  </vt:lpstr>
      <vt:lpstr> Methodology of the Human Genome Project  </vt:lpstr>
      <vt:lpstr> Methodology of the Human Genome Project  cont’d </vt:lpstr>
      <vt:lpstr> Methodology of the Human Genome Project  cont’d </vt:lpstr>
      <vt:lpstr>Salient Features of Human Genome </vt:lpstr>
      <vt:lpstr>Salient Features of Human Genome  cont’d</vt:lpstr>
      <vt:lpstr>Salient Features of Human Genome  cont’d</vt:lpstr>
      <vt:lpstr>Applications of the Genome Project</vt:lpstr>
      <vt:lpstr>Applications of the Genome Project cont’d</vt:lpstr>
      <vt:lpstr>Applications of the Genome Project cont’d</vt:lpstr>
      <vt:lpstr>DNA fingerprinting</vt:lpstr>
      <vt:lpstr>DNA fingerprinting cont’d</vt:lpstr>
      <vt:lpstr>DNA fingerprinting cont’d</vt:lpstr>
      <vt:lpstr>Technique of DNA Fingerprinting</vt:lpstr>
      <vt:lpstr>Technique of DNA Fingerprinting cont’d</vt:lpstr>
      <vt:lpstr>Technique of DNA Fingerprinting cont’d</vt:lpstr>
      <vt:lpstr> MOLECULAR GENETICS OF CANCER  </vt:lpstr>
      <vt:lpstr>Molecular Genetics of Cancer cont’d</vt:lpstr>
      <vt:lpstr>Molecular Genetics of Cancer cont’d</vt:lpstr>
      <vt:lpstr>Molecular Genetics of Cancer cont’d</vt:lpstr>
      <vt:lpstr> Classincation  </vt:lpstr>
      <vt:lpstr>2. Sarcoma</vt:lpstr>
      <vt:lpstr>3.Leukemia and Lymphoma</vt:lpstr>
      <vt:lpstr>Leukemia and Lymphoma  cont’d</vt:lpstr>
      <vt:lpstr> Characteristics of Cancer Cells  </vt:lpstr>
      <vt:lpstr> Characteristics of Cancer Cells cont’d </vt:lpstr>
      <vt:lpstr> Characteristics of Cancer Cells  </vt:lpstr>
      <vt:lpstr> Characteristics of Cancer Cells cont’d </vt:lpstr>
      <vt:lpstr> Characteristics of Cancer Cells cont’d </vt:lpstr>
      <vt:lpstr>Cytoplasmic Inclusions cont’d</vt:lpstr>
      <vt:lpstr>Cytoplasmic Inclusions cont’d</vt:lpstr>
      <vt:lpstr> 6. Genetic Changes  </vt:lpstr>
      <vt:lpstr>Genetic Changes cont’d</vt:lpstr>
      <vt:lpstr>Genetic Changes cont’d</vt:lpstr>
      <vt:lpstr>7. Physiological Properties</vt:lpstr>
      <vt:lpstr>Physiological Properties cont’d</vt:lpstr>
      <vt:lpstr>Physiological Properties cont’d</vt:lpstr>
      <vt:lpstr>8. Metastasis</vt:lpstr>
      <vt:lpstr> Genes and Cancer  </vt:lpstr>
      <vt:lpstr> Genes and Cancer  </vt:lpstr>
      <vt:lpstr>Genes whose Protein Products Stimulate or Enhance the Division and Viability of Cells</vt:lpstr>
      <vt:lpstr>Genes whose Protein Products Stimulate or Enhance the Division and Viability of Cells </vt:lpstr>
      <vt:lpstr>Genes whose Protein Products Stimulate or Enhance the Division and Viability of Cells </vt:lpstr>
      <vt:lpstr>Activation of Proto-Oncogenes</vt:lpstr>
      <vt:lpstr>(a) Gene Mutation  </vt:lpstr>
      <vt:lpstr>Gene Mutation cont’d  </vt:lpstr>
      <vt:lpstr> (b) Increase in Protein Concentration Leading to Activation of Proto-Oncogenes  </vt:lpstr>
      <vt:lpstr> (c) Translocation or Amplification   </vt:lpstr>
      <vt:lpstr> (c) Translocation or Amplification  cont’d </vt:lpstr>
      <vt:lpstr> (c) Translocation or Amplification  cont’d </vt:lpstr>
      <vt:lpstr> (c) Translocation or Amplification  cont’d </vt:lpstr>
      <vt:lpstr> Genes whose Protein Products Directly or Indirectly Prevent Cell Division  </vt:lpstr>
      <vt:lpstr> Genes whose Protein Products Directly or Indirectly Prevent Cell Division cont’d </vt:lpstr>
      <vt:lpstr>Cancer Regulation</vt:lpstr>
      <vt:lpstr>Tumour-suppressor genes</vt:lpstr>
      <vt:lpstr>Tumour-suppressor genes cont’d</vt:lpstr>
      <vt:lpstr>Tumour-suppressor genes cont’d</vt:lpstr>
      <vt:lpstr>Tumour-suppressor genes cont’d</vt:lpstr>
      <vt:lpstr>Events that cause Cancer</vt:lpstr>
      <vt:lpstr>Events that cause Cancer cont’d</vt:lpstr>
      <vt:lpstr>Events that cause Cancer cont’d</vt:lpstr>
      <vt:lpstr>Events that cause Cancer cont’d</vt:lpstr>
      <vt:lpstr> Carcinogens </vt:lpstr>
      <vt:lpstr> Carcinogens cont’d </vt:lpstr>
      <vt:lpstr> Carcinogens cont’d </vt:lpstr>
      <vt:lpstr> Carcinogens cont’d </vt:lpstr>
      <vt:lpstr> Carcinogens cont’d </vt:lpstr>
      <vt:lpstr> Carcinogens cont’d </vt:lpstr>
      <vt:lpstr> Carcinogens cont’d </vt:lpstr>
      <vt:lpstr>Cancer Causing Agents</vt:lpstr>
      <vt:lpstr>IMMUNOGENETICS</vt:lpstr>
      <vt:lpstr> Structure of Immunoglobulin  </vt:lpstr>
      <vt:lpstr>Structure of Immunoglobulin</vt:lpstr>
      <vt:lpstr>Immunoglobulin types based on heavy chains</vt:lpstr>
      <vt:lpstr>Structure of Immunoglobulin cont’d</vt:lpstr>
      <vt:lpstr>Structure of Immunoglobulin cont’d</vt:lpstr>
      <vt:lpstr>Structure of Immunoglobulin cont’d</vt:lpstr>
      <vt:lpstr>Structure of Immunoglobulin cont’d</vt:lpstr>
      <vt:lpstr>Structure of Immunoglobulin cont’d</vt:lpstr>
      <vt:lpstr>Structure of Immunoglobulin cont’d</vt:lpstr>
      <vt:lpstr> Immunoglobulin G (IgG)  </vt:lpstr>
      <vt:lpstr> Immunoglobulin G (IgG) cont’d  </vt:lpstr>
      <vt:lpstr> Immunoglobulin A (lgA)  </vt:lpstr>
      <vt:lpstr> Immunoglobulin A (lgA) cont’d  </vt:lpstr>
      <vt:lpstr>Immunoglobulin M (lgM)</vt:lpstr>
      <vt:lpstr>Immunoglobulin M (lgM) cont’d</vt:lpstr>
      <vt:lpstr>Immunoglobulin D</vt:lpstr>
      <vt:lpstr> Immunoglobulin E (lgE)  </vt:lpstr>
      <vt:lpstr> Biological properties of different immunoglobulins </vt:lpstr>
      <vt:lpstr> Genetic Basis of Antibodies Diversity  </vt:lpstr>
      <vt:lpstr> Genetic Basis of Antibodies Diversity  Cont’d </vt:lpstr>
      <vt:lpstr> Genetic Basis of Antibodies Diversity  Cont’d </vt:lpstr>
      <vt:lpstr> Genetic Basis of Antibodies Diversity  Cont’d </vt:lpstr>
      <vt:lpstr>There are three immunoglobulin gene families</vt:lpstr>
      <vt:lpstr> Genetic Basis of Antibodies Diversity  Cont’d </vt:lpstr>
      <vt:lpstr> 1. Somatic Variation Theory  </vt:lpstr>
      <vt:lpstr> 2. Germ Line Theory  </vt:lpstr>
      <vt:lpstr> Germ Line Theory cont’d </vt:lpstr>
      <vt:lpstr> Germ Line Theory cont’d </vt:lpstr>
      <vt:lpstr> Germ Line Theory cont’d </vt:lpstr>
      <vt:lpstr> Germ Line Theory cont’d </vt:lpstr>
      <vt:lpstr>Allelic Exclusion</vt:lpstr>
      <vt:lpstr>Allelic Exclusion cont’d</vt:lpstr>
      <vt:lpstr>Allelic Exclusion cont’d</vt:lpstr>
      <vt:lpstr>Allelic Exclusion cont’d</vt:lpstr>
      <vt:lpstr>PRIONS</vt:lpstr>
      <vt:lpstr>Prions cont’d</vt:lpstr>
      <vt:lpstr>Prions cont’d</vt:lpstr>
      <vt:lpstr>Prions cont’d</vt:lpstr>
      <vt:lpstr>Prions cont’d</vt:lpstr>
      <vt:lpstr>Prions cont’d</vt:lpstr>
      <vt:lpstr> PrPC  </vt:lpstr>
      <vt:lpstr> PrPC  cont’d </vt:lpstr>
      <vt:lpstr> PrPSc  </vt:lpstr>
      <vt:lpstr> PrPSc cont’d  </vt:lpstr>
      <vt:lpstr> PrPSc cont’d  </vt:lpstr>
      <vt:lpstr> PrPSc cont’d  </vt:lpstr>
      <vt:lpstr> PrPSc cont’d  </vt:lpstr>
      <vt:lpstr> PrPSc cont’d  </vt:lpstr>
      <vt:lpstr> PrPSc cont’d  </vt:lpstr>
      <vt:lpstr> PrPSc cont’d  </vt:lpstr>
      <vt:lpstr>TRANSPOSONS</vt:lpstr>
      <vt:lpstr>Transposons cont’d</vt:lpstr>
      <vt:lpstr>Transposons cont’d</vt:lpstr>
      <vt:lpstr>Transposons cont’d</vt:lpstr>
      <vt:lpstr>Transposons cont’d</vt:lpstr>
      <vt:lpstr>Transposons cont’d</vt:lpstr>
      <vt:lpstr>Transposons cont’d</vt:lpstr>
      <vt:lpstr>Types of transposons</vt:lpstr>
      <vt:lpstr> 2. Class III Transposons  cont’d </vt:lpstr>
      <vt:lpstr> 3. Retrotransposons (Class I)  </vt:lpstr>
      <vt:lpstr> 3. Retrotransposons (Class I)  cont’d </vt:lpstr>
      <vt:lpstr> 3. Retrotransposons (Class I)  cont’d </vt:lpstr>
      <vt:lpstr> 3. Retrotransposons (Class I)  cont’d </vt:lpstr>
      <vt:lpstr> Insertion Sequences  </vt:lpstr>
      <vt:lpstr> Insertion Sequences  </vt:lpstr>
      <vt:lpstr> Prokaryotic Transposons  </vt:lpstr>
      <vt:lpstr> Prokaryotic Transposons  </vt:lpstr>
      <vt:lpstr> Prokaryotic Transposons  </vt:lpstr>
      <vt:lpstr> Eukaryotic Transposons  </vt:lpstr>
      <vt:lpstr> Eukaryotic Transposons  </vt:lpstr>
      <vt:lpstr> Significance  of transpons  </vt:lpstr>
      <vt:lpstr> Significance  of transpons  </vt:lpstr>
      <vt:lpstr> APOPTOSIS  </vt:lpstr>
      <vt:lpstr>Apoptosis cont’d</vt:lpstr>
      <vt:lpstr>Chief features of apoptosis</vt:lpstr>
      <vt:lpstr>Apoptosis cont’d</vt:lpstr>
      <vt:lpstr>Apoptosis cont’d</vt:lpstr>
      <vt:lpstr>Apoptosis cont’d</vt:lpstr>
      <vt:lpstr>Apoptosis of Norman cell</vt:lpstr>
      <vt:lpstr>Apoptosis cont’d</vt:lpstr>
      <vt:lpstr>Apoptosis cont’d</vt:lpstr>
      <vt:lpstr>Apoptosis cont’d</vt:lpstr>
      <vt:lpstr>Apoptosis cont’d</vt:lpstr>
      <vt:lpstr>Apoptosis cont’d</vt:lpstr>
      <vt:lpstr>Events Showing Apoptosis</vt:lpstr>
      <vt:lpstr>Apoptosis cont’d</vt:lpstr>
      <vt:lpstr>Apoptosis cont’d</vt:lpstr>
      <vt:lpstr>Apoptosis and  Diseases</vt:lpstr>
      <vt:lpstr>Apoptosis and  Diseases cont’d</vt:lpstr>
      <vt:lpstr>Apoptosis and  Diseases cont’d</vt:lpstr>
      <vt:lpstr>MOLECULAR BIOL0GY OF AGEING</vt:lpstr>
      <vt:lpstr>Molecular Biology of  Ageing cont’d</vt:lpstr>
      <vt:lpstr>Molecular Biology of  Ageing cont’d</vt:lpstr>
      <vt:lpstr>Molecular Biology of  Ageing cont’d</vt:lpstr>
      <vt:lpstr>Molecular Biology of  Ageing cont’d</vt:lpstr>
      <vt:lpstr>Molecular Biology of  Ageing cont’d</vt:lpstr>
      <vt:lpstr>Molecular Biology of  Ageing cont’d</vt:lpstr>
      <vt:lpstr>Molecular Biology of  Ageing cont’d</vt:lpstr>
      <vt:lpstr>Molecular Biology of  Ageing cont’d</vt:lpstr>
      <vt:lpstr>Molecular Biology of  Ageing cont’d</vt:lpstr>
      <vt:lpstr>Molecular Biology of  Ageing cont’d</vt:lpstr>
      <vt:lpstr>Molecular Biology of  Ageing cont’d</vt:lpstr>
      <vt:lpstr>Molecular Biology of  Ageing cont’d</vt:lpstr>
      <vt:lpstr>Molecular Biology of  Ageing cont’d</vt:lpstr>
      <vt:lpstr>Molecular Biology of  Ageing cont’d</vt:lpstr>
      <vt:lpstr>Molecular Biology of  Ageing cont’d</vt:lpstr>
      <vt:lpstr>Molecular Biology of  Ageing cont’d</vt:lpstr>
      <vt:lpstr>Molecular Biology of  Ageing cont’d</vt:lpstr>
      <vt:lpstr>Molecular Biology of  Ageing cont’d</vt:lpstr>
      <vt:lpstr>Molecular Biology of  Ageing cont’d</vt:lpstr>
      <vt:lpstr>Molecular Biology of  Ageing cont’d</vt:lpstr>
      <vt:lpstr>Molecular Biology of  Ageing cont’d</vt:lpstr>
      <vt:lpstr>Molecular Biology of  Ageing cont’d</vt:lpstr>
      <vt:lpstr>Ageing and the Immune System</vt:lpstr>
      <vt:lpstr>Ageing and the Immune System cont’t</vt:lpstr>
      <vt:lpstr>  The Thymus Gland   </vt:lpstr>
      <vt:lpstr>  The Thymus Gland cont’d  </vt:lpstr>
      <vt:lpstr> GENETIC ENGINEERING  </vt:lpstr>
      <vt:lpstr>Genetic Engineering cont’d</vt:lpstr>
      <vt:lpstr>Genetic Engineering cont’d</vt:lpstr>
      <vt:lpstr>Genetic Engineering cont’d</vt:lpstr>
      <vt:lpstr>Genetic Engineering cont’d</vt:lpstr>
      <vt:lpstr>Genetic Engineering cont’d</vt:lpstr>
      <vt:lpstr>Genetic Engineering cont’d</vt:lpstr>
      <vt:lpstr> Tools of Recombinant Technology </vt:lpstr>
      <vt:lpstr> Tools of Recombinant Technology cont’d </vt:lpstr>
      <vt:lpstr> Tools of Recombinant Technology cont’d </vt:lpstr>
      <vt:lpstr> Tools of Recombinant Technology cont’d </vt:lpstr>
      <vt:lpstr> Tools of Recombinant Technology cont’d </vt:lpstr>
      <vt:lpstr> Tools of Recombinant Technology cont’d </vt:lpstr>
      <vt:lpstr> Tools of Recombinant Technology cont’d </vt:lpstr>
      <vt:lpstr> Tools of Recombinant Technology cont’d </vt:lpstr>
      <vt:lpstr> Tools of Recombinant Technology cont’d </vt:lpstr>
      <vt:lpstr> Tools of Recombinant Technology cont’d </vt:lpstr>
      <vt:lpstr> Tools of Recombinant Technology cont’d </vt:lpstr>
      <vt:lpstr> Tools of Recombinant Technology cont’d </vt:lpstr>
      <vt:lpstr> Cloning Vectors  </vt:lpstr>
      <vt:lpstr> Cloning Vectors  </vt:lpstr>
      <vt:lpstr> Cloning Vectors  </vt:lpstr>
      <vt:lpstr> Features in Cloning Vectors  </vt:lpstr>
      <vt:lpstr>Types of Cloning Vectors</vt:lpstr>
      <vt:lpstr>Types of Cloning Vectors cont’d</vt:lpstr>
      <vt:lpstr> Amplification of Gene of Interest using PCR (Polymerase Chain Reaction)  </vt:lpstr>
      <vt:lpstr> Amplincation of Gene of Interest using PCR (Polymerase Chain Reaction)  </vt:lpstr>
      <vt:lpstr> Amplincation of Gene of Interest using PCR (Polymerase Chain Reaction) cont’d </vt:lpstr>
      <vt:lpstr> Amplincation of Gene of Interest using PCR (Polymerase Chain Reaction) cont’d </vt:lpstr>
      <vt:lpstr> Amplincation of Gene of Interest using PCR (Polymerase Chain Reaction) cont’d </vt:lpstr>
      <vt:lpstr>Bioreactors</vt:lpstr>
      <vt:lpstr>Bioreactors cont’d</vt:lpstr>
      <vt:lpstr> Downstream Processing  </vt:lpstr>
      <vt:lpstr> Biotechnology and Its Application  </vt:lpstr>
      <vt:lpstr>Biotechnology and Its Application cont’d</vt:lpstr>
      <vt:lpstr> Pest Resistant Plants  </vt:lpstr>
      <vt:lpstr> Pest Resistant Plants  cont’d </vt:lpstr>
      <vt:lpstr> Pest Resistant Plants  cont’d </vt:lpstr>
      <vt:lpstr> Hirudin  </vt:lpstr>
      <vt:lpstr>Hirudin cont’d</vt:lpstr>
      <vt:lpstr>  Genetically Engineered Insulin or Humulin   </vt:lpstr>
      <vt:lpstr>  Genetically Engineered Insulin or Humulin cont’d  </vt:lpstr>
      <vt:lpstr>Genetically Engineered Insulin or Humulin cont’d</vt:lpstr>
      <vt:lpstr>Genetically Engineered Insulin or Humulin cont’d</vt:lpstr>
      <vt:lpstr>Biopatent cont’d</vt:lpstr>
      <vt:lpstr>Biopatent cont’d</vt:lpstr>
      <vt:lpstr> Biopiracy  </vt:lpstr>
      <vt:lpstr> GENETICS OF BACTERIOPHAGES   </vt:lpstr>
      <vt:lpstr>GENETICS OF BACTERIOPHAGES CONT’D</vt:lpstr>
      <vt:lpstr>GENETICS OF BACTERIOPHAGES CONT’D</vt:lpstr>
      <vt:lpstr> Structure of Bacteriophage </vt:lpstr>
      <vt:lpstr> Structure of Bacteriophage cont’d </vt:lpstr>
      <vt:lpstr> Structure of Bacteriophage cont’d </vt:lpstr>
      <vt:lpstr>Bacteriophage </vt:lpstr>
      <vt:lpstr> Neck  </vt:lpstr>
      <vt:lpstr> Tail  </vt:lpstr>
      <vt:lpstr> Tail cont’d  </vt:lpstr>
      <vt:lpstr> Tail cont’d  </vt:lpstr>
      <vt:lpstr>Virulent phages</vt:lpstr>
      <vt:lpstr>Temperate phages</vt:lpstr>
      <vt:lpstr>Life Cycle </vt:lpstr>
      <vt:lpstr>Bacteriophage life cycle</vt:lpstr>
      <vt:lpstr>Life Cycle  cont’d</vt:lpstr>
      <vt:lpstr>Life Cycle  cont’d</vt:lpstr>
      <vt:lpstr>Life Cycle  cont’d</vt:lpstr>
      <vt:lpstr>Life Cycle  cont’d</vt:lpstr>
      <vt:lpstr>Life Cycle  cont’d</vt:lpstr>
      <vt:lpstr>Life Cycle  cont’d</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GENETIC CODE</dc:title>
  <dc:creator>PASSIONLINK LTD</dc:creator>
  <cp:lastModifiedBy>vida konadu agyeman</cp:lastModifiedBy>
  <cp:revision>80</cp:revision>
  <dcterms:created xsi:type="dcterms:W3CDTF">2016-09-11T19:32:14Z</dcterms:created>
  <dcterms:modified xsi:type="dcterms:W3CDTF">2016-12-15T08:59:14Z</dcterms:modified>
</cp:coreProperties>
</file>