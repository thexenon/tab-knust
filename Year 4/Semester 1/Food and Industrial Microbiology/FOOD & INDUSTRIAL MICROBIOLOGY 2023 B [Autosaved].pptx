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4"/>
  </p:notesMasterIdLst>
  <p:sldIdLst>
    <p:sldId id="256" r:id="rId2"/>
    <p:sldId id="309" r:id="rId3"/>
    <p:sldId id="310" r:id="rId4"/>
    <p:sldId id="257" r:id="rId5"/>
    <p:sldId id="258" r:id="rId6"/>
    <p:sldId id="259" r:id="rId7"/>
    <p:sldId id="260" r:id="rId8"/>
    <p:sldId id="437" r:id="rId9"/>
    <p:sldId id="261" r:id="rId10"/>
    <p:sldId id="262" r:id="rId11"/>
    <p:sldId id="263" r:id="rId12"/>
    <p:sldId id="435" r:id="rId13"/>
    <p:sldId id="264" r:id="rId14"/>
    <p:sldId id="266" r:id="rId15"/>
    <p:sldId id="267" r:id="rId16"/>
    <p:sldId id="268" r:id="rId17"/>
    <p:sldId id="265" r:id="rId18"/>
    <p:sldId id="269" r:id="rId19"/>
    <p:sldId id="270" r:id="rId20"/>
    <p:sldId id="271" r:id="rId21"/>
    <p:sldId id="272" r:id="rId22"/>
    <p:sldId id="273" r:id="rId23"/>
    <p:sldId id="274" r:id="rId24"/>
    <p:sldId id="425" r:id="rId25"/>
    <p:sldId id="426" r:id="rId26"/>
    <p:sldId id="436" r:id="rId27"/>
    <p:sldId id="427" r:id="rId28"/>
    <p:sldId id="428" r:id="rId29"/>
    <p:sldId id="429" r:id="rId30"/>
    <p:sldId id="450" r:id="rId31"/>
    <p:sldId id="430" r:id="rId32"/>
    <p:sldId id="431" r:id="rId33"/>
    <p:sldId id="275" r:id="rId34"/>
    <p:sldId id="276" r:id="rId35"/>
    <p:sldId id="277" r:id="rId36"/>
    <p:sldId id="278" r:id="rId37"/>
    <p:sldId id="279" r:id="rId38"/>
    <p:sldId id="280" r:id="rId39"/>
    <p:sldId id="281" r:id="rId40"/>
    <p:sldId id="282" r:id="rId41"/>
    <p:sldId id="283" r:id="rId42"/>
    <p:sldId id="284" r:id="rId43"/>
    <p:sldId id="285" r:id="rId44"/>
    <p:sldId id="286" r:id="rId45"/>
    <p:sldId id="287" r:id="rId46"/>
    <p:sldId id="288" r:id="rId47"/>
    <p:sldId id="289" r:id="rId48"/>
    <p:sldId id="290" r:id="rId49"/>
    <p:sldId id="291" r:id="rId50"/>
    <p:sldId id="292" r:id="rId51"/>
    <p:sldId id="293" r:id="rId52"/>
    <p:sldId id="299" r:id="rId53"/>
    <p:sldId id="300" r:id="rId54"/>
    <p:sldId id="301" r:id="rId55"/>
    <p:sldId id="302" r:id="rId56"/>
    <p:sldId id="303" r:id="rId57"/>
    <p:sldId id="304" r:id="rId58"/>
    <p:sldId id="305" r:id="rId59"/>
    <p:sldId id="306" r:id="rId60"/>
    <p:sldId id="307" r:id="rId61"/>
    <p:sldId id="308" r:id="rId62"/>
    <p:sldId id="294" r:id="rId63"/>
    <p:sldId id="295" r:id="rId64"/>
    <p:sldId id="296" r:id="rId65"/>
    <p:sldId id="297" r:id="rId66"/>
    <p:sldId id="298" r:id="rId67"/>
    <p:sldId id="317" r:id="rId68"/>
    <p:sldId id="434" r:id="rId69"/>
    <p:sldId id="324" r:id="rId70"/>
    <p:sldId id="325" r:id="rId71"/>
    <p:sldId id="440" r:id="rId72"/>
    <p:sldId id="326" r:id="rId73"/>
    <p:sldId id="327" r:id="rId74"/>
    <p:sldId id="439" r:id="rId75"/>
    <p:sldId id="328" r:id="rId76"/>
    <p:sldId id="438" r:id="rId77"/>
    <p:sldId id="329" r:id="rId78"/>
    <p:sldId id="330" r:id="rId79"/>
    <p:sldId id="447" r:id="rId80"/>
    <p:sldId id="331" r:id="rId81"/>
    <p:sldId id="332" r:id="rId82"/>
    <p:sldId id="433" r:id="rId83"/>
    <p:sldId id="333" r:id="rId84"/>
    <p:sldId id="432" r:id="rId85"/>
    <p:sldId id="334" r:id="rId86"/>
    <p:sldId id="441" r:id="rId87"/>
    <p:sldId id="442" r:id="rId88"/>
    <p:sldId id="443" r:id="rId89"/>
    <p:sldId id="444" r:id="rId90"/>
    <p:sldId id="445" r:id="rId91"/>
    <p:sldId id="446" r:id="rId92"/>
    <p:sldId id="335" r:id="rId93"/>
    <p:sldId id="336" r:id="rId94"/>
    <p:sldId id="337" r:id="rId95"/>
    <p:sldId id="338" r:id="rId96"/>
    <p:sldId id="339" r:id="rId97"/>
    <p:sldId id="340" r:id="rId98"/>
    <p:sldId id="341" r:id="rId99"/>
    <p:sldId id="342" r:id="rId100"/>
    <p:sldId id="343" r:id="rId101"/>
    <p:sldId id="344" r:id="rId102"/>
    <p:sldId id="345" r:id="rId103"/>
    <p:sldId id="346" r:id="rId104"/>
    <p:sldId id="347" r:id="rId105"/>
    <p:sldId id="348" r:id="rId106"/>
    <p:sldId id="349" r:id="rId107"/>
    <p:sldId id="350" r:id="rId108"/>
    <p:sldId id="351" r:id="rId109"/>
    <p:sldId id="352" r:id="rId110"/>
    <p:sldId id="448" r:id="rId111"/>
    <p:sldId id="353" r:id="rId112"/>
    <p:sldId id="354" r:id="rId113"/>
    <p:sldId id="355" r:id="rId114"/>
    <p:sldId id="356" r:id="rId115"/>
    <p:sldId id="357" r:id="rId116"/>
    <p:sldId id="358" r:id="rId117"/>
    <p:sldId id="359" r:id="rId118"/>
    <p:sldId id="360" r:id="rId119"/>
    <p:sldId id="361" r:id="rId120"/>
    <p:sldId id="362" r:id="rId121"/>
    <p:sldId id="363" r:id="rId122"/>
    <p:sldId id="364" r:id="rId123"/>
    <p:sldId id="365" r:id="rId124"/>
    <p:sldId id="366" r:id="rId125"/>
    <p:sldId id="367" r:id="rId126"/>
    <p:sldId id="368" r:id="rId127"/>
    <p:sldId id="369" r:id="rId128"/>
    <p:sldId id="449" r:id="rId129"/>
    <p:sldId id="370" r:id="rId130"/>
    <p:sldId id="371" r:id="rId131"/>
    <p:sldId id="372" r:id="rId132"/>
    <p:sldId id="373" r:id="rId133"/>
    <p:sldId id="374" r:id="rId134"/>
    <p:sldId id="375" r:id="rId135"/>
    <p:sldId id="376" r:id="rId136"/>
    <p:sldId id="377" r:id="rId137"/>
    <p:sldId id="378" r:id="rId138"/>
    <p:sldId id="379" r:id="rId139"/>
    <p:sldId id="380" r:id="rId140"/>
    <p:sldId id="381" r:id="rId141"/>
    <p:sldId id="382" r:id="rId142"/>
    <p:sldId id="383" r:id="rId143"/>
    <p:sldId id="384" r:id="rId144"/>
    <p:sldId id="385" r:id="rId145"/>
    <p:sldId id="386" r:id="rId146"/>
    <p:sldId id="387" r:id="rId147"/>
    <p:sldId id="388" r:id="rId148"/>
    <p:sldId id="389" r:id="rId149"/>
    <p:sldId id="390" r:id="rId150"/>
    <p:sldId id="391" r:id="rId151"/>
    <p:sldId id="392" r:id="rId152"/>
    <p:sldId id="393" r:id="rId153"/>
    <p:sldId id="394" r:id="rId154"/>
    <p:sldId id="395" r:id="rId155"/>
    <p:sldId id="396" r:id="rId156"/>
    <p:sldId id="397" r:id="rId157"/>
    <p:sldId id="398" r:id="rId158"/>
    <p:sldId id="399" r:id="rId159"/>
    <p:sldId id="400" r:id="rId160"/>
    <p:sldId id="401" r:id="rId161"/>
    <p:sldId id="402" r:id="rId162"/>
    <p:sldId id="403" r:id="rId163"/>
    <p:sldId id="404" r:id="rId164"/>
    <p:sldId id="405" r:id="rId165"/>
    <p:sldId id="406" r:id="rId166"/>
    <p:sldId id="407" r:id="rId167"/>
    <p:sldId id="408" r:id="rId168"/>
    <p:sldId id="409" r:id="rId169"/>
    <p:sldId id="410" r:id="rId170"/>
    <p:sldId id="411" r:id="rId171"/>
    <p:sldId id="412" r:id="rId172"/>
    <p:sldId id="414" r:id="rId173"/>
    <p:sldId id="413" r:id="rId174"/>
    <p:sldId id="416" r:id="rId175"/>
    <p:sldId id="417" r:id="rId176"/>
    <p:sldId id="418" r:id="rId177"/>
    <p:sldId id="419" r:id="rId178"/>
    <p:sldId id="420" r:id="rId179"/>
    <p:sldId id="421" r:id="rId180"/>
    <p:sldId id="422" r:id="rId181"/>
    <p:sldId id="423" r:id="rId182"/>
    <p:sldId id="424" r:id="rId18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0" autoAdjust="0"/>
    <p:restoredTop sz="92327" autoAdjust="0"/>
  </p:normalViewPr>
  <p:slideViewPr>
    <p:cSldViewPr>
      <p:cViewPr varScale="1">
        <p:scale>
          <a:sx n="81" d="100"/>
          <a:sy n="81" d="100"/>
        </p:scale>
        <p:origin x="692" y="10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notesMaster" Target="notesMasters/notesMaster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viewProps" Target="viewProps.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theme" Target="theme/theme1.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4D70268-C89F-4128-B2E2-8467BCA1CAB1}" type="datetimeFigureOut">
              <a:rPr lang="en-US" smtClean="0"/>
              <a:pPr/>
              <a:t>2/16/2023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9FFB5BF-552C-4E3C-B7BC-846C9965A9AC}" type="slidenum">
              <a:rPr lang="en-US" smtClean="0"/>
              <a:pPr/>
              <a:t>‹#›</a:t>
            </a:fld>
            <a:endParaRPr lang="en-US"/>
          </a:p>
        </p:txBody>
      </p:sp>
    </p:spTree>
    <p:extLst>
      <p:ext uri="{BB962C8B-B14F-4D97-AF65-F5344CB8AC3E}">
        <p14:creationId xmlns:p14="http://schemas.microsoft.com/office/powerpoint/2010/main" val="4467867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9FFB5BF-552C-4E3C-B7BC-846C9965A9AC}" type="slidenum">
              <a:rPr lang="en-US" smtClean="0"/>
              <a:pPr/>
              <a:t>1</a:t>
            </a:fld>
            <a:endParaRPr lang="en-US"/>
          </a:p>
        </p:txBody>
      </p:sp>
    </p:spTree>
    <p:extLst>
      <p:ext uri="{BB962C8B-B14F-4D97-AF65-F5344CB8AC3E}">
        <p14:creationId xmlns:p14="http://schemas.microsoft.com/office/powerpoint/2010/main" val="3240159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9FFB5BF-552C-4E3C-B7BC-846C9965A9AC}" type="slidenum">
              <a:rPr lang="en-US" smtClean="0"/>
              <a:pPr/>
              <a:t>63</a:t>
            </a:fld>
            <a:endParaRPr lang="en-US"/>
          </a:p>
        </p:txBody>
      </p:sp>
    </p:spTree>
    <p:extLst>
      <p:ext uri="{BB962C8B-B14F-4D97-AF65-F5344CB8AC3E}">
        <p14:creationId xmlns:p14="http://schemas.microsoft.com/office/powerpoint/2010/main" val="28612593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9FFB5BF-552C-4E3C-B7BC-846C9965A9AC}" type="slidenum">
              <a:rPr lang="en-US" smtClean="0"/>
              <a:pPr/>
              <a:t>65</a:t>
            </a:fld>
            <a:endParaRPr lang="en-US"/>
          </a:p>
        </p:txBody>
      </p:sp>
    </p:spTree>
    <p:extLst>
      <p:ext uri="{BB962C8B-B14F-4D97-AF65-F5344CB8AC3E}">
        <p14:creationId xmlns:p14="http://schemas.microsoft.com/office/powerpoint/2010/main" val="40911577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fld id="{62AD7182-C540-444B-82CD-FC0931814847}" type="datetimeFigureOut">
              <a:rPr lang="en-US" smtClean="0"/>
              <a:pPr/>
              <a:t>2/16/2023</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254E81F0-2278-4A46-AF46-89BA5CFEF336}"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62AD7182-C540-444B-82CD-FC0931814847}" type="datetimeFigureOut">
              <a:rPr lang="en-US" smtClean="0"/>
              <a:pPr/>
              <a:t>2/16/2023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4E81F0-2278-4A46-AF46-89BA5CFEF336}"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62AD7182-C540-444B-82CD-FC0931814847}" type="datetimeFigureOut">
              <a:rPr lang="en-US" smtClean="0"/>
              <a:pPr/>
              <a:t>2/16/2023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4E81F0-2278-4A46-AF46-89BA5CFEF336}"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62AD7182-C540-444B-82CD-FC0931814847}" type="datetimeFigureOut">
              <a:rPr lang="en-US" smtClean="0"/>
              <a:pPr/>
              <a:t>2/16/2023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4E81F0-2278-4A46-AF46-89BA5CFEF336}"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62AD7182-C540-444B-82CD-FC0931814847}" type="datetimeFigureOut">
              <a:rPr lang="en-US" smtClean="0"/>
              <a:pPr/>
              <a:t>2/16/2023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54E81F0-2278-4A46-AF46-89BA5CFEF336}"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fld id="{62AD7182-C540-444B-82CD-FC0931814847}" type="datetimeFigureOut">
              <a:rPr lang="en-US" smtClean="0"/>
              <a:pPr/>
              <a:t>2/16/2023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54E81F0-2278-4A46-AF46-89BA5CFEF336}"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AD7182-C540-444B-82CD-FC0931814847}" type="datetimeFigureOut">
              <a:rPr lang="en-US" smtClean="0"/>
              <a:pPr/>
              <a:t>2/16/2023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54E81F0-2278-4A46-AF46-89BA5CFEF336}"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62AD7182-C540-444B-82CD-FC0931814847}" type="datetimeFigureOut">
              <a:rPr lang="en-US" smtClean="0"/>
              <a:pPr/>
              <a:t>2/16/2023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4E81F0-2278-4A46-AF46-89BA5CFEF336}"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62AD7182-C540-444B-82CD-FC0931814847}" type="datetimeFigureOut">
              <a:rPr lang="en-US" smtClean="0"/>
              <a:pPr/>
              <a:t>2/16/2023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254E81F0-2278-4A46-AF46-89BA5CFEF336}"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62AD7182-C540-444B-82CD-FC0931814847}" type="datetimeFigureOut">
              <a:rPr lang="en-US" smtClean="0"/>
              <a:pPr/>
              <a:t>2/16/2023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4E81F0-2278-4A46-AF46-89BA5CFEF336}"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62AD7182-C540-444B-82CD-FC0931814847}" type="datetimeFigureOut">
              <a:rPr lang="en-US" smtClean="0"/>
              <a:pPr/>
              <a:t>2/16/2023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4E81F0-2278-4A46-AF46-89BA5CFEF336}"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62AD7182-C540-444B-82CD-FC0931814847}" type="datetimeFigureOut">
              <a:rPr lang="en-US" smtClean="0"/>
              <a:pPr/>
              <a:t>2/16/2023</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254E81F0-2278-4A46-AF46-89BA5CFEF336}"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pPr algn="ctr"/>
            <a:r>
              <a:rPr lang="en-US" dirty="0">
                <a:latin typeface="Times New Roman" pitchFamily="18" charset="0"/>
                <a:cs typeface="Times New Roman" pitchFamily="18" charset="0"/>
              </a:rPr>
              <a:t>FOOD &amp; INDUSTRIAL MICROBIOLOGY        BIOL 457</a:t>
            </a:r>
          </a:p>
        </p:txBody>
      </p:sp>
      <p:sp>
        <p:nvSpPr>
          <p:cNvPr id="3" name="Subtitle 2"/>
          <p:cNvSpPr>
            <a:spLocks noGrp="1"/>
          </p:cNvSpPr>
          <p:nvPr>
            <p:ph type="subTitle" idx="1"/>
          </p:nvPr>
        </p:nvSpPr>
        <p:spPr>
          <a:xfrm>
            <a:off x="533400" y="4267200"/>
            <a:ext cx="7854696" cy="1752600"/>
          </a:xfrm>
        </p:spPr>
        <p:txBody>
          <a:bodyPr/>
          <a:lstStyle/>
          <a:p>
            <a:r>
              <a:rPr lang="en-US" dirty="0"/>
              <a:t>  J. L. TERLABIE</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685800"/>
          </a:xfrm>
        </p:spPr>
        <p:txBody>
          <a:bodyPr>
            <a:normAutofit/>
          </a:bodyPr>
          <a:lstStyle/>
          <a:p>
            <a:pPr algn="ctr"/>
            <a:endParaRPr lang="en-US" sz="2800" b="1" dirty="0">
              <a:latin typeface="Times New Roman" pitchFamily="18" charset="0"/>
              <a:cs typeface="Times New Roman" pitchFamily="18" charset="0"/>
            </a:endParaRPr>
          </a:p>
        </p:txBody>
      </p:sp>
      <p:sp>
        <p:nvSpPr>
          <p:cNvPr id="3" name="Content Placeholder 2"/>
          <p:cNvSpPr>
            <a:spLocks noGrp="1"/>
          </p:cNvSpPr>
          <p:nvPr>
            <p:ph idx="1"/>
          </p:nvPr>
        </p:nvSpPr>
        <p:spPr>
          <a:xfrm>
            <a:off x="457200" y="1066800"/>
            <a:ext cx="8229600" cy="5638800"/>
          </a:xfrm>
        </p:spPr>
        <p:txBody>
          <a:bodyPr>
            <a:normAutofit/>
          </a:bodyPr>
          <a:lstStyle/>
          <a:p>
            <a:pPr marL="514350" indent="-514350">
              <a:buFont typeface="+mj-lt"/>
              <a:buAutoNum type="arabicParenR"/>
            </a:pPr>
            <a:r>
              <a:rPr lang="en-GB" sz="2800" dirty="0">
                <a:latin typeface="Times New Roman" pitchFamily="18" charset="0"/>
                <a:cs typeface="Times New Roman" pitchFamily="18" charset="0"/>
              </a:rPr>
              <a:t>Definition and scope of Food Microbiology</a:t>
            </a:r>
          </a:p>
          <a:p>
            <a:pPr marL="514350" indent="-514350">
              <a:buNone/>
            </a:pPr>
            <a:endParaRPr lang="en-GB" b="1" i="1" u="sng" dirty="0">
              <a:latin typeface="Times New Roman" pitchFamily="18" charset="0"/>
              <a:cs typeface="Times New Roman" pitchFamily="18" charset="0"/>
            </a:endParaRPr>
          </a:p>
          <a:p>
            <a:pPr marL="880110" lvl="1" indent="-514350">
              <a:buFont typeface="+mj-lt"/>
              <a:buAutoNum type="alphaLcParenR"/>
            </a:pPr>
            <a:endParaRPr lang="en-GB" dirty="0">
              <a:latin typeface="Times New Roman" pitchFamily="18" charset="0"/>
              <a:cs typeface="Times New Roman" pitchFamily="18" charset="0"/>
            </a:endParaRPr>
          </a:p>
          <a:p>
            <a:pPr marL="514350" indent="-514350">
              <a:buNone/>
            </a:pPr>
            <a:r>
              <a:rPr lang="en-GB" sz="2800" dirty="0">
                <a:latin typeface="Times New Roman" pitchFamily="18" charset="0"/>
                <a:cs typeface="Times New Roman" pitchFamily="18" charset="0"/>
              </a:rPr>
              <a:t>2) Microorganisms and Food Materials</a:t>
            </a:r>
          </a:p>
          <a:p>
            <a:pPr marL="514350" indent="-514350">
              <a:buNone/>
            </a:pPr>
            <a:endParaRPr lang="en-GB" sz="2800" dirty="0">
              <a:latin typeface="Times New Roman" pitchFamily="18" charset="0"/>
              <a:cs typeface="Times New Roman" pitchFamily="18" charset="0"/>
            </a:endParaRPr>
          </a:p>
          <a:p>
            <a:pPr marL="514350" indent="-514350">
              <a:buFont typeface="+mj-lt"/>
              <a:buAutoNum type="arabicParenR"/>
            </a:pPr>
            <a:endParaRPr lang="en-GB" sz="2800" dirty="0">
              <a:latin typeface="Times New Roman" pitchFamily="18" charset="0"/>
              <a:cs typeface="Times New Roman" pitchFamily="18" charset="0"/>
            </a:endParaRPr>
          </a:p>
          <a:p>
            <a:pPr marL="514350" indent="-514350">
              <a:buNone/>
            </a:pPr>
            <a:r>
              <a:rPr lang="en-GB" sz="2800" dirty="0">
                <a:latin typeface="Times New Roman" pitchFamily="18" charset="0"/>
                <a:cs typeface="Times New Roman" pitchFamily="18" charset="0"/>
              </a:rPr>
              <a:t>3) Microbiology of food preservation: Canning, Freezing, Chilling, Chemical Preservation</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685800"/>
          </a:xfrm>
        </p:spPr>
        <p:txBody>
          <a:bodyPr>
            <a:normAutofit/>
          </a:bodyPr>
          <a:lstStyle/>
          <a:p>
            <a:pPr algn="ctr"/>
            <a:endParaRPr lang="en-US" sz="2800" b="1" dirty="0">
              <a:latin typeface="Times New Roman" pitchFamily="18" charset="0"/>
              <a:cs typeface="Times New Roman" pitchFamily="18" charset="0"/>
            </a:endParaRPr>
          </a:p>
        </p:txBody>
      </p:sp>
      <p:sp>
        <p:nvSpPr>
          <p:cNvPr id="3" name="Content Placeholder 2"/>
          <p:cNvSpPr>
            <a:spLocks noGrp="1"/>
          </p:cNvSpPr>
          <p:nvPr>
            <p:ph idx="1"/>
          </p:nvPr>
        </p:nvSpPr>
        <p:spPr>
          <a:xfrm>
            <a:off x="457200" y="1143000"/>
            <a:ext cx="8229600" cy="5638800"/>
          </a:xfrm>
        </p:spPr>
        <p:txBody>
          <a:bodyPr>
            <a:normAutofit/>
          </a:bodyPr>
          <a:lstStyle/>
          <a:p>
            <a:pPr marL="514350" indent="-514350">
              <a:buNone/>
            </a:pPr>
            <a:r>
              <a:rPr lang="en-GB" sz="2800" dirty="0">
                <a:solidFill>
                  <a:schemeClr val="accent3">
                    <a:lumMod val="60000"/>
                    <a:lumOff val="40000"/>
                  </a:schemeClr>
                </a:solidFill>
                <a:latin typeface="Times New Roman" pitchFamily="18" charset="0"/>
                <a:cs typeface="Times New Roman" pitchFamily="18" charset="0"/>
              </a:rPr>
              <a:t>4)</a:t>
            </a:r>
            <a:r>
              <a:rPr lang="en-GB" sz="2800" dirty="0">
                <a:latin typeface="Times New Roman" pitchFamily="18" charset="0"/>
                <a:cs typeface="Times New Roman" pitchFamily="18" charset="0"/>
              </a:rPr>
              <a:t>	Fermentation and Microbes in food production-Microbes as food.</a:t>
            </a:r>
          </a:p>
          <a:p>
            <a:pPr marL="514350" indent="-514350">
              <a:buAutoNum type="arabicParenR" startAt="5"/>
            </a:pPr>
            <a:endParaRPr lang="en-GB" sz="2800" dirty="0">
              <a:latin typeface="Times New Roman" pitchFamily="18" charset="0"/>
              <a:cs typeface="Times New Roman" pitchFamily="18" charset="0"/>
            </a:endParaRPr>
          </a:p>
          <a:p>
            <a:pPr marL="514350" indent="-514350">
              <a:buAutoNum type="arabicParenR" startAt="5"/>
            </a:pPr>
            <a:r>
              <a:rPr lang="en-GB" sz="2800" dirty="0">
                <a:latin typeface="Times New Roman" pitchFamily="18" charset="0"/>
                <a:cs typeface="Times New Roman" pitchFamily="18" charset="0"/>
              </a:rPr>
              <a:t>Food Microbiology and Public Health: Some bacterial and non-bacterial agents of food borne illnesses.</a:t>
            </a:r>
          </a:p>
          <a:p>
            <a:pPr marL="514350" indent="-514350">
              <a:buAutoNum type="arabicParenR" startAt="5"/>
            </a:pPr>
            <a:endParaRPr lang="en-GB" sz="2800" dirty="0">
              <a:latin typeface="Times New Roman" pitchFamily="18" charset="0"/>
              <a:cs typeface="Times New Roman" pitchFamily="18" charset="0"/>
            </a:endParaRPr>
          </a:p>
          <a:p>
            <a:pPr marL="514350" indent="-514350">
              <a:buAutoNum type="arabicParenR" startAt="5"/>
            </a:pPr>
            <a:r>
              <a:rPr lang="en-GB" sz="2800" dirty="0">
                <a:latin typeface="Times New Roman" pitchFamily="18" charset="0"/>
                <a:cs typeface="Times New Roman" pitchFamily="18" charset="0"/>
              </a:rPr>
              <a:t>Methods of microbiological examination of food.</a:t>
            </a:r>
          </a:p>
          <a:p>
            <a:pPr marL="514350" indent="-514350">
              <a:buNone/>
            </a:pPr>
            <a:r>
              <a:rPr lang="en-GB" sz="2800" dirty="0">
                <a:latin typeface="Times New Roman" pitchFamily="18" charset="0"/>
                <a:cs typeface="Times New Roman" pitchFamily="18" charset="0"/>
              </a:rPr>
              <a:t>     indicator organisms, direct examination, cultural techniques among others</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533400"/>
          </a:xfrm>
        </p:spPr>
        <p:txBody>
          <a:bodyPr>
            <a:normAutofit/>
          </a:bodyPr>
          <a:lstStyle/>
          <a:p>
            <a:pPr algn="ctr"/>
            <a:r>
              <a:rPr lang="en-GB" sz="2800" b="1" dirty="0">
                <a:latin typeface="Times New Roman" pitchFamily="18" charset="0"/>
                <a:cs typeface="Times New Roman" pitchFamily="18" charset="0"/>
              </a:rPr>
              <a:t>DEFINITION AND SCOPE</a:t>
            </a:r>
            <a:endParaRPr lang="en-US" sz="2800" b="1" dirty="0">
              <a:latin typeface="Times New Roman" pitchFamily="18" charset="0"/>
              <a:cs typeface="Times New Roman" pitchFamily="18" charset="0"/>
            </a:endParaRPr>
          </a:p>
        </p:txBody>
      </p:sp>
      <p:sp>
        <p:nvSpPr>
          <p:cNvPr id="3" name="Content Placeholder 2"/>
          <p:cNvSpPr>
            <a:spLocks noGrp="1"/>
          </p:cNvSpPr>
          <p:nvPr>
            <p:ph idx="1"/>
          </p:nvPr>
        </p:nvSpPr>
        <p:spPr>
          <a:xfrm>
            <a:off x="457200" y="838200"/>
            <a:ext cx="8229600" cy="5638800"/>
          </a:xfrm>
        </p:spPr>
        <p:txBody>
          <a:bodyPr>
            <a:normAutofit lnSpcReduction="10000"/>
          </a:bodyPr>
          <a:lstStyle/>
          <a:p>
            <a:r>
              <a:rPr lang="en-GB" sz="2800" b="1" i="1" dirty="0">
                <a:latin typeface="Times New Roman" pitchFamily="18" charset="0"/>
                <a:cs typeface="Times New Roman" pitchFamily="18" charset="0"/>
              </a:rPr>
              <a:t>Food Microbiology </a:t>
            </a:r>
            <a:r>
              <a:rPr lang="en-GB" sz="2800" dirty="0">
                <a:latin typeface="Times New Roman" pitchFamily="18" charset="0"/>
                <a:cs typeface="Times New Roman" pitchFamily="18" charset="0"/>
              </a:rPr>
              <a:t>is one of the disciplines of Microbiology.</a:t>
            </a:r>
          </a:p>
          <a:p>
            <a:endParaRPr lang="en-GB" sz="2800" dirty="0">
              <a:latin typeface="Times New Roman" pitchFamily="18" charset="0"/>
              <a:cs typeface="Times New Roman" pitchFamily="18" charset="0"/>
            </a:endParaRPr>
          </a:p>
          <a:p>
            <a:r>
              <a:rPr lang="en-GB" sz="2800" dirty="0">
                <a:latin typeface="Times New Roman" pitchFamily="18" charset="0"/>
                <a:cs typeface="Times New Roman" pitchFamily="18" charset="0"/>
              </a:rPr>
              <a:t>Microbiology is the science that studies the occurrence and significance of microorganisms, i.e. Fungi, bacteria, protozoa, algae, etc.</a:t>
            </a:r>
            <a:endParaRPr lang="en-US" sz="2800" dirty="0">
              <a:latin typeface="Times New Roman" pitchFamily="18" charset="0"/>
              <a:cs typeface="Times New Roman" pitchFamily="18" charset="0"/>
            </a:endParaRPr>
          </a:p>
          <a:p>
            <a:endParaRPr lang="en-GB" sz="2800" dirty="0">
              <a:latin typeface="Times New Roman" pitchFamily="18" charset="0"/>
              <a:cs typeface="Times New Roman" pitchFamily="18" charset="0"/>
            </a:endParaRPr>
          </a:p>
          <a:p>
            <a:r>
              <a:rPr lang="en-GB" sz="2800" dirty="0">
                <a:latin typeface="Times New Roman" pitchFamily="18" charset="0"/>
                <a:cs typeface="Times New Roman" pitchFamily="18" charset="0"/>
              </a:rPr>
              <a:t>Microorganisms are ubiquitous and affect every facet of human lives including food.</a:t>
            </a:r>
          </a:p>
          <a:p>
            <a:endParaRPr lang="en-US" sz="2400" dirty="0">
              <a:latin typeface="Times New Roman" pitchFamily="18" charset="0"/>
              <a:cs typeface="Times New Roman" pitchFamily="18" charset="0"/>
            </a:endParaRPr>
          </a:p>
          <a:p>
            <a:r>
              <a:rPr lang="en-GB" sz="2800" dirty="0">
                <a:latin typeface="Times New Roman" pitchFamily="18" charset="0"/>
                <a:cs typeface="Times New Roman" pitchFamily="18" charset="0"/>
              </a:rPr>
              <a:t>Over the years, man has benefited from the presence of microorganisms and their activities in food as they have been plagued as well.</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457200"/>
          </a:xfrm>
        </p:spPr>
        <p:txBody>
          <a:bodyPr>
            <a:normAutofit fontScale="90000"/>
          </a:bodyPr>
          <a:lstStyle/>
          <a:p>
            <a:pPr algn="ctr"/>
            <a:r>
              <a:rPr lang="en-GB" sz="2800" dirty="0">
                <a:latin typeface="Times New Roman" pitchFamily="18" charset="0"/>
                <a:cs typeface="Times New Roman" pitchFamily="18" charset="0"/>
              </a:rPr>
              <a:t>DEFINITION AND SCOPE </a:t>
            </a:r>
            <a:r>
              <a:rPr lang="en-GB" sz="2800" i="1" dirty="0">
                <a:latin typeface="Times New Roman" pitchFamily="18" charset="0"/>
                <a:cs typeface="Times New Roman" pitchFamily="18" charset="0"/>
              </a:rPr>
              <a:t>contd.</a:t>
            </a: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914400"/>
            <a:ext cx="8229600" cy="5791200"/>
          </a:xfrm>
        </p:spPr>
        <p:txBody>
          <a:bodyPr>
            <a:normAutofit/>
          </a:bodyPr>
          <a:lstStyle/>
          <a:p>
            <a:pPr marL="0" indent="0">
              <a:buNone/>
            </a:pPr>
            <a:r>
              <a:rPr lang="en-GB" sz="2800" dirty="0">
                <a:latin typeface="Times New Roman" pitchFamily="18" charset="0"/>
                <a:cs typeface="Times New Roman" pitchFamily="18" charset="0"/>
              </a:rPr>
              <a:t>Microorganisms may have positive and negative effects on the quality and safety of raw and processed foods.</a:t>
            </a:r>
          </a:p>
          <a:p>
            <a:endParaRPr lang="en-GB" sz="2800" dirty="0">
              <a:latin typeface="Times New Roman" pitchFamily="18" charset="0"/>
              <a:cs typeface="Times New Roman" pitchFamily="18" charset="0"/>
            </a:endParaRPr>
          </a:p>
          <a:p>
            <a:pPr marL="0" indent="0">
              <a:buNone/>
            </a:pPr>
            <a:endParaRPr lang="en-GB" sz="2800" dirty="0">
              <a:latin typeface="Times New Roman" pitchFamily="18" charset="0"/>
              <a:cs typeface="Times New Roman" pitchFamily="18" charset="0"/>
            </a:endParaRPr>
          </a:p>
          <a:p>
            <a:r>
              <a:rPr lang="en-GB" sz="2800" b="1" dirty="0">
                <a:latin typeface="Times New Roman" pitchFamily="18" charset="0"/>
                <a:cs typeface="Times New Roman" pitchFamily="18" charset="0"/>
              </a:rPr>
              <a:t>Food Microbiology</a:t>
            </a:r>
            <a:r>
              <a:rPr lang="en-GB" sz="2800" dirty="0">
                <a:latin typeface="Times New Roman" pitchFamily="18" charset="0"/>
                <a:cs typeface="Times New Roman" pitchFamily="18" charset="0"/>
              </a:rPr>
              <a:t> can therefore be broadly defined </a:t>
            </a:r>
            <a:endParaRPr lang="en-GB" sz="2800" dirty="0" smtClean="0">
              <a:latin typeface="Times New Roman" pitchFamily="18" charset="0"/>
              <a:cs typeface="Times New Roman" pitchFamily="18" charset="0"/>
            </a:endParaRPr>
          </a:p>
          <a:p>
            <a:pPr marL="0" indent="0">
              <a:buNone/>
            </a:pPr>
            <a:r>
              <a:rPr lang="en-GB" sz="2800" dirty="0" smtClean="0">
                <a:latin typeface="Times New Roman" pitchFamily="18" charset="0"/>
                <a:cs typeface="Times New Roman" pitchFamily="18" charset="0"/>
              </a:rPr>
              <a:t>  as </a:t>
            </a:r>
            <a:r>
              <a:rPr lang="en-GB" sz="2800" dirty="0">
                <a:latin typeface="Times New Roman" pitchFamily="18" charset="0"/>
                <a:cs typeface="Times New Roman" pitchFamily="18" charset="0"/>
              </a:rPr>
              <a:t>the study of </a:t>
            </a:r>
            <a:r>
              <a:rPr lang="en-GB" sz="2800" b="1" i="1" dirty="0">
                <a:latin typeface="Times New Roman" pitchFamily="18" charset="0"/>
                <a:cs typeface="Times New Roman" pitchFamily="18" charset="0"/>
              </a:rPr>
              <a:t>microbes</a:t>
            </a:r>
            <a:r>
              <a:rPr lang="en-GB" sz="2800" dirty="0">
                <a:latin typeface="Times New Roman" pitchFamily="18" charset="0"/>
                <a:cs typeface="Times New Roman" pitchFamily="18" charset="0"/>
              </a:rPr>
              <a:t> and their </a:t>
            </a:r>
            <a:r>
              <a:rPr lang="en-GB" sz="2800" b="1" i="1" dirty="0">
                <a:latin typeface="Times New Roman" pitchFamily="18" charset="0"/>
                <a:cs typeface="Times New Roman" pitchFamily="18" charset="0"/>
              </a:rPr>
              <a:t>effects</a:t>
            </a:r>
            <a:r>
              <a:rPr lang="en-GB" sz="2800" dirty="0">
                <a:latin typeface="Times New Roman" pitchFamily="18" charset="0"/>
                <a:cs typeface="Times New Roman" pitchFamily="18" charset="0"/>
              </a:rPr>
              <a:t> on food </a:t>
            </a:r>
            <a:r>
              <a:rPr lang="en-GB" sz="2800" dirty="0" smtClean="0">
                <a:latin typeface="Times New Roman" pitchFamily="18" charset="0"/>
                <a:cs typeface="Times New Roman" pitchFamily="18" charset="0"/>
              </a:rPr>
              <a:t>     substances.</a:t>
            </a:r>
          </a:p>
          <a:p>
            <a:pPr marL="0" indent="0">
              <a:buNone/>
            </a:pPr>
            <a:endParaRPr lang="en-GB" sz="2800" dirty="0" smtClean="0">
              <a:latin typeface="Times New Roman" pitchFamily="18" charset="0"/>
              <a:cs typeface="Times New Roman" pitchFamily="18" charset="0"/>
            </a:endParaRPr>
          </a:p>
          <a:p>
            <a:pPr marL="0" indent="0">
              <a:buNone/>
            </a:pPr>
            <a:r>
              <a:rPr lang="en-GB" sz="2800" dirty="0" smtClean="0">
                <a:latin typeface="Times New Roman" pitchFamily="18" charset="0"/>
                <a:cs typeface="Times New Roman" pitchFamily="18" charset="0"/>
              </a:rPr>
              <a:t>What about </a:t>
            </a:r>
            <a:r>
              <a:rPr lang="en-GB" sz="2800" dirty="0">
                <a:latin typeface="Times New Roman" pitchFamily="18" charset="0"/>
                <a:cs typeface="Times New Roman" pitchFamily="18" charset="0"/>
              </a:rPr>
              <a:t> </a:t>
            </a:r>
            <a:r>
              <a:rPr lang="en-GB" sz="2800" dirty="0" smtClean="0">
                <a:latin typeface="Times New Roman" pitchFamily="18" charset="0"/>
                <a:cs typeface="Times New Roman" pitchFamily="18" charset="0"/>
              </a:rPr>
              <a:t>Industrial Microbiology?</a:t>
            </a:r>
          </a:p>
          <a:p>
            <a:pPr marL="0" indent="0">
              <a:buNone/>
            </a:pPr>
            <a:endParaRPr lang="en-GB" sz="2800" dirty="0">
              <a:latin typeface="Times New Roman" pitchFamily="18" charset="0"/>
              <a:cs typeface="Times New Roman" pitchFamily="18" charset="0"/>
            </a:endParaRPr>
          </a:p>
          <a:p>
            <a:endParaRPr lang="en-GB" sz="2800" dirty="0">
              <a:latin typeface="Times New Roman" pitchFamily="18" charset="0"/>
              <a:cs typeface="Times New Roman" pitchFamily="18" charset="0"/>
            </a:endParaRPr>
          </a:p>
          <a:p>
            <a:endParaRPr lang="en-GB" sz="28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762000"/>
          </a:xfrm>
        </p:spPr>
        <p:txBody>
          <a:bodyPr>
            <a:normAutofit/>
          </a:bodyPr>
          <a:lstStyle/>
          <a:p>
            <a:pPr algn="ctr"/>
            <a:r>
              <a:rPr lang="en-GB" sz="2800" dirty="0">
                <a:latin typeface="Times New Roman" pitchFamily="18" charset="0"/>
                <a:cs typeface="Times New Roman" pitchFamily="18" charset="0"/>
              </a:rPr>
              <a:t>DEFINITION AND SCOPE </a:t>
            </a:r>
            <a:r>
              <a:rPr lang="en-GB" sz="2800" i="1" dirty="0">
                <a:latin typeface="Times New Roman" pitchFamily="18" charset="0"/>
                <a:cs typeface="Times New Roman" pitchFamily="18" charset="0"/>
              </a:rPr>
              <a:t>contd.</a:t>
            </a: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143000"/>
            <a:ext cx="8229600" cy="5562600"/>
          </a:xfrm>
        </p:spPr>
        <p:txBody>
          <a:bodyPr>
            <a:normAutofit/>
          </a:bodyPr>
          <a:lstStyle/>
          <a:p>
            <a:r>
              <a:rPr lang="en-GB" dirty="0">
                <a:latin typeface="Times New Roman" pitchFamily="18" charset="0"/>
                <a:cs typeface="Times New Roman" pitchFamily="18" charset="0"/>
              </a:rPr>
              <a:t>The scope is quite extensive and includes the following:</a:t>
            </a:r>
          </a:p>
          <a:p>
            <a:pPr marL="0" indent="0">
              <a:buNone/>
            </a:pPr>
            <a:endParaRPr lang="en-GB" dirty="0">
              <a:latin typeface="Times New Roman" pitchFamily="18" charset="0"/>
              <a:cs typeface="Times New Roman" pitchFamily="18" charset="0"/>
            </a:endParaRPr>
          </a:p>
          <a:p>
            <a:pPr lvl="1">
              <a:buFont typeface="Wingdings" panose="05000000000000000000" pitchFamily="2" charset="2"/>
              <a:buChar char="v"/>
            </a:pPr>
            <a:r>
              <a:rPr lang="en-GB" sz="2600" dirty="0">
                <a:latin typeface="Times New Roman" pitchFamily="18" charset="0"/>
                <a:cs typeface="Times New Roman" pitchFamily="18" charset="0"/>
              </a:rPr>
              <a:t>Microorganisms and food (Microbes of primary food commodities)</a:t>
            </a:r>
          </a:p>
          <a:p>
            <a:pPr marL="393192" lvl="1" indent="0">
              <a:buNone/>
            </a:pPr>
            <a:endParaRPr lang="en-US" sz="2600" dirty="0">
              <a:latin typeface="Times New Roman" pitchFamily="18" charset="0"/>
              <a:cs typeface="Times New Roman" pitchFamily="18" charset="0"/>
            </a:endParaRPr>
          </a:p>
          <a:p>
            <a:pPr lvl="1">
              <a:buFont typeface="Wingdings" pitchFamily="2" charset="2"/>
              <a:buChar char="v"/>
            </a:pPr>
            <a:r>
              <a:rPr lang="en-GB" sz="2600" dirty="0">
                <a:latin typeface="Times New Roman" pitchFamily="18" charset="0"/>
                <a:cs typeface="Times New Roman" pitchFamily="18" charset="0"/>
              </a:rPr>
              <a:t>Spoilage</a:t>
            </a:r>
          </a:p>
          <a:p>
            <a:pPr lvl="1">
              <a:buFont typeface="Wingdings" pitchFamily="2" charset="2"/>
              <a:buChar char="v"/>
            </a:pPr>
            <a:endParaRPr lang="en-US" sz="2600" dirty="0">
              <a:latin typeface="Times New Roman" pitchFamily="18" charset="0"/>
              <a:cs typeface="Times New Roman" pitchFamily="18" charset="0"/>
            </a:endParaRPr>
          </a:p>
          <a:p>
            <a:pPr lvl="1">
              <a:buFont typeface="Wingdings" pitchFamily="2" charset="2"/>
              <a:buChar char="v"/>
            </a:pPr>
            <a:r>
              <a:rPr lang="en-GB" sz="2600" dirty="0">
                <a:latin typeface="Times New Roman" pitchFamily="18" charset="0"/>
                <a:cs typeface="Times New Roman" pitchFamily="18" charset="0"/>
              </a:rPr>
              <a:t>Preservation, fermentation, food safety, as well as microbiological quality </a:t>
            </a:r>
            <a:r>
              <a:rPr lang="en-GB" sz="2600" dirty="0" smtClean="0">
                <a:latin typeface="Times New Roman" pitchFamily="18" charset="0"/>
                <a:cs typeface="Times New Roman" pitchFamily="18" charset="0"/>
              </a:rPr>
              <a:t>assurance</a:t>
            </a:r>
            <a:endParaRPr lang="en-US" sz="26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533400"/>
          </a:xfrm>
        </p:spPr>
        <p:txBody>
          <a:bodyPr>
            <a:normAutofit/>
          </a:bodyPr>
          <a:lstStyle/>
          <a:p>
            <a:pPr algn="ctr"/>
            <a:r>
              <a:rPr lang="en-US" sz="2800" b="1" dirty="0">
                <a:latin typeface="Times New Roman" pitchFamily="18" charset="0"/>
                <a:cs typeface="Times New Roman" pitchFamily="18" charset="0"/>
              </a:rPr>
              <a:t>MICROBES AND FOOD</a:t>
            </a:r>
          </a:p>
        </p:txBody>
      </p:sp>
      <p:sp>
        <p:nvSpPr>
          <p:cNvPr id="3" name="Content Placeholder 2"/>
          <p:cNvSpPr>
            <a:spLocks noGrp="1"/>
          </p:cNvSpPr>
          <p:nvPr>
            <p:ph idx="1"/>
          </p:nvPr>
        </p:nvSpPr>
        <p:spPr>
          <a:xfrm>
            <a:off x="457200" y="1219200"/>
            <a:ext cx="8229600" cy="5257800"/>
          </a:xfrm>
        </p:spPr>
        <p:txBody>
          <a:bodyPr>
            <a:noAutofit/>
          </a:bodyPr>
          <a:lstStyle/>
          <a:p>
            <a:r>
              <a:rPr lang="en-GB" sz="2800" dirty="0">
                <a:latin typeface="Times New Roman" pitchFamily="18" charset="0"/>
                <a:cs typeface="Times New Roman" pitchFamily="18" charset="0"/>
              </a:rPr>
              <a:t>There are hardly any foods without microbial contamination or association.</a:t>
            </a:r>
          </a:p>
          <a:p>
            <a:endParaRPr lang="en-GB" sz="2800" dirty="0">
              <a:latin typeface="Times New Roman" pitchFamily="18" charset="0"/>
              <a:cs typeface="Times New Roman" pitchFamily="18" charset="0"/>
            </a:endParaRPr>
          </a:p>
          <a:p>
            <a:r>
              <a:rPr lang="en-GB" sz="2800" dirty="0">
                <a:latin typeface="Times New Roman" pitchFamily="18" charset="0"/>
                <a:cs typeface="Times New Roman" pitchFamily="18" charset="0"/>
              </a:rPr>
              <a:t>The composition of microbes depends upon which organisms;</a:t>
            </a:r>
          </a:p>
          <a:p>
            <a:endParaRPr lang="en-GB" sz="1600" dirty="0">
              <a:latin typeface="Times New Roman" pitchFamily="18" charset="0"/>
              <a:cs typeface="Times New Roman" pitchFamily="18" charset="0"/>
            </a:endParaRPr>
          </a:p>
          <a:p>
            <a:pPr lvl="1"/>
            <a:r>
              <a:rPr lang="en-GB" sz="2800" dirty="0">
                <a:latin typeface="Times New Roman" pitchFamily="18" charset="0"/>
                <a:cs typeface="Times New Roman" pitchFamily="18" charset="0"/>
              </a:rPr>
              <a:t>gain </a:t>
            </a:r>
            <a:r>
              <a:rPr lang="en-GB" sz="2800" b="1" i="1" dirty="0">
                <a:latin typeface="Times New Roman" pitchFamily="18" charset="0"/>
                <a:cs typeface="Times New Roman" pitchFamily="18" charset="0"/>
              </a:rPr>
              <a:t>access</a:t>
            </a:r>
            <a:r>
              <a:rPr lang="en-GB" sz="2800" dirty="0">
                <a:latin typeface="Times New Roman" pitchFamily="18" charset="0"/>
                <a:cs typeface="Times New Roman" pitchFamily="18" charset="0"/>
              </a:rPr>
              <a:t>, and</a:t>
            </a:r>
          </a:p>
          <a:p>
            <a:pPr lvl="1"/>
            <a:r>
              <a:rPr lang="en-GB" sz="2800" dirty="0">
                <a:latin typeface="Times New Roman" pitchFamily="18" charset="0"/>
                <a:cs typeface="Times New Roman" pitchFamily="18" charset="0"/>
              </a:rPr>
              <a:t>how they </a:t>
            </a:r>
            <a:r>
              <a:rPr lang="en-GB" sz="2800" b="1" i="1" dirty="0">
                <a:latin typeface="Times New Roman" pitchFamily="18" charset="0"/>
                <a:cs typeface="Times New Roman" pitchFamily="18" charset="0"/>
              </a:rPr>
              <a:t>grow</a:t>
            </a:r>
            <a:r>
              <a:rPr lang="en-GB" sz="2800" dirty="0">
                <a:latin typeface="Times New Roman" pitchFamily="18" charset="0"/>
                <a:cs typeface="Times New Roman" pitchFamily="18" charset="0"/>
              </a:rPr>
              <a:t>,</a:t>
            </a:r>
          </a:p>
          <a:p>
            <a:pPr lvl="1"/>
            <a:r>
              <a:rPr lang="en-GB" sz="2800" b="1" i="1" dirty="0">
                <a:latin typeface="Times New Roman" pitchFamily="18" charset="0"/>
                <a:cs typeface="Times New Roman" pitchFamily="18" charset="0"/>
              </a:rPr>
              <a:t>survive</a:t>
            </a:r>
            <a:r>
              <a:rPr lang="en-GB" sz="2800" dirty="0">
                <a:latin typeface="Times New Roman" pitchFamily="18" charset="0"/>
                <a:cs typeface="Times New Roman" pitchFamily="18" charset="0"/>
              </a:rPr>
              <a:t> or</a:t>
            </a:r>
          </a:p>
          <a:p>
            <a:pPr lvl="1"/>
            <a:r>
              <a:rPr lang="en-GB" sz="2800" b="1" i="1" dirty="0">
                <a:latin typeface="Times New Roman" pitchFamily="18" charset="0"/>
                <a:cs typeface="Times New Roman" pitchFamily="18" charset="0"/>
              </a:rPr>
              <a:t>interact</a:t>
            </a:r>
            <a:r>
              <a:rPr lang="en-GB" sz="2800" dirty="0">
                <a:latin typeface="Times New Roman" pitchFamily="18" charset="0"/>
                <a:cs typeface="Times New Roman" pitchFamily="18" charset="0"/>
              </a:rPr>
              <a:t>.</a:t>
            </a:r>
          </a:p>
          <a:p>
            <a:endParaRPr lang="en-GB" sz="28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533400"/>
          </a:xfrm>
        </p:spPr>
        <p:txBody>
          <a:bodyPr>
            <a:normAutofit/>
          </a:bodyPr>
          <a:lstStyle/>
          <a:p>
            <a:pPr algn="ctr"/>
            <a:r>
              <a:rPr lang="en-US" sz="2800" b="1" dirty="0">
                <a:latin typeface="Times New Roman" pitchFamily="18" charset="0"/>
                <a:cs typeface="Times New Roman" pitchFamily="18" charset="0"/>
              </a:rPr>
              <a:t>MICROBES AND FOOD</a:t>
            </a:r>
          </a:p>
        </p:txBody>
      </p:sp>
      <p:sp>
        <p:nvSpPr>
          <p:cNvPr id="3" name="Content Placeholder 2"/>
          <p:cNvSpPr>
            <a:spLocks noGrp="1"/>
          </p:cNvSpPr>
          <p:nvPr>
            <p:ph idx="1"/>
          </p:nvPr>
        </p:nvSpPr>
        <p:spPr>
          <a:xfrm>
            <a:off x="152400" y="1066800"/>
            <a:ext cx="8763000" cy="5638800"/>
          </a:xfrm>
        </p:spPr>
        <p:txBody>
          <a:bodyPr>
            <a:noAutofit/>
          </a:bodyPr>
          <a:lstStyle/>
          <a:p>
            <a:r>
              <a:rPr lang="en-GB" sz="2800" dirty="0">
                <a:latin typeface="Times New Roman" pitchFamily="18" charset="0"/>
                <a:cs typeface="Times New Roman" pitchFamily="18" charset="0"/>
              </a:rPr>
              <a:t>Mostly, microbes are introduced into food substances through the following sources:</a:t>
            </a:r>
          </a:p>
          <a:p>
            <a:endParaRPr lang="en-GB" sz="1800" dirty="0">
              <a:latin typeface="Times New Roman" pitchFamily="18" charset="0"/>
              <a:cs typeface="Times New Roman" pitchFamily="18" charset="0"/>
            </a:endParaRPr>
          </a:p>
          <a:p>
            <a:pPr lvl="1">
              <a:buFont typeface="Wingdings" pitchFamily="2" charset="2"/>
              <a:buChar char="Ø"/>
            </a:pPr>
            <a:r>
              <a:rPr lang="en-GB" sz="2800" dirty="0">
                <a:latin typeface="Times New Roman" pitchFamily="18" charset="0"/>
                <a:cs typeface="Times New Roman" pitchFamily="18" charset="0"/>
              </a:rPr>
              <a:t>from the </a:t>
            </a:r>
            <a:r>
              <a:rPr lang="en-GB" sz="2800" b="1" i="1" dirty="0">
                <a:latin typeface="Times New Roman" pitchFamily="18" charset="0"/>
                <a:cs typeface="Times New Roman" pitchFamily="18" charset="0"/>
              </a:rPr>
              <a:t>natural microflora </a:t>
            </a:r>
            <a:r>
              <a:rPr lang="en-GB" sz="2800" dirty="0">
                <a:latin typeface="Times New Roman" pitchFamily="18" charset="0"/>
                <a:cs typeface="Times New Roman" pitchFamily="18" charset="0"/>
              </a:rPr>
              <a:t>of the raw material.</a:t>
            </a:r>
          </a:p>
          <a:p>
            <a:pPr lvl="1">
              <a:buFont typeface="Wingdings" pitchFamily="2" charset="2"/>
              <a:buChar char="Ø"/>
            </a:pPr>
            <a:endParaRPr lang="en-GB" sz="1000" dirty="0">
              <a:latin typeface="Times New Roman" pitchFamily="18" charset="0"/>
              <a:cs typeface="Times New Roman" pitchFamily="18" charset="0"/>
            </a:endParaRPr>
          </a:p>
          <a:p>
            <a:pPr lvl="1">
              <a:buFont typeface="Wingdings" pitchFamily="2" charset="2"/>
              <a:buChar char="Ø"/>
            </a:pPr>
            <a:r>
              <a:rPr lang="en-GB" sz="2800" b="1" i="1" dirty="0">
                <a:latin typeface="Times New Roman" pitchFamily="18" charset="0"/>
                <a:cs typeface="Times New Roman" pitchFamily="18" charset="0"/>
              </a:rPr>
              <a:t>Harvesting</a:t>
            </a:r>
          </a:p>
          <a:p>
            <a:pPr lvl="1">
              <a:buFont typeface="Wingdings" pitchFamily="2" charset="2"/>
              <a:buChar char="Ø"/>
            </a:pPr>
            <a:endParaRPr lang="en-GB" sz="1000" b="1" i="1" dirty="0">
              <a:latin typeface="Times New Roman" pitchFamily="18" charset="0"/>
              <a:cs typeface="Times New Roman" pitchFamily="18" charset="0"/>
            </a:endParaRPr>
          </a:p>
          <a:p>
            <a:pPr lvl="1">
              <a:buFont typeface="Wingdings" pitchFamily="2" charset="2"/>
              <a:buChar char="Ø"/>
            </a:pPr>
            <a:r>
              <a:rPr lang="en-GB" sz="2800" b="1" i="1" dirty="0">
                <a:latin typeface="Times New Roman" pitchFamily="18" charset="0"/>
                <a:cs typeface="Times New Roman" pitchFamily="18" charset="0"/>
              </a:rPr>
              <a:t>Slaughtering</a:t>
            </a:r>
          </a:p>
          <a:p>
            <a:pPr lvl="1">
              <a:buFont typeface="Wingdings" pitchFamily="2" charset="2"/>
              <a:buChar char="Ø"/>
            </a:pPr>
            <a:endParaRPr lang="en-GB" sz="1000" b="1" i="1" dirty="0">
              <a:latin typeface="Times New Roman" pitchFamily="18" charset="0"/>
              <a:cs typeface="Times New Roman" pitchFamily="18" charset="0"/>
            </a:endParaRPr>
          </a:p>
          <a:p>
            <a:pPr lvl="1">
              <a:buFont typeface="Wingdings" pitchFamily="2" charset="2"/>
              <a:buChar char="Ø"/>
            </a:pPr>
            <a:r>
              <a:rPr lang="en-GB" sz="2800" b="1" i="1" dirty="0">
                <a:latin typeface="Times New Roman" pitchFamily="18" charset="0"/>
                <a:cs typeface="Times New Roman" pitchFamily="18" charset="0"/>
              </a:rPr>
              <a:t>Processing</a:t>
            </a:r>
          </a:p>
          <a:p>
            <a:pPr lvl="1">
              <a:buFont typeface="Wingdings" pitchFamily="2" charset="2"/>
              <a:buChar char="Ø"/>
            </a:pPr>
            <a:endParaRPr lang="en-GB" sz="1000" b="1" i="1" dirty="0">
              <a:latin typeface="Times New Roman" pitchFamily="18" charset="0"/>
              <a:cs typeface="Times New Roman" pitchFamily="18" charset="0"/>
            </a:endParaRPr>
          </a:p>
          <a:p>
            <a:pPr lvl="1">
              <a:buFont typeface="Wingdings" pitchFamily="2" charset="2"/>
              <a:buChar char="Ø"/>
            </a:pPr>
            <a:r>
              <a:rPr lang="en-GB" sz="2800" b="1" i="1" dirty="0">
                <a:latin typeface="Times New Roman" pitchFamily="18" charset="0"/>
                <a:cs typeface="Times New Roman" pitchFamily="18" charset="0"/>
              </a:rPr>
              <a:t>Storage </a:t>
            </a:r>
            <a:r>
              <a:rPr lang="en-GB" sz="2800" dirty="0">
                <a:latin typeface="Times New Roman" pitchFamily="18" charset="0"/>
                <a:cs typeface="Times New Roman" pitchFamily="18" charset="0"/>
              </a:rPr>
              <a:t>and </a:t>
            </a:r>
          </a:p>
          <a:p>
            <a:pPr lvl="1">
              <a:buFont typeface="Wingdings" pitchFamily="2" charset="2"/>
              <a:buChar char="Ø"/>
            </a:pPr>
            <a:endParaRPr lang="en-GB" sz="1000" dirty="0">
              <a:latin typeface="Times New Roman" pitchFamily="18" charset="0"/>
              <a:cs typeface="Times New Roman" pitchFamily="18" charset="0"/>
            </a:endParaRPr>
          </a:p>
          <a:p>
            <a:pPr lvl="1">
              <a:buFont typeface="Wingdings" pitchFamily="2" charset="2"/>
              <a:buChar char="Ø"/>
            </a:pPr>
            <a:r>
              <a:rPr lang="en-GB" sz="2800" b="1" i="1" dirty="0">
                <a:latin typeface="Times New Roman" pitchFamily="18" charset="0"/>
                <a:cs typeface="Times New Roman" pitchFamily="18" charset="0"/>
              </a:rPr>
              <a:t>Distribution</a:t>
            </a:r>
            <a:r>
              <a:rPr lang="en-GB" sz="2800" dirty="0">
                <a:latin typeface="Times New Roman" pitchFamily="18" charset="0"/>
                <a:cs typeface="Times New Roman" pitchFamily="18" charset="0"/>
              </a:rPr>
              <a:t>.</a:t>
            </a:r>
            <a:endParaRPr lang="en-US" sz="2800" dirty="0">
              <a:latin typeface="Times New Roman" pitchFamily="18" charset="0"/>
              <a:cs typeface="Times New Roman" pitchFamily="18" charset="0"/>
            </a:endParaRPr>
          </a:p>
          <a:p>
            <a:pPr marL="0" indent="0">
              <a:buNone/>
            </a:pPr>
            <a:endParaRPr lang="en-GB" sz="3200" dirty="0">
              <a:latin typeface="Times New Roman" pitchFamily="18" charset="0"/>
              <a:cs typeface="Times New Roman" pitchFamily="18" charset="0"/>
            </a:endParaRPr>
          </a:p>
        </p:txBody>
      </p:sp>
    </p:spTree>
    <p:extLst>
      <p:ext uri="{BB962C8B-B14F-4D97-AF65-F5344CB8AC3E}">
        <p14:creationId xmlns:p14="http://schemas.microsoft.com/office/powerpoint/2010/main" val="72736339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62000"/>
          </a:xfrm>
        </p:spPr>
        <p:txBody>
          <a:bodyPr>
            <a:normAutofit/>
          </a:bodyPr>
          <a:lstStyle/>
          <a:p>
            <a:pPr algn="ctr"/>
            <a:r>
              <a:rPr lang="en-US" sz="2800" dirty="0">
                <a:latin typeface="Times New Roman" pitchFamily="18" charset="0"/>
                <a:cs typeface="Times New Roman" pitchFamily="18" charset="0"/>
              </a:rPr>
              <a:t>MICROBES AND FOOD </a:t>
            </a:r>
            <a:r>
              <a:rPr lang="en-US" sz="2800" i="1" dirty="0">
                <a:latin typeface="Times New Roman" pitchFamily="18" charset="0"/>
                <a:cs typeface="Times New Roman" pitchFamily="18" charset="0"/>
              </a:rPr>
              <a:t>contd.</a:t>
            </a: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066800"/>
            <a:ext cx="8229600" cy="5638800"/>
          </a:xfrm>
        </p:spPr>
        <p:txBody>
          <a:bodyPr>
            <a:normAutofit/>
          </a:bodyPr>
          <a:lstStyle/>
          <a:p>
            <a:r>
              <a:rPr lang="en-GB" sz="2800" dirty="0"/>
              <a:t>The numerical balance between the various organisms is determined by:</a:t>
            </a:r>
          </a:p>
          <a:p>
            <a:pPr lvl="1">
              <a:buFont typeface="Wingdings" pitchFamily="2" charset="2"/>
              <a:buChar char="v"/>
            </a:pPr>
            <a:endParaRPr lang="en-GB" sz="2800" dirty="0"/>
          </a:p>
          <a:p>
            <a:pPr lvl="1">
              <a:buFont typeface="Wingdings" pitchFamily="2" charset="2"/>
              <a:buChar char="v"/>
            </a:pPr>
            <a:r>
              <a:rPr lang="en-GB" sz="2800" dirty="0"/>
              <a:t>properties of the food </a:t>
            </a:r>
          </a:p>
          <a:p>
            <a:pPr lvl="1">
              <a:buFont typeface="Wingdings" pitchFamily="2" charset="2"/>
              <a:buChar char="v"/>
            </a:pPr>
            <a:r>
              <a:rPr lang="en-GB" sz="2800" dirty="0"/>
              <a:t>storage environment,</a:t>
            </a:r>
          </a:p>
          <a:p>
            <a:pPr lvl="1">
              <a:buFont typeface="Wingdings" pitchFamily="2" charset="2"/>
              <a:buChar char="v"/>
            </a:pPr>
            <a:r>
              <a:rPr lang="en-GB" sz="2800" dirty="0"/>
              <a:t>properties of the organisms themselves, and</a:t>
            </a:r>
          </a:p>
          <a:p>
            <a:pPr lvl="1">
              <a:buFont typeface="Wingdings" pitchFamily="2" charset="2"/>
              <a:buChar char="v"/>
            </a:pPr>
            <a:r>
              <a:rPr lang="en-GB" sz="2800"/>
              <a:t>effect </a:t>
            </a:r>
            <a:r>
              <a:rPr lang="en-GB" sz="2800" dirty="0"/>
              <a:t>of processing.</a:t>
            </a:r>
            <a:endParaRPr lang="en-US" sz="2800" dirty="0"/>
          </a:p>
          <a:p>
            <a:endParaRPr lang="en-GB" sz="2800" dirty="0"/>
          </a:p>
          <a:p>
            <a:r>
              <a:rPr lang="en-GB" sz="2800" dirty="0"/>
              <a:t>The microflora in food in most cases  have no discernible effects, and the food is consumed without objection and with no adverse effects.</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762000"/>
          </a:xfrm>
        </p:spPr>
        <p:txBody>
          <a:bodyPr>
            <a:normAutofit/>
          </a:bodyPr>
          <a:lstStyle/>
          <a:p>
            <a:pPr algn="ctr"/>
            <a:r>
              <a:rPr lang="en-US" sz="2800" dirty="0">
                <a:latin typeface="Times New Roman" pitchFamily="18" charset="0"/>
                <a:cs typeface="Times New Roman" pitchFamily="18" charset="0"/>
              </a:rPr>
              <a:t>MICROBES AND FOOD </a:t>
            </a:r>
            <a:r>
              <a:rPr lang="en-US" sz="2800" i="1" dirty="0">
                <a:latin typeface="Times New Roman" pitchFamily="18" charset="0"/>
                <a:cs typeface="Times New Roman" pitchFamily="18" charset="0"/>
              </a:rPr>
              <a:t>contd.</a:t>
            </a: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143000"/>
            <a:ext cx="8229600" cy="5486400"/>
          </a:xfrm>
        </p:spPr>
        <p:txBody>
          <a:bodyPr>
            <a:normAutofit/>
          </a:bodyPr>
          <a:lstStyle/>
          <a:p>
            <a:r>
              <a:rPr lang="en-GB" sz="3200" dirty="0">
                <a:latin typeface="Times New Roman" pitchFamily="18" charset="0"/>
                <a:cs typeface="Times New Roman" pitchFamily="18" charset="0"/>
              </a:rPr>
              <a:t>In some instances, however, microbes manifest their presence in one of the following ways:</a:t>
            </a:r>
            <a:endParaRPr lang="en-US" sz="3200" dirty="0">
              <a:latin typeface="Times New Roman" pitchFamily="18" charset="0"/>
              <a:cs typeface="Times New Roman" pitchFamily="18" charset="0"/>
            </a:endParaRPr>
          </a:p>
          <a:p>
            <a:pPr lvl="1">
              <a:buFont typeface="Wingdings" pitchFamily="2" charset="2"/>
              <a:buChar char="v"/>
            </a:pPr>
            <a:endParaRPr lang="en-GB" sz="3200" dirty="0">
              <a:latin typeface="Times New Roman" pitchFamily="18" charset="0"/>
              <a:cs typeface="Times New Roman" pitchFamily="18" charset="0"/>
            </a:endParaRPr>
          </a:p>
          <a:p>
            <a:pPr lvl="1">
              <a:buFont typeface="Wingdings" pitchFamily="2" charset="2"/>
              <a:buChar char="v"/>
            </a:pPr>
            <a:r>
              <a:rPr lang="en-GB" sz="3200" dirty="0">
                <a:latin typeface="Times New Roman" pitchFamily="18" charset="0"/>
                <a:cs typeface="Times New Roman" pitchFamily="18" charset="0"/>
              </a:rPr>
              <a:t>They may cause; spoilage,  food-borne diseases or may transform the food in a beneficial way (fermentation).</a:t>
            </a:r>
            <a:endParaRPr lang="en-US" sz="3200" dirty="0">
              <a:latin typeface="Times New Roman" pitchFamily="18" charset="0"/>
              <a:cs typeface="Times New Roman" pitchFamily="18" charset="0"/>
            </a:endParaRPr>
          </a:p>
          <a:p>
            <a:pPr lvl="1">
              <a:buFont typeface="Wingdings" pitchFamily="2" charset="2"/>
              <a:buChar char="v"/>
            </a:pPr>
            <a:endParaRPr lang="en-GB" sz="3200" dirty="0">
              <a:latin typeface="Times New Roman" pitchFamily="18" charset="0"/>
              <a:cs typeface="Times New Roman" pitchFamily="18" charset="0"/>
            </a:endParaRPr>
          </a:p>
          <a:p>
            <a:pPr lvl="1">
              <a:buFont typeface="Wingdings" pitchFamily="2" charset="2"/>
              <a:buChar char="v"/>
            </a:pPr>
            <a:r>
              <a:rPr lang="en-GB" sz="3200" dirty="0">
                <a:latin typeface="Times New Roman" pitchFamily="18" charset="0"/>
                <a:cs typeface="Times New Roman" pitchFamily="18" charset="0"/>
              </a:rPr>
              <a:t>They may change the texture, quality, or taste of the food.</a:t>
            </a:r>
          </a:p>
          <a:p>
            <a:pPr lvl="1">
              <a:buFont typeface="Wingdings" pitchFamily="2" charset="2"/>
              <a:buChar char="v"/>
            </a:pPr>
            <a:endParaRPr lang="en-US" sz="32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62000"/>
          </a:xfrm>
        </p:spPr>
        <p:txBody>
          <a:bodyPr>
            <a:normAutofit/>
          </a:bodyPr>
          <a:lstStyle/>
          <a:p>
            <a:pPr algn="ctr"/>
            <a:r>
              <a:rPr lang="en-US" sz="3600" b="1" dirty="0">
                <a:latin typeface="Times New Roman" pitchFamily="18" charset="0"/>
                <a:cs typeface="Times New Roman" pitchFamily="18" charset="0"/>
              </a:rPr>
              <a:t>SPOILAGE</a:t>
            </a:r>
          </a:p>
        </p:txBody>
      </p:sp>
      <p:sp>
        <p:nvSpPr>
          <p:cNvPr id="3" name="Content Placeholder 2"/>
          <p:cNvSpPr>
            <a:spLocks noGrp="1"/>
          </p:cNvSpPr>
          <p:nvPr>
            <p:ph idx="1"/>
          </p:nvPr>
        </p:nvSpPr>
        <p:spPr>
          <a:xfrm>
            <a:off x="457200" y="1066800"/>
            <a:ext cx="8229600" cy="5638800"/>
          </a:xfrm>
        </p:spPr>
        <p:txBody>
          <a:bodyPr>
            <a:normAutofit/>
          </a:bodyPr>
          <a:lstStyle/>
          <a:p>
            <a:r>
              <a:rPr lang="en-GB" sz="3500" dirty="0">
                <a:latin typeface="Times New Roman" pitchFamily="18" charset="0"/>
                <a:cs typeface="Times New Roman" pitchFamily="18" charset="0"/>
              </a:rPr>
              <a:t>When a food product loses its good or effective qualities through damage or injury so as to render it undesirable for human consumption.</a:t>
            </a:r>
          </a:p>
          <a:p>
            <a:endParaRPr lang="en-GB" sz="3500" dirty="0">
              <a:latin typeface="Times New Roman" pitchFamily="18" charset="0"/>
              <a:cs typeface="Times New Roman" pitchFamily="18" charset="0"/>
            </a:endParaRPr>
          </a:p>
          <a:p>
            <a:r>
              <a:rPr lang="en-GB" sz="3500" dirty="0">
                <a:latin typeface="Times New Roman" pitchFamily="18" charset="0"/>
                <a:cs typeface="Times New Roman" pitchFamily="18" charset="0"/>
              </a:rPr>
              <a:t>A product may become unacceptable or may be deemed spoilt as a result of any of the following:</a:t>
            </a:r>
          </a:p>
          <a:p>
            <a:pPr lvl="1">
              <a:buFont typeface="Wingdings" pitchFamily="2" charset="2"/>
              <a:buChar char="Ø"/>
            </a:pPr>
            <a:r>
              <a:rPr lang="en-GB" sz="3500" dirty="0">
                <a:latin typeface="Times New Roman" pitchFamily="18" charset="0"/>
                <a:cs typeface="Times New Roman" pitchFamily="18" charset="0"/>
              </a:rPr>
              <a:t>insect damage,</a:t>
            </a:r>
          </a:p>
          <a:p>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486400"/>
          </a:xfrm>
        </p:spPr>
        <p:txBody>
          <a:bodyPr>
            <a:normAutofit lnSpcReduction="10000"/>
          </a:bodyPr>
          <a:lstStyle/>
          <a:p>
            <a:pPr lvl="1">
              <a:buFont typeface="Wingdings" pitchFamily="2" charset="2"/>
              <a:buChar char="Ø"/>
            </a:pPr>
            <a:r>
              <a:rPr lang="en-GB" sz="3500" dirty="0">
                <a:latin typeface="Times New Roman" pitchFamily="18" charset="0"/>
                <a:cs typeface="Times New Roman" pitchFamily="18" charset="0"/>
              </a:rPr>
              <a:t>physical injury of various kinds  including;</a:t>
            </a:r>
          </a:p>
          <a:p>
            <a:pPr lvl="2">
              <a:buFont typeface="Wingdings" pitchFamily="2" charset="2"/>
              <a:buChar char="q"/>
            </a:pPr>
            <a:r>
              <a:rPr lang="en-GB" sz="3500" dirty="0">
                <a:latin typeface="Times New Roman" pitchFamily="18" charset="0"/>
                <a:cs typeface="Times New Roman" pitchFamily="18" charset="0"/>
              </a:rPr>
              <a:t>dehydration or drying out,</a:t>
            </a:r>
          </a:p>
          <a:p>
            <a:pPr lvl="2">
              <a:buFont typeface="Wingdings" pitchFamily="2" charset="2"/>
              <a:buChar char="q"/>
            </a:pPr>
            <a:r>
              <a:rPr lang="en-GB" sz="3500" dirty="0">
                <a:latin typeface="Times New Roman" pitchFamily="18" charset="0"/>
                <a:cs typeface="Times New Roman" pitchFamily="18" charset="0"/>
              </a:rPr>
              <a:t>discolouration,</a:t>
            </a:r>
          </a:p>
          <a:p>
            <a:pPr lvl="2">
              <a:buFont typeface="Wingdings" pitchFamily="2" charset="2"/>
              <a:buChar char="q"/>
            </a:pPr>
            <a:r>
              <a:rPr lang="en-GB" sz="3500" dirty="0">
                <a:latin typeface="Times New Roman" pitchFamily="18" charset="0"/>
                <a:cs typeface="Times New Roman" pitchFamily="18" charset="0"/>
              </a:rPr>
              <a:t>bruising,</a:t>
            </a:r>
          </a:p>
          <a:p>
            <a:pPr lvl="2">
              <a:buFont typeface="Wingdings" pitchFamily="2" charset="2"/>
              <a:buChar char="q"/>
            </a:pPr>
            <a:r>
              <a:rPr lang="en-GB" sz="3500" dirty="0">
                <a:latin typeface="Times New Roman" pitchFamily="18" charset="0"/>
                <a:cs typeface="Times New Roman" pitchFamily="18" charset="0"/>
              </a:rPr>
              <a:t>Freezing,</a:t>
            </a:r>
          </a:p>
          <a:p>
            <a:pPr lvl="2">
              <a:buFont typeface="Wingdings" pitchFamily="2" charset="2"/>
              <a:buChar char="q"/>
            </a:pPr>
            <a:r>
              <a:rPr lang="en-GB" sz="3500" dirty="0">
                <a:latin typeface="Times New Roman" pitchFamily="18" charset="0"/>
                <a:cs typeface="Times New Roman" pitchFamily="18" charset="0"/>
              </a:rPr>
              <a:t>staling,</a:t>
            </a:r>
          </a:p>
          <a:p>
            <a:pPr lvl="2">
              <a:buFont typeface="Wingdings" pitchFamily="2" charset="2"/>
              <a:buChar char="q"/>
            </a:pPr>
            <a:r>
              <a:rPr lang="en-GB" sz="3500" dirty="0">
                <a:latin typeface="Times New Roman" pitchFamily="18" charset="0"/>
                <a:cs typeface="Times New Roman" pitchFamily="18" charset="0"/>
              </a:rPr>
              <a:t>rancidity and also</a:t>
            </a:r>
          </a:p>
          <a:p>
            <a:pPr lvl="2">
              <a:buFont typeface="Wingdings" pitchFamily="2" charset="2"/>
              <a:buChar char="q"/>
            </a:pPr>
            <a:r>
              <a:rPr lang="en-GB" sz="3500" dirty="0">
                <a:latin typeface="Times New Roman" pitchFamily="18" charset="0"/>
                <a:cs typeface="Times New Roman" pitchFamily="18" charset="0"/>
              </a:rPr>
              <a:t>enzyme activity.</a:t>
            </a:r>
            <a:endParaRPr lang="en-US" sz="3500" dirty="0">
              <a:latin typeface="Times New Roman" pitchFamily="18" charset="0"/>
              <a:cs typeface="Times New Roman" pitchFamily="18" charset="0"/>
            </a:endParaRPr>
          </a:p>
          <a:p>
            <a:endParaRPr lang="en-US" dirty="0"/>
          </a:p>
        </p:txBody>
      </p:sp>
    </p:spTree>
    <p:extLst>
      <p:ext uri="{BB962C8B-B14F-4D97-AF65-F5344CB8AC3E}">
        <p14:creationId xmlns:p14="http://schemas.microsoft.com/office/powerpoint/2010/main" val="195911932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85800"/>
          </a:xfrm>
        </p:spPr>
        <p:txBody>
          <a:bodyPr>
            <a:normAutofit/>
          </a:bodyPr>
          <a:lstStyle/>
          <a:p>
            <a:pPr algn="ctr"/>
            <a:r>
              <a:rPr lang="en-US" sz="2800" b="1" dirty="0">
                <a:latin typeface="Times New Roman" pitchFamily="18" charset="0"/>
                <a:cs typeface="Times New Roman" pitchFamily="18" charset="0"/>
              </a:rPr>
              <a:t>SPOILAGE</a:t>
            </a:r>
            <a:r>
              <a:rPr lang="en-US" sz="2800" dirty="0">
                <a:latin typeface="Times New Roman" pitchFamily="18" charset="0"/>
                <a:cs typeface="Times New Roman" pitchFamily="18" charset="0"/>
              </a:rPr>
              <a:t> </a:t>
            </a:r>
            <a:r>
              <a:rPr lang="en-US" sz="2800" b="1" i="1" dirty="0">
                <a:latin typeface="Times New Roman" pitchFamily="18" charset="0"/>
                <a:cs typeface="Times New Roman" pitchFamily="18" charset="0"/>
              </a:rPr>
              <a:t>contd</a:t>
            </a:r>
            <a:r>
              <a:rPr lang="en-US" sz="2800" i="1" dirty="0">
                <a:latin typeface="Times New Roman" pitchFamily="18" charset="0"/>
                <a:cs typeface="Times New Roman" pitchFamily="18" charset="0"/>
              </a:rPr>
              <a:t>.</a:t>
            </a: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990600"/>
            <a:ext cx="8229600" cy="5715000"/>
          </a:xfrm>
        </p:spPr>
        <p:txBody>
          <a:bodyPr>
            <a:normAutofit/>
          </a:bodyPr>
          <a:lstStyle/>
          <a:p>
            <a:r>
              <a:rPr lang="en-GB" sz="2800" dirty="0">
                <a:latin typeface="Times New Roman" pitchFamily="18" charset="0"/>
                <a:cs typeface="Times New Roman" pitchFamily="18" charset="0"/>
              </a:rPr>
              <a:t>Most food spoilage is due to microbial activity.</a:t>
            </a:r>
          </a:p>
          <a:p>
            <a:endParaRPr lang="en-GB" sz="2800" b="1" i="1" dirty="0">
              <a:latin typeface="Times New Roman" pitchFamily="18" charset="0"/>
              <a:cs typeface="Times New Roman" pitchFamily="18" charset="0"/>
            </a:endParaRPr>
          </a:p>
          <a:p>
            <a:r>
              <a:rPr lang="en-GB" sz="2800" b="1" i="1" dirty="0">
                <a:latin typeface="Times New Roman" pitchFamily="18" charset="0"/>
                <a:cs typeface="Times New Roman" pitchFamily="18" charset="0"/>
              </a:rPr>
              <a:t>Food Microbial </a:t>
            </a:r>
            <a:r>
              <a:rPr lang="en-GB" sz="2800" b="1" dirty="0">
                <a:latin typeface="Times New Roman" pitchFamily="18" charset="0"/>
                <a:cs typeface="Times New Roman" pitchFamily="18" charset="0"/>
              </a:rPr>
              <a:t>Spoilage</a:t>
            </a:r>
            <a:r>
              <a:rPr lang="en-GB" sz="2800" dirty="0">
                <a:latin typeface="Times New Roman" pitchFamily="18" charset="0"/>
                <a:cs typeface="Times New Roman" pitchFamily="18" charset="0"/>
              </a:rPr>
              <a:t> –when the food; either raw or processed is damage  by microorganisms </a:t>
            </a:r>
          </a:p>
          <a:p>
            <a:endParaRPr lang="en-GB" sz="2800" dirty="0">
              <a:latin typeface="Times New Roman" pitchFamily="18" charset="0"/>
              <a:cs typeface="Times New Roman" pitchFamily="18" charset="0"/>
            </a:endParaRPr>
          </a:p>
          <a:p>
            <a:r>
              <a:rPr lang="en-GB" sz="2800" dirty="0">
                <a:latin typeface="Times New Roman" pitchFamily="18" charset="0"/>
                <a:cs typeface="Times New Roman" pitchFamily="18" charset="0"/>
              </a:rPr>
              <a:t>The primary causative agents of microbial food spoilage are</a:t>
            </a:r>
          </a:p>
          <a:p>
            <a:pPr lvl="1">
              <a:buFont typeface="Wingdings" pitchFamily="2" charset="2"/>
              <a:buChar char="Ø"/>
            </a:pPr>
            <a:r>
              <a:rPr lang="en-GB" sz="2800" dirty="0">
                <a:latin typeface="Times New Roman" pitchFamily="18" charset="0"/>
                <a:cs typeface="Times New Roman" pitchFamily="18" charset="0"/>
              </a:rPr>
              <a:t>bacteria,</a:t>
            </a:r>
          </a:p>
          <a:p>
            <a:pPr lvl="1">
              <a:buFont typeface="Wingdings" pitchFamily="2" charset="2"/>
              <a:buChar char="Ø"/>
            </a:pPr>
            <a:r>
              <a:rPr lang="en-GB" sz="2800" dirty="0">
                <a:latin typeface="Times New Roman" pitchFamily="18" charset="0"/>
                <a:cs typeface="Times New Roman" pitchFamily="18" charset="0"/>
              </a:rPr>
              <a:t>yeast and</a:t>
            </a:r>
          </a:p>
          <a:p>
            <a:pPr lvl="1">
              <a:buFont typeface="Wingdings" pitchFamily="2" charset="2"/>
              <a:buChar char="Ø"/>
            </a:pPr>
            <a:r>
              <a:rPr lang="en-GB" sz="2800" dirty="0">
                <a:latin typeface="Times New Roman" pitchFamily="18" charset="0"/>
                <a:cs typeface="Times New Roman" pitchFamily="18" charset="0"/>
              </a:rPr>
              <a:t>moulds.</a:t>
            </a:r>
            <a:endParaRPr lang="en-US" sz="28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0209"/>
            <a:ext cx="8229600" cy="587991"/>
          </a:xfrm>
        </p:spPr>
        <p:txBody>
          <a:bodyPr>
            <a:normAutofit/>
          </a:bodyPr>
          <a:lstStyle/>
          <a:p>
            <a:pPr algn="ctr"/>
            <a:r>
              <a:rPr lang="en-US" sz="2800" b="1" dirty="0">
                <a:latin typeface="Times New Roman" pitchFamily="18" charset="0"/>
                <a:cs typeface="Times New Roman" pitchFamily="18" charset="0"/>
              </a:rPr>
              <a:t>SPOILAGE </a:t>
            </a:r>
            <a:r>
              <a:rPr lang="en-US" sz="2800" b="1" i="1" dirty="0">
                <a:latin typeface="Times New Roman" pitchFamily="18" charset="0"/>
                <a:cs typeface="Times New Roman" pitchFamily="18" charset="0"/>
              </a:rPr>
              <a:t>contd.</a:t>
            </a:r>
            <a:endParaRPr lang="en-US" sz="2800" b="1" dirty="0">
              <a:latin typeface="Times New Roman" pitchFamily="18" charset="0"/>
              <a:cs typeface="Times New Roman" pitchFamily="18" charset="0"/>
            </a:endParaRPr>
          </a:p>
        </p:txBody>
      </p:sp>
      <p:sp>
        <p:nvSpPr>
          <p:cNvPr id="3" name="Content Placeholder 2"/>
          <p:cNvSpPr>
            <a:spLocks noGrp="1"/>
          </p:cNvSpPr>
          <p:nvPr>
            <p:ph idx="1"/>
          </p:nvPr>
        </p:nvSpPr>
        <p:spPr>
          <a:xfrm>
            <a:off x="457200" y="838200"/>
            <a:ext cx="8229600" cy="5867400"/>
          </a:xfrm>
        </p:spPr>
        <p:txBody>
          <a:bodyPr>
            <a:noAutofit/>
          </a:bodyPr>
          <a:lstStyle/>
          <a:p>
            <a:r>
              <a:rPr lang="en-GB" sz="2800" dirty="0">
                <a:latin typeface="Times New Roman" pitchFamily="18" charset="0"/>
                <a:cs typeface="Times New Roman" pitchFamily="18" charset="0"/>
              </a:rPr>
              <a:t>Viruses are generally not regarded important in food spoilage.</a:t>
            </a:r>
          </a:p>
          <a:p>
            <a:r>
              <a:rPr lang="en-GB" sz="2800" dirty="0">
                <a:latin typeface="Times New Roman" pitchFamily="18" charset="0"/>
                <a:cs typeface="Times New Roman" pitchFamily="18" charset="0"/>
              </a:rPr>
              <a:t>Microbial food spoilage manifest in several different ways, some of which may occur in combination.</a:t>
            </a:r>
            <a:endParaRPr lang="en-US" sz="2800" dirty="0">
              <a:latin typeface="Times New Roman" pitchFamily="18" charset="0"/>
              <a:cs typeface="Times New Roman" pitchFamily="18" charset="0"/>
            </a:endParaRPr>
          </a:p>
          <a:p>
            <a:pPr marL="0" indent="0">
              <a:buNone/>
            </a:pPr>
            <a:r>
              <a:rPr lang="en-GB" sz="2800" dirty="0">
                <a:latin typeface="Times New Roman" pitchFamily="18" charset="0"/>
                <a:cs typeface="Times New Roman" pitchFamily="18" charset="0"/>
              </a:rPr>
              <a:t>The manifestations include:</a:t>
            </a:r>
          </a:p>
          <a:p>
            <a:pPr lvl="0">
              <a:buFont typeface="Wingdings" panose="05000000000000000000" pitchFamily="2" charset="2"/>
              <a:buChar char="Ø"/>
            </a:pPr>
            <a:r>
              <a:rPr lang="en-GB" sz="2800" dirty="0">
                <a:latin typeface="Times New Roman" pitchFamily="18" charset="0"/>
                <a:cs typeface="Times New Roman" pitchFamily="18" charset="0"/>
              </a:rPr>
              <a:t>Colour  defects</a:t>
            </a:r>
            <a:endParaRPr lang="en-US" sz="2800" dirty="0">
              <a:latin typeface="Times New Roman" pitchFamily="18" charset="0"/>
              <a:cs typeface="Times New Roman" pitchFamily="18" charset="0"/>
            </a:endParaRPr>
          </a:p>
          <a:p>
            <a:pPr lvl="0">
              <a:buFont typeface="Wingdings" panose="05000000000000000000" pitchFamily="2" charset="2"/>
              <a:buChar char="Ø"/>
            </a:pPr>
            <a:r>
              <a:rPr lang="en-GB" sz="2800" dirty="0">
                <a:latin typeface="Times New Roman" pitchFamily="18" charset="0"/>
                <a:cs typeface="Times New Roman" pitchFamily="18" charset="0"/>
              </a:rPr>
              <a:t>Changes in texture</a:t>
            </a:r>
            <a:endParaRPr lang="en-US" sz="2800" dirty="0">
              <a:latin typeface="Times New Roman" pitchFamily="18" charset="0"/>
              <a:cs typeface="Times New Roman" pitchFamily="18" charset="0"/>
            </a:endParaRPr>
          </a:p>
          <a:p>
            <a:pPr lvl="0">
              <a:buFont typeface="Wingdings" panose="05000000000000000000" pitchFamily="2" charset="2"/>
              <a:buChar char="Ø"/>
            </a:pPr>
            <a:r>
              <a:rPr lang="en-GB" sz="2800" dirty="0">
                <a:latin typeface="Times New Roman" pitchFamily="18" charset="0"/>
                <a:cs typeface="Times New Roman" pitchFamily="18" charset="0"/>
              </a:rPr>
              <a:t>Development of off-odours and off-flavours</a:t>
            </a:r>
            <a:endParaRPr lang="en-US" sz="2800" dirty="0">
              <a:latin typeface="Times New Roman" pitchFamily="18" charset="0"/>
              <a:cs typeface="Times New Roman" pitchFamily="18" charset="0"/>
            </a:endParaRPr>
          </a:p>
          <a:p>
            <a:pPr lvl="0">
              <a:buFont typeface="Wingdings" panose="05000000000000000000" pitchFamily="2" charset="2"/>
              <a:buChar char="Ø"/>
            </a:pPr>
            <a:r>
              <a:rPr lang="en-GB" sz="2800" dirty="0">
                <a:latin typeface="Times New Roman" pitchFamily="18" charset="0"/>
                <a:cs typeface="Times New Roman" pitchFamily="18" charset="0"/>
              </a:rPr>
              <a:t>Slime formation</a:t>
            </a:r>
            <a:endParaRPr lang="en-US" sz="2800" dirty="0">
              <a:latin typeface="Times New Roman" pitchFamily="18" charset="0"/>
              <a:cs typeface="Times New Roman" pitchFamily="18" charset="0"/>
            </a:endParaRPr>
          </a:p>
          <a:p>
            <a:pPr lvl="0">
              <a:buFont typeface="Wingdings" panose="05000000000000000000" pitchFamily="2" charset="2"/>
              <a:buChar char="Ø"/>
            </a:pPr>
            <a:r>
              <a:rPr lang="en-GB" sz="2800" dirty="0">
                <a:latin typeface="Times New Roman" pitchFamily="18" charset="0"/>
                <a:cs typeface="Times New Roman" pitchFamily="18" charset="0"/>
              </a:rPr>
              <a:t>Colonies of microbes</a:t>
            </a:r>
            <a:endParaRPr lang="en-US" sz="2800" dirty="0">
              <a:latin typeface="Times New Roman" pitchFamily="18" charset="0"/>
              <a:cs typeface="Times New Roman" pitchFamily="18" charset="0"/>
            </a:endParaRPr>
          </a:p>
          <a:p>
            <a:pPr lvl="0">
              <a:buFont typeface="Wingdings" panose="05000000000000000000" pitchFamily="2" charset="2"/>
              <a:buChar char="Ø"/>
            </a:pPr>
            <a:r>
              <a:rPr lang="en-GB" sz="2800" dirty="0">
                <a:latin typeface="Times New Roman" pitchFamily="18" charset="0"/>
                <a:cs typeface="Times New Roman" pitchFamily="18" charset="0"/>
              </a:rPr>
              <a:t>Chemical products of microbial metabolism and any other characteristic making the food unacceptable.</a:t>
            </a:r>
            <a:endParaRPr lang="en-US" sz="28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33400"/>
          </a:xfrm>
        </p:spPr>
        <p:txBody>
          <a:bodyPr>
            <a:normAutofit/>
          </a:bodyPr>
          <a:lstStyle/>
          <a:p>
            <a:pPr algn="ctr"/>
            <a:r>
              <a:rPr lang="en-US" sz="2800" b="1" dirty="0">
                <a:latin typeface="Times New Roman" pitchFamily="18" charset="0"/>
                <a:cs typeface="Times New Roman" pitchFamily="18" charset="0"/>
              </a:rPr>
              <a:t>SPOILAGE</a:t>
            </a:r>
            <a:r>
              <a:rPr lang="en-US" sz="2800" dirty="0">
                <a:latin typeface="Times New Roman" pitchFamily="18" charset="0"/>
                <a:cs typeface="Times New Roman" pitchFamily="18" charset="0"/>
              </a:rPr>
              <a:t> </a:t>
            </a:r>
            <a:r>
              <a:rPr lang="en-US" sz="2800" b="1" i="1" dirty="0">
                <a:latin typeface="Times New Roman" pitchFamily="18" charset="0"/>
                <a:cs typeface="Times New Roman" pitchFamily="18" charset="0"/>
              </a:rPr>
              <a:t>contd</a:t>
            </a:r>
            <a:r>
              <a:rPr lang="en-US" sz="2800" i="1" dirty="0">
                <a:latin typeface="Times New Roman" pitchFamily="18" charset="0"/>
                <a:cs typeface="Times New Roman" pitchFamily="18" charset="0"/>
              </a:rPr>
              <a:t>.</a:t>
            </a: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762000"/>
            <a:ext cx="8229600" cy="5943600"/>
          </a:xfrm>
        </p:spPr>
        <p:txBody>
          <a:bodyPr>
            <a:noAutofit/>
          </a:bodyPr>
          <a:lstStyle/>
          <a:p>
            <a:r>
              <a:rPr lang="en-GB" sz="2800" dirty="0">
                <a:latin typeface="Times New Roman" pitchFamily="18" charset="0"/>
                <a:cs typeface="Times New Roman" pitchFamily="18" charset="0"/>
              </a:rPr>
              <a:t>Spoilage defects produced in various food types will vary with the </a:t>
            </a:r>
            <a:r>
              <a:rPr lang="en-GB" sz="2800" b="1" i="1" dirty="0">
                <a:latin typeface="Times New Roman" pitchFamily="18" charset="0"/>
                <a:cs typeface="Times New Roman" pitchFamily="18" charset="0"/>
              </a:rPr>
              <a:t>type of microflora</a:t>
            </a:r>
            <a:r>
              <a:rPr lang="en-GB" sz="2800" dirty="0">
                <a:latin typeface="Times New Roman" pitchFamily="18" charset="0"/>
                <a:cs typeface="Times New Roman" pitchFamily="18" charset="0"/>
              </a:rPr>
              <a:t>, </a:t>
            </a:r>
            <a:r>
              <a:rPr lang="en-GB" sz="2800" b="1" i="1" dirty="0">
                <a:latin typeface="Times New Roman" pitchFamily="18" charset="0"/>
                <a:cs typeface="Times New Roman" pitchFamily="18" charset="0"/>
              </a:rPr>
              <a:t>product composition</a:t>
            </a:r>
            <a:r>
              <a:rPr lang="en-GB" sz="2800" dirty="0">
                <a:latin typeface="Times New Roman" pitchFamily="18" charset="0"/>
                <a:cs typeface="Times New Roman" pitchFamily="18" charset="0"/>
              </a:rPr>
              <a:t>, and the </a:t>
            </a:r>
            <a:r>
              <a:rPr lang="en-GB" sz="2800" b="1" i="1" dirty="0">
                <a:latin typeface="Times New Roman" pitchFamily="18" charset="0"/>
                <a:cs typeface="Times New Roman" pitchFamily="18" charset="0"/>
              </a:rPr>
              <a:t>storage environment</a:t>
            </a:r>
            <a:r>
              <a:rPr lang="en-GB" sz="2800" dirty="0">
                <a:latin typeface="Times New Roman" pitchFamily="18" charset="0"/>
                <a:cs typeface="Times New Roman" pitchFamily="18" charset="0"/>
              </a:rPr>
              <a:t>.</a:t>
            </a:r>
          </a:p>
          <a:p>
            <a:pPr marL="0" indent="0">
              <a:buNone/>
            </a:pPr>
            <a:r>
              <a:rPr lang="en-GB" sz="2800" dirty="0">
                <a:latin typeface="Times New Roman" pitchFamily="18" charset="0"/>
                <a:cs typeface="Times New Roman" pitchFamily="18" charset="0"/>
              </a:rPr>
              <a:t>The perception of spoilage is influenced by;</a:t>
            </a:r>
          </a:p>
          <a:p>
            <a:pPr lvl="1">
              <a:buFont typeface="Wingdings" pitchFamily="2" charset="2"/>
              <a:buChar char="§"/>
            </a:pPr>
            <a:r>
              <a:rPr lang="en-GB" sz="2800" dirty="0">
                <a:latin typeface="Times New Roman" pitchFamily="18" charset="0"/>
                <a:cs typeface="Times New Roman" pitchFamily="18" charset="0"/>
              </a:rPr>
              <a:t>Social / Cultural</a:t>
            </a:r>
          </a:p>
          <a:p>
            <a:pPr lvl="1">
              <a:buFont typeface="Wingdings" pitchFamily="2" charset="2"/>
              <a:buChar char="§"/>
            </a:pPr>
            <a:r>
              <a:rPr lang="en-GB" sz="2800" dirty="0">
                <a:latin typeface="Times New Roman" pitchFamily="18" charset="0"/>
                <a:cs typeface="Times New Roman" pitchFamily="18" charset="0"/>
              </a:rPr>
              <a:t>Economic factors</a:t>
            </a:r>
          </a:p>
          <a:p>
            <a:pPr lvl="1">
              <a:buFont typeface="Wingdings" pitchFamily="2" charset="2"/>
              <a:buChar char="§"/>
            </a:pPr>
            <a:r>
              <a:rPr lang="en-GB" sz="2800" dirty="0">
                <a:latin typeface="Times New Roman" pitchFamily="18" charset="0"/>
                <a:cs typeface="Times New Roman" pitchFamily="18" charset="0"/>
              </a:rPr>
              <a:t>Sensory acuity of the individual and</a:t>
            </a:r>
          </a:p>
          <a:p>
            <a:pPr lvl="1">
              <a:buFont typeface="Wingdings" pitchFamily="2" charset="2"/>
              <a:buChar char="§"/>
            </a:pPr>
            <a:r>
              <a:rPr lang="en-GB" sz="2800" dirty="0">
                <a:latin typeface="Times New Roman" pitchFamily="18" charset="0"/>
                <a:cs typeface="Times New Roman" pitchFamily="18" charset="0"/>
              </a:rPr>
              <a:t>Intensity of the defect.</a:t>
            </a:r>
            <a:endParaRPr lang="en-US" sz="2800" dirty="0">
              <a:latin typeface="Times New Roman" pitchFamily="18" charset="0"/>
              <a:cs typeface="Times New Roman" pitchFamily="18" charset="0"/>
            </a:endParaRPr>
          </a:p>
          <a:p>
            <a:endParaRPr lang="en-GB" sz="2800" dirty="0">
              <a:latin typeface="Times New Roman" pitchFamily="18" charset="0"/>
              <a:cs typeface="Times New Roman" pitchFamily="18" charset="0"/>
            </a:endParaRPr>
          </a:p>
          <a:p>
            <a:r>
              <a:rPr lang="en-GB" sz="2800" dirty="0">
                <a:latin typeface="Times New Roman" pitchFamily="18" charset="0"/>
                <a:cs typeface="Times New Roman" pitchFamily="18" charset="0"/>
              </a:rPr>
              <a:t>E.g. A well cured game. that has been hung or buried for an extended period of time could be a delicacy for some people but will be objected by others.</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838200"/>
          </a:xfrm>
        </p:spPr>
        <p:txBody>
          <a:bodyPr>
            <a:normAutofit/>
          </a:bodyPr>
          <a:lstStyle/>
          <a:p>
            <a:pPr algn="ctr"/>
            <a:r>
              <a:rPr lang="en-US" sz="2800" b="1" dirty="0">
                <a:latin typeface="Times New Roman" pitchFamily="18" charset="0"/>
                <a:cs typeface="Times New Roman" pitchFamily="18" charset="0"/>
              </a:rPr>
              <a:t>SPOILAGE </a:t>
            </a:r>
            <a:r>
              <a:rPr lang="en-US" sz="2800" b="1" i="1" dirty="0">
                <a:latin typeface="Times New Roman" pitchFamily="18" charset="0"/>
                <a:cs typeface="Times New Roman" pitchFamily="18" charset="0"/>
              </a:rPr>
              <a:t>contd</a:t>
            </a:r>
            <a:r>
              <a:rPr lang="en-US" sz="2800" i="1" dirty="0">
                <a:latin typeface="Times New Roman" pitchFamily="18" charset="0"/>
                <a:cs typeface="Times New Roman" pitchFamily="18" charset="0"/>
              </a:rPr>
              <a:t>.</a:t>
            </a: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990600"/>
            <a:ext cx="8229600" cy="5715000"/>
          </a:xfrm>
        </p:spPr>
        <p:txBody>
          <a:bodyPr>
            <a:normAutofit/>
          </a:bodyPr>
          <a:lstStyle/>
          <a:p>
            <a:r>
              <a:rPr lang="en-GB" sz="3200" dirty="0">
                <a:latin typeface="Times New Roman" pitchFamily="18" charset="0"/>
                <a:cs typeface="Times New Roman" pitchFamily="18" charset="0"/>
              </a:rPr>
              <a:t>Considering economic factors;</a:t>
            </a:r>
          </a:p>
          <a:p>
            <a:pPr marL="0" indent="0">
              <a:buNone/>
            </a:pPr>
            <a:r>
              <a:rPr lang="en-GB" sz="3200" dirty="0">
                <a:latin typeface="Times New Roman" pitchFamily="18" charset="0"/>
                <a:cs typeface="Times New Roman" pitchFamily="18" charset="0"/>
              </a:rPr>
              <a:t>In the 18</a:t>
            </a:r>
            <a:r>
              <a:rPr lang="en-GB" sz="3200" baseline="30000" dirty="0">
                <a:latin typeface="Times New Roman" pitchFamily="18" charset="0"/>
                <a:cs typeface="Times New Roman" pitchFamily="18" charset="0"/>
              </a:rPr>
              <a:t>th</a:t>
            </a:r>
            <a:r>
              <a:rPr lang="en-GB" sz="3200" dirty="0">
                <a:latin typeface="Times New Roman" pitchFamily="18" charset="0"/>
                <a:cs typeface="Times New Roman" pitchFamily="18" charset="0"/>
              </a:rPr>
              <a:t> and 19</a:t>
            </a:r>
            <a:r>
              <a:rPr lang="en-GB" sz="3200" baseline="30000" dirty="0">
                <a:latin typeface="Times New Roman" pitchFamily="18" charset="0"/>
                <a:cs typeface="Times New Roman" pitchFamily="18" charset="0"/>
              </a:rPr>
              <a:t>th</a:t>
            </a:r>
            <a:r>
              <a:rPr lang="en-GB" sz="3200" dirty="0">
                <a:latin typeface="Times New Roman" pitchFamily="18" charset="0"/>
                <a:cs typeface="Times New Roman" pitchFamily="18" charset="0"/>
              </a:rPr>
              <a:t> century, the navy and sailors prefer to eat in the dark. </a:t>
            </a:r>
            <a:endParaRPr lang="en-US" sz="3200" dirty="0">
              <a:latin typeface="Times New Roman" pitchFamily="18" charset="0"/>
              <a:cs typeface="Times New Roman" pitchFamily="18" charset="0"/>
            </a:endParaRPr>
          </a:p>
          <a:p>
            <a:endParaRPr lang="en-GB" sz="3200" dirty="0">
              <a:latin typeface="Times New Roman" pitchFamily="18" charset="0"/>
              <a:cs typeface="Times New Roman" pitchFamily="18" charset="0"/>
            </a:endParaRPr>
          </a:p>
          <a:p>
            <a:r>
              <a:rPr lang="en-GB" sz="3200" dirty="0">
                <a:latin typeface="Times New Roman" pitchFamily="18" charset="0"/>
                <a:cs typeface="Times New Roman" pitchFamily="18" charset="0"/>
              </a:rPr>
              <a:t>Most consumers would agree that </a:t>
            </a:r>
            <a:r>
              <a:rPr lang="en-GB" sz="3200" b="1" i="1" dirty="0">
                <a:latin typeface="Times New Roman" pitchFamily="18" charset="0"/>
                <a:cs typeface="Times New Roman" pitchFamily="18" charset="0"/>
              </a:rPr>
              <a:t>gross discolouration</a:t>
            </a:r>
            <a:r>
              <a:rPr lang="en-GB" sz="3200" dirty="0">
                <a:latin typeface="Times New Roman" pitchFamily="18" charset="0"/>
                <a:cs typeface="Times New Roman" pitchFamily="18" charset="0"/>
              </a:rPr>
              <a:t>, </a:t>
            </a:r>
            <a:r>
              <a:rPr lang="en-GB" sz="3200" b="1" i="1" dirty="0">
                <a:latin typeface="Times New Roman" pitchFamily="18" charset="0"/>
                <a:cs typeface="Times New Roman" pitchFamily="18" charset="0"/>
              </a:rPr>
              <a:t>strong off-odours</a:t>
            </a:r>
            <a:r>
              <a:rPr lang="en-GB" sz="3200" dirty="0">
                <a:latin typeface="Times New Roman" pitchFamily="18" charset="0"/>
                <a:cs typeface="Times New Roman" pitchFamily="18" charset="0"/>
              </a:rPr>
              <a:t>, and the </a:t>
            </a:r>
            <a:r>
              <a:rPr lang="en-GB" sz="3200" b="1" i="1" dirty="0">
                <a:latin typeface="Times New Roman" pitchFamily="18" charset="0"/>
                <a:cs typeface="Times New Roman" pitchFamily="18" charset="0"/>
              </a:rPr>
              <a:t>development of slime </a:t>
            </a:r>
            <a:r>
              <a:rPr lang="en-GB" sz="3200" dirty="0">
                <a:latin typeface="Times New Roman" pitchFamily="18" charset="0"/>
                <a:cs typeface="Times New Roman" pitchFamily="18" charset="0"/>
              </a:rPr>
              <a:t>would constitute spoilage.</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85800"/>
          </a:xfrm>
        </p:spPr>
        <p:txBody>
          <a:bodyPr>
            <a:normAutofit/>
          </a:bodyPr>
          <a:lstStyle/>
          <a:p>
            <a:pPr algn="ctr"/>
            <a:r>
              <a:rPr lang="en-US" sz="2800" b="1" dirty="0">
                <a:latin typeface="Times New Roman" pitchFamily="18" charset="0"/>
                <a:cs typeface="Times New Roman" pitchFamily="18" charset="0"/>
              </a:rPr>
              <a:t>SPOILAGE </a:t>
            </a:r>
            <a:r>
              <a:rPr lang="en-US" sz="2800" b="1" i="1" dirty="0">
                <a:latin typeface="Times New Roman" pitchFamily="18" charset="0"/>
                <a:cs typeface="Times New Roman" pitchFamily="18" charset="0"/>
              </a:rPr>
              <a:t>contd.</a:t>
            </a:r>
            <a:endParaRPr lang="en-US" sz="2800" b="1" dirty="0">
              <a:latin typeface="Times New Roman" pitchFamily="18" charset="0"/>
              <a:cs typeface="Times New Roman" pitchFamily="18" charset="0"/>
            </a:endParaRPr>
          </a:p>
        </p:txBody>
      </p:sp>
      <p:sp>
        <p:nvSpPr>
          <p:cNvPr id="3" name="Content Placeholder 2"/>
          <p:cNvSpPr>
            <a:spLocks noGrp="1"/>
          </p:cNvSpPr>
          <p:nvPr>
            <p:ph idx="1"/>
          </p:nvPr>
        </p:nvSpPr>
        <p:spPr>
          <a:xfrm>
            <a:off x="457200" y="1066800"/>
            <a:ext cx="8229600" cy="5638800"/>
          </a:xfrm>
        </p:spPr>
        <p:txBody>
          <a:bodyPr/>
          <a:lstStyle/>
          <a:p>
            <a:r>
              <a:rPr lang="en-GB" sz="3200" dirty="0">
                <a:latin typeface="Times New Roman" pitchFamily="18" charset="0"/>
                <a:cs typeface="Times New Roman" pitchFamily="18" charset="0"/>
              </a:rPr>
              <a:t>Microbial spoilage usually  appear as a sudden, unexpected and unpleasant revelation. It normally does not develop gradually</a:t>
            </a:r>
          </a:p>
          <a:p>
            <a:endParaRPr lang="en-GB" sz="3200" dirty="0">
              <a:latin typeface="Times New Roman" pitchFamily="18" charset="0"/>
              <a:cs typeface="Times New Roman" pitchFamily="18" charset="0"/>
            </a:endParaRPr>
          </a:p>
          <a:p>
            <a:r>
              <a:rPr lang="en-GB" sz="3200" dirty="0">
                <a:latin typeface="Times New Roman" pitchFamily="18" charset="0"/>
                <a:cs typeface="Times New Roman" pitchFamily="18" charset="0"/>
              </a:rPr>
              <a:t>This is due to:</a:t>
            </a:r>
          </a:p>
          <a:p>
            <a:pPr marL="850392" lvl="1" indent="-457200">
              <a:buFont typeface="+mj-lt"/>
              <a:buAutoNum type="arabicPeriod"/>
            </a:pPr>
            <a:r>
              <a:rPr lang="en-GB" sz="3200" dirty="0">
                <a:latin typeface="Times New Roman" pitchFamily="18" charset="0"/>
                <a:cs typeface="Times New Roman" pitchFamily="18" charset="0"/>
              </a:rPr>
              <a:t>the exponential nature of microbial growth and </a:t>
            </a:r>
          </a:p>
          <a:p>
            <a:pPr marL="850392" lvl="1" indent="-457200">
              <a:buFont typeface="+mj-lt"/>
              <a:buAutoNum type="arabicPeriod"/>
            </a:pPr>
            <a:endParaRPr lang="en-GB" sz="3200" dirty="0">
              <a:latin typeface="Times New Roman" pitchFamily="18" charset="0"/>
              <a:cs typeface="Times New Roman" pitchFamily="18" charset="0"/>
            </a:endParaRPr>
          </a:p>
          <a:p>
            <a:pPr marL="850392" lvl="1" indent="-457200">
              <a:buFont typeface="+mj-lt"/>
              <a:buAutoNum type="arabicPeriod"/>
            </a:pPr>
            <a:r>
              <a:rPr lang="en-GB" sz="3200" dirty="0">
                <a:latin typeface="Times New Roman" pitchFamily="18" charset="0"/>
                <a:cs typeface="Times New Roman" pitchFamily="18" charset="0"/>
              </a:rPr>
              <a:t>the fact that microbial metabolism occurs at exponentially increasing rate.</a:t>
            </a:r>
          </a:p>
          <a:p>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09600"/>
          </a:xfrm>
        </p:spPr>
        <p:txBody>
          <a:bodyPr>
            <a:normAutofit/>
          </a:bodyPr>
          <a:lstStyle/>
          <a:p>
            <a:pPr algn="ctr"/>
            <a:r>
              <a:rPr lang="en-GB" sz="2800" b="1" dirty="0">
                <a:latin typeface="Times New Roman" pitchFamily="18" charset="0"/>
                <a:cs typeface="Times New Roman" pitchFamily="18" charset="0"/>
              </a:rPr>
              <a:t>FRESH FOODS AND MICROBES</a:t>
            </a:r>
            <a:endParaRPr lang="en-US" sz="2800" b="1" dirty="0">
              <a:latin typeface="Times New Roman" pitchFamily="18" charset="0"/>
              <a:cs typeface="Times New Roman" pitchFamily="18" charset="0"/>
            </a:endParaRPr>
          </a:p>
        </p:txBody>
      </p:sp>
      <p:sp>
        <p:nvSpPr>
          <p:cNvPr id="3" name="Content Placeholder 2"/>
          <p:cNvSpPr>
            <a:spLocks noGrp="1"/>
          </p:cNvSpPr>
          <p:nvPr>
            <p:ph idx="1"/>
          </p:nvPr>
        </p:nvSpPr>
        <p:spPr>
          <a:xfrm>
            <a:off x="457200" y="914400"/>
            <a:ext cx="8229600" cy="5791200"/>
          </a:xfrm>
        </p:spPr>
        <p:txBody>
          <a:bodyPr>
            <a:normAutofit fontScale="92500" lnSpcReduction="20000"/>
          </a:bodyPr>
          <a:lstStyle/>
          <a:p>
            <a:r>
              <a:rPr lang="en-GB" sz="3000" dirty="0">
                <a:latin typeface="Times New Roman" pitchFamily="18" charset="0"/>
                <a:cs typeface="Times New Roman" pitchFamily="18" charset="0"/>
              </a:rPr>
              <a:t>Animals and plants have evolved inherent mechanisms to combat microbes.</a:t>
            </a:r>
          </a:p>
          <a:p>
            <a:endParaRPr lang="en-GB" sz="3000" dirty="0">
              <a:latin typeface="Times New Roman" pitchFamily="18" charset="0"/>
              <a:cs typeface="Times New Roman" pitchFamily="18" charset="0"/>
            </a:endParaRPr>
          </a:p>
          <a:p>
            <a:r>
              <a:rPr lang="en-GB" sz="3000" dirty="0">
                <a:latin typeface="Times New Roman" pitchFamily="18" charset="0"/>
                <a:cs typeface="Times New Roman" pitchFamily="18" charset="0"/>
              </a:rPr>
              <a:t>In spite of this, many microbes can overcome these forces and bring about destruction of the plant and animal organic matter by converting it generally into inorganic compounds.</a:t>
            </a:r>
          </a:p>
          <a:p>
            <a:endParaRPr lang="en-GB" sz="3000" dirty="0">
              <a:latin typeface="Times New Roman" pitchFamily="18" charset="0"/>
              <a:cs typeface="Times New Roman" pitchFamily="18" charset="0"/>
            </a:endParaRPr>
          </a:p>
          <a:p>
            <a:r>
              <a:rPr lang="en-GB" sz="3000" dirty="0">
                <a:latin typeface="Times New Roman" pitchFamily="18" charset="0"/>
                <a:cs typeface="Times New Roman" pitchFamily="18" charset="0"/>
              </a:rPr>
              <a:t>These primary activities by microbes on food bring about spoilage.</a:t>
            </a:r>
            <a:endParaRPr lang="en-US" sz="3000" dirty="0">
              <a:latin typeface="Times New Roman" pitchFamily="18" charset="0"/>
              <a:cs typeface="Times New Roman" pitchFamily="18" charset="0"/>
            </a:endParaRPr>
          </a:p>
          <a:p>
            <a:endParaRPr lang="en-US" sz="3000" u="sng" dirty="0">
              <a:latin typeface="Times New Roman" pitchFamily="18" charset="0"/>
              <a:cs typeface="Times New Roman" pitchFamily="18" charset="0"/>
            </a:endParaRPr>
          </a:p>
          <a:p>
            <a:pPr marL="393192" lvl="1" indent="0">
              <a:buNone/>
            </a:pPr>
            <a:r>
              <a:rPr lang="en-US" sz="3000" b="1" u="sng" dirty="0">
                <a:latin typeface="Times New Roman" pitchFamily="18" charset="0"/>
                <a:cs typeface="Times New Roman" pitchFamily="18" charset="0"/>
              </a:rPr>
              <a:t>MEAT</a:t>
            </a:r>
          </a:p>
          <a:p>
            <a:r>
              <a:rPr lang="en-GB" sz="3000" dirty="0">
                <a:latin typeface="Times New Roman" pitchFamily="18" charset="0"/>
                <a:cs typeface="Times New Roman" pitchFamily="18" charset="0"/>
              </a:rPr>
              <a:t>Meat was originally used to refer to any solid food but presently used to refer to animal flesh.</a:t>
            </a:r>
          </a:p>
          <a:p>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09600"/>
          </a:xfrm>
        </p:spPr>
        <p:txBody>
          <a:bodyPr>
            <a:normAutofit/>
          </a:bodyPr>
          <a:lstStyle/>
          <a:p>
            <a:pPr algn="ctr"/>
            <a:r>
              <a:rPr lang="en-GB" sz="2800" dirty="0">
                <a:latin typeface="Times New Roman" pitchFamily="18" charset="0"/>
                <a:cs typeface="Times New Roman" pitchFamily="18" charset="0"/>
              </a:rPr>
              <a:t>FRESH FOODS...(Meat) </a:t>
            </a:r>
            <a:r>
              <a:rPr lang="en-GB" sz="2800" i="1" dirty="0">
                <a:latin typeface="Times New Roman" pitchFamily="18" charset="0"/>
                <a:cs typeface="Times New Roman" pitchFamily="18" charset="0"/>
              </a:rPr>
              <a:t>contd.</a:t>
            </a: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789296"/>
            <a:ext cx="8229600" cy="6068704"/>
          </a:xfrm>
        </p:spPr>
        <p:txBody>
          <a:bodyPr>
            <a:noAutofit/>
          </a:bodyPr>
          <a:lstStyle/>
          <a:p>
            <a:r>
              <a:rPr lang="en-GB" sz="2400" dirty="0">
                <a:latin typeface="Times New Roman" pitchFamily="18" charset="0"/>
                <a:cs typeface="Times New Roman" pitchFamily="18" charset="0"/>
              </a:rPr>
              <a:t>Meat is significant in human diet due to its desirable texture and good flavour characteristics.</a:t>
            </a:r>
          </a:p>
          <a:p>
            <a:endParaRPr lang="en-GB" sz="2400" dirty="0">
              <a:latin typeface="Times New Roman" pitchFamily="18" charset="0"/>
              <a:cs typeface="Times New Roman" pitchFamily="18" charset="0"/>
            </a:endParaRPr>
          </a:p>
          <a:p>
            <a:r>
              <a:rPr lang="en-GB" sz="2400" dirty="0">
                <a:latin typeface="Times New Roman" pitchFamily="18" charset="0"/>
                <a:cs typeface="Times New Roman" pitchFamily="18" charset="0"/>
              </a:rPr>
              <a:t>Meat animals of principal importance in economic terms are </a:t>
            </a:r>
            <a:r>
              <a:rPr lang="en-GB" sz="2400" b="1" dirty="0">
                <a:latin typeface="Times New Roman" pitchFamily="18" charset="0"/>
                <a:cs typeface="Times New Roman" pitchFamily="18" charset="0"/>
              </a:rPr>
              <a:t>pig</a:t>
            </a:r>
            <a:r>
              <a:rPr lang="en-GB" sz="2400" dirty="0">
                <a:latin typeface="Times New Roman" pitchFamily="18" charset="0"/>
                <a:cs typeface="Times New Roman" pitchFamily="18" charset="0"/>
              </a:rPr>
              <a:t>, </a:t>
            </a:r>
            <a:r>
              <a:rPr lang="en-GB" sz="2400" b="1" dirty="0">
                <a:latin typeface="Times New Roman" pitchFamily="18" charset="0"/>
                <a:cs typeface="Times New Roman" pitchFamily="18" charset="0"/>
              </a:rPr>
              <a:t>cattle</a:t>
            </a:r>
            <a:r>
              <a:rPr lang="en-GB" sz="2400" dirty="0">
                <a:latin typeface="Times New Roman" pitchFamily="18" charset="0"/>
                <a:cs typeface="Times New Roman" pitchFamily="18" charset="0"/>
              </a:rPr>
              <a:t>, </a:t>
            </a:r>
            <a:r>
              <a:rPr lang="en-GB" sz="2400" b="1" dirty="0">
                <a:latin typeface="Times New Roman" pitchFamily="18" charset="0"/>
                <a:cs typeface="Times New Roman" pitchFamily="18" charset="0"/>
              </a:rPr>
              <a:t>sheep</a:t>
            </a:r>
            <a:r>
              <a:rPr lang="en-GB" sz="2400" dirty="0">
                <a:latin typeface="Times New Roman" pitchFamily="18" charset="0"/>
                <a:cs typeface="Times New Roman" pitchFamily="18" charset="0"/>
              </a:rPr>
              <a:t>, </a:t>
            </a:r>
            <a:r>
              <a:rPr lang="en-GB" sz="2400" b="1" dirty="0">
                <a:latin typeface="Times New Roman" pitchFamily="18" charset="0"/>
                <a:cs typeface="Times New Roman" pitchFamily="18" charset="0"/>
              </a:rPr>
              <a:t>goats</a:t>
            </a:r>
            <a:r>
              <a:rPr lang="en-GB" sz="2400" dirty="0">
                <a:latin typeface="Times New Roman" pitchFamily="18" charset="0"/>
                <a:cs typeface="Times New Roman" pitchFamily="18" charset="0"/>
              </a:rPr>
              <a:t> etc.</a:t>
            </a:r>
          </a:p>
          <a:p>
            <a:endParaRPr lang="en-GB" sz="2400" dirty="0">
              <a:latin typeface="Times New Roman" pitchFamily="18" charset="0"/>
              <a:cs typeface="Times New Roman" pitchFamily="18" charset="0"/>
            </a:endParaRPr>
          </a:p>
          <a:p>
            <a:r>
              <a:rPr lang="en-GB" sz="2400" dirty="0">
                <a:latin typeface="Times New Roman" pitchFamily="18" charset="0"/>
                <a:cs typeface="Times New Roman" pitchFamily="18" charset="0"/>
              </a:rPr>
              <a:t>Edible animal flesh comprises principally the </a:t>
            </a:r>
            <a:r>
              <a:rPr lang="en-GB" sz="2400" b="1" dirty="0">
                <a:latin typeface="Times New Roman" pitchFamily="18" charset="0"/>
                <a:cs typeface="Times New Roman" pitchFamily="18" charset="0"/>
              </a:rPr>
              <a:t>muscular tissues </a:t>
            </a:r>
            <a:r>
              <a:rPr lang="en-GB" sz="2400" dirty="0">
                <a:latin typeface="Times New Roman" pitchFamily="18" charset="0"/>
                <a:cs typeface="Times New Roman" pitchFamily="18" charset="0"/>
              </a:rPr>
              <a:t>but also includes </a:t>
            </a:r>
            <a:r>
              <a:rPr lang="en-GB" sz="2400" i="1" dirty="0">
                <a:latin typeface="Times New Roman" pitchFamily="18" charset="0"/>
                <a:cs typeface="Times New Roman" pitchFamily="18" charset="0"/>
              </a:rPr>
              <a:t>organs</a:t>
            </a:r>
            <a:r>
              <a:rPr lang="en-GB" sz="2400" dirty="0">
                <a:latin typeface="Times New Roman" pitchFamily="18" charset="0"/>
                <a:cs typeface="Times New Roman" pitchFamily="18" charset="0"/>
              </a:rPr>
              <a:t> such as </a:t>
            </a:r>
            <a:r>
              <a:rPr lang="en-GB" sz="2400" b="1" dirty="0">
                <a:latin typeface="Times New Roman" pitchFamily="18" charset="0"/>
                <a:cs typeface="Times New Roman" pitchFamily="18" charset="0"/>
              </a:rPr>
              <a:t>liver</a:t>
            </a:r>
            <a:r>
              <a:rPr lang="en-GB" sz="2400" dirty="0">
                <a:latin typeface="Times New Roman" pitchFamily="18" charset="0"/>
                <a:cs typeface="Times New Roman" pitchFamily="18" charset="0"/>
              </a:rPr>
              <a:t>, </a:t>
            </a:r>
            <a:r>
              <a:rPr lang="en-GB" sz="2400" b="1" dirty="0">
                <a:latin typeface="Times New Roman" pitchFamily="18" charset="0"/>
                <a:cs typeface="Times New Roman" pitchFamily="18" charset="0"/>
              </a:rPr>
              <a:t>heart</a:t>
            </a:r>
            <a:r>
              <a:rPr lang="en-GB" sz="2400" dirty="0">
                <a:latin typeface="Times New Roman" pitchFamily="18" charset="0"/>
                <a:cs typeface="Times New Roman" pitchFamily="18" charset="0"/>
              </a:rPr>
              <a:t>, and </a:t>
            </a:r>
            <a:r>
              <a:rPr lang="en-GB" sz="2400" b="1" dirty="0">
                <a:latin typeface="Times New Roman" pitchFamily="18" charset="0"/>
                <a:cs typeface="Times New Roman" pitchFamily="18" charset="0"/>
              </a:rPr>
              <a:t>kidney</a:t>
            </a:r>
            <a:r>
              <a:rPr lang="en-GB" sz="2400" dirty="0">
                <a:latin typeface="Times New Roman" pitchFamily="18" charset="0"/>
                <a:cs typeface="Times New Roman" pitchFamily="18" charset="0"/>
              </a:rPr>
              <a:t>.</a:t>
            </a:r>
            <a:endParaRPr lang="en-US" sz="2400" dirty="0">
              <a:latin typeface="Times New Roman" pitchFamily="18" charset="0"/>
              <a:cs typeface="Times New Roman" pitchFamily="18" charset="0"/>
            </a:endParaRPr>
          </a:p>
          <a:p>
            <a:endParaRPr lang="en-GB" sz="2400" dirty="0">
              <a:latin typeface="Times New Roman" pitchFamily="18" charset="0"/>
              <a:cs typeface="Times New Roman" pitchFamily="18" charset="0"/>
            </a:endParaRPr>
          </a:p>
          <a:p>
            <a:r>
              <a:rPr lang="en-GB" sz="2400" dirty="0">
                <a:solidFill>
                  <a:schemeClr val="tx1">
                    <a:lumMod val="75000"/>
                    <a:lumOff val="25000"/>
                  </a:schemeClr>
                </a:solidFill>
                <a:latin typeface="Times New Roman" pitchFamily="18" charset="0"/>
                <a:cs typeface="Times New Roman" pitchFamily="18" charset="0"/>
              </a:rPr>
              <a:t>Most microbi</a:t>
            </a:r>
            <a:r>
              <a:rPr lang="en-GB" sz="2400" dirty="0">
                <a:latin typeface="Times New Roman" pitchFamily="18" charset="0"/>
                <a:cs typeface="Times New Roman" pitchFamily="18" charset="0"/>
              </a:rPr>
              <a:t>ological studies on meat have been conducted with muscle tissues</a:t>
            </a:r>
            <a:r>
              <a:rPr lang="en-GB" sz="2400" dirty="0" smtClean="0">
                <a:latin typeface="Times New Roman" pitchFamily="18" charset="0"/>
                <a:cs typeface="Times New Roman" pitchFamily="18" charset="0"/>
              </a:rPr>
              <a:t>.</a:t>
            </a:r>
          </a:p>
          <a:p>
            <a:endParaRPr lang="en-GB" sz="2400" dirty="0">
              <a:latin typeface="Times New Roman" pitchFamily="18" charset="0"/>
              <a:cs typeface="Times New Roman" pitchFamily="18" charset="0"/>
            </a:endParaRPr>
          </a:p>
          <a:p>
            <a:r>
              <a:rPr lang="en-GB" sz="2400" dirty="0">
                <a:latin typeface="Times New Roman" pitchFamily="18" charset="0"/>
                <a:cs typeface="Times New Roman" pitchFamily="18" charset="0"/>
              </a:rPr>
              <a:t>Structurally muscle is made of </a:t>
            </a:r>
            <a:r>
              <a:rPr lang="en-GB" sz="2400" b="1" u="sng" dirty="0">
                <a:latin typeface="Times New Roman" pitchFamily="18" charset="0"/>
                <a:cs typeface="Times New Roman" pitchFamily="18" charset="0"/>
              </a:rPr>
              <a:t>muscle fibres</a:t>
            </a:r>
            <a:r>
              <a:rPr lang="en-GB" sz="2400" dirty="0">
                <a:latin typeface="Times New Roman" pitchFamily="18" charset="0"/>
                <a:cs typeface="Times New Roman" pitchFamily="18" charset="0"/>
              </a:rPr>
              <a:t>; muscle fibres are long, thin and multinucleated, bound together by connective tissues.</a:t>
            </a:r>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33400"/>
          </a:xfrm>
        </p:spPr>
        <p:txBody>
          <a:bodyPr>
            <a:normAutofit/>
          </a:bodyPr>
          <a:lstStyle/>
          <a:p>
            <a:pPr algn="ctr"/>
            <a:r>
              <a:rPr lang="en-GB" sz="2800" dirty="0">
                <a:latin typeface="Times New Roman" pitchFamily="18" charset="0"/>
                <a:cs typeface="Times New Roman" pitchFamily="18" charset="0"/>
              </a:rPr>
              <a:t>FRESH FOODS...(Meat) </a:t>
            </a:r>
            <a:r>
              <a:rPr lang="en-GB" sz="2800" i="1" dirty="0">
                <a:latin typeface="Times New Roman" pitchFamily="18" charset="0"/>
                <a:cs typeface="Times New Roman" pitchFamily="18" charset="0"/>
              </a:rPr>
              <a:t>contd.</a:t>
            </a: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762000"/>
            <a:ext cx="8229600" cy="6224516"/>
          </a:xfrm>
        </p:spPr>
        <p:txBody>
          <a:bodyPr>
            <a:noAutofit/>
          </a:bodyPr>
          <a:lstStyle/>
          <a:p>
            <a:pPr>
              <a:tabLst>
                <a:tab pos="4749800" algn="l"/>
              </a:tabLst>
            </a:pPr>
            <a:r>
              <a:rPr lang="en-GB" sz="2800" dirty="0">
                <a:latin typeface="Times New Roman" pitchFamily="18" charset="0"/>
                <a:cs typeface="Times New Roman" pitchFamily="18" charset="0"/>
              </a:rPr>
              <a:t>Each </a:t>
            </a:r>
            <a:r>
              <a:rPr lang="en-GB" sz="2800" b="1" dirty="0">
                <a:latin typeface="Times New Roman" pitchFamily="18" charset="0"/>
                <a:cs typeface="Times New Roman" pitchFamily="18" charset="0"/>
              </a:rPr>
              <a:t>muscle fibre</a:t>
            </a:r>
            <a:r>
              <a:rPr lang="en-GB" sz="2800" dirty="0">
                <a:latin typeface="Times New Roman" pitchFamily="18" charset="0"/>
                <a:cs typeface="Times New Roman" pitchFamily="18" charset="0"/>
              </a:rPr>
              <a:t> is surrounded by a cell membrane; the </a:t>
            </a:r>
            <a:r>
              <a:rPr lang="en-GB" sz="2800" i="1" dirty="0">
                <a:latin typeface="Times New Roman" pitchFamily="18" charset="0"/>
                <a:cs typeface="Times New Roman" pitchFamily="18" charset="0"/>
              </a:rPr>
              <a:t>sarcolemma</a:t>
            </a:r>
            <a:r>
              <a:rPr lang="en-GB" sz="2800" dirty="0">
                <a:latin typeface="Times New Roman" pitchFamily="18" charset="0"/>
                <a:cs typeface="Times New Roman" pitchFamily="18" charset="0"/>
              </a:rPr>
              <a:t>, within which are contained the </a:t>
            </a:r>
            <a:r>
              <a:rPr lang="en-GB" sz="2800" i="1" dirty="0">
                <a:latin typeface="Times New Roman" pitchFamily="18" charset="0"/>
                <a:cs typeface="Times New Roman" pitchFamily="18" charset="0"/>
              </a:rPr>
              <a:t>myofibrils</a:t>
            </a:r>
            <a:r>
              <a:rPr lang="en-GB" sz="2800" dirty="0">
                <a:latin typeface="Times New Roman" pitchFamily="18" charset="0"/>
                <a:cs typeface="Times New Roman" pitchFamily="18" charset="0"/>
              </a:rPr>
              <a:t>; </a:t>
            </a:r>
            <a:r>
              <a:rPr lang="en-GB" sz="2800" b="1" i="1" u="sng" dirty="0">
                <a:latin typeface="Times New Roman" pitchFamily="18" charset="0"/>
                <a:cs typeface="Times New Roman" pitchFamily="18" charset="0"/>
              </a:rPr>
              <a:t>a complex of the major muscle proteins myosin and actin </a:t>
            </a:r>
            <a:r>
              <a:rPr lang="en-GB" sz="2800" dirty="0">
                <a:latin typeface="Times New Roman" pitchFamily="18" charset="0"/>
                <a:cs typeface="Times New Roman" pitchFamily="18" charset="0"/>
              </a:rPr>
              <a:t> surrounded by the </a:t>
            </a:r>
            <a:r>
              <a:rPr lang="en-GB" sz="2800" i="1" dirty="0">
                <a:latin typeface="Times New Roman" pitchFamily="18" charset="0"/>
                <a:cs typeface="Times New Roman" pitchFamily="18" charset="0"/>
              </a:rPr>
              <a:t>sarcoplasm</a:t>
            </a:r>
            <a:r>
              <a:rPr lang="en-GB" sz="2800" dirty="0">
                <a:latin typeface="Times New Roman" pitchFamily="18" charset="0"/>
                <a:cs typeface="Times New Roman" pitchFamily="18" charset="0"/>
              </a:rPr>
              <a:t>.</a:t>
            </a:r>
          </a:p>
          <a:p>
            <a:pPr>
              <a:tabLst>
                <a:tab pos="4749800" algn="l"/>
              </a:tabLst>
            </a:pPr>
            <a:endParaRPr lang="en-GB" sz="2800" dirty="0">
              <a:latin typeface="Times New Roman" pitchFamily="18" charset="0"/>
              <a:cs typeface="Times New Roman" pitchFamily="18" charset="0"/>
            </a:endParaRPr>
          </a:p>
          <a:p>
            <a:pPr>
              <a:tabLst>
                <a:tab pos="4749800" algn="l"/>
              </a:tabLst>
            </a:pPr>
            <a:r>
              <a:rPr lang="en-GB" sz="2800" dirty="0">
                <a:latin typeface="Times New Roman" pitchFamily="18" charset="0"/>
                <a:cs typeface="Times New Roman" pitchFamily="18" charset="0"/>
              </a:rPr>
              <a:t>Meat contains abundant nutrients needed for the growth of most bacteria, yeasts and moulds.</a:t>
            </a:r>
          </a:p>
          <a:p>
            <a:pPr>
              <a:tabLst>
                <a:tab pos="4749800" algn="l"/>
              </a:tabLst>
            </a:pPr>
            <a:endParaRPr lang="en-GB" sz="2800" dirty="0">
              <a:latin typeface="Times New Roman" pitchFamily="18" charset="0"/>
              <a:cs typeface="Times New Roman" pitchFamily="18" charset="0"/>
            </a:endParaRPr>
          </a:p>
          <a:p>
            <a:pPr>
              <a:tabLst>
                <a:tab pos="4749800" algn="l"/>
              </a:tabLst>
            </a:pPr>
            <a:r>
              <a:rPr lang="en-GB" sz="2800" dirty="0">
                <a:latin typeface="Times New Roman" pitchFamily="18" charset="0"/>
                <a:cs typeface="Times New Roman" pitchFamily="18" charset="0"/>
              </a:rPr>
              <a:t>Meat is high in moisture and neutral in reaction.</a:t>
            </a:r>
          </a:p>
          <a:p>
            <a:pPr>
              <a:tabLst>
                <a:tab pos="4749800" algn="l"/>
              </a:tabLst>
            </a:pPr>
            <a:endParaRPr lang="en-GB" sz="2800" dirty="0">
              <a:solidFill>
                <a:srgbClr val="FF0000"/>
              </a:solidFill>
              <a:latin typeface="Times New Roman" pitchFamily="18" charset="0"/>
              <a:cs typeface="Times New Roman" pitchFamily="18" charset="0"/>
            </a:endParaRPr>
          </a:p>
          <a:p>
            <a:pPr>
              <a:tabLst>
                <a:tab pos="4749800" algn="l"/>
              </a:tabLst>
            </a:pPr>
            <a:r>
              <a:rPr lang="en-GB" sz="2800" dirty="0">
                <a:solidFill>
                  <a:srgbClr val="FF0000"/>
                </a:solidFill>
                <a:latin typeface="Times New Roman" pitchFamily="18" charset="0"/>
                <a:cs typeface="Times New Roman" pitchFamily="18" charset="0"/>
              </a:rPr>
              <a:t>High water activity and </a:t>
            </a:r>
            <a:r>
              <a:rPr lang="en-GB" sz="2800" dirty="0">
                <a:latin typeface="Times New Roman" pitchFamily="18" charset="0"/>
                <a:cs typeface="Times New Roman" pitchFamily="18" charset="0"/>
              </a:rPr>
              <a:t>abundant nutrients of meat make it an excellent medium that support microbial growth.</a:t>
            </a:r>
            <a:endParaRPr lang="en-US" sz="28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0132"/>
            <a:ext cx="8229600" cy="685800"/>
          </a:xfrm>
        </p:spPr>
        <p:txBody>
          <a:bodyPr>
            <a:normAutofit/>
          </a:bodyPr>
          <a:lstStyle/>
          <a:p>
            <a:pPr algn="ctr"/>
            <a:r>
              <a:rPr lang="en-GB" sz="2800" dirty="0">
                <a:latin typeface="Times New Roman" pitchFamily="18" charset="0"/>
                <a:cs typeface="Times New Roman" pitchFamily="18" charset="0"/>
              </a:rPr>
              <a:t>FRESH FOODS...(Meat) </a:t>
            </a:r>
            <a:r>
              <a:rPr lang="en-GB" sz="2800" i="1" dirty="0">
                <a:latin typeface="Times New Roman" pitchFamily="18" charset="0"/>
                <a:cs typeface="Times New Roman" pitchFamily="18" charset="0"/>
              </a:rPr>
              <a:t>contd.</a:t>
            </a: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971934"/>
            <a:ext cx="8229600" cy="5933364"/>
          </a:xfrm>
        </p:spPr>
        <p:txBody>
          <a:bodyPr>
            <a:noAutofit/>
          </a:bodyPr>
          <a:lstStyle/>
          <a:p>
            <a:r>
              <a:rPr lang="en-US" sz="2800" dirty="0">
                <a:latin typeface="Times New Roman" pitchFamily="18" charset="0"/>
                <a:cs typeface="Times New Roman" pitchFamily="18" charset="0"/>
              </a:rPr>
              <a:t>Before the death of an animal (old age), </a:t>
            </a:r>
            <a:r>
              <a:rPr lang="en-GB" sz="2800" dirty="0">
                <a:latin typeface="Times New Roman" pitchFamily="18" charset="0"/>
                <a:cs typeface="Times New Roman" pitchFamily="18" charset="0"/>
              </a:rPr>
              <a:t>there is a collapse of the defensive mechanism.</a:t>
            </a:r>
          </a:p>
          <a:p>
            <a:endParaRPr lang="en-GB" sz="2800" dirty="0">
              <a:latin typeface="Times New Roman" pitchFamily="18" charset="0"/>
              <a:cs typeface="Times New Roman" pitchFamily="18" charset="0"/>
            </a:endParaRPr>
          </a:p>
          <a:p>
            <a:r>
              <a:rPr lang="en-GB" sz="2800" dirty="0">
                <a:latin typeface="Times New Roman" pitchFamily="18" charset="0"/>
                <a:cs typeface="Times New Roman" pitchFamily="18" charset="0"/>
              </a:rPr>
              <a:t>Examination of the muscle, liver, and other tissues of such an animal reveals the presence of microbes, characteristic of the intestine and respiratory tract.</a:t>
            </a:r>
          </a:p>
          <a:p>
            <a:endParaRPr lang="en-GB" sz="2800" dirty="0">
              <a:latin typeface="Times New Roman" pitchFamily="18" charset="0"/>
              <a:cs typeface="Times New Roman" pitchFamily="18" charset="0"/>
            </a:endParaRPr>
          </a:p>
          <a:p>
            <a:r>
              <a:rPr lang="en-GB" sz="2800" dirty="0">
                <a:latin typeface="Times New Roman" pitchFamily="18" charset="0"/>
                <a:cs typeface="Times New Roman" pitchFamily="18" charset="0"/>
              </a:rPr>
              <a:t>These include species of </a:t>
            </a:r>
            <a:r>
              <a:rPr lang="en-GB" sz="2800" b="1" i="1" dirty="0">
                <a:latin typeface="Times New Roman" pitchFamily="18" charset="0"/>
                <a:cs typeface="Times New Roman" pitchFamily="18" charset="0"/>
              </a:rPr>
              <a:t>Clostridium</a:t>
            </a:r>
            <a:r>
              <a:rPr lang="en-GB" sz="2800" dirty="0">
                <a:latin typeface="Times New Roman" pitchFamily="18" charset="0"/>
                <a:cs typeface="Times New Roman" pitchFamily="18" charset="0"/>
              </a:rPr>
              <a:t>, </a:t>
            </a:r>
            <a:r>
              <a:rPr lang="en-GB" sz="2800" b="1" dirty="0" err="1">
                <a:latin typeface="Times New Roman" pitchFamily="18" charset="0"/>
                <a:cs typeface="Times New Roman" pitchFamily="18" charset="0"/>
              </a:rPr>
              <a:t>Enterobacteriaceae</a:t>
            </a:r>
            <a:r>
              <a:rPr lang="en-GB" sz="2800" dirty="0">
                <a:latin typeface="Times New Roman" pitchFamily="18" charset="0"/>
                <a:cs typeface="Times New Roman" pitchFamily="18" charset="0"/>
              </a:rPr>
              <a:t>, </a:t>
            </a:r>
            <a:r>
              <a:rPr lang="en-GB" sz="2800" b="1" i="1" dirty="0">
                <a:latin typeface="Times New Roman" pitchFamily="18" charset="0"/>
                <a:cs typeface="Times New Roman" pitchFamily="18" charset="0"/>
              </a:rPr>
              <a:t>Micrococcus</a:t>
            </a:r>
            <a:r>
              <a:rPr lang="en-GB" sz="2800" dirty="0">
                <a:latin typeface="Times New Roman" pitchFamily="18" charset="0"/>
                <a:cs typeface="Times New Roman" pitchFamily="18" charset="0"/>
              </a:rPr>
              <a:t>, </a:t>
            </a:r>
            <a:r>
              <a:rPr lang="en-GB" sz="2800" b="1" i="1" dirty="0">
                <a:latin typeface="Times New Roman" pitchFamily="18" charset="0"/>
                <a:cs typeface="Times New Roman" pitchFamily="18" charset="0"/>
              </a:rPr>
              <a:t>Pseudomonas</a:t>
            </a:r>
            <a:r>
              <a:rPr lang="en-GB" sz="2800" dirty="0">
                <a:latin typeface="Times New Roman" pitchFamily="18" charset="0"/>
                <a:cs typeface="Times New Roman" pitchFamily="18" charset="0"/>
              </a:rPr>
              <a:t>, faecal and respiratory Streptococci.</a:t>
            </a:r>
          </a:p>
          <a:p>
            <a:endParaRPr lang="en-GB" sz="2800" dirty="0">
              <a:latin typeface="Times New Roman" pitchFamily="18" charset="0"/>
              <a:cs typeface="Times New Roman" pitchFamily="18" charset="0"/>
            </a:endParaRPr>
          </a:p>
          <a:p>
            <a:r>
              <a:rPr lang="en-GB" sz="2800" dirty="0">
                <a:latin typeface="Times New Roman" pitchFamily="18" charset="0"/>
                <a:cs typeface="Times New Roman" pitchFamily="18" charset="0"/>
              </a:rPr>
              <a:t>Meat from such an animal spoil quickly. </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591403" y="457200"/>
            <a:ext cx="8229600" cy="533400"/>
          </a:xfrm>
        </p:spPr>
        <p:txBody>
          <a:bodyPr>
            <a:normAutofit/>
          </a:bodyPr>
          <a:lstStyle/>
          <a:p>
            <a:pPr algn="ctr"/>
            <a:r>
              <a:rPr lang="en-GB" sz="2800" dirty="0">
                <a:latin typeface="Times New Roman" pitchFamily="18" charset="0"/>
                <a:cs typeface="Times New Roman" pitchFamily="18" charset="0"/>
              </a:rPr>
              <a:t>FRESH FOODS...(Meat) </a:t>
            </a:r>
            <a:r>
              <a:rPr lang="en-GB" sz="2800" i="1" dirty="0">
                <a:latin typeface="Times New Roman" pitchFamily="18" charset="0"/>
                <a:cs typeface="Times New Roman" pitchFamily="18" charset="0"/>
              </a:rPr>
              <a:t>contd.</a:t>
            </a: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609600" y="1219200"/>
            <a:ext cx="8229600" cy="6223380"/>
          </a:xfrm>
        </p:spPr>
        <p:txBody>
          <a:bodyPr>
            <a:noAutofit/>
          </a:bodyPr>
          <a:lstStyle/>
          <a:p>
            <a:r>
              <a:rPr lang="en-GB" sz="2800" b="1" dirty="0">
                <a:latin typeface="Times New Roman" pitchFamily="18" charset="0"/>
                <a:cs typeface="Times New Roman" pitchFamily="18" charset="0"/>
              </a:rPr>
              <a:t>However, when a well rested animal is slaughtered, researches have revealed a series of events take place that leads to the production of meat of high quality.</a:t>
            </a:r>
            <a:endParaRPr lang="en-US" sz="2800" b="1" dirty="0">
              <a:latin typeface="Times New Roman" pitchFamily="18" charset="0"/>
              <a:cs typeface="Times New Roman" pitchFamily="18" charset="0"/>
            </a:endParaRPr>
          </a:p>
          <a:p>
            <a:pPr marL="393192" lvl="1" indent="0">
              <a:buNone/>
            </a:pPr>
            <a:r>
              <a:rPr lang="en-GB" sz="2800" b="1" dirty="0">
                <a:solidFill>
                  <a:schemeClr val="accent1"/>
                </a:solidFill>
                <a:latin typeface="Times New Roman" pitchFamily="18" charset="0"/>
                <a:cs typeface="Times New Roman" pitchFamily="18" charset="0"/>
              </a:rPr>
              <a:t>1.</a:t>
            </a:r>
            <a:r>
              <a:rPr lang="en-GB" sz="2800" b="1" dirty="0">
                <a:latin typeface="Times New Roman" pitchFamily="18" charset="0"/>
                <a:cs typeface="Times New Roman" pitchFamily="18" charset="0"/>
              </a:rPr>
              <a:t> Circulation ceases and the ability to resynthesize ATP is also lost. Lack of ATP causes actin and myosin to combine to form </a:t>
            </a:r>
            <a:r>
              <a:rPr lang="en-GB" sz="2800" b="1" dirty="0" err="1">
                <a:latin typeface="Times New Roman" pitchFamily="18" charset="0"/>
                <a:cs typeface="Times New Roman" pitchFamily="18" charset="0"/>
              </a:rPr>
              <a:t>actomyosin</a:t>
            </a:r>
            <a:r>
              <a:rPr lang="en-GB" sz="2800" b="1" dirty="0">
                <a:latin typeface="Times New Roman" pitchFamily="18" charset="0"/>
                <a:cs typeface="Times New Roman" pitchFamily="18" charset="0"/>
              </a:rPr>
              <a:t>, which leads to the stiffening of muscles.</a:t>
            </a:r>
            <a:endParaRPr lang="en-US" sz="2800" b="1" dirty="0">
              <a:latin typeface="Times New Roman" pitchFamily="18" charset="0"/>
              <a:cs typeface="Times New Roman" pitchFamily="18" charset="0"/>
            </a:endParaRPr>
          </a:p>
          <a:p>
            <a:pPr marL="393192" lvl="1" indent="0">
              <a:buNone/>
            </a:pPr>
            <a:endParaRPr lang="en-GB" sz="2800" b="1" dirty="0">
              <a:latin typeface="Times New Roman" pitchFamily="18" charset="0"/>
              <a:cs typeface="Times New Roman" pitchFamily="18" charset="0"/>
            </a:endParaRPr>
          </a:p>
          <a:p>
            <a:pPr marL="393192" lvl="1" indent="0">
              <a:buNone/>
            </a:pPr>
            <a:r>
              <a:rPr lang="en-GB" sz="2800" b="1" dirty="0">
                <a:solidFill>
                  <a:schemeClr val="accent1"/>
                </a:solidFill>
                <a:latin typeface="Times New Roman" pitchFamily="18" charset="0"/>
                <a:cs typeface="Times New Roman" pitchFamily="18" charset="0"/>
              </a:rPr>
              <a:t>2.</a:t>
            </a:r>
            <a:r>
              <a:rPr lang="en-GB" sz="2800" b="1" dirty="0">
                <a:latin typeface="Times New Roman" pitchFamily="18" charset="0"/>
                <a:cs typeface="Times New Roman" pitchFamily="18" charset="0"/>
              </a:rPr>
              <a:t> Oxygen supply falls resulting in the reduction of redox potential.</a:t>
            </a:r>
            <a:endParaRPr lang="en-US" sz="2800" b="1" dirty="0">
              <a:latin typeface="Times New Roman" pitchFamily="18" charset="0"/>
              <a:cs typeface="Times New Roman"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04800"/>
            <a:ext cx="8229600" cy="609600"/>
          </a:xfrm>
        </p:spPr>
        <p:txBody>
          <a:bodyPr>
            <a:normAutofit/>
          </a:bodyPr>
          <a:lstStyle/>
          <a:p>
            <a:pPr algn="ctr"/>
            <a:r>
              <a:rPr lang="en-GB" sz="2800" dirty="0">
                <a:latin typeface="Times New Roman" pitchFamily="18" charset="0"/>
                <a:cs typeface="Times New Roman" pitchFamily="18" charset="0"/>
              </a:rPr>
              <a:t>FRESH FOODS...(Meat) </a:t>
            </a:r>
            <a:r>
              <a:rPr lang="en-GB" sz="2800" i="1" dirty="0">
                <a:latin typeface="Times New Roman" pitchFamily="18" charset="0"/>
                <a:cs typeface="Times New Roman" pitchFamily="18" charset="0"/>
              </a:rPr>
              <a:t>contd.</a:t>
            </a: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533400" y="1066800"/>
            <a:ext cx="8229600" cy="5638800"/>
          </a:xfrm>
        </p:spPr>
        <p:txBody>
          <a:bodyPr>
            <a:normAutofit/>
          </a:bodyPr>
          <a:lstStyle/>
          <a:p>
            <a:pPr marL="393192" lvl="1" indent="0">
              <a:buNone/>
            </a:pPr>
            <a:r>
              <a:rPr lang="en-GB" sz="2800" b="1" dirty="0">
                <a:solidFill>
                  <a:schemeClr val="accent1"/>
                </a:solidFill>
                <a:latin typeface="Times New Roman" pitchFamily="18" charset="0"/>
                <a:cs typeface="Times New Roman" pitchFamily="18" charset="0"/>
              </a:rPr>
              <a:t>3.</a:t>
            </a:r>
            <a:r>
              <a:rPr lang="en-GB" sz="2800" b="1" dirty="0">
                <a:latin typeface="Times New Roman" pitchFamily="18" charset="0"/>
                <a:cs typeface="Times New Roman" pitchFamily="18" charset="0"/>
              </a:rPr>
              <a:t> Supply of vitamins and anti-oxidants cease resulting in the development of rancidity ( hydrolysis of butter fats to free fatty acids.)</a:t>
            </a:r>
          </a:p>
          <a:p>
            <a:pPr marL="393192" lvl="1" indent="0">
              <a:buNone/>
            </a:pPr>
            <a:endParaRPr lang="en-GB" sz="2800" b="1" dirty="0">
              <a:latin typeface="Times New Roman" pitchFamily="18" charset="0"/>
              <a:cs typeface="Times New Roman" pitchFamily="18" charset="0"/>
            </a:endParaRPr>
          </a:p>
          <a:p>
            <a:pPr marL="393192" lvl="1" indent="0">
              <a:buNone/>
            </a:pPr>
            <a:r>
              <a:rPr lang="en-GB" sz="2800" b="1" dirty="0">
                <a:solidFill>
                  <a:schemeClr val="accent1"/>
                </a:solidFill>
                <a:latin typeface="Times New Roman" pitchFamily="18" charset="0"/>
                <a:cs typeface="Times New Roman" pitchFamily="18" charset="0"/>
              </a:rPr>
              <a:t>4.</a:t>
            </a:r>
            <a:r>
              <a:rPr lang="en-GB" sz="2800" b="1" dirty="0">
                <a:latin typeface="Times New Roman" pitchFamily="18" charset="0"/>
                <a:cs typeface="Times New Roman" pitchFamily="18" charset="0"/>
              </a:rPr>
              <a:t> Nervous and hormonal release cease therefore temperature of the animal falls and fats solidify.</a:t>
            </a:r>
            <a:endParaRPr lang="en-US" sz="2800" b="1" dirty="0">
              <a:latin typeface="Times New Roman" pitchFamily="18" charset="0"/>
              <a:cs typeface="Times New Roman" pitchFamily="18" charset="0"/>
            </a:endParaRPr>
          </a:p>
          <a:p>
            <a:pPr marL="393192" lvl="1" indent="0">
              <a:buNone/>
            </a:pPr>
            <a:endParaRPr lang="en-US" sz="2800" b="1" dirty="0">
              <a:latin typeface="Times New Roman" pitchFamily="18" charset="0"/>
              <a:cs typeface="Times New Roman" pitchFamily="18" charset="0"/>
            </a:endParaRPr>
          </a:p>
          <a:p>
            <a:pPr marL="393192" lvl="1" indent="0">
              <a:buNone/>
            </a:pPr>
            <a:r>
              <a:rPr lang="en-US" sz="2800" b="1" dirty="0">
                <a:solidFill>
                  <a:schemeClr val="accent1"/>
                </a:solidFill>
                <a:latin typeface="Times New Roman" pitchFamily="18" charset="0"/>
                <a:cs typeface="Times New Roman" pitchFamily="18" charset="0"/>
              </a:rPr>
              <a:t>5.</a:t>
            </a:r>
            <a:r>
              <a:rPr lang="en-US" sz="2800" b="1" dirty="0">
                <a:latin typeface="Times New Roman" pitchFamily="18" charset="0"/>
                <a:cs typeface="Times New Roman" pitchFamily="18" charset="0"/>
              </a:rPr>
              <a:t> </a:t>
            </a:r>
            <a:r>
              <a:rPr lang="en-GB" sz="2800" b="1" dirty="0">
                <a:latin typeface="Times New Roman" pitchFamily="18" charset="0"/>
                <a:cs typeface="Times New Roman" pitchFamily="18" charset="0"/>
              </a:rPr>
              <a:t>Glycolysis begins resulting in the conversion of most glycogen to lactic acid. It depresses pH from about 7.4 to about 5.6. This pH depression initiates protein denaturation into amino acids.</a:t>
            </a:r>
            <a:endParaRPr lang="en-US" sz="2800" b="1" dirty="0">
              <a:latin typeface="Times New Roman" pitchFamily="18" charset="0"/>
              <a:cs typeface="Times New Roman" pitchFamily="18" charset="0"/>
            </a:endParaRPr>
          </a:p>
          <a:p>
            <a:pPr marL="287338" lvl="1" indent="-287338">
              <a:buNone/>
            </a:pPr>
            <a:endParaRPr lang="en-GB" dirty="0">
              <a:latin typeface="Times New Roman" pitchFamily="18" charset="0"/>
              <a:cs typeface="Times New Roman" pitchFamily="18" charset="0"/>
            </a:endParaRPr>
          </a:p>
          <a:p>
            <a:pPr marL="287338" lvl="1" indent="-287338"/>
            <a:endParaRPr lang="en-GB" dirty="0">
              <a:latin typeface="Times New Roman" pitchFamily="18" charset="0"/>
              <a:cs typeface="Times New Roman"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85800"/>
          </a:xfrm>
        </p:spPr>
        <p:txBody>
          <a:bodyPr/>
          <a:lstStyle/>
          <a:p>
            <a:pPr algn="ctr"/>
            <a:r>
              <a:rPr lang="en-US" sz="3200" b="1" dirty="0">
                <a:latin typeface="Times New Roman" panose="02020603050405020304" pitchFamily="18" charset="0"/>
                <a:cs typeface="Times New Roman" panose="02020603050405020304" pitchFamily="18" charset="0"/>
              </a:rPr>
              <a:t>Spoilage of meat</a:t>
            </a:r>
            <a:endParaRPr lang="en-GB"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838200"/>
            <a:ext cx="8229600" cy="6019800"/>
          </a:xfrm>
        </p:spPr>
        <p:txBody>
          <a:bodyPr>
            <a:noAutofit/>
          </a:bodyPr>
          <a:lstStyle/>
          <a:p>
            <a:r>
              <a:rPr lang="en-US" sz="2800" dirty="0">
                <a:latin typeface="Times New Roman" pitchFamily="18" charset="0"/>
                <a:cs typeface="Times New Roman" pitchFamily="18" charset="0"/>
              </a:rPr>
              <a:t>Aerobic storage of chilled red meats produce a high redox potential at the meat surface suitable for the growth of </a:t>
            </a:r>
            <a:r>
              <a:rPr lang="en-US" sz="2800" dirty="0" err="1">
                <a:latin typeface="Times New Roman" pitchFamily="18" charset="0"/>
                <a:cs typeface="Times New Roman" pitchFamily="18" charset="0"/>
              </a:rPr>
              <a:t>Psychrotrophic</a:t>
            </a:r>
            <a:r>
              <a:rPr lang="en-US" sz="2800" dirty="0">
                <a:latin typeface="Times New Roman" pitchFamily="18" charset="0"/>
                <a:cs typeface="Times New Roman" pitchFamily="18" charset="0"/>
              </a:rPr>
              <a:t> aerobes.</a:t>
            </a:r>
          </a:p>
          <a:p>
            <a:r>
              <a:rPr lang="en-US" sz="2800" dirty="0">
                <a:latin typeface="Times New Roman" pitchFamily="18" charset="0"/>
                <a:cs typeface="Times New Roman" pitchFamily="18" charset="0"/>
              </a:rPr>
              <a:t>Non-fermentative Gram negative rods grow most rapidly  and  dominate the spoilage microflora that develops .</a:t>
            </a:r>
          </a:p>
          <a:p>
            <a:r>
              <a:rPr lang="en-US" sz="2800" dirty="0">
                <a:latin typeface="Times New Roman" pitchFamily="18" charset="0"/>
                <a:cs typeface="Times New Roman" pitchFamily="18" charset="0"/>
              </a:rPr>
              <a:t>Principal genera include </a:t>
            </a:r>
            <a:r>
              <a:rPr lang="en-US" sz="2800" i="1" dirty="0">
                <a:latin typeface="Times New Roman" pitchFamily="18" charset="0"/>
                <a:cs typeface="Times New Roman" pitchFamily="18" charset="0"/>
              </a:rPr>
              <a:t>Pseudomonas, </a:t>
            </a:r>
            <a:r>
              <a:rPr lang="en-US" sz="2800" i="1" dirty="0" err="1">
                <a:latin typeface="Times New Roman" pitchFamily="18" charset="0"/>
                <a:cs typeface="Times New Roman" pitchFamily="18" charset="0"/>
              </a:rPr>
              <a:t>Acinetobacters</a:t>
            </a:r>
            <a:r>
              <a:rPr lang="en-US" sz="2800" i="1" dirty="0">
                <a:latin typeface="Times New Roman" pitchFamily="18" charset="0"/>
                <a:cs typeface="Times New Roman" pitchFamily="18" charset="0"/>
              </a:rPr>
              <a:t>, </a:t>
            </a:r>
            <a:r>
              <a:rPr lang="en-US" sz="2800" i="1" dirty="0" err="1">
                <a:latin typeface="Times New Roman" pitchFamily="18" charset="0"/>
                <a:cs typeface="Times New Roman" pitchFamily="18" charset="0"/>
              </a:rPr>
              <a:t>Psychrobacters</a:t>
            </a:r>
            <a:r>
              <a:rPr lang="en-US" sz="2800" i="1" dirty="0">
                <a:latin typeface="Times New Roman" pitchFamily="18" charset="0"/>
                <a:cs typeface="Times New Roman" pitchFamily="18" charset="0"/>
              </a:rPr>
              <a:t>. Pseudomonas</a:t>
            </a:r>
            <a:r>
              <a:rPr lang="en-US" sz="2800" dirty="0">
                <a:latin typeface="Times New Roman" pitchFamily="18" charset="0"/>
                <a:cs typeface="Times New Roman" pitchFamily="18" charset="0"/>
              </a:rPr>
              <a:t> however, dominates.</a:t>
            </a:r>
          </a:p>
          <a:p>
            <a:r>
              <a:rPr lang="en-US" sz="2800" i="1" dirty="0">
                <a:latin typeface="Times New Roman" pitchFamily="18" charset="0"/>
                <a:cs typeface="Times New Roman" pitchFamily="18" charset="0"/>
              </a:rPr>
              <a:t>P. </a:t>
            </a:r>
            <a:r>
              <a:rPr lang="en-US" sz="2800" i="1" dirty="0" err="1">
                <a:latin typeface="Times New Roman" pitchFamily="18" charset="0"/>
                <a:cs typeface="Times New Roman" pitchFamily="18" charset="0"/>
              </a:rPr>
              <a:t>fragi</a:t>
            </a:r>
            <a:r>
              <a:rPr lang="en-US" sz="2800" i="1" dirty="0">
                <a:latin typeface="Times New Roman" pitchFamily="18" charset="0"/>
                <a:cs typeface="Times New Roman" pitchFamily="18" charset="0"/>
              </a:rPr>
              <a:t>, P. </a:t>
            </a:r>
            <a:r>
              <a:rPr lang="en-US" sz="2800" i="1" dirty="0" err="1">
                <a:latin typeface="Times New Roman" pitchFamily="18" charset="0"/>
                <a:cs typeface="Times New Roman" pitchFamily="18" charset="0"/>
              </a:rPr>
              <a:t>lundensis</a:t>
            </a:r>
            <a:r>
              <a:rPr lang="en-US" sz="2800" i="1" dirty="0">
                <a:latin typeface="Times New Roman" pitchFamily="18" charset="0"/>
                <a:cs typeface="Times New Roman" pitchFamily="18" charset="0"/>
              </a:rPr>
              <a:t>, P. </a:t>
            </a:r>
            <a:r>
              <a:rPr lang="en-US" sz="2800" i="1" dirty="0" err="1">
                <a:latin typeface="Times New Roman" pitchFamily="18" charset="0"/>
                <a:cs typeface="Times New Roman" pitchFamily="18" charset="0"/>
              </a:rPr>
              <a:t>fluorescens</a:t>
            </a:r>
            <a:endParaRPr lang="en-US" sz="2800" i="1" dirty="0">
              <a:latin typeface="Times New Roman" pitchFamily="18" charset="0"/>
              <a:cs typeface="Times New Roman" pitchFamily="18" charset="0"/>
            </a:endParaRPr>
          </a:p>
          <a:p>
            <a:endParaRPr lang="en-GB" sz="3200" dirty="0">
              <a:latin typeface="Times New Roman" pitchFamily="18" charset="0"/>
              <a:cs typeface="Times New Roman" pitchFamily="18" charset="0"/>
            </a:endParaRPr>
          </a:p>
        </p:txBody>
      </p:sp>
    </p:spTree>
    <p:extLst>
      <p:ext uri="{BB962C8B-B14F-4D97-AF65-F5344CB8AC3E}">
        <p14:creationId xmlns:p14="http://schemas.microsoft.com/office/powerpoint/2010/main" val="147371843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838200"/>
          </a:xfrm>
        </p:spPr>
        <p:txBody>
          <a:bodyPr/>
          <a:lstStyle/>
          <a:p>
            <a:pPr algn="ctr"/>
            <a:r>
              <a:rPr lang="en-US" sz="3200" dirty="0">
                <a:latin typeface="Times New Roman" panose="02020603050405020304" pitchFamily="18" charset="0"/>
                <a:cs typeface="Times New Roman" panose="02020603050405020304" pitchFamily="18" charset="0"/>
              </a:rPr>
              <a:t>Spoilage of meat cont’d</a:t>
            </a:r>
            <a:endParaRPr lang="en-GB"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62887" y="1295400"/>
            <a:ext cx="8229600" cy="5410200"/>
          </a:xfrm>
        </p:spPr>
        <p:txBody>
          <a:bodyPr>
            <a:normAutofit lnSpcReduction="10000"/>
          </a:bodyPr>
          <a:lstStyle/>
          <a:p>
            <a:r>
              <a:rPr lang="en-US" sz="2800" dirty="0">
                <a:latin typeface="Times New Roman" pitchFamily="18" charset="0"/>
                <a:cs typeface="Times New Roman" pitchFamily="18" charset="0"/>
              </a:rPr>
              <a:t>Minor spoilage microflora include </a:t>
            </a:r>
            <a:r>
              <a:rPr lang="en-US" sz="2800" dirty="0" err="1">
                <a:latin typeface="Times New Roman" pitchFamily="18" charset="0"/>
                <a:cs typeface="Times New Roman" pitchFamily="18" charset="0"/>
              </a:rPr>
              <a:t>Psychrotrophic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Enterobacteriaceae</a:t>
            </a:r>
            <a:r>
              <a:rPr lang="en-US" sz="2800" dirty="0">
                <a:latin typeface="Times New Roman" pitchFamily="18" charset="0"/>
                <a:cs typeface="Times New Roman" pitchFamily="18" charset="0"/>
              </a:rPr>
              <a:t> e.g. </a:t>
            </a:r>
            <a:r>
              <a:rPr lang="en-US" sz="2800" i="1" dirty="0" err="1">
                <a:latin typeface="Times New Roman" pitchFamily="18" charset="0"/>
                <a:cs typeface="Times New Roman" pitchFamily="18" charset="0"/>
              </a:rPr>
              <a:t>Serratia</a:t>
            </a:r>
            <a:r>
              <a:rPr lang="en-US" sz="2800" i="1" dirty="0">
                <a:latin typeface="Times New Roman" pitchFamily="18" charset="0"/>
                <a:cs typeface="Times New Roman" pitchFamily="18" charset="0"/>
              </a:rPr>
              <a:t> </a:t>
            </a:r>
            <a:r>
              <a:rPr lang="en-US" sz="2800" i="1" dirty="0" err="1">
                <a:latin typeface="Times New Roman" pitchFamily="18" charset="0"/>
                <a:cs typeface="Times New Roman" pitchFamily="18" charset="0"/>
              </a:rPr>
              <a:t>liquefaciens</a:t>
            </a:r>
            <a:r>
              <a:rPr lang="en-US" sz="2800" i="1" dirty="0">
                <a:latin typeface="Times New Roman" pitchFamily="18" charset="0"/>
                <a:cs typeface="Times New Roman" pitchFamily="18" charset="0"/>
              </a:rPr>
              <a:t>, </a:t>
            </a:r>
            <a:r>
              <a:rPr lang="en-US" sz="2800" i="1" dirty="0" err="1">
                <a:latin typeface="Times New Roman" pitchFamily="18" charset="0"/>
                <a:cs typeface="Times New Roman" pitchFamily="18" charset="0"/>
              </a:rPr>
              <a:t>Enterobacter</a:t>
            </a:r>
            <a:r>
              <a:rPr lang="en-US" sz="2800" i="1" dirty="0">
                <a:latin typeface="Times New Roman" pitchFamily="18" charset="0"/>
                <a:cs typeface="Times New Roman" pitchFamily="18" charset="0"/>
              </a:rPr>
              <a:t> </a:t>
            </a:r>
            <a:r>
              <a:rPr lang="en-US" sz="2800" i="1" dirty="0" err="1">
                <a:latin typeface="Times New Roman" pitchFamily="18" charset="0"/>
                <a:cs typeface="Times New Roman" pitchFamily="18" charset="0"/>
              </a:rPr>
              <a:t>agglumerans</a:t>
            </a:r>
            <a:r>
              <a:rPr lang="en-US" sz="2800" dirty="0">
                <a:latin typeface="Times New Roman" pitchFamily="18" charset="0"/>
                <a:cs typeface="Times New Roman" pitchFamily="18" charset="0"/>
              </a:rPr>
              <a:t>, LAB, Gram positive </a:t>
            </a:r>
            <a:r>
              <a:rPr lang="en-US" sz="2800" i="1" dirty="0" err="1">
                <a:latin typeface="Times New Roman" pitchFamily="18" charset="0"/>
                <a:cs typeface="Times New Roman" pitchFamily="18" charset="0"/>
              </a:rPr>
              <a:t>Brochotrix</a:t>
            </a:r>
            <a:r>
              <a:rPr lang="en-US" sz="2800" i="1" dirty="0">
                <a:latin typeface="Times New Roman" pitchFamily="18" charset="0"/>
                <a:cs typeface="Times New Roman" pitchFamily="18" charset="0"/>
              </a:rPr>
              <a:t> </a:t>
            </a:r>
            <a:r>
              <a:rPr lang="en-US" sz="2800" i="1" dirty="0" err="1">
                <a:latin typeface="Times New Roman" pitchFamily="18" charset="0"/>
                <a:cs typeface="Times New Roman" pitchFamily="18" charset="0"/>
              </a:rPr>
              <a:t>thermosphacta</a:t>
            </a:r>
            <a:r>
              <a:rPr lang="en-US" sz="2800" dirty="0">
                <a:latin typeface="Times New Roman" pitchFamily="18" charset="0"/>
                <a:cs typeface="Times New Roman" pitchFamily="18" charset="0"/>
              </a:rPr>
              <a:t>.</a:t>
            </a:r>
          </a:p>
          <a:p>
            <a:endParaRPr lang="en-US" sz="2800" dirty="0">
              <a:latin typeface="Times New Roman" pitchFamily="18" charset="0"/>
              <a:cs typeface="Times New Roman" pitchFamily="18" charset="0"/>
            </a:endParaRPr>
          </a:p>
          <a:p>
            <a:r>
              <a:rPr lang="en-US" sz="2800" dirty="0">
                <a:latin typeface="Times New Roman" pitchFamily="18" charset="0"/>
                <a:cs typeface="Times New Roman" pitchFamily="18" charset="0"/>
              </a:rPr>
              <a:t>The first indication of spoilage in fresh meat is the production of off-odours(10</a:t>
            </a:r>
            <a:r>
              <a:rPr lang="en-US" sz="2800" baseline="30000" dirty="0">
                <a:latin typeface="Times New Roman" pitchFamily="18" charset="0"/>
                <a:cs typeface="Times New Roman" pitchFamily="18" charset="0"/>
              </a:rPr>
              <a:t>7</a:t>
            </a:r>
            <a:r>
              <a:rPr lang="en-US" sz="2800" dirty="0">
                <a:latin typeface="Times New Roman" pitchFamily="18" charset="0"/>
                <a:cs typeface="Times New Roman" pitchFamily="18" charset="0"/>
              </a:rPr>
              <a:t> cfucm</a:t>
            </a:r>
            <a:r>
              <a:rPr lang="en-US" sz="2800" baseline="30000" dirty="0">
                <a:latin typeface="Times New Roman" pitchFamily="18" charset="0"/>
                <a:cs typeface="Times New Roman" pitchFamily="18" charset="0"/>
              </a:rPr>
              <a:t>-2</a:t>
            </a:r>
            <a:r>
              <a:rPr lang="en-US" sz="2800" dirty="0">
                <a:latin typeface="Times New Roman" pitchFamily="18" charset="0"/>
                <a:cs typeface="Times New Roman" pitchFamily="18" charset="0"/>
              </a:rPr>
              <a:t>).</a:t>
            </a:r>
          </a:p>
          <a:p>
            <a:endParaRPr lang="en-US" sz="2800" dirty="0">
              <a:latin typeface="Times New Roman" pitchFamily="18" charset="0"/>
              <a:cs typeface="Times New Roman" pitchFamily="18" charset="0"/>
            </a:endParaRPr>
          </a:p>
          <a:p>
            <a:r>
              <a:rPr lang="en-US" sz="2800" dirty="0">
                <a:latin typeface="Times New Roman" pitchFamily="18" charset="0"/>
                <a:cs typeface="Times New Roman" pitchFamily="18" charset="0"/>
              </a:rPr>
              <a:t>Microbial/ bacterial metabolism produces a complex mixture of volatile esters, alcohol, ketones and </a:t>
            </a:r>
            <a:r>
              <a:rPr lang="en-US" sz="2800" dirty="0" err="1">
                <a:latin typeface="Times New Roman" pitchFamily="18" charset="0"/>
                <a:cs typeface="Times New Roman" pitchFamily="18" charset="0"/>
              </a:rPr>
              <a:t>sulphur</a:t>
            </a:r>
            <a:r>
              <a:rPr lang="en-US" sz="2800" dirty="0">
                <a:latin typeface="Times New Roman" pitchFamily="18" charset="0"/>
                <a:cs typeface="Times New Roman" pitchFamily="18" charset="0"/>
              </a:rPr>
              <a:t> containing compounds which collectively comprise the off-odours.</a:t>
            </a:r>
          </a:p>
          <a:p>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355622699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838200"/>
          </a:xfrm>
        </p:spPr>
        <p:txBody>
          <a:bodyPr>
            <a:normAutofit/>
          </a:bodyPr>
          <a:lstStyle/>
          <a:p>
            <a:pPr algn="ctr"/>
            <a:r>
              <a:rPr lang="en-US" sz="3200" dirty="0">
                <a:latin typeface="Times New Roman" panose="02020603050405020304" pitchFamily="18" charset="0"/>
                <a:cs typeface="Times New Roman" panose="02020603050405020304" pitchFamily="18" charset="0"/>
              </a:rPr>
              <a:t>Spoilage of meat cont’d</a:t>
            </a:r>
            <a:endParaRPr lang="en-US" sz="3200" dirty="0"/>
          </a:p>
        </p:txBody>
      </p:sp>
      <p:sp>
        <p:nvSpPr>
          <p:cNvPr id="3" name="Content Placeholder 2"/>
          <p:cNvSpPr>
            <a:spLocks noGrp="1"/>
          </p:cNvSpPr>
          <p:nvPr>
            <p:ph idx="1"/>
          </p:nvPr>
        </p:nvSpPr>
        <p:spPr>
          <a:xfrm>
            <a:off x="457200" y="1295400"/>
            <a:ext cx="8229600" cy="5334000"/>
          </a:xfrm>
        </p:spPr>
        <p:txBody>
          <a:bodyPr>
            <a:normAutofit/>
          </a:bodyPr>
          <a:lstStyle/>
          <a:p>
            <a:r>
              <a:rPr lang="en-US" sz="2800" dirty="0">
                <a:latin typeface="Times New Roman" pitchFamily="18" charset="0"/>
                <a:cs typeface="Times New Roman" pitchFamily="18" charset="0"/>
              </a:rPr>
              <a:t>There is a shift from the diminishing glucose to amino acids as substrates for growth.</a:t>
            </a:r>
          </a:p>
          <a:p>
            <a:endParaRPr lang="en-US" sz="2800" dirty="0">
              <a:latin typeface="Times New Roman" pitchFamily="18" charset="0"/>
              <a:cs typeface="Times New Roman" pitchFamily="18" charset="0"/>
            </a:endParaRPr>
          </a:p>
          <a:p>
            <a:r>
              <a:rPr lang="en-US" sz="2800" dirty="0">
                <a:latin typeface="Times New Roman" pitchFamily="18" charset="0"/>
                <a:cs typeface="Times New Roman" pitchFamily="18" charset="0"/>
              </a:rPr>
              <a:t>Meat with lower levels of residual glucose this stage is  reached earlier and that accounts for the earlier onset of spoilage in high pH meat.</a:t>
            </a:r>
          </a:p>
          <a:p>
            <a:endParaRPr lang="en-US" sz="2800" dirty="0">
              <a:latin typeface="Times New Roman" pitchFamily="18" charset="0"/>
              <a:cs typeface="Times New Roman" pitchFamily="18" charset="0"/>
            </a:endParaRPr>
          </a:p>
          <a:p>
            <a:r>
              <a:rPr lang="en-US" sz="2800" dirty="0">
                <a:latin typeface="Times New Roman" pitchFamily="18" charset="0"/>
                <a:cs typeface="Times New Roman" pitchFamily="18" charset="0"/>
              </a:rPr>
              <a:t>Usually, the spoilage taints appear in a sequence reflecting the order in which components of the meat are degraded or metabolized</a:t>
            </a:r>
          </a:p>
          <a:p>
            <a:endParaRPr lang="en-US" dirty="0"/>
          </a:p>
        </p:txBody>
      </p:sp>
    </p:spTree>
    <p:extLst>
      <p:ext uri="{BB962C8B-B14F-4D97-AF65-F5344CB8AC3E}">
        <p14:creationId xmlns:p14="http://schemas.microsoft.com/office/powerpoint/2010/main" val="144531181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09600"/>
          </a:xfrm>
        </p:spPr>
        <p:txBody>
          <a:bodyPr>
            <a:normAutofit/>
          </a:bodyPr>
          <a:lstStyle/>
          <a:p>
            <a:pPr algn="ctr"/>
            <a:r>
              <a:rPr lang="en-US" sz="2800" b="1" dirty="0">
                <a:latin typeface="Times New Roman" panose="02020603050405020304" pitchFamily="18" charset="0"/>
                <a:cs typeface="Times New Roman" panose="02020603050405020304" pitchFamily="18" charset="0"/>
              </a:rPr>
              <a:t>Spoilage of meat cont’d</a:t>
            </a:r>
            <a:endParaRPr lang="en-GB"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990600"/>
            <a:ext cx="8229600" cy="5715000"/>
          </a:xfrm>
        </p:spPr>
        <p:txBody>
          <a:bodyPr>
            <a:normAutofit lnSpcReduction="10000"/>
          </a:bodyPr>
          <a:lstStyle/>
          <a:p>
            <a:r>
              <a:rPr lang="en-US" sz="2800" dirty="0">
                <a:latin typeface="Times New Roman" pitchFamily="18" charset="0"/>
                <a:cs typeface="Times New Roman" pitchFamily="18" charset="0"/>
              </a:rPr>
              <a:t>The first indication of spoilage is generally </a:t>
            </a:r>
            <a:r>
              <a:rPr lang="en-US" sz="2800" b="1" i="1" dirty="0">
                <a:latin typeface="Times New Roman" pitchFamily="18" charset="0"/>
                <a:cs typeface="Times New Roman" pitchFamily="18" charset="0"/>
              </a:rPr>
              <a:t>buttery or cheesy odour</a:t>
            </a:r>
            <a:r>
              <a:rPr lang="en-US" sz="2800" dirty="0">
                <a:latin typeface="Times New Roman" pitchFamily="18" charset="0"/>
                <a:cs typeface="Times New Roman" pitchFamily="18" charset="0"/>
              </a:rPr>
              <a:t> associated with production of </a:t>
            </a:r>
            <a:r>
              <a:rPr lang="en-US" sz="2800" dirty="0" err="1">
                <a:latin typeface="Times New Roman" pitchFamily="18" charset="0"/>
                <a:cs typeface="Times New Roman" pitchFamily="18" charset="0"/>
              </a:rPr>
              <a:t>diacetyls</a:t>
            </a:r>
            <a:r>
              <a:rPr lang="en-US" sz="2800" dirty="0">
                <a:latin typeface="Times New Roman" pitchFamily="18" charset="0"/>
                <a:cs typeface="Times New Roman" pitchFamily="18" charset="0"/>
              </a:rPr>
              <a:t> (2,3-butanedione), </a:t>
            </a:r>
            <a:r>
              <a:rPr lang="en-US" sz="2800" dirty="0" err="1">
                <a:latin typeface="Times New Roman" pitchFamily="18" charset="0"/>
                <a:cs typeface="Times New Roman" pitchFamily="18" charset="0"/>
              </a:rPr>
              <a:t>acetoin</a:t>
            </a:r>
            <a:r>
              <a:rPr lang="en-US" sz="2800" dirty="0">
                <a:latin typeface="Times New Roman" pitchFamily="18" charset="0"/>
                <a:cs typeface="Times New Roman" pitchFamily="18" charset="0"/>
              </a:rPr>
              <a:t> (3- hydroxyl-2-butanone), 3-methyl </a:t>
            </a:r>
            <a:r>
              <a:rPr lang="en-US" sz="2800" dirty="0" err="1">
                <a:latin typeface="Times New Roman" pitchFamily="18" charset="0"/>
                <a:cs typeface="Times New Roman" pitchFamily="18" charset="0"/>
              </a:rPr>
              <a:t>butanol</a:t>
            </a:r>
            <a:r>
              <a:rPr lang="en-US" sz="2800" dirty="0">
                <a:latin typeface="Times New Roman" pitchFamily="18" charset="0"/>
                <a:cs typeface="Times New Roman" pitchFamily="18" charset="0"/>
              </a:rPr>
              <a:t>, 2-methyl propanol.</a:t>
            </a:r>
          </a:p>
          <a:p>
            <a:r>
              <a:rPr lang="en-US" sz="2800" dirty="0">
                <a:latin typeface="Times New Roman" pitchFamily="18" charset="0"/>
                <a:cs typeface="Times New Roman" pitchFamily="18" charset="0"/>
              </a:rPr>
              <a:t>These compounds are produced from glucose by members of </a:t>
            </a:r>
            <a:r>
              <a:rPr lang="en-US" sz="2800" dirty="0" err="1">
                <a:latin typeface="Times New Roman" pitchFamily="18" charset="0"/>
                <a:cs typeface="Times New Roman" pitchFamily="18" charset="0"/>
              </a:rPr>
              <a:t>Enterobacteriaceae</a:t>
            </a:r>
            <a:r>
              <a:rPr lang="en-US" sz="2800" dirty="0">
                <a:latin typeface="Times New Roman" pitchFamily="18" charset="0"/>
                <a:cs typeface="Times New Roman" pitchFamily="18" charset="0"/>
              </a:rPr>
              <a:t>  LAB, </a:t>
            </a:r>
            <a:r>
              <a:rPr lang="en-US" sz="2800" i="1" dirty="0" err="1">
                <a:latin typeface="Times New Roman" pitchFamily="18" charset="0"/>
                <a:cs typeface="Times New Roman" pitchFamily="18" charset="0"/>
              </a:rPr>
              <a:t>Brochothrix</a:t>
            </a:r>
            <a:r>
              <a:rPr lang="en-US" sz="2800" i="1" dirty="0">
                <a:latin typeface="Times New Roman" pitchFamily="18" charset="0"/>
                <a:cs typeface="Times New Roman" pitchFamily="18" charset="0"/>
              </a:rPr>
              <a:t> </a:t>
            </a:r>
            <a:r>
              <a:rPr lang="en-US" sz="2800" i="1" dirty="0" err="1">
                <a:latin typeface="Times New Roman" pitchFamily="18" charset="0"/>
                <a:cs typeface="Times New Roman" pitchFamily="18" charset="0"/>
              </a:rPr>
              <a:t>thermosphacta</a:t>
            </a:r>
            <a:endParaRPr lang="en-US" sz="2800" i="1" dirty="0">
              <a:latin typeface="Times New Roman" pitchFamily="18" charset="0"/>
              <a:cs typeface="Times New Roman" pitchFamily="18" charset="0"/>
            </a:endParaRPr>
          </a:p>
          <a:p>
            <a:r>
              <a:rPr lang="en-US" sz="2800" i="1" dirty="0">
                <a:latin typeface="Times New Roman" pitchFamily="18" charset="0"/>
                <a:cs typeface="Times New Roman" pitchFamily="18" charset="0"/>
              </a:rPr>
              <a:t>Pseudomonas </a:t>
            </a:r>
            <a:r>
              <a:rPr lang="en-US" sz="2800" dirty="0">
                <a:latin typeface="Times New Roman" pitchFamily="18" charset="0"/>
                <a:cs typeface="Times New Roman" pitchFamily="18" charset="0"/>
              </a:rPr>
              <a:t>then begin to increase in importance and the meat develops a </a:t>
            </a:r>
            <a:r>
              <a:rPr lang="en-US" sz="2800" b="1" dirty="0">
                <a:latin typeface="Times New Roman" pitchFamily="18" charset="0"/>
                <a:cs typeface="Times New Roman" pitchFamily="18" charset="0"/>
              </a:rPr>
              <a:t>sweet or fruity</a:t>
            </a:r>
            <a:r>
              <a:rPr lang="en-US" sz="2800" dirty="0">
                <a:latin typeface="Times New Roman" pitchFamily="18" charset="0"/>
                <a:cs typeface="Times New Roman" pitchFamily="18" charset="0"/>
              </a:rPr>
              <a:t> odour. </a:t>
            </a:r>
          </a:p>
          <a:p>
            <a:r>
              <a:rPr lang="en-US" sz="2800" dirty="0">
                <a:latin typeface="Times New Roman" pitchFamily="18" charset="0"/>
                <a:cs typeface="Times New Roman" pitchFamily="18" charset="0"/>
              </a:rPr>
              <a:t>This is due to the production of a range of esters by </a:t>
            </a:r>
            <a:r>
              <a:rPr lang="en-US" sz="2800" i="1" dirty="0">
                <a:latin typeface="Times New Roman" pitchFamily="18" charset="0"/>
                <a:cs typeface="Times New Roman" pitchFamily="18" charset="0"/>
              </a:rPr>
              <a:t>Pseudomonas</a:t>
            </a:r>
            <a:r>
              <a:rPr lang="en-US" sz="2800" dirty="0">
                <a:latin typeface="Times New Roman" pitchFamily="18" charset="0"/>
                <a:cs typeface="Times New Roman" pitchFamily="18" charset="0"/>
              </a:rPr>
              <a:t> and </a:t>
            </a:r>
            <a:r>
              <a:rPr lang="en-US" sz="2800" i="1" dirty="0">
                <a:latin typeface="Times New Roman" pitchFamily="18" charset="0"/>
                <a:cs typeface="Times New Roman" pitchFamily="18" charset="0"/>
              </a:rPr>
              <a:t>Moraxella</a:t>
            </a:r>
            <a:r>
              <a:rPr lang="en-US" sz="2800" dirty="0">
                <a:latin typeface="Times New Roman" pitchFamily="18" charset="0"/>
                <a:cs typeface="Times New Roman" pitchFamily="18" charset="0"/>
              </a:rPr>
              <a:t> degrading glucose and amino acids and also by esterification of acid  and alcohols produced during the first phase of spoilage.</a:t>
            </a:r>
          </a:p>
          <a:p>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192980875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85800"/>
          </a:xfrm>
        </p:spPr>
        <p:txBody>
          <a:bodyPr/>
          <a:lstStyle/>
          <a:p>
            <a:pPr algn="ctr"/>
            <a:r>
              <a:rPr lang="en-US" sz="2800" b="1" dirty="0">
                <a:latin typeface="Times New Roman" panose="02020603050405020304" pitchFamily="18" charset="0"/>
                <a:cs typeface="Times New Roman" panose="02020603050405020304" pitchFamily="18" charset="0"/>
              </a:rPr>
              <a:t>Spoilage of meat cont’d</a:t>
            </a:r>
            <a:endParaRPr lang="en-GB"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990600"/>
            <a:ext cx="8229600" cy="5715000"/>
          </a:xfrm>
        </p:spPr>
        <p:txBody>
          <a:bodyPr>
            <a:normAutofit lnSpcReduction="10000"/>
          </a:bodyPr>
          <a:lstStyle/>
          <a:p>
            <a:r>
              <a:rPr lang="en-US" sz="2800" dirty="0">
                <a:latin typeface="Times New Roman" pitchFamily="18" charset="0"/>
                <a:cs typeface="Times New Roman" pitchFamily="18" charset="0"/>
              </a:rPr>
              <a:t>Ester production is particularly associated with </a:t>
            </a:r>
            <a:r>
              <a:rPr lang="en-US" sz="2800" i="1" dirty="0">
                <a:latin typeface="Times New Roman" pitchFamily="18" charset="0"/>
                <a:cs typeface="Times New Roman" pitchFamily="18" charset="0"/>
              </a:rPr>
              <a:t>P. </a:t>
            </a:r>
            <a:r>
              <a:rPr lang="en-US" sz="2800" i="1" dirty="0" err="1">
                <a:latin typeface="Times New Roman" pitchFamily="18" charset="0"/>
                <a:cs typeface="Times New Roman" pitchFamily="18" charset="0"/>
              </a:rPr>
              <a:t>fragi</a:t>
            </a:r>
            <a:r>
              <a:rPr lang="en-US" sz="2800" i="1" dirty="0">
                <a:latin typeface="Times New Roman" pitchFamily="18" charset="0"/>
                <a:cs typeface="Times New Roman" pitchFamily="18" charset="0"/>
              </a:rPr>
              <a:t> </a:t>
            </a:r>
            <a:r>
              <a:rPr lang="en-US" sz="2800" dirty="0">
                <a:latin typeface="Times New Roman" pitchFamily="18" charset="0"/>
                <a:cs typeface="Times New Roman" pitchFamily="18" charset="0"/>
              </a:rPr>
              <a:t>which can produce ethyl esters of acetic, </a:t>
            </a:r>
            <a:r>
              <a:rPr lang="en-US" sz="2800" dirty="0" err="1">
                <a:latin typeface="Times New Roman" pitchFamily="18" charset="0"/>
                <a:cs typeface="Times New Roman" pitchFamily="18" charset="0"/>
              </a:rPr>
              <a:t>butanoic</a:t>
            </a:r>
            <a:r>
              <a:rPr lang="en-US" sz="2800" dirty="0">
                <a:latin typeface="Times New Roman" pitchFamily="18" charset="0"/>
                <a:cs typeface="Times New Roman" pitchFamily="18" charset="0"/>
              </a:rPr>
              <a:t> and </a:t>
            </a:r>
            <a:r>
              <a:rPr lang="en-US" sz="2800" dirty="0" err="1">
                <a:latin typeface="Times New Roman" pitchFamily="18" charset="0"/>
                <a:cs typeface="Times New Roman" pitchFamily="18" charset="0"/>
              </a:rPr>
              <a:t>hexanoic</a:t>
            </a:r>
            <a:r>
              <a:rPr lang="en-US" sz="2800" dirty="0">
                <a:latin typeface="Times New Roman" pitchFamily="18" charset="0"/>
                <a:cs typeface="Times New Roman" pitchFamily="18" charset="0"/>
              </a:rPr>
              <a:t> acids from glucose.</a:t>
            </a:r>
          </a:p>
          <a:p>
            <a:pPr marL="0" indent="0">
              <a:buNone/>
            </a:pPr>
            <a:r>
              <a:rPr lang="en-US" sz="2800" dirty="0">
                <a:latin typeface="Times New Roman" pitchFamily="18" charset="0"/>
                <a:cs typeface="Times New Roman" pitchFamily="18" charset="0"/>
              </a:rPr>
              <a:t> </a:t>
            </a:r>
          </a:p>
          <a:p>
            <a:r>
              <a:rPr lang="en-US" sz="2800" dirty="0">
                <a:latin typeface="Times New Roman" pitchFamily="18" charset="0"/>
                <a:cs typeface="Times New Roman" pitchFamily="18" charset="0"/>
              </a:rPr>
              <a:t>Other </a:t>
            </a:r>
            <a:r>
              <a:rPr lang="en-US" sz="2800" i="1" dirty="0">
                <a:latin typeface="Times New Roman" pitchFamily="18" charset="0"/>
                <a:cs typeface="Times New Roman" pitchFamily="18" charset="0"/>
              </a:rPr>
              <a:t>Pseudomonas</a:t>
            </a:r>
            <a:r>
              <a:rPr lang="en-US" sz="2800" dirty="0">
                <a:latin typeface="Times New Roman" pitchFamily="18" charset="0"/>
                <a:cs typeface="Times New Roman" pitchFamily="18" charset="0"/>
              </a:rPr>
              <a:t> are capable of producing esters from minced beef.</a:t>
            </a:r>
          </a:p>
          <a:p>
            <a:endParaRPr lang="en-US" sz="2800" dirty="0">
              <a:latin typeface="Times New Roman" pitchFamily="18" charset="0"/>
              <a:cs typeface="Times New Roman" pitchFamily="18" charset="0"/>
            </a:endParaRPr>
          </a:p>
          <a:p>
            <a:r>
              <a:rPr lang="en-US" sz="2800" dirty="0">
                <a:latin typeface="Times New Roman" pitchFamily="18" charset="0"/>
                <a:cs typeface="Times New Roman" pitchFamily="18" charset="0"/>
              </a:rPr>
              <a:t>As the glucose becomes exhausted, the meat develops a </a:t>
            </a:r>
            <a:r>
              <a:rPr lang="en-US" sz="2800" b="1" i="1" dirty="0">
                <a:latin typeface="Times New Roman" pitchFamily="18" charset="0"/>
                <a:cs typeface="Times New Roman" pitchFamily="18" charset="0"/>
              </a:rPr>
              <a:t>putrid odour</a:t>
            </a:r>
            <a:r>
              <a:rPr lang="en-US" sz="2800" dirty="0">
                <a:latin typeface="Times New Roman" pitchFamily="18" charset="0"/>
                <a:cs typeface="Times New Roman" pitchFamily="18" charset="0"/>
              </a:rPr>
              <a:t> when </a:t>
            </a:r>
            <a:r>
              <a:rPr lang="en-US" sz="2800" i="1" dirty="0">
                <a:latin typeface="Times New Roman" pitchFamily="18" charset="0"/>
                <a:cs typeface="Times New Roman" pitchFamily="18" charset="0"/>
              </a:rPr>
              <a:t> Pseudomonas </a:t>
            </a:r>
            <a:r>
              <a:rPr lang="en-US" sz="2800" dirty="0">
                <a:latin typeface="Times New Roman" pitchFamily="18" charset="0"/>
                <a:cs typeface="Times New Roman" pitchFamily="18" charset="0"/>
              </a:rPr>
              <a:t>species, some </a:t>
            </a:r>
            <a:r>
              <a:rPr lang="en-US" sz="2800" i="1" dirty="0">
                <a:latin typeface="Times New Roman" pitchFamily="18" charset="0"/>
                <a:cs typeface="Times New Roman" pitchFamily="18" charset="0"/>
              </a:rPr>
              <a:t>Acinetobacter</a:t>
            </a:r>
            <a:r>
              <a:rPr lang="en-US" sz="2800" dirty="0">
                <a:latin typeface="Times New Roman" pitchFamily="18" charset="0"/>
                <a:cs typeface="Times New Roman" pitchFamily="18" charset="0"/>
              </a:rPr>
              <a:t> and </a:t>
            </a:r>
            <a:r>
              <a:rPr lang="en-US" sz="2800" i="1" dirty="0">
                <a:latin typeface="Times New Roman" pitchFamily="18" charset="0"/>
                <a:cs typeface="Times New Roman" pitchFamily="18" charset="0"/>
              </a:rPr>
              <a:t>Moraxella</a:t>
            </a:r>
            <a:r>
              <a:rPr lang="en-US" sz="2800" dirty="0">
                <a:latin typeface="Times New Roman" pitchFamily="18" charset="0"/>
                <a:cs typeface="Times New Roman" pitchFamily="18" charset="0"/>
              </a:rPr>
              <a:t>  species turn their entire attention to the amino acid pool producing volatile sulphur compounds such as methane thiol, dimethyl </a:t>
            </a:r>
            <a:r>
              <a:rPr lang="en-US" sz="2800" dirty="0" err="1">
                <a:latin typeface="Times New Roman" pitchFamily="18" charset="0"/>
                <a:cs typeface="Times New Roman" pitchFamily="18" charset="0"/>
              </a:rPr>
              <a:t>sulphide</a:t>
            </a:r>
            <a:r>
              <a:rPr lang="en-US" sz="2800" dirty="0">
                <a:latin typeface="Times New Roman" pitchFamily="18" charset="0"/>
                <a:cs typeface="Times New Roman" pitchFamily="18" charset="0"/>
              </a:rPr>
              <a:t> and dimethyl disulphide. </a:t>
            </a:r>
          </a:p>
          <a:p>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107475355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8229600" cy="609600"/>
          </a:xfrm>
        </p:spPr>
        <p:txBody>
          <a:bodyPr/>
          <a:lstStyle/>
          <a:p>
            <a:pPr algn="ctr"/>
            <a:r>
              <a:rPr lang="en-US" sz="2800" b="1" dirty="0">
                <a:latin typeface="Times New Roman" panose="02020603050405020304" pitchFamily="18" charset="0"/>
                <a:cs typeface="Times New Roman" panose="02020603050405020304" pitchFamily="18" charset="0"/>
              </a:rPr>
              <a:t>Spoilage of meat cont’d</a:t>
            </a:r>
            <a:endParaRPr lang="en-GB"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914400"/>
            <a:ext cx="8229600" cy="5791200"/>
          </a:xfrm>
        </p:spPr>
        <p:txBody>
          <a:bodyPr>
            <a:normAutofit/>
          </a:bodyPr>
          <a:lstStyle/>
          <a:p>
            <a:r>
              <a:rPr lang="en-US" sz="3300" dirty="0">
                <a:latin typeface="Times New Roman" pitchFamily="18" charset="0"/>
                <a:cs typeface="Times New Roman" pitchFamily="18" charset="0"/>
              </a:rPr>
              <a:t>At the latter stages of spoilage, an increase in the meat pH is seen, as NH</a:t>
            </a:r>
            <a:r>
              <a:rPr lang="en-US" sz="3300" baseline="-25000" dirty="0">
                <a:latin typeface="Times New Roman" pitchFamily="18" charset="0"/>
                <a:cs typeface="Times New Roman" pitchFamily="18" charset="0"/>
              </a:rPr>
              <a:t>3</a:t>
            </a:r>
            <a:r>
              <a:rPr lang="en-US" sz="3300" dirty="0">
                <a:solidFill>
                  <a:srgbClr val="FF0000"/>
                </a:solidFill>
                <a:latin typeface="Times New Roman" pitchFamily="18" charset="0"/>
                <a:cs typeface="Times New Roman" pitchFamily="18" charset="0"/>
              </a:rPr>
              <a:t> </a:t>
            </a:r>
            <a:r>
              <a:rPr lang="en-US" sz="3300" dirty="0">
                <a:latin typeface="Times New Roman" pitchFamily="18" charset="0"/>
                <a:cs typeface="Times New Roman" pitchFamily="18" charset="0"/>
              </a:rPr>
              <a:t>and a number of amines are produced</a:t>
            </a:r>
            <a:r>
              <a:rPr lang="en-US" sz="3300" dirty="0" smtClean="0">
                <a:latin typeface="Times New Roman" pitchFamily="18" charset="0"/>
                <a:cs typeface="Times New Roman" pitchFamily="18" charset="0"/>
              </a:rPr>
              <a:t>.</a:t>
            </a:r>
          </a:p>
          <a:p>
            <a:pPr marL="0" indent="0">
              <a:buNone/>
            </a:pPr>
            <a:endParaRPr lang="en-US" sz="3300" dirty="0">
              <a:latin typeface="Times New Roman" pitchFamily="18" charset="0"/>
              <a:cs typeface="Times New Roman" pitchFamily="18" charset="0"/>
            </a:endParaRPr>
          </a:p>
          <a:p>
            <a:r>
              <a:rPr lang="en-US" sz="3300" dirty="0">
                <a:latin typeface="Times New Roman" pitchFamily="18" charset="0"/>
                <a:cs typeface="Times New Roman" pitchFamily="18" charset="0"/>
              </a:rPr>
              <a:t>When the microbial numbers reach certain levels(10</a:t>
            </a:r>
            <a:r>
              <a:rPr lang="en-US" sz="3300" baseline="30000" dirty="0">
                <a:latin typeface="Times New Roman" pitchFamily="18" charset="0"/>
                <a:cs typeface="Times New Roman" pitchFamily="18" charset="0"/>
              </a:rPr>
              <a:t>8 </a:t>
            </a:r>
            <a:r>
              <a:rPr lang="en-US" sz="3300" dirty="0">
                <a:latin typeface="Times New Roman" pitchFamily="18" charset="0"/>
                <a:cs typeface="Times New Roman" pitchFamily="18" charset="0"/>
              </a:rPr>
              <a:t>cfucm</a:t>
            </a:r>
            <a:r>
              <a:rPr lang="en-US" sz="3300" baseline="30000" dirty="0">
                <a:latin typeface="Times New Roman" pitchFamily="18" charset="0"/>
                <a:cs typeface="Times New Roman" pitchFamily="18" charset="0"/>
              </a:rPr>
              <a:t>-2</a:t>
            </a:r>
            <a:r>
              <a:rPr lang="en-US" sz="3300" dirty="0">
                <a:latin typeface="Times New Roman" pitchFamily="18" charset="0"/>
                <a:cs typeface="Times New Roman" pitchFamily="18" charset="0"/>
              </a:rPr>
              <a:t>) a</a:t>
            </a:r>
            <a:r>
              <a:rPr lang="en-US" sz="3300" dirty="0">
                <a:solidFill>
                  <a:srgbClr val="C00000"/>
                </a:solidFill>
                <a:latin typeface="Times New Roman" pitchFamily="18" charset="0"/>
                <a:cs typeface="Times New Roman" pitchFamily="18" charset="0"/>
              </a:rPr>
              <a:t> </a:t>
            </a:r>
            <a:r>
              <a:rPr lang="en-US" sz="3300" dirty="0">
                <a:latin typeface="Times New Roman" pitchFamily="18" charset="0"/>
                <a:cs typeface="Times New Roman" pitchFamily="18" charset="0"/>
              </a:rPr>
              <a:t>further indication of spoilage become apparent in the form of a visible surface slime on the meat.</a:t>
            </a:r>
          </a:p>
          <a:p>
            <a:r>
              <a:rPr lang="en-GB" dirty="0" smtClean="0">
                <a:latin typeface="Times New Roman" pitchFamily="18" charset="0"/>
                <a:cs typeface="Times New Roman" pitchFamily="18" charset="0"/>
              </a:rPr>
              <a:t>Pseudomonas, Moraxella, Bacillus, Yeast, </a:t>
            </a:r>
            <a:r>
              <a:rPr lang="en-GB" dirty="0" err="1" smtClean="0">
                <a:latin typeface="Times New Roman" pitchFamily="18" charset="0"/>
                <a:cs typeface="Times New Roman" pitchFamily="18" charset="0"/>
              </a:rPr>
              <a:t>etc</a:t>
            </a:r>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99500445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r>
              <a:rPr lang="en-US" sz="2800" dirty="0">
                <a:latin typeface="Times New Roman" pitchFamily="18" charset="0"/>
                <a:cs typeface="Times New Roman" pitchFamily="18" charset="0"/>
              </a:rPr>
              <a:t>Vacuum modified atmosphere packing of meat changes the meat </a:t>
            </a:r>
            <a:r>
              <a:rPr lang="en-US" sz="2800" dirty="0" err="1">
                <a:latin typeface="Times New Roman" pitchFamily="18" charset="0"/>
                <a:cs typeface="Times New Roman" pitchFamily="18" charset="0"/>
              </a:rPr>
              <a:t>microflora</a:t>
            </a:r>
            <a:r>
              <a:rPr lang="en-US" sz="2800" dirty="0">
                <a:latin typeface="Times New Roman" pitchFamily="18" charset="0"/>
                <a:cs typeface="Times New Roman" pitchFamily="18" charset="0"/>
              </a:rPr>
              <a:t> and consequently the time course and character of spoilage</a:t>
            </a:r>
          </a:p>
          <a:p>
            <a:r>
              <a:rPr lang="en-US" sz="2800" dirty="0">
                <a:latin typeface="Times New Roman" pitchFamily="18" charset="0"/>
                <a:cs typeface="Times New Roman" pitchFamily="18" charset="0"/>
              </a:rPr>
              <a:t>In vacuum packs, the accumulation of CO</a:t>
            </a:r>
            <a:r>
              <a:rPr lang="en-US" sz="2800" baseline="-25000" dirty="0">
                <a:latin typeface="Times New Roman" pitchFamily="18" charset="0"/>
                <a:cs typeface="Times New Roman" pitchFamily="18" charset="0"/>
              </a:rPr>
              <a:t>2</a:t>
            </a:r>
            <a:r>
              <a:rPr lang="en-US" sz="2800" dirty="0">
                <a:latin typeface="Times New Roman" pitchFamily="18" charset="0"/>
                <a:cs typeface="Times New Roman" pitchFamily="18" charset="0"/>
              </a:rPr>
              <a:t> and the absence of O</a:t>
            </a:r>
            <a:r>
              <a:rPr lang="en-US" sz="2800" baseline="-25000" dirty="0">
                <a:latin typeface="Times New Roman" pitchFamily="18" charset="0"/>
                <a:cs typeface="Times New Roman" pitchFamily="18" charset="0"/>
              </a:rPr>
              <a:t>2</a:t>
            </a:r>
            <a:r>
              <a:rPr lang="en-US" sz="2800" dirty="0">
                <a:latin typeface="Times New Roman" pitchFamily="18" charset="0"/>
                <a:cs typeface="Times New Roman" pitchFamily="18" charset="0"/>
              </a:rPr>
              <a:t> restrict the growth of </a:t>
            </a:r>
            <a:r>
              <a:rPr lang="en-US" sz="2800" i="1" dirty="0">
                <a:latin typeface="Times New Roman" pitchFamily="18" charset="0"/>
                <a:cs typeface="Times New Roman" pitchFamily="18" charset="0"/>
              </a:rPr>
              <a:t>Pseudomonas</a:t>
            </a:r>
            <a:r>
              <a:rPr lang="en-US" sz="2800" dirty="0">
                <a:latin typeface="Times New Roman" pitchFamily="18" charset="0"/>
                <a:cs typeface="Times New Roman" pitchFamily="18" charset="0"/>
              </a:rPr>
              <a:t> giving rise to a </a:t>
            </a:r>
            <a:r>
              <a:rPr lang="en-US" sz="2800" dirty="0" err="1">
                <a:latin typeface="Times New Roman" pitchFamily="18" charset="0"/>
                <a:cs typeface="Times New Roman" pitchFamily="18" charset="0"/>
              </a:rPr>
              <a:t>microflora</a:t>
            </a:r>
            <a:r>
              <a:rPr lang="en-US" sz="2800" dirty="0">
                <a:latin typeface="Times New Roman" pitchFamily="18" charset="0"/>
                <a:cs typeface="Times New Roman" pitchFamily="18" charset="0"/>
              </a:rPr>
              <a:t> dominated by Gram positive, particularly LAB e.g. </a:t>
            </a:r>
            <a:r>
              <a:rPr lang="en-US" sz="2800" i="1" dirty="0" err="1">
                <a:latin typeface="Times New Roman" pitchFamily="18" charset="0"/>
                <a:cs typeface="Times New Roman" pitchFamily="18" charset="0"/>
              </a:rPr>
              <a:t>Leuconostoc</a:t>
            </a:r>
            <a:r>
              <a:rPr lang="en-US" sz="2800" dirty="0">
                <a:latin typeface="Times New Roman" pitchFamily="18" charset="0"/>
                <a:cs typeface="Times New Roman" pitchFamily="18" charset="0"/>
              </a:rPr>
              <a:t>, </a:t>
            </a:r>
            <a:r>
              <a:rPr lang="en-US" sz="2800" i="1" dirty="0">
                <a:latin typeface="Times New Roman" pitchFamily="18" charset="0"/>
                <a:cs typeface="Times New Roman" pitchFamily="18" charset="0"/>
              </a:rPr>
              <a:t>Lactobacillus, </a:t>
            </a:r>
            <a:r>
              <a:rPr lang="en-US" sz="2800" i="1" dirty="0" err="1">
                <a:latin typeface="Times New Roman" pitchFamily="18" charset="0"/>
                <a:cs typeface="Times New Roman" pitchFamily="18" charset="0"/>
              </a:rPr>
              <a:t>Carnobacterium</a:t>
            </a:r>
            <a:endParaRPr lang="en-US" sz="2800" i="1" dirty="0">
              <a:latin typeface="Times New Roman" pitchFamily="18" charset="0"/>
              <a:cs typeface="Times New Roman" pitchFamily="18" charset="0"/>
            </a:endParaRPr>
          </a:p>
          <a:p>
            <a:endParaRPr lang="en-GB" dirty="0"/>
          </a:p>
        </p:txBody>
      </p:sp>
    </p:spTree>
    <p:extLst>
      <p:ext uri="{BB962C8B-B14F-4D97-AF65-F5344CB8AC3E}">
        <p14:creationId xmlns:p14="http://schemas.microsoft.com/office/powerpoint/2010/main" val="56883375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8229600" cy="685800"/>
          </a:xfrm>
        </p:spPr>
        <p:txBody>
          <a:bodyPr/>
          <a:lstStyle/>
          <a:p>
            <a:pPr algn="ctr"/>
            <a:r>
              <a:rPr lang="en-US" sz="2800" b="1" dirty="0">
                <a:latin typeface="Times New Roman" panose="02020603050405020304" pitchFamily="18" charset="0"/>
                <a:cs typeface="Times New Roman" panose="02020603050405020304" pitchFamily="18" charset="0"/>
              </a:rPr>
              <a:t>Spoilage of meat cont’d</a:t>
            </a:r>
            <a:endParaRPr lang="en-GB"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33400" y="1066800"/>
            <a:ext cx="8229600" cy="5638800"/>
          </a:xfrm>
        </p:spPr>
        <p:txBody>
          <a:bodyPr>
            <a:normAutofit/>
          </a:bodyPr>
          <a:lstStyle/>
          <a:p>
            <a:r>
              <a:rPr lang="en-US" sz="2800" dirty="0">
                <a:latin typeface="Times New Roman" pitchFamily="18" charset="0"/>
                <a:cs typeface="Times New Roman" pitchFamily="18" charset="0"/>
              </a:rPr>
              <a:t>Spoilage is characterized by the development of sour acid </a:t>
            </a:r>
            <a:r>
              <a:rPr lang="en-US" sz="2800" dirty="0" err="1">
                <a:latin typeface="Times New Roman" pitchFamily="18" charset="0"/>
                <a:cs typeface="Times New Roman" pitchFamily="18" charset="0"/>
              </a:rPr>
              <a:t>odours</a:t>
            </a:r>
            <a:r>
              <a:rPr lang="en-US" sz="2800" dirty="0">
                <a:latin typeface="Times New Roman" pitchFamily="18" charset="0"/>
                <a:cs typeface="Times New Roman" pitchFamily="18" charset="0"/>
              </a:rPr>
              <a:t> which are far less objectionable than the odour associated with aerobically stored meat. It has a better keeping quality</a:t>
            </a:r>
            <a:r>
              <a:rPr lang="en-US" sz="2800" dirty="0" smtClean="0">
                <a:latin typeface="Times New Roman" pitchFamily="18" charset="0"/>
                <a:cs typeface="Times New Roman" pitchFamily="18" charset="0"/>
              </a:rPr>
              <a:t>. </a:t>
            </a:r>
            <a:endParaRPr lang="en-US" sz="2800" dirty="0">
              <a:latin typeface="Times New Roman" pitchFamily="18" charset="0"/>
              <a:cs typeface="Times New Roman" pitchFamily="18" charset="0"/>
            </a:endParaRPr>
          </a:p>
          <a:p>
            <a:pPr marL="0" indent="0">
              <a:buNone/>
            </a:pPr>
            <a:r>
              <a:rPr lang="en-US" sz="2800" dirty="0">
                <a:latin typeface="Times New Roman" pitchFamily="18" charset="0"/>
                <a:cs typeface="Times New Roman" pitchFamily="18" charset="0"/>
              </a:rPr>
              <a:t> </a:t>
            </a:r>
          </a:p>
          <a:p>
            <a:r>
              <a:rPr lang="en-US" sz="2800" dirty="0">
                <a:latin typeface="Times New Roman" pitchFamily="18" charset="0"/>
                <a:cs typeface="Times New Roman" pitchFamily="18" charset="0"/>
              </a:rPr>
              <a:t>Organic acids may contribute to the odour and it has been suggested that methane thiol and dimethyl </a:t>
            </a:r>
            <a:r>
              <a:rPr lang="en-US" sz="2800" dirty="0" err="1">
                <a:latin typeface="Times New Roman" pitchFamily="18" charset="0"/>
                <a:cs typeface="Times New Roman" pitchFamily="18" charset="0"/>
              </a:rPr>
              <a:t>sulphide</a:t>
            </a:r>
            <a:r>
              <a:rPr lang="en-US" sz="2800" dirty="0">
                <a:latin typeface="Times New Roman" pitchFamily="18" charset="0"/>
                <a:cs typeface="Times New Roman" pitchFamily="18" charset="0"/>
              </a:rPr>
              <a:t>  may contribute to that sour odour.</a:t>
            </a:r>
          </a:p>
          <a:p>
            <a:endParaRPr lang="en-US" sz="2800" dirty="0">
              <a:latin typeface="Times New Roman" pitchFamily="18" charset="0"/>
              <a:cs typeface="Times New Roman" pitchFamily="18" charset="0"/>
            </a:endParaRPr>
          </a:p>
          <a:p>
            <a:r>
              <a:rPr lang="en-US" sz="2800" dirty="0">
                <a:latin typeface="Times New Roman" pitchFamily="18" charset="0"/>
                <a:cs typeface="Times New Roman" pitchFamily="18" charset="0"/>
              </a:rPr>
              <a:t>However at pH&gt;6, the extension of shelf life produced by vacuum packing is not seen. </a:t>
            </a:r>
          </a:p>
          <a:p>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62774854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685800"/>
          </a:xfrm>
        </p:spPr>
        <p:txBody>
          <a:bodyPr>
            <a:normAutofit/>
          </a:bodyPr>
          <a:lstStyle/>
          <a:p>
            <a:pPr algn="ctr"/>
            <a:r>
              <a:rPr lang="en-US" sz="2800" b="1" dirty="0">
                <a:latin typeface="Times New Roman" panose="02020603050405020304" pitchFamily="18" charset="0"/>
                <a:cs typeface="Times New Roman" panose="02020603050405020304" pitchFamily="18" charset="0"/>
              </a:rPr>
              <a:t>Spoilage of meat cont’d</a:t>
            </a:r>
            <a:endParaRPr lang="en-US" sz="2800" dirty="0"/>
          </a:p>
        </p:txBody>
      </p:sp>
      <p:sp>
        <p:nvSpPr>
          <p:cNvPr id="3" name="Content Placeholder 2"/>
          <p:cNvSpPr>
            <a:spLocks noGrp="1"/>
          </p:cNvSpPr>
          <p:nvPr>
            <p:ph idx="1"/>
          </p:nvPr>
        </p:nvSpPr>
        <p:spPr>
          <a:xfrm>
            <a:off x="457200" y="1143000"/>
            <a:ext cx="8229600" cy="5562600"/>
          </a:xfrm>
        </p:spPr>
        <p:txBody>
          <a:bodyPr/>
          <a:lstStyle/>
          <a:p>
            <a:r>
              <a:rPr lang="en-US" sz="2800" dirty="0">
                <a:latin typeface="Times New Roman" pitchFamily="18" charset="0"/>
                <a:cs typeface="Times New Roman" pitchFamily="18" charset="0"/>
              </a:rPr>
              <a:t>In this situation, </a:t>
            </a:r>
            <a:r>
              <a:rPr lang="en-US" sz="2800" i="1" dirty="0" err="1">
                <a:latin typeface="Times New Roman" pitchFamily="18" charset="0"/>
                <a:cs typeface="Times New Roman" pitchFamily="18" charset="0"/>
              </a:rPr>
              <a:t>Shewanella</a:t>
            </a:r>
            <a:r>
              <a:rPr lang="en-US" sz="2800" i="1" dirty="0">
                <a:latin typeface="Times New Roman" pitchFamily="18" charset="0"/>
                <a:cs typeface="Times New Roman" pitchFamily="18" charset="0"/>
              </a:rPr>
              <a:t> </a:t>
            </a:r>
            <a:r>
              <a:rPr lang="en-US" sz="2800" i="1" dirty="0" err="1">
                <a:latin typeface="Times New Roman" pitchFamily="18" charset="0"/>
                <a:cs typeface="Times New Roman" pitchFamily="18" charset="0"/>
              </a:rPr>
              <a:t>putrefaciens</a:t>
            </a:r>
            <a:r>
              <a:rPr lang="en-US" sz="2800" i="1" dirty="0">
                <a:latin typeface="Times New Roman" pitchFamily="18" charset="0"/>
                <a:cs typeface="Times New Roman" pitchFamily="18" charset="0"/>
              </a:rPr>
              <a:t> </a:t>
            </a:r>
            <a:r>
              <a:rPr lang="en-US" sz="2800" dirty="0">
                <a:latin typeface="Times New Roman" pitchFamily="18" charset="0"/>
                <a:cs typeface="Times New Roman" pitchFamily="18" charset="0"/>
              </a:rPr>
              <a:t>which cannot grow in neutral meat pH and </a:t>
            </a:r>
            <a:r>
              <a:rPr lang="en-US" sz="2800" dirty="0" err="1">
                <a:latin typeface="Times New Roman" pitchFamily="18" charset="0"/>
                <a:cs typeface="Times New Roman" pitchFamily="18" charset="0"/>
              </a:rPr>
              <a:t>psychrotrophic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Enterobacteriaceae</a:t>
            </a:r>
            <a:r>
              <a:rPr lang="en-US" sz="2800" dirty="0">
                <a:latin typeface="Times New Roman" pitchFamily="18" charset="0"/>
                <a:cs typeface="Times New Roman" pitchFamily="18" charset="0"/>
              </a:rPr>
              <a:t> can grow and these produce high levels of H</a:t>
            </a:r>
            <a:r>
              <a:rPr lang="en-US" sz="2800" baseline="-25000" dirty="0">
                <a:latin typeface="Times New Roman" pitchFamily="18" charset="0"/>
                <a:cs typeface="Times New Roman" pitchFamily="18" charset="0"/>
              </a:rPr>
              <a:t>2</a:t>
            </a:r>
            <a:r>
              <a:rPr lang="en-US" sz="2800" dirty="0">
                <a:latin typeface="Times New Roman" pitchFamily="18" charset="0"/>
                <a:cs typeface="Times New Roman" pitchFamily="18" charset="0"/>
              </a:rPr>
              <a:t>S giving the meat an objectionable odour.</a:t>
            </a:r>
          </a:p>
          <a:p>
            <a:endParaRPr lang="en-GB" sz="2800" dirty="0">
              <a:latin typeface="Times New Roman" pitchFamily="18" charset="0"/>
              <a:cs typeface="Times New Roman" pitchFamily="18" charset="0"/>
            </a:endParaRPr>
          </a:p>
          <a:p>
            <a:r>
              <a:rPr lang="en-GB" sz="2800" dirty="0">
                <a:latin typeface="Times New Roman" pitchFamily="18" charset="0"/>
                <a:cs typeface="Times New Roman" pitchFamily="18" charset="0"/>
              </a:rPr>
              <a:t>Upon long storage at refrigerator temperature, microbial spoilage begins.</a:t>
            </a:r>
          </a:p>
          <a:p>
            <a:endParaRPr lang="en-GB" sz="2800" dirty="0">
              <a:latin typeface="Times New Roman" pitchFamily="18" charset="0"/>
              <a:cs typeface="Times New Roman" pitchFamily="18" charset="0"/>
            </a:endParaRPr>
          </a:p>
          <a:p>
            <a:r>
              <a:rPr lang="en-GB" sz="2800" dirty="0">
                <a:latin typeface="Times New Roman" pitchFamily="18" charset="0"/>
                <a:cs typeface="Times New Roman" pitchFamily="18" charset="0"/>
              </a:rPr>
              <a:t>Among these are </a:t>
            </a:r>
            <a:r>
              <a:rPr lang="en-GB" sz="2800" b="1" i="1" dirty="0">
                <a:latin typeface="Times New Roman" pitchFamily="18" charset="0"/>
                <a:cs typeface="Times New Roman" pitchFamily="18" charset="0"/>
              </a:rPr>
              <a:t>Clostridium </a:t>
            </a:r>
            <a:r>
              <a:rPr lang="en-GB" sz="2800" b="1" i="1" dirty="0" err="1">
                <a:latin typeface="Times New Roman" pitchFamily="18" charset="0"/>
                <a:cs typeface="Times New Roman" pitchFamily="18" charset="0"/>
              </a:rPr>
              <a:t>perfringes</a:t>
            </a:r>
            <a:r>
              <a:rPr lang="en-GB" sz="2800" b="1" i="1" dirty="0">
                <a:latin typeface="Times New Roman" pitchFamily="18" charset="0"/>
                <a:cs typeface="Times New Roman" pitchFamily="18" charset="0"/>
              </a:rPr>
              <a:t> </a:t>
            </a:r>
            <a:r>
              <a:rPr lang="en-GB" sz="2800" dirty="0">
                <a:latin typeface="Times New Roman" pitchFamily="18" charset="0"/>
                <a:cs typeface="Times New Roman" pitchFamily="18" charset="0"/>
              </a:rPr>
              <a:t>and some genera in </a:t>
            </a:r>
            <a:r>
              <a:rPr lang="en-GB" sz="2800" b="1" dirty="0" err="1">
                <a:latin typeface="Times New Roman" pitchFamily="18" charset="0"/>
                <a:cs typeface="Times New Roman" pitchFamily="18" charset="0"/>
              </a:rPr>
              <a:t>Enterobacteriaceace</a:t>
            </a:r>
            <a:r>
              <a:rPr lang="en-GB" sz="2800" b="1" dirty="0">
                <a:latin typeface="Times New Roman" pitchFamily="18" charset="0"/>
                <a:cs typeface="Times New Roman" pitchFamily="18" charset="0"/>
              </a:rPr>
              <a:t> </a:t>
            </a:r>
            <a:r>
              <a:rPr lang="en-GB" sz="2800" dirty="0">
                <a:latin typeface="Times New Roman" pitchFamily="18" charset="0"/>
                <a:cs typeface="Times New Roman" pitchFamily="18" charset="0"/>
              </a:rPr>
              <a:t>family.</a:t>
            </a:r>
            <a:endParaRPr lang="en-US" sz="2800" dirty="0">
              <a:latin typeface="Times New Roman" pitchFamily="18" charset="0"/>
              <a:cs typeface="Times New Roman" pitchFamily="18" charset="0"/>
            </a:endParaRPr>
          </a:p>
          <a:p>
            <a:endParaRPr lang="en-US"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62000"/>
          </a:xfrm>
        </p:spPr>
        <p:txBody>
          <a:bodyPr>
            <a:normAutofit/>
          </a:bodyPr>
          <a:lstStyle/>
          <a:p>
            <a:pPr algn="ctr"/>
            <a:r>
              <a:rPr lang="en-GB" sz="2800" dirty="0">
                <a:latin typeface="Times New Roman" pitchFamily="18" charset="0"/>
                <a:cs typeface="Times New Roman" pitchFamily="18" charset="0"/>
              </a:rPr>
              <a:t>FRESH FOODS...(Meat) </a:t>
            </a:r>
            <a:r>
              <a:rPr lang="en-GB" sz="2800" i="1" dirty="0">
                <a:latin typeface="Times New Roman" pitchFamily="18" charset="0"/>
                <a:cs typeface="Times New Roman" pitchFamily="18" charset="0"/>
              </a:rPr>
              <a:t>contd.</a:t>
            </a: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066800"/>
            <a:ext cx="8229600" cy="5638800"/>
          </a:xfrm>
        </p:spPr>
        <p:txBody>
          <a:bodyPr>
            <a:normAutofit fontScale="77500" lnSpcReduction="20000"/>
          </a:bodyPr>
          <a:lstStyle/>
          <a:p>
            <a:r>
              <a:rPr lang="en-GB" sz="3300" b="1" i="1" dirty="0">
                <a:latin typeface="Times New Roman" pitchFamily="18" charset="0"/>
                <a:cs typeface="Times New Roman" pitchFamily="18" charset="0"/>
              </a:rPr>
              <a:t>Mucor</a:t>
            </a:r>
            <a:r>
              <a:rPr lang="en-GB" sz="3300" dirty="0">
                <a:latin typeface="Times New Roman" pitchFamily="18" charset="0"/>
                <a:cs typeface="Times New Roman" pitchFamily="18" charset="0"/>
              </a:rPr>
              <a:t> and </a:t>
            </a:r>
            <a:r>
              <a:rPr lang="en-GB" sz="3300" b="1" i="1" dirty="0" err="1">
                <a:latin typeface="Times New Roman" pitchFamily="18" charset="0"/>
                <a:cs typeface="Times New Roman" pitchFamily="18" charset="0"/>
              </a:rPr>
              <a:t>Rhizopus</a:t>
            </a:r>
            <a:r>
              <a:rPr lang="en-GB" sz="3300" dirty="0">
                <a:latin typeface="Times New Roman" pitchFamily="18" charset="0"/>
                <a:cs typeface="Times New Roman" pitchFamily="18" charset="0"/>
              </a:rPr>
              <a:t> and also </a:t>
            </a:r>
            <a:r>
              <a:rPr lang="en-GB" sz="3300" i="1" dirty="0" err="1">
                <a:latin typeface="Times New Roman" pitchFamily="18" charset="0"/>
                <a:cs typeface="Times New Roman" pitchFamily="18" charset="0"/>
              </a:rPr>
              <a:t>Cladosporium</a:t>
            </a:r>
            <a:r>
              <a:rPr lang="en-GB" sz="3300" dirty="0">
                <a:latin typeface="Times New Roman" pitchFamily="18" charset="0"/>
                <a:cs typeface="Times New Roman" pitchFamily="18" charset="0"/>
              </a:rPr>
              <a:t> are fungi associated with spoilage of fresh meat especially whole beef.</a:t>
            </a:r>
          </a:p>
          <a:p>
            <a:endParaRPr lang="en-GB" sz="3300" dirty="0">
              <a:latin typeface="Times New Roman" pitchFamily="18" charset="0"/>
              <a:cs typeface="Times New Roman" pitchFamily="18" charset="0"/>
            </a:endParaRPr>
          </a:p>
          <a:p>
            <a:r>
              <a:rPr lang="en-GB" sz="3300" dirty="0">
                <a:latin typeface="Times New Roman" pitchFamily="18" charset="0"/>
                <a:cs typeface="Times New Roman" pitchFamily="18" charset="0"/>
              </a:rPr>
              <a:t>These fungi appears as black spots on the meat; </a:t>
            </a:r>
            <a:r>
              <a:rPr lang="en-GB" sz="3300" b="1" i="1" dirty="0" err="1">
                <a:latin typeface="Times New Roman" pitchFamily="18" charset="0"/>
                <a:cs typeface="Times New Roman" pitchFamily="18" charset="0"/>
              </a:rPr>
              <a:t>Penicilium</a:t>
            </a:r>
            <a:r>
              <a:rPr lang="en-GB" sz="3300" dirty="0">
                <a:latin typeface="Times New Roman" pitchFamily="18" charset="0"/>
                <a:cs typeface="Times New Roman" pitchFamily="18" charset="0"/>
              </a:rPr>
              <a:t> – green patches; </a:t>
            </a:r>
            <a:r>
              <a:rPr lang="en-GB" sz="3300" b="1" i="1" dirty="0" err="1">
                <a:latin typeface="Times New Roman" pitchFamily="18" charset="0"/>
                <a:cs typeface="Times New Roman" pitchFamily="18" charset="0"/>
              </a:rPr>
              <a:t>Sporotricum</a:t>
            </a:r>
            <a:r>
              <a:rPr lang="en-GB" sz="3300" dirty="0">
                <a:latin typeface="Times New Roman" pitchFamily="18" charset="0"/>
                <a:cs typeface="Times New Roman" pitchFamily="18" charset="0"/>
              </a:rPr>
              <a:t> and </a:t>
            </a:r>
            <a:r>
              <a:rPr lang="en-GB" sz="3300" b="1" i="1" dirty="0" err="1">
                <a:latin typeface="Times New Roman" pitchFamily="18" charset="0"/>
                <a:cs typeface="Times New Roman" pitchFamily="18" charset="0"/>
              </a:rPr>
              <a:t>Chrysosporium</a:t>
            </a:r>
            <a:r>
              <a:rPr lang="en-GB" sz="3300" dirty="0">
                <a:latin typeface="Times New Roman" pitchFamily="18" charset="0"/>
                <a:cs typeface="Times New Roman" pitchFamily="18" charset="0"/>
              </a:rPr>
              <a:t>– white spots.</a:t>
            </a:r>
            <a:endParaRPr lang="en-US" sz="3300" dirty="0">
              <a:latin typeface="Times New Roman" pitchFamily="18" charset="0"/>
              <a:cs typeface="Times New Roman" pitchFamily="18" charset="0"/>
            </a:endParaRPr>
          </a:p>
          <a:p>
            <a:endParaRPr lang="en-GB" sz="3300" b="1" dirty="0">
              <a:latin typeface="Times New Roman" pitchFamily="18" charset="0"/>
              <a:cs typeface="Times New Roman" pitchFamily="18" charset="0"/>
            </a:endParaRPr>
          </a:p>
          <a:p>
            <a:r>
              <a:rPr lang="en-GB" sz="3300" b="1" dirty="0">
                <a:latin typeface="Times New Roman" pitchFamily="18" charset="0"/>
                <a:cs typeface="Times New Roman" pitchFamily="18" charset="0"/>
              </a:rPr>
              <a:t>Moulds</a:t>
            </a:r>
            <a:r>
              <a:rPr lang="en-GB" sz="3300" dirty="0">
                <a:latin typeface="Times New Roman" pitchFamily="18" charset="0"/>
                <a:cs typeface="Times New Roman" pitchFamily="18" charset="0"/>
              </a:rPr>
              <a:t> do not grow on meat if the storage is below -5⁰C. </a:t>
            </a:r>
            <a:endParaRPr lang="en-US" sz="3300" dirty="0">
              <a:latin typeface="Times New Roman" pitchFamily="18" charset="0"/>
              <a:cs typeface="Times New Roman" pitchFamily="18" charset="0"/>
            </a:endParaRPr>
          </a:p>
          <a:p>
            <a:endParaRPr lang="en-GB" sz="3300" dirty="0">
              <a:latin typeface="Times New Roman" pitchFamily="18" charset="0"/>
              <a:cs typeface="Times New Roman" pitchFamily="18" charset="0"/>
            </a:endParaRPr>
          </a:p>
          <a:p>
            <a:r>
              <a:rPr lang="en-GB" sz="3300" b="1" i="1" dirty="0">
                <a:latin typeface="Times New Roman" pitchFamily="18" charset="0"/>
                <a:cs typeface="Times New Roman" pitchFamily="18" charset="0"/>
              </a:rPr>
              <a:t>Candida</a:t>
            </a:r>
            <a:r>
              <a:rPr lang="en-GB" sz="3300" dirty="0">
                <a:latin typeface="Times New Roman" pitchFamily="18" charset="0"/>
                <a:cs typeface="Times New Roman" pitchFamily="18" charset="0"/>
              </a:rPr>
              <a:t> (genus of yeasts) have been recovered from refrigerator spoiled beef with consistency.</a:t>
            </a:r>
          </a:p>
          <a:p>
            <a:endParaRPr lang="en-GB" sz="3300" dirty="0">
              <a:latin typeface="Times New Roman" pitchFamily="18" charset="0"/>
              <a:cs typeface="Times New Roman" pitchFamily="18" charset="0"/>
            </a:endParaRPr>
          </a:p>
          <a:p>
            <a:r>
              <a:rPr lang="en-GB" sz="3300" dirty="0">
                <a:latin typeface="Times New Roman" pitchFamily="18" charset="0"/>
                <a:cs typeface="Times New Roman" pitchFamily="18" charset="0"/>
              </a:rPr>
              <a:t>Most prominent species are </a:t>
            </a:r>
            <a:r>
              <a:rPr lang="en-GB" sz="3300" b="1" i="1" dirty="0">
                <a:latin typeface="Times New Roman" pitchFamily="18" charset="0"/>
                <a:cs typeface="Times New Roman" pitchFamily="18" charset="0"/>
              </a:rPr>
              <a:t>C. </a:t>
            </a:r>
            <a:r>
              <a:rPr lang="en-GB" sz="3300" b="1" i="1" dirty="0" err="1">
                <a:latin typeface="Times New Roman" pitchFamily="18" charset="0"/>
                <a:cs typeface="Times New Roman" pitchFamily="18" charset="0"/>
              </a:rPr>
              <a:t>lypolytica</a:t>
            </a:r>
            <a:r>
              <a:rPr lang="en-GB" sz="3300" dirty="0">
                <a:latin typeface="Times New Roman" pitchFamily="18" charset="0"/>
                <a:cs typeface="Times New Roman" pitchFamily="18" charset="0"/>
              </a:rPr>
              <a:t> and </a:t>
            </a:r>
            <a:r>
              <a:rPr lang="en-GB" sz="3300" b="1" i="1" dirty="0">
                <a:latin typeface="Times New Roman" pitchFamily="18" charset="0"/>
                <a:cs typeface="Times New Roman" pitchFamily="18" charset="0"/>
              </a:rPr>
              <a:t>C. </a:t>
            </a:r>
            <a:r>
              <a:rPr lang="en-GB" sz="3300" b="1" i="1" dirty="0" err="1">
                <a:latin typeface="Times New Roman" pitchFamily="18" charset="0"/>
                <a:cs typeface="Times New Roman" pitchFamily="18" charset="0"/>
              </a:rPr>
              <a:t>zealanoides</a:t>
            </a:r>
            <a:r>
              <a:rPr lang="en-GB" sz="3300" b="1" dirty="0">
                <a:latin typeface="Times New Roman" pitchFamily="18" charset="0"/>
                <a:cs typeface="Times New Roman" pitchFamily="18" charset="0"/>
              </a:rPr>
              <a:t>.</a:t>
            </a:r>
          </a:p>
          <a:p>
            <a:endParaRPr lang="en-US" b="1"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62000"/>
          </a:xfrm>
        </p:spPr>
        <p:txBody>
          <a:bodyPr>
            <a:normAutofit/>
          </a:bodyPr>
          <a:lstStyle/>
          <a:p>
            <a:pPr algn="ctr"/>
            <a:r>
              <a:rPr lang="en-GB" sz="2800" dirty="0">
                <a:latin typeface="Times New Roman" pitchFamily="18" charset="0"/>
                <a:cs typeface="Times New Roman" pitchFamily="18" charset="0"/>
              </a:rPr>
              <a:t>FRESH FOODS...(Meat) </a:t>
            </a:r>
            <a:r>
              <a:rPr lang="en-GB" sz="2800" i="1" dirty="0">
                <a:latin typeface="Times New Roman" pitchFamily="18" charset="0"/>
                <a:cs typeface="Times New Roman" pitchFamily="18" charset="0"/>
              </a:rPr>
              <a:t>contd.</a:t>
            </a: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066800"/>
            <a:ext cx="8229600" cy="5638800"/>
          </a:xfrm>
        </p:spPr>
        <p:txBody>
          <a:bodyPr/>
          <a:lstStyle/>
          <a:p>
            <a:r>
              <a:rPr lang="en-GB" dirty="0">
                <a:latin typeface="Times New Roman" pitchFamily="18" charset="0"/>
                <a:cs typeface="Times New Roman" pitchFamily="18" charset="0"/>
              </a:rPr>
              <a:t> Ground beef or hamburger meat is spoiled exclusively by bacteria with the following genera being most important:</a:t>
            </a:r>
            <a:endParaRPr lang="en-US" dirty="0">
              <a:latin typeface="Times New Roman" pitchFamily="18" charset="0"/>
              <a:cs typeface="Times New Roman" pitchFamily="18" charset="0"/>
            </a:endParaRPr>
          </a:p>
          <a:p>
            <a:pPr lvl="1"/>
            <a:endParaRPr lang="en-GB" b="1" i="1" dirty="0">
              <a:latin typeface="Times New Roman" pitchFamily="18" charset="0"/>
              <a:cs typeface="Times New Roman" pitchFamily="18" charset="0"/>
            </a:endParaRPr>
          </a:p>
          <a:p>
            <a:pPr lvl="1"/>
            <a:r>
              <a:rPr lang="en-GB" b="1" i="1" dirty="0">
                <a:latin typeface="Times New Roman" pitchFamily="18" charset="0"/>
                <a:cs typeface="Times New Roman" pitchFamily="18" charset="0"/>
              </a:rPr>
              <a:t>Pseudomonas </a:t>
            </a:r>
            <a:endParaRPr lang="en-US" b="1" dirty="0">
              <a:latin typeface="Times New Roman" pitchFamily="18" charset="0"/>
              <a:cs typeface="Times New Roman" pitchFamily="18" charset="0"/>
            </a:endParaRPr>
          </a:p>
          <a:p>
            <a:pPr lvl="1"/>
            <a:r>
              <a:rPr lang="en-GB" b="1" i="1" dirty="0" err="1">
                <a:latin typeface="Times New Roman" pitchFamily="18" charset="0"/>
                <a:cs typeface="Times New Roman" pitchFamily="18" charset="0"/>
              </a:rPr>
              <a:t>Alcaligenes</a:t>
            </a:r>
            <a:endParaRPr lang="en-US" b="1" dirty="0">
              <a:latin typeface="Times New Roman" pitchFamily="18" charset="0"/>
              <a:cs typeface="Times New Roman" pitchFamily="18" charset="0"/>
            </a:endParaRPr>
          </a:p>
          <a:p>
            <a:pPr lvl="1"/>
            <a:r>
              <a:rPr lang="en-GB" b="1" i="1" dirty="0" err="1">
                <a:latin typeface="Times New Roman" pitchFamily="18" charset="0"/>
                <a:cs typeface="Times New Roman" pitchFamily="18" charset="0"/>
              </a:rPr>
              <a:t>Aeromonas</a:t>
            </a:r>
            <a:endParaRPr lang="en-US" b="1" dirty="0">
              <a:latin typeface="Times New Roman" pitchFamily="18" charset="0"/>
              <a:cs typeface="Times New Roman" pitchFamily="18" charset="0"/>
            </a:endParaRPr>
          </a:p>
          <a:p>
            <a:pPr lvl="1"/>
            <a:r>
              <a:rPr lang="en-GB" b="1" i="1" dirty="0" err="1">
                <a:latin typeface="Times New Roman" pitchFamily="18" charset="0"/>
                <a:cs typeface="Times New Roman" pitchFamily="18" charset="0"/>
              </a:rPr>
              <a:t>Acinetobacter</a:t>
            </a:r>
            <a:endParaRPr lang="en-US" b="1" dirty="0">
              <a:latin typeface="Times New Roman" pitchFamily="18" charset="0"/>
              <a:cs typeface="Times New Roman" pitchFamily="18" charset="0"/>
            </a:endParaRPr>
          </a:p>
          <a:p>
            <a:endParaRPr lang="en-GB" b="1" i="1" dirty="0">
              <a:latin typeface="Times New Roman" pitchFamily="18" charset="0"/>
              <a:cs typeface="Times New Roman" pitchFamily="18" charset="0"/>
            </a:endParaRPr>
          </a:p>
          <a:p>
            <a:r>
              <a:rPr lang="en-GB" b="1" i="1" dirty="0" err="1">
                <a:latin typeface="Times New Roman" pitchFamily="18" charset="0"/>
                <a:cs typeface="Times New Roman" pitchFamily="18" charset="0"/>
              </a:rPr>
              <a:t>Acinetobacter</a:t>
            </a:r>
            <a:r>
              <a:rPr lang="en-GB" dirty="0">
                <a:latin typeface="Times New Roman" pitchFamily="18" charset="0"/>
                <a:cs typeface="Times New Roman" pitchFamily="18" charset="0"/>
              </a:rPr>
              <a:t> and </a:t>
            </a:r>
            <a:r>
              <a:rPr lang="en-GB" b="1" i="1" dirty="0">
                <a:latin typeface="Times New Roman" pitchFamily="18" charset="0"/>
                <a:cs typeface="Times New Roman" pitchFamily="18" charset="0"/>
              </a:rPr>
              <a:t>Pseudomonas</a:t>
            </a:r>
            <a:r>
              <a:rPr lang="en-GB" b="1" dirty="0">
                <a:latin typeface="Times New Roman" pitchFamily="18" charset="0"/>
                <a:cs typeface="Times New Roman" pitchFamily="18" charset="0"/>
              </a:rPr>
              <a:t> spp</a:t>
            </a:r>
            <a:r>
              <a:rPr lang="en-GB" dirty="0">
                <a:latin typeface="Times New Roman" pitchFamily="18" charset="0"/>
                <a:cs typeface="Times New Roman" pitchFamily="18" charset="0"/>
              </a:rPr>
              <a:t>. are the primary cause of spoilage with the rest playing a minor or secondary role.</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762000"/>
          </a:xfrm>
        </p:spPr>
        <p:txBody>
          <a:bodyPr>
            <a:normAutofit fontScale="90000"/>
          </a:bodyPr>
          <a:lstStyle/>
          <a:p>
            <a:pPr algn="ctr"/>
            <a:r>
              <a:rPr lang="en-GB" sz="2800" b="1" dirty="0">
                <a:latin typeface="Times New Roman" pitchFamily="18" charset="0"/>
                <a:cs typeface="Times New Roman" pitchFamily="18" charset="0"/>
              </a:rPr>
              <a:t>SOURCES OF MICROBIAL CONTAMINATION OF MEAT</a:t>
            </a:r>
            <a:r>
              <a:rPr lang="en-US" sz="2800" b="1" dirty="0">
                <a:latin typeface="Times New Roman" pitchFamily="18" charset="0"/>
                <a:cs typeface="Times New Roman" pitchFamily="18" charset="0"/>
              </a:rPr>
              <a:t>.</a:t>
            </a:r>
          </a:p>
        </p:txBody>
      </p:sp>
      <p:sp>
        <p:nvSpPr>
          <p:cNvPr id="3" name="Content Placeholder 2"/>
          <p:cNvSpPr>
            <a:spLocks noGrp="1"/>
          </p:cNvSpPr>
          <p:nvPr>
            <p:ph idx="1"/>
          </p:nvPr>
        </p:nvSpPr>
        <p:spPr>
          <a:xfrm>
            <a:off x="457200" y="1295400"/>
            <a:ext cx="8229600" cy="5562600"/>
          </a:xfrm>
        </p:spPr>
        <p:txBody>
          <a:bodyPr>
            <a:normAutofit lnSpcReduction="10000"/>
          </a:bodyPr>
          <a:lstStyle/>
          <a:p>
            <a:r>
              <a:rPr lang="en-GB" dirty="0">
                <a:latin typeface="Times New Roman" pitchFamily="18" charset="0"/>
                <a:cs typeface="Times New Roman" pitchFamily="18" charset="0"/>
              </a:rPr>
              <a:t>High numbers of bacteria are present on the hide, hair and hooves of red meat animals and in the gastrointestinal tract as well.</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Microbes on the hide include bacteria such as </a:t>
            </a:r>
            <a:r>
              <a:rPr lang="en-GB" b="1" i="1" dirty="0">
                <a:latin typeface="Times New Roman" pitchFamily="18" charset="0"/>
                <a:cs typeface="Times New Roman" pitchFamily="18" charset="0"/>
              </a:rPr>
              <a:t>Staphylococci</a:t>
            </a:r>
            <a:r>
              <a:rPr lang="en-GB" dirty="0">
                <a:latin typeface="Times New Roman" pitchFamily="18" charset="0"/>
                <a:cs typeface="Times New Roman" pitchFamily="18" charset="0"/>
              </a:rPr>
              <a:t>, </a:t>
            </a:r>
            <a:r>
              <a:rPr lang="en-GB" b="1" i="1" dirty="0" err="1">
                <a:latin typeface="Times New Roman" pitchFamily="18" charset="0"/>
                <a:cs typeface="Times New Roman" pitchFamily="18" charset="0"/>
              </a:rPr>
              <a:t>Micrococci</a:t>
            </a:r>
            <a:r>
              <a:rPr lang="en-GB" dirty="0">
                <a:latin typeface="Times New Roman" pitchFamily="18" charset="0"/>
                <a:cs typeface="Times New Roman" pitchFamily="18" charset="0"/>
              </a:rPr>
              <a:t> and </a:t>
            </a:r>
            <a:r>
              <a:rPr lang="en-GB" b="1" i="1" dirty="0">
                <a:latin typeface="Times New Roman" pitchFamily="18" charset="0"/>
                <a:cs typeface="Times New Roman" pitchFamily="18" charset="0"/>
              </a:rPr>
              <a:t>Pseudomonas</a:t>
            </a:r>
            <a:r>
              <a:rPr lang="en-GB" b="1" dirty="0">
                <a:latin typeface="Times New Roman" pitchFamily="18" charset="0"/>
                <a:cs typeface="Times New Roman" pitchFamily="18" charset="0"/>
              </a:rPr>
              <a:t> sp</a:t>
            </a:r>
            <a:r>
              <a:rPr lang="en-GB" dirty="0">
                <a:latin typeface="Times New Roman" pitchFamily="18" charset="0"/>
                <a:cs typeface="Times New Roman" pitchFamily="18" charset="0"/>
              </a:rPr>
              <a:t>.</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Some fungi ; yeast and moulds as well as organisms derived from sources such as soil or faeces can be found on the hide.</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Organisms of faecal origin are more likely to be encountered on hides from intensively reared animals or from those transported or held in crowded conditions.</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62000"/>
          </a:xfrm>
        </p:spPr>
        <p:txBody>
          <a:bodyPr>
            <a:normAutofit/>
          </a:bodyPr>
          <a:lstStyle/>
          <a:p>
            <a:pPr algn="ctr"/>
            <a:r>
              <a:rPr lang="en-GB" sz="2800" dirty="0">
                <a:latin typeface="Times New Roman" pitchFamily="18" charset="0"/>
                <a:cs typeface="Times New Roman" pitchFamily="18" charset="0"/>
              </a:rPr>
              <a:t>SOURCES OF MICROBIAL...</a:t>
            </a:r>
            <a:r>
              <a:rPr lang="en-GB" sz="2800" i="1" dirty="0" err="1">
                <a:latin typeface="Times New Roman" pitchFamily="18" charset="0"/>
                <a:cs typeface="Times New Roman" pitchFamily="18" charset="0"/>
              </a:rPr>
              <a:t>contd</a:t>
            </a:r>
            <a:endParaRPr lang="en-US" sz="2800" dirty="0"/>
          </a:p>
        </p:txBody>
      </p:sp>
      <p:sp>
        <p:nvSpPr>
          <p:cNvPr id="3" name="Content Placeholder 2"/>
          <p:cNvSpPr>
            <a:spLocks noGrp="1"/>
          </p:cNvSpPr>
          <p:nvPr>
            <p:ph idx="1"/>
          </p:nvPr>
        </p:nvSpPr>
        <p:spPr>
          <a:xfrm>
            <a:off x="457200" y="1066800"/>
            <a:ext cx="8229600" cy="5791200"/>
          </a:xfrm>
        </p:spPr>
        <p:txBody>
          <a:bodyPr>
            <a:normAutofit/>
          </a:bodyPr>
          <a:lstStyle/>
          <a:p>
            <a:r>
              <a:rPr lang="en-GB" dirty="0">
                <a:latin typeface="Times New Roman" pitchFamily="18" charset="0"/>
                <a:cs typeface="Times New Roman" pitchFamily="18" charset="0"/>
              </a:rPr>
              <a:t>The population and composition of the microflora are influenced by environmental conditions.</a:t>
            </a:r>
            <a:endParaRPr lang="en-US" dirty="0">
              <a:latin typeface="Times New Roman" pitchFamily="18" charset="0"/>
              <a:cs typeface="Times New Roman" pitchFamily="18" charset="0"/>
            </a:endParaRP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Wet or muddy hides may contain high populations of bacteria indigenous to soil.</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The contamination of the hide with faecal material may increase the population of microbes of faecal origin.</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Generally, the majority of bacteria on the dressed red meat carcass originate from the hide.</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85800"/>
          </a:xfrm>
        </p:spPr>
        <p:txBody>
          <a:bodyPr>
            <a:normAutofit/>
          </a:bodyPr>
          <a:lstStyle/>
          <a:p>
            <a:pPr algn="ctr"/>
            <a:r>
              <a:rPr lang="en-GB" sz="2800" dirty="0">
                <a:latin typeface="Times New Roman" pitchFamily="18" charset="0"/>
                <a:cs typeface="Times New Roman" pitchFamily="18" charset="0"/>
              </a:rPr>
              <a:t>SOURCES OF MICROBIAL...</a:t>
            </a:r>
            <a:r>
              <a:rPr lang="en-GB" sz="2800" i="1" dirty="0" err="1">
                <a:latin typeface="Times New Roman" pitchFamily="18" charset="0"/>
                <a:cs typeface="Times New Roman" pitchFamily="18" charset="0"/>
              </a:rPr>
              <a:t>contd</a:t>
            </a:r>
            <a:endParaRPr lang="en-US" sz="2800" dirty="0"/>
          </a:p>
        </p:txBody>
      </p:sp>
      <p:sp>
        <p:nvSpPr>
          <p:cNvPr id="3" name="Content Placeholder 2"/>
          <p:cNvSpPr>
            <a:spLocks noGrp="1"/>
          </p:cNvSpPr>
          <p:nvPr>
            <p:ph idx="1"/>
          </p:nvPr>
        </p:nvSpPr>
        <p:spPr>
          <a:xfrm>
            <a:off x="457200" y="1066800"/>
            <a:ext cx="8229600" cy="5791200"/>
          </a:xfrm>
        </p:spPr>
        <p:txBody>
          <a:bodyPr>
            <a:normAutofit/>
          </a:bodyPr>
          <a:lstStyle/>
          <a:p>
            <a:r>
              <a:rPr lang="en-GB" dirty="0">
                <a:latin typeface="Times New Roman" pitchFamily="18" charset="0"/>
                <a:cs typeface="Times New Roman" pitchFamily="18" charset="0"/>
              </a:rPr>
              <a:t>With reasonable standards of hygienic operation, contamination of meat carcasses that comes from processing environments, knives, and process workers is less important than the contamination from the animal itself.</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Initially, the tissue beneath the hide is essentially sterile.</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Once cut this may be inoculated with bacteria from processing activities and the environment.</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During the hide removal, bacteria are carried from the hide into the underlying tissue with the initial incision.</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85800"/>
          </a:xfrm>
        </p:spPr>
        <p:txBody>
          <a:bodyPr>
            <a:noAutofit/>
          </a:bodyPr>
          <a:lstStyle/>
          <a:p>
            <a:pPr algn="ctr"/>
            <a:r>
              <a:rPr lang="en-GB" sz="2800" dirty="0">
                <a:latin typeface="Times New Roman" pitchFamily="18" charset="0"/>
                <a:cs typeface="Times New Roman" pitchFamily="18" charset="0"/>
              </a:rPr>
              <a:t>SOURCES OF MICROBIAL...</a:t>
            </a:r>
            <a:r>
              <a:rPr lang="en-GB" sz="2800" i="1" dirty="0" err="1">
                <a:latin typeface="Times New Roman" pitchFamily="18" charset="0"/>
                <a:cs typeface="Times New Roman" pitchFamily="18" charset="0"/>
              </a:rPr>
              <a:t>contd</a:t>
            </a:r>
            <a:endParaRPr lang="en-US" sz="2800" dirty="0"/>
          </a:p>
        </p:txBody>
      </p:sp>
      <p:sp>
        <p:nvSpPr>
          <p:cNvPr id="3" name="Content Placeholder 2"/>
          <p:cNvSpPr>
            <a:spLocks noGrp="1"/>
          </p:cNvSpPr>
          <p:nvPr>
            <p:ph idx="1"/>
          </p:nvPr>
        </p:nvSpPr>
        <p:spPr>
          <a:xfrm>
            <a:off x="457200" y="1066800"/>
            <a:ext cx="8229600" cy="5791200"/>
          </a:xfrm>
        </p:spPr>
        <p:txBody>
          <a:bodyPr>
            <a:normAutofit/>
          </a:bodyPr>
          <a:lstStyle/>
          <a:p>
            <a:r>
              <a:rPr lang="en-GB" dirty="0">
                <a:latin typeface="Times New Roman" pitchFamily="18" charset="0"/>
                <a:cs typeface="Times New Roman" pitchFamily="18" charset="0"/>
              </a:rPr>
              <a:t>Further contamination of bacteria can occur from the dust or aerosols from the hide during its removal.</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Washing the animal prior to slaughter can decrease microbial numbers on the hide.</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However, control is most effectively exercised by skilful and hygienic removal of the hide.</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Carcass can also be washed to remove visible contaminations after dressing but this has only a minor effect on the surface microflora.</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62000"/>
          </a:xfrm>
        </p:spPr>
        <p:txBody>
          <a:bodyPr>
            <a:normAutofit/>
          </a:bodyPr>
          <a:lstStyle/>
          <a:p>
            <a:pPr algn="ctr"/>
            <a:r>
              <a:rPr lang="en-GB" sz="2800" dirty="0">
                <a:latin typeface="Times New Roman" pitchFamily="18" charset="0"/>
                <a:cs typeface="Times New Roman" pitchFamily="18" charset="0"/>
              </a:rPr>
              <a:t>SOURCES OF MICROBIAL...</a:t>
            </a:r>
            <a:r>
              <a:rPr lang="en-GB" sz="2800" i="1" dirty="0" err="1">
                <a:latin typeface="Times New Roman" pitchFamily="18" charset="0"/>
                <a:cs typeface="Times New Roman" pitchFamily="18" charset="0"/>
              </a:rPr>
              <a:t>contd</a:t>
            </a:r>
            <a:endParaRPr lang="en-US" sz="2800" dirty="0"/>
          </a:p>
        </p:txBody>
      </p:sp>
      <p:sp>
        <p:nvSpPr>
          <p:cNvPr id="3" name="Content Placeholder 2"/>
          <p:cNvSpPr>
            <a:spLocks noGrp="1"/>
          </p:cNvSpPr>
          <p:nvPr>
            <p:ph idx="1"/>
          </p:nvPr>
        </p:nvSpPr>
        <p:spPr>
          <a:xfrm>
            <a:off x="457200" y="1066800"/>
            <a:ext cx="8229600" cy="5791200"/>
          </a:xfrm>
        </p:spPr>
        <p:txBody>
          <a:bodyPr/>
          <a:lstStyle/>
          <a:p>
            <a:r>
              <a:rPr lang="en-GB" dirty="0">
                <a:latin typeface="Times New Roman" pitchFamily="18" charset="0"/>
                <a:cs typeface="Times New Roman" pitchFamily="18" charset="0"/>
              </a:rPr>
              <a:t>However, bactericidal washing treatment such as:</a:t>
            </a:r>
          </a:p>
          <a:p>
            <a:pPr lvl="1">
              <a:buFont typeface="Wingdings" pitchFamily="2" charset="2"/>
              <a:buChar char="Ø"/>
            </a:pPr>
            <a:endParaRPr lang="en-GB" b="1" dirty="0">
              <a:latin typeface="Times New Roman" pitchFamily="18" charset="0"/>
              <a:cs typeface="Times New Roman" pitchFamily="18" charset="0"/>
            </a:endParaRPr>
          </a:p>
          <a:p>
            <a:pPr lvl="1">
              <a:buFont typeface="Wingdings" pitchFamily="2" charset="2"/>
              <a:buChar char="Ø"/>
            </a:pPr>
            <a:r>
              <a:rPr lang="en-GB" b="1" dirty="0">
                <a:latin typeface="Times New Roman" pitchFamily="18" charset="0"/>
                <a:cs typeface="Times New Roman" pitchFamily="18" charset="0"/>
              </a:rPr>
              <a:t>Hot water (80 ◦C) or</a:t>
            </a:r>
          </a:p>
          <a:p>
            <a:pPr lvl="1">
              <a:buFont typeface="Wingdings" pitchFamily="2" charset="2"/>
              <a:buChar char="Ø"/>
            </a:pPr>
            <a:endParaRPr lang="en-GB" b="1" dirty="0">
              <a:latin typeface="Times New Roman" pitchFamily="18" charset="0"/>
              <a:cs typeface="Times New Roman" pitchFamily="18" charset="0"/>
            </a:endParaRPr>
          </a:p>
          <a:p>
            <a:pPr lvl="1">
              <a:buFont typeface="Wingdings" pitchFamily="2" charset="2"/>
              <a:buChar char="Ø"/>
            </a:pPr>
            <a:r>
              <a:rPr lang="en-GB" b="1" dirty="0">
                <a:latin typeface="Times New Roman" pitchFamily="18" charset="0"/>
                <a:cs typeface="Times New Roman" pitchFamily="18" charset="0"/>
              </a:rPr>
              <a:t>Chlorinated water or</a:t>
            </a:r>
          </a:p>
          <a:p>
            <a:pPr lvl="1">
              <a:buFont typeface="Wingdings" pitchFamily="2" charset="2"/>
              <a:buChar char="Ø"/>
            </a:pPr>
            <a:endParaRPr lang="en-GB" b="1" dirty="0">
              <a:latin typeface="Times New Roman" pitchFamily="18" charset="0"/>
              <a:cs typeface="Times New Roman" pitchFamily="18" charset="0"/>
            </a:endParaRPr>
          </a:p>
          <a:p>
            <a:pPr lvl="1">
              <a:buFont typeface="Wingdings" pitchFamily="2" charset="2"/>
              <a:buChar char="Ø"/>
            </a:pPr>
            <a:r>
              <a:rPr lang="en-GB" b="1" dirty="0">
                <a:latin typeface="Times New Roman" pitchFamily="18" charset="0"/>
                <a:cs typeface="Times New Roman" pitchFamily="18" charset="0"/>
              </a:rPr>
              <a:t>Diluted lactic acid </a:t>
            </a:r>
          </a:p>
          <a:p>
            <a:pPr>
              <a:buNone/>
            </a:pPr>
            <a:r>
              <a:rPr lang="en-GB" dirty="0">
                <a:latin typeface="Times New Roman" pitchFamily="18" charset="0"/>
                <a:cs typeface="Times New Roman" pitchFamily="18" charset="0"/>
              </a:rPr>
              <a:t>	have shown to reduced surface microflora.</a:t>
            </a:r>
          </a:p>
          <a:p>
            <a:endParaRPr lang="en-GB"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62000"/>
          </a:xfrm>
        </p:spPr>
        <p:txBody>
          <a:bodyPr>
            <a:normAutofit/>
          </a:bodyPr>
          <a:lstStyle/>
          <a:p>
            <a:pPr algn="ctr"/>
            <a:r>
              <a:rPr lang="en-GB" sz="2800" b="1" dirty="0">
                <a:latin typeface="Times New Roman" pitchFamily="18" charset="0"/>
                <a:cs typeface="Times New Roman" pitchFamily="18" charset="0"/>
              </a:rPr>
              <a:t>MILK AND MILK PRODUCTS</a:t>
            </a:r>
            <a:endParaRPr lang="en-US" sz="2800" b="1" dirty="0">
              <a:latin typeface="Times New Roman" pitchFamily="18" charset="0"/>
              <a:cs typeface="Times New Roman" pitchFamily="18" charset="0"/>
            </a:endParaRPr>
          </a:p>
        </p:txBody>
      </p:sp>
      <p:sp>
        <p:nvSpPr>
          <p:cNvPr id="3" name="Content Placeholder 2"/>
          <p:cNvSpPr>
            <a:spLocks noGrp="1"/>
          </p:cNvSpPr>
          <p:nvPr>
            <p:ph idx="1"/>
          </p:nvPr>
        </p:nvSpPr>
        <p:spPr>
          <a:xfrm>
            <a:off x="457200" y="1066800"/>
            <a:ext cx="8229600" cy="5791200"/>
          </a:xfrm>
        </p:spPr>
        <p:txBody>
          <a:bodyPr>
            <a:normAutofit lnSpcReduction="10000"/>
          </a:bodyPr>
          <a:lstStyle/>
          <a:p>
            <a:r>
              <a:rPr lang="en-GB" b="1" dirty="0">
                <a:latin typeface="Times New Roman" pitchFamily="18" charset="0"/>
                <a:cs typeface="Times New Roman" pitchFamily="18" charset="0"/>
              </a:rPr>
              <a:t>Milk</a:t>
            </a:r>
            <a:r>
              <a:rPr lang="en-GB" dirty="0">
                <a:latin typeface="Times New Roman" pitchFamily="18" charset="0"/>
                <a:cs typeface="Times New Roman" pitchFamily="18" charset="0"/>
              </a:rPr>
              <a:t> is the fluid, </a:t>
            </a:r>
            <a:r>
              <a:rPr lang="en-GB" b="1" i="1" dirty="0">
                <a:latin typeface="Times New Roman" pitchFamily="18" charset="0"/>
                <a:cs typeface="Times New Roman" pitchFamily="18" charset="0"/>
              </a:rPr>
              <a:t>excluding colostrum </a:t>
            </a:r>
            <a:r>
              <a:rPr lang="en-GB" dirty="0">
                <a:latin typeface="Times New Roman" pitchFamily="18" charset="0"/>
                <a:cs typeface="Times New Roman" pitchFamily="18" charset="0"/>
              </a:rPr>
              <a:t>secreted by mammals.</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A number of animals are used to produce milk for human consumption</a:t>
            </a:r>
          </a:p>
          <a:p>
            <a:endParaRPr lang="en-GB" dirty="0">
              <a:latin typeface="Times New Roman" pitchFamily="18" charset="0"/>
              <a:cs typeface="Times New Roman" pitchFamily="18" charset="0"/>
            </a:endParaRPr>
          </a:p>
          <a:p>
            <a:r>
              <a:rPr lang="en-GB" dirty="0">
                <a:solidFill>
                  <a:srgbClr val="FF0000"/>
                </a:solidFill>
                <a:latin typeface="Times New Roman" pitchFamily="18" charset="0"/>
                <a:cs typeface="Times New Roman" pitchFamily="18" charset="0"/>
              </a:rPr>
              <a:t>However, the cow is by far the most</a:t>
            </a:r>
            <a:r>
              <a:rPr lang="en-GB" dirty="0">
                <a:latin typeface="Times New Roman" pitchFamily="18" charset="0"/>
                <a:cs typeface="Times New Roman" pitchFamily="18" charset="0"/>
              </a:rPr>
              <a:t> important in commercial terms.</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Nutritionally, it’s considered one of the complete foods for man and microbes.</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The principal components of milk are </a:t>
            </a:r>
            <a:r>
              <a:rPr lang="en-GB" b="1" i="1" dirty="0">
                <a:latin typeface="Times New Roman" pitchFamily="18" charset="0"/>
                <a:cs typeface="Times New Roman" pitchFamily="18" charset="0"/>
              </a:rPr>
              <a:t>water</a:t>
            </a:r>
            <a:r>
              <a:rPr lang="en-GB" dirty="0">
                <a:latin typeface="Times New Roman" pitchFamily="18" charset="0"/>
                <a:cs typeface="Times New Roman" pitchFamily="18" charset="0"/>
              </a:rPr>
              <a:t>, </a:t>
            </a:r>
            <a:r>
              <a:rPr lang="en-GB" b="1" i="1" dirty="0">
                <a:latin typeface="Times New Roman" pitchFamily="18" charset="0"/>
                <a:cs typeface="Times New Roman" pitchFamily="18" charset="0"/>
              </a:rPr>
              <a:t>fats</a:t>
            </a:r>
            <a:r>
              <a:rPr lang="en-GB" dirty="0">
                <a:latin typeface="Times New Roman" pitchFamily="18" charset="0"/>
                <a:cs typeface="Times New Roman" pitchFamily="18" charset="0"/>
              </a:rPr>
              <a:t>, </a:t>
            </a:r>
            <a:r>
              <a:rPr lang="en-GB" b="1" i="1" dirty="0">
                <a:latin typeface="Times New Roman" pitchFamily="18" charset="0"/>
                <a:cs typeface="Times New Roman" pitchFamily="18" charset="0"/>
              </a:rPr>
              <a:t>protein</a:t>
            </a:r>
            <a:r>
              <a:rPr lang="en-GB" dirty="0">
                <a:latin typeface="Times New Roman" pitchFamily="18" charset="0"/>
                <a:cs typeface="Times New Roman" pitchFamily="18" charset="0"/>
              </a:rPr>
              <a:t> and </a:t>
            </a:r>
            <a:r>
              <a:rPr lang="en-GB" b="1" i="1" dirty="0">
                <a:latin typeface="Times New Roman" pitchFamily="18" charset="0"/>
                <a:cs typeface="Times New Roman" pitchFamily="18" charset="0"/>
              </a:rPr>
              <a:t>lactose</a:t>
            </a:r>
            <a:r>
              <a:rPr lang="en-GB" dirty="0">
                <a:latin typeface="Times New Roman" pitchFamily="18" charset="0"/>
                <a:cs typeface="Times New Roman" pitchFamily="18" charset="0"/>
              </a:rPr>
              <a:t>.</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85800"/>
          </a:xfrm>
        </p:spPr>
        <p:txBody>
          <a:bodyPr>
            <a:noAutofit/>
          </a:bodyPr>
          <a:lstStyle/>
          <a:p>
            <a:pPr algn="ctr"/>
            <a:r>
              <a:rPr lang="en-GB" sz="2800" b="1" dirty="0">
                <a:latin typeface="Times New Roman" pitchFamily="18" charset="0"/>
                <a:cs typeface="Times New Roman" pitchFamily="18" charset="0"/>
              </a:rPr>
              <a:t>MILK AND MILK PRODUCTS</a:t>
            </a:r>
            <a:endParaRPr lang="en-US" sz="2800" dirty="0"/>
          </a:p>
        </p:txBody>
      </p:sp>
      <p:sp>
        <p:nvSpPr>
          <p:cNvPr id="3" name="Content Placeholder 2"/>
          <p:cNvSpPr>
            <a:spLocks noGrp="1"/>
          </p:cNvSpPr>
          <p:nvPr>
            <p:ph idx="1"/>
          </p:nvPr>
        </p:nvSpPr>
        <p:spPr>
          <a:xfrm>
            <a:off x="457200" y="1066800"/>
            <a:ext cx="8229600" cy="5791200"/>
          </a:xfrm>
        </p:spPr>
        <p:txBody>
          <a:bodyPr/>
          <a:lstStyle/>
          <a:p>
            <a:r>
              <a:rPr lang="en-GB" dirty="0">
                <a:latin typeface="Times New Roman" pitchFamily="18" charset="0"/>
                <a:cs typeface="Times New Roman" pitchFamily="18" charset="0"/>
              </a:rPr>
              <a:t>The composition of an average sample  milk may contain:</a:t>
            </a:r>
          </a:p>
          <a:p>
            <a:pPr lvl="1">
              <a:buFont typeface="Wingdings" pitchFamily="2" charset="2"/>
              <a:buChar char="Ø"/>
            </a:pPr>
            <a:r>
              <a:rPr lang="en-GB" b="1" dirty="0">
                <a:latin typeface="Times New Roman" pitchFamily="18" charset="0"/>
                <a:cs typeface="Times New Roman" pitchFamily="18" charset="0"/>
              </a:rPr>
              <a:t>Water</a:t>
            </a:r>
            <a:r>
              <a:rPr lang="en-GB" dirty="0">
                <a:latin typeface="Times New Roman" pitchFamily="18" charset="0"/>
                <a:cs typeface="Times New Roman" pitchFamily="18" charset="0"/>
              </a:rPr>
              <a:t> – 87.7%,</a:t>
            </a:r>
          </a:p>
          <a:p>
            <a:pPr lvl="1">
              <a:buFont typeface="Wingdings" pitchFamily="2" charset="2"/>
              <a:buChar char="Ø"/>
            </a:pPr>
            <a:r>
              <a:rPr lang="en-GB" b="1" dirty="0">
                <a:latin typeface="Times New Roman" pitchFamily="18" charset="0"/>
                <a:cs typeface="Times New Roman" pitchFamily="18" charset="0"/>
              </a:rPr>
              <a:t>Sugar</a:t>
            </a:r>
            <a:r>
              <a:rPr lang="en-GB" dirty="0">
                <a:latin typeface="Times New Roman" pitchFamily="18" charset="0"/>
                <a:cs typeface="Times New Roman" pitchFamily="18" charset="0"/>
              </a:rPr>
              <a:t> (lactose) – 5%,</a:t>
            </a:r>
          </a:p>
          <a:p>
            <a:pPr lvl="1">
              <a:buFont typeface="Wingdings" pitchFamily="2" charset="2"/>
              <a:buChar char="Ø"/>
            </a:pPr>
            <a:r>
              <a:rPr lang="en-GB" b="1" dirty="0">
                <a:latin typeface="Times New Roman" pitchFamily="18" charset="0"/>
                <a:cs typeface="Times New Roman" pitchFamily="18" charset="0"/>
              </a:rPr>
              <a:t>Butter Fats </a:t>
            </a:r>
            <a:r>
              <a:rPr lang="en-GB" dirty="0">
                <a:latin typeface="Times New Roman" pitchFamily="18" charset="0"/>
                <a:cs typeface="Times New Roman" pitchFamily="18" charset="0"/>
              </a:rPr>
              <a:t>– 3.6%,</a:t>
            </a:r>
          </a:p>
          <a:p>
            <a:pPr lvl="1">
              <a:buFont typeface="Wingdings" pitchFamily="2" charset="2"/>
              <a:buChar char="Ø"/>
            </a:pPr>
            <a:r>
              <a:rPr lang="en-GB" b="1" dirty="0">
                <a:latin typeface="Times New Roman" pitchFamily="18" charset="0"/>
                <a:cs typeface="Times New Roman" pitchFamily="18" charset="0"/>
              </a:rPr>
              <a:t>Proteins</a:t>
            </a:r>
            <a:r>
              <a:rPr lang="en-GB" dirty="0">
                <a:latin typeface="Times New Roman" pitchFamily="18" charset="0"/>
                <a:cs typeface="Times New Roman" pitchFamily="18" charset="0"/>
              </a:rPr>
              <a:t> – 2.5%,</a:t>
            </a:r>
            <a:endParaRPr lang="en-GB" b="1" dirty="0">
              <a:latin typeface="Times New Roman" pitchFamily="18" charset="0"/>
              <a:cs typeface="Times New Roman" pitchFamily="18" charset="0"/>
            </a:endParaRPr>
          </a:p>
          <a:p>
            <a:pPr lvl="1">
              <a:buFont typeface="Wingdings" pitchFamily="2" charset="2"/>
              <a:buChar char="Ø"/>
            </a:pPr>
            <a:r>
              <a:rPr lang="en-GB" b="1" dirty="0">
                <a:latin typeface="Times New Roman" pitchFamily="18" charset="0"/>
                <a:cs typeface="Times New Roman" pitchFamily="18" charset="0"/>
              </a:rPr>
              <a:t>Albumen</a:t>
            </a:r>
            <a:r>
              <a:rPr lang="en-GB" dirty="0">
                <a:latin typeface="Times New Roman" pitchFamily="18" charset="0"/>
                <a:cs typeface="Times New Roman" pitchFamily="18" charset="0"/>
              </a:rPr>
              <a:t> and </a:t>
            </a:r>
            <a:r>
              <a:rPr lang="en-GB" b="1" dirty="0">
                <a:latin typeface="Times New Roman" pitchFamily="18" charset="0"/>
                <a:cs typeface="Times New Roman" pitchFamily="18" charset="0"/>
              </a:rPr>
              <a:t>Globulin</a:t>
            </a:r>
            <a:r>
              <a:rPr lang="en-GB" dirty="0">
                <a:latin typeface="Times New Roman" pitchFamily="18" charset="0"/>
                <a:cs typeface="Times New Roman" pitchFamily="18" charset="0"/>
              </a:rPr>
              <a:t> – 0.7% and</a:t>
            </a:r>
          </a:p>
          <a:p>
            <a:pPr lvl="1">
              <a:buFont typeface="Wingdings" pitchFamily="2" charset="2"/>
              <a:buChar char="Ø"/>
            </a:pPr>
            <a:r>
              <a:rPr lang="en-GB" b="1" dirty="0">
                <a:latin typeface="Times New Roman" pitchFamily="18" charset="0"/>
                <a:cs typeface="Times New Roman" pitchFamily="18" charset="0"/>
              </a:rPr>
              <a:t>Minerals</a:t>
            </a:r>
            <a:r>
              <a:rPr lang="en-GB" dirty="0">
                <a:latin typeface="Times New Roman" pitchFamily="18" charset="0"/>
                <a:cs typeface="Times New Roman" pitchFamily="18" charset="0"/>
              </a:rPr>
              <a:t> (ash components) – 0.7%.</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Milk also contains vitamin A, B complexes, C and D in varying amounts.</a:t>
            </a:r>
          </a:p>
          <a:p>
            <a:endParaRPr lang="en-GB"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62000"/>
          </a:xfrm>
        </p:spPr>
        <p:txBody>
          <a:bodyPr>
            <a:normAutofit/>
          </a:bodyPr>
          <a:lstStyle/>
          <a:p>
            <a:pPr algn="ctr"/>
            <a:r>
              <a:rPr lang="en-GB" sz="2800" dirty="0">
                <a:latin typeface="Times New Roman" pitchFamily="18" charset="0"/>
                <a:cs typeface="Times New Roman" pitchFamily="18" charset="0"/>
              </a:rPr>
              <a:t>MILK AND MILK PRODUCTS...</a:t>
            </a:r>
            <a:r>
              <a:rPr lang="en-GB" sz="2800" i="1" dirty="0">
                <a:latin typeface="Times New Roman" pitchFamily="18" charset="0"/>
                <a:cs typeface="Times New Roman" pitchFamily="18" charset="0"/>
              </a:rPr>
              <a:t>contd.</a:t>
            </a:r>
            <a:endParaRPr lang="en-US" sz="2800" dirty="0"/>
          </a:p>
        </p:txBody>
      </p:sp>
      <p:sp>
        <p:nvSpPr>
          <p:cNvPr id="3" name="Content Placeholder 2"/>
          <p:cNvSpPr>
            <a:spLocks noGrp="1"/>
          </p:cNvSpPr>
          <p:nvPr>
            <p:ph idx="1"/>
          </p:nvPr>
        </p:nvSpPr>
        <p:spPr>
          <a:xfrm>
            <a:off x="457200" y="1066800"/>
            <a:ext cx="8229600" cy="5791200"/>
          </a:xfrm>
        </p:spPr>
        <p:txBody>
          <a:bodyPr>
            <a:normAutofit/>
          </a:bodyPr>
          <a:lstStyle/>
          <a:p>
            <a:r>
              <a:rPr lang="en-GB" sz="2800" dirty="0">
                <a:latin typeface="Times New Roman" pitchFamily="18" charset="0"/>
                <a:cs typeface="Times New Roman" pitchFamily="18" charset="0"/>
              </a:rPr>
              <a:t>Thus milk provides essential nutrients for excellent growth of many bacteria and other microbes unlike water.</a:t>
            </a:r>
          </a:p>
          <a:p>
            <a:endParaRPr lang="en-GB" sz="2800" dirty="0">
              <a:latin typeface="Times New Roman" pitchFamily="18" charset="0"/>
              <a:cs typeface="Times New Roman" pitchFamily="18" charset="0"/>
            </a:endParaRPr>
          </a:p>
          <a:p>
            <a:r>
              <a:rPr lang="en-GB" sz="2800" dirty="0">
                <a:latin typeface="Times New Roman" pitchFamily="18" charset="0"/>
                <a:cs typeface="Times New Roman" pitchFamily="18" charset="0"/>
              </a:rPr>
              <a:t>The compositions vary based on several factors:</a:t>
            </a:r>
          </a:p>
          <a:p>
            <a:pPr lvl="1">
              <a:buFont typeface="Wingdings" pitchFamily="2" charset="2"/>
              <a:buChar char="Ø"/>
            </a:pPr>
            <a:r>
              <a:rPr lang="en-GB" sz="2800" dirty="0">
                <a:latin typeface="Times New Roman" pitchFamily="18" charset="0"/>
                <a:cs typeface="Times New Roman" pitchFamily="18" charset="0"/>
              </a:rPr>
              <a:t>Species type</a:t>
            </a:r>
            <a:endParaRPr lang="en-US" sz="2800" dirty="0">
              <a:latin typeface="Times New Roman" pitchFamily="18" charset="0"/>
              <a:cs typeface="Times New Roman" pitchFamily="18" charset="0"/>
            </a:endParaRPr>
          </a:p>
          <a:p>
            <a:pPr lvl="1">
              <a:buFont typeface="Wingdings" pitchFamily="2" charset="2"/>
              <a:buChar char="Ø"/>
            </a:pPr>
            <a:r>
              <a:rPr lang="en-GB" sz="2800" dirty="0">
                <a:latin typeface="Times New Roman" pitchFamily="18" charset="0"/>
                <a:cs typeface="Times New Roman" pitchFamily="18" charset="0"/>
              </a:rPr>
              <a:t>Stage of lactation</a:t>
            </a:r>
            <a:endParaRPr lang="en-US" sz="2800" dirty="0">
              <a:latin typeface="Times New Roman" pitchFamily="18" charset="0"/>
              <a:cs typeface="Times New Roman" pitchFamily="18" charset="0"/>
            </a:endParaRPr>
          </a:p>
          <a:p>
            <a:pPr lvl="1">
              <a:buFont typeface="Wingdings" pitchFamily="2" charset="2"/>
              <a:buChar char="Ø"/>
            </a:pPr>
            <a:r>
              <a:rPr lang="en-GB" sz="2800" dirty="0">
                <a:latin typeface="Times New Roman" pitchFamily="18" charset="0"/>
                <a:cs typeface="Times New Roman" pitchFamily="18" charset="0"/>
              </a:rPr>
              <a:t>Interval between milking </a:t>
            </a:r>
            <a:endParaRPr lang="en-US" sz="2800" dirty="0">
              <a:latin typeface="Times New Roman" pitchFamily="18" charset="0"/>
              <a:cs typeface="Times New Roman" pitchFamily="18" charset="0"/>
            </a:endParaRPr>
          </a:p>
          <a:p>
            <a:pPr lvl="1">
              <a:buFont typeface="Wingdings" pitchFamily="2" charset="2"/>
              <a:buChar char="Ø"/>
            </a:pPr>
            <a:r>
              <a:rPr lang="en-GB" sz="2800" dirty="0">
                <a:latin typeface="Times New Roman" pitchFamily="18" charset="0"/>
                <a:cs typeface="Times New Roman" pitchFamily="18" charset="0"/>
              </a:rPr>
              <a:t>Time of the day</a:t>
            </a:r>
            <a:endParaRPr lang="en-US" sz="2800" dirty="0">
              <a:latin typeface="Times New Roman" pitchFamily="18" charset="0"/>
              <a:cs typeface="Times New Roman" pitchFamily="18" charset="0"/>
            </a:endParaRPr>
          </a:p>
          <a:p>
            <a:pPr lvl="1">
              <a:buFont typeface="Wingdings" pitchFamily="2" charset="2"/>
              <a:buChar char="Ø"/>
            </a:pPr>
            <a:r>
              <a:rPr lang="en-GB" sz="2800" dirty="0">
                <a:latin typeface="Times New Roman" pitchFamily="18" charset="0"/>
                <a:cs typeface="Times New Roman" pitchFamily="18" charset="0"/>
              </a:rPr>
              <a:t>Number of previous lactation</a:t>
            </a:r>
            <a:endParaRPr lang="en-US" sz="2800" dirty="0">
              <a:latin typeface="Times New Roman" pitchFamily="18" charset="0"/>
              <a:cs typeface="Times New Roman" pitchFamily="18" charset="0"/>
            </a:endParaRPr>
          </a:p>
          <a:p>
            <a:pPr lvl="1">
              <a:buFont typeface="Wingdings" pitchFamily="2" charset="2"/>
              <a:buChar char="Ø"/>
            </a:pPr>
            <a:r>
              <a:rPr lang="en-GB" sz="2800" dirty="0">
                <a:latin typeface="Times New Roman" pitchFamily="18" charset="0"/>
                <a:cs typeface="Times New Roman" pitchFamily="18" charset="0"/>
              </a:rPr>
              <a:t>General nutritional state and health of the animal</a:t>
            </a:r>
            <a:endParaRPr lang="en-US" sz="28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62000"/>
          </a:xfrm>
        </p:spPr>
        <p:txBody>
          <a:bodyPr>
            <a:normAutofit/>
          </a:bodyPr>
          <a:lstStyle/>
          <a:p>
            <a:pPr algn="ctr"/>
            <a:r>
              <a:rPr lang="en-GB" sz="2800" dirty="0">
                <a:latin typeface="Times New Roman" pitchFamily="18" charset="0"/>
                <a:cs typeface="Times New Roman" pitchFamily="18" charset="0"/>
              </a:rPr>
              <a:t>MILK AND MILK PRODUCTS...</a:t>
            </a:r>
            <a:r>
              <a:rPr lang="en-GB" sz="2800" i="1" dirty="0">
                <a:latin typeface="Times New Roman" pitchFamily="18" charset="0"/>
                <a:cs typeface="Times New Roman" pitchFamily="18" charset="0"/>
              </a:rPr>
              <a:t>contd.</a:t>
            </a:r>
            <a:endParaRPr lang="en-US" sz="2800" dirty="0"/>
          </a:p>
        </p:txBody>
      </p:sp>
      <p:sp>
        <p:nvSpPr>
          <p:cNvPr id="3" name="Content Placeholder 2"/>
          <p:cNvSpPr>
            <a:spLocks noGrp="1"/>
          </p:cNvSpPr>
          <p:nvPr>
            <p:ph idx="1"/>
          </p:nvPr>
        </p:nvSpPr>
        <p:spPr>
          <a:xfrm>
            <a:off x="457200" y="1143000"/>
            <a:ext cx="8229600" cy="5715000"/>
          </a:xfrm>
        </p:spPr>
        <p:txBody>
          <a:bodyPr>
            <a:noAutofit/>
          </a:bodyPr>
          <a:lstStyle/>
          <a:p>
            <a:r>
              <a:rPr lang="en-GB" sz="2800" dirty="0">
                <a:latin typeface="Times New Roman" pitchFamily="18" charset="0"/>
                <a:cs typeface="Times New Roman" pitchFamily="18" charset="0"/>
              </a:rPr>
              <a:t>Most variable component of the milk is the </a:t>
            </a:r>
            <a:r>
              <a:rPr lang="en-GB" sz="2800" b="1" i="1" dirty="0">
                <a:latin typeface="Times New Roman" pitchFamily="18" charset="0"/>
                <a:cs typeface="Times New Roman" pitchFamily="18" charset="0"/>
              </a:rPr>
              <a:t>fat portion.</a:t>
            </a:r>
          </a:p>
          <a:p>
            <a:endParaRPr lang="en-GB" sz="2800" dirty="0">
              <a:latin typeface="Times New Roman" pitchFamily="18" charset="0"/>
              <a:cs typeface="Times New Roman" pitchFamily="18" charset="0"/>
            </a:endParaRPr>
          </a:p>
          <a:p>
            <a:r>
              <a:rPr lang="en-GB" sz="2800" dirty="0">
                <a:latin typeface="Times New Roman" pitchFamily="18" charset="0"/>
                <a:cs typeface="Times New Roman" pitchFamily="18" charset="0"/>
              </a:rPr>
              <a:t>This occurs as </a:t>
            </a:r>
            <a:r>
              <a:rPr lang="en-GB" sz="2800" b="1" i="1" dirty="0">
                <a:latin typeface="Times New Roman" pitchFamily="18" charset="0"/>
                <a:cs typeface="Times New Roman" pitchFamily="18" charset="0"/>
              </a:rPr>
              <a:t>globules</a:t>
            </a:r>
            <a:r>
              <a:rPr lang="en-GB" sz="2800" dirty="0">
                <a:latin typeface="Times New Roman" pitchFamily="18" charset="0"/>
                <a:cs typeface="Times New Roman" pitchFamily="18" charset="0"/>
              </a:rPr>
              <a:t> surrounded by protective membrane composed of </a:t>
            </a:r>
            <a:r>
              <a:rPr lang="en-GB" sz="2800" b="1" i="1" dirty="0">
                <a:latin typeface="Times New Roman" pitchFamily="18" charset="0"/>
                <a:cs typeface="Times New Roman" pitchFamily="18" charset="0"/>
              </a:rPr>
              <a:t>phospholipids</a:t>
            </a:r>
            <a:r>
              <a:rPr lang="en-GB" sz="2800" dirty="0">
                <a:latin typeface="Times New Roman" pitchFamily="18" charset="0"/>
                <a:cs typeface="Times New Roman" pitchFamily="18" charset="0"/>
              </a:rPr>
              <a:t>.</a:t>
            </a:r>
          </a:p>
          <a:p>
            <a:endParaRPr lang="en-GB" sz="2800" dirty="0">
              <a:latin typeface="Times New Roman" pitchFamily="18" charset="0"/>
              <a:cs typeface="Times New Roman" pitchFamily="18" charset="0"/>
            </a:endParaRPr>
          </a:p>
          <a:p>
            <a:r>
              <a:rPr lang="en-GB" sz="2800" dirty="0">
                <a:latin typeface="Times New Roman" pitchFamily="18" charset="0"/>
                <a:cs typeface="Times New Roman" pitchFamily="18" charset="0"/>
              </a:rPr>
              <a:t>Although milk has a high fat content, only few spoilage microbes utilise it as a carbon source.</a:t>
            </a:r>
          </a:p>
          <a:p>
            <a:endParaRPr lang="en-GB" sz="2800" dirty="0">
              <a:latin typeface="Times New Roman" pitchFamily="18" charset="0"/>
              <a:cs typeface="Times New Roman" pitchFamily="18" charset="0"/>
            </a:endParaRPr>
          </a:p>
          <a:p>
            <a:r>
              <a:rPr lang="en-GB" sz="2800" dirty="0">
                <a:latin typeface="Times New Roman" pitchFamily="18" charset="0"/>
                <a:cs typeface="Times New Roman" pitchFamily="18" charset="0"/>
              </a:rPr>
              <a:t>This is because it’s only available for microbial metabolism if the globule membrane is physically damaged and enzymatically degraded.</a:t>
            </a:r>
          </a:p>
          <a:p>
            <a:endParaRPr lang="en-GB" sz="2800" dirty="0">
              <a:latin typeface="Times New Roman" pitchFamily="18" charset="0"/>
              <a:cs typeface="Times New Roman" pitchFamily="18" charset="0"/>
            </a:endParaRPr>
          </a:p>
          <a:p>
            <a:r>
              <a:rPr lang="en-GB" sz="2800" dirty="0">
                <a:latin typeface="Times New Roman" pitchFamily="18" charset="0"/>
                <a:cs typeface="Times New Roman" pitchFamily="18" charset="0"/>
              </a:rPr>
              <a:t>Milk is generally spoiled by other mechanisms long before this occur.</a:t>
            </a:r>
            <a:endParaRPr lang="en-US" sz="28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85800"/>
          </a:xfrm>
        </p:spPr>
        <p:txBody>
          <a:bodyPr>
            <a:noAutofit/>
          </a:bodyPr>
          <a:lstStyle/>
          <a:p>
            <a:pPr algn="ctr"/>
            <a:r>
              <a:rPr lang="en-GB" sz="2800" dirty="0">
                <a:latin typeface="Times New Roman" pitchFamily="18" charset="0"/>
                <a:cs typeface="Times New Roman" pitchFamily="18" charset="0"/>
              </a:rPr>
              <a:t>MILK AND MILK PRODUCTS...</a:t>
            </a:r>
            <a:r>
              <a:rPr lang="en-GB" sz="2800" i="1" dirty="0">
                <a:latin typeface="Times New Roman" pitchFamily="18" charset="0"/>
                <a:cs typeface="Times New Roman" pitchFamily="18" charset="0"/>
              </a:rPr>
              <a:t>contd.</a:t>
            </a:r>
            <a:endParaRPr lang="en-US" sz="2800" dirty="0"/>
          </a:p>
        </p:txBody>
      </p:sp>
      <p:sp>
        <p:nvSpPr>
          <p:cNvPr id="3" name="Content Placeholder 2"/>
          <p:cNvSpPr>
            <a:spLocks noGrp="1"/>
          </p:cNvSpPr>
          <p:nvPr>
            <p:ph idx="1"/>
          </p:nvPr>
        </p:nvSpPr>
        <p:spPr>
          <a:xfrm>
            <a:off x="457200" y="1066800"/>
            <a:ext cx="8229600" cy="5791200"/>
          </a:xfrm>
        </p:spPr>
        <p:txBody>
          <a:bodyPr>
            <a:normAutofit fontScale="92500"/>
          </a:bodyPr>
          <a:lstStyle/>
          <a:p>
            <a:r>
              <a:rPr lang="en-GB" dirty="0">
                <a:latin typeface="Times New Roman" pitchFamily="18" charset="0"/>
                <a:cs typeface="Times New Roman" pitchFamily="18" charset="0"/>
              </a:rPr>
              <a:t>Two (2) types of proteins occur in milk:</a:t>
            </a:r>
            <a:endParaRPr lang="en-US" dirty="0">
              <a:latin typeface="Times New Roman" pitchFamily="18" charset="0"/>
              <a:cs typeface="Times New Roman" pitchFamily="18" charset="0"/>
            </a:endParaRPr>
          </a:p>
          <a:p>
            <a:pPr marL="850392" lvl="1" indent="-457200">
              <a:buFont typeface="+mj-lt"/>
              <a:buAutoNum type="arabicPeriod"/>
            </a:pPr>
            <a:r>
              <a:rPr lang="en-GB" b="1" dirty="0">
                <a:latin typeface="Times New Roman" pitchFamily="18" charset="0"/>
                <a:cs typeface="Times New Roman" pitchFamily="18" charset="0"/>
              </a:rPr>
              <a:t>Casein</a:t>
            </a:r>
            <a:r>
              <a:rPr lang="en-GB" dirty="0">
                <a:latin typeface="Times New Roman" pitchFamily="18" charset="0"/>
                <a:cs typeface="Times New Roman" pitchFamily="18" charset="0"/>
              </a:rPr>
              <a:t> which constitutes about </a:t>
            </a:r>
            <a:r>
              <a:rPr lang="en-GB" i="1" dirty="0">
                <a:latin typeface="Times New Roman" pitchFamily="18" charset="0"/>
                <a:cs typeface="Times New Roman" pitchFamily="18" charset="0"/>
              </a:rPr>
              <a:t>80-85% of protein</a:t>
            </a:r>
            <a:r>
              <a:rPr lang="en-GB" dirty="0">
                <a:latin typeface="Times New Roman" pitchFamily="18" charset="0"/>
                <a:cs typeface="Times New Roman" pitchFamily="18" charset="0"/>
              </a:rPr>
              <a:t> content. Casein is readily susceptible to </a:t>
            </a:r>
            <a:r>
              <a:rPr lang="en-GB" i="1" dirty="0">
                <a:latin typeface="Times New Roman" pitchFamily="18" charset="0"/>
                <a:cs typeface="Times New Roman" pitchFamily="18" charset="0"/>
              </a:rPr>
              <a:t>proteolysis</a:t>
            </a:r>
            <a:r>
              <a:rPr lang="en-GB" dirty="0">
                <a:latin typeface="Times New Roman" pitchFamily="18" charset="0"/>
                <a:cs typeface="Times New Roman" pitchFamily="18" charset="0"/>
              </a:rPr>
              <a:t> and is present in the form of highly hydrated micelles and precipitated at </a:t>
            </a:r>
            <a:r>
              <a:rPr lang="en-GB" i="1" dirty="0">
                <a:latin typeface="Times New Roman" pitchFamily="18" charset="0"/>
                <a:cs typeface="Times New Roman" pitchFamily="18" charset="0"/>
              </a:rPr>
              <a:t>pH 4.6</a:t>
            </a:r>
            <a:r>
              <a:rPr lang="en-GB" dirty="0">
                <a:latin typeface="Times New Roman" pitchFamily="18" charset="0"/>
                <a:cs typeface="Times New Roman" pitchFamily="18" charset="0"/>
              </a:rPr>
              <a:t>.</a:t>
            </a:r>
          </a:p>
          <a:p>
            <a:pPr marL="850392" lvl="1" indent="-457200">
              <a:buFont typeface="+mj-lt"/>
              <a:buAutoNum type="arabicPeriod"/>
            </a:pPr>
            <a:r>
              <a:rPr lang="en-GB" b="1" dirty="0">
                <a:latin typeface="Times New Roman" pitchFamily="18" charset="0"/>
                <a:cs typeface="Times New Roman" pitchFamily="18" charset="0"/>
              </a:rPr>
              <a:t>Whey </a:t>
            </a:r>
            <a:r>
              <a:rPr lang="en-GB" b="1" dirty="0" smtClean="0">
                <a:latin typeface="Times New Roman" pitchFamily="18" charset="0"/>
                <a:cs typeface="Times New Roman" pitchFamily="18" charset="0"/>
              </a:rPr>
              <a:t>proteins: </a:t>
            </a:r>
            <a:r>
              <a:rPr lang="en-GB" dirty="0" smtClean="0">
                <a:latin typeface="Times New Roman" pitchFamily="18" charset="0"/>
                <a:cs typeface="Times New Roman" pitchFamily="18" charset="0"/>
              </a:rPr>
              <a:t>a complex mixture of protein molecules comprising </a:t>
            </a:r>
            <a:r>
              <a:rPr lang="en-GB" i="1" dirty="0">
                <a:latin typeface="Times New Roman" pitchFamily="18" charset="0"/>
                <a:cs typeface="Times New Roman" pitchFamily="18" charset="0"/>
              </a:rPr>
              <a:t>β – </a:t>
            </a:r>
            <a:r>
              <a:rPr lang="en-GB" i="1" dirty="0" err="1">
                <a:latin typeface="Times New Roman" pitchFamily="18" charset="0"/>
                <a:cs typeface="Times New Roman" pitchFamily="18" charset="0"/>
              </a:rPr>
              <a:t>lactoglobulin</a:t>
            </a:r>
            <a:r>
              <a:rPr lang="en-GB" dirty="0">
                <a:latin typeface="Times New Roman" pitchFamily="18" charset="0"/>
                <a:cs typeface="Times New Roman" pitchFamily="18" charset="0"/>
              </a:rPr>
              <a:t>, </a:t>
            </a:r>
            <a:r>
              <a:rPr lang="en-GB" i="1" dirty="0">
                <a:latin typeface="Times New Roman" pitchFamily="18" charset="0"/>
                <a:cs typeface="Times New Roman" pitchFamily="18" charset="0"/>
              </a:rPr>
              <a:t>α – </a:t>
            </a:r>
            <a:r>
              <a:rPr lang="en-GB" i="1" dirty="0" err="1">
                <a:latin typeface="Times New Roman" pitchFamily="18" charset="0"/>
                <a:cs typeface="Times New Roman" pitchFamily="18" charset="0"/>
              </a:rPr>
              <a:t>lactoalbumin</a:t>
            </a:r>
            <a:r>
              <a:rPr lang="en-GB" dirty="0">
                <a:latin typeface="Times New Roman" pitchFamily="18" charset="0"/>
                <a:cs typeface="Times New Roman" pitchFamily="18" charset="0"/>
              </a:rPr>
              <a:t>, </a:t>
            </a:r>
            <a:r>
              <a:rPr lang="en-GB" i="1" dirty="0" err="1" smtClean="0">
                <a:latin typeface="Times New Roman" pitchFamily="18" charset="0"/>
                <a:cs typeface="Times New Roman" pitchFamily="18" charset="0"/>
              </a:rPr>
              <a:t>immunoglobulins</a:t>
            </a:r>
            <a:r>
              <a:rPr lang="en-GB" dirty="0">
                <a:latin typeface="Times New Roman" pitchFamily="18" charset="0"/>
                <a:cs typeface="Times New Roman" pitchFamily="18" charset="0"/>
              </a:rPr>
              <a:t> </a:t>
            </a:r>
            <a:r>
              <a:rPr lang="en-GB" dirty="0" smtClean="0">
                <a:latin typeface="Times New Roman" pitchFamily="18" charset="0"/>
                <a:cs typeface="Times New Roman" pitchFamily="18" charset="0"/>
              </a:rPr>
              <a:t>and other minor peptide components such as </a:t>
            </a:r>
            <a:r>
              <a:rPr lang="en-GB" dirty="0" err="1" smtClean="0">
                <a:latin typeface="Times New Roman" pitchFamily="18" charset="0"/>
                <a:cs typeface="Times New Roman" pitchFamily="18" charset="0"/>
              </a:rPr>
              <a:t>lactoferrin</a:t>
            </a:r>
            <a:r>
              <a:rPr lang="en-GB" dirty="0" smtClean="0">
                <a:latin typeface="Times New Roman" pitchFamily="18" charset="0"/>
                <a:cs typeface="Times New Roman" pitchFamily="18" charset="0"/>
              </a:rPr>
              <a:t> ,</a:t>
            </a:r>
            <a:r>
              <a:rPr lang="en-GB" dirty="0" err="1" smtClean="0">
                <a:latin typeface="Times New Roman" pitchFamily="18" charset="0"/>
                <a:cs typeface="Times New Roman" pitchFamily="18" charset="0"/>
              </a:rPr>
              <a:t>glycomacropeptide</a:t>
            </a:r>
            <a:r>
              <a:rPr lang="en-GB" dirty="0" smtClean="0">
                <a:latin typeface="Times New Roman" pitchFamily="18" charset="0"/>
                <a:cs typeface="Times New Roman" pitchFamily="18" charset="0"/>
              </a:rPr>
              <a:t>, </a:t>
            </a:r>
            <a:r>
              <a:rPr lang="en-GB" dirty="0" err="1" smtClean="0">
                <a:latin typeface="Times New Roman" pitchFamily="18" charset="0"/>
                <a:cs typeface="Times New Roman" pitchFamily="18" charset="0"/>
              </a:rPr>
              <a:t>etc</a:t>
            </a:r>
            <a:endParaRPr lang="en-GB" dirty="0" smtClean="0">
              <a:latin typeface="Times New Roman" pitchFamily="18" charset="0"/>
              <a:cs typeface="Times New Roman" pitchFamily="18" charset="0"/>
            </a:endParaRPr>
          </a:p>
          <a:p>
            <a:pPr marL="850392" lvl="1" indent="-457200">
              <a:buFont typeface="+mj-lt"/>
              <a:buAutoNum type="arabicPeriod"/>
            </a:pPr>
            <a:r>
              <a:rPr lang="en-GB" dirty="0">
                <a:latin typeface="Times New Roman" pitchFamily="18" charset="0"/>
                <a:cs typeface="Times New Roman" pitchFamily="18" charset="0"/>
              </a:rPr>
              <a:t>B</a:t>
            </a:r>
            <a:r>
              <a:rPr lang="en-GB" dirty="0" smtClean="0">
                <a:latin typeface="Times New Roman" pitchFamily="18" charset="0"/>
                <a:cs typeface="Times New Roman" pitchFamily="18" charset="0"/>
              </a:rPr>
              <a:t>SA</a:t>
            </a:r>
            <a:endParaRPr lang="en-US" dirty="0">
              <a:latin typeface="Times New Roman" pitchFamily="18" charset="0"/>
              <a:cs typeface="Times New Roman" pitchFamily="18" charset="0"/>
            </a:endParaRP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The protein content of the milk is reflective of the growth rate of young animal.</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The higher the growth rate, the more protein the milk contains.</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85800"/>
          </a:xfrm>
        </p:spPr>
        <p:txBody>
          <a:bodyPr>
            <a:noAutofit/>
          </a:bodyPr>
          <a:lstStyle/>
          <a:p>
            <a:pPr algn="ctr"/>
            <a:r>
              <a:rPr lang="en-GB" sz="2800" dirty="0">
                <a:latin typeface="Times New Roman" pitchFamily="18" charset="0"/>
                <a:cs typeface="Times New Roman" pitchFamily="18" charset="0"/>
              </a:rPr>
              <a:t>MILK AND MILK PRODUCTS...</a:t>
            </a:r>
            <a:r>
              <a:rPr lang="en-GB" sz="2800" i="1" dirty="0">
                <a:latin typeface="Times New Roman" pitchFamily="18" charset="0"/>
                <a:cs typeface="Times New Roman" pitchFamily="18" charset="0"/>
              </a:rPr>
              <a:t>contd.</a:t>
            </a:r>
            <a:endParaRPr lang="en-US" sz="2800" dirty="0"/>
          </a:p>
        </p:txBody>
      </p:sp>
      <p:sp>
        <p:nvSpPr>
          <p:cNvPr id="3" name="Content Placeholder 2"/>
          <p:cNvSpPr>
            <a:spLocks noGrp="1"/>
          </p:cNvSpPr>
          <p:nvPr>
            <p:ph idx="1"/>
          </p:nvPr>
        </p:nvSpPr>
        <p:spPr>
          <a:xfrm>
            <a:off x="457200" y="1066800"/>
            <a:ext cx="8229600" cy="5791200"/>
          </a:xfrm>
        </p:spPr>
        <p:txBody>
          <a:bodyPr>
            <a:normAutofit lnSpcReduction="10000"/>
          </a:bodyPr>
          <a:lstStyle/>
          <a:p>
            <a:r>
              <a:rPr lang="en-GB" dirty="0">
                <a:latin typeface="Times New Roman" pitchFamily="18" charset="0"/>
                <a:cs typeface="Times New Roman" pitchFamily="18" charset="0"/>
              </a:rPr>
              <a:t>Carbon sources include </a:t>
            </a:r>
            <a:r>
              <a:rPr lang="en-GB" b="1" i="1" dirty="0">
                <a:latin typeface="Times New Roman" pitchFamily="18" charset="0"/>
                <a:cs typeface="Times New Roman" pitchFamily="18" charset="0"/>
              </a:rPr>
              <a:t>lactose</a:t>
            </a:r>
            <a:r>
              <a:rPr lang="en-GB" dirty="0">
                <a:latin typeface="Times New Roman" pitchFamily="18" charset="0"/>
                <a:cs typeface="Times New Roman" pitchFamily="18" charset="0"/>
              </a:rPr>
              <a:t>, </a:t>
            </a:r>
            <a:r>
              <a:rPr lang="en-GB" b="1" i="1" dirty="0">
                <a:latin typeface="Times New Roman" pitchFamily="18" charset="0"/>
                <a:cs typeface="Times New Roman" pitchFamily="18" charset="0"/>
              </a:rPr>
              <a:t>glucose</a:t>
            </a:r>
            <a:r>
              <a:rPr lang="en-GB" dirty="0">
                <a:latin typeface="Times New Roman" pitchFamily="18" charset="0"/>
                <a:cs typeface="Times New Roman" pitchFamily="18" charset="0"/>
              </a:rPr>
              <a:t>, </a:t>
            </a:r>
            <a:r>
              <a:rPr lang="en-GB" b="1" i="1" dirty="0">
                <a:latin typeface="Times New Roman" pitchFamily="18" charset="0"/>
                <a:cs typeface="Times New Roman" pitchFamily="18" charset="0"/>
              </a:rPr>
              <a:t>citrate</a:t>
            </a:r>
            <a:r>
              <a:rPr lang="en-GB" dirty="0">
                <a:latin typeface="Times New Roman" pitchFamily="18" charset="0"/>
                <a:cs typeface="Times New Roman" pitchFamily="18" charset="0"/>
              </a:rPr>
              <a:t> and </a:t>
            </a:r>
            <a:r>
              <a:rPr lang="en-GB" b="1" i="1" dirty="0">
                <a:latin typeface="Times New Roman" pitchFamily="18" charset="0"/>
                <a:cs typeface="Times New Roman" pitchFamily="18" charset="0"/>
              </a:rPr>
              <a:t>proteins</a:t>
            </a:r>
            <a:r>
              <a:rPr lang="en-GB" dirty="0">
                <a:latin typeface="Times New Roman" pitchFamily="18" charset="0"/>
                <a:cs typeface="Times New Roman" pitchFamily="18" charset="0"/>
              </a:rPr>
              <a:t>.</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Most microbes can’t utilise lactose and most rely on </a:t>
            </a:r>
            <a:r>
              <a:rPr lang="en-GB" b="1" i="1" dirty="0">
                <a:latin typeface="Times New Roman" pitchFamily="18" charset="0"/>
                <a:cs typeface="Times New Roman" pitchFamily="18" charset="0"/>
              </a:rPr>
              <a:t>proteolysis</a:t>
            </a:r>
            <a:r>
              <a:rPr lang="en-GB" dirty="0">
                <a:latin typeface="Times New Roman" pitchFamily="18" charset="0"/>
                <a:cs typeface="Times New Roman" pitchFamily="18" charset="0"/>
              </a:rPr>
              <a:t> and </a:t>
            </a:r>
            <a:r>
              <a:rPr lang="en-GB" b="1" i="1" dirty="0" err="1">
                <a:latin typeface="Times New Roman" pitchFamily="18" charset="0"/>
                <a:cs typeface="Times New Roman" pitchFamily="18" charset="0"/>
              </a:rPr>
              <a:t>lipolysis</a:t>
            </a:r>
            <a:r>
              <a:rPr lang="en-GB" dirty="0">
                <a:latin typeface="Times New Roman" pitchFamily="18" charset="0"/>
                <a:cs typeface="Times New Roman" pitchFamily="18" charset="0"/>
              </a:rPr>
              <a:t> to obtain carbon and energy.</a:t>
            </a:r>
            <a:endParaRPr lang="en-US" dirty="0">
              <a:latin typeface="Times New Roman" pitchFamily="18" charset="0"/>
              <a:cs typeface="Times New Roman" pitchFamily="18" charset="0"/>
            </a:endParaRP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Freshly collected milk contains various growth inhibitors whose effectiveness decreases with storage.</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Examples: </a:t>
            </a:r>
            <a:r>
              <a:rPr lang="en-GB" b="1" dirty="0" err="1">
                <a:latin typeface="Times New Roman" pitchFamily="18" charset="0"/>
                <a:cs typeface="Times New Roman" pitchFamily="18" charset="0"/>
              </a:rPr>
              <a:t>lactoferrin</a:t>
            </a:r>
            <a:r>
              <a:rPr lang="en-GB" dirty="0">
                <a:latin typeface="Times New Roman" pitchFamily="18" charset="0"/>
                <a:cs typeface="Times New Roman" pitchFamily="18" charset="0"/>
              </a:rPr>
              <a:t>, </a:t>
            </a:r>
            <a:r>
              <a:rPr lang="en-GB" b="1" dirty="0" err="1">
                <a:latin typeface="Times New Roman" pitchFamily="18" charset="0"/>
                <a:cs typeface="Times New Roman" pitchFamily="18" charset="0"/>
              </a:rPr>
              <a:t>lactoperoxidase</a:t>
            </a:r>
            <a:r>
              <a:rPr lang="en-GB" dirty="0">
                <a:latin typeface="Times New Roman" pitchFamily="18" charset="0"/>
                <a:cs typeface="Times New Roman" pitchFamily="18" charset="0"/>
              </a:rPr>
              <a:t>.</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For example </a:t>
            </a:r>
            <a:r>
              <a:rPr lang="en-GB" b="1" dirty="0" err="1">
                <a:latin typeface="Times New Roman" pitchFamily="18" charset="0"/>
                <a:cs typeface="Times New Roman" pitchFamily="18" charset="0"/>
              </a:rPr>
              <a:t>Psychotrophic</a:t>
            </a:r>
            <a:r>
              <a:rPr lang="en-GB" b="1" dirty="0">
                <a:latin typeface="Times New Roman" pitchFamily="18" charset="0"/>
                <a:cs typeface="Times New Roman" pitchFamily="18" charset="0"/>
              </a:rPr>
              <a:t> aerobes</a:t>
            </a:r>
            <a:r>
              <a:rPr lang="en-GB" dirty="0">
                <a:latin typeface="Times New Roman" pitchFamily="18" charset="0"/>
                <a:cs typeface="Times New Roman" pitchFamily="18" charset="0"/>
              </a:rPr>
              <a:t> which commonly spoil refrigerated milk are inhibited by </a:t>
            </a:r>
            <a:r>
              <a:rPr lang="en-GB" dirty="0" err="1">
                <a:latin typeface="Times New Roman" pitchFamily="18" charset="0"/>
                <a:cs typeface="Times New Roman" pitchFamily="18" charset="0"/>
              </a:rPr>
              <a:t>lactoferrin</a:t>
            </a:r>
            <a:r>
              <a:rPr lang="en-GB" dirty="0">
                <a:latin typeface="Times New Roman" pitchFamily="18" charset="0"/>
                <a:cs typeface="Times New Roman" pitchFamily="18" charset="0"/>
              </a:rPr>
              <a:t>.</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85800"/>
          </a:xfrm>
        </p:spPr>
        <p:txBody>
          <a:bodyPr>
            <a:noAutofit/>
          </a:bodyPr>
          <a:lstStyle/>
          <a:p>
            <a:pPr algn="ctr"/>
            <a:r>
              <a:rPr lang="en-GB" sz="2800" dirty="0">
                <a:latin typeface="Times New Roman" pitchFamily="18" charset="0"/>
                <a:cs typeface="Times New Roman" pitchFamily="18" charset="0"/>
              </a:rPr>
              <a:t>MILK AND MILK PRODUCTS...</a:t>
            </a:r>
            <a:r>
              <a:rPr lang="en-GB" sz="2800" i="1" dirty="0">
                <a:latin typeface="Times New Roman" pitchFamily="18" charset="0"/>
                <a:cs typeface="Times New Roman" pitchFamily="18" charset="0"/>
              </a:rPr>
              <a:t>contd.</a:t>
            </a:r>
            <a:endParaRPr lang="en-US" sz="2800" dirty="0"/>
          </a:p>
        </p:txBody>
      </p:sp>
      <p:sp>
        <p:nvSpPr>
          <p:cNvPr id="3" name="Content Placeholder 2"/>
          <p:cNvSpPr>
            <a:spLocks noGrp="1"/>
          </p:cNvSpPr>
          <p:nvPr>
            <p:ph idx="1"/>
          </p:nvPr>
        </p:nvSpPr>
        <p:spPr>
          <a:xfrm>
            <a:off x="457200" y="1066800"/>
            <a:ext cx="8229600" cy="5791200"/>
          </a:xfrm>
        </p:spPr>
        <p:txBody>
          <a:bodyPr>
            <a:normAutofit/>
          </a:bodyPr>
          <a:lstStyle/>
          <a:p>
            <a:r>
              <a:rPr lang="en-GB" sz="2800" dirty="0">
                <a:latin typeface="Times New Roman" pitchFamily="18" charset="0"/>
                <a:cs typeface="Times New Roman" pitchFamily="18" charset="0"/>
              </a:rPr>
              <a:t>The most effective </a:t>
            </a:r>
            <a:r>
              <a:rPr lang="en-GB" sz="2800" b="1" dirty="0">
                <a:latin typeface="Times New Roman" pitchFamily="18" charset="0"/>
                <a:cs typeface="Times New Roman" pitchFamily="18" charset="0"/>
              </a:rPr>
              <a:t>natural inhibitor</a:t>
            </a:r>
            <a:r>
              <a:rPr lang="en-GB" sz="2800" dirty="0">
                <a:latin typeface="Times New Roman" pitchFamily="18" charset="0"/>
                <a:cs typeface="Times New Roman" pitchFamily="18" charset="0"/>
              </a:rPr>
              <a:t> is the </a:t>
            </a:r>
            <a:r>
              <a:rPr lang="en-GB" sz="2800" b="1" i="1" dirty="0" err="1">
                <a:latin typeface="Times New Roman" pitchFamily="18" charset="0"/>
                <a:cs typeface="Times New Roman" pitchFamily="18" charset="0"/>
              </a:rPr>
              <a:t>lactoperoxidase</a:t>
            </a:r>
            <a:r>
              <a:rPr lang="en-GB" sz="2800" b="1" i="1" dirty="0">
                <a:latin typeface="Times New Roman" pitchFamily="18" charset="0"/>
                <a:cs typeface="Times New Roman" pitchFamily="18" charset="0"/>
              </a:rPr>
              <a:t> system</a:t>
            </a:r>
            <a:r>
              <a:rPr lang="en-GB" sz="2800" dirty="0">
                <a:latin typeface="Times New Roman" pitchFamily="18" charset="0"/>
                <a:cs typeface="Times New Roman" pitchFamily="18" charset="0"/>
              </a:rPr>
              <a:t> and this is stimulated by the presence of </a:t>
            </a:r>
            <a:r>
              <a:rPr lang="en-GB" sz="2800" b="1" dirty="0">
                <a:latin typeface="Times New Roman" pitchFamily="18" charset="0"/>
                <a:cs typeface="Times New Roman" pitchFamily="18" charset="0"/>
              </a:rPr>
              <a:t>hydrogen peroxide</a:t>
            </a:r>
            <a:r>
              <a:rPr lang="en-GB" sz="2800" dirty="0">
                <a:latin typeface="Times New Roman" pitchFamily="18" charset="0"/>
                <a:cs typeface="Times New Roman" pitchFamily="18" charset="0"/>
              </a:rPr>
              <a:t>.</a:t>
            </a:r>
          </a:p>
          <a:p>
            <a:endParaRPr lang="en-GB" sz="2800" dirty="0">
              <a:latin typeface="Times New Roman" pitchFamily="18" charset="0"/>
              <a:cs typeface="Times New Roman" pitchFamily="18" charset="0"/>
            </a:endParaRPr>
          </a:p>
          <a:p>
            <a:r>
              <a:rPr lang="en-GB" sz="2800" dirty="0">
                <a:latin typeface="Times New Roman" pitchFamily="18" charset="0"/>
                <a:cs typeface="Times New Roman" pitchFamily="18" charset="0"/>
              </a:rPr>
              <a:t>Other constituents including </a:t>
            </a:r>
            <a:r>
              <a:rPr lang="en-GB" sz="2800" b="1" dirty="0">
                <a:latin typeface="Times New Roman" pitchFamily="18" charset="0"/>
                <a:cs typeface="Times New Roman" pitchFamily="18" charset="0"/>
              </a:rPr>
              <a:t>bicarbonates and citrates</a:t>
            </a:r>
            <a:r>
              <a:rPr lang="en-GB" sz="2800" dirty="0">
                <a:latin typeface="Times New Roman" pitchFamily="18" charset="0"/>
                <a:cs typeface="Times New Roman" pitchFamily="18" charset="0"/>
              </a:rPr>
              <a:t> antagonise the antimicrobial agents.</a:t>
            </a:r>
          </a:p>
          <a:p>
            <a:endParaRPr lang="en-GB" sz="2800" dirty="0">
              <a:latin typeface="Times New Roman" pitchFamily="18" charset="0"/>
              <a:cs typeface="Times New Roman" pitchFamily="18" charset="0"/>
            </a:endParaRPr>
          </a:p>
          <a:p>
            <a:r>
              <a:rPr lang="en-GB" sz="2800" dirty="0">
                <a:latin typeface="Times New Roman" pitchFamily="18" charset="0"/>
                <a:cs typeface="Times New Roman" pitchFamily="18" charset="0"/>
              </a:rPr>
              <a:t>The </a:t>
            </a:r>
            <a:r>
              <a:rPr lang="en-GB" sz="2800" b="1" dirty="0">
                <a:latin typeface="Times New Roman" pitchFamily="18" charset="0"/>
                <a:cs typeface="Times New Roman" pitchFamily="18" charset="0"/>
              </a:rPr>
              <a:t>pH</a:t>
            </a:r>
            <a:r>
              <a:rPr lang="en-GB" sz="2800" dirty="0">
                <a:latin typeface="Times New Roman" pitchFamily="18" charset="0"/>
                <a:cs typeface="Times New Roman" pitchFamily="18" charset="0"/>
              </a:rPr>
              <a:t> of milk ranges between </a:t>
            </a:r>
            <a:r>
              <a:rPr lang="en-GB" sz="2800" b="1" dirty="0">
                <a:latin typeface="Times New Roman" pitchFamily="18" charset="0"/>
                <a:cs typeface="Times New Roman" pitchFamily="18" charset="0"/>
              </a:rPr>
              <a:t>6.7 – 6.9.</a:t>
            </a:r>
            <a:endParaRPr lang="en-US" sz="2800" b="1"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62000"/>
          </a:xfrm>
        </p:spPr>
        <p:txBody>
          <a:bodyPr>
            <a:normAutofit/>
          </a:bodyPr>
          <a:lstStyle/>
          <a:p>
            <a:pPr algn="ctr"/>
            <a:r>
              <a:rPr lang="en-GB" sz="2800" b="1" dirty="0">
                <a:latin typeface="Times New Roman" pitchFamily="18" charset="0"/>
                <a:cs typeface="Times New Roman" pitchFamily="18" charset="0"/>
              </a:rPr>
              <a:t>THE NORMAL MICROFLORA OF MILK</a:t>
            </a:r>
            <a:endParaRPr lang="en-US" sz="2800" b="1" dirty="0">
              <a:latin typeface="Times New Roman" pitchFamily="18" charset="0"/>
              <a:cs typeface="Times New Roman" pitchFamily="18" charset="0"/>
            </a:endParaRPr>
          </a:p>
        </p:txBody>
      </p:sp>
      <p:sp>
        <p:nvSpPr>
          <p:cNvPr id="3" name="Content Placeholder 2"/>
          <p:cNvSpPr>
            <a:spLocks noGrp="1"/>
          </p:cNvSpPr>
          <p:nvPr>
            <p:ph idx="1"/>
          </p:nvPr>
        </p:nvSpPr>
        <p:spPr>
          <a:xfrm>
            <a:off x="457200" y="1066800"/>
            <a:ext cx="8229600" cy="5791200"/>
          </a:xfrm>
        </p:spPr>
        <p:txBody>
          <a:bodyPr>
            <a:normAutofit/>
          </a:bodyPr>
          <a:lstStyle/>
          <a:p>
            <a:r>
              <a:rPr lang="en-GB" sz="2800" dirty="0">
                <a:latin typeface="Times New Roman" pitchFamily="18" charset="0"/>
                <a:cs typeface="Times New Roman" pitchFamily="18" charset="0"/>
              </a:rPr>
              <a:t>Milk deposited in the udder of a healthy animal is sterile and has a </a:t>
            </a:r>
            <a:r>
              <a:rPr lang="en-GB" sz="2800" b="1" dirty="0">
                <a:latin typeface="Times New Roman" pitchFamily="18" charset="0"/>
                <a:cs typeface="Times New Roman" pitchFamily="18" charset="0"/>
              </a:rPr>
              <a:t>pH of about 6.8</a:t>
            </a:r>
            <a:r>
              <a:rPr lang="en-GB" sz="2800" dirty="0">
                <a:latin typeface="Times New Roman" pitchFamily="18" charset="0"/>
                <a:cs typeface="Times New Roman" pitchFamily="18" charset="0"/>
              </a:rPr>
              <a:t> or </a:t>
            </a:r>
            <a:r>
              <a:rPr lang="en-GB" sz="2800" b="1" dirty="0">
                <a:latin typeface="Times New Roman" pitchFamily="18" charset="0"/>
                <a:cs typeface="Times New Roman" pitchFamily="18" charset="0"/>
              </a:rPr>
              <a:t>nearly neutral</a:t>
            </a:r>
            <a:r>
              <a:rPr lang="en-GB" sz="2800" dirty="0">
                <a:latin typeface="Times New Roman" pitchFamily="18" charset="0"/>
                <a:cs typeface="Times New Roman" pitchFamily="18" charset="0"/>
              </a:rPr>
              <a:t>.</a:t>
            </a:r>
          </a:p>
          <a:p>
            <a:endParaRPr lang="en-GB" sz="2800" dirty="0">
              <a:latin typeface="Times New Roman" pitchFamily="18" charset="0"/>
              <a:cs typeface="Times New Roman" pitchFamily="18" charset="0"/>
            </a:endParaRPr>
          </a:p>
          <a:p>
            <a:r>
              <a:rPr lang="en-GB" sz="2800" dirty="0">
                <a:latin typeface="Times New Roman" pitchFamily="18" charset="0"/>
                <a:cs typeface="Times New Roman" pitchFamily="18" charset="0"/>
              </a:rPr>
              <a:t>Microflora comes from three (3) main sources:</a:t>
            </a:r>
            <a:endParaRPr lang="en-US" sz="2800" dirty="0">
              <a:latin typeface="Times New Roman" pitchFamily="18" charset="0"/>
              <a:cs typeface="Times New Roman" pitchFamily="18" charset="0"/>
            </a:endParaRPr>
          </a:p>
          <a:p>
            <a:pPr lvl="1"/>
            <a:r>
              <a:rPr lang="en-GB" sz="2800" dirty="0">
                <a:latin typeface="Times New Roman" pitchFamily="18" charset="0"/>
                <a:cs typeface="Times New Roman" pitchFamily="18" charset="0"/>
              </a:rPr>
              <a:t>Teat  and udder exteriors</a:t>
            </a:r>
            <a:endParaRPr lang="en-US" sz="2800" dirty="0">
              <a:latin typeface="Times New Roman" pitchFamily="18" charset="0"/>
              <a:cs typeface="Times New Roman" pitchFamily="18" charset="0"/>
            </a:endParaRPr>
          </a:p>
          <a:p>
            <a:pPr lvl="1"/>
            <a:r>
              <a:rPr lang="en-GB" sz="2800" dirty="0">
                <a:latin typeface="Times New Roman" pitchFamily="18" charset="0"/>
                <a:cs typeface="Times New Roman" pitchFamily="18" charset="0"/>
              </a:rPr>
              <a:t>Udder interior</a:t>
            </a:r>
            <a:endParaRPr lang="en-US" sz="2800" dirty="0">
              <a:latin typeface="Times New Roman" pitchFamily="18" charset="0"/>
              <a:cs typeface="Times New Roman" pitchFamily="18" charset="0"/>
            </a:endParaRPr>
          </a:p>
          <a:p>
            <a:pPr lvl="1"/>
            <a:r>
              <a:rPr lang="en-GB" sz="2800" dirty="0">
                <a:latin typeface="Times New Roman" pitchFamily="18" charset="0"/>
                <a:cs typeface="Times New Roman" pitchFamily="18" charset="0"/>
              </a:rPr>
              <a:t>the milking and the milk handling equipment</a:t>
            </a:r>
          </a:p>
          <a:p>
            <a:endParaRPr lang="en-GB" sz="2800" dirty="0">
              <a:latin typeface="Times New Roman" pitchFamily="18" charset="0"/>
              <a:cs typeface="Times New Roman" pitchFamily="18" charset="0"/>
            </a:endParaRPr>
          </a:p>
          <a:p>
            <a:r>
              <a:rPr lang="en-GB" sz="2800" dirty="0">
                <a:latin typeface="Times New Roman" pitchFamily="18" charset="0"/>
                <a:cs typeface="Times New Roman" pitchFamily="18" charset="0"/>
              </a:rPr>
              <a:t>Some </a:t>
            </a:r>
            <a:r>
              <a:rPr lang="en-GB" sz="2800" b="1" dirty="0">
                <a:latin typeface="Times New Roman" pitchFamily="18" charset="0"/>
                <a:cs typeface="Times New Roman" pitchFamily="18" charset="0"/>
              </a:rPr>
              <a:t>saprophytes</a:t>
            </a:r>
            <a:r>
              <a:rPr lang="en-GB" sz="2800" dirty="0">
                <a:latin typeface="Times New Roman" pitchFamily="18" charset="0"/>
                <a:cs typeface="Times New Roman" pitchFamily="18" charset="0"/>
              </a:rPr>
              <a:t> of the outside environment such as </a:t>
            </a:r>
            <a:r>
              <a:rPr lang="en-GB" sz="2800" b="1" i="1" dirty="0">
                <a:latin typeface="Times New Roman" pitchFamily="18" charset="0"/>
                <a:cs typeface="Times New Roman" pitchFamily="18" charset="0"/>
              </a:rPr>
              <a:t>Streptococci</a:t>
            </a:r>
            <a:r>
              <a:rPr lang="en-GB" sz="2800" dirty="0">
                <a:latin typeface="Times New Roman" pitchFamily="18" charset="0"/>
                <a:cs typeface="Times New Roman" pitchFamily="18" charset="0"/>
              </a:rPr>
              <a:t>, </a:t>
            </a:r>
            <a:r>
              <a:rPr lang="en-GB" sz="2800" b="1" i="1" dirty="0" err="1">
                <a:latin typeface="Times New Roman" pitchFamily="18" charset="0"/>
                <a:cs typeface="Times New Roman" pitchFamily="18" charset="0"/>
              </a:rPr>
              <a:t>Micrococci</a:t>
            </a:r>
            <a:r>
              <a:rPr lang="en-GB" sz="2800" dirty="0">
                <a:latin typeface="Times New Roman" pitchFamily="18" charset="0"/>
                <a:cs typeface="Times New Roman" pitchFamily="18" charset="0"/>
              </a:rPr>
              <a:t>, </a:t>
            </a:r>
            <a:r>
              <a:rPr lang="en-GB" sz="2800" b="1" i="1" dirty="0" err="1">
                <a:latin typeface="Times New Roman" pitchFamily="18" charset="0"/>
                <a:cs typeface="Times New Roman" pitchFamily="18" charset="0"/>
              </a:rPr>
              <a:t>Corynebacterium</a:t>
            </a:r>
            <a:r>
              <a:rPr lang="en-GB" sz="2800" dirty="0">
                <a:latin typeface="Times New Roman" pitchFamily="18" charset="0"/>
                <a:cs typeface="Times New Roman" pitchFamily="18" charset="0"/>
              </a:rPr>
              <a:t>, </a:t>
            </a:r>
            <a:r>
              <a:rPr lang="en-GB" sz="2800" b="1" i="1" dirty="0" err="1">
                <a:latin typeface="Times New Roman" pitchFamily="18" charset="0"/>
                <a:cs typeface="Times New Roman" pitchFamily="18" charset="0"/>
              </a:rPr>
              <a:t>Lactobacteriaceace</a:t>
            </a:r>
            <a:r>
              <a:rPr lang="en-GB" sz="2800" dirty="0">
                <a:latin typeface="Times New Roman" pitchFamily="18" charset="0"/>
                <a:cs typeface="Times New Roman" pitchFamily="18" charset="0"/>
              </a:rPr>
              <a:t>, can invade and grow.</a:t>
            </a:r>
          </a:p>
          <a:p>
            <a:pPr>
              <a:buNone/>
            </a:pPr>
            <a:endParaRPr lang="en-US" sz="28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85800"/>
          </a:xfrm>
        </p:spPr>
        <p:txBody>
          <a:bodyPr>
            <a:noAutofit/>
          </a:bodyPr>
          <a:lstStyle/>
          <a:p>
            <a:pPr algn="ctr"/>
            <a:r>
              <a:rPr lang="en-GB" sz="2800" dirty="0">
                <a:latin typeface="Times New Roman" pitchFamily="18" charset="0"/>
                <a:cs typeface="Times New Roman" pitchFamily="18" charset="0"/>
              </a:rPr>
              <a:t>MICROFLORA OF MILK...</a:t>
            </a:r>
            <a:r>
              <a:rPr lang="en-GB" sz="2800" i="1" dirty="0">
                <a:latin typeface="Times New Roman" pitchFamily="18" charset="0"/>
                <a:cs typeface="Times New Roman" pitchFamily="18" charset="0"/>
              </a:rPr>
              <a:t>contd.</a:t>
            </a:r>
            <a:endParaRPr lang="en-US" sz="2800" dirty="0"/>
          </a:p>
        </p:txBody>
      </p:sp>
      <p:sp>
        <p:nvSpPr>
          <p:cNvPr id="3" name="Content Placeholder 2"/>
          <p:cNvSpPr>
            <a:spLocks noGrp="1"/>
          </p:cNvSpPr>
          <p:nvPr>
            <p:ph idx="1"/>
          </p:nvPr>
        </p:nvSpPr>
        <p:spPr>
          <a:xfrm>
            <a:off x="457200" y="1066800"/>
            <a:ext cx="8229600" cy="5791200"/>
          </a:xfrm>
        </p:spPr>
        <p:txBody>
          <a:bodyPr>
            <a:noAutofit/>
          </a:bodyPr>
          <a:lstStyle/>
          <a:p>
            <a:r>
              <a:rPr lang="en-GB" sz="2800" dirty="0">
                <a:latin typeface="Times New Roman" pitchFamily="18" charset="0"/>
                <a:cs typeface="Times New Roman" pitchFamily="18" charset="0"/>
              </a:rPr>
              <a:t>This growth occurs a short way up into the milk duct of the teat and for this reason, the first milk drawn usually contains 1000’s of  bacteria and as a rule this milk is discarded.</a:t>
            </a:r>
          </a:p>
          <a:p>
            <a:endParaRPr lang="en-GB" sz="2800" dirty="0">
              <a:latin typeface="Times New Roman" pitchFamily="18" charset="0"/>
              <a:cs typeface="Times New Roman" pitchFamily="18" charset="0"/>
            </a:endParaRPr>
          </a:p>
          <a:p>
            <a:pPr marL="0" indent="0">
              <a:buNone/>
            </a:pPr>
            <a:r>
              <a:rPr lang="en-GB" sz="2800" dirty="0">
                <a:latin typeface="Times New Roman" pitchFamily="18" charset="0"/>
                <a:cs typeface="Times New Roman" pitchFamily="18" charset="0"/>
              </a:rPr>
              <a:t>    Most of the bacteria come from</a:t>
            </a:r>
          </a:p>
          <a:p>
            <a:pPr lvl="1"/>
            <a:r>
              <a:rPr lang="en-GB" sz="2800" dirty="0">
                <a:latin typeface="Times New Roman" pitchFamily="18" charset="0"/>
                <a:cs typeface="Times New Roman" pitchFamily="18" charset="0"/>
              </a:rPr>
              <a:t>containers used for the milk processing,</a:t>
            </a:r>
          </a:p>
          <a:p>
            <a:pPr lvl="1"/>
            <a:r>
              <a:rPr lang="en-GB" sz="2800" dirty="0">
                <a:latin typeface="Times New Roman" pitchFamily="18" charset="0"/>
                <a:cs typeface="Times New Roman" pitchFamily="18" charset="0"/>
              </a:rPr>
              <a:t>the soil,</a:t>
            </a:r>
          </a:p>
          <a:p>
            <a:pPr lvl="1"/>
            <a:r>
              <a:rPr lang="en-GB" sz="2800" dirty="0">
                <a:latin typeface="Times New Roman" pitchFamily="18" charset="0"/>
                <a:cs typeface="Times New Roman" pitchFamily="18" charset="0"/>
              </a:rPr>
              <a:t>the tail,</a:t>
            </a:r>
          </a:p>
          <a:p>
            <a:pPr lvl="1"/>
            <a:r>
              <a:rPr lang="en-GB" sz="2800" dirty="0">
                <a:latin typeface="Times New Roman" pitchFamily="18" charset="0"/>
                <a:cs typeface="Times New Roman" pitchFamily="18" charset="0"/>
              </a:rPr>
              <a:t>the udder of the animal, </a:t>
            </a:r>
          </a:p>
          <a:p>
            <a:pPr lvl="1"/>
            <a:r>
              <a:rPr lang="en-GB" sz="2800" dirty="0">
                <a:latin typeface="Times New Roman" pitchFamily="18" charset="0"/>
                <a:cs typeface="Times New Roman" pitchFamily="18" charset="0"/>
              </a:rPr>
              <a:t>dust in the air.</a:t>
            </a: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85800"/>
          </a:xfrm>
        </p:spPr>
        <p:txBody>
          <a:bodyPr>
            <a:noAutofit/>
          </a:bodyPr>
          <a:lstStyle/>
          <a:p>
            <a:pPr algn="ctr"/>
            <a:r>
              <a:rPr lang="en-GB" sz="2800" dirty="0">
                <a:latin typeface="Times New Roman" pitchFamily="18" charset="0"/>
                <a:cs typeface="Times New Roman" pitchFamily="18" charset="0"/>
              </a:rPr>
              <a:t>MICROFLORA OF MILK...</a:t>
            </a:r>
            <a:r>
              <a:rPr lang="en-GB" sz="2800" i="1" dirty="0">
                <a:latin typeface="Times New Roman" pitchFamily="18" charset="0"/>
                <a:cs typeface="Times New Roman" pitchFamily="18" charset="0"/>
              </a:rPr>
              <a:t>contd.</a:t>
            </a: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066800"/>
            <a:ext cx="8229600" cy="5638800"/>
          </a:xfrm>
        </p:spPr>
        <p:txBody>
          <a:bodyPr/>
          <a:lstStyle/>
          <a:p>
            <a:r>
              <a:rPr lang="en-GB" dirty="0">
                <a:latin typeface="Times New Roman" pitchFamily="18" charset="0"/>
                <a:cs typeface="Times New Roman" pitchFamily="18" charset="0"/>
              </a:rPr>
              <a:t>Yeast, moulds and several other saprophytes also find their way into the milk and this constitutes the normal micro flora of milk.</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The organisms have complex nutritional requirements.</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The lactic acid bacteria require fermentable carbohydrates as a source of energy.</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Lactic acid bacteria are divided into two groups;</a:t>
            </a:r>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85800"/>
          </a:xfrm>
        </p:spPr>
        <p:txBody>
          <a:bodyPr>
            <a:noAutofit/>
          </a:bodyPr>
          <a:lstStyle/>
          <a:p>
            <a:pPr algn="ctr"/>
            <a:r>
              <a:rPr lang="en-GB" sz="2800" dirty="0">
                <a:latin typeface="Times New Roman" pitchFamily="18" charset="0"/>
                <a:cs typeface="Times New Roman" pitchFamily="18" charset="0"/>
              </a:rPr>
              <a:t>MICROFLORA OF MILK...</a:t>
            </a:r>
            <a:r>
              <a:rPr lang="en-GB" sz="2800" i="1" dirty="0">
                <a:latin typeface="Times New Roman" pitchFamily="18" charset="0"/>
                <a:cs typeface="Times New Roman" pitchFamily="18" charset="0"/>
              </a:rPr>
              <a:t>contd.</a:t>
            </a:r>
            <a:endParaRPr lang="en-US" sz="2800" dirty="0"/>
          </a:p>
        </p:txBody>
      </p:sp>
      <p:sp>
        <p:nvSpPr>
          <p:cNvPr id="3" name="Content Placeholder 2"/>
          <p:cNvSpPr>
            <a:spLocks noGrp="1"/>
          </p:cNvSpPr>
          <p:nvPr>
            <p:ph idx="1"/>
          </p:nvPr>
        </p:nvSpPr>
        <p:spPr>
          <a:xfrm>
            <a:off x="457200" y="1066800"/>
            <a:ext cx="8229600" cy="5638800"/>
          </a:xfrm>
        </p:spPr>
        <p:txBody>
          <a:bodyPr/>
          <a:lstStyle/>
          <a:p>
            <a:pPr marL="880110" lvl="1" indent="-514350">
              <a:buFont typeface="+mj-lt"/>
              <a:buAutoNum type="arabicPeriod"/>
            </a:pPr>
            <a:r>
              <a:rPr lang="en-GB" dirty="0">
                <a:latin typeface="Times New Roman" pitchFamily="18" charset="0"/>
                <a:cs typeface="Times New Roman" pitchFamily="18" charset="0"/>
              </a:rPr>
              <a:t>Those that produce essentially </a:t>
            </a:r>
            <a:r>
              <a:rPr lang="en-GB" u="sng" dirty="0">
                <a:latin typeface="Times New Roman" pitchFamily="18" charset="0"/>
                <a:cs typeface="Times New Roman" pitchFamily="18" charset="0"/>
              </a:rPr>
              <a:t>only lactic acid</a:t>
            </a:r>
            <a:r>
              <a:rPr lang="en-GB" dirty="0">
                <a:latin typeface="Times New Roman" pitchFamily="18" charset="0"/>
                <a:cs typeface="Times New Roman" pitchFamily="18" charset="0"/>
              </a:rPr>
              <a:t> from the fermentable carbohydrate used as a carbon source  and are called </a:t>
            </a:r>
            <a:r>
              <a:rPr lang="en-GB" dirty="0" err="1">
                <a:latin typeface="Times New Roman" pitchFamily="18" charset="0"/>
                <a:cs typeface="Times New Roman" pitchFamily="18" charset="0"/>
              </a:rPr>
              <a:t>homofermentative</a:t>
            </a:r>
            <a:r>
              <a:rPr lang="en-GB" dirty="0">
                <a:latin typeface="Times New Roman" pitchFamily="18" charset="0"/>
                <a:cs typeface="Times New Roman" pitchFamily="18" charset="0"/>
              </a:rPr>
              <a:t>  Lactic Acid Bacteria (</a:t>
            </a:r>
            <a:r>
              <a:rPr lang="en-GB" b="1" dirty="0" err="1">
                <a:latin typeface="Times New Roman" pitchFamily="18" charset="0"/>
                <a:cs typeface="Times New Roman" pitchFamily="18" charset="0"/>
              </a:rPr>
              <a:t>Homofermentative</a:t>
            </a:r>
            <a:r>
              <a:rPr lang="en-GB" b="1" dirty="0">
                <a:latin typeface="Times New Roman" pitchFamily="18" charset="0"/>
                <a:cs typeface="Times New Roman" pitchFamily="18" charset="0"/>
              </a:rPr>
              <a:t> LAB</a:t>
            </a:r>
            <a:r>
              <a:rPr lang="en-GB" dirty="0">
                <a:latin typeface="Times New Roman" pitchFamily="18" charset="0"/>
                <a:cs typeface="Times New Roman" pitchFamily="18" charset="0"/>
              </a:rPr>
              <a:t>)</a:t>
            </a:r>
          </a:p>
          <a:p>
            <a:pPr marL="880110" lvl="1" indent="-514350">
              <a:buFont typeface="+mj-lt"/>
              <a:buAutoNum type="arabicPeriod"/>
            </a:pPr>
            <a:r>
              <a:rPr lang="en-GB" dirty="0">
                <a:latin typeface="Times New Roman" pitchFamily="18" charset="0"/>
                <a:cs typeface="Times New Roman" pitchFamily="18" charset="0"/>
              </a:rPr>
              <a:t>Those that produce </a:t>
            </a:r>
            <a:r>
              <a:rPr lang="en-GB" u="sng" dirty="0">
                <a:latin typeface="Times New Roman" pitchFamily="18" charset="0"/>
                <a:cs typeface="Times New Roman" pitchFamily="18" charset="0"/>
              </a:rPr>
              <a:t>acetic acid</a:t>
            </a:r>
            <a:r>
              <a:rPr lang="en-GB" dirty="0">
                <a:latin typeface="Times New Roman" pitchFamily="18" charset="0"/>
                <a:cs typeface="Times New Roman" pitchFamily="18" charset="0"/>
              </a:rPr>
              <a:t> and </a:t>
            </a:r>
            <a:r>
              <a:rPr lang="en-GB" u="sng" dirty="0">
                <a:latin typeface="Times New Roman" pitchFamily="18" charset="0"/>
                <a:cs typeface="Times New Roman" pitchFamily="18" charset="0"/>
              </a:rPr>
              <a:t>lactic acid</a:t>
            </a:r>
            <a:r>
              <a:rPr lang="en-GB" dirty="0">
                <a:latin typeface="Times New Roman" pitchFamily="18" charset="0"/>
                <a:cs typeface="Times New Roman" pitchFamily="18" charset="0"/>
              </a:rPr>
              <a:t>, </a:t>
            </a:r>
            <a:r>
              <a:rPr lang="en-GB" u="sng" dirty="0">
                <a:latin typeface="Times New Roman" pitchFamily="18" charset="0"/>
                <a:cs typeface="Times New Roman" pitchFamily="18" charset="0"/>
              </a:rPr>
              <a:t>ethanol </a:t>
            </a:r>
            <a:r>
              <a:rPr lang="en-GB" dirty="0">
                <a:latin typeface="Times New Roman" pitchFamily="18" charset="0"/>
                <a:cs typeface="Times New Roman" pitchFamily="18" charset="0"/>
              </a:rPr>
              <a:t>and </a:t>
            </a:r>
            <a:r>
              <a:rPr lang="en-GB" u="sng" dirty="0">
                <a:latin typeface="Times New Roman" pitchFamily="18" charset="0"/>
                <a:cs typeface="Times New Roman" pitchFamily="18" charset="0"/>
              </a:rPr>
              <a:t>CO</a:t>
            </a:r>
            <a:r>
              <a:rPr lang="en-GB" u="sng" baseline="-25000" dirty="0">
                <a:latin typeface="Times New Roman" pitchFamily="18" charset="0"/>
                <a:cs typeface="Times New Roman" pitchFamily="18" charset="0"/>
              </a:rPr>
              <a:t>2</a:t>
            </a:r>
            <a:r>
              <a:rPr lang="en-GB" dirty="0">
                <a:latin typeface="Times New Roman" pitchFamily="18" charset="0"/>
                <a:cs typeface="Times New Roman" pitchFamily="18" charset="0"/>
              </a:rPr>
              <a:t> are called </a:t>
            </a:r>
            <a:r>
              <a:rPr lang="en-GB" b="1" dirty="0" err="1">
                <a:latin typeface="Times New Roman" pitchFamily="18" charset="0"/>
                <a:cs typeface="Times New Roman" pitchFamily="18" charset="0"/>
              </a:rPr>
              <a:t>Heterofermentative</a:t>
            </a:r>
            <a:r>
              <a:rPr lang="en-GB" b="1" dirty="0">
                <a:latin typeface="Times New Roman" pitchFamily="18" charset="0"/>
                <a:cs typeface="Times New Roman" pitchFamily="18" charset="0"/>
              </a:rPr>
              <a:t> LAB</a:t>
            </a:r>
            <a:r>
              <a:rPr lang="en-GB" dirty="0">
                <a:latin typeface="Times New Roman" pitchFamily="18" charset="0"/>
                <a:cs typeface="Times New Roman" pitchFamily="18" charset="0"/>
              </a:rPr>
              <a:t>.</a:t>
            </a:r>
            <a:endParaRPr lang="en-US" dirty="0">
              <a:latin typeface="Times New Roman" pitchFamily="18" charset="0"/>
              <a:cs typeface="Times New Roman" pitchFamily="18" charset="0"/>
            </a:endParaRP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The occurrence of these non-pathogenic bacteria in milk is usually not serious.</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But if they are allowed to multiply, the milk sours and putrefies or develops undesirable flavours, bad taste (e.g. bitter milk), or becomes ropy or slimy.</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85800"/>
          </a:xfrm>
        </p:spPr>
        <p:txBody>
          <a:bodyPr>
            <a:noAutofit/>
          </a:bodyPr>
          <a:lstStyle/>
          <a:p>
            <a:pPr algn="ctr"/>
            <a:r>
              <a:rPr lang="en-GB" sz="2800" dirty="0">
                <a:latin typeface="Times New Roman" pitchFamily="18" charset="0"/>
                <a:cs typeface="Times New Roman" pitchFamily="18" charset="0"/>
              </a:rPr>
              <a:t>MICROFLORA OF MILK...</a:t>
            </a:r>
            <a:r>
              <a:rPr lang="en-GB" sz="2800" i="1" dirty="0">
                <a:latin typeface="Times New Roman" pitchFamily="18" charset="0"/>
                <a:cs typeface="Times New Roman" pitchFamily="18" charset="0"/>
              </a:rPr>
              <a:t>contd.</a:t>
            </a:r>
            <a:endParaRPr lang="en-US" sz="2800" dirty="0"/>
          </a:p>
        </p:txBody>
      </p:sp>
      <p:sp>
        <p:nvSpPr>
          <p:cNvPr id="3" name="Content Placeholder 2"/>
          <p:cNvSpPr>
            <a:spLocks noGrp="1"/>
          </p:cNvSpPr>
          <p:nvPr>
            <p:ph idx="1"/>
          </p:nvPr>
        </p:nvSpPr>
        <p:spPr>
          <a:xfrm>
            <a:off x="457200" y="1066800"/>
            <a:ext cx="8229600" cy="5638800"/>
          </a:xfrm>
        </p:spPr>
        <p:txBody>
          <a:bodyPr/>
          <a:lstStyle/>
          <a:p>
            <a:r>
              <a:rPr lang="en-GB" dirty="0">
                <a:latin typeface="Times New Roman" pitchFamily="18" charset="0"/>
                <a:cs typeface="Times New Roman" pitchFamily="18" charset="0"/>
              </a:rPr>
              <a:t>Spoilage of dairy foods is manifested as off-flavours, off-odours, and changes in texture and appearance.</a:t>
            </a:r>
          </a:p>
          <a:p>
            <a:r>
              <a:rPr lang="en-GB" dirty="0">
                <a:latin typeface="Times New Roman" pitchFamily="18" charset="0"/>
                <a:cs typeface="Times New Roman" pitchFamily="18" charset="0"/>
              </a:rPr>
              <a:t>Some of the defects caused by microbes include:</a:t>
            </a:r>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85800"/>
          </a:xfrm>
        </p:spPr>
        <p:txBody>
          <a:bodyPr>
            <a:noAutofit/>
          </a:bodyPr>
          <a:lstStyle/>
          <a:p>
            <a:pPr algn="ctr"/>
            <a:r>
              <a:rPr lang="en-GB" sz="2800" dirty="0">
                <a:latin typeface="Times New Roman" pitchFamily="18" charset="0"/>
                <a:cs typeface="Times New Roman" pitchFamily="18" charset="0"/>
              </a:rPr>
              <a:t>MICROFLORA OF MILK...</a:t>
            </a:r>
            <a:r>
              <a:rPr lang="en-GB" sz="2800" i="1" dirty="0">
                <a:latin typeface="Times New Roman" pitchFamily="18" charset="0"/>
                <a:cs typeface="Times New Roman" pitchFamily="18" charset="0"/>
              </a:rPr>
              <a:t>contd.</a:t>
            </a:r>
            <a:endParaRPr lang="en-US" sz="2800" dirty="0">
              <a:latin typeface="Times New Roman" pitchFamily="18" charset="0"/>
              <a:cs typeface="Times New Roman" pitchFamily="18"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204840960"/>
              </p:ext>
            </p:extLst>
          </p:nvPr>
        </p:nvGraphicFramePr>
        <p:xfrm>
          <a:off x="533400" y="1760220"/>
          <a:ext cx="8229600" cy="4564380"/>
        </p:xfrm>
        <a:graphic>
          <a:graphicData uri="http://schemas.openxmlformats.org/drawingml/2006/table">
            <a:tbl>
              <a:tblPr firstRow="1" bandRow="1">
                <a:tableStyleId>{F5AB1C69-6EDB-4FF4-983F-18BD219EF322}</a:tableStyleId>
              </a:tblPr>
              <a:tblGrid>
                <a:gridCol w="2057400">
                  <a:extLst>
                    <a:ext uri="{9D8B030D-6E8A-4147-A177-3AD203B41FA5}">
                      <a16:colId xmlns="" xmlns:a16="http://schemas.microsoft.com/office/drawing/2014/main" val="20000"/>
                    </a:ext>
                  </a:extLst>
                </a:gridCol>
                <a:gridCol w="2057400">
                  <a:extLst>
                    <a:ext uri="{9D8B030D-6E8A-4147-A177-3AD203B41FA5}">
                      <a16:colId xmlns="" xmlns:a16="http://schemas.microsoft.com/office/drawing/2014/main" val="20001"/>
                    </a:ext>
                  </a:extLst>
                </a:gridCol>
                <a:gridCol w="2057400">
                  <a:extLst>
                    <a:ext uri="{9D8B030D-6E8A-4147-A177-3AD203B41FA5}">
                      <a16:colId xmlns="" xmlns:a16="http://schemas.microsoft.com/office/drawing/2014/main" val="20002"/>
                    </a:ext>
                  </a:extLst>
                </a:gridCol>
                <a:gridCol w="2057400">
                  <a:extLst>
                    <a:ext uri="{9D8B030D-6E8A-4147-A177-3AD203B41FA5}">
                      <a16:colId xmlns="" xmlns:a16="http://schemas.microsoft.com/office/drawing/2014/main" val="20003"/>
                    </a:ext>
                  </a:extLst>
                </a:gridCol>
              </a:tblGrid>
              <a:tr h="495300">
                <a:tc>
                  <a:txBody>
                    <a:bodyPr/>
                    <a:lstStyle/>
                    <a:p>
                      <a:pPr marL="0" marR="0" algn="ctr">
                        <a:lnSpc>
                          <a:spcPct val="150000"/>
                        </a:lnSpc>
                        <a:spcBef>
                          <a:spcPts val="0"/>
                        </a:spcBef>
                        <a:spcAft>
                          <a:spcPts val="0"/>
                        </a:spcAft>
                      </a:pPr>
                      <a:r>
                        <a:rPr lang="en-GB" sz="2400" u="sng" dirty="0">
                          <a:latin typeface="Times New Roman" pitchFamily="18" charset="0"/>
                          <a:cs typeface="Times New Roman" pitchFamily="18" charset="0"/>
                        </a:rPr>
                        <a:t>Defect</a:t>
                      </a:r>
                      <a:endParaRPr lang="en-US" sz="2400" dirty="0">
                        <a:latin typeface="Times New Roman" pitchFamily="18" charset="0"/>
                        <a:ea typeface="Calibri"/>
                        <a:cs typeface="Times New Roman" pitchFamily="18" charset="0"/>
                      </a:endParaRPr>
                    </a:p>
                  </a:txBody>
                  <a:tcPr marL="68580" marR="68580" marT="0" marB="0" anchor="ctr"/>
                </a:tc>
                <a:tc>
                  <a:txBody>
                    <a:bodyPr/>
                    <a:lstStyle/>
                    <a:p>
                      <a:pPr marL="0" marR="0" algn="ctr">
                        <a:lnSpc>
                          <a:spcPct val="150000"/>
                        </a:lnSpc>
                        <a:spcBef>
                          <a:spcPts val="0"/>
                        </a:spcBef>
                        <a:spcAft>
                          <a:spcPts val="0"/>
                        </a:spcAft>
                      </a:pPr>
                      <a:r>
                        <a:rPr lang="en-GB" sz="2400" b="1" u="sng" dirty="0">
                          <a:latin typeface="Times New Roman" pitchFamily="18" charset="0"/>
                          <a:ea typeface="Calibri"/>
                          <a:cs typeface="Times New Roman" pitchFamily="18" charset="0"/>
                        </a:rPr>
                        <a:t>Associated microbe</a:t>
                      </a:r>
                      <a:endParaRPr lang="en-US" sz="2400" dirty="0">
                        <a:latin typeface="Times New Roman" pitchFamily="18" charset="0"/>
                        <a:ea typeface="Calibri"/>
                        <a:cs typeface="Times New Roman" pitchFamily="18" charset="0"/>
                      </a:endParaRPr>
                    </a:p>
                  </a:txBody>
                  <a:tcPr marL="68580" marR="68580" marT="0" marB="0" anchor="ctr"/>
                </a:tc>
                <a:tc>
                  <a:txBody>
                    <a:bodyPr/>
                    <a:lstStyle/>
                    <a:p>
                      <a:pPr marL="0" marR="0" algn="ctr">
                        <a:lnSpc>
                          <a:spcPct val="150000"/>
                        </a:lnSpc>
                        <a:spcBef>
                          <a:spcPts val="0"/>
                        </a:spcBef>
                        <a:spcAft>
                          <a:spcPts val="0"/>
                        </a:spcAft>
                      </a:pPr>
                      <a:r>
                        <a:rPr lang="en-GB" sz="2400" b="1" u="sng" dirty="0">
                          <a:latin typeface="Times New Roman" pitchFamily="18" charset="0"/>
                          <a:ea typeface="Calibri"/>
                          <a:cs typeface="Times New Roman" pitchFamily="18" charset="0"/>
                        </a:rPr>
                        <a:t>Type of enzyme</a:t>
                      </a:r>
                      <a:endParaRPr lang="en-US" sz="2000" dirty="0">
                        <a:latin typeface="Times New Roman" pitchFamily="18" charset="0"/>
                        <a:ea typeface="Calibri"/>
                        <a:cs typeface="Times New Roman" pitchFamily="18" charset="0"/>
                      </a:endParaRPr>
                    </a:p>
                  </a:txBody>
                  <a:tcPr marL="68580" marR="68580" marT="0" marB="0" anchor="ctr"/>
                </a:tc>
                <a:tc>
                  <a:txBody>
                    <a:bodyPr/>
                    <a:lstStyle/>
                    <a:p>
                      <a:pPr marL="0" marR="0" algn="ctr">
                        <a:lnSpc>
                          <a:spcPct val="150000"/>
                        </a:lnSpc>
                        <a:spcBef>
                          <a:spcPts val="0"/>
                        </a:spcBef>
                        <a:spcAft>
                          <a:spcPts val="0"/>
                        </a:spcAft>
                      </a:pPr>
                      <a:r>
                        <a:rPr lang="en-GB" sz="2400" b="1" u="sng" dirty="0">
                          <a:latin typeface="Times New Roman" pitchFamily="18" charset="0"/>
                          <a:ea typeface="Calibri"/>
                          <a:cs typeface="Times New Roman" pitchFamily="18" charset="0"/>
                        </a:rPr>
                        <a:t>Metabolic products</a:t>
                      </a:r>
                      <a:endParaRPr lang="en-US" sz="2000" dirty="0">
                        <a:latin typeface="Times New Roman" pitchFamily="18" charset="0"/>
                        <a:ea typeface="Calibri"/>
                        <a:cs typeface="Times New Roman" pitchFamily="18" charset="0"/>
                      </a:endParaRPr>
                    </a:p>
                  </a:txBody>
                  <a:tcPr marL="68580" marR="68580" marT="0" marB="0" anchor="ctr"/>
                </a:tc>
                <a:extLst>
                  <a:ext uri="{0D108BD9-81ED-4DB2-BD59-A6C34878D82A}">
                    <a16:rowId xmlns="" xmlns:a16="http://schemas.microsoft.com/office/drawing/2014/main" val="10000"/>
                  </a:ext>
                </a:extLst>
              </a:tr>
              <a:tr h="495300">
                <a:tc>
                  <a:txBody>
                    <a:bodyPr/>
                    <a:lstStyle/>
                    <a:p>
                      <a:pPr marL="0" marR="0" algn="ctr">
                        <a:lnSpc>
                          <a:spcPct val="150000"/>
                        </a:lnSpc>
                        <a:spcBef>
                          <a:spcPts val="0"/>
                        </a:spcBef>
                        <a:spcAft>
                          <a:spcPts val="0"/>
                        </a:spcAft>
                      </a:pPr>
                      <a:r>
                        <a:rPr lang="en-GB" sz="1800" dirty="0">
                          <a:latin typeface="Times New Roman" pitchFamily="18" charset="0"/>
                          <a:ea typeface="Calibri"/>
                          <a:cs typeface="Times New Roman" pitchFamily="18" charset="0"/>
                        </a:rPr>
                        <a:t>Bitter flavour</a:t>
                      </a:r>
                      <a:endParaRPr lang="en-US" sz="1600" dirty="0">
                        <a:latin typeface="Times New Roman" pitchFamily="18" charset="0"/>
                        <a:ea typeface="Calibri"/>
                        <a:cs typeface="Times New Roman" pitchFamily="18" charset="0"/>
                      </a:endParaRPr>
                    </a:p>
                  </a:txBody>
                  <a:tcPr marL="68580" marR="68580" marT="0" marB="0" anchor="ctr"/>
                </a:tc>
                <a:tc>
                  <a:txBody>
                    <a:bodyPr/>
                    <a:lstStyle/>
                    <a:p>
                      <a:pPr marL="0" marR="0" algn="ctr">
                        <a:lnSpc>
                          <a:spcPct val="150000"/>
                        </a:lnSpc>
                        <a:spcBef>
                          <a:spcPts val="0"/>
                        </a:spcBef>
                        <a:spcAft>
                          <a:spcPts val="0"/>
                        </a:spcAft>
                      </a:pPr>
                      <a:r>
                        <a:rPr lang="en-GB" sz="1800" dirty="0" err="1">
                          <a:latin typeface="Times New Roman" pitchFamily="18" charset="0"/>
                          <a:ea typeface="Calibri"/>
                          <a:cs typeface="Times New Roman" pitchFamily="18" charset="0"/>
                        </a:rPr>
                        <a:t>Psychrotrophs</a:t>
                      </a:r>
                      <a:endParaRPr lang="en-US" sz="1600" dirty="0">
                        <a:latin typeface="Times New Roman" pitchFamily="18" charset="0"/>
                        <a:ea typeface="Calibri"/>
                        <a:cs typeface="Times New Roman" pitchFamily="18" charset="0"/>
                      </a:endParaRPr>
                    </a:p>
                  </a:txBody>
                  <a:tcPr marL="68580" marR="68580" marT="0" marB="0" anchor="ctr"/>
                </a:tc>
                <a:tc>
                  <a:txBody>
                    <a:bodyPr/>
                    <a:lstStyle/>
                    <a:p>
                      <a:pPr marL="0" marR="0" algn="ctr">
                        <a:lnSpc>
                          <a:spcPct val="150000"/>
                        </a:lnSpc>
                        <a:spcBef>
                          <a:spcPts val="0"/>
                        </a:spcBef>
                        <a:spcAft>
                          <a:spcPts val="0"/>
                        </a:spcAft>
                      </a:pPr>
                      <a:r>
                        <a:rPr lang="en-GB" sz="1600" dirty="0">
                          <a:latin typeface="Times New Roman" pitchFamily="18" charset="0"/>
                          <a:ea typeface="Calibri"/>
                          <a:cs typeface="Times New Roman" pitchFamily="18" charset="0"/>
                        </a:rPr>
                        <a:t>Protease or peptidase</a:t>
                      </a:r>
                      <a:endParaRPr lang="en-US" sz="1400" dirty="0">
                        <a:latin typeface="Times New Roman" pitchFamily="18" charset="0"/>
                        <a:ea typeface="Calibri"/>
                        <a:cs typeface="Times New Roman" pitchFamily="18" charset="0"/>
                      </a:endParaRPr>
                    </a:p>
                  </a:txBody>
                  <a:tcPr marL="68580" marR="68580" marT="0" marB="0" anchor="ctr"/>
                </a:tc>
                <a:tc>
                  <a:txBody>
                    <a:bodyPr/>
                    <a:lstStyle/>
                    <a:p>
                      <a:pPr marL="0" marR="0" algn="ctr">
                        <a:lnSpc>
                          <a:spcPct val="150000"/>
                        </a:lnSpc>
                        <a:spcBef>
                          <a:spcPts val="0"/>
                        </a:spcBef>
                        <a:spcAft>
                          <a:spcPts val="0"/>
                        </a:spcAft>
                      </a:pPr>
                      <a:r>
                        <a:rPr lang="en-GB" sz="1800" dirty="0">
                          <a:latin typeface="Times New Roman" pitchFamily="18" charset="0"/>
                          <a:ea typeface="Calibri"/>
                          <a:cs typeface="Times New Roman" pitchFamily="18" charset="0"/>
                        </a:rPr>
                        <a:t>Bitter peptides</a:t>
                      </a:r>
                      <a:endParaRPr lang="en-US" sz="1600" dirty="0">
                        <a:latin typeface="Times New Roman" pitchFamily="18" charset="0"/>
                        <a:ea typeface="Calibri"/>
                        <a:cs typeface="Times New Roman" pitchFamily="18" charset="0"/>
                      </a:endParaRPr>
                    </a:p>
                  </a:txBody>
                  <a:tcPr marL="68580" marR="68580" marT="0" marB="0" anchor="ctr"/>
                </a:tc>
                <a:extLst>
                  <a:ext uri="{0D108BD9-81ED-4DB2-BD59-A6C34878D82A}">
                    <a16:rowId xmlns="" xmlns:a16="http://schemas.microsoft.com/office/drawing/2014/main" val="10001"/>
                  </a:ext>
                </a:extLst>
              </a:tr>
              <a:tr h="495300">
                <a:tc>
                  <a:txBody>
                    <a:bodyPr/>
                    <a:lstStyle/>
                    <a:p>
                      <a:pPr marL="0" marR="0" algn="ctr">
                        <a:lnSpc>
                          <a:spcPct val="150000"/>
                        </a:lnSpc>
                        <a:spcBef>
                          <a:spcPts val="0"/>
                        </a:spcBef>
                        <a:spcAft>
                          <a:spcPts val="0"/>
                        </a:spcAft>
                      </a:pPr>
                      <a:r>
                        <a:rPr lang="en-GB" sz="1800" dirty="0">
                          <a:latin typeface="Times New Roman" pitchFamily="18" charset="0"/>
                          <a:ea typeface="Calibri"/>
                          <a:cs typeface="Times New Roman" pitchFamily="18" charset="0"/>
                        </a:rPr>
                        <a:t>Rancid flavour</a:t>
                      </a:r>
                      <a:endParaRPr lang="en-US" sz="1600" dirty="0">
                        <a:latin typeface="Times New Roman" pitchFamily="18" charset="0"/>
                        <a:ea typeface="Calibri"/>
                        <a:cs typeface="Times New Roman" pitchFamily="18" charset="0"/>
                      </a:endParaRPr>
                    </a:p>
                  </a:txBody>
                  <a:tcPr marL="68580" marR="68580" marT="0" marB="0" anchor="ctr"/>
                </a:tc>
                <a:tc>
                  <a:txBody>
                    <a:bodyPr/>
                    <a:lstStyle/>
                    <a:p>
                      <a:pPr marL="0" marR="0" algn="ctr">
                        <a:lnSpc>
                          <a:spcPct val="150000"/>
                        </a:lnSpc>
                        <a:spcBef>
                          <a:spcPts val="0"/>
                        </a:spcBef>
                        <a:spcAft>
                          <a:spcPts val="0"/>
                        </a:spcAft>
                      </a:pPr>
                      <a:r>
                        <a:rPr lang="en-GB" sz="1800" dirty="0" err="1">
                          <a:latin typeface="Times New Roman" pitchFamily="18" charset="0"/>
                          <a:ea typeface="Calibri"/>
                          <a:cs typeface="Times New Roman" pitchFamily="18" charset="0"/>
                        </a:rPr>
                        <a:t>Psychrotrophs</a:t>
                      </a:r>
                      <a:endParaRPr lang="en-US" sz="1600" dirty="0">
                        <a:latin typeface="Times New Roman" pitchFamily="18" charset="0"/>
                        <a:ea typeface="Calibri"/>
                        <a:cs typeface="Times New Roman" pitchFamily="18" charset="0"/>
                      </a:endParaRPr>
                    </a:p>
                  </a:txBody>
                  <a:tcPr marL="68580" marR="68580" marT="0" marB="0" anchor="ctr"/>
                </a:tc>
                <a:tc>
                  <a:txBody>
                    <a:bodyPr/>
                    <a:lstStyle/>
                    <a:p>
                      <a:pPr marL="0" marR="0" algn="ctr">
                        <a:lnSpc>
                          <a:spcPct val="150000"/>
                        </a:lnSpc>
                        <a:spcBef>
                          <a:spcPts val="0"/>
                        </a:spcBef>
                        <a:spcAft>
                          <a:spcPts val="0"/>
                        </a:spcAft>
                      </a:pPr>
                      <a:r>
                        <a:rPr lang="en-GB" sz="1800" dirty="0">
                          <a:latin typeface="Times New Roman" pitchFamily="18" charset="0"/>
                          <a:ea typeface="Calibri"/>
                          <a:cs typeface="Times New Roman" pitchFamily="18" charset="0"/>
                        </a:rPr>
                        <a:t>Lipase </a:t>
                      </a:r>
                      <a:endParaRPr lang="en-US" sz="1600" dirty="0">
                        <a:latin typeface="Times New Roman" pitchFamily="18" charset="0"/>
                        <a:ea typeface="Calibri"/>
                        <a:cs typeface="Times New Roman" pitchFamily="18" charset="0"/>
                      </a:endParaRPr>
                    </a:p>
                  </a:txBody>
                  <a:tcPr marL="68580" marR="68580" marT="0" marB="0" anchor="ctr"/>
                </a:tc>
                <a:tc>
                  <a:txBody>
                    <a:bodyPr/>
                    <a:lstStyle/>
                    <a:p>
                      <a:pPr marL="0" marR="0" algn="ctr">
                        <a:lnSpc>
                          <a:spcPct val="150000"/>
                        </a:lnSpc>
                        <a:spcBef>
                          <a:spcPts val="0"/>
                        </a:spcBef>
                        <a:spcAft>
                          <a:spcPts val="0"/>
                        </a:spcAft>
                      </a:pPr>
                      <a:r>
                        <a:rPr lang="en-GB" sz="1800" dirty="0">
                          <a:latin typeface="Times New Roman" pitchFamily="18" charset="0"/>
                          <a:ea typeface="Calibri"/>
                          <a:cs typeface="Times New Roman" pitchFamily="18" charset="0"/>
                        </a:rPr>
                        <a:t>Free fatty acids</a:t>
                      </a:r>
                      <a:endParaRPr lang="en-US" sz="1600" dirty="0">
                        <a:latin typeface="Times New Roman" pitchFamily="18" charset="0"/>
                        <a:ea typeface="Calibri"/>
                        <a:cs typeface="Times New Roman" pitchFamily="18" charset="0"/>
                      </a:endParaRPr>
                    </a:p>
                  </a:txBody>
                  <a:tcPr marL="68580" marR="68580" marT="0" marB="0" anchor="ctr"/>
                </a:tc>
                <a:extLst>
                  <a:ext uri="{0D108BD9-81ED-4DB2-BD59-A6C34878D82A}">
                    <a16:rowId xmlns="" xmlns:a16="http://schemas.microsoft.com/office/drawing/2014/main" val="10002"/>
                  </a:ext>
                </a:extLst>
              </a:tr>
              <a:tr h="495300">
                <a:tc>
                  <a:txBody>
                    <a:bodyPr/>
                    <a:lstStyle/>
                    <a:p>
                      <a:pPr marL="0" marR="0" algn="ctr">
                        <a:lnSpc>
                          <a:spcPct val="150000"/>
                        </a:lnSpc>
                        <a:spcBef>
                          <a:spcPts val="0"/>
                        </a:spcBef>
                        <a:spcAft>
                          <a:spcPts val="0"/>
                        </a:spcAft>
                      </a:pPr>
                      <a:r>
                        <a:rPr lang="en-GB" sz="1800" dirty="0">
                          <a:latin typeface="Times New Roman" pitchFamily="18" charset="0"/>
                          <a:ea typeface="Calibri"/>
                          <a:cs typeface="Times New Roman" pitchFamily="18" charset="0"/>
                        </a:rPr>
                        <a:t>Fruity flavour</a:t>
                      </a:r>
                      <a:endParaRPr lang="en-US" sz="1600" dirty="0">
                        <a:latin typeface="Times New Roman" pitchFamily="18" charset="0"/>
                        <a:ea typeface="Calibri"/>
                        <a:cs typeface="Times New Roman" pitchFamily="18" charset="0"/>
                      </a:endParaRPr>
                    </a:p>
                  </a:txBody>
                  <a:tcPr marL="68580" marR="68580" marT="0" marB="0" anchor="ctr"/>
                </a:tc>
                <a:tc>
                  <a:txBody>
                    <a:bodyPr/>
                    <a:lstStyle/>
                    <a:p>
                      <a:pPr marL="0" marR="0" algn="ctr">
                        <a:lnSpc>
                          <a:spcPct val="150000"/>
                        </a:lnSpc>
                        <a:spcBef>
                          <a:spcPts val="0"/>
                        </a:spcBef>
                        <a:spcAft>
                          <a:spcPts val="0"/>
                        </a:spcAft>
                      </a:pPr>
                      <a:r>
                        <a:rPr lang="en-GB" sz="1800" dirty="0" err="1">
                          <a:latin typeface="Times New Roman" pitchFamily="18" charset="0"/>
                          <a:ea typeface="Calibri"/>
                          <a:cs typeface="Times New Roman" pitchFamily="18" charset="0"/>
                        </a:rPr>
                        <a:t>Psychrotrophs</a:t>
                      </a:r>
                      <a:endParaRPr lang="en-US" sz="1600" dirty="0">
                        <a:latin typeface="Times New Roman" pitchFamily="18" charset="0"/>
                        <a:ea typeface="Calibri"/>
                        <a:cs typeface="Times New Roman" pitchFamily="18" charset="0"/>
                      </a:endParaRPr>
                    </a:p>
                  </a:txBody>
                  <a:tcPr marL="68580" marR="68580" marT="0" marB="0" anchor="ctr"/>
                </a:tc>
                <a:tc>
                  <a:txBody>
                    <a:bodyPr/>
                    <a:lstStyle/>
                    <a:p>
                      <a:pPr marL="0" marR="0" algn="ctr">
                        <a:lnSpc>
                          <a:spcPct val="150000"/>
                        </a:lnSpc>
                        <a:spcBef>
                          <a:spcPts val="0"/>
                        </a:spcBef>
                        <a:spcAft>
                          <a:spcPts val="0"/>
                        </a:spcAft>
                      </a:pPr>
                      <a:r>
                        <a:rPr lang="en-GB" sz="1800" dirty="0">
                          <a:latin typeface="Times New Roman" pitchFamily="18" charset="0"/>
                          <a:ea typeface="Calibri"/>
                          <a:cs typeface="Times New Roman" pitchFamily="18" charset="0"/>
                        </a:rPr>
                        <a:t>Esterase </a:t>
                      </a:r>
                      <a:endParaRPr lang="en-US" sz="1600" dirty="0">
                        <a:latin typeface="Times New Roman" pitchFamily="18" charset="0"/>
                        <a:ea typeface="Calibri"/>
                        <a:cs typeface="Times New Roman" pitchFamily="18" charset="0"/>
                      </a:endParaRPr>
                    </a:p>
                  </a:txBody>
                  <a:tcPr marL="68580" marR="68580" marT="0" marB="0" anchor="ctr"/>
                </a:tc>
                <a:tc>
                  <a:txBody>
                    <a:bodyPr/>
                    <a:lstStyle/>
                    <a:p>
                      <a:pPr marL="0" marR="0" algn="ctr">
                        <a:lnSpc>
                          <a:spcPct val="150000"/>
                        </a:lnSpc>
                        <a:spcBef>
                          <a:spcPts val="0"/>
                        </a:spcBef>
                        <a:spcAft>
                          <a:spcPts val="0"/>
                        </a:spcAft>
                      </a:pPr>
                      <a:r>
                        <a:rPr lang="en-GB" sz="1800" dirty="0">
                          <a:latin typeface="Times New Roman" pitchFamily="18" charset="0"/>
                          <a:ea typeface="Calibri"/>
                          <a:cs typeface="Times New Roman" pitchFamily="18" charset="0"/>
                        </a:rPr>
                        <a:t>Ethyl esters</a:t>
                      </a:r>
                      <a:endParaRPr lang="en-US" sz="1600" dirty="0">
                        <a:latin typeface="Times New Roman" pitchFamily="18" charset="0"/>
                        <a:ea typeface="Calibri"/>
                        <a:cs typeface="Times New Roman" pitchFamily="18" charset="0"/>
                      </a:endParaRPr>
                    </a:p>
                  </a:txBody>
                  <a:tcPr marL="68580" marR="68580" marT="0" marB="0" anchor="ctr"/>
                </a:tc>
                <a:extLst>
                  <a:ext uri="{0D108BD9-81ED-4DB2-BD59-A6C34878D82A}">
                    <a16:rowId xmlns="" xmlns:a16="http://schemas.microsoft.com/office/drawing/2014/main" val="10003"/>
                  </a:ext>
                </a:extLst>
              </a:tr>
              <a:tr h="495300">
                <a:tc>
                  <a:txBody>
                    <a:bodyPr/>
                    <a:lstStyle/>
                    <a:p>
                      <a:pPr marL="0" marR="0" algn="ctr">
                        <a:lnSpc>
                          <a:spcPct val="150000"/>
                        </a:lnSpc>
                        <a:spcBef>
                          <a:spcPts val="0"/>
                        </a:spcBef>
                        <a:spcAft>
                          <a:spcPts val="0"/>
                        </a:spcAft>
                      </a:pPr>
                      <a:r>
                        <a:rPr lang="en-GB" sz="1800" dirty="0">
                          <a:latin typeface="Times New Roman" pitchFamily="18" charset="0"/>
                          <a:ea typeface="Calibri"/>
                          <a:cs typeface="Times New Roman" pitchFamily="18" charset="0"/>
                        </a:rPr>
                        <a:t>Coagulation</a:t>
                      </a:r>
                      <a:endParaRPr lang="en-US" sz="1600" dirty="0">
                        <a:latin typeface="Times New Roman" pitchFamily="18" charset="0"/>
                        <a:ea typeface="Calibri"/>
                        <a:cs typeface="Times New Roman" pitchFamily="18" charset="0"/>
                      </a:endParaRPr>
                    </a:p>
                  </a:txBody>
                  <a:tcPr marL="68580" marR="68580" marT="0" marB="0" anchor="ctr"/>
                </a:tc>
                <a:tc>
                  <a:txBody>
                    <a:bodyPr/>
                    <a:lstStyle/>
                    <a:p>
                      <a:pPr marL="0" marR="0" algn="ctr">
                        <a:lnSpc>
                          <a:spcPct val="150000"/>
                        </a:lnSpc>
                        <a:spcBef>
                          <a:spcPts val="0"/>
                        </a:spcBef>
                        <a:spcAft>
                          <a:spcPts val="0"/>
                        </a:spcAft>
                      </a:pPr>
                      <a:r>
                        <a:rPr lang="en-GB" sz="1800" dirty="0">
                          <a:latin typeface="Times New Roman" pitchFamily="18" charset="0"/>
                          <a:ea typeface="Calibri"/>
                          <a:cs typeface="Times New Roman" pitchFamily="18" charset="0"/>
                        </a:rPr>
                        <a:t>Bacillus </a:t>
                      </a:r>
                      <a:endParaRPr lang="en-US" sz="1600" dirty="0">
                        <a:latin typeface="Times New Roman" pitchFamily="18" charset="0"/>
                        <a:ea typeface="Calibri"/>
                        <a:cs typeface="Times New Roman" pitchFamily="18" charset="0"/>
                      </a:endParaRPr>
                    </a:p>
                  </a:txBody>
                  <a:tcPr marL="68580" marR="68580" marT="0" marB="0" anchor="ctr"/>
                </a:tc>
                <a:tc>
                  <a:txBody>
                    <a:bodyPr/>
                    <a:lstStyle/>
                    <a:p>
                      <a:pPr marL="0" marR="0" algn="ctr">
                        <a:lnSpc>
                          <a:spcPct val="150000"/>
                        </a:lnSpc>
                        <a:spcBef>
                          <a:spcPts val="0"/>
                        </a:spcBef>
                        <a:spcAft>
                          <a:spcPts val="0"/>
                        </a:spcAft>
                      </a:pPr>
                      <a:r>
                        <a:rPr lang="en-GB" sz="1800" dirty="0">
                          <a:latin typeface="Times New Roman" pitchFamily="18" charset="0"/>
                          <a:ea typeface="Calibri"/>
                          <a:cs typeface="Times New Roman" pitchFamily="18" charset="0"/>
                        </a:rPr>
                        <a:t>Protease</a:t>
                      </a:r>
                      <a:endParaRPr lang="en-US" sz="1400" dirty="0">
                        <a:latin typeface="Times New Roman" pitchFamily="18" charset="0"/>
                        <a:ea typeface="Calibri"/>
                        <a:cs typeface="Times New Roman" pitchFamily="18" charset="0"/>
                      </a:endParaRPr>
                    </a:p>
                  </a:txBody>
                  <a:tcPr marL="68580" marR="68580" marT="0" marB="0" anchor="ctr"/>
                </a:tc>
                <a:tc>
                  <a:txBody>
                    <a:bodyPr/>
                    <a:lstStyle/>
                    <a:p>
                      <a:pPr marL="0" marR="0" algn="ctr">
                        <a:lnSpc>
                          <a:spcPct val="150000"/>
                        </a:lnSpc>
                        <a:spcBef>
                          <a:spcPts val="0"/>
                        </a:spcBef>
                        <a:spcAft>
                          <a:spcPts val="0"/>
                        </a:spcAft>
                      </a:pPr>
                      <a:r>
                        <a:rPr lang="en-GB" sz="1600" dirty="0">
                          <a:latin typeface="Times New Roman" pitchFamily="18" charset="0"/>
                          <a:ea typeface="Calibri"/>
                          <a:cs typeface="Times New Roman" pitchFamily="18" charset="0"/>
                        </a:rPr>
                        <a:t>Casein destabilisation</a:t>
                      </a:r>
                      <a:endParaRPr lang="en-US" sz="1400" dirty="0">
                        <a:latin typeface="Times New Roman" pitchFamily="18" charset="0"/>
                        <a:ea typeface="Calibri"/>
                        <a:cs typeface="Times New Roman" pitchFamily="18" charset="0"/>
                      </a:endParaRPr>
                    </a:p>
                  </a:txBody>
                  <a:tcPr marL="68580" marR="68580" marT="0" marB="0" anchor="ctr"/>
                </a:tc>
                <a:extLst>
                  <a:ext uri="{0D108BD9-81ED-4DB2-BD59-A6C34878D82A}">
                    <a16:rowId xmlns="" xmlns:a16="http://schemas.microsoft.com/office/drawing/2014/main" val="10004"/>
                  </a:ext>
                </a:extLst>
              </a:tr>
              <a:tr h="495300">
                <a:tc>
                  <a:txBody>
                    <a:bodyPr/>
                    <a:lstStyle/>
                    <a:p>
                      <a:pPr marL="0" marR="0" algn="ctr">
                        <a:lnSpc>
                          <a:spcPct val="150000"/>
                        </a:lnSpc>
                        <a:spcBef>
                          <a:spcPts val="0"/>
                        </a:spcBef>
                        <a:spcAft>
                          <a:spcPts val="0"/>
                        </a:spcAft>
                      </a:pPr>
                      <a:r>
                        <a:rPr lang="en-GB" sz="1800" dirty="0">
                          <a:latin typeface="Times New Roman" pitchFamily="18" charset="0"/>
                          <a:ea typeface="Calibri"/>
                          <a:cs typeface="Times New Roman" pitchFamily="18" charset="0"/>
                        </a:rPr>
                        <a:t>Sour taste</a:t>
                      </a:r>
                      <a:endParaRPr lang="en-US" sz="1600" dirty="0">
                        <a:latin typeface="Times New Roman" pitchFamily="18" charset="0"/>
                        <a:ea typeface="Calibri"/>
                        <a:cs typeface="Times New Roman" pitchFamily="18" charset="0"/>
                      </a:endParaRPr>
                    </a:p>
                  </a:txBody>
                  <a:tcPr marL="68580" marR="68580" marT="0" marB="0" anchor="ctr"/>
                </a:tc>
                <a:tc>
                  <a:txBody>
                    <a:bodyPr/>
                    <a:lstStyle/>
                    <a:p>
                      <a:pPr marL="0" marR="0" algn="ctr">
                        <a:lnSpc>
                          <a:spcPct val="150000"/>
                        </a:lnSpc>
                        <a:spcBef>
                          <a:spcPts val="0"/>
                        </a:spcBef>
                        <a:spcAft>
                          <a:spcPts val="0"/>
                        </a:spcAft>
                      </a:pPr>
                      <a:r>
                        <a:rPr lang="en-GB" sz="1800" dirty="0">
                          <a:latin typeface="Times New Roman" pitchFamily="18" charset="0"/>
                          <a:ea typeface="Calibri"/>
                          <a:cs typeface="Times New Roman" pitchFamily="18" charset="0"/>
                        </a:rPr>
                        <a:t>Lactic Acid Bacteria</a:t>
                      </a:r>
                      <a:endParaRPr lang="en-US" sz="1600" dirty="0">
                        <a:latin typeface="Times New Roman" pitchFamily="18" charset="0"/>
                        <a:ea typeface="Calibri"/>
                        <a:cs typeface="Times New Roman" pitchFamily="18" charset="0"/>
                      </a:endParaRPr>
                    </a:p>
                  </a:txBody>
                  <a:tcPr marL="68580" marR="68580" marT="0" marB="0" anchor="ctr"/>
                </a:tc>
                <a:tc>
                  <a:txBody>
                    <a:bodyPr/>
                    <a:lstStyle/>
                    <a:p>
                      <a:pPr marL="0" marR="0" algn="ctr">
                        <a:lnSpc>
                          <a:spcPct val="150000"/>
                        </a:lnSpc>
                        <a:spcBef>
                          <a:spcPts val="0"/>
                        </a:spcBef>
                        <a:spcAft>
                          <a:spcPts val="0"/>
                        </a:spcAft>
                      </a:pPr>
                      <a:r>
                        <a:rPr lang="en-GB" sz="1800" dirty="0" err="1">
                          <a:latin typeface="Times New Roman" pitchFamily="18" charset="0"/>
                          <a:ea typeface="Calibri"/>
                          <a:cs typeface="Times New Roman" pitchFamily="18" charset="0"/>
                        </a:rPr>
                        <a:t>Glycolytic</a:t>
                      </a:r>
                      <a:r>
                        <a:rPr lang="en-GB" sz="1800" dirty="0">
                          <a:latin typeface="Times New Roman" pitchFamily="18" charset="0"/>
                          <a:ea typeface="Calibri"/>
                          <a:cs typeface="Times New Roman" pitchFamily="18" charset="0"/>
                        </a:rPr>
                        <a:t> enzymes</a:t>
                      </a:r>
                      <a:endParaRPr lang="en-US" sz="1600" dirty="0">
                        <a:latin typeface="Times New Roman" pitchFamily="18" charset="0"/>
                        <a:ea typeface="Calibri"/>
                        <a:cs typeface="Times New Roman" pitchFamily="18" charset="0"/>
                      </a:endParaRPr>
                    </a:p>
                  </a:txBody>
                  <a:tcPr marL="68580" marR="68580" marT="0" marB="0" anchor="ctr"/>
                </a:tc>
                <a:tc>
                  <a:txBody>
                    <a:bodyPr/>
                    <a:lstStyle/>
                    <a:p>
                      <a:pPr marL="0" marR="0" algn="ctr">
                        <a:lnSpc>
                          <a:spcPct val="150000"/>
                        </a:lnSpc>
                        <a:spcBef>
                          <a:spcPts val="0"/>
                        </a:spcBef>
                        <a:spcAft>
                          <a:spcPts val="0"/>
                        </a:spcAft>
                      </a:pPr>
                      <a:r>
                        <a:rPr lang="en-GB" sz="1600" dirty="0">
                          <a:latin typeface="Times New Roman" pitchFamily="18" charset="0"/>
                          <a:ea typeface="Calibri"/>
                          <a:cs typeface="Times New Roman" pitchFamily="18" charset="0"/>
                        </a:rPr>
                        <a:t>Lactic and Acetic acids</a:t>
                      </a:r>
                      <a:endParaRPr lang="en-US" sz="1400" dirty="0">
                        <a:latin typeface="Times New Roman" pitchFamily="18" charset="0"/>
                        <a:ea typeface="Calibri"/>
                        <a:cs typeface="Times New Roman" pitchFamily="18" charset="0"/>
                      </a:endParaRPr>
                    </a:p>
                  </a:txBody>
                  <a:tcPr marL="68580" marR="68580" marT="0" marB="0" anchor="ctr"/>
                </a:tc>
                <a:extLst>
                  <a:ext uri="{0D108BD9-81ED-4DB2-BD59-A6C34878D82A}">
                    <a16:rowId xmlns="" xmlns:a16="http://schemas.microsoft.com/office/drawing/2014/main" val="10005"/>
                  </a:ext>
                </a:extLst>
              </a:tr>
              <a:tr h="495300">
                <a:tc>
                  <a:txBody>
                    <a:bodyPr/>
                    <a:lstStyle/>
                    <a:p>
                      <a:pPr marL="0" marR="0" algn="ctr">
                        <a:lnSpc>
                          <a:spcPct val="150000"/>
                        </a:lnSpc>
                        <a:spcBef>
                          <a:spcPts val="0"/>
                        </a:spcBef>
                        <a:spcAft>
                          <a:spcPts val="0"/>
                        </a:spcAft>
                      </a:pPr>
                      <a:r>
                        <a:rPr lang="en-GB" sz="1800" dirty="0">
                          <a:latin typeface="Times New Roman" pitchFamily="18" charset="0"/>
                          <a:ea typeface="Calibri"/>
                          <a:cs typeface="Times New Roman" pitchFamily="18" charset="0"/>
                        </a:rPr>
                        <a:t>Malty flavour</a:t>
                      </a:r>
                      <a:endParaRPr lang="en-US" sz="1600" dirty="0">
                        <a:latin typeface="Times New Roman" pitchFamily="18" charset="0"/>
                        <a:ea typeface="Calibri"/>
                        <a:cs typeface="Times New Roman" pitchFamily="18" charset="0"/>
                      </a:endParaRPr>
                    </a:p>
                  </a:txBody>
                  <a:tcPr marL="68580" marR="68580" marT="0" marB="0" anchor="ctr"/>
                </a:tc>
                <a:tc>
                  <a:txBody>
                    <a:bodyPr/>
                    <a:lstStyle/>
                    <a:p>
                      <a:pPr marL="0" marR="0" algn="ctr">
                        <a:lnSpc>
                          <a:spcPct val="150000"/>
                        </a:lnSpc>
                        <a:spcBef>
                          <a:spcPts val="0"/>
                        </a:spcBef>
                        <a:spcAft>
                          <a:spcPts val="0"/>
                        </a:spcAft>
                      </a:pPr>
                      <a:r>
                        <a:rPr lang="en-GB" sz="1800" dirty="0">
                          <a:latin typeface="Times New Roman" pitchFamily="18" charset="0"/>
                          <a:ea typeface="Calibri"/>
                          <a:cs typeface="Times New Roman" pitchFamily="18" charset="0"/>
                        </a:rPr>
                        <a:t>Lactic Acid Bacteria</a:t>
                      </a:r>
                      <a:endParaRPr lang="en-US" sz="1600" dirty="0">
                        <a:latin typeface="Times New Roman" pitchFamily="18" charset="0"/>
                        <a:ea typeface="Calibri"/>
                        <a:cs typeface="Times New Roman" pitchFamily="18" charset="0"/>
                      </a:endParaRPr>
                    </a:p>
                  </a:txBody>
                  <a:tcPr marL="68580" marR="68580" marT="0" marB="0" anchor="ctr"/>
                </a:tc>
                <a:tc>
                  <a:txBody>
                    <a:bodyPr/>
                    <a:lstStyle/>
                    <a:p>
                      <a:pPr marL="0" marR="0" algn="ctr">
                        <a:lnSpc>
                          <a:spcPct val="150000"/>
                        </a:lnSpc>
                        <a:spcBef>
                          <a:spcPts val="0"/>
                        </a:spcBef>
                        <a:spcAft>
                          <a:spcPts val="0"/>
                        </a:spcAft>
                      </a:pPr>
                      <a:r>
                        <a:rPr lang="en-GB" sz="1800" dirty="0" err="1">
                          <a:latin typeface="Times New Roman" pitchFamily="18" charset="0"/>
                          <a:ea typeface="Calibri"/>
                          <a:cs typeface="Times New Roman" pitchFamily="18" charset="0"/>
                        </a:rPr>
                        <a:t>Oxidase</a:t>
                      </a:r>
                      <a:endParaRPr lang="en-US" sz="1600" dirty="0">
                        <a:latin typeface="Times New Roman" pitchFamily="18" charset="0"/>
                        <a:ea typeface="Calibri"/>
                        <a:cs typeface="Times New Roman" pitchFamily="18" charset="0"/>
                      </a:endParaRPr>
                    </a:p>
                  </a:txBody>
                  <a:tcPr marL="68580" marR="68580" marT="0" marB="0" anchor="ctr"/>
                </a:tc>
                <a:tc>
                  <a:txBody>
                    <a:bodyPr/>
                    <a:lstStyle/>
                    <a:p>
                      <a:pPr marL="0" marR="0" algn="ctr">
                        <a:lnSpc>
                          <a:spcPct val="150000"/>
                        </a:lnSpc>
                        <a:spcBef>
                          <a:spcPts val="0"/>
                        </a:spcBef>
                        <a:spcAft>
                          <a:spcPts val="0"/>
                        </a:spcAft>
                      </a:pPr>
                      <a:r>
                        <a:rPr lang="en-GB" sz="1800" dirty="0">
                          <a:latin typeface="Times New Roman" pitchFamily="18" charset="0"/>
                          <a:ea typeface="Calibri"/>
                          <a:cs typeface="Times New Roman" pitchFamily="18" charset="0"/>
                        </a:rPr>
                        <a:t>3-methyl </a:t>
                      </a:r>
                      <a:r>
                        <a:rPr lang="en-GB" sz="1800" dirty="0" err="1">
                          <a:latin typeface="Times New Roman" pitchFamily="18" charset="0"/>
                          <a:ea typeface="Calibri"/>
                          <a:cs typeface="Times New Roman" pitchFamily="18" charset="0"/>
                        </a:rPr>
                        <a:t>butanal</a:t>
                      </a:r>
                      <a:endParaRPr lang="en-US" sz="1600" dirty="0">
                        <a:latin typeface="Times New Roman" pitchFamily="18" charset="0"/>
                        <a:ea typeface="Calibri"/>
                        <a:cs typeface="Times New Roman" pitchFamily="18" charset="0"/>
                      </a:endParaRPr>
                    </a:p>
                  </a:txBody>
                  <a:tcPr marL="68580" marR="68580" marT="0" marB="0" anchor="ctr"/>
                </a:tc>
                <a:extLst>
                  <a:ext uri="{0D108BD9-81ED-4DB2-BD59-A6C34878D82A}">
                    <a16:rowId xmlns="" xmlns:a16="http://schemas.microsoft.com/office/drawing/2014/main" val="10006"/>
                  </a:ext>
                </a:extLst>
              </a:tr>
              <a:tr h="495300">
                <a:tc>
                  <a:txBody>
                    <a:bodyPr/>
                    <a:lstStyle/>
                    <a:p>
                      <a:pPr marL="0" marR="0" algn="ctr">
                        <a:lnSpc>
                          <a:spcPct val="150000"/>
                        </a:lnSpc>
                        <a:spcBef>
                          <a:spcPts val="0"/>
                        </a:spcBef>
                        <a:spcAft>
                          <a:spcPts val="0"/>
                        </a:spcAft>
                      </a:pPr>
                      <a:r>
                        <a:rPr lang="en-GB" sz="1800" dirty="0">
                          <a:latin typeface="Times New Roman" pitchFamily="18" charset="0"/>
                          <a:ea typeface="Calibri"/>
                          <a:cs typeface="Times New Roman" pitchFamily="18" charset="0"/>
                        </a:rPr>
                        <a:t>Ropy texture</a:t>
                      </a:r>
                      <a:endParaRPr lang="en-US" sz="1600" dirty="0">
                        <a:latin typeface="Times New Roman" pitchFamily="18" charset="0"/>
                        <a:ea typeface="Calibri"/>
                        <a:cs typeface="Times New Roman" pitchFamily="18" charset="0"/>
                      </a:endParaRPr>
                    </a:p>
                  </a:txBody>
                  <a:tcPr marL="68580" marR="68580" marT="0" marB="0" anchor="ctr"/>
                </a:tc>
                <a:tc>
                  <a:txBody>
                    <a:bodyPr/>
                    <a:lstStyle/>
                    <a:p>
                      <a:pPr marL="0" marR="0" algn="ctr">
                        <a:lnSpc>
                          <a:spcPct val="150000"/>
                        </a:lnSpc>
                        <a:spcBef>
                          <a:spcPts val="0"/>
                        </a:spcBef>
                        <a:spcAft>
                          <a:spcPts val="0"/>
                        </a:spcAft>
                      </a:pPr>
                      <a:r>
                        <a:rPr lang="en-GB" sz="1800" dirty="0">
                          <a:latin typeface="Times New Roman" pitchFamily="18" charset="0"/>
                          <a:ea typeface="Calibri"/>
                          <a:cs typeface="Times New Roman" pitchFamily="18" charset="0"/>
                        </a:rPr>
                        <a:t>Lactic Acid Bacteria</a:t>
                      </a:r>
                      <a:endParaRPr lang="en-US" sz="1600" dirty="0">
                        <a:latin typeface="Times New Roman" pitchFamily="18" charset="0"/>
                        <a:ea typeface="Calibri"/>
                        <a:cs typeface="Times New Roman" pitchFamily="18" charset="0"/>
                      </a:endParaRPr>
                    </a:p>
                  </a:txBody>
                  <a:tcPr marL="68580" marR="68580" marT="0" marB="0" anchor="ctr"/>
                </a:tc>
                <a:tc>
                  <a:txBody>
                    <a:bodyPr/>
                    <a:lstStyle/>
                    <a:p>
                      <a:pPr marL="0" marR="0" algn="ctr">
                        <a:lnSpc>
                          <a:spcPct val="150000"/>
                        </a:lnSpc>
                        <a:spcBef>
                          <a:spcPts val="0"/>
                        </a:spcBef>
                        <a:spcAft>
                          <a:spcPts val="0"/>
                        </a:spcAft>
                      </a:pPr>
                      <a:r>
                        <a:rPr lang="en-GB" sz="1800" dirty="0">
                          <a:latin typeface="Times New Roman" pitchFamily="18" charset="0"/>
                          <a:ea typeface="Calibri"/>
                          <a:cs typeface="Times New Roman" pitchFamily="18" charset="0"/>
                        </a:rPr>
                        <a:t>Polymerase</a:t>
                      </a:r>
                      <a:endParaRPr lang="en-US" sz="1600" dirty="0">
                        <a:latin typeface="Times New Roman" pitchFamily="18" charset="0"/>
                        <a:ea typeface="Calibri"/>
                        <a:cs typeface="Times New Roman" pitchFamily="18" charset="0"/>
                      </a:endParaRPr>
                    </a:p>
                  </a:txBody>
                  <a:tcPr marL="68580" marR="68580" marT="0" marB="0" anchor="ctr"/>
                </a:tc>
                <a:tc>
                  <a:txBody>
                    <a:bodyPr/>
                    <a:lstStyle/>
                    <a:p>
                      <a:pPr marL="0" marR="0" algn="ctr">
                        <a:lnSpc>
                          <a:spcPct val="150000"/>
                        </a:lnSpc>
                        <a:spcBef>
                          <a:spcPts val="0"/>
                        </a:spcBef>
                        <a:spcAft>
                          <a:spcPts val="0"/>
                        </a:spcAft>
                      </a:pPr>
                      <a:r>
                        <a:rPr lang="en-GB" sz="1800" dirty="0" err="1">
                          <a:latin typeface="Times New Roman" pitchFamily="18" charset="0"/>
                          <a:ea typeface="Calibri"/>
                          <a:cs typeface="Times New Roman" pitchFamily="18" charset="0"/>
                        </a:rPr>
                        <a:t>Exopolysaccharide</a:t>
                      </a:r>
                      <a:endParaRPr lang="en-US" sz="1600" dirty="0">
                        <a:latin typeface="Times New Roman" pitchFamily="18" charset="0"/>
                        <a:ea typeface="Calibri"/>
                        <a:cs typeface="Times New Roman" pitchFamily="18" charset="0"/>
                      </a:endParaRPr>
                    </a:p>
                  </a:txBody>
                  <a:tcPr marL="68580" marR="68580" marT="0" marB="0" anchor="ctr"/>
                </a:tc>
                <a:extLst>
                  <a:ext uri="{0D108BD9-81ED-4DB2-BD59-A6C34878D82A}">
                    <a16:rowId xmlns="" xmlns:a16="http://schemas.microsoft.com/office/drawing/2014/main" val="10007"/>
                  </a:ext>
                </a:extLst>
              </a:tr>
            </a:tbl>
          </a:graphicData>
        </a:graphic>
      </p:graphicFrame>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85800"/>
          </a:xfrm>
        </p:spPr>
        <p:txBody>
          <a:bodyPr>
            <a:noAutofit/>
          </a:bodyPr>
          <a:lstStyle/>
          <a:p>
            <a:pPr algn="ctr"/>
            <a:r>
              <a:rPr lang="en-GB" sz="2800" b="1" dirty="0">
                <a:latin typeface="Times New Roman" pitchFamily="18" charset="0"/>
                <a:cs typeface="Times New Roman" pitchFamily="18" charset="0"/>
              </a:rPr>
              <a:t>CHANGES IN THE MICROFLORA OF MILK</a:t>
            </a:r>
            <a:endParaRPr lang="en-US" sz="2800" b="1" dirty="0">
              <a:latin typeface="Times New Roman" pitchFamily="18" charset="0"/>
              <a:cs typeface="Times New Roman" pitchFamily="18" charset="0"/>
            </a:endParaRPr>
          </a:p>
        </p:txBody>
      </p:sp>
      <p:sp>
        <p:nvSpPr>
          <p:cNvPr id="3" name="Content Placeholder 2"/>
          <p:cNvSpPr>
            <a:spLocks noGrp="1"/>
          </p:cNvSpPr>
          <p:nvPr>
            <p:ph idx="1"/>
          </p:nvPr>
        </p:nvSpPr>
        <p:spPr>
          <a:xfrm>
            <a:off x="457200" y="990600"/>
            <a:ext cx="8229600" cy="5867400"/>
          </a:xfrm>
        </p:spPr>
        <p:txBody>
          <a:bodyPr>
            <a:normAutofit lnSpcReduction="10000"/>
          </a:bodyPr>
          <a:lstStyle/>
          <a:p>
            <a:r>
              <a:rPr lang="en-GB" dirty="0">
                <a:latin typeface="Times New Roman" pitchFamily="18" charset="0"/>
                <a:cs typeface="Times New Roman" pitchFamily="18" charset="0"/>
              </a:rPr>
              <a:t>Milk is a medium conducive for  bacterial growth and hence microbial population within milk increases steadily the longer it stands or stays even if pasteurised or refrigerated.</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When refrigerated, thermophiles and heat resistant spore formers are retarded.</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However, psychrophilic species on the other hand will grow.</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After a period of storage under chilled condition, some  </a:t>
            </a:r>
            <a:r>
              <a:rPr lang="en-GB" b="1" dirty="0">
                <a:latin typeface="Times New Roman" pitchFamily="18" charset="0"/>
                <a:cs typeface="Times New Roman" pitchFamily="18" charset="0"/>
              </a:rPr>
              <a:t>psychrophilic bacteria</a:t>
            </a:r>
            <a:r>
              <a:rPr lang="en-GB" dirty="0">
                <a:latin typeface="Times New Roman" pitchFamily="18" charset="0"/>
                <a:cs typeface="Times New Roman" pitchFamily="18" charset="0"/>
              </a:rPr>
              <a:t>  cause discolouring, ropy texture, off-odours and other undesirable features</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685800"/>
          </a:xfrm>
        </p:spPr>
        <p:txBody>
          <a:bodyPr>
            <a:noAutofit/>
          </a:bodyPr>
          <a:lstStyle/>
          <a:p>
            <a:pPr algn="ctr"/>
            <a:r>
              <a:rPr lang="en-GB" sz="2800" dirty="0">
                <a:latin typeface="Times New Roman" pitchFamily="18" charset="0"/>
                <a:cs typeface="Times New Roman" pitchFamily="18" charset="0"/>
              </a:rPr>
              <a:t>CHANGES IN THE MICROFLORA...</a:t>
            </a:r>
            <a:r>
              <a:rPr lang="en-GB" sz="2800" i="1" dirty="0">
                <a:latin typeface="Times New Roman" pitchFamily="18" charset="0"/>
                <a:cs typeface="Times New Roman" pitchFamily="18" charset="0"/>
              </a:rPr>
              <a:t>contd.</a:t>
            </a: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066800"/>
            <a:ext cx="8229600" cy="5791200"/>
          </a:xfrm>
        </p:spPr>
        <p:txBody>
          <a:bodyPr/>
          <a:lstStyle/>
          <a:p>
            <a:r>
              <a:rPr lang="en-GB" dirty="0">
                <a:latin typeface="Times New Roman" pitchFamily="18" charset="0"/>
                <a:cs typeface="Times New Roman" pitchFamily="18" charset="0"/>
              </a:rPr>
              <a:t>Common dairy </a:t>
            </a:r>
            <a:r>
              <a:rPr lang="en-GB" dirty="0" err="1">
                <a:latin typeface="Times New Roman" pitchFamily="18" charset="0"/>
                <a:cs typeface="Times New Roman" pitchFamily="18" charset="0"/>
              </a:rPr>
              <a:t>psychrophiles</a:t>
            </a:r>
            <a:r>
              <a:rPr lang="en-GB" dirty="0">
                <a:latin typeface="Times New Roman" pitchFamily="18" charset="0"/>
                <a:cs typeface="Times New Roman" pitchFamily="18" charset="0"/>
              </a:rPr>
              <a:t> are </a:t>
            </a:r>
            <a:r>
              <a:rPr lang="en-GB" b="1" i="1" dirty="0">
                <a:latin typeface="Times New Roman" pitchFamily="18" charset="0"/>
                <a:cs typeface="Times New Roman" pitchFamily="18" charset="0"/>
              </a:rPr>
              <a:t>Pseudomonas</a:t>
            </a:r>
            <a:r>
              <a:rPr lang="en-GB" i="1" dirty="0">
                <a:latin typeface="Times New Roman" pitchFamily="18" charset="0"/>
                <a:cs typeface="Times New Roman" pitchFamily="18" charset="0"/>
              </a:rPr>
              <a:t>, </a:t>
            </a:r>
            <a:r>
              <a:rPr lang="en-GB" b="1" i="1" dirty="0" err="1">
                <a:latin typeface="Times New Roman" pitchFamily="18" charset="0"/>
                <a:cs typeface="Times New Roman" pitchFamily="18" charset="0"/>
              </a:rPr>
              <a:t>Alcaligens</a:t>
            </a:r>
            <a:r>
              <a:rPr lang="en-GB" i="1" dirty="0">
                <a:latin typeface="Times New Roman" pitchFamily="18" charset="0"/>
                <a:cs typeface="Times New Roman" pitchFamily="18" charset="0"/>
              </a:rPr>
              <a:t>, </a:t>
            </a:r>
            <a:r>
              <a:rPr lang="en-GB" b="1" i="1" dirty="0" err="1">
                <a:latin typeface="Times New Roman" pitchFamily="18" charset="0"/>
                <a:cs typeface="Times New Roman" pitchFamily="18" charset="0"/>
              </a:rPr>
              <a:t>Flavobacterium</a:t>
            </a:r>
            <a:r>
              <a:rPr lang="en-GB" i="1" dirty="0">
                <a:latin typeface="Times New Roman" pitchFamily="18" charset="0"/>
                <a:cs typeface="Times New Roman" pitchFamily="18" charset="0"/>
              </a:rPr>
              <a:t>, </a:t>
            </a:r>
            <a:r>
              <a:rPr lang="en-GB" b="1" i="1" dirty="0">
                <a:latin typeface="Times New Roman" pitchFamily="18" charset="0"/>
                <a:cs typeface="Times New Roman" pitchFamily="18" charset="0"/>
              </a:rPr>
              <a:t>Micrococcus sp</a:t>
            </a:r>
            <a:r>
              <a:rPr lang="en-GB" dirty="0">
                <a:latin typeface="Times New Roman" pitchFamily="18" charset="0"/>
                <a:cs typeface="Times New Roman" pitchFamily="18" charset="0"/>
              </a:rPr>
              <a:t>, and </a:t>
            </a:r>
            <a:r>
              <a:rPr lang="en-GB" b="1" i="1" dirty="0" err="1">
                <a:latin typeface="Times New Roman" pitchFamily="18" charset="0"/>
                <a:cs typeface="Times New Roman" pitchFamily="18" charset="0"/>
              </a:rPr>
              <a:t>Chromobacterium</a:t>
            </a:r>
            <a:r>
              <a:rPr lang="en-GB" dirty="0">
                <a:latin typeface="Times New Roman" pitchFamily="18" charset="0"/>
                <a:cs typeface="Times New Roman" pitchFamily="18" charset="0"/>
              </a:rPr>
              <a:t>.</a:t>
            </a:r>
          </a:p>
          <a:p>
            <a:pPr>
              <a:buNone/>
            </a:pPr>
            <a:endParaRPr lang="en-US" dirty="0">
              <a:latin typeface="Times New Roman" pitchFamily="18" charset="0"/>
              <a:cs typeface="Times New Roman" pitchFamily="18" charset="0"/>
            </a:endParaRP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Not all are killed even by pasteurisation, and the survivors multiply rapidly. </a:t>
            </a:r>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85800"/>
          </a:xfrm>
        </p:spPr>
        <p:txBody>
          <a:bodyPr>
            <a:noAutofit/>
          </a:bodyPr>
          <a:lstStyle/>
          <a:p>
            <a:pPr algn="ctr"/>
            <a:r>
              <a:rPr lang="en-GB" sz="2800" dirty="0">
                <a:latin typeface="Times New Roman" pitchFamily="18" charset="0"/>
                <a:cs typeface="Times New Roman" pitchFamily="18" charset="0"/>
              </a:rPr>
              <a:t>CHANGES IN THE MICROFLORA...</a:t>
            </a:r>
            <a:r>
              <a:rPr lang="en-GB" sz="2800" i="1" dirty="0">
                <a:latin typeface="Times New Roman" pitchFamily="18" charset="0"/>
                <a:cs typeface="Times New Roman" pitchFamily="18" charset="0"/>
              </a:rPr>
              <a:t>contd.</a:t>
            </a: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990600"/>
            <a:ext cx="8229600" cy="5867400"/>
          </a:xfrm>
        </p:spPr>
        <p:txBody>
          <a:bodyPr>
            <a:normAutofit lnSpcReduction="10000"/>
          </a:bodyPr>
          <a:lstStyle/>
          <a:p>
            <a:r>
              <a:rPr lang="en-GB" dirty="0">
                <a:latin typeface="Times New Roman" pitchFamily="18" charset="0"/>
                <a:cs typeface="Times New Roman" pitchFamily="18" charset="0"/>
              </a:rPr>
              <a:t>The first organisms to increase are the </a:t>
            </a:r>
            <a:r>
              <a:rPr lang="en-GB" dirty="0" err="1">
                <a:latin typeface="Times New Roman" pitchFamily="18" charset="0"/>
                <a:cs typeface="Times New Roman" pitchFamily="18" charset="0"/>
              </a:rPr>
              <a:t>Enterobacteriaceae</a:t>
            </a:r>
            <a:r>
              <a:rPr lang="en-GB" dirty="0">
                <a:latin typeface="Times New Roman" pitchFamily="18" charset="0"/>
                <a:cs typeface="Times New Roman" pitchFamily="18" charset="0"/>
              </a:rPr>
              <a:t>, some spore formers, </a:t>
            </a:r>
            <a:r>
              <a:rPr lang="en-GB" b="1" i="1" dirty="0">
                <a:latin typeface="Times New Roman" pitchFamily="18" charset="0"/>
                <a:cs typeface="Times New Roman" pitchFamily="18" charset="0"/>
              </a:rPr>
              <a:t>Micrococcus</a:t>
            </a:r>
            <a:r>
              <a:rPr lang="en-GB" dirty="0">
                <a:latin typeface="Times New Roman" pitchFamily="18" charset="0"/>
                <a:cs typeface="Times New Roman" pitchFamily="18" charset="0"/>
              </a:rPr>
              <a:t>, lactic </a:t>
            </a:r>
            <a:r>
              <a:rPr lang="en-GB" b="1" i="1" dirty="0">
                <a:latin typeface="Times New Roman" pitchFamily="18" charset="0"/>
                <a:cs typeface="Times New Roman" pitchFamily="18" charset="0"/>
              </a:rPr>
              <a:t>Streptococcus</a:t>
            </a:r>
            <a:r>
              <a:rPr lang="en-GB" dirty="0">
                <a:latin typeface="Times New Roman" pitchFamily="18" charset="0"/>
                <a:cs typeface="Times New Roman" pitchFamily="18" charset="0"/>
              </a:rPr>
              <a:t> (e.g. </a:t>
            </a:r>
            <a:r>
              <a:rPr lang="en-GB" b="1" i="1" dirty="0">
                <a:latin typeface="Times New Roman" pitchFamily="18" charset="0"/>
                <a:cs typeface="Times New Roman" pitchFamily="18" charset="0"/>
              </a:rPr>
              <a:t>Streptococcus </a:t>
            </a:r>
            <a:r>
              <a:rPr lang="en-GB" b="1" i="1" dirty="0" err="1">
                <a:latin typeface="Times New Roman" pitchFamily="18" charset="0"/>
                <a:cs typeface="Times New Roman" pitchFamily="18" charset="0"/>
              </a:rPr>
              <a:t>lactis</a:t>
            </a:r>
            <a:r>
              <a:rPr lang="en-GB" dirty="0">
                <a:latin typeface="Times New Roman" pitchFamily="18" charset="0"/>
                <a:cs typeface="Times New Roman" pitchFamily="18" charset="0"/>
              </a:rPr>
              <a:t>)</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Other saprophytes that thrive at pH near neutrality may also be found.</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They grow rapidly, dominate and ferment the lactose in the medium, as acidity increases, these species are inhibited. The </a:t>
            </a:r>
            <a:r>
              <a:rPr lang="en-GB" dirty="0" err="1">
                <a:latin typeface="Times New Roman" pitchFamily="18" charset="0"/>
                <a:cs typeface="Times New Roman" pitchFamily="18" charset="0"/>
              </a:rPr>
              <a:t>acidurics</a:t>
            </a:r>
            <a:r>
              <a:rPr lang="en-GB" dirty="0">
                <a:latin typeface="Times New Roman" pitchFamily="18" charset="0"/>
                <a:cs typeface="Times New Roman" pitchFamily="18" charset="0"/>
              </a:rPr>
              <a:t>, especially </a:t>
            </a:r>
            <a:r>
              <a:rPr lang="en-GB" i="1" dirty="0">
                <a:latin typeface="Times New Roman" pitchFamily="18" charset="0"/>
                <a:cs typeface="Times New Roman" pitchFamily="18" charset="0"/>
              </a:rPr>
              <a:t>Lactobacillus</a:t>
            </a:r>
            <a:r>
              <a:rPr lang="en-GB" dirty="0">
                <a:latin typeface="Times New Roman" pitchFamily="18" charset="0"/>
                <a:cs typeface="Times New Roman" pitchFamily="18" charset="0"/>
              </a:rPr>
              <a:t> and species of </a:t>
            </a:r>
            <a:r>
              <a:rPr lang="en-GB" i="1" dirty="0" err="1">
                <a:latin typeface="Times New Roman" pitchFamily="18" charset="0"/>
                <a:cs typeface="Times New Roman" pitchFamily="18" charset="0"/>
              </a:rPr>
              <a:t>Leuconostoc</a:t>
            </a:r>
            <a:r>
              <a:rPr lang="en-GB" dirty="0">
                <a:latin typeface="Times New Roman" pitchFamily="18" charset="0"/>
                <a:cs typeface="Times New Roman" pitchFamily="18" charset="0"/>
              </a:rPr>
              <a:t> then gain ascendency.</a:t>
            </a:r>
            <a:endParaRPr lang="en-US" dirty="0">
              <a:latin typeface="Times New Roman" pitchFamily="18" charset="0"/>
              <a:cs typeface="Times New Roman" pitchFamily="18" charset="0"/>
            </a:endParaRP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When the acidity reaches pH of about 4.7 curdling occurs. The curds shrink and settle out.</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85800"/>
          </a:xfrm>
        </p:spPr>
        <p:txBody>
          <a:bodyPr>
            <a:noAutofit/>
          </a:bodyPr>
          <a:lstStyle/>
          <a:p>
            <a:pPr algn="ctr"/>
            <a:r>
              <a:rPr lang="en-GB" sz="2800" dirty="0">
                <a:latin typeface="Times New Roman" pitchFamily="18" charset="0"/>
                <a:cs typeface="Times New Roman" pitchFamily="18" charset="0"/>
              </a:rPr>
              <a:t>CHANGES IN THE MICROFLORA...</a:t>
            </a:r>
            <a:r>
              <a:rPr lang="en-GB" sz="2800" i="1" dirty="0">
                <a:latin typeface="Times New Roman" pitchFamily="18" charset="0"/>
                <a:cs typeface="Times New Roman" pitchFamily="18" charset="0"/>
              </a:rPr>
              <a:t>contd.</a:t>
            </a: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990600"/>
            <a:ext cx="8229600" cy="5867400"/>
          </a:xfrm>
        </p:spPr>
        <p:txBody>
          <a:bodyPr/>
          <a:lstStyle/>
          <a:p>
            <a:r>
              <a:rPr lang="en-GB" sz="2800" dirty="0">
                <a:latin typeface="Times New Roman" pitchFamily="18" charset="0"/>
                <a:cs typeface="Times New Roman" pitchFamily="18" charset="0"/>
              </a:rPr>
              <a:t>Eventually organisms capable of attacking lactic acid develop especially </a:t>
            </a:r>
            <a:r>
              <a:rPr lang="en-GB" sz="2800" dirty="0" err="1">
                <a:latin typeface="Times New Roman" pitchFamily="18" charset="0"/>
                <a:cs typeface="Times New Roman" pitchFamily="18" charset="0"/>
              </a:rPr>
              <a:t>aciduric</a:t>
            </a:r>
            <a:r>
              <a:rPr lang="en-GB" sz="2800" dirty="0">
                <a:latin typeface="Times New Roman" pitchFamily="18" charset="0"/>
                <a:cs typeface="Times New Roman" pitchFamily="18" charset="0"/>
              </a:rPr>
              <a:t> yeast and moulds growing on the surface.</a:t>
            </a:r>
          </a:p>
          <a:p>
            <a:endParaRPr lang="en-GB" sz="2800" dirty="0">
              <a:latin typeface="Times New Roman" pitchFamily="18" charset="0"/>
              <a:cs typeface="Times New Roman" pitchFamily="18" charset="0"/>
            </a:endParaRPr>
          </a:p>
          <a:p>
            <a:r>
              <a:rPr lang="en-GB" sz="2800" dirty="0">
                <a:latin typeface="Times New Roman" pitchFamily="18" charset="0"/>
                <a:cs typeface="Times New Roman" pitchFamily="18" charset="0"/>
              </a:rPr>
              <a:t>These </a:t>
            </a:r>
            <a:r>
              <a:rPr lang="en-GB" sz="2800" dirty="0" err="1">
                <a:latin typeface="Times New Roman" pitchFamily="18" charset="0"/>
                <a:cs typeface="Times New Roman" pitchFamily="18" charset="0"/>
              </a:rPr>
              <a:t>acidurics</a:t>
            </a:r>
            <a:r>
              <a:rPr lang="en-GB" sz="2800" dirty="0">
                <a:latin typeface="Times New Roman" pitchFamily="18" charset="0"/>
                <a:cs typeface="Times New Roman" pitchFamily="18" charset="0"/>
              </a:rPr>
              <a:t> diminish the acidity of the milk by metabolising the lactic acid .</a:t>
            </a:r>
          </a:p>
          <a:p>
            <a:pPr marL="0" indent="0">
              <a:buNone/>
            </a:pPr>
            <a:r>
              <a:rPr lang="en-GB" sz="2800" dirty="0">
                <a:latin typeface="Times New Roman" pitchFamily="18" charset="0"/>
                <a:cs typeface="Times New Roman" pitchFamily="18" charset="0"/>
              </a:rPr>
              <a:t> </a:t>
            </a:r>
          </a:p>
          <a:p>
            <a:r>
              <a:rPr lang="en-GB" sz="2800" dirty="0">
                <a:latin typeface="Times New Roman" pitchFamily="18" charset="0"/>
                <a:cs typeface="Times New Roman" pitchFamily="18" charset="0"/>
              </a:rPr>
              <a:t>alkaline products like amines, ammonia etc are also formed through protein decomposition </a:t>
            </a:r>
            <a:endParaRPr lang="en-US" sz="2800" dirty="0">
              <a:latin typeface="Times New Roman" pitchFamily="18" charset="0"/>
              <a:cs typeface="Times New Roman" pitchFamily="18" charset="0"/>
            </a:endParaRPr>
          </a:p>
          <a:p>
            <a:endParaRPr lang="en-GB" sz="2800" b="1"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85800"/>
          </a:xfrm>
        </p:spPr>
        <p:txBody>
          <a:bodyPr>
            <a:noAutofit/>
          </a:bodyPr>
          <a:lstStyle/>
          <a:p>
            <a:pPr algn="ctr"/>
            <a:r>
              <a:rPr lang="en-GB" sz="2800" dirty="0">
                <a:latin typeface="Times New Roman" pitchFamily="18" charset="0"/>
                <a:cs typeface="Times New Roman" pitchFamily="18" charset="0"/>
              </a:rPr>
              <a:t>CHANGES IN THE MICROFLORA...</a:t>
            </a:r>
            <a:r>
              <a:rPr lang="en-GB" sz="2800" i="1" dirty="0">
                <a:latin typeface="Times New Roman" pitchFamily="18" charset="0"/>
                <a:cs typeface="Times New Roman" pitchFamily="18" charset="0"/>
              </a:rPr>
              <a:t>contd.</a:t>
            </a: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066800"/>
            <a:ext cx="8229600" cy="5791200"/>
          </a:xfrm>
        </p:spPr>
        <p:txBody>
          <a:bodyPr>
            <a:normAutofit/>
          </a:bodyPr>
          <a:lstStyle/>
          <a:p>
            <a:r>
              <a:rPr lang="en-GB" dirty="0">
                <a:latin typeface="Times New Roman" pitchFamily="18" charset="0"/>
                <a:cs typeface="Times New Roman" pitchFamily="18" charset="0"/>
              </a:rPr>
              <a:t>Organisms capable of hydrolysing the fats and casein now emerge</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These are mostly fungi and members of  </a:t>
            </a:r>
            <a:r>
              <a:rPr lang="en-GB" b="1" dirty="0" err="1">
                <a:latin typeface="Times New Roman" pitchFamily="18" charset="0"/>
                <a:cs typeface="Times New Roman" pitchFamily="18" charset="0"/>
              </a:rPr>
              <a:t>Pseudomonandaceae</a:t>
            </a:r>
            <a:r>
              <a:rPr lang="en-GB" dirty="0">
                <a:latin typeface="Times New Roman" pitchFamily="18" charset="0"/>
                <a:cs typeface="Times New Roman" pitchFamily="18" charset="0"/>
              </a:rPr>
              <a:t> and many other </a:t>
            </a:r>
            <a:r>
              <a:rPr lang="en-GB" b="1" dirty="0" err="1">
                <a:latin typeface="Times New Roman" pitchFamily="18" charset="0"/>
                <a:cs typeface="Times New Roman" pitchFamily="18" charset="0"/>
              </a:rPr>
              <a:t>lipolytic</a:t>
            </a:r>
            <a:r>
              <a:rPr lang="en-GB" dirty="0">
                <a:latin typeface="Times New Roman" pitchFamily="18" charset="0"/>
                <a:cs typeface="Times New Roman" pitchFamily="18" charset="0"/>
              </a:rPr>
              <a:t> and </a:t>
            </a:r>
            <a:r>
              <a:rPr lang="en-GB" b="1" dirty="0">
                <a:latin typeface="Times New Roman" pitchFamily="18" charset="0"/>
                <a:cs typeface="Times New Roman" pitchFamily="18" charset="0"/>
              </a:rPr>
              <a:t>proteolytic saprophytes</a:t>
            </a:r>
            <a:r>
              <a:rPr lang="en-GB" dirty="0">
                <a:latin typeface="Times New Roman" pitchFamily="18" charset="0"/>
                <a:cs typeface="Times New Roman" pitchFamily="18" charset="0"/>
              </a:rPr>
              <a:t>.</a:t>
            </a:r>
            <a:endParaRPr lang="en-US" dirty="0">
              <a:latin typeface="Times New Roman" pitchFamily="18" charset="0"/>
              <a:cs typeface="Times New Roman" pitchFamily="18" charset="0"/>
            </a:endParaRP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As the oxidation-reduction potential reduces, species of </a:t>
            </a:r>
            <a:r>
              <a:rPr lang="en-GB" i="1" dirty="0">
                <a:latin typeface="Times New Roman" pitchFamily="18" charset="0"/>
                <a:cs typeface="Times New Roman" pitchFamily="18" charset="0"/>
              </a:rPr>
              <a:t>Clostridium </a:t>
            </a:r>
            <a:r>
              <a:rPr lang="en-GB" dirty="0">
                <a:latin typeface="Times New Roman" pitchFamily="18" charset="0"/>
                <a:cs typeface="Times New Roman" pitchFamily="18" charset="0"/>
              </a:rPr>
              <a:t>and other anaerobes; both obligate and facultative gain ascendency, and odours (NH</a:t>
            </a:r>
            <a:r>
              <a:rPr lang="en-GB" baseline="-25000" dirty="0">
                <a:latin typeface="Times New Roman" pitchFamily="18" charset="0"/>
                <a:cs typeface="Times New Roman" pitchFamily="18" charset="0"/>
              </a:rPr>
              <a:t>3</a:t>
            </a:r>
            <a:r>
              <a:rPr lang="en-GB" dirty="0">
                <a:latin typeface="Times New Roman" pitchFamily="18" charset="0"/>
                <a:cs typeface="Times New Roman" pitchFamily="18" charset="0"/>
              </a:rPr>
              <a:t>, </a:t>
            </a:r>
            <a:r>
              <a:rPr lang="en-GB" dirty="0" smtClean="0">
                <a:latin typeface="Times New Roman" pitchFamily="18" charset="0"/>
                <a:cs typeface="Times New Roman" pitchFamily="18" charset="0"/>
              </a:rPr>
              <a:t>amines</a:t>
            </a:r>
            <a:r>
              <a:rPr lang="en-GB" dirty="0">
                <a:latin typeface="Times New Roman" pitchFamily="18" charset="0"/>
                <a:cs typeface="Times New Roman" pitchFamily="18" charset="0"/>
              </a:rPr>
              <a:t>, H</a:t>
            </a:r>
            <a:r>
              <a:rPr lang="en-GB" baseline="-25000" dirty="0">
                <a:latin typeface="Times New Roman" pitchFamily="18" charset="0"/>
                <a:cs typeface="Times New Roman" pitchFamily="18" charset="0"/>
              </a:rPr>
              <a:t>2</a:t>
            </a:r>
            <a:r>
              <a:rPr lang="en-GB" dirty="0">
                <a:latin typeface="Times New Roman" pitchFamily="18" charset="0"/>
                <a:cs typeface="Times New Roman" pitchFamily="18" charset="0"/>
              </a:rPr>
              <a:t>S etc.) are produced</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Then effects of putrefaction become evident.</a:t>
            </a:r>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85800"/>
          </a:xfrm>
        </p:spPr>
        <p:txBody>
          <a:bodyPr>
            <a:noAutofit/>
          </a:bodyPr>
          <a:lstStyle/>
          <a:p>
            <a:pPr algn="ctr"/>
            <a:r>
              <a:rPr lang="en-GB" sz="2800" dirty="0">
                <a:latin typeface="Times New Roman" pitchFamily="18" charset="0"/>
                <a:cs typeface="Times New Roman" pitchFamily="18" charset="0"/>
              </a:rPr>
              <a:t>CHANGES IN THE MICROFLORA...</a:t>
            </a:r>
            <a:r>
              <a:rPr lang="en-GB" sz="2800" i="1" dirty="0">
                <a:latin typeface="Times New Roman" pitchFamily="18" charset="0"/>
                <a:cs typeface="Times New Roman" pitchFamily="18" charset="0"/>
              </a:rPr>
              <a:t>contd.</a:t>
            </a: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066800"/>
            <a:ext cx="8229600" cy="5791200"/>
          </a:xfrm>
        </p:spPr>
        <p:txBody>
          <a:bodyPr/>
          <a:lstStyle/>
          <a:p>
            <a:r>
              <a:rPr lang="en-GB" dirty="0">
                <a:latin typeface="Times New Roman" pitchFamily="18" charset="0"/>
                <a:cs typeface="Times New Roman" pitchFamily="18" charset="0"/>
              </a:rPr>
              <a:t>The casein is hydrolysed and the milk is darkened.</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After the situation has somewhat stabilized, a more prolonged decomposition continues mainly by various microbial enzymes.</a:t>
            </a:r>
            <a:endParaRPr lang="en-US" dirty="0">
              <a:latin typeface="Times New Roman" pitchFamily="18" charset="0"/>
              <a:cs typeface="Times New Roman" pitchFamily="18" charset="0"/>
            </a:endParaRP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The raw milk like soil is considered one of the best substrates for investigating microbial ecology or succession. </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85800"/>
          </a:xfrm>
        </p:spPr>
        <p:txBody>
          <a:bodyPr>
            <a:noAutofit/>
          </a:bodyPr>
          <a:lstStyle/>
          <a:p>
            <a:pPr algn="ctr"/>
            <a:r>
              <a:rPr lang="en-US" sz="2800" b="1" dirty="0">
                <a:latin typeface="Times New Roman" pitchFamily="18" charset="0"/>
                <a:cs typeface="Times New Roman" pitchFamily="18" charset="0"/>
              </a:rPr>
              <a:t>DISEASES TRANSMITTED IN MILK</a:t>
            </a:r>
          </a:p>
        </p:txBody>
      </p:sp>
      <p:sp>
        <p:nvSpPr>
          <p:cNvPr id="3" name="Content Placeholder 2"/>
          <p:cNvSpPr>
            <a:spLocks noGrp="1"/>
          </p:cNvSpPr>
          <p:nvPr>
            <p:ph idx="1"/>
          </p:nvPr>
        </p:nvSpPr>
        <p:spPr>
          <a:xfrm>
            <a:off x="457200" y="1066800"/>
            <a:ext cx="8229600" cy="5791200"/>
          </a:xfrm>
        </p:spPr>
        <p:txBody>
          <a:bodyPr>
            <a:normAutofit/>
          </a:bodyPr>
          <a:lstStyle/>
          <a:p>
            <a:r>
              <a:rPr lang="en-GB" dirty="0">
                <a:latin typeface="Times New Roman" pitchFamily="18" charset="0"/>
                <a:cs typeface="Times New Roman" pitchFamily="18" charset="0"/>
              </a:rPr>
              <a:t>Diseases spread by milk are numerous and may be divided into two (2) main categories:</a:t>
            </a:r>
            <a:endParaRPr lang="en-US" dirty="0">
              <a:latin typeface="Times New Roman" pitchFamily="18" charset="0"/>
              <a:cs typeface="Times New Roman" pitchFamily="18" charset="0"/>
            </a:endParaRPr>
          </a:p>
          <a:p>
            <a:pPr marL="850392" lvl="1" indent="-457200">
              <a:buFont typeface="+mj-lt"/>
              <a:buAutoNum type="arabicPeriod"/>
            </a:pPr>
            <a:r>
              <a:rPr lang="en-GB" dirty="0">
                <a:latin typeface="Times New Roman" pitchFamily="18" charset="0"/>
                <a:cs typeface="Times New Roman" pitchFamily="18" charset="0"/>
              </a:rPr>
              <a:t>Diseases caused by organisms that infect the cow and gain entrance into the milk</a:t>
            </a:r>
            <a:endParaRPr lang="en-US" dirty="0">
              <a:latin typeface="Times New Roman" pitchFamily="18" charset="0"/>
              <a:cs typeface="Times New Roman" pitchFamily="18" charset="0"/>
            </a:endParaRPr>
          </a:p>
          <a:p>
            <a:pPr marL="850392" lvl="1" indent="-457200">
              <a:buFont typeface="+mj-lt"/>
              <a:buAutoNum type="arabicPeriod"/>
            </a:pPr>
            <a:r>
              <a:rPr lang="en-GB" dirty="0">
                <a:latin typeface="Times New Roman" pitchFamily="18" charset="0"/>
                <a:cs typeface="Times New Roman" pitchFamily="18" charset="0"/>
              </a:rPr>
              <a:t>Diseases that result from contamination of the milk by human sources.</a:t>
            </a:r>
            <a:endParaRPr lang="en-US" dirty="0">
              <a:latin typeface="Times New Roman" pitchFamily="18" charset="0"/>
              <a:cs typeface="Times New Roman" pitchFamily="18" charset="0"/>
            </a:endParaRP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The best known example of (</a:t>
            </a:r>
            <a:r>
              <a:rPr lang="en-GB" dirty="0" err="1">
                <a:latin typeface="Times New Roman" pitchFamily="18" charset="0"/>
                <a:cs typeface="Times New Roman" pitchFamily="18" charset="0"/>
              </a:rPr>
              <a:t>i</a:t>
            </a:r>
            <a:r>
              <a:rPr lang="en-GB" dirty="0">
                <a:latin typeface="Times New Roman" pitchFamily="18" charset="0"/>
                <a:cs typeface="Times New Roman" pitchFamily="18" charset="0"/>
              </a:rPr>
              <a:t>) above are </a:t>
            </a:r>
            <a:r>
              <a:rPr lang="en-GB" b="1" dirty="0">
                <a:latin typeface="Times New Roman" pitchFamily="18" charset="0"/>
                <a:cs typeface="Times New Roman" pitchFamily="18" charset="0"/>
              </a:rPr>
              <a:t>Bovine Tuberculosis and Brucellosis.</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Also </a:t>
            </a:r>
            <a:r>
              <a:rPr lang="en-GB" b="1" dirty="0">
                <a:latin typeface="Times New Roman" pitchFamily="18" charset="0"/>
                <a:cs typeface="Times New Roman" pitchFamily="18" charset="0"/>
              </a:rPr>
              <a:t>Streptococcal sore throats </a:t>
            </a:r>
            <a:r>
              <a:rPr lang="en-GB" dirty="0">
                <a:latin typeface="Times New Roman" pitchFamily="18" charset="0"/>
                <a:cs typeface="Times New Roman" pitchFamily="18" charset="0"/>
              </a:rPr>
              <a:t>and </a:t>
            </a:r>
            <a:r>
              <a:rPr lang="en-GB" b="1" dirty="0">
                <a:latin typeface="Times New Roman" pitchFamily="18" charset="0"/>
                <a:cs typeface="Times New Roman" pitchFamily="18" charset="0"/>
              </a:rPr>
              <a:t>scarlet fever </a:t>
            </a:r>
            <a:r>
              <a:rPr lang="en-GB" dirty="0">
                <a:latin typeface="Times New Roman" pitchFamily="18" charset="0"/>
                <a:cs typeface="Times New Roman" pitchFamily="18" charset="0"/>
              </a:rPr>
              <a:t>have been transmitted to humans through milk from cows that have udder infection from </a:t>
            </a:r>
            <a:r>
              <a:rPr lang="en-GB" i="1" dirty="0">
                <a:latin typeface="Times New Roman" pitchFamily="18" charset="0"/>
                <a:cs typeface="Times New Roman" pitchFamily="18" charset="0"/>
              </a:rPr>
              <a:t>Streptococcus </a:t>
            </a:r>
            <a:r>
              <a:rPr lang="en-GB" i="1" dirty="0" err="1">
                <a:latin typeface="Times New Roman" pitchFamily="18" charset="0"/>
                <a:cs typeface="Times New Roman" pitchFamily="18" charset="0"/>
              </a:rPr>
              <a:t>pyogenes</a:t>
            </a:r>
            <a:r>
              <a:rPr lang="en-GB" i="1" dirty="0">
                <a:latin typeface="Times New Roman" pitchFamily="18" charset="0"/>
                <a:cs typeface="Times New Roman" pitchFamily="18" charset="0"/>
              </a:rPr>
              <a:t>.</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62000"/>
          </a:xfrm>
        </p:spPr>
        <p:txBody>
          <a:bodyPr>
            <a:normAutofit/>
          </a:bodyPr>
          <a:lstStyle/>
          <a:p>
            <a:pPr algn="ctr"/>
            <a:r>
              <a:rPr lang="en-US" sz="2800" b="1" dirty="0">
                <a:latin typeface="Times New Roman" pitchFamily="18" charset="0"/>
                <a:cs typeface="Times New Roman" pitchFamily="18" charset="0"/>
              </a:rPr>
              <a:t>DISEASES TRANSMITTED IN MILK</a:t>
            </a:r>
            <a:r>
              <a:rPr lang="en-US" sz="2800" dirty="0">
                <a:latin typeface="Times New Roman" pitchFamily="18" charset="0"/>
                <a:cs typeface="Times New Roman" pitchFamily="18" charset="0"/>
              </a:rPr>
              <a:t>...</a:t>
            </a:r>
            <a:r>
              <a:rPr lang="en-US" sz="2800" i="1" dirty="0">
                <a:latin typeface="Times New Roman" pitchFamily="18" charset="0"/>
                <a:cs typeface="Times New Roman" pitchFamily="18" charset="0"/>
              </a:rPr>
              <a:t>contd.</a:t>
            </a: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066800"/>
            <a:ext cx="8229600" cy="5791200"/>
          </a:xfrm>
        </p:spPr>
        <p:txBody>
          <a:bodyPr/>
          <a:lstStyle/>
          <a:p>
            <a:r>
              <a:rPr lang="en-GB" dirty="0">
                <a:latin typeface="Times New Roman" pitchFamily="18" charset="0"/>
                <a:cs typeface="Times New Roman" pitchFamily="18" charset="0"/>
              </a:rPr>
              <a:t>Similarly, </a:t>
            </a:r>
            <a:r>
              <a:rPr lang="en-GB" b="1" i="1" dirty="0">
                <a:latin typeface="Times New Roman" pitchFamily="18" charset="0"/>
                <a:cs typeface="Times New Roman" pitchFamily="18" charset="0"/>
              </a:rPr>
              <a:t>Staphylococcus </a:t>
            </a:r>
            <a:r>
              <a:rPr lang="en-GB" b="1" i="1" dirty="0" err="1">
                <a:latin typeface="Times New Roman" pitchFamily="18" charset="0"/>
                <a:cs typeface="Times New Roman" pitchFamily="18" charset="0"/>
              </a:rPr>
              <a:t>aureus</a:t>
            </a:r>
            <a:r>
              <a:rPr lang="en-GB" dirty="0">
                <a:latin typeface="Times New Roman" pitchFamily="18" charset="0"/>
                <a:cs typeface="Times New Roman" pitchFamily="18" charset="0"/>
              </a:rPr>
              <a:t> may infect the cow and cause food poisoning through contaminated milk.</a:t>
            </a:r>
            <a:endParaRPr lang="en-US" dirty="0">
              <a:latin typeface="Times New Roman" pitchFamily="18" charset="0"/>
              <a:cs typeface="Times New Roman" pitchFamily="18" charset="0"/>
            </a:endParaRPr>
          </a:p>
          <a:p>
            <a:r>
              <a:rPr lang="en-GB" dirty="0">
                <a:latin typeface="Times New Roman" pitchFamily="18" charset="0"/>
                <a:cs typeface="Times New Roman" pitchFamily="18" charset="0"/>
              </a:rPr>
              <a:t>Direct and indirect contamination of milk and milk products by dairy personnel who are infected with some pathogens is the most common way of infecting milk.</a:t>
            </a:r>
          </a:p>
          <a:p>
            <a:r>
              <a:rPr lang="en-GB" dirty="0">
                <a:latin typeface="Times New Roman" pitchFamily="18" charset="0"/>
                <a:cs typeface="Times New Roman" pitchFamily="18" charset="0"/>
              </a:rPr>
              <a:t>Milk may become contaminated through</a:t>
            </a:r>
          </a:p>
          <a:p>
            <a:pPr lvl="1"/>
            <a:r>
              <a:rPr lang="en-GB" sz="2600" dirty="0">
                <a:latin typeface="Times New Roman" pitchFamily="18" charset="0"/>
                <a:cs typeface="Times New Roman" pitchFamily="18" charset="0"/>
              </a:rPr>
              <a:t>dirty hands,</a:t>
            </a:r>
          </a:p>
          <a:p>
            <a:pPr lvl="1"/>
            <a:r>
              <a:rPr lang="en-GB" sz="2600" dirty="0">
                <a:latin typeface="Times New Roman" pitchFamily="18" charset="0"/>
                <a:cs typeface="Times New Roman" pitchFamily="18" charset="0"/>
              </a:rPr>
              <a:t>sneezing,</a:t>
            </a:r>
          </a:p>
          <a:p>
            <a:pPr lvl="1"/>
            <a:r>
              <a:rPr lang="en-GB" sz="2600" dirty="0">
                <a:latin typeface="Times New Roman" pitchFamily="18" charset="0"/>
                <a:cs typeface="Times New Roman" pitchFamily="18" charset="0"/>
              </a:rPr>
              <a:t>coughing or</a:t>
            </a:r>
          </a:p>
          <a:p>
            <a:pPr lvl="1"/>
            <a:r>
              <a:rPr lang="en-GB" sz="2600" dirty="0">
                <a:latin typeface="Times New Roman" pitchFamily="18" charset="0"/>
                <a:cs typeface="Times New Roman" pitchFamily="18" charset="0"/>
              </a:rPr>
              <a:t>poorly cleaned equipment.</a:t>
            </a:r>
            <a:endParaRPr lang="en-US" sz="2600"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685800"/>
          </a:xfrm>
        </p:spPr>
        <p:txBody>
          <a:bodyPr>
            <a:normAutofit/>
          </a:bodyPr>
          <a:lstStyle/>
          <a:p>
            <a:pPr algn="ctr"/>
            <a:r>
              <a:rPr lang="en-US" sz="3200" dirty="0">
                <a:latin typeface="Times New Roman" pitchFamily="18" charset="0"/>
                <a:cs typeface="Times New Roman" pitchFamily="18" charset="0"/>
              </a:rPr>
              <a:t>DISEASES...</a:t>
            </a:r>
            <a:r>
              <a:rPr lang="en-US" sz="3200" i="1" dirty="0">
                <a:latin typeface="Times New Roman" pitchFamily="18" charset="0"/>
                <a:cs typeface="Times New Roman" pitchFamily="18" charset="0"/>
              </a:rPr>
              <a:t>contd.</a:t>
            </a:r>
            <a:endParaRPr lang="en-US" sz="32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066800"/>
            <a:ext cx="8229600" cy="5791200"/>
          </a:xfrm>
        </p:spPr>
        <p:txBody>
          <a:bodyPr/>
          <a:lstStyle/>
          <a:p>
            <a:r>
              <a:rPr lang="en-GB" dirty="0" err="1">
                <a:latin typeface="Times New Roman" pitchFamily="18" charset="0"/>
                <a:cs typeface="Times New Roman" pitchFamily="18" charset="0"/>
              </a:rPr>
              <a:t>Salmonellosis</a:t>
            </a:r>
            <a:r>
              <a:rPr lang="en-GB" dirty="0">
                <a:latin typeface="Times New Roman" pitchFamily="18" charset="0"/>
                <a:cs typeface="Times New Roman" pitchFamily="18" charset="0"/>
              </a:rPr>
              <a:t> is an example of the second category (ii) above.</a:t>
            </a:r>
            <a:endParaRPr lang="en-US" dirty="0">
              <a:latin typeface="Times New Roman" pitchFamily="18" charset="0"/>
              <a:cs typeface="Times New Roman" pitchFamily="18" charset="0"/>
            </a:endParaRPr>
          </a:p>
          <a:p>
            <a:r>
              <a:rPr lang="en-GB" dirty="0">
                <a:latin typeface="Times New Roman" pitchFamily="18" charset="0"/>
                <a:cs typeface="Times New Roman" pitchFamily="18" charset="0"/>
              </a:rPr>
              <a:t>Other diseases in which milk has been implicated include Shigellosis by </a:t>
            </a:r>
            <a:r>
              <a:rPr lang="en-GB" b="1" i="1" dirty="0" err="1">
                <a:latin typeface="Times New Roman" pitchFamily="18" charset="0"/>
                <a:cs typeface="Times New Roman" pitchFamily="18" charset="0"/>
              </a:rPr>
              <a:t>Shigella</a:t>
            </a:r>
            <a:r>
              <a:rPr lang="en-GB" i="1" dirty="0">
                <a:latin typeface="Times New Roman" pitchFamily="18" charset="0"/>
                <a:cs typeface="Times New Roman" pitchFamily="18" charset="0"/>
              </a:rPr>
              <a:t>, </a:t>
            </a:r>
            <a:r>
              <a:rPr lang="en-GB" dirty="0">
                <a:latin typeface="Times New Roman" pitchFamily="18" charset="0"/>
                <a:cs typeface="Times New Roman" pitchFamily="18" charset="0"/>
              </a:rPr>
              <a:t>Diphtheria by </a:t>
            </a:r>
            <a:r>
              <a:rPr lang="en-GB" b="1" i="1" dirty="0" err="1">
                <a:latin typeface="Times New Roman" pitchFamily="18" charset="0"/>
                <a:cs typeface="Times New Roman" pitchFamily="18" charset="0"/>
              </a:rPr>
              <a:t>Corynebacteria</a:t>
            </a:r>
            <a:r>
              <a:rPr lang="en-GB" b="1" i="1" dirty="0">
                <a:latin typeface="Times New Roman" pitchFamily="18" charset="0"/>
                <a:cs typeface="Times New Roman" pitchFamily="18" charset="0"/>
              </a:rPr>
              <a:t> </a:t>
            </a:r>
            <a:r>
              <a:rPr lang="en-GB" b="1" i="1" dirty="0" err="1">
                <a:latin typeface="Times New Roman" pitchFamily="18" charset="0"/>
                <a:cs typeface="Times New Roman" pitchFamily="18" charset="0"/>
              </a:rPr>
              <a:t>diphtheriae</a:t>
            </a:r>
            <a:r>
              <a:rPr lang="en-GB" dirty="0">
                <a:latin typeface="Times New Roman" pitchFamily="18" charset="0"/>
                <a:cs typeface="Times New Roman" pitchFamily="18" charset="0"/>
              </a:rPr>
              <a:t>.</a:t>
            </a:r>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85800"/>
          </a:xfrm>
        </p:spPr>
        <p:txBody>
          <a:bodyPr>
            <a:noAutofit/>
          </a:bodyPr>
          <a:lstStyle/>
          <a:p>
            <a:pPr algn="ctr"/>
            <a:r>
              <a:rPr lang="en-US" sz="2800" dirty="0">
                <a:latin typeface="Times New Roman" pitchFamily="18" charset="0"/>
                <a:cs typeface="Times New Roman" pitchFamily="18" charset="0"/>
              </a:rPr>
              <a:t>RIGOR MORTIS</a:t>
            </a:r>
          </a:p>
        </p:txBody>
      </p:sp>
      <p:sp>
        <p:nvSpPr>
          <p:cNvPr id="3" name="Content Placeholder 2"/>
          <p:cNvSpPr>
            <a:spLocks noGrp="1"/>
          </p:cNvSpPr>
          <p:nvPr>
            <p:ph idx="1"/>
          </p:nvPr>
        </p:nvSpPr>
        <p:spPr>
          <a:xfrm>
            <a:off x="381000" y="1066800"/>
            <a:ext cx="8229600" cy="5638800"/>
          </a:xfrm>
        </p:spPr>
        <p:txBody>
          <a:bodyPr>
            <a:normAutofit fontScale="92500" lnSpcReduction="20000"/>
          </a:bodyPr>
          <a:lstStyle/>
          <a:p>
            <a:r>
              <a:rPr lang="en-US" dirty="0">
                <a:latin typeface="Times New Roman" pitchFamily="18" charset="0"/>
                <a:cs typeface="Times New Roman" pitchFamily="18" charset="0"/>
              </a:rPr>
              <a:t>The joints of the body stiffen and become locked in place a few hours after a person or animal dies.</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This stiffening is called </a:t>
            </a:r>
            <a:r>
              <a:rPr lang="en-US" b="1" i="1" dirty="0">
                <a:latin typeface="Times New Roman" pitchFamily="18" charset="0"/>
                <a:cs typeface="Times New Roman" pitchFamily="18" charset="0"/>
              </a:rPr>
              <a:t>rigor mortis</a:t>
            </a:r>
            <a:r>
              <a:rPr lang="en-US" dirty="0">
                <a:latin typeface="Times New Roman" pitchFamily="18" charset="0"/>
                <a:cs typeface="Times New Roman" pitchFamily="18" charset="0"/>
              </a:rPr>
              <a:t>.</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Rigor mortis lasts approximately 72 hours depending on temperature and other conditions.</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The phenomenon is caused by partial contraction of the skeletal muscles.</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Here the muscles are unable to relax, so the joints become fixed in place.</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More specifically, what happens is that the membranes of muscle cells become more permeable to calcium ions.</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85800"/>
          </a:xfrm>
        </p:spPr>
        <p:txBody>
          <a:bodyPr>
            <a:noAutofit/>
          </a:bodyPr>
          <a:lstStyle/>
          <a:p>
            <a:pPr algn="ctr"/>
            <a:r>
              <a:rPr lang="en-US" sz="2800" dirty="0">
                <a:latin typeface="Times New Roman" pitchFamily="18" charset="0"/>
                <a:cs typeface="Times New Roman" pitchFamily="18" charset="0"/>
              </a:rPr>
              <a:t>RIGOR MORTIS </a:t>
            </a:r>
            <a:r>
              <a:rPr lang="en-US" sz="2800" i="1" dirty="0">
                <a:latin typeface="Times New Roman" pitchFamily="18" charset="0"/>
                <a:cs typeface="Times New Roman" pitchFamily="18" charset="0"/>
              </a:rPr>
              <a:t>contd.</a:t>
            </a: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066800"/>
            <a:ext cx="8229600" cy="5791200"/>
          </a:xfrm>
        </p:spPr>
        <p:txBody>
          <a:bodyPr>
            <a:normAutofit/>
          </a:bodyPr>
          <a:lstStyle/>
          <a:p>
            <a:r>
              <a:rPr lang="en-US" dirty="0">
                <a:latin typeface="Times New Roman" pitchFamily="18" charset="0"/>
                <a:cs typeface="Times New Roman" pitchFamily="18" charset="0"/>
              </a:rPr>
              <a:t>Living muscle cells expend energy to transport calcium ions to the outside of the cells.</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The calcium ions that flow into the muscle cells promote the </a:t>
            </a:r>
            <a:r>
              <a:rPr lang="en-US" i="1" dirty="0">
                <a:latin typeface="Times New Roman" pitchFamily="18" charset="0"/>
                <a:cs typeface="Times New Roman" pitchFamily="18" charset="0"/>
              </a:rPr>
              <a:t>cross-bridge attachment</a:t>
            </a:r>
            <a:r>
              <a:rPr lang="en-US" dirty="0">
                <a:latin typeface="Times New Roman" pitchFamily="18" charset="0"/>
                <a:cs typeface="Times New Roman" pitchFamily="18" charset="0"/>
              </a:rPr>
              <a:t> between </a:t>
            </a:r>
            <a:r>
              <a:rPr lang="en-US" b="1" i="1" dirty="0" err="1">
                <a:latin typeface="Times New Roman" pitchFamily="18" charset="0"/>
                <a:cs typeface="Times New Roman" pitchFamily="18" charset="0"/>
              </a:rPr>
              <a:t>actin</a:t>
            </a:r>
            <a:r>
              <a:rPr lang="en-US" dirty="0">
                <a:latin typeface="Times New Roman" pitchFamily="18" charset="0"/>
                <a:cs typeface="Times New Roman" pitchFamily="18" charset="0"/>
              </a:rPr>
              <a:t> and </a:t>
            </a:r>
            <a:r>
              <a:rPr lang="en-US" b="1" i="1" dirty="0">
                <a:latin typeface="Times New Roman" pitchFamily="18" charset="0"/>
                <a:cs typeface="Times New Roman" pitchFamily="18" charset="0"/>
              </a:rPr>
              <a:t>myosin</a:t>
            </a:r>
            <a:r>
              <a:rPr lang="en-US" i="1" dirty="0">
                <a:latin typeface="Times New Roman" pitchFamily="18" charset="0"/>
                <a:cs typeface="Times New Roman" pitchFamily="18" charset="0"/>
              </a:rPr>
              <a:t>.</a:t>
            </a:r>
            <a:endParaRPr lang="en-US" b="1" i="1"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r>
              <a:rPr lang="en-US" i="1" dirty="0" err="1">
                <a:latin typeface="Times New Roman" pitchFamily="18" charset="0"/>
                <a:cs typeface="Times New Roman" pitchFamily="18" charset="0"/>
              </a:rPr>
              <a:t>Actin</a:t>
            </a:r>
            <a:r>
              <a:rPr lang="en-US" dirty="0">
                <a:latin typeface="Times New Roman" pitchFamily="18" charset="0"/>
                <a:cs typeface="Times New Roman" pitchFamily="18" charset="0"/>
              </a:rPr>
              <a:t> and </a:t>
            </a:r>
            <a:r>
              <a:rPr lang="en-US" i="1" dirty="0">
                <a:latin typeface="Times New Roman" pitchFamily="18" charset="0"/>
                <a:cs typeface="Times New Roman" pitchFamily="18" charset="0"/>
              </a:rPr>
              <a:t>Myosin</a:t>
            </a:r>
            <a:r>
              <a:rPr lang="en-US" dirty="0">
                <a:latin typeface="Times New Roman" pitchFamily="18" charset="0"/>
                <a:cs typeface="Times New Roman" pitchFamily="18" charset="0"/>
              </a:rPr>
              <a:t> are</a:t>
            </a:r>
            <a:r>
              <a:rPr lang="en-US" b="1" i="1" dirty="0">
                <a:latin typeface="Times New Roman" pitchFamily="18" charset="0"/>
                <a:cs typeface="Times New Roman" pitchFamily="18" charset="0"/>
              </a:rPr>
              <a:t> </a:t>
            </a:r>
            <a:r>
              <a:rPr lang="en-US" dirty="0">
                <a:latin typeface="Times New Roman" pitchFamily="18" charset="0"/>
                <a:cs typeface="Times New Roman" pitchFamily="18" charset="0"/>
              </a:rPr>
              <a:t>two types of fibers that work together in muscle contraction.</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The muscle fibers ratchet shorter and shorter until they are fully contracted or as long as the neurotransmitter </a:t>
            </a:r>
            <a:r>
              <a:rPr lang="en-US" b="1" i="1" dirty="0">
                <a:latin typeface="Times New Roman" pitchFamily="18" charset="0"/>
                <a:cs typeface="Times New Roman" pitchFamily="18" charset="0"/>
              </a:rPr>
              <a:t>acetylcholine</a:t>
            </a:r>
            <a:r>
              <a:rPr lang="en-US" dirty="0">
                <a:latin typeface="Times New Roman" pitchFamily="18" charset="0"/>
                <a:cs typeface="Times New Roman" pitchFamily="18" charset="0"/>
              </a:rPr>
              <a:t> and the energy molecule </a:t>
            </a:r>
            <a:r>
              <a:rPr lang="en-US" b="1" i="1" dirty="0">
                <a:latin typeface="Times New Roman" pitchFamily="18" charset="0"/>
                <a:cs typeface="Times New Roman" pitchFamily="18" charset="0"/>
              </a:rPr>
              <a:t>adenosine </a:t>
            </a:r>
            <a:r>
              <a:rPr lang="en-US" b="1" i="1" dirty="0" err="1">
                <a:latin typeface="Times New Roman" pitchFamily="18" charset="0"/>
                <a:cs typeface="Times New Roman" pitchFamily="18" charset="0"/>
              </a:rPr>
              <a:t>triphosphate</a:t>
            </a:r>
            <a:r>
              <a:rPr lang="en-US" dirty="0">
                <a:latin typeface="Times New Roman" pitchFamily="18" charset="0"/>
                <a:cs typeface="Times New Roman" pitchFamily="18" charset="0"/>
              </a:rPr>
              <a:t> (ATP) are present.</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85800"/>
          </a:xfrm>
        </p:spPr>
        <p:txBody>
          <a:bodyPr>
            <a:noAutofit/>
          </a:bodyPr>
          <a:lstStyle/>
          <a:p>
            <a:pPr algn="ctr"/>
            <a:r>
              <a:rPr lang="en-US" sz="2800" dirty="0">
                <a:latin typeface="Times New Roman" pitchFamily="18" charset="0"/>
                <a:cs typeface="Times New Roman" pitchFamily="18" charset="0"/>
              </a:rPr>
              <a:t>RIGOR MORTIS </a:t>
            </a:r>
            <a:r>
              <a:rPr lang="en-US" sz="2800" i="1" dirty="0">
                <a:latin typeface="Times New Roman" pitchFamily="18" charset="0"/>
                <a:cs typeface="Times New Roman" pitchFamily="18" charset="0"/>
              </a:rPr>
              <a:t>contd.</a:t>
            </a: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066800"/>
            <a:ext cx="8229600" cy="5791200"/>
          </a:xfrm>
        </p:spPr>
        <p:txBody>
          <a:bodyPr/>
          <a:lstStyle/>
          <a:p>
            <a:r>
              <a:rPr lang="en-US" dirty="0">
                <a:latin typeface="Times New Roman" pitchFamily="18" charset="0"/>
                <a:cs typeface="Times New Roman" pitchFamily="18" charset="0"/>
              </a:rPr>
              <a:t>However, muscles need ATP in order to release from a contracted state (it is used to pump the calcium out of the cells so the fibers can unlatch from each other).</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ATP reserves are quickly exhausted from the muscle contraction and other cellular processes.</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This means that the </a:t>
            </a:r>
            <a:r>
              <a:rPr lang="en-US" dirty="0" err="1">
                <a:latin typeface="Times New Roman" pitchFamily="18" charset="0"/>
                <a:cs typeface="Times New Roman" pitchFamily="18" charset="0"/>
              </a:rPr>
              <a:t>actin</a:t>
            </a:r>
            <a:r>
              <a:rPr lang="en-US" dirty="0">
                <a:latin typeface="Times New Roman" pitchFamily="18" charset="0"/>
                <a:cs typeface="Times New Roman" pitchFamily="18" charset="0"/>
              </a:rPr>
              <a:t> and myosin fibers will remain linked until the muscles themselves start to decompose. </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Rigor mortis can be used to help estimate time of death.</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85800"/>
          </a:xfrm>
        </p:spPr>
        <p:txBody>
          <a:bodyPr>
            <a:noAutofit/>
          </a:bodyPr>
          <a:lstStyle/>
          <a:p>
            <a:pPr algn="ctr"/>
            <a:r>
              <a:rPr lang="en-US" sz="2800" dirty="0">
                <a:latin typeface="Times New Roman" pitchFamily="18" charset="0"/>
                <a:cs typeface="Times New Roman" pitchFamily="18" charset="0"/>
              </a:rPr>
              <a:t>RIGOR MORTIS </a:t>
            </a:r>
            <a:r>
              <a:rPr lang="en-US" sz="2800" i="1" dirty="0">
                <a:latin typeface="Times New Roman" pitchFamily="18" charset="0"/>
                <a:cs typeface="Times New Roman" pitchFamily="18" charset="0"/>
              </a:rPr>
              <a:t>contd.</a:t>
            </a: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990600"/>
            <a:ext cx="8229600" cy="5867400"/>
          </a:xfrm>
        </p:spPr>
        <p:txBody>
          <a:bodyPr/>
          <a:lstStyle/>
          <a:p>
            <a:r>
              <a:rPr lang="en-US" dirty="0">
                <a:latin typeface="Times New Roman" pitchFamily="18" charset="0"/>
                <a:cs typeface="Times New Roman" pitchFamily="18" charset="0"/>
              </a:rPr>
              <a:t>The onset of rigor mortis may range from </a:t>
            </a:r>
            <a:r>
              <a:rPr lang="en-US" b="1" dirty="0">
                <a:latin typeface="Times New Roman" pitchFamily="18" charset="0"/>
                <a:cs typeface="Times New Roman" pitchFamily="18" charset="0"/>
              </a:rPr>
              <a:t>10 minutes to several hours.</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This depends on factors including temperature (rapid cooling of a body can inhibit rigor mortis, but it occurs upon thawing).</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Maximum stiffness is reached around </a:t>
            </a:r>
            <a:r>
              <a:rPr lang="en-US" b="1" dirty="0">
                <a:latin typeface="Times New Roman" pitchFamily="18" charset="0"/>
                <a:cs typeface="Times New Roman" pitchFamily="18" charset="0"/>
              </a:rPr>
              <a:t>12-24 hours</a:t>
            </a:r>
            <a:r>
              <a:rPr lang="en-US" dirty="0">
                <a:latin typeface="Times New Roman" pitchFamily="18" charset="0"/>
                <a:cs typeface="Times New Roman" pitchFamily="18" charset="0"/>
              </a:rPr>
              <a:t> post mortem.</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Facial muscles are affected first with the rigor, then spreading to other parts of the body.</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685800"/>
          </a:xfrm>
        </p:spPr>
        <p:txBody>
          <a:bodyPr>
            <a:noAutofit/>
          </a:bodyPr>
          <a:lstStyle/>
          <a:p>
            <a:pPr algn="ctr"/>
            <a:r>
              <a:rPr lang="en-US" sz="2800" dirty="0">
                <a:latin typeface="Times New Roman" pitchFamily="18" charset="0"/>
                <a:cs typeface="Times New Roman" pitchFamily="18" charset="0"/>
              </a:rPr>
              <a:t>RIGOR MORTIS </a:t>
            </a:r>
            <a:r>
              <a:rPr lang="en-US" sz="2800" i="1" dirty="0">
                <a:latin typeface="Times New Roman" pitchFamily="18" charset="0"/>
                <a:cs typeface="Times New Roman" pitchFamily="18" charset="0"/>
              </a:rPr>
              <a:t>contd.</a:t>
            </a: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066800"/>
            <a:ext cx="8229600" cy="5791200"/>
          </a:xfrm>
        </p:spPr>
        <p:txBody>
          <a:bodyPr/>
          <a:lstStyle/>
          <a:p>
            <a:r>
              <a:rPr lang="en-US" dirty="0">
                <a:latin typeface="Times New Roman" pitchFamily="18" charset="0"/>
                <a:cs typeface="Times New Roman" pitchFamily="18" charset="0"/>
              </a:rPr>
              <a:t>The joints are stiff for 1-3 days, but after this time general tissue decay and leaking of </a:t>
            </a:r>
            <a:r>
              <a:rPr lang="en-US" dirty="0" err="1">
                <a:latin typeface="Times New Roman" pitchFamily="18" charset="0"/>
                <a:cs typeface="Times New Roman" pitchFamily="18" charset="0"/>
              </a:rPr>
              <a:t>lysosomal</a:t>
            </a:r>
            <a:r>
              <a:rPr lang="en-US" dirty="0">
                <a:latin typeface="Times New Roman" pitchFamily="18" charset="0"/>
                <a:cs typeface="Times New Roman" pitchFamily="18" charset="0"/>
              </a:rPr>
              <a:t> intracellular digestive enzymes will cause the muscles to relax.</a:t>
            </a:r>
          </a:p>
          <a:p>
            <a:r>
              <a:rPr lang="en-US" dirty="0">
                <a:latin typeface="Times New Roman" pitchFamily="18" charset="0"/>
                <a:cs typeface="Times New Roman" pitchFamily="18" charset="0"/>
              </a:rPr>
              <a:t>It is interesting to note that meat is generally considered to be more tender if it is eaten after rigor mortis has passed.</a:t>
            </a:r>
          </a:p>
          <a:p>
            <a:endParaRPr lang="en-US" dirty="0">
              <a:latin typeface="Times New Roman" pitchFamily="18" charset="0"/>
              <a:cs typeface="Times New Roman"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85800"/>
          </a:xfrm>
        </p:spPr>
        <p:txBody>
          <a:bodyPr>
            <a:normAutofit fontScale="90000"/>
          </a:bodyPr>
          <a:lstStyle/>
          <a:p>
            <a:r>
              <a:rPr lang="en-GB" dirty="0"/>
              <a:t/>
            </a:r>
            <a:br>
              <a:rPr lang="en-GB" dirty="0"/>
            </a:br>
            <a:r>
              <a:rPr lang="en-GB" dirty="0"/>
              <a:t> </a:t>
            </a:r>
            <a:br>
              <a:rPr lang="en-GB" dirty="0"/>
            </a:br>
            <a:r>
              <a:rPr lang="en-GB" dirty="0"/>
              <a:t/>
            </a:r>
            <a:br>
              <a:rPr lang="en-GB" dirty="0"/>
            </a:br>
            <a:r>
              <a:rPr lang="en-GB" dirty="0"/>
              <a:t/>
            </a:r>
            <a:br>
              <a:rPr lang="en-GB" dirty="0"/>
            </a:br>
            <a:r>
              <a:rPr lang="en-GB" dirty="0"/>
              <a:t/>
            </a:r>
            <a:br>
              <a:rPr lang="en-GB" dirty="0"/>
            </a:br>
            <a:r>
              <a:rPr lang="en-GB" dirty="0"/>
              <a:t/>
            </a:r>
            <a:br>
              <a:rPr lang="en-GB" dirty="0"/>
            </a:br>
            <a:r>
              <a:rPr lang="en-GB" dirty="0"/>
              <a:t/>
            </a:r>
            <a:br>
              <a:rPr lang="en-GB" dirty="0"/>
            </a:br>
            <a:r>
              <a:rPr lang="en-GB" dirty="0"/>
              <a:t/>
            </a:r>
            <a:br>
              <a:rPr lang="en-GB" dirty="0"/>
            </a:br>
            <a:r>
              <a:rPr lang="en-GB" dirty="0"/>
              <a:t/>
            </a:r>
            <a:br>
              <a:rPr lang="en-GB" dirty="0"/>
            </a:br>
            <a:r>
              <a:rPr lang="en-GB" dirty="0"/>
              <a:t/>
            </a:r>
            <a:br>
              <a:rPr lang="en-GB" dirty="0"/>
            </a:br>
            <a:r>
              <a:rPr lang="en-GB" dirty="0"/>
              <a:t/>
            </a:r>
            <a:br>
              <a:rPr lang="en-GB" dirty="0"/>
            </a:br>
            <a:r>
              <a:rPr lang="en-GB" dirty="0"/>
              <a:t/>
            </a:r>
            <a:br>
              <a:rPr lang="en-GB" dirty="0"/>
            </a:br>
            <a:r>
              <a:rPr lang="en-GB" dirty="0"/>
              <a:t/>
            </a:r>
            <a:br>
              <a:rPr lang="en-GB" dirty="0"/>
            </a:br>
            <a:r>
              <a:rPr lang="en-GB" dirty="0"/>
              <a:t/>
            </a:r>
            <a:br>
              <a:rPr lang="en-GB" dirty="0"/>
            </a:br>
            <a:r>
              <a:rPr lang="en-GB" dirty="0"/>
              <a:t/>
            </a:r>
            <a:br>
              <a:rPr lang="en-GB" dirty="0"/>
            </a:br>
            <a:r>
              <a:rPr lang="en-GB" dirty="0"/>
              <a:t/>
            </a:r>
            <a:br>
              <a:rPr lang="en-GB" dirty="0"/>
            </a:br>
            <a:r>
              <a:rPr lang="en-GB" dirty="0"/>
              <a:t/>
            </a:r>
            <a:br>
              <a:rPr lang="en-GB" dirty="0"/>
            </a:br>
            <a:r>
              <a:rPr lang="en-GB" dirty="0"/>
              <a:t/>
            </a:r>
            <a:br>
              <a:rPr lang="en-GB" dirty="0"/>
            </a:br>
            <a:r>
              <a:rPr lang="en-GB" dirty="0"/>
              <a:t/>
            </a:r>
            <a:br>
              <a:rPr lang="en-GB" dirty="0"/>
            </a:br>
            <a:r>
              <a:rPr lang="en-GB" dirty="0"/>
              <a:t/>
            </a:r>
            <a:br>
              <a:rPr lang="en-GB" dirty="0"/>
            </a:br>
            <a:r>
              <a:rPr lang="en-GB" dirty="0"/>
              <a:t/>
            </a:r>
            <a:br>
              <a:rPr lang="en-GB" dirty="0"/>
            </a:br>
            <a:r>
              <a:rPr lang="en-GB" dirty="0"/>
              <a:t/>
            </a:r>
            <a:br>
              <a:rPr lang="en-GB" dirty="0"/>
            </a:br>
            <a:r>
              <a:rPr lang="en-GB" dirty="0"/>
              <a:t/>
            </a:r>
            <a:br>
              <a:rPr lang="en-GB" dirty="0"/>
            </a:br>
            <a:r>
              <a:rPr lang="en-GB" dirty="0"/>
              <a:t/>
            </a:r>
            <a:br>
              <a:rPr lang="en-GB" dirty="0"/>
            </a:br>
            <a:r>
              <a:rPr lang="en-GB" dirty="0"/>
              <a:t/>
            </a:r>
            <a:br>
              <a:rPr lang="en-GB" dirty="0"/>
            </a:br>
            <a:r>
              <a:rPr lang="en-GB" dirty="0"/>
              <a:t/>
            </a:r>
            <a:br>
              <a:rPr lang="en-GB" dirty="0"/>
            </a:br>
            <a:r>
              <a:rPr lang="en-GB" dirty="0"/>
              <a:t/>
            </a:r>
            <a:br>
              <a:rPr lang="en-GB" dirty="0"/>
            </a:br>
            <a:r>
              <a:rPr lang="en-GB" dirty="0"/>
              <a:t/>
            </a:r>
            <a:br>
              <a:rPr lang="en-GB" dirty="0"/>
            </a:br>
            <a:r>
              <a:rPr lang="en-GB" dirty="0"/>
              <a:t/>
            </a:r>
            <a:br>
              <a:rPr lang="en-GB" dirty="0"/>
            </a:br>
            <a:r>
              <a:rPr lang="en-GB" dirty="0"/>
              <a:t/>
            </a:r>
            <a:br>
              <a:rPr lang="en-GB" dirty="0"/>
            </a:br>
            <a:r>
              <a:rPr lang="en-GB" dirty="0"/>
              <a:t/>
            </a:r>
            <a:br>
              <a:rPr lang="en-GB" dirty="0"/>
            </a:br>
            <a:r>
              <a:rPr lang="en-GB" sz="4400" dirty="0">
                <a:latin typeface="Times New Roman" pitchFamily="18" charset="0"/>
                <a:cs typeface="Times New Roman" pitchFamily="18" charset="0"/>
              </a:rPr>
              <a:t>FISH AND FISH PRODUCTS</a:t>
            </a:r>
          </a:p>
        </p:txBody>
      </p:sp>
      <p:sp>
        <p:nvSpPr>
          <p:cNvPr id="3" name="Content Placeholder 2"/>
          <p:cNvSpPr>
            <a:spLocks noGrp="1"/>
          </p:cNvSpPr>
          <p:nvPr>
            <p:ph idx="1"/>
          </p:nvPr>
        </p:nvSpPr>
        <p:spPr>
          <a:xfrm>
            <a:off x="457200" y="1219200"/>
            <a:ext cx="8229600" cy="5105400"/>
          </a:xfrm>
        </p:spPr>
        <p:txBody>
          <a:bodyPr>
            <a:normAutofit/>
          </a:bodyPr>
          <a:lstStyle/>
          <a:p>
            <a:r>
              <a:rPr lang="en-GB" sz="3200" dirty="0">
                <a:latin typeface="Times New Roman" pitchFamily="18" charset="0"/>
                <a:cs typeface="Times New Roman" pitchFamily="18" charset="0"/>
              </a:rPr>
              <a:t>It is largely similar in composition and texture to meat, but fish has a number of distinctive features. </a:t>
            </a:r>
          </a:p>
          <a:p>
            <a:pPr>
              <a:buNone/>
            </a:pPr>
            <a:endParaRPr lang="en-GB" sz="3200" dirty="0">
              <a:latin typeface="Times New Roman" pitchFamily="18" charset="0"/>
              <a:cs typeface="Times New Roman" pitchFamily="18" charset="0"/>
            </a:endParaRPr>
          </a:p>
          <a:p>
            <a:r>
              <a:rPr lang="en-GB" sz="3200" dirty="0">
                <a:latin typeface="Times New Roman" pitchFamily="18" charset="0"/>
                <a:cs typeface="Times New Roman" pitchFamily="18" charset="0"/>
              </a:rPr>
              <a:t>Unlike meat, there are no visually obvious deposits of fats. Lipid contents are generally low but could be as high as 25%, and are largely interspersed between the muscle fibres.</a:t>
            </a:r>
          </a:p>
          <a:p>
            <a:endParaRPr lang="en-GB" dirty="0"/>
          </a:p>
        </p:txBody>
      </p:sp>
    </p:spTree>
    <p:extLst>
      <p:ext uri="{BB962C8B-B14F-4D97-AF65-F5344CB8AC3E}">
        <p14:creationId xmlns:p14="http://schemas.microsoft.com/office/powerpoint/2010/main" val="540711035"/>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4000" dirty="0">
                <a:latin typeface="Times New Roman" pitchFamily="18" charset="0"/>
                <a:cs typeface="Times New Roman" pitchFamily="18" charset="0"/>
              </a:rPr>
              <a:t>FISH AND FISH PRODUCTS..</a:t>
            </a:r>
            <a:r>
              <a:rPr lang="en-GB" sz="4000" dirty="0" err="1">
                <a:latin typeface="Times New Roman" pitchFamily="18" charset="0"/>
                <a:cs typeface="Times New Roman" pitchFamily="18" charset="0"/>
              </a:rPr>
              <a:t>contd</a:t>
            </a:r>
            <a:endParaRPr lang="en-US" sz="4000" dirty="0"/>
          </a:p>
        </p:txBody>
      </p:sp>
      <p:sp>
        <p:nvSpPr>
          <p:cNvPr id="3" name="Content Placeholder 2"/>
          <p:cNvSpPr>
            <a:spLocks noGrp="1"/>
          </p:cNvSpPr>
          <p:nvPr>
            <p:ph idx="1"/>
          </p:nvPr>
        </p:nvSpPr>
        <p:spPr/>
        <p:txBody>
          <a:bodyPr>
            <a:normAutofit/>
          </a:bodyPr>
          <a:lstStyle/>
          <a:p>
            <a:r>
              <a:rPr lang="en-GB" sz="3200" dirty="0">
                <a:latin typeface="Times New Roman" pitchFamily="18" charset="0"/>
                <a:cs typeface="Times New Roman" pitchFamily="18" charset="0"/>
              </a:rPr>
              <a:t>It has a low content of connective tissues which contribute to its good eating quality. Connective tissues make up about 3% compared to about 15% in meat.</a:t>
            </a:r>
          </a:p>
          <a:p>
            <a:r>
              <a:rPr lang="en-GB" sz="3200" dirty="0">
                <a:latin typeface="Times New Roman" pitchFamily="18" charset="0"/>
                <a:cs typeface="Times New Roman" pitchFamily="18" charset="0"/>
              </a:rPr>
              <a:t>Fat levels are low e.g.  Haddock and Cod it can be as low as 0.5%.</a:t>
            </a:r>
          </a:p>
          <a:p>
            <a:r>
              <a:rPr lang="en-GB" sz="3200" dirty="0">
                <a:latin typeface="Times New Roman" pitchFamily="18" charset="0"/>
                <a:cs typeface="Times New Roman" pitchFamily="18" charset="0"/>
              </a:rPr>
              <a:t> In  fatty fish, e.g. Herrings and Mackerel, the levels can be between 3-25%.</a:t>
            </a:r>
          </a:p>
          <a:p>
            <a:endParaRPr lang="en-US" sz="3200" dirty="0"/>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762000"/>
          </a:xfrm>
        </p:spPr>
        <p:txBody>
          <a:bodyPr>
            <a:normAutofit/>
          </a:bodyPr>
          <a:lstStyle/>
          <a:p>
            <a:r>
              <a:rPr lang="en-GB" sz="4000" dirty="0">
                <a:latin typeface="Times New Roman" pitchFamily="18" charset="0"/>
                <a:cs typeface="Times New Roman" pitchFamily="18" charset="0"/>
              </a:rPr>
              <a:t>FISH AND FISH PRODUCTS..</a:t>
            </a:r>
            <a:r>
              <a:rPr lang="en-GB" sz="4000" dirty="0" err="1">
                <a:latin typeface="Times New Roman" pitchFamily="18" charset="0"/>
                <a:cs typeface="Times New Roman" pitchFamily="18" charset="0"/>
              </a:rPr>
              <a:t>contd</a:t>
            </a:r>
            <a:endParaRPr lang="en-GB" sz="40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219200"/>
            <a:ext cx="8229600" cy="5105400"/>
          </a:xfrm>
        </p:spPr>
        <p:txBody>
          <a:bodyPr>
            <a:normAutofit fontScale="92500" lnSpcReduction="10000"/>
          </a:bodyPr>
          <a:lstStyle/>
          <a:p>
            <a:r>
              <a:rPr lang="en-GB" dirty="0">
                <a:latin typeface="Times New Roman" pitchFamily="18" charset="0"/>
                <a:cs typeface="Times New Roman" pitchFamily="18" charset="0"/>
              </a:rPr>
              <a:t>Like meat, the muscle and the internal organs of healthy and freshly caught fish are usually sterile but the skin and alimentary tract all carry substantial numbers of bacteria.</a:t>
            </a:r>
          </a:p>
          <a:p>
            <a:pPr>
              <a:buNone/>
            </a:pPr>
            <a:r>
              <a:rPr lang="en-GB" dirty="0">
                <a:latin typeface="Times New Roman" pitchFamily="18" charset="0"/>
                <a:cs typeface="Times New Roman" pitchFamily="18" charset="0"/>
              </a:rPr>
              <a:t> </a:t>
            </a:r>
          </a:p>
          <a:p>
            <a:r>
              <a:rPr lang="en-GB" dirty="0">
                <a:latin typeface="Times New Roman" pitchFamily="18" charset="0"/>
                <a:cs typeface="Times New Roman" pitchFamily="18" charset="0"/>
              </a:rPr>
              <a:t>Numbers on the skin range from 10</a:t>
            </a:r>
            <a:r>
              <a:rPr lang="en-GB" baseline="30000" dirty="0">
                <a:latin typeface="Times New Roman" pitchFamily="18" charset="0"/>
                <a:cs typeface="Times New Roman" pitchFamily="18" charset="0"/>
              </a:rPr>
              <a:t>2</a:t>
            </a:r>
            <a:r>
              <a:rPr lang="en-GB" dirty="0">
                <a:latin typeface="Times New Roman" pitchFamily="18" charset="0"/>
                <a:cs typeface="Times New Roman" pitchFamily="18" charset="0"/>
              </a:rPr>
              <a:t>-10</a:t>
            </a:r>
            <a:r>
              <a:rPr lang="en-GB" baseline="30000" dirty="0">
                <a:latin typeface="Times New Roman" pitchFamily="18" charset="0"/>
                <a:cs typeface="Times New Roman" pitchFamily="18" charset="0"/>
              </a:rPr>
              <a:t>7</a:t>
            </a:r>
            <a:r>
              <a:rPr lang="en-GB" dirty="0">
                <a:latin typeface="Times New Roman" pitchFamily="18" charset="0"/>
                <a:cs typeface="Times New Roman" pitchFamily="18" charset="0"/>
              </a:rPr>
              <a:t> cfucm</a:t>
            </a:r>
            <a:r>
              <a:rPr lang="en-GB" baseline="30000" dirty="0">
                <a:latin typeface="Times New Roman" pitchFamily="18" charset="0"/>
                <a:cs typeface="Times New Roman" pitchFamily="18" charset="0"/>
              </a:rPr>
              <a:t>-2</a:t>
            </a:r>
            <a:r>
              <a:rPr lang="en-GB" dirty="0">
                <a:latin typeface="Times New Roman" pitchFamily="18" charset="0"/>
                <a:cs typeface="Times New Roman" pitchFamily="18" charset="0"/>
              </a:rPr>
              <a:t> and from 10</a:t>
            </a:r>
            <a:r>
              <a:rPr lang="en-GB" baseline="30000" dirty="0">
                <a:latin typeface="Times New Roman" pitchFamily="18" charset="0"/>
                <a:cs typeface="Times New Roman" pitchFamily="18" charset="0"/>
              </a:rPr>
              <a:t>3</a:t>
            </a:r>
            <a:r>
              <a:rPr lang="en-GB" dirty="0">
                <a:latin typeface="Times New Roman" pitchFamily="18" charset="0"/>
                <a:cs typeface="Times New Roman" pitchFamily="18" charset="0"/>
              </a:rPr>
              <a:t>-10</a:t>
            </a:r>
            <a:r>
              <a:rPr lang="en-GB" baseline="30000" dirty="0">
                <a:latin typeface="Times New Roman" pitchFamily="18" charset="0"/>
                <a:cs typeface="Times New Roman" pitchFamily="18" charset="0"/>
              </a:rPr>
              <a:t>9</a:t>
            </a:r>
            <a:r>
              <a:rPr lang="en-GB" dirty="0">
                <a:latin typeface="Times New Roman" pitchFamily="18" charset="0"/>
                <a:cs typeface="Times New Roman" pitchFamily="18" charset="0"/>
              </a:rPr>
              <a:t> cfug</a:t>
            </a:r>
            <a:r>
              <a:rPr lang="en-GB" baseline="30000" dirty="0">
                <a:latin typeface="Times New Roman" pitchFamily="18" charset="0"/>
                <a:cs typeface="Times New Roman" pitchFamily="18" charset="0"/>
              </a:rPr>
              <a:t>-1</a:t>
            </a:r>
            <a:r>
              <a:rPr lang="en-GB" dirty="0">
                <a:latin typeface="Times New Roman" pitchFamily="18" charset="0"/>
                <a:cs typeface="Times New Roman" pitchFamily="18" charset="0"/>
              </a:rPr>
              <a:t> in the gills and gut.</a:t>
            </a:r>
          </a:p>
          <a:p>
            <a:pPr>
              <a:buNone/>
            </a:pPr>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These are mainly gram negatives of the genera </a:t>
            </a:r>
            <a:r>
              <a:rPr lang="en-GB" i="1" dirty="0">
                <a:latin typeface="Times New Roman" pitchFamily="18" charset="0"/>
                <a:cs typeface="Times New Roman" pitchFamily="18" charset="0"/>
              </a:rPr>
              <a:t>Pseudomonas, </a:t>
            </a:r>
            <a:r>
              <a:rPr lang="en-GB" i="1" dirty="0" err="1">
                <a:latin typeface="Times New Roman" pitchFamily="18" charset="0"/>
                <a:cs typeface="Times New Roman" pitchFamily="18" charset="0"/>
              </a:rPr>
              <a:t>Psychrobacter</a:t>
            </a:r>
            <a:r>
              <a:rPr lang="en-GB" i="1" dirty="0">
                <a:latin typeface="Times New Roman" pitchFamily="18" charset="0"/>
                <a:cs typeface="Times New Roman" pitchFamily="18" charset="0"/>
              </a:rPr>
              <a:t>, Vibrio, </a:t>
            </a:r>
            <a:r>
              <a:rPr lang="en-GB" i="1" dirty="0" err="1">
                <a:latin typeface="Times New Roman" pitchFamily="18" charset="0"/>
                <a:cs typeface="Times New Roman" pitchFamily="18" charset="0"/>
              </a:rPr>
              <a:t>Flavobacterium</a:t>
            </a:r>
            <a:r>
              <a:rPr lang="en-GB" i="1" dirty="0">
                <a:latin typeface="Times New Roman" pitchFamily="18" charset="0"/>
                <a:cs typeface="Times New Roman" pitchFamily="18" charset="0"/>
              </a:rPr>
              <a:t>, </a:t>
            </a:r>
            <a:r>
              <a:rPr lang="en-GB" i="1" dirty="0" err="1">
                <a:latin typeface="Times New Roman" pitchFamily="18" charset="0"/>
                <a:cs typeface="Times New Roman" pitchFamily="18" charset="0"/>
              </a:rPr>
              <a:t>Shewanella</a:t>
            </a:r>
            <a:r>
              <a:rPr lang="en-GB" i="1" dirty="0">
                <a:latin typeface="Times New Roman" pitchFamily="18" charset="0"/>
                <a:cs typeface="Times New Roman" pitchFamily="18" charset="0"/>
              </a:rPr>
              <a:t> </a:t>
            </a:r>
            <a:r>
              <a:rPr lang="en-GB" dirty="0">
                <a:latin typeface="Times New Roman" pitchFamily="18" charset="0"/>
                <a:cs typeface="Times New Roman" pitchFamily="18" charset="0"/>
              </a:rPr>
              <a:t>and </a:t>
            </a:r>
            <a:r>
              <a:rPr lang="en-GB" i="1" dirty="0" err="1">
                <a:latin typeface="Times New Roman" pitchFamily="18" charset="0"/>
                <a:cs typeface="Times New Roman" pitchFamily="18" charset="0"/>
              </a:rPr>
              <a:t>Cytophaga</a:t>
            </a:r>
            <a:r>
              <a:rPr lang="en-GB" dirty="0">
                <a:latin typeface="Times New Roman" pitchFamily="18" charset="0"/>
                <a:cs typeface="Times New Roman" pitchFamily="18" charset="0"/>
              </a:rPr>
              <a:t>.</a:t>
            </a:r>
          </a:p>
          <a:p>
            <a:pPr>
              <a:buNone/>
            </a:pPr>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Some gram positives such as </a:t>
            </a:r>
            <a:r>
              <a:rPr lang="en-GB" i="1" dirty="0">
                <a:latin typeface="Times New Roman" pitchFamily="18" charset="0"/>
                <a:cs typeface="Times New Roman" pitchFamily="18" charset="0"/>
              </a:rPr>
              <a:t>Micrococci</a:t>
            </a:r>
            <a:r>
              <a:rPr lang="en-GB" dirty="0">
                <a:latin typeface="Times New Roman" pitchFamily="18" charset="0"/>
                <a:cs typeface="Times New Roman" pitchFamily="18" charset="0"/>
              </a:rPr>
              <a:t> and </a:t>
            </a:r>
            <a:r>
              <a:rPr lang="en-GB" i="1" dirty="0" err="1">
                <a:latin typeface="Times New Roman" pitchFamily="18" charset="0"/>
                <a:cs typeface="Times New Roman" pitchFamily="18" charset="0"/>
              </a:rPr>
              <a:t>Coryneforms</a:t>
            </a:r>
            <a:r>
              <a:rPr lang="en-GB" i="1" dirty="0">
                <a:latin typeface="Times New Roman" pitchFamily="18" charset="0"/>
                <a:cs typeface="Times New Roman" pitchFamily="18" charset="0"/>
              </a:rPr>
              <a:t> </a:t>
            </a:r>
            <a:r>
              <a:rPr lang="en-GB" dirty="0">
                <a:latin typeface="Times New Roman" pitchFamily="18" charset="0"/>
                <a:cs typeface="Times New Roman" pitchFamily="18" charset="0"/>
              </a:rPr>
              <a:t>are also found.</a:t>
            </a:r>
          </a:p>
          <a:p>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3311662334"/>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066800"/>
          </a:xfrm>
        </p:spPr>
        <p:txBody>
          <a:bodyPr>
            <a:normAutofit/>
          </a:bodyPr>
          <a:lstStyle/>
          <a:p>
            <a:r>
              <a:rPr lang="en-GB" sz="4000" dirty="0">
                <a:latin typeface="Times New Roman" pitchFamily="18" charset="0"/>
                <a:cs typeface="Times New Roman" pitchFamily="18" charset="0"/>
              </a:rPr>
              <a:t>FISH AND FISH PRODUCTS..</a:t>
            </a:r>
            <a:r>
              <a:rPr lang="en-GB" sz="4000" dirty="0" err="1">
                <a:latin typeface="Times New Roman" pitchFamily="18" charset="0"/>
                <a:cs typeface="Times New Roman" pitchFamily="18" charset="0"/>
              </a:rPr>
              <a:t>contd</a:t>
            </a:r>
            <a:endParaRPr lang="en-GB" sz="40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371600"/>
            <a:ext cx="8229600" cy="4953000"/>
          </a:xfrm>
        </p:spPr>
        <p:txBody>
          <a:bodyPr>
            <a:normAutofit/>
          </a:bodyPr>
          <a:lstStyle/>
          <a:p>
            <a:r>
              <a:rPr lang="en-GB" sz="3200" dirty="0">
                <a:latin typeface="Times New Roman" pitchFamily="18" charset="0"/>
                <a:cs typeface="Times New Roman" pitchFamily="18" charset="0"/>
              </a:rPr>
              <a:t>Bacteria of the genera </a:t>
            </a:r>
            <a:r>
              <a:rPr lang="en-GB" sz="3200" i="1" dirty="0">
                <a:latin typeface="Times New Roman" pitchFamily="18" charset="0"/>
                <a:cs typeface="Times New Roman" pitchFamily="18" charset="0"/>
              </a:rPr>
              <a:t>Pseudomonas, Serratia, </a:t>
            </a:r>
            <a:r>
              <a:rPr lang="en-GB" sz="3200" i="1" dirty="0" err="1">
                <a:latin typeface="Times New Roman" pitchFamily="18" charset="0"/>
                <a:cs typeface="Times New Roman" pitchFamily="18" charset="0"/>
              </a:rPr>
              <a:t>Chromobacter</a:t>
            </a:r>
            <a:r>
              <a:rPr lang="en-GB" sz="3200" i="1" dirty="0">
                <a:latin typeface="Times New Roman" pitchFamily="18" charset="0"/>
                <a:cs typeface="Times New Roman" pitchFamily="18" charset="0"/>
              </a:rPr>
              <a:t>, Micrococcus</a:t>
            </a:r>
            <a:r>
              <a:rPr lang="en-GB" sz="3200" dirty="0">
                <a:latin typeface="Times New Roman" pitchFamily="18" charset="0"/>
                <a:cs typeface="Times New Roman" pitchFamily="18" charset="0"/>
              </a:rPr>
              <a:t> and </a:t>
            </a:r>
            <a:r>
              <a:rPr lang="en-GB" sz="3200" i="1" dirty="0">
                <a:latin typeface="Times New Roman" pitchFamily="18" charset="0"/>
                <a:cs typeface="Times New Roman" pitchFamily="18" charset="0"/>
              </a:rPr>
              <a:t>Flavobacterium</a:t>
            </a:r>
            <a:r>
              <a:rPr lang="en-GB" sz="3200" dirty="0">
                <a:latin typeface="Times New Roman" pitchFamily="18" charset="0"/>
                <a:cs typeface="Times New Roman" pitchFamily="18" charset="0"/>
              </a:rPr>
              <a:t> have been found in association with the slime coating of the fish.</a:t>
            </a:r>
          </a:p>
          <a:p>
            <a:pPr marL="0" indent="0">
              <a:buNone/>
            </a:pPr>
            <a:endParaRPr lang="en-GB" sz="3200" dirty="0">
              <a:latin typeface="Times New Roman" pitchFamily="18" charset="0"/>
              <a:cs typeface="Times New Roman" pitchFamily="18" charset="0"/>
            </a:endParaRPr>
          </a:p>
          <a:p>
            <a:pPr marL="0" indent="0">
              <a:buNone/>
            </a:pPr>
            <a:r>
              <a:rPr lang="en-GB" sz="3200" dirty="0">
                <a:latin typeface="Times New Roman" pitchFamily="18" charset="0"/>
                <a:cs typeface="Times New Roman" pitchFamily="18" charset="0"/>
              </a:rPr>
              <a:t> </a:t>
            </a:r>
          </a:p>
          <a:p>
            <a:r>
              <a:rPr lang="en-GB" sz="3200" dirty="0">
                <a:latin typeface="Times New Roman" pitchFamily="18" charset="0"/>
                <a:cs typeface="Times New Roman" pitchFamily="18" charset="0"/>
              </a:rPr>
              <a:t>Since fish are cold blooded, a temperature characteristic of the associated flora will reflect the water temperatures in which the fish live.</a:t>
            </a:r>
          </a:p>
          <a:p>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3398002948"/>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2800" dirty="0"/>
              <a:t>For example </a:t>
            </a:r>
            <a:r>
              <a:rPr lang="en-US" sz="2800" dirty="0" err="1"/>
              <a:t>microflora</a:t>
            </a:r>
            <a:r>
              <a:rPr lang="en-US" sz="2800" dirty="0"/>
              <a:t> of fish from the Northern temperate waters where the temperature ranges from -2 to +12⁰C is predominantly psychrophilic or psychrotrophic. Most are </a:t>
            </a:r>
            <a:r>
              <a:rPr lang="en-US" sz="2800" dirty="0" err="1"/>
              <a:t>psychrotrophs</a:t>
            </a:r>
            <a:r>
              <a:rPr lang="en-US" sz="2800" dirty="0"/>
              <a:t> with an optimum growth temperature around 18⁰C.</a:t>
            </a:r>
          </a:p>
          <a:p>
            <a:endParaRPr lang="en-US" sz="2800" dirty="0"/>
          </a:p>
          <a:p>
            <a:r>
              <a:rPr lang="en-US" sz="2800" dirty="0"/>
              <a:t> Far fewer </a:t>
            </a:r>
            <a:r>
              <a:rPr lang="en-US" sz="2800" dirty="0" err="1"/>
              <a:t>psychrotrophs</a:t>
            </a:r>
            <a:r>
              <a:rPr lang="en-US" sz="2800" dirty="0"/>
              <a:t> are associated with fish from tropical waters; this is why most tropical fish keep far longer than temperate fish.</a:t>
            </a:r>
          </a:p>
          <a:p>
            <a:endParaRPr lang="en-US" sz="2800" dirty="0"/>
          </a:p>
        </p:txBody>
      </p:sp>
    </p:spTree>
    <p:extLst>
      <p:ext uri="{BB962C8B-B14F-4D97-AF65-F5344CB8AC3E}">
        <p14:creationId xmlns:p14="http://schemas.microsoft.com/office/powerpoint/2010/main" val="664316311"/>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914400"/>
          </a:xfrm>
        </p:spPr>
        <p:txBody>
          <a:bodyPr>
            <a:normAutofit fontScale="90000"/>
          </a:bodyPr>
          <a:lstStyle/>
          <a:p>
            <a:r>
              <a:rPr lang="en-GB" sz="4400" dirty="0">
                <a:latin typeface="Times New Roman" pitchFamily="18" charset="0"/>
                <a:cs typeface="Times New Roman" pitchFamily="18" charset="0"/>
              </a:rPr>
              <a:t>FISH AND FISH PRODUCTS..</a:t>
            </a:r>
            <a:r>
              <a:rPr lang="en-GB" sz="4400" dirty="0" err="1">
                <a:latin typeface="Times New Roman" pitchFamily="18" charset="0"/>
                <a:cs typeface="Times New Roman" pitchFamily="18" charset="0"/>
              </a:rPr>
              <a:t>contd</a:t>
            </a:r>
            <a:endParaRPr lang="en-GB" sz="4400" dirty="0"/>
          </a:p>
        </p:txBody>
      </p:sp>
      <p:sp>
        <p:nvSpPr>
          <p:cNvPr id="3" name="Content Placeholder 2"/>
          <p:cNvSpPr>
            <a:spLocks noGrp="1"/>
          </p:cNvSpPr>
          <p:nvPr>
            <p:ph idx="1"/>
          </p:nvPr>
        </p:nvSpPr>
        <p:spPr>
          <a:xfrm>
            <a:off x="457200" y="1524000"/>
            <a:ext cx="8229600" cy="5029200"/>
          </a:xfrm>
        </p:spPr>
        <p:txBody>
          <a:bodyPr>
            <a:normAutofit/>
          </a:bodyPr>
          <a:lstStyle/>
          <a:p>
            <a:r>
              <a:rPr lang="en-GB" dirty="0">
                <a:latin typeface="Times New Roman" pitchFamily="18" charset="0"/>
                <a:cs typeface="Times New Roman" pitchFamily="18" charset="0"/>
              </a:rPr>
              <a:t>Gutting reduces or removes a major reservoir of microbial contamination. </a:t>
            </a:r>
          </a:p>
          <a:p>
            <a:r>
              <a:rPr lang="en-GB" dirty="0">
                <a:latin typeface="Times New Roman" pitchFamily="18" charset="0"/>
                <a:cs typeface="Times New Roman" pitchFamily="18" charset="0"/>
              </a:rPr>
              <a:t>Intestinal flora include species of the genera</a:t>
            </a:r>
            <a:r>
              <a:rPr lang="en-GB" i="1" dirty="0">
                <a:latin typeface="Times New Roman" pitchFamily="18" charset="0"/>
                <a:cs typeface="Times New Roman" pitchFamily="18" charset="0"/>
              </a:rPr>
              <a:t> Bacillus, Escherichia </a:t>
            </a:r>
            <a:r>
              <a:rPr lang="en-GB" dirty="0">
                <a:latin typeface="Times New Roman" pitchFamily="18" charset="0"/>
                <a:cs typeface="Times New Roman" pitchFamily="18" charset="0"/>
              </a:rPr>
              <a:t>and </a:t>
            </a:r>
            <a:r>
              <a:rPr lang="en-GB" i="1" dirty="0">
                <a:latin typeface="Times New Roman" pitchFamily="18" charset="0"/>
                <a:cs typeface="Times New Roman" pitchFamily="18" charset="0"/>
              </a:rPr>
              <a:t>Clostridium</a:t>
            </a:r>
            <a:r>
              <a:rPr lang="en-GB" dirty="0">
                <a:latin typeface="Times New Roman" pitchFamily="18" charset="0"/>
                <a:cs typeface="Times New Roman" pitchFamily="18" charset="0"/>
              </a:rPr>
              <a:t> </a:t>
            </a:r>
          </a:p>
          <a:p>
            <a:r>
              <a:rPr lang="en-GB" dirty="0">
                <a:latin typeface="Times New Roman" pitchFamily="18" charset="0"/>
                <a:cs typeface="Times New Roman" pitchFamily="18" charset="0"/>
              </a:rPr>
              <a:t>“Unopened” fish at ordinary temperature usually spoil with bad odours but cleaned fish (gutted) held at ice box temperature usually undergoes autolysis with souring or proteolysis by bacteria without such bad odours.</a:t>
            </a:r>
          </a:p>
          <a:p>
            <a:r>
              <a:rPr lang="en-GB" dirty="0">
                <a:latin typeface="Times New Roman" pitchFamily="18" charset="0"/>
                <a:cs typeface="Times New Roman" pitchFamily="18" charset="0"/>
              </a:rPr>
              <a:t>One of the early evidence of the spoilage of fish is the evolution of the “stale fishy” odour due to tri-methyl amine.</a:t>
            </a:r>
          </a:p>
          <a:p>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2723581324"/>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066800"/>
          </a:xfrm>
        </p:spPr>
        <p:txBody>
          <a:bodyPr>
            <a:normAutofit fontScale="90000"/>
          </a:bodyPr>
          <a:lstStyle/>
          <a:p>
            <a:r>
              <a:rPr lang="en-GB" sz="4400" dirty="0">
                <a:latin typeface="Times New Roman" pitchFamily="18" charset="0"/>
                <a:cs typeface="Times New Roman" pitchFamily="18" charset="0"/>
              </a:rPr>
              <a:t>FISH AND FISH PRODUCTS….</a:t>
            </a:r>
            <a:r>
              <a:rPr lang="en-GB" sz="4400" dirty="0" err="1">
                <a:latin typeface="Times New Roman" pitchFamily="18" charset="0"/>
                <a:cs typeface="Times New Roman" pitchFamily="18" charset="0"/>
              </a:rPr>
              <a:t>contd</a:t>
            </a:r>
            <a:endParaRPr lang="en-GB" sz="44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447800"/>
            <a:ext cx="8229600" cy="4876800"/>
          </a:xfrm>
        </p:spPr>
        <p:txBody>
          <a:bodyPr>
            <a:normAutofit/>
          </a:bodyPr>
          <a:lstStyle/>
          <a:p>
            <a:r>
              <a:rPr lang="en-GB" dirty="0">
                <a:latin typeface="Times New Roman" pitchFamily="18" charset="0"/>
                <a:cs typeface="Times New Roman" pitchFamily="18" charset="0"/>
              </a:rPr>
              <a:t>Later more foul odours may become evident and are caused by NH</a:t>
            </a:r>
            <a:r>
              <a:rPr lang="en-GB" baseline="-25000" dirty="0">
                <a:latin typeface="Times New Roman" pitchFamily="18" charset="0"/>
                <a:cs typeface="Times New Roman" pitchFamily="18" charset="0"/>
              </a:rPr>
              <a:t>3</a:t>
            </a:r>
            <a:r>
              <a:rPr lang="en-GB" dirty="0">
                <a:latin typeface="Times New Roman" pitchFamily="18" charset="0"/>
                <a:cs typeface="Times New Roman" pitchFamily="18" charset="0"/>
              </a:rPr>
              <a:t>, H</a:t>
            </a:r>
            <a:r>
              <a:rPr lang="en-GB" baseline="-25000" dirty="0">
                <a:latin typeface="Times New Roman" pitchFamily="18" charset="0"/>
                <a:cs typeface="Times New Roman" pitchFamily="18" charset="0"/>
              </a:rPr>
              <a:t>2</a:t>
            </a:r>
            <a:r>
              <a:rPr lang="en-GB" dirty="0">
                <a:latin typeface="Times New Roman" pitchFamily="18" charset="0"/>
                <a:cs typeface="Times New Roman" pitchFamily="18" charset="0"/>
              </a:rPr>
              <a:t>S, </a:t>
            </a:r>
            <a:r>
              <a:rPr lang="en-GB" dirty="0" err="1">
                <a:latin typeface="Times New Roman" pitchFamily="18" charset="0"/>
                <a:cs typeface="Times New Roman" pitchFamily="18" charset="0"/>
              </a:rPr>
              <a:t>indole</a:t>
            </a:r>
            <a:r>
              <a:rPr lang="en-GB" dirty="0">
                <a:latin typeface="Times New Roman" pitchFamily="18" charset="0"/>
                <a:cs typeface="Times New Roman" pitchFamily="18" charset="0"/>
              </a:rPr>
              <a:t> and other compounds while the external appearance of the fish become less and less attractive.</a:t>
            </a:r>
          </a:p>
          <a:p>
            <a:r>
              <a:rPr lang="en-GB" dirty="0">
                <a:latin typeface="Times New Roman" pitchFamily="18" charset="0"/>
                <a:cs typeface="Times New Roman" pitchFamily="18" charset="0"/>
              </a:rPr>
              <a:t>Damage to fish from nets and hooks etc. breeches the fish’s protective skin and provides a focus for spoilage.</a:t>
            </a:r>
          </a:p>
          <a:p>
            <a:r>
              <a:rPr lang="en-GB" dirty="0">
                <a:latin typeface="Times New Roman" pitchFamily="18" charset="0"/>
                <a:cs typeface="Times New Roman" pitchFamily="18" charset="0"/>
              </a:rPr>
              <a:t> Further contamination results from handling on board. at the dock and also at the market where they are exposed for sale.</a:t>
            </a:r>
          </a:p>
          <a:p>
            <a:r>
              <a:rPr lang="en-GB" dirty="0">
                <a:latin typeface="Times New Roman" pitchFamily="18" charset="0"/>
                <a:cs typeface="Times New Roman" pitchFamily="18" charset="0"/>
              </a:rPr>
              <a:t>Fish generally have a poor keeping quality. The factors that contribute to the unique perishability of fish include:</a:t>
            </a:r>
          </a:p>
          <a:p>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2492063900"/>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 Further contamination results from handling on board and also at the dock and also at the market where they are exposed for sale.</a:t>
            </a:r>
          </a:p>
          <a:p>
            <a:endParaRPr lang="en-US" dirty="0"/>
          </a:p>
          <a:p>
            <a:r>
              <a:rPr lang="en-US" dirty="0"/>
              <a:t>Fish generally have a poor keeping quality. The factors that contribute to the unique perishability of fish include:</a:t>
            </a:r>
          </a:p>
          <a:p>
            <a:endParaRPr lang="en-US" dirty="0"/>
          </a:p>
          <a:p>
            <a:endParaRPr lang="en-US" dirty="0"/>
          </a:p>
        </p:txBody>
      </p:sp>
    </p:spTree>
    <p:extLst>
      <p:ext uri="{BB962C8B-B14F-4D97-AF65-F5344CB8AC3E}">
        <p14:creationId xmlns:p14="http://schemas.microsoft.com/office/powerpoint/2010/main" val="24643239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85800"/>
          </a:xfrm>
        </p:spPr>
        <p:txBody>
          <a:bodyPr>
            <a:normAutofit fontScale="90000"/>
          </a:bodyPr>
          <a:lstStyle/>
          <a:p>
            <a:r>
              <a:rPr lang="en-GB" sz="4400" dirty="0">
                <a:latin typeface="Times New Roman" pitchFamily="18" charset="0"/>
                <a:cs typeface="Times New Roman" pitchFamily="18" charset="0"/>
              </a:rPr>
              <a:t>FISH AND FISH PRODUCTS..</a:t>
            </a:r>
            <a:r>
              <a:rPr lang="en-GB" sz="4400" dirty="0" err="1">
                <a:latin typeface="Times New Roman" pitchFamily="18" charset="0"/>
                <a:cs typeface="Times New Roman" pitchFamily="18" charset="0"/>
              </a:rPr>
              <a:t>contd</a:t>
            </a:r>
            <a:endParaRPr lang="en-GB" sz="44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066800"/>
            <a:ext cx="8229600" cy="5257800"/>
          </a:xfrm>
        </p:spPr>
        <p:txBody>
          <a:bodyPr>
            <a:normAutofit/>
          </a:bodyPr>
          <a:lstStyle/>
          <a:p>
            <a:r>
              <a:rPr lang="en-GB" dirty="0">
                <a:latin typeface="Times New Roman" pitchFamily="18" charset="0"/>
                <a:cs typeface="Times New Roman" pitchFamily="18" charset="0"/>
              </a:rPr>
              <a:t>In fatty fish, spoilage can be non-microbial; fish lipids contain high portions of poly unsaturated fatty acids compared to the largely saturated fats  in mammalian meat. </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This makes fish far more susceptible to the development of oxidative rancidity</a:t>
            </a:r>
          </a:p>
          <a:p>
            <a:pPr lvl="0"/>
            <a:r>
              <a:rPr lang="en-GB" dirty="0">
                <a:latin typeface="Times New Roman" pitchFamily="18" charset="0"/>
                <a:cs typeface="Times New Roman" pitchFamily="18" charset="0"/>
              </a:rPr>
              <a:t>Fish flesh naturally contains very low levels of carbohydrates and these are further depleted during the death struggle of the fish. </a:t>
            </a:r>
          </a:p>
          <a:p>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4139261719"/>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It limits the degree of post-mortem acidification of the tissues so that the ultimate pH of the muscle is between 6.2 - 6.5 compared to around 5.5 in mammalian muscle.</a:t>
            </a:r>
          </a:p>
          <a:p>
            <a:endParaRPr lang="en-US" dirty="0"/>
          </a:p>
          <a:p>
            <a:r>
              <a:rPr lang="en-US" dirty="0"/>
              <a:t>The absence of carbohydrates means that bacteria present on the fish will immediately resort to using the soluble pool of readily assimilated nitrogenous material, producing off-odours and off-</a:t>
            </a:r>
            <a:r>
              <a:rPr lang="en-US" dirty="0" err="1"/>
              <a:t>flavours</a:t>
            </a:r>
            <a:r>
              <a:rPr lang="en-US" dirty="0"/>
              <a:t> far sooner</a:t>
            </a:r>
          </a:p>
          <a:p>
            <a:endParaRPr lang="en-US" dirty="0"/>
          </a:p>
        </p:txBody>
      </p:sp>
    </p:spTree>
    <p:extLst>
      <p:ext uri="{BB962C8B-B14F-4D97-AF65-F5344CB8AC3E}">
        <p14:creationId xmlns:p14="http://schemas.microsoft.com/office/powerpoint/2010/main" val="3915840933"/>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838200"/>
          </a:xfrm>
        </p:spPr>
        <p:txBody>
          <a:bodyPr>
            <a:noAutofit/>
          </a:bodyPr>
          <a:lstStyle/>
          <a:p>
            <a:r>
              <a:rPr lang="en-GB" sz="4000" dirty="0">
                <a:latin typeface="Times New Roman" pitchFamily="18" charset="0"/>
                <a:cs typeface="Times New Roman" pitchFamily="18" charset="0"/>
              </a:rPr>
              <a:t>FISH AND FISH PRODUCTS..</a:t>
            </a:r>
            <a:r>
              <a:rPr lang="en-GB" sz="4000" dirty="0" err="1">
                <a:latin typeface="Times New Roman" pitchFamily="18" charset="0"/>
                <a:cs typeface="Times New Roman" pitchFamily="18" charset="0"/>
              </a:rPr>
              <a:t>contd</a:t>
            </a:r>
            <a:endParaRPr lang="en-GB" sz="4000" dirty="0"/>
          </a:p>
        </p:txBody>
      </p:sp>
      <p:sp>
        <p:nvSpPr>
          <p:cNvPr id="3" name="Content Placeholder 2"/>
          <p:cNvSpPr>
            <a:spLocks noGrp="1"/>
          </p:cNvSpPr>
          <p:nvPr>
            <p:ph idx="1"/>
          </p:nvPr>
        </p:nvSpPr>
        <p:spPr>
          <a:xfrm>
            <a:off x="457200" y="1219200"/>
            <a:ext cx="8229600" cy="5105400"/>
          </a:xfrm>
        </p:spPr>
        <p:txBody>
          <a:bodyPr/>
          <a:lstStyle/>
          <a:p>
            <a:pPr lvl="0"/>
            <a:r>
              <a:rPr lang="en-GB" dirty="0">
                <a:latin typeface="Times New Roman" pitchFamily="18" charset="0"/>
                <a:cs typeface="Times New Roman" pitchFamily="18" charset="0"/>
              </a:rPr>
              <a:t>Fish proteins are less stable than mammalian proteins. </a:t>
            </a:r>
          </a:p>
          <a:p>
            <a:pPr lvl="0"/>
            <a:endParaRPr lang="en-GB" dirty="0">
              <a:latin typeface="Times New Roman" pitchFamily="18" charset="0"/>
              <a:cs typeface="Times New Roman" pitchFamily="18" charset="0"/>
            </a:endParaRPr>
          </a:p>
          <a:p>
            <a:pPr lvl="0"/>
            <a:r>
              <a:rPr lang="en-GB" dirty="0">
                <a:latin typeface="Times New Roman" pitchFamily="18" charset="0"/>
                <a:cs typeface="Times New Roman" pitchFamily="18" charset="0"/>
              </a:rPr>
              <a:t>The initial inoculum (microbial load). </a:t>
            </a:r>
          </a:p>
          <a:p>
            <a:pPr lvl="0"/>
            <a:endParaRPr lang="en-GB" dirty="0">
              <a:latin typeface="Times New Roman" pitchFamily="18" charset="0"/>
              <a:cs typeface="Times New Roman" pitchFamily="18" charset="0"/>
            </a:endParaRPr>
          </a:p>
          <a:p>
            <a:pPr lvl="0"/>
            <a:r>
              <a:rPr lang="en-GB" dirty="0">
                <a:latin typeface="Times New Roman" pitchFamily="18" charset="0"/>
                <a:cs typeface="Times New Roman" pitchFamily="18" charset="0"/>
              </a:rPr>
              <a:t>Fish from cold waters generally have a higher proportion of </a:t>
            </a:r>
            <a:r>
              <a:rPr lang="en-GB" dirty="0" err="1">
                <a:latin typeface="Times New Roman" pitchFamily="18" charset="0"/>
                <a:cs typeface="Times New Roman" pitchFamily="18" charset="0"/>
              </a:rPr>
              <a:t>psychrotrophs</a:t>
            </a:r>
            <a:r>
              <a:rPr lang="en-GB" dirty="0">
                <a:latin typeface="Times New Roman" pitchFamily="18" charset="0"/>
                <a:cs typeface="Times New Roman" pitchFamily="18" charset="0"/>
              </a:rPr>
              <a:t> among their natural microflora than meat.</a:t>
            </a:r>
          </a:p>
          <a:p>
            <a:pPr lvl="0"/>
            <a:endParaRPr lang="en-GB" dirty="0">
              <a:latin typeface="Times New Roman" pitchFamily="18" charset="0"/>
              <a:cs typeface="Times New Roman" pitchFamily="18" charset="0"/>
            </a:endParaRPr>
          </a:p>
          <a:p>
            <a:pPr lvl="0"/>
            <a:r>
              <a:rPr lang="en-GB" dirty="0">
                <a:latin typeface="Times New Roman" pitchFamily="18" charset="0"/>
                <a:cs typeface="Times New Roman" pitchFamily="18" charset="0"/>
              </a:rPr>
              <a:t>More rapid autolysis by fish enzymes</a:t>
            </a:r>
          </a:p>
          <a:p>
            <a:pPr marL="0" indent="0">
              <a:buNone/>
            </a:pPr>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1466607125"/>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685800"/>
          </a:xfrm>
        </p:spPr>
        <p:txBody>
          <a:bodyPr>
            <a:normAutofit fontScale="90000"/>
          </a:bodyPr>
          <a:lstStyle/>
          <a:p>
            <a:r>
              <a:rPr lang="en-GB" dirty="0"/>
              <a:t> </a:t>
            </a:r>
            <a:r>
              <a:rPr lang="en-GB" dirty="0">
                <a:latin typeface="Times New Roman" pitchFamily="18" charset="0"/>
                <a:cs typeface="Times New Roman" pitchFamily="18" charset="0"/>
              </a:rPr>
              <a:t>EGG</a:t>
            </a:r>
          </a:p>
        </p:txBody>
      </p:sp>
      <p:sp>
        <p:nvSpPr>
          <p:cNvPr id="3" name="Content Placeholder 2"/>
          <p:cNvSpPr>
            <a:spLocks noGrp="1"/>
          </p:cNvSpPr>
          <p:nvPr>
            <p:ph idx="1"/>
          </p:nvPr>
        </p:nvSpPr>
        <p:spPr>
          <a:xfrm>
            <a:off x="457200" y="914400"/>
            <a:ext cx="8229600" cy="5410200"/>
          </a:xfrm>
        </p:spPr>
        <p:txBody>
          <a:bodyPr>
            <a:normAutofit/>
          </a:bodyPr>
          <a:lstStyle/>
          <a:p>
            <a:r>
              <a:rPr lang="en-GB" sz="2800" dirty="0">
                <a:latin typeface="Times New Roman" pitchFamily="18" charset="0"/>
                <a:cs typeface="Times New Roman" pitchFamily="18" charset="0"/>
              </a:rPr>
              <a:t>Hen’s egg is an excellent example of a product that is protected by its intrinsic factors.</a:t>
            </a:r>
          </a:p>
          <a:p>
            <a:endParaRPr lang="en-GB" sz="2800" dirty="0">
              <a:latin typeface="Times New Roman" pitchFamily="18" charset="0"/>
              <a:cs typeface="Times New Roman" pitchFamily="18" charset="0"/>
            </a:endParaRPr>
          </a:p>
          <a:p>
            <a:r>
              <a:rPr lang="en-GB" sz="2800" dirty="0">
                <a:latin typeface="Times New Roman" pitchFamily="18" charset="0"/>
                <a:cs typeface="Times New Roman" pitchFamily="18" charset="0"/>
              </a:rPr>
              <a:t> Externally, a fresh egg has three (3) structures, each to some degree retards the entry of microbes; the outer waxy shell membrane, the outer shell and the inner shell membranes.</a:t>
            </a:r>
          </a:p>
          <a:p>
            <a:endParaRPr lang="en-GB" sz="2800" dirty="0">
              <a:latin typeface="Times New Roman" pitchFamily="18" charset="0"/>
              <a:cs typeface="Times New Roman" pitchFamily="18" charset="0"/>
            </a:endParaRPr>
          </a:p>
          <a:p>
            <a:endParaRPr lang="en-GB" sz="2800" dirty="0">
              <a:latin typeface="Times New Roman" pitchFamily="18" charset="0"/>
              <a:cs typeface="Times New Roman" pitchFamily="18" charset="0"/>
            </a:endParaRPr>
          </a:p>
          <a:p>
            <a:r>
              <a:rPr lang="en-GB" sz="2800" dirty="0">
                <a:latin typeface="Times New Roman" pitchFamily="18" charset="0"/>
                <a:cs typeface="Times New Roman" pitchFamily="18" charset="0"/>
              </a:rPr>
              <a:t>Internally, lysozymes are present in the egg white.</a:t>
            </a:r>
          </a:p>
        </p:txBody>
      </p:sp>
    </p:spTree>
    <p:extLst>
      <p:ext uri="{BB962C8B-B14F-4D97-AF65-F5344CB8AC3E}">
        <p14:creationId xmlns:p14="http://schemas.microsoft.com/office/powerpoint/2010/main" val="268626725"/>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B941C5E-276F-4E80-ACDD-07CBFBD09B34}"/>
              </a:ext>
            </a:extLst>
          </p:cNvPr>
          <p:cNvSpPr>
            <a:spLocks noGrp="1"/>
          </p:cNvSpPr>
          <p:nvPr>
            <p:ph type="title"/>
          </p:nvPr>
        </p:nvSpPr>
        <p:spPr/>
        <p:txBody>
          <a:bodyPr/>
          <a:lstStyle/>
          <a:p>
            <a:endParaRPr lang="en-GB"/>
          </a:p>
        </p:txBody>
      </p:sp>
      <p:sp>
        <p:nvSpPr>
          <p:cNvPr id="3" name="Content Placeholder 2">
            <a:extLst>
              <a:ext uri="{FF2B5EF4-FFF2-40B4-BE49-F238E27FC236}">
                <a16:creationId xmlns="" xmlns:a16="http://schemas.microsoft.com/office/drawing/2014/main" id="{BC589BD1-E4EC-41A4-80AE-44FDFA380A0A}"/>
              </a:ext>
            </a:extLst>
          </p:cNvPr>
          <p:cNvSpPr>
            <a:spLocks noGrp="1"/>
          </p:cNvSpPr>
          <p:nvPr>
            <p:ph idx="1"/>
          </p:nvPr>
        </p:nvSpPr>
        <p:spPr/>
        <p:txBody>
          <a:bodyPr/>
          <a:lstStyle/>
          <a:p>
            <a:r>
              <a:rPr lang="en-GB" dirty="0">
                <a:latin typeface="Times New Roman" pitchFamily="18" charset="0"/>
                <a:cs typeface="Times New Roman" pitchFamily="18" charset="0"/>
              </a:rPr>
              <a:t> </a:t>
            </a:r>
            <a:r>
              <a:rPr lang="en-GB" sz="2800" dirty="0">
                <a:latin typeface="Times New Roman" pitchFamily="18" charset="0"/>
                <a:cs typeface="Times New Roman" pitchFamily="18" charset="0"/>
              </a:rPr>
              <a:t>These enzymes have been shown to be quite effective against gram positive bacteria. Egg white also contains avidin which forms a complex with biotin thereby making this virtually unavailable to microbes.</a:t>
            </a:r>
          </a:p>
          <a:p>
            <a:endParaRPr lang="en-GB" sz="2800" dirty="0">
              <a:latin typeface="Times New Roman" pitchFamily="18" charset="0"/>
              <a:cs typeface="Times New Roman" pitchFamily="18" charset="0"/>
            </a:endParaRPr>
          </a:p>
          <a:p>
            <a:endParaRPr lang="en-GB" sz="2800" dirty="0">
              <a:latin typeface="Times New Roman" pitchFamily="18" charset="0"/>
              <a:cs typeface="Times New Roman" pitchFamily="18" charset="0"/>
            </a:endParaRPr>
          </a:p>
          <a:p>
            <a:r>
              <a:rPr lang="en-GB" sz="2800" dirty="0">
                <a:latin typeface="Times New Roman" pitchFamily="18" charset="0"/>
                <a:cs typeface="Times New Roman" pitchFamily="18" charset="0"/>
              </a:rPr>
              <a:t> In addition, egg white has a pH of about 9.3 and contains albumen which forms a complex with iron thus rendering it unavailable to microbes</a:t>
            </a:r>
          </a:p>
          <a:p>
            <a:endParaRPr lang="en-GB" dirty="0"/>
          </a:p>
        </p:txBody>
      </p:sp>
    </p:spTree>
    <p:extLst>
      <p:ext uri="{BB962C8B-B14F-4D97-AF65-F5344CB8AC3E}">
        <p14:creationId xmlns:p14="http://schemas.microsoft.com/office/powerpoint/2010/main" val="1308680494"/>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8229600" cy="762000"/>
          </a:xfrm>
        </p:spPr>
        <p:txBody>
          <a:bodyPr>
            <a:normAutofit fontScale="90000"/>
          </a:bodyPr>
          <a:lstStyle/>
          <a:p>
            <a:r>
              <a:rPr lang="en-GB" dirty="0">
                <a:latin typeface="Times New Roman" pitchFamily="18" charset="0"/>
                <a:cs typeface="Times New Roman" pitchFamily="18" charset="0"/>
              </a:rPr>
              <a:t>EGG……</a:t>
            </a:r>
            <a:r>
              <a:rPr lang="en-GB" dirty="0" err="1">
                <a:latin typeface="Times New Roman" pitchFamily="18" charset="0"/>
                <a:cs typeface="Times New Roman" pitchFamily="18" charset="0"/>
              </a:rPr>
              <a:t>contd</a:t>
            </a:r>
            <a:endParaRPr lang="en-GB" dirty="0"/>
          </a:p>
        </p:txBody>
      </p:sp>
      <p:sp>
        <p:nvSpPr>
          <p:cNvPr id="3" name="Content Placeholder 2"/>
          <p:cNvSpPr>
            <a:spLocks noGrp="1"/>
          </p:cNvSpPr>
          <p:nvPr>
            <p:ph idx="1"/>
          </p:nvPr>
        </p:nvSpPr>
        <p:spPr>
          <a:xfrm>
            <a:off x="457200" y="1143000"/>
            <a:ext cx="8229600" cy="5181600"/>
          </a:xfrm>
        </p:spPr>
        <p:txBody>
          <a:bodyPr>
            <a:normAutofit fontScale="92500"/>
          </a:bodyPr>
          <a:lstStyle/>
          <a:p>
            <a:r>
              <a:rPr lang="en-GB" sz="2800" dirty="0">
                <a:latin typeface="Times New Roman" pitchFamily="18" charset="0"/>
                <a:cs typeface="Times New Roman" pitchFamily="18" charset="0"/>
              </a:rPr>
              <a:t>On the other hand the nutrient content of the yolk material and its pH , about 6.8 makes it an excellent source of growth for most organisms.</a:t>
            </a:r>
          </a:p>
          <a:p>
            <a:pPr marL="0" indent="0">
              <a:buNone/>
            </a:pPr>
            <a:endParaRPr lang="en-GB" sz="2800" dirty="0">
              <a:latin typeface="Times New Roman" pitchFamily="18" charset="0"/>
              <a:cs typeface="Times New Roman" pitchFamily="18" charset="0"/>
            </a:endParaRPr>
          </a:p>
          <a:p>
            <a:r>
              <a:rPr lang="en-GB" sz="2800" dirty="0">
                <a:latin typeface="Times New Roman" pitchFamily="18" charset="0"/>
                <a:cs typeface="Times New Roman" pitchFamily="18" charset="0"/>
              </a:rPr>
              <a:t>Freshly laid eggs are usually sterile, however,  numerous microbes may be found on the outside shortly after they are laid and under favourable conditions may enter, grow and cause spoilage.</a:t>
            </a:r>
          </a:p>
          <a:p>
            <a:endParaRPr lang="en-GB" sz="2800" dirty="0">
              <a:latin typeface="Times New Roman" pitchFamily="18" charset="0"/>
              <a:cs typeface="Times New Roman" pitchFamily="18" charset="0"/>
            </a:endParaRPr>
          </a:p>
          <a:p>
            <a:r>
              <a:rPr lang="en-GB" sz="2800" dirty="0">
                <a:latin typeface="Times New Roman" pitchFamily="18" charset="0"/>
                <a:cs typeface="Times New Roman" pitchFamily="18" charset="0"/>
              </a:rPr>
              <a:t>Among the bacteria found are members of the following genera: </a:t>
            </a:r>
            <a:r>
              <a:rPr lang="en-GB" sz="2800" i="1" dirty="0">
                <a:latin typeface="Times New Roman" pitchFamily="18" charset="0"/>
                <a:cs typeface="Times New Roman" pitchFamily="18" charset="0"/>
              </a:rPr>
              <a:t>Pseudomonas, </a:t>
            </a:r>
            <a:r>
              <a:rPr lang="en-GB" sz="2800" i="1" dirty="0" err="1">
                <a:latin typeface="Times New Roman" pitchFamily="18" charset="0"/>
                <a:cs typeface="Times New Roman" pitchFamily="18" charset="0"/>
              </a:rPr>
              <a:t>Aeromonas</a:t>
            </a:r>
            <a:r>
              <a:rPr lang="en-GB" sz="2800" i="1" dirty="0">
                <a:latin typeface="Times New Roman" pitchFamily="18" charset="0"/>
                <a:cs typeface="Times New Roman" pitchFamily="18" charset="0"/>
              </a:rPr>
              <a:t>, Salmonella, </a:t>
            </a:r>
            <a:r>
              <a:rPr lang="en-GB" sz="2800" i="1" dirty="0" err="1">
                <a:latin typeface="Times New Roman" pitchFamily="18" charset="0"/>
                <a:cs typeface="Times New Roman" pitchFamily="18" charset="0"/>
              </a:rPr>
              <a:t>Flavobacteria</a:t>
            </a:r>
            <a:r>
              <a:rPr lang="en-GB" sz="2800" i="1" dirty="0">
                <a:latin typeface="Times New Roman" pitchFamily="18" charset="0"/>
                <a:cs typeface="Times New Roman" pitchFamily="18" charset="0"/>
              </a:rPr>
              <a:t>, </a:t>
            </a:r>
            <a:r>
              <a:rPr lang="en-GB" sz="2800" i="1" dirty="0" err="1">
                <a:latin typeface="Times New Roman" pitchFamily="18" charset="0"/>
                <a:cs typeface="Times New Roman" pitchFamily="18" charset="0"/>
              </a:rPr>
              <a:t>Serratia</a:t>
            </a:r>
            <a:r>
              <a:rPr lang="en-GB" sz="2800" dirty="0">
                <a:latin typeface="Times New Roman" pitchFamily="18" charset="0"/>
                <a:cs typeface="Times New Roman" pitchFamily="18" charset="0"/>
              </a:rPr>
              <a:t> and </a:t>
            </a:r>
            <a:r>
              <a:rPr lang="en-GB" sz="2800" i="1" dirty="0">
                <a:latin typeface="Times New Roman" pitchFamily="18" charset="0"/>
                <a:cs typeface="Times New Roman" pitchFamily="18" charset="0"/>
              </a:rPr>
              <a:t>Acinetobacter</a:t>
            </a:r>
            <a:r>
              <a:rPr lang="en-GB" sz="2800" dirty="0">
                <a:latin typeface="Times New Roman" pitchFamily="18" charset="0"/>
                <a:cs typeface="Times New Roman" pitchFamily="18" charset="0"/>
              </a:rPr>
              <a:t>.</a:t>
            </a:r>
          </a:p>
          <a:p>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3502307393"/>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28600"/>
            <a:ext cx="8229600" cy="667512"/>
          </a:xfrm>
        </p:spPr>
        <p:txBody>
          <a:bodyPr>
            <a:normAutofit fontScale="90000"/>
          </a:bodyPr>
          <a:lstStyle/>
          <a:p>
            <a:r>
              <a:rPr lang="en-GB" dirty="0">
                <a:latin typeface="Times New Roman" pitchFamily="18" charset="0"/>
                <a:cs typeface="Times New Roman" pitchFamily="18" charset="0"/>
              </a:rPr>
              <a:t>EGG……contd.</a:t>
            </a:r>
            <a:endParaRPr lang="en-GB" dirty="0"/>
          </a:p>
        </p:txBody>
      </p:sp>
      <p:sp>
        <p:nvSpPr>
          <p:cNvPr id="3" name="Content Placeholder 2"/>
          <p:cNvSpPr>
            <a:spLocks noGrp="1"/>
          </p:cNvSpPr>
          <p:nvPr>
            <p:ph idx="1"/>
          </p:nvPr>
        </p:nvSpPr>
        <p:spPr>
          <a:xfrm>
            <a:off x="304800" y="990600"/>
            <a:ext cx="8534400" cy="5257800"/>
          </a:xfrm>
        </p:spPr>
        <p:txBody>
          <a:bodyPr>
            <a:normAutofit/>
          </a:bodyPr>
          <a:lstStyle/>
          <a:p>
            <a:r>
              <a:rPr lang="en-GB" dirty="0">
                <a:latin typeface="Times New Roman" pitchFamily="18" charset="0"/>
                <a:cs typeface="Times New Roman" pitchFamily="18" charset="0"/>
              </a:rPr>
              <a:t>Among the moulds found are members of the genera </a:t>
            </a:r>
            <a:r>
              <a:rPr lang="en-GB" i="1" dirty="0" err="1">
                <a:latin typeface="Times New Roman" pitchFamily="18" charset="0"/>
                <a:cs typeface="Times New Roman" pitchFamily="18" charset="0"/>
              </a:rPr>
              <a:t>Cladosporium</a:t>
            </a:r>
            <a:r>
              <a:rPr lang="en-GB" i="1" dirty="0">
                <a:latin typeface="Times New Roman" pitchFamily="18" charset="0"/>
                <a:cs typeface="Times New Roman" pitchFamily="18" charset="0"/>
              </a:rPr>
              <a:t>, Mucor</a:t>
            </a:r>
            <a:r>
              <a:rPr lang="en-GB" dirty="0">
                <a:latin typeface="Times New Roman" pitchFamily="18" charset="0"/>
                <a:cs typeface="Times New Roman" pitchFamily="18" charset="0"/>
              </a:rPr>
              <a:t> and </a:t>
            </a:r>
            <a:r>
              <a:rPr lang="en-GB" i="1" dirty="0">
                <a:latin typeface="Times New Roman" pitchFamily="18" charset="0"/>
                <a:cs typeface="Times New Roman" pitchFamily="18" charset="0"/>
              </a:rPr>
              <a:t>Penicillium</a:t>
            </a:r>
            <a:r>
              <a:rPr lang="en-GB" dirty="0">
                <a:latin typeface="Times New Roman" pitchFamily="18" charset="0"/>
                <a:cs typeface="Times New Roman" pitchFamily="18" charset="0"/>
              </a:rPr>
              <a:t>. </a:t>
            </a:r>
          </a:p>
          <a:p>
            <a:r>
              <a:rPr lang="en-GB" dirty="0">
                <a:latin typeface="Times New Roman" pitchFamily="18" charset="0"/>
                <a:cs typeface="Times New Roman" pitchFamily="18" charset="0"/>
              </a:rPr>
              <a:t>The most common form of bacterial spoilage of eggs is a condition commonly known as “rotting”.</a:t>
            </a:r>
          </a:p>
          <a:p>
            <a:r>
              <a:rPr lang="en-GB" dirty="0">
                <a:latin typeface="Times New Roman" pitchFamily="18" charset="0"/>
                <a:cs typeface="Times New Roman" pitchFamily="18" charset="0"/>
              </a:rPr>
              <a:t> “Green rots” are caused by </a:t>
            </a:r>
            <a:r>
              <a:rPr lang="en-GB" i="1" dirty="0">
                <a:latin typeface="Times New Roman" pitchFamily="18" charset="0"/>
                <a:cs typeface="Times New Roman" pitchFamily="18" charset="0"/>
              </a:rPr>
              <a:t>Pseudomonas</a:t>
            </a:r>
            <a:r>
              <a:rPr lang="en-GB" dirty="0">
                <a:latin typeface="Times New Roman" pitchFamily="18" charset="0"/>
                <a:cs typeface="Times New Roman" pitchFamily="18" charset="0"/>
              </a:rPr>
              <a:t> species especially </a:t>
            </a:r>
            <a:r>
              <a:rPr lang="en-GB" i="1" dirty="0">
                <a:latin typeface="Times New Roman" pitchFamily="18" charset="0"/>
                <a:cs typeface="Times New Roman" pitchFamily="18" charset="0"/>
              </a:rPr>
              <a:t>P. </a:t>
            </a:r>
            <a:r>
              <a:rPr lang="en-GB" i="1" dirty="0" err="1">
                <a:latin typeface="Times New Roman" pitchFamily="18" charset="0"/>
                <a:cs typeface="Times New Roman" pitchFamily="18" charset="0"/>
              </a:rPr>
              <a:t>fluorescens</a:t>
            </a:r>
            <a:r>
              <a:rPr lang="en-GB" dirty="0">
                <a:latin typeface="Times New Roman" pitchFamily="18" charset="0"/>
                <a:cs typeface="Times New Roman" pitchFamily="18" charset="0"/>
              </a:rPr>
              <a:t>. </a:t>
            </a:r>
          </a:p>
          <a:p>
            <a:r>
              <a:rPr lang="en-GB" dirty="0">
                <a:latin typeface="Times New Roman" pitchFamily="18" charset="0"/>
                <a:cs typeface="Times New Roman" pitchFamily="18" charset="0"/>
              </a:rPr>
              <a:t>“Colourless rot” is caused by </a:t>
            </a:r>
            <a:r>
              <a:rPr lang="en-GB" i="1" dirty="0">
                <a:latin typeface="Times New Roman" pitchFamily="18" charset="0"/>
                <a:cs typeface="Times New Roman" pitchFamily="18" charset="0"/>
              </a:rPr>
              <a:t>Pseudomonas</a:t>
            </a:r>
            <a:r>
              <a:rPr lang="en-GB" dirty="0">
                <a:latin typeface="Times New Roman" pitchFamily="18" charset="0"/>
                <a:cs typeface="Times New Roman" pitchFamily="18" charset="0"/>
              </a:rPr>
              <a:t> and </a:t>
            </a:r>
            <a:r>
              <a:rPr lang="en-GB" i="1" dirty="0" err="1">
                <a:latin typeface="Times New Roman" pitchFamily="18" charset="0"/>
                <a:cs typeface="Times New Roman" pitchFamily="18" charset="0"/>
              </a:rPr>
              <a:t>Acinetobacter</a:t>
            </a:r>
            <a:r>
              <a:rPr lang="en-GB" i="1" dirty="0">
                <a:latin typeface="Times New Roman" pitchFamily="18" charset="0"/>
                <a:cs typeface="Times New Roman" pitchFamily="18" charset="0"/>
              </a:rPr>
              <a:t>.</a:t>
            </a:r>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“Black rot” by</a:t>
            </a:r>
            <a:r>
              <a:rPr lang="en-GB" i="1" dirty="0">
                <a:latin typeface="Times New Roman" pitchFamily="18" charset="0"/>
                <a:cs typeface="Times New Roman" pitchFamily="18" charset="0"/>
              </a:rPr>
              <a:t> Pseudomonas</a:t>
            </a:r>
            <a:r>
              <a:rPr lang="en-GB" dirty="0">
                <a:latin typeface="Times New Roman" pitchFamily="18" charset="0"/>
                <a:cs typeface="Times New Roman" pitchFamily="18" charset="0"/>
              </a:rPr>
              <a:t> and </a:t>
            </a:r>
            <a:r>
              <a:rPr lang="en-GB" i="1" dirty="0" err="1">
                <a:latin typeface="Times New Roman" pitchFamily="18" charset="0"/>
                <a:cs typeface="Times New Roman" pitchFamily="18" charset="0"/>
              </a:rPr>
              <a:t>Aeromonas</a:t>
            </a:r>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“Pink rot” by </a:t>
            </a:r>
            <a:r>
              <a:rPr lang="en-GB" i="1" dirty="0">
                <a:latin typeface="Times New Roman" pitchFamily="18" charset="0"/>
                <a:cs typeface="Times New Roman" pitchFamily="18" charset="0"/>
              </a:rPr>
              <a:t>Pseudomonas</a:t>
            </a:r>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“Red rot” by </a:t>
            </a:r>
            <a:r>
              <a:rPr lang="en-GB" i="1" dirty="0" err="1">
                <a:latin typeface="Times New Roman" pitchFamily="18" charset="0"/>
                <a:cs typeface="Times New Roman" pitchFamily="18" charset="0"/>
              </a:rPr>
              <a:t>Serratia</a:t>
            </a:r>
            <a:r>
              <a:rPr lang="en-GB" i="1" dirty="0">
                <a:latin typeface="Times New Roman" pitchFamily="18" charset="0"/>
                <a:cs typeface="Times New Roman" pitchFamily="18" charset="0"/>
              </a:rPr>
              <a:t>.</a:t>
            </a:r>
            <a:endParaRPr lang="en-GB" dirty="0"/>
          </a:p>
        </p:txBody>
      </p:sp>
    </p:spTree>
    <p:extLst>
      <p:ext uri="{BB962C8B-B14F-4D97-AF65-F5344CB8AC3E}">
        <p14:creationId xmlns:p14="http://schemas.microsoft.com/office/powerpoint/2010/main" val="1846650332"/>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Times New Roman" pitchFamily="18" charset="0"/>
                <a:cs typeface="Times New Roman" pitchFamily="18" charset="0"/>
              </a:rPr>
              <a:t>EGG……contd.</a:t>
            </a:r>
            <a:endParaRPr lang="en-US" dirty="0"/>
          </a:p>
        </p:txBody>
      </p:sp>
      <p:sp>
        <p:nvSpPr>
          <p:cNvPr id="3" name="Content Placeholder 2"/>
          <p:cNvSpPr>
            <a:spLocks noGrp="1"/>
          </p:cNvSpPr>
          <p:nvPr>
            <p:ph idx="1"/>
          </p:nvPr>
        </p:nvSpPr>
        <p:spPr/>
        <p:txBody>
          <a:bodyPr/>
          <a:lstStyle/>
          <a:p>
            <a:r>
              <a:rPr lang="en-GB" dirty="0">
                <a:latin typeface="Times New Roman" pitchFamily="18" charset="0"/>
                <a:cs typeface="Times New Roman" pitchFamily="18" charset="0"/>
              </a:rPr>
              <a:t>Mould spoilage of eggs is generally referred to as “</a:t>
            </a:r>
            <a:r>
              <a:rPr lang="en-GB" dirty="0" err="1">
                <a:latin typeface="Times New Roman" pitchFamily="18" charset="0"/>
                <a:cs typeface="Times New Roman" pitchFamily="18" charset="0"/>
              </a:rPr>
              <a:t>pinspot</a:t>
            </a:r>
            <a:r>
              <a:rPr lang="en-GB" dirty="0">
                <a:latin typeface="Times New Roman" pitchFamily="18" charset="0"/>
                <a:cs typeface="Times New Roman" pitchFamily="18" charset="0"/>
              </a:rPr>
              <a:t>”</a:t>
            </a:r>
          </a:p>
          <a:p>
            <a:pPr marL="0" indent="0">
              <a:buNone/>
            </a:pPr>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a:t>
            </a:r>
            <a:r>
              <a:rPr lang="en-GB" i="1" dirty="0">
                <a:latin typeface="Times New Roman" pitchFamily="18" charset="0"/>
                <a:cs typeface="Times New Roman" pitchFamily="18" charset="0"/>
              </a:rPr>
              <a:t>Penicillium</a:t>
            </a:r>
            <a:r>
              <a:rPr lang="en-GB" dirty="0">
                <a:latin typeface="Times New Roman" pitchFamily="18" charset="0"/>
                <a:cs typeface="Times New Roman" pitchFamily="18" charset="0"/>
              </a:rPr>
              <a:t> and </a:t>
            </a:r>
            <a:r>
              <a:rPr lang="en-GB" i="1" dirty="0" err="1">
                <a:latin typeface="Times New Roman" pitchFamily="18" charset="0"/>
                <a:cs typeface="Times New Roman" pitchFamily="18" charset="0"/>
              </a:rPr>
              <a:t>Cladosporium</a:t>
            </a:r>
            <a:r>
              <a:rPr lang="en-GB" dirty="0">
                <a:latin typeface="Times New Roman" pitchFamily="18" charset="0"/>
                <a:cs typeface="Times New Roman" pitchFamily="18" charset="0"/>
              </a:rPr>
              <a:t> species are among the most common causes of </a:t>
            </a:r>
            <a:r>
              <a:rPr lang="en-GB" dirty="0" err="1">
                <a:latin typeface="Times New Roman" pitchFamily="18" charset="0"/>
                <a:cs typeface="Times New Roman" pitchFamily="18" charset="0"/>
              </a:rPr>
              <a:t>pinspot</a:t>
            </a:r>
            <a:r>
              <a:rPr lang="en-GB" dirty="0">
                <a:latin typeface="Times New Roman" pitchFamily="18" charset="0"/>
                <a:cs typeface="Times New Roman" pitchFamily="18" charset="0"/>
              </a:rPr>
              <a:t> or fungal rotting in eggs.</a:t>
            </a:r>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8229600" cy="838200"/>
          </a:xfrm>
        </p:spPr>
        <p:txBody>
          <a:bodyPr/>
          <a:lstStyle/>
          <a:p>
            <a:r>
              <a:rPr lang="en-GB" dirty="0">
                <a:latin typeface="Times New Roman" pitchFamily="18" charset="0"/>
                <a:cs typeface="Times New Roman" pitchFamily="18" charset="0"/>
              </a:rPr>
              <a:t>EGG……contd.</a:t>
            </a:r>
            <a:endParaRPr lang="en-GB" dirty="0"/>
          </a:p>
        </p:txBody>
      </p:sp>
      <p:sp>
        <p:nvSpPr>
          <p:cNvPr id="3" name="Content Placeholder 2"/>
          <p:cNvSpPr>
            <a:spLocks noGrp="1"/>
          </p:cNvSpPr>
          <p:nvPr>
            <p:ph idx="1"/>
          </p:nvPr>
        </p:nvSpPr>
        <p:spPr>
          <a:xfrm>
            <a:off x="457200" y="1219200"/>
            <a:ext cx="8229600" cy="5257800"/>
          </a:xfrm>
        </p:spPr>
        <p:txBody>
          <a:bodyPr>
            <a:normAutofit/>
          </a:bodyPr>
          <a:lstStyle/>
          <a:p>
            <a:r>
              <a:rPr lang="en-GB" sz="2800" dirty="0">
                <a:latin typeface="Times New Roman" pitchFamily="18" charset="0"/>
                <a:cs typeface="Times New Roman" pitchFamily="18" charset="0"/>
              </a:rPr>
              <a:t>More bacteria are found in egg yolk than in egg white. This may possibly be due to its antimicrobial content. </a:t>
            </a:r>
          </a:p>
          <a:p>
            <a:pPr marL="0" indent="0">
              <a:buNone/>
            </a:pPr>
            <a:endParaRPr lang="en-GB" sz="2800" dirty="0">
              <a:latin typeface="Times New Roman" pitchFamily="18" charset="0"/>
              <a:cs typeface="Times New Roman" pitchFamily="18" charset="0"/>
            </a:endParaRPr>
          </a:p>
          <a:p>
            <a:r>
              <a:rPr lang="en-GB" sz="2800" dirty="0">
                <a:latin typeface="Times New Roman" pitchFamily="18" charset="0"/>
                <a:cs typeface="Times New Roman" pitchFamily="18" charset="0"/>
              </a:rPr>
              <a:t>In addition, upon storage the thick white losses moisture to the yolk resulting in the thickening  of the yolk and the shrinking of the thick white. </a:t>
            </a:r>
          </a:p>
          <a:p>
            <a:endParaRPr lang="en-GB" sz="2800" dirty="0">
              <a:latin typeface="Times New Roman" pitchFamily="18" charset="0"/>
              <a:cs typeface="Times New Roman" pitchFamily="18" charset="0"/>
            </a:endParaRPr>
          </a:p>
          <a:p>
            <a:r>
              <a:rPr lang="en-GB" sz="2800" dirty="0">
                <a:latin typeface="Times New Roman" pitchFamily="18" charset="0"/>
                <a:cs typeface="Times New Roman" pitchFamily="18" charset="0"/>
              </a:rPr>
              <a:t>This makes it possible for the yolk to come into contact with the inner membrane where it may be directly infected by microorganisms</a:t>
            </a:r>
          </a:p>
        </p:txBody>
      </p:sp>
    </p:spTree>
    <p:extLst>
      <p:ext uri="{BB962C8B-B14F-4D97-AF65-F5344CB8AC3E}">
        <p14:creationId xmlns:p14="http://schemas.microsoft.com/office/powerpoint/2010/main" val="3366598434"/>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Times New Roman" pitchFamily="18" charset="0"/>
                <a:cs typeface="Times New Roman" pitchFamily="18" charset="0"/>
              </a:rPr>
              <a:t>EGG……contd.</a:t>
            </a:r>
            <a:endParaRPr lang="en-US" dirty="0"/>
          </a:p>
        </p:txBody>
      </p:sp>
      <p:sp>
        <p:nvSpPr>
          <p:cNvPr id="3" name="Content Placeholder 2"/>
          <p:cNvSpPr>
            <a:spLocks noGrp="1"/>
          </p:cNvSpPr>
          <p:nvPr>
            <p:ph idx="1"/>
          </p:nvPr>
        </p:nvSpPr>
        <p:spPr>
          <a:xfrm>
            <a:off x="457200" y="1935480"/>
            <a:ext cx="8229600" cy="4389120"/>
          </a:xfrm>
        </p:spPr>
        <p:txBody>
          <a:bodyPr/>
          <a:lstStyle/>
          <a:p>
            <a:r>
              <a:rPr lang="en-GB" sz="2800" dirty="0">
                <a:latin typeface="Times New Roman" pitchFamily="18" charset="0"/>
                <a:cs typeface="Times New Roman" pitchFamily="18" charset="0"/>
              </a:rPr>
              <a:t>Once inside the yolk the bacteria apparently grows in this nutritious medium producing by- products of proteins and amino acids such as H₂S and other foul smelling compounds. </a:t>
            </a:r>
          </a:p>
          <a:p>
            <a:endParaRPr lang="en-GB" sz="2800" dirty="0">
              <a:latin typeface="Times New Roman" pitchFamily="18" charset="0"/>
              <a:cs typeface="Times New Roman" pitchFamily="18" charset="0"/>
            </a:endParaRPr>
          </a:p>
          <a:p>
            <a:r>
              <a:rPr lang="en-GB" sz="2800" dirty="0">
                <a:latin typeface="Times New Roman" pitchFamily="18" charset="0"/>
                <a:cs typeface="Times New Roman" pitchFamily="18" charset="0"/>
              </a:rPr>
              <a:t>The effect of significant growth causes the yolk to become discoloured. </a:t>
            </a:r>
          </a:p>
          <a:p>
            <a:endParaRPr lang="en-US" dirty="0"/>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838200"/>
          </a:xfrm>
        </p:spPr>
        <p:txBody>
          <a:bodyPr/>
          <a:lstStyle/>
          <a:p>
            <a:r>
              <a:rPr lang="en-GB" dirty="0">
                <a:latin typeface="Times New Roman" pitchFamily="18" charset="0"/>
                <a:cs typeface="Times New Roman" pitchFamily="18" charset="0"/>
              </a:rPr>
              <a:t>EGG……</a:t>
            </a:r>
            <a:r>
              <a:rPr lang="en-GB" dirty="0" err="1">
                <a:latin typeface="Times New Roman" pitchFamily="18" charset="0"/>
                <a:cs typeface="Times New Roman" pitchFamily="18" charset="0"/>
              </a:rPr>
              <a:t>contd</a:t>
            </a:r>
            <a:endParaRPr lang="en-GB" dirty="0"/>
          </a:p>
        </p:txBody>
      </p:sp>
      <p:sp>
        <p:nvSpPr>
          <p:cNvPr id="3" name="Content Placeholder 2"/>
          <p:cNvSpPr>
            <a:spLocks noGrp="1"/>
          </p:cNvSpPr>
          <p:nvPr>
            <p:ph idx="1"/>
          </p:nvPr>
        </p:nvSpPr>
        <p:spPr>
          <a:xfrm>
            <a:off x="457200" y="1143000"/>
            <a:ext cx="8229600" cy="5181600"/>
          </a:xfrm>
        </p:spPr>
        <p:txBody>
          <a:bodyPr/>
          <a:lstStyle/>
          <a:p>
            <a:r>
              <a:rPr lang="en-GB" sz="2800" dirty="0">
                <a:latin typeface="Times New Roman" pitchFamily="18" charset="0"/>
                <a:cs typeface="Times New Roman" pitchFamily="18" charset="0"/>
              </a:rPr>
              <a:t>Under conditions of high humidity, moulds may be seen growing over the outer surface of eggs.</a:t>
            </a:r>
          </a:p>
          <a:p>
            <a:endParaRPr lang="en-GB" sz="2800" dirty="0">
              <a:latin typeface="Times New Roman" pitchFamily="18" charset="0"/>
              <a:cs typeface="Times New Roman" pitchFamily="18" charset="0"/>
            </a:endParaRPr>
          </a:p>
          <a:p>
            <a:r>
              <a:rPr lang="en-GB" sz="2800" dirty="0">
                <a:latin typeface="Times New Roman" pitchFamily="18" charset="0"/>
                <a:cs typeface="Times New Roman" pitchFamily="18" charset="0"/>
              </a:rPr>
              <a:t>Apart from the antimicrobial system of eggs, hen egg albumin contains </a:t>
            </a:r>
            <a:r>
              <a:rPr lang="en-GB" sz="2800" dirty="0" err="1">
                <a:latin typeface="Times New Roman" pitchFamily="18" charset="0"/>
                <a:cs typeface="Times New Roman" pitchFamily="18" charset="0"/>
              </a:rPr>
              <a:t>ovotransferin</a:t>
            </a:r>
            <a:r>
              <a:rPr lang="en-GB" sz="2800" dirty="0">
                <a:latin typeface="Times New Roman" pitchFamily="18" charset="0"/>
                <a:cs typeface="Times New Roman" pitchFamily="18" charset="0"/>
              </a:rPr>
              <a:t> which chelates or binds with metal ions particularly Iron III  and </a:t>
            </a:r>
            <a:r>
              <a:rPr lang="en-GB" sz="2800" dirty="0" err="1">
                <a:latin typeface="Times New Roman" pitchFamily="18" charset="0"/>
                <a:cs typeface="Times New Roman" pitchFamily="18" charset="0"/>
              </a:rPr>
              <a:t>ovoflavoproteins</a:t>
            </a:r>
            <a:r>
              <a:rPr lang="en-GB" sz="2800" dirty="0">
                <a:latin typeface="Times New Roman" pitchFamily="18" charset="0"/>
                <a:cs typeface="Times New Roman" pitchFamily="18" charset="0"/>
              </a:rPr>
              <a:t> which binds riboflavin. </a:t>
            </a:r>
          </a:p>
          <a:p>
            <a:endParaRPr lang="en-GB" sz="2800" dirty="0">
              <a:latin typeface="Times New Roman" pitchFamily="18" charset="0"/>
              <a:cs typeface="Times New Roman" pitchFamily="18" charset="0"/>
            </a:endParaRPr>
          </a:p>
          <a:p>
            <a:r>
              <a:rPr lang="en-GB" sz="2800" dirty="0">
                <a:latin typeface="Times New Roman" pitchFamily="18" charset="0"/>
                <a:cs typeface="Times New Roman" pitchFamily="18" charset="0"/>
              </a:rPr>
              <a:t>At its normal pH of 9-10, egg albumen is lethal to gram positive bacteria and yeast. </a:t>
            </a:r>
          </a:p>
          <a:p>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3607833661"/>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787A042-D39B-4F54-A00E-4023675C0DBB}"/>
              </a:ext>
            </a:extLst>
          </p:cNvPr>
          <p:cNvSpPr>
            <a:spLocks noGrp="1"/>
          </p:cNvSpPr>
          <p:nvPr>
            <p:ph type="title"/>
          </p:nvPr>
        </p:nvSpPr>
        <p:spPr/>
        <p:txBody>
          <a:bodyPr/>
          <a:lstStyle/>
          <a:p>
            <a:r>
              <a:rPr lang="en-GB" dirty="0"/>
              <a:t>Fruits and Vegetables products</a:t>
            </a:r>
          </a:p>
        </p:txBody>
      </p:sp>
      <p:sp>
        <p:nvSpPr>
          <p:cNvPr id="3" name="Content Placeholder 2">
            <a:extLst>
              <a:ext uri="{FF2B5EF4-FFF2-40B4-BE49-F238E27FC236}">
                <a16:creationId xmlns="" xmlns:a16="http://schemas.microsoft.com/office/drawing/2014/main" id="{CE1D42EA-B5F3-445F-82FF-D3BB124AB7AA}"/>
              </a:ext>
            </a:extLst>
          </p:cNvPr>
          <p:cNvSpPr>
            <a:spLocks noGrp="1"/>
          </p:cNvSpPr>
          <p:nvPr>
            <p:ph idx="1"/>
          </p:nvPr>
        </p:nvSpPr>
        <p:spPr/>
        <p:txBody>
          <a:bodyPr>
            <a:normAutofit lnSpcReduction="10000"/>
          </a:bodyPr>
          <a:lstStyle/>
          <a:p>
            <a:r>
              <a:rPr lang="en-US" dirty="0">
                <a:latin typeface="Times New Roman" pitchFamily="18" charset="0"/>
                <a:cs typeface="Times New Roman" pitchFamily="18" charset="0"/>
              </a:rPr>
              <a:t>Even though fruits have a high water activity, they are generally spoilt by fungi, both yeast and </a:t>
            </a:r>
            <a:r>
              <a:rPr lang="en-US" dirty="0" err="1" smtClean="0">
                <a:latin typeface="Times New Roman" pitchFamily="18" charset="0"/>
                <a:cs typeface="Times New Roman" pitchFamily="18" charset="0"/>
              </a:rPr>
              <a:t>moulds</a:t>
            </a:r>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especially the latter.</a:t>
            </a:r>
          </a:p>
          <a:p>
            <a:pPr>
              <a:buNone/>
            </a:pPr>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This is because of their low </a:t>
            </a:r>
            <a:r>
              <a:rPr lang="en-US" dirty="0" err="1">
                <a:latin typeface="Times New Roman" pitchFamily="18" charset="0"/>
                <a:cs typeface="Times New Roman" pitchFamily="18" charset="0"/>
              </a:rPr>
              <a:t>pH.</a:t>
            </a:r>
            <a:endParaRPr lang="en-US" dirty="0">
              <a:latin typeface="Times New Roman" pitchFamily="18" charset="0"/>
              <a:cs typeface="Times New Roman" pitchFamily="18" charset="0"/>
            </a:endParaRPr>
          </a:p>
          <a:p>
            <a:pPr>
              <a:buNone/>
            </a:pPr>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Some important </a:t>
            </a:r>
            <a:r>
              <a:rPr lang="en-US" dirty="0" err="1">
                <a:latin typeface="Times New Roman" pitchFamily="18" charset="0"/>
                <a:cs typeface="Times New Roman" pitchFamily="18" charset="0"/>
              </a:rPr>
              <a:t>moulds</a:t>
            </a:r>
            <a:r>
              <a:rPr lang="en-US" dirty="0">
                <a:latin typeface="Times New Roman" pitchFamily="18" charset="0"/>
                <a:cs typeface="Times New Roman" pitchFamily="18" charset="0"/>
              </a:rPr>
              <a:t> include </a:t>
            </a:r>
            <a:r>
              <a:rPr lang="en-US" i="1" dirty="0">
                <a:latin typeface="Times New Roman" pitchFamily="18" charset="0"/>
                <a:cs typeface="Times New Roman" pitchFamily="18" charset="0"/>
              </a:rPr>
              <a:t>Penicillium, P. </a:t>
            </a:r>
            <a:r>
              <a:rPr lang="en-US" i="1" dirty="0" err="1">
                <a:latin typeface="Times New Roman" pitchFamily="18" charset="0"/>
                <a:cs typeface="Times New Roman" pitchFamily="18" charset="0"/>
              </a:rPr>
              <a:t>italicum</a:t>
            </a:r>
            <a:r>
              <a:rPr lang="en-US" i="1" dirty="0">
                <a:latin typeface="Times New Roman" pitchFamily="18" charset="0"/>
                <a:cs typeface="Times New Roman" pitchFamily="18" charset="0"/>
              </a:rPr>
              <a:t> and P. </a:t>
            </a:r>
            <a:r>
              <a:rPr lang="en-US" i="1" dirty="0" err="1">
                <a:latin typeface="Times New Roman" pitchFamily="18" charset="0"/>
                <a:cs typeface="Times New Roman" pitchFamily="18" charset="0"/>
              </a:rPr>
              <a:t>digitatum</a:t>
            </a:r>
            <a:r>
              <a:rPr lang="en-US" i="1" dirty="0">
                <a:latin typeface="Times New Roman" pitchFamily="18" charset="0"/>
                <a:cs typeface="Times New Roman" pitchFamily="18" charset="0"/>
              </a:rPr>
              <a:t> </a:t>
            </a:r>
            <a:r>
              <a:rPr lang="en-US" dirty="0">
                <a:latin typeface="Times New Roman" pitchFamily="18" charset="0"/>
                <a:cs typeface="Times New Roman" pitchFamily="18" charset="0"/>
              </a:rPr>
              <a:t>are  important citrus spoilers.</a:t>
            </a:r>
          </a:p>
          <a:p>
            <a:endParaRPr lang="en-US" dirty="0">
              <a:latin typeface="Times New Roman" pitchFamily="18" charset="0"/>
              <a:cs typeface="Times New Roman" pitchFamily="18" charset="0"/>
            </a:endParaRPr>
          </a:p>
          <a:p>
            <a:r>
              <a:rPr lang="en-US" i="1" dirty="0">
                <a:latin typeface="Times New Roman" pitchFamily="18" charset="0"/>
                <a:cs typeface="Times New Roman" pitchFamily="18" charset="0"/>
              </a:rPr>
              <a:t>P. </a:t>
            </a:r>
            <a:r>
              <a:rPr lang="en-US" i="1" dirty="0" err="1">
                <a:latin typeface="Times New Roman" pitchFamily="18" charset="0"/>
                <a:cs typeface="Times New Roman" pitchFamily="18" charset="0"/>
              </a:rPr>
              <a:t>expansum</a:t>
            </a:r>
            <a:r>
              <a:rPr lang="en-US" i="1" dirty="0">
                <a:latin typeface="Times New Roman" pitchFamily="18" charset="0"/>
                <a:cs typeface="Times New Roman" pitchFamily="18" charset="0"/>
              </a:rPr>
              <a:t> </a:t>
            </a:r>
            <a:r>
              <a:rPr lang="en-US" dirty="0">
                <a:latin typeface="Times New Roman" pitchFamily="18" charset="0"/>
                <a:cs typeface="Times New Roman" pitchFamily="18" charset="0"/>
              </a:rPr>
              <a:t>(blue mold</a:t>
            </a:r>
            <a:r>
              <a:rPr lang="en-US" dirty="0" smtClean="0">
                <a:latin typeface="Times New Roman" pitchFamily="18" charset="0"/>
                <a:cs typeface="Times New Roman" pitchFamily="18" charset="0"/>
              </a:rPr>
              <a:t>) causes </a:t>
            </a:r>
            <a:r>
              <a:rPr lang="en-US" dirty="0">
                <a:latin typeface="Times New Roman" pitchFamily="18" charset="0"/>
                <a:cs typeface="Times New Roman" pitchFamily="18" charset="0"/>
              </a:rPr>
              <a:t>soft rot in apples</a:t>
            </a:r>
          </a:p>
          <a:p>
            <a:endParaRPr lang="en-GB" dirty="0"/>
          </a:p>
        </p:txBody>
      </p:sp>
    </p:spTree>
    <p:extLst>
      <p:ext uri="{BB962C8B-B14F-4D97-AF65-F5344CB8AC3E}">
        <p14:creationId xmlns:p14="http://schemas.microsoft.com/office/powerpoint/2010/main" val="1500812282"/>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9548640-2FCE-42AE-8D53-9D1D14946C7D}"/>
              </a:ext>
            </a:extLst>
          </p:cNvPr>
          <p:cNvSpPr>
            <a:spLocks noGrp="1"/>
          </p:cNvSpPr>
          <p:nvPr>
            <p:ph type="title"/>
          </p:nvPr>
        </p:nvSpPr>
        <p:spPr/>
        <p:txBody>
          <a:bodyPr/>
          <a:lstStyle/>
          <a:p>
            <a:r>
              <a:rPr lang="en-GB" dirty="0"/>
              <a:t>Fruits and Vegetables products</a:t>
            </a:r>
          </a:p>
        </p:txBody>
      </p:sp>
      <p:sp>
        <p:nvSpPr>
          <p:cNvPr id="3" name="Content Placeholder 2">
            <a:extLst>
              <a:ext uri="{FF2B5EF4-FFF2-40B4-BE49-F238E27FC236}">
                <a16:creationId xmlns="" xmlns:a16="http://schemas.microsoft.com/office/drawing/2014/main" id="{BBCA178E-A812-4BE7-9A49-6A450DB89917}"/>
              </a:ext>
            </a:extLst>
          </p:cNvPr>
          <p:cNvSpPr>
            <a:spLocks noGrp="1"/>
          </p:cNvSpPr>
          <p:nvPr>
            <p:ph idx="1"/>
          </p:nvPr>
        </p:nvSpPr>
        <p:spPr/>
        <p:txBody>
          <a:bodyPr/>
          <a:lstStyle/>
          <a:p>
            <a:r>
              <a:rPr lang="en-US" dirty="0"/>
              <a:t>This mould has a special significance because of its ability to produce the mycotoxin, </a:t>
            </a:r>
            <a:r>
              <a:rPr lang="en-US" b="1" dirty="0"/>
              <a:t>patulin</a:t>
            </a:r>
          </a:p>
          <a:p>
            <a:r>
              <a:rPr lang="en-US" b="1" i="1" dirty="0"/>
              <a:t>Botrytis </a:t>
            </a:r>
            <a:r>
              <a:rPr lang="en-US" b="1" i="1" dirty="0" err="1"/>
              <a:t>cineria</a:t>
            </a:r>
            <a:r>
              <a:rPr lang="en-US" b="1" i="1" dirty="0"/>
              <a:t> </a:t>
            </a:r>
            <a:r>
              <a:rPr lang="en-US" b="1" dirty="0"/>
              <a:t>(</a:t>
            </a:r>
            <a:r>
              <a:rPr lang="en-US" dirty="0"/>
              <a:t>grey mould</a:t>
            </a:r>
            <a:r>
              <a:rPr lang="en-US" b="1" dirty="0"/>
              <a:t>)</a:t>
            </a:r>
            <a:r>
              <a:rPr lang="en-US" b="1" i="1" dirty="0"/>
              <a:t> </a:t>
            </a:r>
            <a:r>
              <a:rPr lang="en-US" dirty="0"/>
              <a:t>is </a:t>
            </a:r>
            <a:r>
              <a:rPr lang="en-US" dirty="0" smtClean="0"/>
              <a:t>a widespread </a:t>
            </a:r>
            <a:r>
              <a:rPr lang="en-US" dirty="0"/>
              <a:t>mould that causes spoilage in a wide range of fruits and vegetables  including strawberries. </a:t>
            </a:r>
          </a:p>
          <a:p>
            <a:r>
              <a:rPr lang="en-US" dirty="0"/>
              <a:t>The same mould may infect grapes on the vines and may lead to their drying.</a:t>
            </a:r>
          </a:p>
          <a:p>
            <a:r>
              <a:rPr lang="en-US" dirty="0"/>
              <a:t>The sugar concentration increases and wine made from such contaminated fruits are considered as very special (</a:t>
            </a:r>
            <a:r>
              <a:rPr lang="en-US" b="1" dirty="0"/>
              <a:t>La </a:t>
            </a:r>
            <a:r>
              <a:rPr lang="en-US" b="1" dirty="0" err="1"/>
              <a:t>pourriture</a:t>
            </a:r>
            <a:r>
              <a:rPr lang="en-US" b="1" dirty="0"/>
              <a:t> Noble</a:t>
            </a:r>
            <a:r>
              <a:rPr lang="en-US" dirty="0"/>
              <a:t>)</a:t>
            </a:r>
          </a:p>
          <a:p>
            <a:endParaRPr lang="en-GB" dirty="0"/>
          </a:p>
        </p:txBody>
      </p:sp>
    </p:spTree>
    <p:extLst>
      <p:ext uri="{BB962C8B-B14F-4D97-AF65-F5344CB8AC3E}">
        <p14:creationId xmlns:p14="http://schemas.microsoft.com/office/powerpoint/2010/main" val="668013716"/>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126B644-672C-4FBF-977F-61B2E2B63F6C}"/>
              </a:ext>
            </a:extLst>
          </p:cNvPr>
          <p:cNvSpPr>
            <a:spLocks noGrp="1"/>
          </p:cNvSpPr>
          <p:nvPr>
            <p:ph type="title"/>
          </p:nvPr>
        </p:nvSpPr>
        <p:spPr/>
        <p:txBody>
          <a:bodyPr/>
          <a:lstStyle/>
          <a:p>
            <a:r>
              <a:rPr lang="en-GB" dirty="0"/>
              <a:t>Fruits and Vegetables products</a:t>
            </a:r>
          </a:p>
        </p:txBody>
      </p:sp>
      <p:sp>
        <p:nvSpPr>
          <p:cNvPr id="3" name="Content Placeholder 2">
            <a:extLst>
              <a:ext uri="{FF2B5EF4-FFF2-40B4-BE49-F238E27FC236}">
                <a16:creationId xmlns="" xmlns:a16="http://schemas.microsoft.com/office/drawing/2014/main" id="{57B21792-B715-4996-B5F0-B2A3761DE516}"/>
              </a:ext>
            </a:extLst>
          </p:cNvPr>
          <p:cNvSpPr>
            <a:spLocks noGrp="1"/>
          </p:cNvSpPr>
          <p:nvPr>
            <p:ph idx="1"/>
          </p:nvPr>
        </p:nvSpPr>
        <p:spPr/>
        <p:txBody>
          <a:bodyPr/>
          <a:lstStyle/>
          <a:p>
            <a:r>
              <a:rPr lang="en-US" dirty="0"/>
              <a:t>The higher  pH values of  the tissues of many vegetables make them more susceptible to bacteria spoilage than fruits.</a:t>
            </a:r>
          </a:p>
          <a:p>
            <a:endParaRPr lang="en-US" dirty="0"/>
          </a:p>
          <a:p>
            <a:r>
              <a:rPr lang="en-US" dirty="0"/>
              <a:t>The bacteria involved are pectinolytic species of the Gram negative genera.</a:t>
            </a:r>
          </a:p>
          <a:p>
            <a:endParaRPr lang="en-US" dirty="0"/>
          </a:p>
          <a:p>
            <a:r>
              <a:rPr lang="en-US" dirty="0"/>
              <a:t> Examples: </a:t>
            </a:r>
            <a:r>
              <a:rPr lang="en-US" i="1" dirty="0" err="1"/>
              <a:t>Pectobacterium</a:t>
            </a:r>
            <a:r>
              <a:rPr lang="en-US" dirty="0"/>
              <a:t>, </a:t>
            </a:r>
            <a:r>
              <a:rPr lang="en-US" i="1" dirty="0"/>
              <a:t>Pseudomonas </a:t>
            </a:r>
            <a:r>
              <a:rPr lang="en-US" dirty="0"/>
              <a:t>and </a:t>
            </a:r>
            <a:r>
              <a:rPr lang="en-US" i="1" dirty="0"/>
              <a:t>Xanthomonas.</a:t>
            </a:r>
          </a:p>
          <a:p>
            <a:endParaRPr lang="en-GB" dirty="0"/>
          </a:p>
        </p:txBody>
      </p:sp>
    </p:spTree>
    <p:extLst>
      <p:ext uri="{BB962C8B-B14F-4D97-AF65-F5344CB8AC3E}">
        <p14:creationId xmlns:p14="http://schemas.microsoft.com/office/powerpoint/2010/main" val="3071417371"/>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08F199C-7C9D-469E-8A6D-9BC0AC4EE0B8}"/>
              </a:ext>
            </a:extLst>
          </p:cNvPr>
          <p:cNvSpPr>
            <a:spLocks noGrp="1"/>
          </p:cNvSpPr>
          <p:nvPr>
            <p:ph type="title"/>
          </p:nvPr>
        </p:nvSpPr>
        <p:spPr/>
        <p:txBody>
          <a:bodyPr/>
          <a:lstStyle/>
          <a:p>
            <a:r>
              <a:rPr lang="en-GB" dirty="0"/>
              <a:t>Fruits and Vegetables products</a:t>
            </a:r>
          </a:p>
        </p:txBody>
      </p:sp>
      <p:sp>
        <p:nvSpPr>
          <p:cNvPr id="3" name="Content Placeholder 2">
            <a:extLst>
              <a:ext uri="{FF2B5EF4-FFF2-40B4-BE49-F238E27FC236}">
                <a16:creationId xmlns="" xmlns:a16="http://schemas.microsoft.com/office/drawing/2014/main" id="{CD15C361-8902-4828-A736-710A859C3A7F}"/>
              </a:ext>
            </a:extLst>
          </p:cNvPr>
          <p:cNvSpPr>
            <a:spLocks noGrp="1"/>
          </p:cNvSpPr>
          <p:nvPr>
            <p:ph idx="1"/>
          </p:nvPr>
        </p:nvSpPr>
        <p:spPr/>
        <p:txBody>
          <a:bodyPr/>
          <a:lstStyle/>
          <a:p>
            <a:r>
              <a:rPr lang="en-US" dirty="0"/>
              <a:t>Vegetables should normally not be a cause of public health concern but they may be possibly contaminated directly  through the use of contaminated irrigation water, manure or sewage sludge, farm workers,  </a:t>
            </a:r>
            <a:r>
              <a:rPr lang="en-US" dirty="0" err="1"/>
              <a:t>faeces</a:t>
            </a:r>
            <a:r>
              <a:rPr lang="en-US" dirty="0"/>
              <a:t> of birds and animals</a:t>
            </a:r>
            <a:endParaRPr lang="en-GB" dirty="0"/>
          </a:p>
        </p:txBody>
      </p:sp>
    </p:spTree>
    <p:extLst>
      <p:ext uri="{BB962C8B-B14F-4D97-AF65-F5344CB8AC3E}">
        <p14:creationId xmlns:p14="http://schemas.microsoft.com/office/powerpoint/2010/main" val="1252523713"/>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962A78C-31A6-4D0D-9A30-4847B50780D5}"/>
              </a:ext>
            </a:extLst>
          </p:cNvPr>
          <p:cNvSpPr>
            <a:spLocks noGrp="1"/>
          </p:cNvSpPr>
          <p:nvPr>
            <p:ph type="title"/>
          </p:nvPr>
        </p:nvSpPr>
        <p:spPr/>
        <p:txBody>
          <a:bodyPr>
            <a:normAutofit fontScale="90000"/>
          </a:bodyPr>
          <a:lstStyle/>
          <a:p>
            <a:r>
              <a:rPr lang="en-GB" dirty="0"/>
              <a:t>Methods used in reducing excessive mould spoilage during storage and transport</a:t>
            </a:r>
          </a:p>
        </p:txBody>
      </p:sp>
      <p:sp>
        <p:nvSpPr>
          <p:cNvPr id="3" name="Content Placeholder 2">
            <a:extLst>
              <a:ext uri="{FF2B5EF4-FFF2-40B4-BE49-F238E27FC236}">
                <a16:creationId xmlns="" xmlns:a16="http://schemas.microsoft.com/office/drawing/2014/main" id="{FB417AC8-674A-4112-B545-B3A3EF85F025}"/>
              </a:ext>
            </a:extLst>
          </p:cNvPr>
          <p:cNvSpPr>
            <a:spLocks noGrp="1"/>
          </p:cNvSpPr>
          <p:nvPr>
            <p:ph idx="1"/>
          </p:nvPr>
        </p:nvSpPr>
        <p:spPr/>
        <p:txBody>
          <a:bodyPr/>
          <a:lstStyle/>
          <a:p>
            <a:r>
              <a:rPr lang="en-US" dirty="0">
                <a:latin typeface="Times New Roman" pitchFamily="18" charset="0"/>
                <a:cs typeface="Times New Roman" pitchFamily="18" charset="0"/>
              </a:rPr>
              <a:t>They must be harvested at the right stage of maturity</a:t>
            </a:r>
          </a:p>
          <a:p>
            <a:pPr>
              <a:buNone/>
            </a:pPr>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Avoid damage and bruising of fruits</a:t>
            </a:r>
          </a:p>
          <a:p>
            <a:endParaRPr lang="en-US" dirty="0">
              <a:latin typeface="Times New Roman" pitchFamily="18" charset="0"/>
              <a:cs typeface="Times New Roman" pitchFamily="18" charset="0"/>
            </a:endParaRPr>
          </a:p>
          <a:p>
            <a:r>
              <a:rPr lang="en-US" dirty="0" err="1">
                <a:latin typeface="Times New Roman" pitchFamily="18" charset="0"/>
                <a:cs typeface="Times New Roman" pitchFamily="18" charset="0"/>
              </a:rPr>
              <a:t>Mouldy</a:t>
            </a:r>
            <a:r>
              <a:rPr lang="en-US" dirty="0">
                <a:latin typeface="Times New Roman" pitchFamily="18" charset="0"/>
                <a:cs typeface="Times New Roman" pitchFamily="18" charset="0"/>
              </a:rPr>
              <a:t> fruits should be removed and destroyed.</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Good hygiene of containers and packaging equipment is essential to prevent the build-up of mould propagules.</a:t>
            </a:r>
          </a:p>
          <a:p>
            <a:endParaRPr lang="en-GB" dirty="0"/>
          </a:p>
        </p:txBody>
      </p:sp>
    </p:spTree>
    <p:extLst>
      <p:ext uri="{BB962C8B-B14F-4D97-AF65-F5344CB8AC3E}">
        <p14:creationId xmlns:p14="http://schemas.microsoft.com/office/powerpoint/2010/main" val="285612828"/>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CAED517-4639-468F-B5C0-6FE989D2FCD0}"/>
              </a:ext>
            </a:extLst>
          </p:cNvPr>
          <p:cNvSpPr>
            <a:spLocks noGrp="1"/>
          </p:cNvSpPr>
          <p:nvPr>
            <p:ph type="title"/>
          </p:nvPr>
        </p:nvSpPr>
        <p:spPr/>
        <p:txBody>
          <a:bodyPr>
            <a:normAutofit fontScale="90000"/>
          </a:bodyPr>
          <a:lstStyle/>
          <a:p>
            <a:r>
              <a:rPr lang="en-GB" dirty="0"/>
              <a:t>Methods used in reducing excessive mould spoilage during storage and transport……cont’d</a:t>
            </a:r>
          </a:p>
        </p:txBody>
      </p:sp>
      <p:sp>
        <p:nvSpPr>
          <p:cNvPr id="3" name="Content Placeholder 2">
            <a:extLst>
              <a:ext uri="{FF2B5EF4-FFF2-40B4-BE49-F238E27FC236}">
                <a16:creationId xmlns="" xmlns:a16="http://schemas.microsoft.com/office/drawing/2014/main" id="{73662214-1ADA-4C16-A220-F264AD0A356E}"/>
              </a:ext>
            </a:extLst>
          </p:cNvPr>
          <p:cNvSpPr>
            <a:spLocks noGrp="1"/>
          </p:cNvSpPr>
          <p:nvPr>
            <p:ph idx="1"/>
          </p:nvPr>
        </p:nvSpPr>
        <p:spPr/>
        <p:txBody>
          <a:bodyPr/>
          <a:lstStyle/>
          <a:p>
            <a:r>
              <a:rPr lang="en-US" dirty="0">
                <a:latin typeface="Times New Roman" pitchFamily="18" charset="0"/>
                <a:cs typeface="Times New Roman" pitchFamily="18" charset="0"/>
              </a:rPr>
              <a:t>In certain jurisdictions, biocides, are used to prevent mould spoilage e.g. benomyl.</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Other examples include biphenyls and </a:t>
            </a:r>
            <a:r>
              <a:rPr lang="en-US" dirty="0" err="1">
                <a:latin typeface="Times New Roman" pitchFamily="18" charset="0"/>
                <a:cs typeface="Times New Roman" pitchFamily="18" charset="0"/>
              </a:rPr>
              <a:t>captan</a:t>
            </a:r>
            <a:endParaRPr lang="en-US" dirty="0">
              <a:latin typeface="Times New Roman" pitchFamily="18" charset="0"/>
              <a:cs typeface="Times New Roman" pitchFamily="18" charset="0"/>
            </a:endParaRPr>
          </a:p>
          <a:p>
            <a:pPr>
              <a:buNone/>
            </a:pPr>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Reduced temperature and increased </a:t>
            </a:r>
            <a:r>
              <a:rPr lang="en-GB" dirty="0"/>
              <a:t>CO</a:t>
            </a:r>
            <a:r>
              <a:rPr lang="en-GB" baseline="-25000" dirty="0"/>
              <a:t>2</a:t>
            </a:r>
            <a:r>
              <a:rPr lang="en-US" dirty="0">
                <a:latin typeface="Times New Roman" pitchFamily="18" charset="0"/>
                <a:cs typeface="Times New Roman" pitchFamily="18" charset="0"/>
              </a:rPr>
              <a:t> have been found useful in controlling mould spoilage during storage and transport</a:t>
            </a:r>
            <a:r>
              <a:rPr lang="en-US" dirty="0"/>
              <a:t>.</a:t>
            </a:r>
          </a:p>
          <a:p>
            <a:endParaRPr lang="en-GB" dirty="0"/>
          </a:p>
        </p:txBody>
      </p:sp>
    </p:spTree>
    <p:extLst>
      <p:ext uri="{BB962C8B-B14F-4D97-AF65-F5344CB8AC3E}">
        <p14:creationId xmlns:p14="http://schemas.microsoft.com/office/powerpoint/2010/main" val="1939077599"/>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838200"/>
          </a:xfrm>
        </p:spPr>
        <p:txBody>
          <a:bodyPr/>
          <a:lstStyle/>
          <a:p>
            <a:r>
              <a:rPr lang="en-GB" dirty="0">
                <a:latin typeface="Times New Roman" pitchFamily="18" charset="0"/>
                <a:cs typeface="Times New Roman" pitchFamily="18" charset="0"/>
              </a:rPr>
              <a:t>READING ASSIGNMENT</a:t>
            </a:r>
            <a:endParaRPr lang="en-GB" dirty="0"/>
          </a:p>
        </p:txBody>
      </p:sp>
      <p:sp>
        <p:nvSpPr>
          <p:cNvPr id="3" name="Content Placeholder 2"/>
          <p:cNvSpPr>
            <a:spLocks noGrp="1"/>
          </p:cNvSpPr>
          <p:nvPr>
            <p:ph idx="1"/>
          </p:nvPr>
        </p:nvSpPr>
        <p:spPr>
          <a:xfrm>
            <a:off x="457200" y="1295400"/>
            <a:ext cx="8229600" cy="5029200"/>
          </a:xfrm>
        </p:spPr>
        <p:txBody>
          <a:bodyPr/>
          <a:lstStyle/>
          <a:p>
            <a:pPr marL="514350" indent="-514350">
              <a:buFont typeface="+mj-lt"/>
              <a:buAutoNum type="arabicPeriod"/>
            </a:pPr>
            <a:endParaRPr lang="en-GB" dirty="0">
              <a:latin typeface="Times New Roman" pitchFamily="18" charset="0"/>
              <a:cs typeface="Times New Roman" pitchFamily="18" charset="0"/>
            </a:endParaRPr>
          </a:p>
          <a:p>
            <a:pPr marL="514350" indent="-514350">
              <a:buFont typeface="+mj-lt"/>
              <a:buAutoNum type="arabicPeriod"/>
            </a:pPr>
            <a:r>
              <a:rPr lang="en-GB" dirty="0">
                <a:latin typeface="Times New Roman" pitchFamily="18" charset="0"/>
                <a:cs typeface="Times New Roman" pitchFamily="18" charset="0"/>
              </a:rPr>
              <a:t>SUGAR AND SUGAR PRODUCTS</a:t>
            </a:r>
          </a:p>
          <a:p>
            <a:pPr marL="514350" indent="-514350">
              <a:buFont typeface="+mj-lt"/>
              <a:buAutoNum type="arabicPeriod"/>
            </a:pPr>
            <a:r>
              <a:rPr lang="en-GB" dirty="0">
                <a:latin typeface="Times New Roman" pitchFamily="18" charset="0"/>
                <a:cs typeface="Times New Roman" pitchFamily="18" charset="0"/>
              </a:rPr>
              <a:t>CEREAL AND CEREAL PRODUCTS</a:t>
            </a:r>
          </a:p>
          <a:p>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3187378613"/>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62000"/>
          </a:xfrm>
        </p:spPr>
        <p:txBody>
          <a:bodyPr>
            <a:normAutofit fontScale="90000"/>
          </a:bodyPr>
          <a:lstStyle/>
          <a:p>
            <a:r>
              <a:rPr lang="en-GB" dirty="0"/>
              <a:t> </a:t>
            </a:r>
            <a:br>
              <a:rPr lang="en-GB" dirty="0"/>
            </a:br>
            <a:r>
              <a:rPr lang="en-GB" sz="4400" dirty="0">
                <a:latin typeface="Times New Roman" pitchFamily="18" charset="0"/>
                <a:cs typeface="Times New Roman" pitchFamily="18" charset="0"/>
              </a:rPr>
              <a:t>PRESERVATION</a:t>
            </a:r>
          </a:p>
        </p:txBody>
      </p:sp>
      <p:sp>
        <p:nvSpPr>
          <p:cNvPr id="3" name="Content Placeholder 2"/>
          <p:cNvSpPr>
            <a:spLocks noGrp="1"/>
          </p:cNvSpPr>
          <p:nvPr>
            <p:ph idx="1"/>
          </p:nvPr>
        </p:nvSpPr>
        <p:spPr>
          <a:xfrm>
            <a:off x="457200" y="1066800"/>
            <a:ext cx="8229600" cy="5257800"/>
          </a:xfrm>
        </p:spPr>
        <p:txBody>
          <a:bodyPr/>
          <a:lstStyle/>
          <a:p>
            <a:r>
              <a:rPr lang="en-GB" dirty="0">
                <a:latin typeface="Times New Roman" pitchFamily="18" charset="0"/>
                <a:cs typeface="Times New Roman" pitchFamily="18" charset="0"/>
              </a:rPr>
              <a:t>Most of the food consumed by man falls into one of eight main divisions i.e. Cereal and cereal products, Sugar and sugar products, Vegetables, Fruits, Milk and dairy products, Meat and poultry, eggs and sea foods.</a:t>
            </a:r>
          </a:p>
          <a:p>
            <a:r>
              <a:rPr lang="en-GB" dirty="0">
                <a:latin typeface="Times New Roman" pitchFamily="18" charset="0"/>
                <a:cs typeface="Times New Roman" pitchFamily="18" charset="0"/>
              </a:rPr>
              <a:t> All but the first two of these classes of foods are readily decomposed by microorganisms.</a:t>
            </a:r>
          </a:p>
          <a:p>
            <a:r>
              <a:rPr lang="en-GB" dirty="0">
                <a:latin typeface="Times New Roman" pitchFamily="18" charset="0"/>
                <a:cs typeface="Times New Roman" pitchFamily="18" charset="0"/>
              </a:rPr>
              <a:t> Most of them must be stored so as to be available during seasons of shortage and must at times be shipped over considerable distances. </a:t>
            </a:r>
          </a:p>
          <a:p>
            <a:r>
              <a:rPr lang="en-GB" dirty="0">
                <a:latin typeface="Times New Roman" pitchFamily="18" charset="0"/>
                <a:cs typeface="Times New Roman" pitchFamily="18" charset="0"/>
              </a:rPr>
              <a:t>All of these would be impossible without present methods of preservation. </a:t>
            </a:r>
          </a:p>
        </p:txBody>
      </p:sp>
    </p:spTree>
    <p:extLst>
      <p:ext uri="{BB962C8B-B14F-4D97-AF65-F5344CB8AC3E}">
        <p14:creationId xmlns:p14="http://schemas.microsoft.com/office/powerpoint/2010/main" val="2419680568"/>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914400"/>
          </a:xfrm>
        </p:spPr>
        <p:txBody>
          <a:bodyPr/>
          <a:lstStyle/>
          <a:p>
            <a:r>
              <a:rPr lang="en-GB" sz="5400" dirty="0">
                <a:latin typeface="Times New Roman" pitchFamily="18" charset="0"/>
                <a:cs typeface="Times New Roman" pitchFamily="18" charset="0"/>
              </a:rPr>
              <a:t>PRESERVATION</a:t>
            </a:r>
            <a:endParaRPr lang="en-GB" dirty="0"/>
          </a:p>
        </p:txBody>
      </p:sp>
      <p:sp>
        <p:nvSpPr>
          <p:cNvPr id="3" name="Content Placeholder 2"/>
          <p:cNvSpPr>
            <a:spLocks noGrp="1"/>
          </p:cNvSpPr>
          <p:nvPr>
            <p:ph idx="1"/>
          </p:nvPr>
        </p:nvSpPr>
        <p:spPr>
          <a:xfrm>
            <a:off x="457200" y="1143000"/>
            <a:ext cx="8229600" cy="5181600"/>
          </a:xfrm>
        </p:spPr>
        <p:txBody>
          <a:bodyPr>
            <a:normAutofit/>
          </a:bodyPr>
          <a:lstStyle/>
          <a:p>
            <a:r>
              <a:rPr lang="en-GB" dirty="0">
                <a:latin typeface="Times New Roman" pitchFamily="18" charset="0"/>
                <a:cs typeface="Times New Roman" pitchFamily="18" charset="0"/>
              </a:rPr>
              <a:t>The main methods of food preservation include the following:</a:t>
            </a:r>
          </a:p>
          <a:p>
            <a:pPr marL="514350" lvl="0" indent="-514350">
              <a:buFont typeface="+mj-lt"/>
              <a:buAutoNum type="alphaLcParenR"/>
            </a:pPr>
            <a:r>
              <a:rPr lang="en-GB" dirty="0">
                <a:latin typeface="Times New Roman" pitchFamily="18" charset="0"/>
                <a:cs typeface="Times New Roman" pitchFamily="18" charset="0"/>
              </a:rPr>
              <a:t>Asepsis or Aseptic methods</a:t>
            </a:r>
          </a:p>
          <a:p>
            <a:pPr marL="514350" lvl="0" indent="-514350">
              <a:buFont typeface="+mj-lt"/>
              <a:buAutoNum type="alphaLcParenR"/>
            </a:pPr>
            <a:r>
              <a:rPr lang="en-GB" dirty="0">
                <a:latin typeface="Times New Roman" pitchFamily="18" charset="0"/>
                <a:cs typeface="Times New Roman" pitchFamily="18" charset="0"/>
              </a:rPr>
              <a:t>Use of low temperatures (chilling, freezing etc.)</a:t>
            </a:r>
          </a:p>
          <a:p>
            <a:pPr marL="514350" lvl="0" indent="-514350">
              <a:buFont typeface="+mj-lt"/>
              <a:buAutoNum type="alphaLcParenR"/>
            </a:pPr>
            <a:r>
              <a:rPr lang="en-GB" dirty="0">
                <a:latin typeface="Times New Roman" pitchFamily="18" charset="0"/>
                <a:cs typeface="Times New Roman" pitchFamily="18" charset="0"/>
              </a:rPr>
              <a:t>Use of high temperatures (pasteurization, cooking, canning or sterilization)</a:t>
            </a:r>
          </a:p>
          <a:p>
            <a:pPr marL="514350" lvl="0" indent="-514350">
              <a:buFont typeface="+mj-lt"/>
              <a:buAutoNum type="alphaLcParenR"/>
            </a:pPr>
            <a:r>
              <a:rPr lang="en-GB" dirty="0">
                <a:latin typeface="Times New Roman" pitchFamily="18" charset="0"/>
                <a:cs typeface="Times New Roman" pitchFamily="18" charset="0"/>
              </a:rPr>
              <a:t>Drying (freeze drying)</a:t>
            </a:r>
          </a:p>
          <a:p>
            <a:pPr marL="514350" lvl="0" indent="-514350">
              <a:buFont typeface="+mj-lt"/>
              <a:buAutoNum type="alphaLcParenR"/>
            </a:pPr>
            <a:r>
              <a:rPr lang="en-GB" dirty="0">
                <a:latin typeface="Times New Roman" pitchFamily="18" charset="0"/>
                <a:cs typeface="Times New Roman" pitchFamily="18" charset="0"/>
              </a:rPr>
              <a:t>Use of chemical preservatives either developed by microorganisms (fermentation) or added.</a:t>
            </a:r>
          </a:p>
          <a:p>
            <a:pPr marL="514350" lvl="0" indent="-514350">
              <a:buFont typeface="+mj-lt"/>
              <a:buAutoNum type="alphaLcParenR"/>
            </a:pPr>
            <a:r>
              <a:rPr lang="en-GB" dirty="0">
                <a:latin typeface="Times New Roman" pitchFamily="18" charset="0"/>
                <a:cs typeface="Times New Roman" pitchFamily="18" charset="0"/>
              </a:rPr>
              <a:t>Treatment by light waves,  ultrasound, hydrostatic pressure, </a:t>
            </a:r>
            <a:r>
              <a:rPr lang="en-GB" dirty="0" err="1">
                <a:latin typeface="Times New Roman" pitchFamily="18" charset="0"/>
                <a:cs typeface="Times New Roman" pitchFamily="18" charset="0"/>
              </a:rPr>
              <a:t>ohmic</a:t>
            </a:r>
            <a:r>
              <a:rPr lang="en-GB" dirty="0">
                <a:latin typeface="Times New Roman" pitchFamily="18" charset="0"/>
                <a:cs typeface="Times New Roman" pitchFamily="18" charset="0"/>
              </a:rPr>
              <a:t> heating.</a:t>
            </a:r>
          </a:p>
          <a:p>
            <a:pPr marL="514350" indent="-514350">
              <a:buFont typeface="+mj-lt"/>
              <a:buAutoNum type="alphaLcParenR"/>
            </a:pPr>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1193902799"/>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62000"/>
          </a:xfrm>
        </p:spPr>
        <p:txBody>
          <a:bodyPr>
            <a:normAutofit fontScale="90000"/>
          </a:bodyPr>
          <a:lstStyle/>
          <a:p>
            <a:r>
              <a:rPr lang="en-GB" sz="5400" dirty="0">
                <a:latin typeface="Times New Roman" pitchFamily="18" charset="0"/>
                <a:cs typeface="Times New Roman" pitchFamily="18" charset="0"/>
              </a:rPr>
              <a:t>PRESERVATION….</a:t>
            </a:r>
            <a:r>
              <a:rPr lang="en-GB" sz="5400" dirty="0" err="1">
                <a:latin typeface="Times New Roman" pitchFamily="18" charset="0"/>
                <a:cs typeface="Times New Roman" pitchFamily="18" charset="0"/>
              </a:rPr>
              <a:t>contd</a:t>
            </a:r>
            <a:endParaRPr lang="en-GB" dirty="0"/>
          </a:p>
        </p:txBody>
      </p:sp>
      <p:sp>
        <p:nvSpPr>
          <p:cNvPr id="3" name="Content Placeholder 2"/>
          <p:cNvSpPr>
            <a:spLocks noGrp="1"/>
          </p:cNvSpPr>
          <p:nvPr>
            <p:ph idx="1"/>
          </p:nvPr>
        </p:nvSpPr>
        <p:spPr>
          <a:xfrm>
            <a:off x="457200" y="838200"/>
            <a:ext cx="8229600" cy="5486400"/>
          </a:xfrm>
        </p:spPr>
        <p:txBody>
          <a:bodyPr>
            <a:normAutofit/>
          </a:bodyPr>
          <a:lstStyle/>
          <a:p>
            <a:r>
              <a:rPr lang="en-GB" dirty="0"/>
              <a:t>Apart from the 6 above, there can also be the removal of microorganisms by filtration, sedimentation, centrifugation, washing and maintenance of anaerobic conditions. </a:t>
            </a:r>
          </a:p>
          <a:p>
            <a:r>
              <a:rPr lang="en-GB" dirty="0"/>
              <a:t>In the preservation of most foods, more than one of the methods of preservation is used. </a:t>
            </a:r>
          </a:p>
          <a:p>
            <a:r>
              <a:rPr lang="en-GB" dirty="0"/>
              <a:t>The methods of food preservation employ one or more of the ff. principles;</a:t>
            </a:r>
          </a:p>
          <a:p>
            <a:r>
              <a:rPr lang="en-GB" dirty="0"/>
              <a:t>I. </a:t>
            </a:r>
            <a:r>
              <a:rPr lang="en-GB" b="1" dirty="0"/>
              <a:t>Aseptic  </a:t>
            </a:r>
            <a:r>
              <a:rPr lang="en-GB" dirty="0"/>
              <a:t> this prevents the entrance or effect. The removal of undesirable microorganisms, vigorous application of standards of hygiene and cleanliness of processes, utensils and the surrounding environment greatly reduces the premature spoilage of foods</a:t>
            </a:r>
          </a:p>
        </p:txBody>
      </p:sp>
    </p:spTree>
    <p:extLst>
      <p:ext uri="{BB962C8B-B14F-4D97-AF65-F5344CB8AC3E}">
        <p14:creationId xmlns:p14="http://schemas.microsoft.com/office/powerpoint/2010/main" val="1214812088"/>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
            <a:ext cx="8229600" cy="838200"/>
          </a:xfrm>
        </p:spPr>
        <p:txBody>
          <a:bodyPr/>
          <a:lstStyle/>
          <a:p>
            <a:r>
              <a:rPr lang="en-GB" sz="4800" dirty="0">
                <a:latin typeface="Times New Roman" pitchFamily="18" charset="0"/>
                <a:cs typeface="Times New Roman" pitchFamily="18" charset="0"/>
              </a:rPr>
              <a:t>PRESERVATION….</a:t>
            </a:r>
            <a:r>
              <a:rPr lang="en-GB" sz="4800" dirty="0" err="1">
                <a:latin typeface="Times New Roman" pitchFamily="18" charset="0"/>
                <a:cs typeface="Times New Roman" pitchFamily="18" charset="0"/>
              </a:rPr>
              <a:t>contd</a:t>
            </a:r>
            <a:endParaRPr lang="en-GB" dirty="0"/>
          </a:p>
        </p:txBody>
      </p:sp>
      <p:sp>
        <p:nvSpPr>
          <p:cNvPr id="3" name="Content Placeholder 2"/>
          <p:cNvSpPr>
            <a:spLocks noGrp="1"/>
          </p:cNvSpPr>
          <p:nvPr>
            <p:ph idx="1"/>
          </p:nvPr>
        </p:nvSpPr>
        <p:spPr>
          <a:xfrm>
            <a:off x="457200" y="1066800"/>
            <a:ext cx="8229600" cy="5257800"/>
          </a:xfrm>
        </p:spPr>
        <p:txBody>
          <a:bodyPr>
            <a:normAutofit/>
          </a:bodyPr>
          <a:lstStyle/>
          <a:p>
            <a:pPr lvl="0"/>
            <a:r>
              <a:rPr lang="en-GB" dirty="0">
                <a:latin typeface="Times New Roman" pitchFamily="18" charset="0"/>
                <a:cs typeface="Times New Roman" pitchFamily="18" charset="0"/>
              </a:rPr>
              <a:t>II. </a:t>
            </a:r>
            <a:r>
              <a:rPr lang="en-GB" b="1" dirty="0">
                <a:latin typeface="Times New Roman" pitchFamily="18" charset="0"/>
                <a:cs typeface="Times New Roman" pitchFamily="18" charset="0"/>
              </a:rPr>
              <a:t>Bacteriostatic or </a:t>
            </a:r>
            <a:r>
              <a:rPr lang="en-GB" b="1" dirty="0" err="1">
                <a:latin typeface="Times New Roman" pitchFamily="18" charset="0"/>
                <a:cs typeface="Times New Roman" pitchFamily="18" charset="0"/>
              </a:rPr>
              <a:t>microbistatic</a:t>
            </a:r>
            <a:r>
              <a:rPr lang="en-GB" dirty="0">
                <a:latin typeface="Times New Roman" pitchFamily="18" charset="0"/>
                <a:cs typeface="Times New Roman" pitchFamily="18" charset="0"/>
              </a:rPr>
              <a:t>: this is the ability to inhibit the growth and reproduction of at least some type of microorganism or bacteria. </a:t>
            </a:r>
          </a:p>
          <a:p>
            <a:pPr lvl="0"/>
            <a:r>
              <a:rPr lang="en-GB" dirty="0">
                <a:latin typeface="Times New Roman" pitchFamily="18" charset="0"/>
                <a:cs typeface="Times New Roman" pitchFamily="18" charset="0"/>
              </a:rPr>
              <a:t>This method includes freezing, drying, refrigeration at temperatures slightly above freezing, various types of salting, smoking, the use of antibiotics, chemical preservatives such as organic acid.</a:t>
            </a:r>
          </a:p>
          <a:p>
            <a:pPr lvl="0"/>
            <a:r>
              <a:rPr lang="en-GB" dirty="0">
                <a:latin typeface="Times New Roman" pitchFamily="18" charset="0"/>
                <a:cs typeface="Times New Roman" pitchFamily="18" charset="0"/>
              </a:rPr>
              <a:t>III</a:t>
            </a:r>
            <a:r>
              <a:rPr lang="en-GB" b="1" dirty="0">
                <a:latin typeface="Times New Roman" pitchFamily="18" charset="0"/>
                <a:cs typeface="Times New Roman" pitchFamily="18" charset="0"/>
              </a:rPr>
              <a:t>. </a:t>
            </a:r>
            <a:r>
              <a:rPr lang="en-GB" b="1" dirty="0" err="1">
                <a:latin typeface="Times New Roman" pitchFamily="18" charset="0"/>
                <a:cs typeface="Times New Roman" pitchFamily="18" charset="0"/>
              </a:rPr>
              <a:t>Bacteriocidal</a:t>
            </a:r>
            <a:r>
              <a:rPr lang="en-GB" b="1" dirty="0">
                <a:latin typeface="Times New Roman" pitchFamily="18" charset="0"/>
                <a:cs typeface="Times New Roman" pitchFamily="18" charset="0"/>
              </a:rPr>
              <a:t> or </a:t>
            </a:r>
            <a:r>
              <a:rPr lang="en-GB" b="1" dirty="0" err="1">
                <a:latin typeface="Times New Roman" pitchFamily="18" charset="0"/>
                <a:cs typeface="Times New Roman" pitchFamily="18" charset="0"/>
              </a:rPr>
              <a:t>microbicidal</a:t>
            </a:r>
            <a:r>
              <a:rPr lang="en-GB" b="1" dirty="0">
                <a:latin typeface="Times New Roman" pitchFamily="18" charset="0"/>
                <a:cs typeface="Times New Roman" pitchFamily="18" charset="0"/>
              </a:rPr>
              <a:t> (sterilization method): </a:t>
            </a:r>
            <a:r>
              <a:rPr lang="en-GB" dirty="0">
                <a:latin typeface="Times New Roman" pitchFamily="18" charset="0"/>
                <a:cs typeface="Times New Roman" pitchFamily="18" charset="0"/>
              </a:rPr>
              <a:t>this principle is able to kill at least some types of microorganisms or bacteria. </a:t>
            </a:r>
          </a:p>
          <a:p>
            <a:pPr lvl="0"/>
            <a:r>
              <a:rPr lang="en-GB" dirty="0">
                <a:latin typeface="Times New Roman" pitchFamily="18" charset="0"/>
                <a:cs typeface="Times New Roman" pitchFamily="18" charset="0"/>
              </a:rPr>
              <a:t>Some of the methods include UV light, sound waves, high pressure etc.</a:t>
            </a:r>
          </a:p>
          <a:p>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1801595880"/>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685800"/>
          </a:xfrm>
        </p:spPr>
        <p:txBody>
          <a:bodyPr>
            <a:normAutofit fontScale="90000"/>
          </a:bodyPr>
          <a:lstStyle/>
          <a:p>
            <a:r>
              <a:rPr lang="en-GB" sz="4800" dirty="0">
                <a:latin typeface="Times New Roman" pitchFamily="18" charset="0"/>
                <a:cs typeface="Times New Roman" pitchFamily="18" charset="0"/>
              </a:rPr>
              <a:t>PRESERVATION….</a:t>
            </a:r>
            <a:r>
              <a:rPr lang="en-GB" sz="4800" dirty="0" err="1">
                <a:latin typeface="Times New Roman" pitchFamily="18" charset="0"/>
                <a:cs typeface="Times New Roman" pitchFamily="18" charset="0"/>
              </a:rPr>
              <a:t>contd</a:t>
            </a:r>
            <a:endParaRPr lang="en-US" dirty="0"/>
          </a:p>
        </p:txBody>
      </p:sp>
      <p:sp>
        <p:nvSpPr>
          <p:cNvPr id="3" name="Content Placeholder 2"/>
          <p:cNvSpPr>
            <a:spLocks noGrp="1"/>
          </p:cNvSpPr>
          <p:nvPr>
            <p:ph idx="1"/>
          </p:nvPr>
        </p:nvSpPr>
        <p:spPr>
          <a:xfrm>
            <a:off x="228600" y="762000"/>
            <a:ext cx="8534400" cy="5715000"/>
          </a:xfrm>
        </p:spPr>
        <p:txBody>
          <a:bodyPr>
            <a:normAutofit/>
          </a:bodyPr>
          <a:lstStyle/>
          <a:p>
            <a:r>
              <a:rPr lang="en-GB" dirty="0">
                <a:latin typeface="Times New Roman" pitchFamily="18" charset="0"/>
                <a:cs typeface="Times New Roman" pitchFamily="18" charset="0"/>
              </a:rPr>
              <a:t>Most of the preservative methods are directed towards the control of microorganisms, auto-decomposition or self-destruction of food is often disregarded. </a:t>
            </a:r>
          </a:p>
          <a:p>
            <a:r>
              <a:rPr lang="en-GB" dirty="0">
                <a:latin typeface="Times New Roman" pitchFamily="18" charset="0"/>
                <a:cs typeface="Times New Roman" pitchFamily="18" charset="0"/>
              </a:rPr>
              <a:t>Fortunately most methods of control against microorganisms are also effective against the enzymes of plants and animal cells. </a:t>
            </a:r>
          </a:p>
          <a:p>
            <a:r>
              <a:rPr lang="en-GB" dirty="0">
                <a:latin typeface="Times New Roman" pitchFamily="18" charset="0"/>
                <a:cs typeface="Times New Roman" pitchFamily="18" charset="0"/>
              </a:rPr>
              <a:t>In the preservation of some foods, special procedures must be used to ensure the inactivation of these enzymes e.g. in the preservation of vegetables by freezing, they are blanched or exposed to hot water or steam for a short time before the freezing process.</a:t>
            </a:r>
          </a:p>
          <a:p>
            <a:r>
              <a:rPr lang="en-GB" dirty="0">
                <a:latin typeface="Times New Roman" pitchFamily="18" charset="0"/>
                <a:cs typeface="Times New Roman" pitchFamily="18" charset="0"/>
              </a:rPr>
              <a:t>This is to inactivate the plant enzymes which would continue to act although slowly at low temperatures.</a:t>
            </a:r>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146206284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458200" cy="762000"/>
          </a:xfrm>
        </p:spPr>
        <p:txBody>
          <a:bodyPr>
            <a:normAutofit fontScale="90000"/>
          </a:bodyPr>
          <a:lstStyle/>
          <a:p>
            <a:pPr lvl="0"/>
            <a:r>
              <a:rPr lang="en-US" dirty="0"/>
              <a:t/>
            </a:r>
            <a:br>
              <a:rPr lang="en-US" dirty="0"/>
            </a:br>
            <a:r>
              <a:rPr lang="en-GB" dirty="0"/>
              <a:t>Asepsis Method</a:t>
            </a:r>
            <a:endParaRPr lang="en-US" dirty="0"/>
          </a:p>
        </p:txBody>
      </p:sp>
      <p:sp>
        <p:nvSpPr>
          <p:cNvPr id="3" name="Content Placeholder 2"/>
          <p:cNvSpPr>
            <a:spLocks noGrp="1"/>
          </p:cNvSpPr>
          <p:nvPr>
            <p:ph idx="1"/>
          </p:nvPr>
        </p:nvSpPr>
        <p:spPr>
          <a:xfrm>
            <a:off x="457200" y="1066800"/>
            <a:ext cx="8229600" cy="5257800"/>
          </a:xfrm>
        </p:spPr>
        <p:txBody>
          <a:bodyPr/>
          <a:lstStyle/>
          <a:p>
            <a:r>
              <a:rPr lang="en-GB" dirty="0">
                <a:latin typeface="Times New Roman" pitchFamily="18" charset="0"/>
                <a:cs typeface="Times New Roman" pitchFamily="18" charset="0"/>
              </a:rPr>
              <a:t>Many examples of this method (keeping out microorganisms) are found in nature.</a:t>
            </a:r>
          </a:p>
          <a:p>
            <a:r>
              <a:rPr lang="en-GB" dirty="0">
                <a:latin typeface="Times New Roman" pitchFamily="18" charset="0"/>
                <a:cs typeface="Times New Roman" pitchFamily="18" charset="0"/>
              </a:rPr>
              <a:t> Few or no living organisms are present in the interior of healthy plant or animal tissue, and in most cases, this tissue is protected by a more or less semipermeable skin, husk or  more or less a cover of some sort which prevents the entrance of microorganisms.</a:t>
            </a:r>
          </a:p>
          <a:p>
            <a:r>
              <a:rPr lang="en-GB" dirty="0">
                <a:latin typeface="Times New Roman" pitchFamily="18" charset="0"/>
                <a:cs typeface="Times New Roman" pitchFamily="18" charset="0"/>
              </a:rPr>
              <a:t> Thus, the orange is protected by its skin; the egg shell keeps microorganisms from the interior of the egg and functions effectively as a protection as long as it is dry</a:t>
            </a:r>
          </a:p>
          <a:p>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5983113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838200"/>
          </a:xfrm>
        </p:spPr>
        <p:txBody>
          <a:bodyPr/>
          <a:lstStyle/>
          <a:p>
            <a:r>
              <a:rPr lang="en-GB" dirty="0"/>
              <a:t>Asepsis Method….</a:t>
            </a:r>
            <a:r>
              <a:rPr lang="en-GB" dirty="0" err="1"/>
              <a:t>contd</a:t>
            </a:r>
            <a:endParaRPr lang="en-US" dirty="0"/>
          </a:p>
        </p:txBody>
      </p:sp>
      <p:sp>
        <p:nvSpPr>
          <p:cNvPr id="3" name="Content Placeholder 2"/>
          <p:cNvSpPr>
            <a:spLocks noGrp="1"/>
          </p:cNvSpPr>
          <p:nvPr>
            <p:ph idx="1"/>
          </p:nvPr>
        </p:nvSpPr>
        <p:spPr>
          <a:xfrm>
            <a:off x="457200" y="1524000"/>
            <a:ext cx="8229600" cy="4800600"/>
          </a:xfrm>
        </p:spPr>
        <p:txBody>
          <a:bodyPr/>
          <a:lstStyle/>
          <a:p>
            <a:r>
              <a:rPr lang="en-GB" dirty="0">
                <a:latin typeface="Times New Roman" pitchFamily="18" charset="0"/>
                <a:cs typeface="Times New Roman" pitchFamily="18" charset="0"/>
              </a:rPr>
              <a:t>Food technologists try to use aseptic methods in the handling of many kinds of foods with the objective of entirely preventing the entrance of spoilage microorganism or of reducing their numbers or cutting the load.</a:t>
            </a:r>
          </a:p>
          <a:p>
            <a:r>
              <a:rPr lang="en-GB" dirty="0">
                <a:latin typeface="Times New Roman" pitchFamily="18" charset="0"/>
                <a:cs typeface="Times New Roman" pitchFamily="18" charset="0"/>
              </a:rPr>
              <a:t>The fewer the microorganisms or the lighter the load, the less readily the food will spoil and the better the methods of food preservation will function.</a:t>
            </a:r>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74368987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62000"/>
          </a:xfrm>
        </p:spPr>
        <p:txBody>
          <a:bodyPr>
            <a:normAutofit fontScale="90000"/>
          </a:bodyPr>
          <a:lstStyle/>
          <a:p>
            <a:pPr lvl="0"/>
            <a:r>
              <a:rPr lang="en-US" dirty="0"/>
              <a:t/>
            </a:r>
            <a:br>
              <a:rPr lang="en-US" dirty="0"/>
            </a:br>
            <a:r>
              <a:rPr lang="en-GB" dirty="0"/>
              <a:t>Low Temperatures</a:t>
            </a:r>
            <a:endParaRPr lang="en-US" dirty="0"/>
          </a:p>
        </p:txBody>
      </p:sp>
      <p:sp>
        <p:nvSpPr>
          <p:cNvPr id="3" name="Content Placeholder 2"/>
          <p:cNvSpPr>
            <a:spLocks noGrp="1"/>
          </p:cNvSpPr>
          <p:nvPr>
            <p:ph idx="1"/>
          </p:nvPr>
        </p:nvSpPr>
        <p:spPr>
          <a:xfrm>
            <a:off x="457200" y="1066800"/>
            <a:ext cx="8229600" cy="5257800"/>
          </a:xfrm>
        </p:spPr>
        <p:txBody>
          <a:bodyPr/>
          <a:lstStyle/>
          <a:p>
            <a:r>
              <a:rPr lang="en-GB" dirty="0">
                <a:latin typeface="Times New Roman" pitchFamily="18" charset="0"/>
                <a:cs typeface="Times New Roman" pitchFamily="18" charset="0"/>
              </a:rPr>
              <a:t> It is believed that, the use of low temperatures is the ideal method of food preservation.</a:t>
            </a:r>
          </a:p>
          <a:p>
            <a:r>
              <a:rPr lang="en-GB" dirty="0">
                <a:latin typeface="Times New Roman" pitchFamily="18" charset="0"/>
                <a:cs typeface="Times New Roman" pitchFamily="18" charset="0"/>
              </a:rPr>
              <a:t> If the temperatures are not below the freezing point, the foods can be kept for a limited time in the condition very much like that of the fresh foods.</a:t>
            </a:r>
          </a:p>
          <a:p>
            <a:r>
              <a:rPr lang="en-GB" dirty="0">
                <a:latin typeface="Times New Roman" pitchFamily="18" charset="0"/>
                <a:cs typeface="Times New Roman" pitchFamily="18" charset="0"/>
              </a:rPr>
              <a:t> Temperature is one of the controlling factors in the growth and activity of microorganisms and in the action of inherent enzymes in plant or animal tissues.</a:t>
            </a:r>
          </a:p>
          <a:p>
            <a:r>
              <a:rPr lang="en-GB" dirty="0">
                <a:latin typeface="Times New Roman" pitchFamily="18" charset="0"/>
                <a:cs typeface="Times New Roman" pitchFamily="18" charset="0"/>
              </a:rPr>
              <a:t> The basis for the use of low temperatures is that it slows down the action of microorganisms and a drop in temperature may practically cease enzymatic action.</a:t>
            </a:r>
            <a:endParaRPr lang="en-US" dirty="0">
              <a:latin typeface="Times New Roman" pitchFamily="18" charset="0"/>
              <a:cs typeface="Times New Roman" pitchFamily="18" charset="0"/>
            </a:endParaRPr>
          </a:p>
          <a:p>
            <a:pPr marL="0" indent="0">
              <a:buNone/>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147137631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14400"/>
          </a:xfrm>
        </p:spPr>
        <p:txBody>
          <a:bodyPr/>
          <a:lstStyle/>
          <a:p>
            <a:r>
              <a:rPr lang="en-GB" dirty="0">
                <a:latin typeface="Times New Roman" pitchFamily="18" charset="0"/>
                <a:cs typeface="Times New Roman" pitchFamily="18" charset="0"/>
              </a:rPr>
              <a:t>Low Temperatures….</a:t>
            </a:r>
            <a:r>
              <a:rPr lang="en-GB" dirty="0" err="1">
                <a:latin typeface="Times New Roman" pitchFamily="18" charset="0"/>
                <a:cs typeface="Times New Roman" pitchFamily="18" charset="0"/>
              </a:rPr>
              <a:t>contd</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457200" y="990600"/>
            <a:ext cx="8229600" cy="5334000"/>
          </a:xfrm>
        </p:spPr>
        <p:txBody>
          <a:bodyPr/>
          <a:lstStyle/>
          <a:p>
            <a:pPr lvl="0"/>
            <a:r>
              <a:rPr lang="en-US" dirty="0">
                <a:latin typeface="Times New Roman" pitchFamily="18" charset="0"/>
                <a:cs typeface="Times New Roman" pitchFamily="18" charset="0"/>
              </a:rPr>
              <a:t>I. </a:t>
            </a:r>
            <a:r>
              <a:rPr lang="en-GB" b="1" dirty="0">
                <a:latin typeface="Times New Roman" pitchFamily="18" charset="0"/>
                <a:cs typeface="Times New Roman" pitchFamily="18" charset="0"/>
              </a:rPr>
              <a:t>Common or cellar storage</a:t>
            </a:r>
            <a:r>
              <a:rPr lang="en-GB" dirty="0">
                <a:latin typeface="Times New Roman" pitchFamily="18" charset="0"/>
                <a:cs typeface="Times New Roman" pitchFamily="18" charset="0"/>
              </a:rPr>
              <a:t>: temperatures in common or cellar storage are not much below that of the outside air and are not low enough to prevent the action of many storage organisms or the action of many plant and animal enzymes. </a:t>
            </a:r>
          </a:p>
          <a:p>
            <a:pPr lvl="0"/>
            <a:r>
              <a:rPr lang="en-GB" dirty="0">
                <a:latin typeface="Times New Roman" pitchFamily="18" charset="0"/>
                <a:cs typeface="Times New Roman" pitchFamily="18" charset="0"/>
              </a:rPr>
              <a:t>Root crops, potatoes and similar foods can be stored for limited periods. </a:t>
            </a:r>
          </a:p>
          <a:p>
            <a:pPr lvl="0"/>
            <a:r>
              <a:rPr lang="en-GB" dirty="0">
                <a:latin typeface="Times New Roman" pitchFamily="18" charset="0"/>
                <a:cs typeface="Times New Roman" pitchFamily="18" charset="0"/>
              </a:rPr>
              <a:t>Too low a humidity in the storage cellar may cause excessive loss of moisture from the stored product whiles high humidity favours spoilage by microorganisms.</a:t>
            </a:r>
          </a:p>
          <a:p>
            <a:pPr lvl="0"/>
            <a:r>
              <a:rPr lang="en-GB" dirty="0">
                <a:latin typeface="Times New Roman" pitchFamily="18" charset="0"/>
                <a:cs typeface="Times New Roman" pitchFamily="18" charset="0"/>
              </a:rPr>
              <a:t> A drop in temperature generally extends or prolongs the generation time of microorganisms.</a:t>
            </a:r>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145804131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90600"/>
          </a:xfrm>
        </p:spPr>
        <p:txBody>
          <a:bodyPr/>
          <a:lstStyle/>
          <a:p>
            <a:r>
              <a:rPr lang="en-GB" dirty="0"/>
              <a:t>Low Temperatures</a:t>
            </a:r>
            <a:endParaRPr lang="en-US" dirty="0"/>
          </a:p>
        </p:txBody>
      </p:sp>
      <p:sp>
        <p:nvSpPr>
          <p:cNvPr id="3" name="Content Placeholder 2"/>
          <p:cNvSpPr>
            <a:spLocks noGrp="1"/>
          </p:cNvSpPr>
          <p:nvPr>
            <p:ph idx="1"/>
          </p:nvPr>
        </p:nvSpPr>
        <p:spPr>
          <a:xfrm>
            <a:off x="228600" y="1066800"/>
            <a:ext cx="8686800" cy="5257800"/>
          </a:xfrm>
        </p:spPr>
        <p:txBody>
          <a:bodyPr>
            <a:normAutofit lnSpcReduction="10000"/>
          </a:bodyPr>
          <a:lstStyle/>
          <a:p>
            <a:pPr lvl="0"/>
            <a:r>
              <a:rPr lang="en-GB" dirty="0" err="1">
                <a:latin typeface="Times New Roman" pitchFamily="18" charset="0"/>
                <a:cs typeface="Times New Roman" pitchFamily="18" charset="0"/>
              </a:rPr>
              <a:t>II.</a:t>
            </a:r>
            <a:r>
              <a:rPr lang="en-GB" b="1" dirty="0" err="1">
                <a:latin typeface="Times New Roman" pitchFamily="18" charset="0"/>
                <a:cs typeface="Times New Roman" pitchFamily="18" charset="0"/>
              </a:rPr>
              <a:t>Chilling</a:t>
            </a:r>
            <a:r>
              <a:rPr lang="en-GB" dirty="0">
                <a:latin typeface="Times New Roman" pitchFamily="18" charset="0"/>
                <a:cs typeface="Times New Roman" pitchFamily="18" charset="0"/>
              </a:rPr>
              <a:t>: the term means storage at temperatures near but above the freezing point of the commodity. </a:t>
            </a:r>
          </a:p>
          <a:p>
            <a:pPr lvl="0"/>
            <a:r>
              <a:rPr lang="en-GB" dirty="0">
                <a:latin typeface="Times New Roman" pitchFamily="18" charset="0"/>
                <a:cs typeface="Times New Roman" pitchFamily="18" charset="0"/>
              </a:rPr>
              <a:t>These low temperatures are obtained and maintained by means of ice or mechanical refrigeration. Eggs, dairy products, meat and sea foods are stored in this way. </a:t>
            </a:r>
          </a:p>
          <a:p>
            <a:pPr lvl="0"/>
            <a:r>
              <a:rPr lang="en-GB" dirty="0">
                <a:latin typeface="Times New Roman" pitchFamily="18" charset="0"/>
                <a:cs typeface="Times New Roman" pitchFamily="18" charset="0"/>
              </a:rPr>
              <a:t>Chilling is affected by temperature, relative humidity and ventilation. Low temperature exerts a selective effect preventing the growth of mesophiles and leading to a microflora dominated by </a:t>
            </a:r>
            <a:r>
              <a:rPr lang="en-GB" dirty="0" err="1">
                <a:latin typeface="Times New Roman" pitchFamily="18" charset="0"/>
                <a:cs typeface="Times New Roman" pitchFamily="18" charset="0"/>
              </a:rPr>
              <a:t>psychrotrophs</a:t>
            </a:r>
            <a:r>
              <a:rPr lang="en-GB" dirty="0">
                <a:latin typeface="Times New Roman" pitchFamily="18" charset="0"/>
                <a:cs typeface="Times New Roman" pitchFamily="18" charset="0"/>
              </a:rPr>
              <a:t>. </a:t>
            </a:r>
          </a:p>
          <a:p>
            <a:pPr lvl="0"/>
            <a:r>
              <a:rPr lang="en-GB" dirty="0">
                <a:latin typeface="Times New Roman" pitchFamily="18" charset="0"/>
                <a:cs typeface="Times New Roman" pitchFamily="18" charset="0"/>
              </a:rPr>
              <a:t>Some foods are not suitable for chilled storage as they suffer from cold injury; where a low temperature results in tissue breakdown which leads to visual defects.</a:t>
            </a:r>
          </a:p>
          <a:p>
            <a:pPr lvl="0"/>
            <a:r>
              <a:rPr lang="en-GB" dirty="0">
                <a:latin typeface="Times New Roman" pitchFamily="18" charset="0"/>
                <a:cs typeface="Times New Roman" pitchFamily="18" charset="0"/>
              </a:rPr>
              <a:t> Tropical fruits are susceptible to this form of damage.</a:t>
            </a:r>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269925650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990600"/>
          </a:xfrm>
        </p:spPr>
        <p:txBody>
          <a:bodyPr/>
          <a:lstStyle/>
          <a:p>
            <a:r>
              <a:rPr lang="en-GB" dirty="0"/>
              <a:t>Low Temperatures….</a:t>
            </a:r>
            <a:r>
              <a:rPr lang="en-GB" dirty="0" err="1"/>
              <a:t>contd</a:t>
            </a:r>
            <a:endParaRPr lang="en-US" dirty="0"/>
          </a:p>
        </p:txBody>
      </p:sp>
      <p:sp>
        <p:nvSpPr>
          <p:cNvPr id="3" name="Content Placeholder 2"/>
          <p:cNvSpPr>
            <a:spLocks noGrp="1"/>
          </p:cNvSpPr>
          <p:nvPr>
            <p:ph idx="1"/>
          </p:nvPr>
        </p:nvSpPr>
        <p:spPr>
          <a:xfrm>
            <a:off x="457200" y="1371600"/>
            <a:ext cx="8229600" cy="4953000"/>
          </a:xfrm>
        </p:spPr>
        <p:txBody>
          <a:bodyPr>
            <a:normAutofit fontScale="92500" lnSpcReduction="10000"/>
          </a:bodyPr>
          <a:lstStyle/>
          <a:p>
            <a:r>
              <a:rPr lang="en-GB" b="1" dirty="0">
                <a:latin typeface="Times New Roman" pitchFamily="18" charset="0"/>
                <a:cs typeface="Times New Roman" pitchFamily="18" charset="0"/>
              </a:rPr>
              <a:t>Cold storage/freezing</a:t>
            </a:r>
            <a:r>
              <a:rPr lang="en-GB" dirty="0">
                <a:latin typeface="Times New Roman" pitchFamily="18" charset="0"/>
                <a:cs typeface="Times New Roman" pitchFamily="18" charset="0"/>
              </a:rPr>
              <a:t>: this involves the freezing of the food products and storage in the frozen condition. </a:t>
            </a:r>
          </a:p>
          <a:p>
            <a:r>
              <a:rPr lang="en-GB" dirty="0">
                <a:latin typeface="Times New Roman" pitchFamily="18" charset="0"/>
                <a:cs typeface="Times New Roman" pitchFamily="18" charset="0"/>
              </a:rPr>
              <a:t>The use of frozen foods has increased in recent years mainly because of the introduction of mechanical refrigeration and especially the new quick freezing processes; in which low temperatures and special methods are used so that the products are frozen very rapidly.</a:t>
            </a:r>
          </a:p>
          <a:p>
            <a:r>
              <a:rPr lang="en-GB" dirty="0">
                <a:latin typeface="Times New Roman" pitchFamily="18" charset="0"/>
                <a:cs typeface="Times New Roman" pitchFamily="18" charset="0"/>
              </a:rPr>
              <a:t> Less change in the physical and chemical properties take place with quick freezing than with ordinary slow freezing methods and foods can be preserved for long periods.</a:t>
            </a:r>
          </a:p>
          <a:p>
            <a:r>
              <a:rPr lang="en-GB" dirty="0">
                <a:latin typeface="Times New Roman" pitchFamily="18" charset="0"/>
                <a:cs typeface="Times New Roman" pitchFamily="18" charset="0"/>
              </a:rPr>
              <a:t> Foods begin to freeze a little below zero depending on the food type, and the freezing point is normally lower than that of pure water due to the presence of solutes.</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87240181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
            <a:ext cx="8229600" cy="762000"/>
          </a:xfrm>
        </p:spPr>
        <p:txBody>
          <a:bodyPr>
            <a:normAutofit fontScale="90000"/>
          </a:bodyPr>
          <a:lstStyle/>
          <a:p>
            <a:r>
              <a:rPr lang="en-GB" dirty="0"/>
              <a:t>Low Temperatures….contd.</a:t>
            </a:r>
            <a:endParaRPr lang="en-US" dirty="0"/>
          </a:p>
        </p:txBody>
      </p:sp>
      <p:sp>
        <p:nvSpPr>
          <p:cNvPr id="3" name="Content Placeholder 2"/>
          <p:cNvSpPr>
            <a:spLocks noGrp="1"/>
          </p:cNvSpPr>
          <p:nvPr>
            <p:ph idx="1"/>
          </p:nvPr>
        </p:nvSpPr>
        <p:spPr>
          <a:xfrm>
            <a:off x="457200" y="990600"/>
            <a:ext cx="8229600" cy="5334000"/>
          </a:xfrm>
        </p:spPr>
        <p:txBody>
          <a:bodyPr>
            <a:normAutofit lnSpcReduction="10000"/>
          </a:bodyPr>
          <a:lstStyle/>
          <a:p>
            <a:r>
              <a:rPr lang="en-GB" dirty="0">
                <a:latin typeface="Times New Roman" pitchFamily="18" charset="0"/>
                <a:cs typeface="Times New Roman" pitchFamily="18" charset="0"/>
              </a:rPr>
              <a:t>Temperatures used in frozen storage are generally less than -18 and no microbial growth is possible.</a:t>
            </a:r>
          </a:p>
          <a:p>
            <a:r>
              <a:rPr lang="en-GB" dirty="0">
                <a:latin typeface="Times New Roman" pitchFamily="18" charset="0"/>
                <a:cs typeface="Times New Roman" pitchFamily="18" charset="0"/>
              </a:rPr>
              <a:t> Although residual microbial or endogenous enzyme activity such as lipase can persist and eventually spoil the product.</a:t>
            </a:r>
          </a:p>
          <a:p>
            <a:r>
              <a:rPr lang="en-GB" dirty="0">
                <a:latin typeface="Times New Roman" pitchFamily="18" charset="0"/>
                <a:cs typeface="Times New Roman" pitchFamily="18" charset="0"/>
              </a:rPr>
              <a:t> This is reduced in fruit and vegetable storage by blanching before freezing to inactivate endogenous polyphenol oxidases which will otherwise cause the product to discolour during storage.</a:t>
            </a:r>
          </a:p>
          <a:p>
            <a:r>
              <a:rPr lang="en-GB" dirty="0">
                <a:latin typeface="Times New Roman" pitchFamily="18" charset="0"/>
                <a:cs typeface="Times New Roman" pitchFamily="18" charset="0"/>
              </a:rPr>
              <a:t> Bacterial spores are virtually unaffected by freezing, most vegetative gram positive bacteria are relatively resistant and gram negative shows the greatest sensitivity to freezing. </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68065344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8229600" cy="1066800"/>
          </a:xfrm>
        </p:spPr>
        <p:txBody>
          <a:bodyPr/>
          <a:lstStyle/>
          <a:p>
            <a:r>
              <a:rPr lang="en-GB" dirty="0"/>
              <a:t>Low Temperatures….</a:t>
            </a:r>
            <a:r>
              <a:rPr lang="en-GB" dirty="0" err="1"/>
              <a:t>contd</a:t>
            </a:r>
            <a:endParaRPr lang="en-US" dirty="0"/>
          </a:p>
        </p:txBody>
      </p:sp>
      <p:sp>
        <p:nvSpPr>
          <p:cNvPr id="3" name="Content Placeholder 2"/>
          <p:cNvSpPr>
            <a:spLocks noGrp="1"/>
          </p:cNvSpPr>
          <p:nvPr>
            <p:ph idx="1"/>
          </p:nvPr>
        </p:nvSpPr>
        <p:spPr>
          <a:xfrm>
            <a:off x="457200" y="1524000"/>
            <a:ext cx="8229600" cy="4800600"/>
          </a:xfrm>
        </p:spPr>
        <p:txBody>
          <a:bodyPr/>
          <a:lstStyle/>
          <a:p>
            <a:pPr lvl="0"/>
            <a:r>
              <a:rPr lang="en-GB" dirty="0">
                <a:latin typeface="Times New Roman" pitchFamily="18" charset="0"/>
                <a:cs typeface="Times New Roman" pitchFamily="18" charset="0"/>
              </a:rPr>
              <a:t>While frozen storage reliably inactivate higher organisms such as pathogenic protozoans and parasitic worms, food materials often act as </a:t>
            </a:r>
            <a:r>
              <a:rPr lang="en-GB" dirty="0" err="1">
                <a:latin typeface="Times New Roman" pitchFamily="18" charset="0"/>
                <a:cs typeface="Times New Roman" pitchFamily="18" charset="0"/>
              </a:rPr>
              <a:t>cryoprotectants</a:t>
            </a:r>
            <a:r>
              <a:rPr lang="en-GB" dirty="0">
                <a:latin typeface="Times New Roman" pitchFamily="18" charset="0"/>
                <a:cs typeface="Times New Roman" pitchFamily="18" charset="0"/>
              </a:rPr>
              <a:t> (cold protectants) for bacteria so that bacterial pathogens may survive for long periods in the frozen state.</a:t>
            </a:r>
          </a:p>
          <a:p>
            <a:pPr lvl="0"/>
            <a:r>
              <a:rPr lang="en-GB" dirty="0">
                <a:latin typeface="Times New Roman" pitchFamily="18" charset="0"/>
                <a:cs typeface="Times New Roman" pitchFamily="18" charset="0"/>
              </a:rPr>
              <a:t> An extreme example was the isolation of </a:t>
            </a:r>
            <a:r>
              <a:rPr lang="en-GB" i="1" dirty="0">
                <a:latin typeface="Times New Roman" pitchFamily="18" charset="0"/>
                <a:cs typeface="Times New Roman" pitchFamily="18" charset="0"/>
              </a:rPr>
              <a:t>Salmonella</a:t>
            </a:r>
            <a:r>
              <a:rPr lang="en-GB" dirty="0">
                <a:latin typeface="Times New Roman" pitchFamily="18" charset="0"/>
                <a:cs typeface="Times New Roman" pitchFamily="18" charset="0"/>
              </a:rPr>
              <a:t> from ice cream stored at -23⁰C for 7 years. </a:t>
            </a:r>
          </a:p>
          <a:p>
            <a:pPr lvl="0"/>
            <a:r>
              <a:rPr lang="en-GB" dirty="0">
                <a:latin typeface="Times New Roman" pitchFamily="18" charset="0"/>
                <a:cs typeface="Times New Roman" pitchFamily="18" charset="0"/>
              </a:rPr>
              <a:t>Food freezing processes are designed to maximize microbial lethality but to minimize loss of product quality.</a:t>
            </a:r>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296729331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
            <a:ext cx="8229600" cy="838200"/>
          </a:xfrm>
        </p:spPr>
        <p:txBody>
          <a:bodyPr>
            <a:normAutofit fontScale="90000"/>
          </a:bodyPr>
          <a:lstStyle/>
          <a:p>
            <a:pPr lvl="0"/>
            <a:r>
              <a:rPr lang="en-US" dirty="0"/>
              <a:t/>
            </a:r>
            <a:br>
              <a:rPr lang="en-US" dirty="0"/>
            </a:br>
            <a:r>
              <a:rPr lang="en-GB" dirty="0"/>
              <a:t>High Temperatures</a:t>
            </a:r>
            <a:endParaRPr lang="en-US" dirty="0"/>
          </a:p>
        </p:txBody>
      </p:sp>
      <p:sp>
        <p:nvSpPr>
          <p:cNvPr id="3" name="Content Placeholder 2"/>
          <p:cNvSpPr>
            <a:spLocks noGrp="1"/>
          </p:cNvSpPr>
          <p:nvPr>
            <p:ph idx="1"/>
          </p:nvPr>
        </p:nvSpPr>
        <p:spPr>
          <a:xfrm>
            <a:off x="457200" y="1219200"/>
            <a:ext cx="8229600" cy="5105400"/>
          </a:xfrm>
        </p:spPr>
        <p:txBody>
          <a:bodyPr/>
          <a:lstStyle/>
          <a:p>
            <a:r>
              <a:rPr lang="en-GB" dirty="0">
                <a:latin typeface="Times New Roman" pitchFamily="18" charset="0"/>
                <a:cs typeface="Times New Roman" pitchFamily="18" charset="0"/>
              </a:rPr>
              <a:t>Increasing temperature within the growth range of the organism increases growth rate and metabolic activity. </a:t>
            </a:r>
          </a:p>
          <a:p>
            <a:r>
              <a:rPr lang="en-GB" dirty="0">
                <a:latin typeface="Times New Roman" pitchFamily="18" charset="0"/>
                <a:cs typeface="Times New Roman" pitchFamily="18" charset="0"/>
              </a:rPr>
              <a:t>A temperature approaching or beyond the maximum growth temperature usually causes catabolic activity to exceed that of anabolic activity and in time causes death of the microorganism.</a:t>
            </a:r>
          </a:p>
          <a:p>
            <a:r>
              <a:rPr lang="en-GB" dirty="0">
                <a:latin typeface="Times New Roman" pitchFamily="18" charset="0"/>
                <a:cs typeface="Times New Roman" pitchFamily="18" charset="0"/>
              </a:rPr>
              <a:t> Since microorganisms vary considerably in their resistance to heat, a definite heat treatment may kill most but not all of the cells or vegetative cells and not the spores. </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13313528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lang="en-GB" dirty="0"/>
              <a:t>High Temperatures…..</a:t>
            </a:r>
            <a:r>
              <a:rPr lang="en-GB" dirty="0" err="1"/>
              <a:t>contd</a:t>
            </a:r>
            <a:endParaRPr lang="en-US" dirty="0"/>
          </a:p>
        </p:txBody>
      </p:sp>
      <p:sp>
        <p:nvSpPr>
          <p:cNvPr id="3" name="Content Placeholder 2"/>
          <p:cNvSpPr>
            <a:spLocks noGrp="1"/>
          </p:cNvSpPr>
          <p:nvPr>
            <p:ph idx="1"/>
          </p:nvPr>
        </p:nvSpPr>
        <p:spPr/>
        <p:txBody>
          <a:bodyPr/>
          <a:lstStyle/>
          <a:p>
            <a:r>
              <a:rPr lang="en-GB" dirty="0">
                <a:latin typeface="Times New Roman" pitchFamily="18" charset="0"/>
                <a:cs typeface="Times New Roman" pitchFamily="18" charset="0"/>
              </a:rPr>
              <a:t>The extent of heat treatment applied to a food for its preservation will depend on the heat resistance of the microorganism to be destroyed and the effect of heat on the quality of the product. </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Methods adapted under high temperatures include pasteurization, boiling, canning or sterilisation</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100655208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8229600" cy="914400"/>
          </a:xfrm>
        </p:spPr>
        <p:txBody>
          <a:bodyPr/>
          <a:lstStyle/>
          <a:p>
            <a:r>
              <a:rPr lang="en-GB" dirty="0"/>
              <a:t>Pasteurization</a:t>
            </a:r>
            <a:endParaRPr lang="en-US" dirty="0"/>
          </a:p>
        </p:txBody>
      </p:sp>
      <p:sp>
        <p:nvSpPr>
          <p:cNvPr id="3" name="Content Placeholder 2"/>
          <p:cNvSpPr>
            <a:spLocks noGrp="1"/>
          </p:cNvSpPr>
          <p:nvPr>
            <p:ph idx="1"/>
          </p:nvPr>
        </p:nvSpPr>
        <p:spPr>
          <a:xfrm>
            <a:off x="381000" y="1143000"/>
            <a:ext cx="8534400" cy="5334000"/>
          </a:xfrm>
        </p:spPr>
        <p:txBody>
          <a:bodyPr>
            <a:normAutofit lnSpcReduction="10000"/>
          </a:bodyPr>
          <a:lstStyle/>
          <a:p>
            <a:r>
              <a:rPr lang="en-GB" dirty="0">
                <a:latin typeface="Times New Roman" pitchFamily="18" charset="0"/>
                <a:cs typeface="Times New Roman" pitchFamily="18" charset="0"/>
              </a:rPr>
              <a:t>The general principle of pasteurization is the selective destruction of the heat sensitive microbial population in foods through the application of mild heat usually below the boiling point of water i.e. 100⁰C at 76mmHg. </a:t>
            </a:r>
          </a:p>
          <a:p>
            <a:r>
              <a:rPr lang="en-GB" dirty="0">
                <a:latin typeface="Times New Roman" pitchFamily="18" charset="0"/>
                <a:cs typeface="Times New Roman" pitchFamily="18" charset="0"/>
              </a:rPr>
              <a:t>It is applied to food products whose quality cannot withstand higher temperatures. xx</a:t>
            </a:r>
          </a:p>
          <a:p>
            <a:r>
              <a:rPr lang="en-GB" dirty="0">
                <a:latin typeface="Times New Roman" pitchFamily="18" charset="0"/>
                <a:cs typeface="Times New Roman" pitchFamily="18" charset="0"/>
              </a:rPr>
              <a:t>The organisms which survive pasteurization either are unable to grow well in the product or have their growth inhibited by other preservative methods following heat treatment.</a:t>
            </a:r>
          </a:p>
          <a:p>
            <a:r>
              <a:rPr lang="en-GB" dirty="0">
                <a:latin typeface="Times New Roman" pitchFamily="18" charset="0"/>
                <a:cs typeface="Times New Roman" pitchFamily="18" charset="0"/>
              </a:rPr>
              <a:t>On its own, the contribution of pasteurization to the extension of shelf life can be quite small particularly if the pasteurised food lacks other preservative factors such as low pH and low water activity</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65943267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8229600" cy="838200"/>
          </a:xfrm>
        </p:spPr>
        <p:txBody>
          <a:bodyPr/>
          <a:lstStyle/>
          <a:p>
            <a:r>
              <a:rPr lang="en-GB" dirty="0"/>
              <a:t>High Temperatures…..</a:t>
            </a:r>
            <a:r>
              <a:rPr lang="en-GB" dirty="0" err="1"/>
              <a:t>contd</a:t>
            </a:r>
            <a:endParaRPr lang="en-US" dirty="0"/>
          </a:p>
        </p:txBody>
      </p:sp>
      <p:sp>
        <p:nvSpPr>
          <p:cNvPr id="3" name="Content Placeholder 2"/>
          <p:cNvSpPr>
            <a:spLocks noGrp="1"/>
          </p:cNvSpPr>
          <p:nvPr>
            <p:ph idx="1"/>
          </p:nvPr>
        </p:nvSpPr>
        <p:spPr>
          <a:xfrm>
            <a:off x="457200" y="1219200"/>
            <a:ext cx="8229600" cy="5105400"/>
          </a:xfrm>
        </p:spPr>
        <p:txBody>
          <a:bodyPr>
            <a:normAutofit fontScale="85000" lnSpcReduction="10000"/>
          </a:bodyPr>
          <a:lstStyle/>
          <a:p>
            <a:pPr lvl="0"/>
            <a:r>
              <a:rPr lang="en-GB" dirty="0">
                <a:latin typeface="Times New Roman" pitchFamily="18" charset="0"/>
                <a:cs typeface="Times New Roman" pitchFamily="18" charset="0"/>
              </a:rPr>
              <a:t>Pasteurisation is used for two main purposes:</a:t>
            </a:r>
            <a:endParaRPr lang="en-US" dirty="0">
              <a:latin typeface="Times New Roman" pitchFamily="18" charset="0"/>
              <a:cs typeface="Times New Roman" pitchFamily="18" charset="0"/>
            </a:endParaRPr>
          </a:p>
          <a:p>
            <a:pPr marL="0" lvl="0" indent="0">
              <a:buNone/>
            </a:pPr>
            <a:r>
              <a:rPr lang="en-GB" dirty="0">
                <a:latin typeface="Times New Roman" pitchFamily="18" charset="0"/>
                <a:cs typeface="Times New Roman" pitchFamily="18" charset="0"/>
              </a:rPr>
              <a:t>1. The elimination of specific pathogens associated with the product and this is often a legal requirement of e.g. in the milk and bulk liquid egg or ice cream mix</a:t>
            </a:r>
            <a:endParaRPr lang="en-US" dirty="0">
              <a:latin typeface="Times New Roman" pitchFamily="18" charset="0"/>
              <a:cs typeface="Times New Roman" pitchFamily="18" charset="0"/>
            </a:endParaRPr>
          </a:p>
          <a:p>
            <a:pPr marL="0" lvl="0" indent="0">
              <a:buNone/>
            </a:pPr>
            <a:r>
              <a:rPr lang="en-GB" dirty="0">
                <a:latin typeface="Times New Roman" pitchFamily="18" charset="0"/>
                <a:cs typeface="Times New Roman" pitchFamily="18" charset="0"/>
              </a:rPr>
              <a:t>2.To eliminate a large proportion of potential spoilage organisms thus extending shelf life.</a:t>
            </a:r>
            <a:endParaRPr lang="en-US" dirty="0">
              <a:latin typeface="Times New Roman" pitchFamily="18" charset="0"/>
              <a:cs typeface="Times New Roman" pitchFamily="18" charset="0"/>
            </a:endParaRPr>
          </a:p>
          <a:p>
            <a:pPr marL="0" lvl="0" indent="0">
              <a:buNone/>
            </a:pPr>
            <a:r>
              <a:rPr lang="en-GB" dirty="0">
                <a:latin typeface="Times New Roman" pitchFamily="18" charset="0"/>
                <a:cs typeface="Times New Roman" pitchFamily="18" charset="0"/>
              </a:rPr>
              <a:t> </a:t>
            </a:r>
            <a:endParaRPr lang="en-US" dirty="0">
              <a:latin typeface="Times New Roman" pitchFamily="18" charset="0"/>
              <a:cs typeface="Times New Roman" pitchFamily="18" charset="0"/>
            </a:endParaRPr>
          </a:p>
          <a:p>
            <a:r>
              <a:rPr lang="en-GB" dirty="0">
                <a:latin typeface="Times New Roman" pitchFamily="18" charset="0"/>
                <a:cs typeface="Times New Roman" pitchFamily="18" charset="0"/>
              </a:rPr>
              <a:t>Pasteurisation entails holding the milk product in tanks at 63⁰C for 30 minutes and this is called Low Temperature Holding (LTH) and immediately refrigerating.</a:t>
            </a:r>
          </a:p>
          <a:p>
            <a:r>
              <a:rPr lang="en-GB" dirty="0">
                <a:latin typeface="Times New Roman" pitchFamily="18" charset="0"/>
                <a:cs typeface="Times New Roman" pitchFamily="18" charset="0"/>
              </a:rPr>
              <a:t> In many dairy products, the same result is achieved by heating the milk rapidly in a tube or in the thin layers between metal plates and holding at 71.7⁰C for 15 to 30 seconds and rapidly cooling.</a:t>
            </a:r>
          </a:p>
          <a:p>
            <a:r>
              <a:rPr lang="en-GB" dirty="0">
                <a:latin typeface="Times New Roman" pitchFamily="18" charset="0"/>
                <a:cs typeface="Times New Roman" pitchFamily="18" charset="0"/>
              </a:rPr>
              <a:t> This method of pasteurisation is called high temperature-short time. This method saves time and money and is also effective</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94022152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9F55B5C-9BFD-4CA4-854F-B7D4C4AC51B4}"/>
              </a:ext>
            </a:extLst>
          </p:cNvPr>
          <p:cNvSpPr>
            <a:spLocks noGrp="1"/>
          </p:cNvSpPr>
          <p:nvPr>
            <p:ph type="title"/>
          </p:nvPr>
        </p:nvSpPr>
        <p:spPr/>
        <p:txBody>
          <a:bodyPr/>
          <a:lstStyle/>
          <a:p>
            <a:endParaRPr lang="en-GB"/>
          </a:p>
        </p:txBody>
      </p:sp>
      <p:sp>
        <p:nvSpPr>
          <p:cNvPr id="3" name="Content Placeholder 2">
            <a:extLst>
              <a:ext uri="{FF2B5EF4-FFF2-40B4-BE49-F238E27FC236}">
                <a16:creationId xmlns="" xmlns:a16="http://schemas.microsoft.com/office/drawing/2014/main" id="{FABBCC9D-D055-4418-A2CD-14CF6AACDBE0}"/>
              </a:ext>
            </a:extLst>
          </p:cNvPr>
          <p:cNvSpPr>
            <a:spLocks noGrp="1"/>
          </p:cNvSpPr>
          <p:nvPr>
            <p:ph idx="1"/>
          </p:nvPr>
        </p:nvSpPr>
        <p:spPr>
          <a:xfrm>
            <a:off x="457198" y="1904998"/>
            <a:ext cx="8686801" cy="4893647"/>
          </a:xfrm>
        </p:spPr>
        <p:txBody>
          <a:bodyPr/>
          <a:lstStyle/>
          <a:p>
            <a:r>
              <a:rPr lang="en-GB" dirty="0"/>
              <a:t>Pasteurisation involves holding the product in tanks at 63</a:t>
            </a:r>
          </a:p>
          <a:p>
            <a:pPr marL="0" indent="0">
              <a:buNone/>
            </a:pPr>
            <a:r>
              <a:rPr lang="en-GB" dirty="0"/>
              <a:t>   degrees </a:t>
            </a:r>
            <a:r>
              <a:rPr lang="en-GB" dirty="0" err="1"/>
              <a:t>celcius</a:t>
            </a:r>
            <a:r>
              <a:rPr lang="en-GB" dirty="0"/>
              <a:t> for 30 minutes and this is called Low             temperature holding and it is refrigerated immediately.</a:t>
            </a:r>
          </a:p>
          <a:p>
            <a:pPr marL="0" indent="0">
              <a:buNone/>
            </a:pPr>
            <a:r>
              <a:rPr lang="en-GB" dirty="0"/>
              <a:t>  in other jurisdictions same results can be achieved by </a:t>
            </a:r>
          </a:p>
          <a:p>
            <a:pPr marL="0" indent="0">
              <a:buNone/>
            </a:pPr>
            <a:r>
              <a:rPr lang="en-GB" dirty="0"/>
              <a:t>  heating rapidly in tubes or in thin layers between metal </a:t>
            </a:r>
          </a:p>
          <a:p>
            <a:pPr marL="0" indent="0">
              <a:buNone/>
            </a:pPr>
            <a:r>
              <a:rPr lang="en-GB" dirty="0"/>
              <a:t>  plates and holding at 71.7 for between 15 and 30 seconds</a:t>
            </a:r>
          </a:p>
          <a:p>
            <a:pPr marL="0" indent="0">
              <a:buNone/>
            </a:pPr>
            <a:r>
              <a:rPr lang="en-GB" dirty="0"/>
              <a:t>  and cooling rapidly</a:t>
            </a:r>
          </a:p>
          <a:p>
            <a:pPr marL="0" indent="0">
              <a:buNone/>
            </a:pPr>
            <a:endParaRPr lang="en-GB" dirty="0"/>
          </a:p>
          <a:p>
            <a:pPr marL="0" indent="0">
              <a:buNone/>
            </a:pPr>
            <a:r>
              <a:rPr lang="en-GB" dirty="0"/>
              <a:t>  this method is called high temperature short time</a:t>
            </a:r>
          </a:p>
          <a:p>
            <a:pPr marL="0" indent="0">
              <a:buNone/>
            </a:pPr>
            <a:r>
              <a:rPr lang="en-GB" dirty="0"/>
              <a:t>  it is fast and cheaper and therefore saves time and money</a:t>
            </a:r>
          </a:p>
        </p:txBody>
      </p:sp>
    </p:spTree>
    <p:extLst>
      <p:ext uri="{BB962C8B-B14F-4D97-AF65-F5344CB8AC3E}">
        <p14:creationId xmlns:p14="http://schemas.microsoft.com/office/powerpoint/2010/main" val="178542158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685800"/>
          </a:xfrm>
        </p:spPr>
        <p:txBody>
          <a:bodyPr>
            <a:normAutofit fontScale="90000"/>
          </a:bodyPr>
          <a:lstStyle/>
          <a:p>
            <a:r>
              <a:rPr lang="en-GB" dirty="0">
                <a:latin typeface="Times New Roman" pitchFamily="18" charset="0"/>
                <a:cs typeface="Times New Roman" pitchFamily="18" charset="0"/>
              </a:rPr>
              <a:t>Boiling</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457200" y="838200"/>
            <a:ext cx="8229600" cy="5486400"/>
          </a:xfrm>
        </p:spPr>
        <p:txBody>
          <a:bodyPr>
            <a:normAutofit/>
          </a:bodyPr>
          <a:lstStyle/>
          <a:p>
            <a:pPr lvl="0"/>
            <a:r>
              <a:rPr lang="en-GB" dirty="0">
                <a:latin typeface="Times New Roman" pitchFamily="18" charset="0"/>
                <a:cs typeface="Times New Roman" pitchFamily="18" charset="0"/>
              </a:rPr>
              <a:t>Boiling or treatment with flowing steam is used in the heat treatment of foods in which spoilage by spore forming bacteria is unlikely to be a problem or  foods which because of their composition, will not be spoilt by any bacteria able to withstand a temperature of about 100⁰C. </a:t>
            </a:r>
          </a:p>
          <a:p>
            <a:pPr lvl="0"/>
            <a:r>
              <a:rPr lang="en-GB" dirty="0">
                <a:latin typeface="Times New Roman" pitchFamily="18" charset="0"/>
                <a:cs typeface="Times New Roman" pitchFamily="18" charset="0"/>
              </a:rPr>
              <a:t>Acidic foods require less heat treatment in killing microorganisms than neutral or slightly alkaline ones.</a:t>
            </a:r>
          </a:p>
          <a:p>
            <a:r>
              <a:rPr lang="en-GB" dirty="0">
                <a:latin typeface="Times New Roman" pitchFamily="18" charset="0"/>
                <a:cs typeface="Times New Roman" pitchFamily="18" charset="0"/>
              </a:rPr>
              <a:t>Sauerkraut which is an acidic food may be heated to a temperature below hundred degrees Celsius.</a:t>
            </a:r>
          </a:p>
          <a:p>
            <a:r>
              <a:rPr lang="en-GB" dirty="0">
                <a:latin typeface="Times New Roman" pitchFamily="18" charset="0"/>
                <a:cs typeface="Times New Roman" pitchFamily="18" charset="0"/>
              </a:rPr>
              <a:t> Tomatoes and tomato products are heated in flowing steam during commercial processing.</a:t>
            </a:r>
            <a:endParaRPr lang="en-US" dirty="0">
              <a:latin typeface="Times New Roman" pitchFamily="18" charset="0"/>
              <a:cs typeface="Times New Roman" pitchFamily="18" charset="0"/>
            </a:endParaRPr>
          </a:p>
          <a:p>
            <a:pPr lvl="0"/>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402533173"/>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8229600" cy="838200"/>
          </a:xfrm>
        </p:spPr>
        <p:txBody>
          <a:bodyPr/>
          <a:lstStyle/>
          <a:p>
            <a:r>
              <a:rPr lang="en-GB" dirty="0">
                <a:latin typeface="Times New Roman" pitchFamily="18" charset="0"/>
                <a:cs typeface="Times New Roman" pitchFamily="18" charset="0"/>
              </a:rPr>
              <a:t>Canning (Autoclaving)</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457200" y="1143000"/>
            <a:ext cx="8229600" cy="5181600"/>
          </a:xfrm>
        </p:spPr>
        <p:txBody>
          <a:bodyPr>
            <a:normAutofit/>
          </a:bodyPr>
          <a:lstStyle/>
          <a:p>
            <a:r>
              <a:rPr lang="en-GB" dirty="0">
                <a:latin typeface="Times New Roman" pitchFamily="18" charset="0"/>
                <a:cs typeface="Times New Roman" pitchFamily="18" charset="0"/>
              </a:rPr>
              <a:t>Temperatures above 100⁰C are obtained by the use of autoclaves, steam pressure sterilizers.</a:t>
            </a:r>
          </a:p>
          <a:p>
            <a:r>
              <a:rPr lang="en-GB" dirty="0">
                <a:latin typeface="Times New Roman" pitchFamily="18" charset="0"/>
                <a:cs typeface="Times New Roman" pitchFamily="18" charset="0"/>
              </a:rPr>
              <a:t> Such temps are necessary for the heat treatment of most types of low acid and medium-acid canned foods; the time and temperature of heating necessary for sterilization vary with the type of food. </a:t>
            </a:r>
          </a:p>
          <a:p>
            <a:r>
              <a:rPr lang="en-GB" dirty="0">
                <a:latin typeface="Times New Roman" pitchFamily="18" charset="0"/>
                <a:cs typeface="Times New Roman" pitchFamily="18" charset="0"/>
              </a:rPr>
              <a:t>Most vegetables, meat, poultry and fish are nearly neutral in reaction and are subject to spoilage by spore forming bacteria hence they are heated at high temperatures obtained from steam during processing. </a:t>
            </a:r>
          </a:p>
          <a:p>
            <a:r>
              <a:rPr lang="en-GB" dirty="0">
                <a:latin typeface="Times New Roman" pitchFamily="18" charset="0"/>
                <a:cs typeface="Times New Roman" pitchFamily="18" charset="0"/>
              </a:rPr>
              <a:t>In general, the heat treatment necessary to sterilize a product decreases with increases in acidity. xx</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7787492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838200"/>
          </a:xfrm>
        </p:spPr>
        <p:txBody>
          <a:bodyPr/>
          <a:lstStyle/>
          <a:p>
            <a:r>
              <a:rPr lang="en-GB" dirty="0">
                <a:latin typeface="Times New Roman" pitchFamily="18" charset="0"/>
                <a:cs typeface="Times New Roman" pitchFamily="18" charset="0"/>
              </a:rPr>
              <a:t>Canning (Autoclaving)…</a:t>
            </a:r>
            <a:r>
              <a:rPr lang="en-GB" dirty="0" err="1">
                <a:latin typeface="Times New Roman" pitchFamily="18" charset="0"/>
                <a:cs typeface="Times New Roman" pitchFamily="18" charset="0"/>
              </a:rPr>
              <a:t>contd</a:t>
            </a:r>
            <a:endParaRPr lang="en-US" dirty="0"/>
          </a:p>
        </p:txBody>
      </p:sp>
      <p:sp>
        <p:nvSpPr>
          <p:cNvPr id="3" name="Content Placeholder 2"/>
          <p:cNvSpPr>
            <a:spLocks noGrp="1"/>
          </p:cNvSpPr>
          <p:nvPr>
            <p:ph idx="1"/>
          </p:nvPr>
        </p:nvSpPr>
        <p:spPr>
          <a:xfrm>
            <a:off x="457200" y="1295400"/>
            <a:ext cx="8229600" cy="5029200"/>
          </a:xfrm>
        </p:spPr>
        <p:txBody>
          <a:bodyPr/>
          <a:lstStyle/>
          <a:p>
            <a:r>
              <a:rPr lang="en-GB" dirty="0">
                <a:latin typeface="Times New Roman" pitchFamily="18" charset="0"/>
                <a:cs typeface="Times New Roman" pitchFamily="18" charset="0"/>
              </a:rPr>
              <a:t>Foods for canning fall into 4 groups on the basis of acidity expressed as </a:t>
            </a:r>
            <a:r>
              <a:rPr lang="en-GB" dirty="0" err="1">
                <a:latin typeface="Times New Roman" pitchFamily="18" charset="0"/>
                <a:cs typeface="Times New Roman" pitchFamily="18" charset="0"/>
              </a:rPr>
              <a:t>pH.</a:t>
            </a:r>
            <a:r>
              <a:rPr lang="en-GB" dirty="0">
                <a:latin typeface="Times New Roman" pitchFamily="18" charset="0"/>
                <a:cs typeface="Times New Roman" pitchFamily="18" charset="0"/>
              </a:rPr>
              <a:t> Low acid (pH 5.3-7.0) foods e.g. corn, meat and peas, medium acid (pH 4.5-5.3) spinach, acid (pH 3.7-4.5) e.g. tomatoes and pineapple and high acidic (pH3.7 and below) e.g. Sauerkraut. </a:t>
            </a:r>
          </a:p>
          <a:p>
            <a:r>
              <a:rPr lang="en-GB" dirty="0">
                <a:latin typeface="Times New Roman" pitchFamily="18" charset="0"/>
                <a:cs typeface="Times New Roman" pitchFamily="18" charset="0"/>
              </a:rPr>
              <a:t>These groups of foods differ not only in average heat necessary for their sterilization but also in the type of spoilage most commonly encountered.</a:t>
            </a:r>
          </a:p>
          <a:p>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2555570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43712"/>
          </a:xfrm>
        </p:spPr>
        <p:txBody>
          <a:bodyPr>
            <a:normAutofit fontScale="90000"/>
          </a:bodyPr>
          <a:lstStyle/>
          <a:p>
            <a:r>
              <a:rPr lang="en-GB" dirty="0">
                <a:latin typeface="Times New Roman" pitchFamily="18" charset="0"/>
                <a:cs typeface="Times New Roman" pitchFamily="18" charset="0"/>
              </a:rPr>
              <a:t>Canning (Autoclaving)….</a:t>
            </a:r>
            <a:r>
              <a:rPr lang="en-GB" dirty="0" err="1">
                <a:latin typeface="Times New Roman" pitchFamily="18" charset="0"/>
                <a:cs typeface="Times New Roman" pitchFamily="18" charset="0"/>
              </a:rPr>
              <a:t>contd</a:t>
            </a:r>
            <a:endParaRPr lang="en-US" dirty="0"/>
          </a:p>
        </p:txBody>
      </p:sp>
      <p:sp>
        <p:nvSpPr>
          <p:cNvPr id="3" name="Content Placeholder 2"/>
          <p:cNvSpPr>
            <a:spLocks noGrp="1"/>
          </p:cNvSpPr>
          <p:nvPr>
            <p:ph idx="1"/>
          </p:nvPr>
        </p:nvSpPr>
        <p:spPr>
          <a:xfrm>
            <a:off x="457200" y="1219200"/>
            <a:ext cx="8229600" cy="5105400"/>
          </a:xfrm>
        </p:spPr>
        <p:txBody>
          <a:bodyPr>
            <a:normAutofit/>
          </a:bodyPr>
          <a:lstStyle/>
          <a:p>
            <a:r>
              <a:rPr lang="en-GB" dirty="0">
                <a:latin typeface="Times New Roman" pitchFamily="18" charset="0"/>
                <a:cs typeface="Times New Roman" pitchFamily="18" charset="0"/>
              </a:rPr>
              <a:t>Again in the canning industry, the heat treatment necessary to sterilize a food commercially vary not only with acidity of the product but also with the kind and number of microorganisms present and their conditions as well as with any factor that affects the penetration of heat to the centre of the can such as the consistency of the food, its composition and the size and shape of the container. </a:t>
            </a:r>
          </a:p>
          <a:p>
            <a:r>
              <a:rPr lang="en-GB" dirty="0">
                <a:latin typeface="Times New Roman" pitchFamily="18" charset="0"/>
                <a:cs typeface="Times New Roman" pitchFamily="18" charset="0"/>
              </a:rPr>
              <a:t>In such industries the canner has two main objectives in the heat treatment of canned foods;</a:t>
            </a:r>
            <a:endParaRPr lang="en-US" dirty="0">
              <a:latin typeface="Times New Roman" pitchFamily="18" charset="0"/>
              <a:cs typeface="Times New Roman" pitchFamily="18" charset="0"/>
            </a:endParaRPr>
          </a:p>
          <a:p>
            <a:pPr marL="0" lvl="0" indent="0">
              <a:buNone/>
            </a:pPr>
            <a:r>
              <a:rPr lang="en-GB" dirty="0">
                <a:latin typeface="Times New Roman" pitchFamily="18" charset="0"/>
                <a:cs typeface="Times New Roman" pitchFamily="18" charset="0"/>
              </a:rPr>
              <a:t>    a. to prevent spoilage of the food</a:t>
            </a:r>
            <a:endParaRPr lang="en-US" dirty="0">
              <a:latin typeface="Times New Roman" pitchFamily="18" charset="0"/>
              <a:cs typeface="Times New Roman" pitchFamily="18" charset="0"/>
            </a:endParaRPr>
          </a:p>
          <a:p>
            <a:pPr marL="0" lvl="0" indent="0">
              <a:buNone/>
            </a:pPr>
            <a:r>
              <a:rPr lang="en-GB" dirty="0">
                <a:latin typeface="Times New Roman" pitchFamily="18" charset="0"/>
                <a:cs typeface="Times New Roman" pitchFamily="18" charset="0"/>
              </a:rPr>
              <a:t>    b. to make it safe to eat</a:t>
            </a:r>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73915936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62000"/>
          </a:xfrm>
        </p:spPr>
        <p:txBody>
          <a:bodyPr>
            <a:normAutofit fontScale="90000"/>
          </a:bodyPr>
          <a:lstStyle/>
          <a:p>
            <a:r>
              <a:rPr lang="en-GB" dirty="0">
                <a:latin typeface="Times New Roman" pitchFamily="18" charset="0"/>
                <a:cs typeface="Times New Roman" pitchFamily="18" charset="0"/>
              </a:rPr>
              <a:t>Canning (Autoclaving)….</a:t>
            </a:r>
            <a:r>
              <a:rPr lang="en-GB" dirty="0" err="1">
                <a:latin typeface="Times New Roman" pitchFamily="18" charset="0"/>
                <a:cs typeface="Times New Roman" pitchFamily="18" charset="0"/>
              </a:rPr>
              <a:t>contd</a:t>
            </a:r>
            <a:endParaRPr lang="en-US" dirty="0"/>
          </a:p>
        </p:txBody>
      </p:sp>
      <p:sp>
        <p:nvSpPr>
          <p:cNvPr id="3" name="Content Placeholder 2"/>
          <p:cNvSpPr>
            <a:spLocks noGrp="1"/>
          </p:cNvSpPr>
          <p:nvPr>
            <p:ph idx="1"/>
          </p:nvPr>
        </p:nvSpPr>
        <p:spPr>
          <a:xfrm>
            <a:off x="457200" y="1066800"/>
            <a:ext cx="8229600" cy="5257800"/>
          </a:xfrm>
        </p:spPr>
        <p:txBody>
          <a:bodyPr>
            <a:normAutofit lnSpcReduction="10000"/>
          </a:bodyPr>
          <a:lstStyle/>
          <a:p>
            <a:r>
              <a:rPr lang="en-GB" dirty="0">
                <a:latin typeface="Times New Roman" pitchFamily="18" charset="0"/>
                <a:cs typeface="Times New Roman" pitchFamily="18" charset="0"/>
              </a:rPr>
              <a:t>At the same time, the canner tries to avoid harming the quality of the product because of heat. Of the toxin forming and the pathogenic bacteria, the spore forming anaerobes;</a:t>
            </a:r>
            <a:endParaRPr lang="en-US" dirty="0">
              <a:latin typeface="Times New Roman" pitchFamily="18" charset="0"/>
              <a:cs typeface="Times New Roman" pitchFamily="18" charset="0"/>
            </a:endParaRPr>
          </a:p>
          <a:p>
            <a:r>
              <a:rPr lang="en-GB" i="1" dirty="0">
                <a:latin typeface="Times New Roman" pitchFamily="18" charset="0"/>
                <a:cs typeface="Times New Roman" pitchFamily="18" charset="0"/>
              </a:rPr>
              <a:t>Clostridium botulinum </a:t>
            </a:r>
            <a:r>
              <a:rPr lang="en-GB" dirty="0">
                <a:latin typeface="Times New Roman" pitchFamily="18" charset="0"/>
                <a:cs typeface="Times New Roman" pitchFamily="18" charset="0"/>
              </a:rPr>
              <a:t>and </a:t>
            </a:r>
            <a:r>
              <a:rPr lang="en-GB" i="1" dirty="0">
                <a:latin typeface="Times New Roman" pitchFamily="18" charset="0"/>
                <a:cs typeface="Times New Roman" pitchFamily="18" charset="0"/>
              </a:rPr>
              <a:t>C. </a:t>
            </a:r>
            <a:r>
              <a:rPr lang="en-GB" i="1" dirty="0" err="1">
                <a:latin typeface="Times New Roman" pitchFamily="18" charset="0"/>
                <a:cs typeface="Times New Roman" pitchFamily="18" charset="0"/>
              </a:rPr>
              <a:t>Parabotulinum</a:t>
            </a:r>
            <a:r>
              <a:rPr lang="en-GB" i="1" dirty="0">
                <a:latin typeface="Times New Roman" pitchFamily="18" charset="0"/>
                <a:cs typeface="Times New Roman" pitchFamily="18" charset="0"/>
              </a:rPr>
              <a:t> </a:t>
            </a:r>
            <a:r>
              <a:rPr lang="en-GB" dirty="0">
                <a:latin typeface="Times New Roman" pitchFamily="18" charset="0"/>
                <a:cs typeface="Times New Roman" pitchFamily="18" charset="0"/>
              </a:rPr>
              <a:t>are the most heat resistant and therefore most of the heat processing of canned foods is geared towards killing or eliminating these dangerous organisms. </a:t>
            </a:r>
          </a:p>
          <a:p>
            <a:r>
              <a:rPr lang="en-GB" dirty="0">
                <a:latin typeface="Times New Roman" pitchFamily="18" charset="0"/>
                <a:cs typeface="Times New Roman" pitchFamily="18" charset="0"/>
              </a:rPr>
              <a:t>In home canning, the filled jar or can of food are usually heat processed by one of the following methods;</a:t>
            </a:r>
            <a:endParaRPr lang="en-US" dirty="0">
              <a:latin typeface="Times New Roman" pitchFamily="18" charset="0"/>
              <a:cs typeface="Times New Roman" pitchFamily="18" charset="0"/>
            </a:endParaRPr>
          </a:p>
          <a:p>
            <a:pPr marL="0" lvl="0" indent="0">
              <a:buNone/>
            </a:pPr>
            <a:r>
              <a:rPr lang="en-GB" dirty="0">
                <a:latin typeface="Times New Roman" pitchFamily="18" charset="0"/>
                <a:cs typeface="Times New Roman" pitchFamily="18" charset="0"/>
              </a:rPr>
              <a:t>    a. In boiling water or flowing steam   </a:t>
            </a:r>
          </a:p>
          <a:p>
            <a:pPr marL="0" lvl="0" indent="0">
              <a:buNone/>
            </a:pPr>
            <a:r>
              <a:rPr lang="en-GB" dirty="0">
                <a:latin typeface="Times New Roman" pitchFamily="18" charset="0"/>
                <a:cs typeface="Times New Roman" pitchFamily="18" charset="0"/>
              </a:rPr>
              <a:t>    </a:t>
            </a:r>
            <a:r>
              <a:rPr lang="en-US" dirty="0">
                <a:latin typeface="Times New Roman" pitchFamily="18" charset="0"/>
                <a:cs typeface="Times New Roman" pitchFamily="18" charset="0"/>
              </a:rPr>
              <a:t>b. </a:t>
            </a:r>
            <a:r>
              <a:rPr lang="en-GB" dirty="0">
                <a:latin typeface="Times New Roman" pitchFamily="18" charset="0"/>
                <a:cs typeface="Times New Roman" pitchFamily="18" charset="0"/>
              </a:rPr>
              <a:t>In an oven</a:t>
            </a:r>
            <a:endParaRPr lang="en-US" dirty="0">
              <a:latin typeface="Times New Roman" pitchFamily="18" charset="0"/>
              <a:cs typeface="Times New Roman" pitchFamily="18" charset="0"/>
            </a:endParaRPr>
          </a:p>
          <a:p>
            <a:pPr marL="0" lvl="0" indent="0">
              <a:buNone/>
            </a:pPr>
            <a:r>
              <a:rPr lang="en-GB" dirty="0">
                <a:latin typeface="Times New Roman" pitchFamily="18" charset="0"/>
                <a:cs typeface="Times New Roman" pitchFamily="18" charset="0"/>
              </a:rPr>
              <a:t>    c. In the steam pressure cooker or sterilizer</a:t>
            </a:r>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7258729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76200"/>
            <a:ext cx="8229600" cy="762000"/>
          </a:xfrm>
        </p:spPr>
        <p:txBody>
          <a:bodyPr>
            <a:normAutofit fontScale="90000"/>
          </a:bodyPr>
          <a:lstStyle/>
          <a:p>
            <a:r>
              <a:rPr lang="en-US" dirty="0"/>
              <a:t/>
            </a:r>
            <a:br>
              <a:rPr lang="en-US" dirty="0"/>
            </a:br>
            <a:r>
              <a:rPr lang="en-GB" dirty="0">
                <a:latin typeface="Times New Roman" pitchFamily="18" charset="0"/>
                <a:cs typeface="Times New Roman" pitchFamily="18" charset="0"/>
              </a:rPr>
              <a:t>PRESERVATION BY DRYING</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457200" y="914400"/>
            <a:ext cx="8229600" cy="5410200"/>
          </a:xfrm>
        </p:spPr>
        <p:txBody>
          <a:bodyPr>
            <a:normAutofit/>
          </a:bodyPr>
          <a:lstStyle/>
          <a:p>
            <a:r>
              <a:rPr lang="en-GB" dirty="0">
                <a:latin typeface="Times New Roman" pitchFamily="18" charset="0"/>
                <a:cs typeface="Times New Roman" pitchFamily="18" charset="0"/>
              </a:rPr>
              <a:t>Many foods are preserved naturally by drying or lack of moisture. </a:t>
            </a:r>
          </a:p>
          <a:p>
            <a:r>
              <a:rPr lang="en-GB" dirty="0">
                <a:latin typeface="Times New Roman" pitchFamily="18" charset="0"/>
                <a:cs typeface="Times New Roman" pitchFamily="18" charset="0"/>
              </a:rPr>
              <a:t>Ordinarily drying is thought of as the removal of water, but the combination of water in the food with some other substance in such a way that makes the water unavailable to microorganisms is another form of drying.</a:t>
            </a:r>
          </a:p>
          <a:p>
            <a:r>
              <a:rPr lang="en-GB" dirty="0">
                <a:latin typeface="Times New Roman" pitchFamily="18" charset="0"/>
                <a:cs typeface="Times New Roman" pitchFamily="18" charset="0"/>
              </a:rPr>
              <a:t> Although some drying processes kill some microorganisms and the survivors decrease in number during storage of dry foods, the main aim of drying processes is primarily to inhibit the growth activity of the microorganisms (microbistatic). </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883056123"/>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52400"/>
            <a:ext cx="8229600" cy="609600"/>
          </a:xfrm>
        </p:spPr>
        <p:txBody>
          <a:bodyPr>
            <a:normAutofit fontScale="90000"/>
          </a:bodyPr>
          <a:lstStyle/>
          <a:p>
            <a:r>
              <a:rPr lang="en-GB" dirty="0"/>
              <a:t>DRYING……contd.</a:t>
            </a:r>
            <a:endParaRPr lang="en-US" dirty="0"/>
          </a:p>
        </p:txBody>
      </p:sp>
      <p:sp>
        <p:nvSpPr>
          <p:cNvPr id="3" name="Content Placeholder 2"/>
          <p:cNvSpPr>
            <a:spLocks noGrp="1"/>
          </p:cNvSpPr>
          <p:nvPr>
            <p:ph idx="1"/>
          </p:nvPr>
        </p:nvSpPr>
        <p:spPr>
          <a:xfrm>
            <a:off x="457200" y="990600"/>
            <a:ext cx="8229600" cy="5334000"/>
          </a:xfrm>
        </p:spPr>
        <p:txBody>
          <a:bodyPr/>
          <a:lstStyle/>
          <a:p>
            <a:r>
              <a:rPr lang="en-GB" dirty="0"/>
              <a:t> </a:t>
            </a:r>
            <a:r>
              <a:rPr lang="en-GB" dirty="0">
                <a:latin typeface="Times New Roman" pitchFamily="18" charset="0"/>
                <a:cs typeface="Times New Roman" pitchFamily="18" charset="0"/>
              </a:rPr>
              <a:t>Drying has the ff. advantages </a:t>
            </a:r>
            <a:endParaRPr lang="en-US" dirty="0">
              <a:latin typeface="Times New Roman" pitchFamily="18" charset="0"/>
              <a:cs typeface="Times New Roman" pitchFamily="18" charset="0"/>
            </a:endParaRPr>
          </a:p>
          <a:p>
            <a:pPr lvl="0"/>
            <a:r>
              <a:rPr lang="en-GB" dirty="0">
                <a:latin typeface="Times New Roman" pitchFamily="18" charset="0"/>
                <a:cs typeface="Times New Roman" pitchFamily="18" charset="0"/>
              </a:rPr>
              <a:t>Allows the preservation of foods for a very long period.</a:t>
            </a:r>
            <a:endParaRPr lang="en-US" dirty="0">
              <a:latin typeface="Times New Roman" pitchFamily="18" charset="0"/>
              <a:cs typeface="Times New Roman" pitchFamily="18" charset="0"/>
            </a:endParaRPr>
          </a:p>
          <a:p>
            <a:pPr lvl="0"/>
            <a:r>
              <a:rPr lang="en-GB" dirty="0">
                <a:latin typeface="Times New Roman" pitchFamily="18" charset="0"/>
                <a:cs typeface="Times New Roman" pitchFamily="18" charset="0"/>
              </a:rPr>
              <a:t>Makes transportation very easy because of the weight and space occupied by the product e.g. Milk powder</a:t>
            </a:r>
            <a:endParaRPr lang="en-US" dirty="0">
              <a:latin typeface="Times New Roman" pitchFamily="18" charset="0"/>
              <a:cs typeface="Times New Roman" pitchFamily="18" charset="0"/>
            </a:endParaRPr>
          </a:p>
          <a:p>
            <a:r>
              <a:rPr lang="en-GB" u="sng" dirty="0">
                <a:latin typeface="Times New Roman" pitchFamily="18" charset="0"/>
                <a:cs typeface="Times New Roman" pitchFamily="18" charset="0"/>
              </a:rPr>
              <a:t>Disadvantages </a:t>
            </a:r>
            <a:endParaRPr lang="en-US" dirty="0">
              <a:latin typeface="Times New Roman" pitchFamily="18" charset="0"/>
              <a:cs typeface="Times New Roman" pitchFamily="18" charset="0"/>
            </a:endParaRPr>
          </a:p>
          <a:p>
            <a:pPr lvl="0"/>
            <a:r>
              <a:rPr lang="en-GB" dirty="0">
                <a:latin typeface="Times New Roman" pitchFamily="18" charset="0"/>
                <a:cs typeface="Times New Roman" pitchFamily="18" charset="0"/>
              </a:rPr>
              <a:t>Likely to be a change in flavour, texture and others during the drying process. </a:t>
            </a:r>
            <a:endParaRPr lang="en-US" dirty="0">
              <a:latin typeface="Times New Roman" pitchFamily="18" charset="0"/>
              <a:cs typeface="Times New Roman" pitchFamily="18" charset="0"/>
            </a:endParaRPr>
          </a:p>
          <a:p>
            <a:pPr lvl="0"/>
            <a:r>
              <a:rPr lang="en-GB" dirty="0">
                <a:latin typeface="Times New Roman" pitchFamily="18" charset="0"/>
                <a:cs typeface="Times New Roman" pitchFamily="18" charset="0"/>
              </a:rPr>
              <a:t>Freeze – drying, freeze concentration</a:t>
            </a:r>
            <a:endParaRPr lang="en-US" b="1"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2125080044"/>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62000"/>
          </a:xfrm>
        </p:spPr>
        <p:txBody>
          <a:bodyPr>
            <a:normAutofit fontScale="90000"/>
          </a:bodyPr>
          <a:lstStyle/>
          <a:p>
            <a:r>
              <a:rPr lang="en-US" dirty="0"/>
              <a:t/>
            </a:r>
            <a:br>
              <a:rPr lang="en-US" dirty="0"/>
            </a:br>
            <a:r>
              <a:rPr lang="en-GB" dirty="0"/>
              <a:t>PRESERVATION BY SMOKING</a:t>
            </a:r>
            <a:endParaRPr lang="en-US" dirty="0"/>
          </a:p>
        </p:txBody>
      </p:sp>
      <p:sp>
        <p:nvSpPr>
          <p:cNvPr id="3" name="Content Placeholder 2"/>
          <p:cNvSpPr>
            <a:spLocks noGrp="1"/>
          </p:cNvSpPr>
          <p:nvPr>
            <p:ph idx="1"/>
          </p:nvPr>
        </p:nvSpPr>
        <p:spPr>
          <a:xfrm>
            <a:off x="457200" y="914400"/>
            <a:ext cx="8229600" cy="5410200"/>
          </a:xfrm>
        </p:spPr>
        <p:txBody>
          <a:bodyPr>
            <a:normAutofit lnSpcReduction="10000"/>
          </a:bodyPr>
          <a:lstStyle/>
          <a:p>
            <a:r>
              <a:rPr lang="en-GB" dirty="0"/>
              <a:t>Meat and fish to be smoked are usually first salt – cured to prevent rapid deterioration since smoke–curing is slow. </a:t>
            </a:r>
          </a:p>
          <a:p>
            <a:r>
              <a:rPr lang="en-GB" dirty="0"/>
              <a:t>The preservative factors in wood smoke are various aerosols, a mixture of formic, acetic and other organic acids and formaldehyde</a:t>
            </a:r>
          </a:p>
          <a:p>
            <a:r>
              <a:rPr lang="en-GB" dirty="0"/>
              <a:t> all  are either bacteriostatic or </a:t>
            </a:r>
            <a:r>
              <a:rPr lang="en-GB" dirty="0" err="1"/>
              <a:t>bacteriocidal</a:t>
            </a:r>
            <a:r>
              <a:rPr lang="en-GB" dirty="0"/>
              <a:t>. </a:t>
            </a:r>
          </a:p>
          <a:p>
            <a:r>
              <a:rPr lang="en-GB" dirty="0"/>
              <a:t>It is also effective against fungi and viruses. It should however, be noted that, direct application of formic acid and formaldehyde is not allowed except as minor constituent of wood smoke.</a:t>
            </a:r>
          </a:p>
          <a:p>
            <a:r>
              <a:rPr lang="en-GB" dirty="0"/>
              <a:t> Such chemicals are gradually absorbed in small quantities by the tissues exposed to the smoke. </a:t>
            </a:r>
            <a:endParaRPr lang="en-US" dirty="0"/>
          </a:p>
        </p:txBody>
      </p:sp>
    </p:spTree>
    <p:extLst>
      <p:ext uri="{BB962C8B-B14F-4D97-AF65-F5344CB8AC3E}">
        <p14:creationId xmlns:p14="http://schemas.microsoft.com/office/powerpoint/2010/main" val="2590583630"/>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8229600" cy="762000"/>
          </a:xfrm>
        </p:spPr>
        <p:txBody>
          <a:bodyPr>
            <a:normAutofit fontScale="90000"/>
          </a:bodyPr>
          <a:lstStyle/>
          <a:p>
            <a:r>
              <a:rPr lang="en-GB" dirty="0"/>
              <a:t>SMOKING…….contd.</a:t>
            </a:r>
            <a:endParaRPr lang="en-US" dirty="0"/>
          </a:p>
        </p:txBody>
      </p:sp>
      <p:sp>
        <p:nvSpPr>
          <p:cNvPr id="3" name="Content Placeholder 2"/>
          <p:cNvSpPr>
            <a:spLocks noGrp="1"/>
          </p:cNvSpPr>
          <p:nvPr>
            <p:ph idx="1"/>
          </p:nvPr>
        </p:nvSpPr>
        <p:spPr>
          <a:xfrm>
            <a:off x="457200" y="1295400"/>
            <a:ext cx="8229600" cy="5029200"/>
          </a:xfrm>
        </p:spPr>
        <p:txBody>
          <a:bodyPr/>
          <a:lstStyle/>
          <a:p>
            <a:r>
              <a:rPr lang="en-GB" dirty="0"/>
              <a:t>The meat is thus cured and rendered impervious to the action of most microorganisms as well as giving an agreeable aromatic flavour.</a:t>
            </a:r>
          </a:p>
          <a:p>
            <a:r>
              <a:rPr lang="en-GB" dirty="0"/>
              <a:t> When kept dry, the meat can be preserved almost indefinitely, but in warm humid weather, it may be mouldy and rancid especially on the surface.</a:t>
            </a:r>
            <a:endParaRPr lang="en-US" dirty="0"/>
          </a:p>
        </p:txBody>
      </p:sp>
    </p:spTree>
    <p:extLst>
      <p:ext uri="{BB962C8B-B14F-4D97-AF65-F5344CB8AC3E}">
        <p14:creationId xmlns:p14="http://schemas.microsoft.com/office/powerpoint/2010/main" val="177361842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838200"/>
          </a:xfrm>
        </p:spPr>
        <p:txBody>
          <a:bodyPr>
            <a:normAutofit fontScale="90000"/>
          </a:bodyPr>
          <a:lstStyle/>
          <a:p>
            <a:r>
              <a:rPr lang="en-US" dirty="0"/>
              <a:t/>
            </a:r>
            <a:br>
              <a:rPr lang="en-US" dirty="0"/>
            </a:br>
            <a:r>
              <a:rPr lang="en-GB" dirty="0">
                <a:latin typeface="Times New Roman" pitchFamily="18" charset="0"/>
                <a:cs typeface="Times New Roman" pitchFamily="18" charset="0"/>
              </a:rPr>
              <a:t>CHEMICAL PRESERVATIVES</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152400" y="1066800"/>
            <a:ext cx="8763000" cy="5486400"/>
          </a:xfrm>
        </p:spPr>
        <p:txBody>
          <a:bodyPr>
            <a:normAutofit lnSpcReduction="10000"/>
          </a:bodyPr>
          <a:lstStyle/>
          <a:p>
            <a:r>
              <a:rPr lang="en-GB" dirty="0">
                <a:latin typeface="Times New Roman" pitchFamily="18" charset="0"/>
                <a:cs typeface="Times New Roman" pitchFamily="18" charset="0"/>
              </a:rPr>
              <a:t>The addition of chemicals to food has been practised throughout recorded history. There has always been a certain level of misuse until modern analytical techniques became available. </a:t>
            </a:r>
          </a:p>
          <a:p>
            <a:r>
              <a:rPr lang="en-GB" dirty="0">
                <a:latin typeface="Times New Roman" pitchFamily="18" charset="0"/>
                <a:cs typeface="Times New Roman" pitchFamily="18" charset="0"/>
              </a:rPr>
              <a:t>Preservatives are defined as “Substances capable of inhibiting, retarding or arresting the growth of microorganisms or any deterioration resulting from their presence or masking the evidence of any such deterioration. </a:t>
            </a:r>
          </a:p>
          <a:p>
            <a:r>
              <a:rPr lang="en-GB" dirty="0">
                <a:latin typeface="Times New Roman" pitchFamily="18" charset="0"/>
                <a:cs typeface="Times New Roman" pitchFamily="18" charset="0"/>
              </a:rPr>
              <a:t>The addition of preservatives to particular foods is generally subjected to governmental control.</a:t>
            </a:r>
          </a:p>
          <a:p>
            <a:r>
              <a:rPr lang="en-GB" dirty="0">
                <a:latin typeface="Times New Roman" pitchFamily="18" charset="0"/>
                <a:cs typeface="Times New Roman" pitchFamily="18" charset="0"/>
              </a:rPr>
              <a:t> A lot of chemicals have been described that show potential as food preservative, however, only few are in usage because of the strict rules of safety by the food regulatory agencies of  countries (</a:t>
            </a:r>
            <a:r>
              <a:rPr lang="en-GB" dirty="0" err="1">
                <a:latin typeface="Times New Roman" pitchFamily="18" charset="0"/>
                <a:cs typeface="Times New Roman" pitchFamily="18" charset="0"/>
              </a:rPr>
              <a:t>eg.</a:t>
            </a:r>
            <a:r>
              <a:rPr lang="en-GB" dirty="0">
                <a:latin typeface="Times New Roman" pitchFamily="18" charset="0"/>
                <a:cs typeface="Times New Roman" pitchFamily="18" charset="0"/>
              </a:rPr>
              <a:t> Food and Drugs Authority in Ghana). </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2270006183"/>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838200"/>
          </a:xfrm>
        </p:spPr>
        <p:txBody>
          <a:bodyPr/>
          <a:lstStyle/>
          <a:p>
            <a:r>
              <a:rPr lang="en-GB" dirty="0">
                <a:latin typeface="Times New Roman" pitchFamily="18" charset="0"/>
                <a:cs typeface="Times New Roman" pitchFamily="18" charset="0"/>
              </a:rPr>
              <a:t>PRESERVATIVES…..contd.</a:t>
            </a:r>
            <a:endParaRPr lang="en-US" dirty="0"/>
          </a:p>
        </p:txBody>
      </p:sp>
      <p:sp>
        <p:nvSpPr>
          <p:cNvPr id="3" name="Content Placeholder 2"/>
          <p:cNvSpPr>
            <a:spLocks noGrp="1"/>
          </p:cNvSpPr>
          <p:nvPr>
            <p:ph idx="1"/>
          </p:nvPr>
        </p:nvSpPr>
        <p:spPr>
          <a:xfrm>
            <a:off x="457200" y="1219200"/>
            <a:ext cx="8229600" cy="5105400"/>
          </a:xfrm>
        </p:spPr>
        <p:txBody>
          <a:bodyPr>
            <a:normAutofit/>
          </a:bodyPr>
          <a:lstStyle/>
          <a:p>
            <a:r>
              <a:rPr lang="en-GB" dirty="0"/>
              <a:t>Because the addition of preservatives is subjected to governmental control, a preservative permissible in one country may be banned in another. </a:t>
            </a:r>
          </a:p>
          <a:p>
            <a:r>
              <a:rPr lang="en-GB" dirty="0"/>
              <a:t>The point worthy of note is that, preservative should ideally be innocuous to the consumer and it should not be an allergen.</a:t>
            </a:r>
          </a:p>
          <a:p>
            <a:r>
              <a:rPr lang="en-GB" dirty="0"/>
              <a:t> It should be </a:t>
            </a:r>
            <a:r>
              <a:rPr lang="en-GB" dirty="0" err="1"/>
              <a:t>microbicidal</a:t>
            </a:r>
            <a:r>
              <a:rPr lang="en-GB" dirty="0"/>
              <a:t> rather than </a:t>
            </a:r>
            <a:r>
              <a:rPr lang="en-GB" dirty="0" err="1"/>
              <a:t>microbistatic</a:t>
            </a:r>
            <a:r>
              <a:rPr lang="en-GB" dirty="0"/>
              <a:t> to a wide range of possible contaminants.</a:t>
            </a:r>
            <a:endParaRPr lang="en-US" dirty="0"/>
          </a:p>
        </p:txBody>
      </p:sp>
    </p:spTree>
    <p:extLst>
      <p:ext uri="{BB962C8B-B14F-4D97-AF65-F5344CB8AC3E}">
        <p14:creationId xmlns:p14="http://schemas.microsoft.com/office/powerpoint/2010/main" val="234219780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762000"/>
          </a:xfrm>
        </p:spPr>
        <p:txBody>
          <a:bodyPr>
            <a:normAutofit fontScale="90000"/>
          </a:bodyPr>
          <a:lstStyle/>
          <a:p>
            <a:r>
              <a:rPr lang="en-GB" dirty="0">
                <a:latin typeface="Times New Roman" pitchFamily="18" charset="0"/>
                <a:cs typeface="Times New Roman" pitchFamily="18" charset="0"/>
              </a:rPr>
              <a:t>PRESERVATIVES…….contd.</a:t>
            </a:r>
            <a:endParaRPr lang="en-US" dirty="0"/>
          </a:p>
        </p:txBody>
      </p:sp>
      <p:sp>
        <p:nvSpPr>
          <p:cNvPr id="3" name="Content Placeholder 2"/>
          <p:cNvSpPr>
            <a:spLocks noGrp="1"/>
          </p:cNvSpPr>
          <p:nvPr>
            <p:ph idx="1"/>
          </p:nvPr>
        </p:nvSpPr>
        <p:spPr>
          <a:xfrm>
            <a:off x="457200" y="1295400"/>
            <a:ext cx="8229600" cy="5029200"/>
          </a:xfrm>
        </p:spPr>
        <p:txBody>
          <a:bodyPr/>
          <a:lstStyle/>
          <a:p>
            <a:r>
              <a:rPr lang="en-GB" dirty="0">
                <a:latin typeface="Times New Roman" pitchFamily="18" charset="0"/>
                <a:cs typeface="Times New Roman" pitchFamily="18" charset="0"/>
              </a:rPr>
              <a:t> It should not be inactivated by the constituents of the food or by the by-products of microbial contamination. </a:t>
            </a:r>
          </a:p>
          <a:p>
            <a:r>
              <a:rPr lang="en-GB" dirty="0">
                <a:latin typeface="Times New Roman" pitchFamily="18" charset="0"/>
                <a:cs typeface="Times New Roman" pitchFamily="18" charset="0"/>
              </a:rPr>
              <a:t>Again preservatives should not only be water soluble but also be odourless, colourless and tasteless in addition to being </a:t>
            </a:r>
            <a:r>
              <a:rPr lang="en-GB" dirty="0" err="1">
                <a:latin typeface="Times New Roman" pitchFamily="18" charset="0"/>
                <a:cs typeface="Times New Roman" pitchFamily="18" charset="0"/>
              </a:rPr>
              <a:t>microbicidal</a:t>
            </a:r>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Generally, chemical preservatives can be classified into inorganic and organic acids and their salts. </a:t>
            </a:r>
          </a:p>
          <a:p>
            <a:r>
              <a:rPr lang="en-GB" dirty="0">
                <a:latin typeface="Times New Roman" pitchFamily="18" charset="0"/>
                <a:cs typeface="Times New Roman" pitchFamily="18" charset="0"/>
              </a:rPr>
              <a:t>The popular ones among the inorganic acids are the nitrites, nitrates and the sulphides. </a:t>
            </a:r>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837702968"/>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838200"/>
          </a:xfrm>
        </p:spPr>
        <p:txBody>
          <a:bodyPr/>
          <a:lstStyle/>
          <a:p>
            <a:r>
              <a:rPr lang="en-GB" b="1" dirty="0"/>
              <a:t>Nitrites</a:t>
            </a:r>
            <a:endParaRPr lang="en-US" dirty="0"/>
          </a:p>
        </p:txBody>
      </p:sp>
      <p:sp>
        <p:nvSpPr>
          <p:cNvPr id="3" name="Content Placeholder 2"/>
          <p:cNvSpPr>
            <a:spLocks noGrp="1"/>
          </p:cNvSpPr>
          <p:nvPr>
            <p:ph idx="1"/>
          </p:nvPr>
        </p:nvSpPr>
        <p:spPr>
          <a:xfrm>
            <a:off x="457200" y="1295400"/>
            <a:ext cx="8229600" cy="5029200"/>
          </a:xfrm>
        </p:spPr>
        <p:txBody>
          <a:bodyPr>
            <a:normAutofit lnSpcReduction="10000"/>
          </a:bodyPr>
          <a:lstStyle/>
          <a:p>
            <a:r>
              <a:rPr lang="en-GB" dirty="0">
                <a:latin typeface="Times New Roman" pitchFamily="18" charset="0"/>
                <a:cs typeface="Times New Roman" pitchFamily="18" charset="0"/>
              </a:rPr>
              <a:t>The antibacterial action of nitrites was first described in the 1920’s though it had long been employed in the production of cured meat where it is responsible for their characteristic colour and flavour. </a:t>
            </a:r>
          </a:p>
          <a:p>
            <a:r>
              <a:rPr lang="en-GB" dirty="0">
                <a:latin typeface="Times New Roman" pitchFamily="18" charset="0"/>
                <a:cs typeface="Times New Roman" pitchFamily="18" charset="0"/>
              </a:rPr>
              <a:t>In early curing processes, nitrites were produced by the bacterial reduction of nitrates present as impurity in the crude salt used but now nitrate or more commonly nitrite is itself added as potassium or sodium salts.</a:t>
            </a:r>
          </a:p>
          <a:p>
            <a:r>
              <a:rPr lang="en-GB" dirty="0">
                <a:latin typeface="Times New Roman" pitchFamily="18" charset="0"/>
                <a:cs typeface="Times New Roman" pitchFamily="18" charset="0"/>
              </a:rPr>
              <a:t> Nitrite is inhibitory to a range of bacteria. </a:t>
            </a:r>
          </a:p>
          <a:p>
            <a:r>
              <a:rPr lang="en-GB" dirty="0">
                <a:latin typeface="Times New Roman" pitchFamily="18" charset="0"/>
                <a:cs typeface="Times New Roman" pitchFamily="18" charset="0"/>
              </a:rPr>
              <a:t>It has been shown that a level of 200 mg per kg at pH 6.0 was sufficient to inhibit strains of </a:t>
            </a:r>
            <a:r>
              <a:rPr lang="en-GB" i="1" dirty="0" err="1">
                <a:latin typeface="Times New Roman" pitchFamily="18" charset="0"/>
                <a:cs typeface="Times New Roman" pitchFamily="18" charset="0"/>
              </a:rPr>
              <a:t>Flavobacterium</a:t>
            </a:r>
            <a:r>
              <a:rPr lang="en-GB" i="1" dirty="0">
                <a:latin typeface="Times New Roman" pitchFamily="18" charset="0"/>
                <a:cs typeface="Times New Roman" pitchFamily="18" charset="0"/>
              </a:rPr>
              <a:t>, Micrococcus, Pseudomonas</a:t>
            </a:r>
            <a:r>
              <a:rPr lang="en-GB" dirty="0">
                <a:latin typeface="Times New Roman" pitchFamily="18" charset="0"/>
                <a:cs typeface="Times New Roman" pitchFamily="18" charset="0"/>
              </a:rPr>
              <a:t>, </a:t>
            </a:r>
            <a:r>
              <a:rPr lang="en-GB" i="1" dirty="0">
                <a:latin typeface="Times New Roman" pitchFamily="18" charset="0"/>
                <a:cs typeface="Times New Roman" pitchFamily="18" charset="0"/>
              </a:rPr>
              <a:t>Escherichia</a:t>
            </a:r>
            <a:r>
              <a:rPr lang="en-GB" dirty="0">
                <a:latin typeface="Times New Roman" pitchFamily="18" charset="0"/>
                <a:cs typeface="Times New Roman" pitchFamily="18" charset="0"/>
              </a:rPr>
              <a:t> and others</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27041093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52400"/>
            <a:ext cx="8229600" cy="685800"/>
          </a:xfrm>
        </p:spPr>
        <p:txBody>
          <a:bodyPr>
            <a:normAutofit fontScale="90000"/>
          </a:bodyPr>
          <a:lstStyle/>
          <a:p>
            <a:r>
              <a:rPr lang="en-GB" b="1" dirty="0"/>
              <a:t>Nitrites…….</a:t>
            </a:r>
            <a:r>
              <a:rPr lang="en-GB" b="1" dirty="0" err="1"/>
              <a:t>contd</a:t>
            </a:r>
            <a:endParaRPr lang="en-US" dirty="0"/>
          </a:p>
        </p:txBody>
      </p:sp>
      <p:sp>
        <p:nvSpPr>
          <p:cNvPr id="3" name="Content Placeholder 2"/>
          <p:cNvSpPr>
            <a:spLocks noGrp="1"/>
          </p:cNvSpPr>
          <p:nvPr>
            <p:ph idx="1"/>
          </p:nvPr>
        </p:nvSpPr>
        <p:spPr>
          <a:xfrm>
            <a:off x="457200" y="1066800"/>
            <a:ext cx="8229600" cy="5257800"/>
          </a:xfrm>
        </p:spPr>
        <p:txBody>
          <a:bodyPr/>
          <a:lstStyle/>
          <a:p>
            <a:r>
              <a:rPr lang="en-GB" dirty="0">
                <a:latin typeface="Times New Roman" pitchFamily="18" charset="0"/>
                <a:cs typeface="Times New Roman" pitchFamily="18" charset="0"/>
              </a:rPr>
              <a:t>Though </a:t>
            </a:r>
            <a:r>
              <a:rPr lang="en-GB" i="1" dirty="0">
                <a:latin typeface="Times New Roman" pitchFamily="18" charset="0"/>
                <a:cs typeface="Times New Roman" pitchFamily="18" charset="0"/>
              </a:rPr>
              <a:t>Salmonella</a:t>
            </a:r>
            <a:r>
              <a:rPr lang="en-GB" dirty="0">
                <a:latin typeface="Times New Roman" pitchFamily="18" charset="0"/>
                <a:cs typeface="Times New Roman" pitchFamily="18" charset="0"/>
              </a:rPr>
              <a:t> and </a:t>
            </a:r>
            <a:r>
              <a:rPr lang="en-GB" i="1" dirty="0">
                <a:latin typeface="Times New Roman" pitchFamily="18" charset="0"/>
                <a:cs typeface="Times New Roman" pitchFamily="18" charset="0"/>
              </a:rPr>
              <a:t>lactobacillus</a:t>
            </a:r>
            <a:r>
              <a:rPr lang="en-GB" dirty="0">
                <a:latin typeface="Times New Roman" pitchFamily="18" charset="0"/>
                <a:cs typeface="Times New Roman" pitchFamily="18" charset="0"/>
              </a:rPr>
              <a:t> species were more resistant. </a:t>
            </a:r>
          </a:p>
          <a:p>
            <a:r>
              <a:rPr lang="en-GB" dirty="0">
                <a:latin typeface="Times New Roman" pitchFamily="18" charset="0"/>
                <a:cs typeface="Times New Roman" pitchFamily="18" charset="0"/>
              </a:rPr>
              <a:t>The most practical importance of the use of nitrites is the ability to inhibit spore forming bacteria such as </a:t>
            </a:r>
            <a:r>
              <a:rPr lang="en-GB" i="1" dirty="0">
                <a:latin typeface="Times New Roman" pitchFamily="18" charset="0"/>
                <a:cs typeface="Times New Roman" pitchFamily="18" charset="0"/>
              </a:rPr>
              <a:t>C. botulinum</a:t>
            </a:r>
            <a:r>
              <a:rPr lang="en-GB" dirty="0">
                <a:latin typeface="Times New Roman" pitchFamily="18" charset="0"/>
                <a:cs typeface="Times New Roman" pitchFamily="18" charset="0"/>
              </a:rPr>
              <a:t> which will survive the heat process applied to many cured </a:t>
            </a:r>
            <a:r>
              <a:rPr lang="en-GB" dirty="0" err="1">
                <a:latin typeface="Times New Roman" pitchFamily="18" charset="0"/>
                <a:cs typeface="Times New Roman" pitchFamily="18" charset="0"/>
              </a:rPr>
              <a:t>meat.xx</a:t>
            </a:r>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Bacterial inhibition by nitrite increases with decreasing pH which suggests that nitrous acid is the inhibiting agent.</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534211397"/>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76200"/>
            <a:ext cx="8229600" cy="838200"/>
          </a:xfrm>
        </p:spPr>
        <p:txBody>
          <a:bodyPr>
            <a:normAutofit fontScale="90000"/>
          </a:bodyPr>
          <a:lstStyle/>
          <a:p>
            <a:r>
              <a:rPr lang="en-GB" b="1" dirty="0">
                <a:latin typeface="Times New Roman" pitchFamily="18" charset="0"/>
                <a:cs typeface="Times New Roman" pitchFamily="18" charset="0"/>
              </a:rPr>
              <a:t>Sulphur (IV) oxide and sulphides</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457200" y="1371600"/>
            <a:ext cx="8229600" cy="4953000"/>
          </a:xfrm>
        </p:spPr>
        <p:txBody>
          <a:bodyPr/>
          <a:lstStyle/>
          <a:p>
            <a:r>
              <a:rPr lang="en-GB" dirty="0">
                <a:latin typeface="Times New Roman" pitchFamily="18" charset="0"/>
                <a:cs typeface="Times New Roman" pitchFamily="18" charset="0"/>
              </a:rPr>
              <a:t>Although the actual mechanism of action is not known, sulphur dioxide has antibacterial and antifungal properties which depend on its activity to reduce disulphide bonds in enzymes or inhibiting essentials enzymes of microorganisms.</a:t>
            </a:r>
          </a:p>
          <a:p>
            <a:r>
              <a:rPr lang="en-GB" dirty="0">
                <a:latin typeface="Times New Roman" pitchFamily="18" charset="0"/>
                <a:cs typeface="Times New Roman" pitchFamily="18" charset="0"/>
              </a:rPr>
              <a:t> It is used as food preservatives e.g. in fruit juices, beers and wines. </a:t>
            </a:r>
          </a:p>
          <a:p>
            <a:r>
              <a:rPr lang="en-GB" dirty="0">
                <a:latin typeface="Times New Roman" pitchFamily="18" charset="0"/>
                <a:cs typeface="Times New Roman" pitchFamily="18" charset="0"/>
              </a:rPr>
              <a:t>In wine making sulphur dioxide inhibits the growth of contaminating yeast and bacteria with the former being relatively resistant.</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2727937449"/>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8229600" cy="838200"/>
          </a:xfrm>
        </p:spPr>
        <p:txBody>
          <a:bodyPr>
            <a:normAutofit fontScale="90000"/>
          </a:bodyPr>
          <a:lstStyle/>
          <a:p>
            <a:r>
              <a:rPr lang="en-GB" b="1" dirty="0">
                <a:latin typeface="Times New Roman" pitchFamily="18" charset="0"/>
                <a:cs typeface="Times New Roman" pitchFamily="18" charset="0"/>
              </a:rPr>
              <a:t>Sulphur (IV) oxide and sulphides</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457200" y="1143000"/>
            <a:ext cx="8229600" cy="5181600"/>
          </a:xfrm>
        </p:spPr>
        <p:txBody>
          <a:bodyPr>
            <a:normAutofit fontScale="92500"/>
          </a:bodyPr>
          <a:lstStyle/>
          <a:p>
            <a:pPr lvl="0"/>
            <a:r>
              <a:rPr lang="en-GB" dirty="0">
                <a:latin typeface="Times New Roman" pitchFamily="18" charset="0"/>
                <a:cs typeface="Times New Roman" pitchFamily="18" charset="0"/>
              </a:rPr>
              <a:t>It also protects wine from excessive oxidation during storage and combines with acetaldehyde (which is produced during fermentation). </a:t>
            </a:r>
          </a:p>
          <a:p>
            <a:pPr lvl="0"/>
            <a:r>
              <a:rPr lang="en-GB" dirty="0">
                <a:latin typeface="Times New Roman" pitchFamily="18" charset="0"/>
                <a:cs typeface="Times New Roman" pitchFamily="18" charset="0"/>
              </a:rPr>
              <a:t>Acetaldehyde has undesirable organoleptic properties.  Acid solutions of sulphides e.g. Sodium metasulphide release SO₂ and can be used in place of gaseous SO₂. SO₂ is bacteriostatic against </a:t>
            </a:r>
            <a:r>
              <a:rPr lang="en-GB" i="1" dirty="0">
                <a:latin typeface="Times New Roman" pitchFamily="18" charset="0"/>
                <a:cs typeface="Times New Roman" pitchFamily="18" charset="0"/>
              </a:rPr>
              <a:t>Acetobacter </a:t>
            </a:r>
            <a:r>
              <a:rPr lang="en-GB" dirty="0">
                <a:latin typeface="Times New Roman" pitchFamily="18" charset="0"/>
                <a:cs typeface="Times New Roman" pitchFamily="18" charset="0"/>
              </a:rPr>
              <a:t>sp and LAB at low pH. </a:t>
            </a:r>
          </a:p>
          <a:p>
            <a:pPr lvl="0"/>
            <a:r>
              <a:rPr lang="en-GB" dirty="0">
                <a:latin typeface="Times New Roman" pitchFamily="18" charset="0"/>
                <a:cs typeface="Times New Roman" pitchFamily="18" charset="0"/>
              </a:rPr>
              <a:t>Yeasts are intermediate to Acetic Acid Bacteria, LAB and moulds in their sensitivity to SO₂. Aerobic species are generally more sensitive than the fermentative species. </a:t>
            </a:r>
          </a:p>
          <a:p>
            <a:pPr lvl="0"/>
            <a:r>
              <a:rPr lang="en-GB" dirty="0" err="1">
                <a:latin typeface="Times New Roman" pitchFamily="18" charset="0"/>
                <a:cs typeface="Times New Roman" pitchFamily="18" charset="0"/>
              </a:rPr>
              <a:t>Sulphorous</a:t>
            </a:r>
            <a:r>
              <a:rPr lang="en-GB" dirty="0">
                <a:latin typeface="Times New Roman" pitchFamily="18" charset="0"/>
                <a:cs typeface="Times New Roman" pitchFamily="18" charset="0"/>
              </a:rPr>
              <a:t> acids at concentration 0.2 to 20 ppm are effective against some yeast including </a:t>
            </a:r>
            <a:r>
              <a:rPr lang="en-GB" i="1" dirty="0">
                <a:latin typeface="Times New Roman" pitchFamily="18" charset="0"/>
                <a:cs typeface="Times New Roman" pitchFamily="18" charset="0"/>
              </a:rPr>
              <a:t>Saccharomyces</a:t>
            </a:r>
            <a:r>
              <a:rPr lang="en-GB" dirty="0">
                <a:latin typeface="Times New Roman" pitchFamily="18" charset="0"/>
                <a:cs typeface="Times New Roman" pitchFamily="18" charset="0"/>
              </a:rPr>
              <a:t>, </a:t>
            </a:r>
            <a:r>
              <a:rPr lang="en-GB" i="1" dirty="0">
                <a:latin typeface="Times New Roman" pitchFamily="18" charset="0"/>
                <a:cs typeface="Times New Roman" pitchFamily="18" charset="0"/>
              </a:rPr>
              <a:t>Candida</a:t>
            </a:r>
            <a:r>
              <a:rPr lang="en-GB" dirty="0">
                <a:latin typeface="Times New Roman" pitchFamily="18" charset="0"/>
                <a:cs typeface="Times New Roman" pitchFamily="18" charset="0"/>
              </a:rPr>
              <a:t>, </a:t>
            </a:r>
            <a:r>
              <a:rPr lang="en-GB" i="1" dirty="0" err="1">
                <a:latin typeface="Times New Roman" pitchFamily="18" charset="0"/>
                <a:cs typeface="Times New Roman" pitchFamily="18" charset="0"/>
              </a:rPr>
              <a:t>Pichio</a:t>
            </a:r>
            <a:r>
              <a:rPr lang="en-GB" dirty="0">
                <a:latin typeface="Times New Roman" pitchFamily="18" charset="0"/>
                <a:cs typeface="Times New Roman" pitchFamily="18" charset="0"/>
              </a:rPr>
              <a:t> etc. gram negative bacteria are most susceptible.</a:t>
            </a:r>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2057987488"/>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229600" cy="914400"/>
          </a:xfrm>
        </p:spPr>
        <p:txBody>
          <a:bodyPr>
            <a:normAutofit/>
          </a:bodyPr>
          <a:lstStyle/>
          <a:p>
            <a:r>
              <a:rPr lang="en-GB" sz="3600" b="1" dirty="0"/>
              <a:t>Weak organic acids and their salts</a:t>
            </a:r>
            <a:endParaRPr lang="en-US" sz="3600" dirty="0"/>
          </a:p>
        </p:txBody>
      </p:sp>
      <p:sp>
        <p:nvSpPr>
          <p:cNvPr id="3" name="Content Placeholder 2"/>
          <p:cNvSpPr>
            <a:spLocks noGrp="1"/>
          </p:cNvSpPr>
          <p:nvPr>
            <p:ph idx="1"/>
          </p:nvPr>
        </p:nvSpPr>
        <p:spPr>
          <a:xfrm>
            <a:off x="457200" y="1219200"/>
            <a:ext cx="8229600" cy="5105400"/>
          </a:xfrm>
        </p:spPr>
        <p:txBody>
          <a:bodyPr>
            <a:normAutofit fontScale="85000" lnSpcReduction="10000"/>
          </a:bodyPr>
          <a:lstStyle/>
          <a:p>
            <a:r>
              <a:rPr lang="en-GB" dirty="0">
                <a:latin typeface="Times New Roman" pitchFamily="18" charset="0"/>
                <a:cs typeface="Times New Roman" pitchFamily="18" charset="0"/>
              </a:rPr>
              <a:t>Many food antimicrobials are weak acids and their salts. Several organic acids and their salts e.g. acetic acids and acetate, lactic acid and lactate, benzoic acid and benzoate, sorbic acid and </a:t>
            </a:r>
            <a:r>
              <a:rPr lang="en-GB" dirty="0" err="1">
                <a:latin typeface="Times New Roman" pitchFamily="18" charset="0"/>
                <a:cs typeface="Times New Roman" pitchFamily="18" charset="0"/>
              </a:rPr>
              <a:t>sorbate</a:t>
            </a:r>
            <a:r>
              <a:rPr lang="en-GB" dirty="0">
                <a:latin typeface="Times New Roman" pitchFamily="18" charset="0"/>
                <a:cs typeface="Times New Roman" pitchFamily="18" charset="0"/>
              </a:rPr>
              <a:t>, citric acid and others have </a:t>
            </a:r>
            <a:r>
              <a:rPr lang="en-GB" dirty="0" err="1">
                <a:latin typeface="Times New Roman" pitchFamily="18" charset="0"/>
                <a:cs typeface="Times New Roman" pitchFamily="18" charset="0"/>
              </a:rPr>
              <a:t>microbistatic</a:t>
            </a:r>
            <a:r>
              <a:rPr lang="en-GB" dirty="0">
                <a:latin typeface="Times New Roman" pitchFamily="18" charset="0"/>
                <a:cs typeface="Times New Roman" pitchFamily="18" charset="0"/>
              </a:rPr>
              <a:t> and </a:t>
            </a:r>
            <a:r>
              <a:rPr lang="en-GB" dirty="0" err="1">
                <a:latin typeface="Times New Roman" pitchFamily="18" charset="0"/>
                <a:cs typeface="Times New Roman" pitchFamily="18" charset="0"/>
              </a:rPr>
              <a:t>microbicidal</a:t>
            </a:r>
            <a:r>
              <a:rPr lang="en-GB" dirty="0">
                <a:latin typeface="Times New Roman" pitchFamily="18" charset="0"/>
                <a:cs typeface="Times New Roman" pitchFamily="18" charset="0"/>
              </a:rPr>
              <a:t> action. </a:t>
            </a:r>
          </a:p>
          <a:p>
            <a:r>
              <a:rPr lang="en-GB" dirty="0">
                <a:latin typeface="Times New Roman" pitchFamily="18" charset="0"/>
                <a:cs typeface="Times New Roman" pitchFamily="18" charset="0"/>
              </a:rPr>
              <a:t>Some of these acids may be developed during the fermentation of the food e.g. lactic acid formation during fermentation of milk. </a:t>
            </a:r>
          </a:p>
          <a:p>
            <a:r>
              <a:rPr lang="en-GB" dirty="0">
                <a:latin typeface="Times New Roman" pitchFamily="18" charset="0"/>
                <a:cs typeface="Times New Roman" pitchFamily="18" charset="0"/>
              </a:rPr>
              <a:t>The effectiveness of the organic acid is dependent mainly on the toxic action of the undissociated acid or salt. Two factors that affect the dissociation of these acids or their salts are salinity and pH.  </a:t>
            </a:r>
          </a:p>
          <a:p>
            <a:r>
              <a:rPr lang="en-GB" dirty="0">
                <a:latin typeface="Times New Roman" pitchFamily="18" charset="0"/>
                <a:cs typeface="Times New Roman" pitchFamily="18" charset="0"/>
              </a:rPr>
              <a:t>The higher the salinity and the lower the pH, the more effective these acids are as preservatives. </a:t>
            </a:r>
          </a:p>
          <a:p>
            <a:r>
              <a:rPr lang="en-GB" dirty="0">
                <a:latin typeface="Times New Roman" pitchFamily="18" charset="0"/>
                <a:cs typeface="Times New Roman" pitchFamily="18" charset="0"/>
              </a:rPr>
              <a:t>The lower the pH of a food product  the greater the proportion of the acid in the undissociated form, and the greater the antimicrobial activity. </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2660776945"/>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D827AAE-6B3A-4EC8-9D6E-64B3124FAEC2}"/>
              </a:ext>
            </a:extLst>
          </p:cNvPr>
          <p:cNvSpPr>
            <a:spLocks noGrp="1"/>
          </p:cNvSpPr>
          <p:nvPr>
            <p:ph type="title"/>
          </p:nvPr>
        </p:nvSpPr>
        <p:spPr/>
        <p:txBody>
          <a:bodyPr/>
          <a:lstStyle/>
          <a:p>
            <a:endParaRPr lang="en-GB"/>
          </a:p>
        </p:txBody>
      </p:sp>
      <p:sp>
        <p:nvSpPr>
          <p:cNvPr id="3" name="Content Placeholder 2">
            <a:extLst>
              <a:ext uri="{FF2B5EF4-FFF2-40B4-BE49-F238E27FC236}">
                <a16:creationId xmlns="" xmlns:a16="http://schemas.microsoft.com/office/drawing/2014/main" id="{C3FDF3C5-33EB-433B-B04F-925A37EF0FC5}"/>
              </a:ext>
            </a:extLst>
          </p:cNvPr>
          <p:cNvSpPr>
            <a:spLocks noGrp="1"/>
          </p:cNvSpPr>
          <p:nvPr>
            <p:ph idx="1"/>
          </p:nvPr>
        </p:nvSpPr>
        <p:spPr/>
        <p:txBody>
          <a:bodyPr/>
          <a:lstStyle/>
          <a:p>
            <a:endParaRPr lang="en-GB" dirty="0"/>
          </a:p>
        </p:txBody>
      </p:sp>
      <p:sp>
        <p:nvSpPr>
          <p:cNvPr id="5" name="TextBox 4">
            <a:extLst>
              <a:ext uri="{FF2B5EF4-FFF2-40B4-BE49-F238E27FC236}">
                <a16:creationId xmlns="" xmlns:a16="http://schemas.microsoft.com/office/drawing/2014/main" id="{5E822A18-84A7-46C8-9D0B-17E7E9E52F32}"/>
              </a:ext>
            </a:extLst>
          </p:cNvPr>
          <p:cNvSpPr txBox="1"/>
          <p:nvPr/>
        </p:nvSpPr>
        <p:spPr>
          <a:xfrm>
            <a:off x="2281806" y="2541350"/>
            <a:ext cx="4580388" cy="3046988"/>
          </a:xfrm>
          <a:prstGeom prst="rect">
            <a:avLst/>
          </a:prstGeom>
          <a:noFill/>
        </p:spPr>
        <p:txBody>
          <a:bodyPr wrap="square">
            <a:spAutoFit/>
          </a:bodyPr>
          <a:lstStyle/>
          <a:p>
            <a:r>
              <a:rPr lang="en-GB" sz="2400" dirty="0">
                <a:latin typeface="Times New Roman" pitchFamily="18" charset="0"/>
                <a:cs typeface="Times New Roman" pitchFamily="18" charset="0"/>
              </a:rPr>
              <a:t>The higher the salinity and the lower the pH, the more effective these acids are as preservatives. </a:t>
            </a:r>
          </a:p>
          <a:p>
            <a:r>
              <a:rPr lang="en-GB" sz="2400" dirty="0">
                <a:latin typeface="Times New Roman" pitchFamily="18" charset="0"/>
                <a:cs typeface="Times New Roman" pitchFamily="18" charset="0"/>
              </a:rPr>
              <a:t>The lower the pH of a food product  the greater the proportion of the acid in the undissociated form, and the greater the antimicrobial activity. </a:t>
            </a: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312628697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8229600" cy="762000"/>
          </a:xfrm>
        </p:spPr>
        <p:txBody>
          <a:bodyPr>
            <a:noAutofit/>
          </a:bodyPr>
          <a:lstStyle/>
          <a:p>
            <a:r>
              <a:rPr lang="en-GB" sz="4000" b="1" dirty="0">
                <a:latin typeface="Times New Roman" pitchFamily="18" charset="0"/>
                <a:cs typeface="Times New Roman" pitchFamily="18" charset="0"/>
              </a:rPr>
              <a:t> weak organic acids and their salts</a:t>
            </a:r>
            <a:endParaRPr lang="en-US" sz="40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143000"/>
            <a:ext cx="8229600" cy="5181600"/>
          </a:xfrm>
        </p:spPr>
        <p:txBody>
          <a:bodyPr>
            <a:normAutofit fontScale="92500" lnSpcReduction="20000"/>
          </a:bodyPr>
          <a:lstStyle/>
          <a:p>
            <a:r>
              <a:rPr lang="en-GB" dirty="0">
                <a:latin typeface="Times New Roman" pitchFamily="18" charset="0"/>
                <a:cs typeface="Times New Roman" pitchFamily="18" charset="0"/>
              </a:rPr>
              <a:t>It has been suggested that only the undissociated form has a significant activity against microbes but the anions also contribute slightly to the antimicrobial activity of these substances. </a:t>
            </a:r>
          </a:p>
          <a:p>
            <a:r>
              <a:rPr lang="en-GB" dirty="0">
                <a:latin typeface="Times New Roman" pitchFamily="18" charset="0"/>
                <a:cs typeface="Times New Roman" pitchFamily="18" charset="0"/>
              </a:rPr>
              <a:t>Many organic acids are used as food additives but not all have antimicrobial properties.</a:t>
            </a:r>
            <a:endParaRPr lang="en-US" dirty="0">
              <a:latin typeface="Times New Roman" pitchFamily="18" charset="0"/>
              <a:cs typeface="Times New Roman" pitchFamily="18" charset="0"/>
            </a:endParaRPr>
          </a:p>
          <a:p>
            <a:r>
              <a:rPr lang="en-GB" dirty="0">
                <a:latin typeface="Times New Roman" pitchFamily="18" charset="0"/>
                <a:cs typeface="Times New Roman" pitchFamily="18" charset="0"/>
              </a:rPr>
              <a:t>Undesirable yeasts and moulds in brined foods and in unfermented acid products such as fresh apple juice and tomato ketchup are well controlled by the addition of 0.05 - 0.1% of Sodium benzoate or sorbic acid. </a:t>
            </a:r>
          </a:p>
          <a:p>
            <a:r>
              <a:rPr lang="en-GB" dirty="0">
                <a:latin typeface="Times New Roman" pitchFamily="18" charset="0"/>
                <a:cs typeface="Times New Roman" pitchFamily="18" charset="0"/>
              </a:rPr>
              <a:t>Products containing high concentration of alcohols have self-preserving properties. Ethyl alcohol acts as a cell protein coagulant and is most germicidal between 50-70%.</a:t>
            </a:r>
          </a:p>
          <a:p>
            <a:r>
              <a:rPr lang="en-GB" dirty="0">
                <a:latin typeface="Times New Roman" pitchFamily="18" charset="0"/>
                <a:cs typeface="Times New Roman" pitchFamily="18" charset="0"/>
              </a:rPr>
              <a:t> However, at low concentrations; i.e. 30% and below, products such as wine may be subjected to spoilage by acetic acid producing bacteria.</a:t>
            </a:r>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2259417594"/>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609600"/>
          </a:xfrm>
        </p:spPr>
        <p:txBody>
          <a:bodyPr>
            <a:normAutofit fontScale="90000"/>
          </a:bodyPr>
          <a:lstStyle/>
          <a:p>
            <a:r>
              <a:rPr lang="en-US" dirty="0"/>
              <a:t/>
            </a:r>
            <a:br>
              <a:rPr lang="en-US" dirty="0"/>
            </a:br>
            <a:r>
              <a:rPr lang="en-GB" sz="4400" b="1" dirty="0">
                <a:latin typeface="Times New Roman" pitchFamily="18" charset="0"/>
                <a:cs typeface="Times New Roman" pitchFamily="18" charset="0"/>
              </a:rPr>
              <a:t>Acetic Acid and Acetate</a:t>
            </a:r>
            <a:endParaRPr lang="en-US" sz="4400" b="1" dirty="0">
              <a:latin typeface="Times New Roman" pitchFamily="18" charset="0"/>
              <a:cs typeface="Times New Roman" pitchFamily="18" charset="0"/>
            </a:endParaRPr>
          </a:p>
        </p:txBody>
      </p:sp>
      <p:sp>
        <p:nvSpPr>
          <p:cNvPr id="3" name="Content Placeholder 2"/>
          <p:cNvSpPr>
            <a:spLocks noGrp="1"/>
          </p:cNvSpPr>
          <p:nvPr>
            <p:ph idx="1"/>
          </p:nvPr>
        </p:nvSpPr>
        <p:spPr>
          <a:xfrm>
            <a:off x="457200" y="838200"/>
            <a:ext cx="8229600" cy="5486400"/>
          </a:xfrm>
        </p:spPr>
        <p:txBody>
          <a:bodyPr/>
          <a:lstStyle/>
          <a:p>
            <a:r>
              <a:rPr lang="en-GB" dirty="0">
                <a:latin typeface="Times New Roman" pitchFamily="18" charset="0"/>
                <a:cs typeface="Times New Roman" pitchFamily="18" charset="0"/>
              </a:rPr>
              <a:t>The various salts Calcium, Potassium, Sodium acetates and Sodium and Calcium diacetates and acetic acid have been used as food antimicrobial agents for a long time. </a:t>
            </a:r>
          </a:p>
          <a:p>
            <a:r>
              <a:rPr lang="en-GB" dirty="0">
                <a:latin typeface="Times New Roman" pitchFamily="18" charset="0"/>
                <a:cs typeface="Times New Roman" pitchFamily="18" charset="0"/>
              </a:rPr>
              <a:t> acetic acid is essentially vinegar</a:t>
            </a:r>
          </a:p>
          <a:p>
            <a:r>
              <a:rPr lang="en-GB" dirty="0">
                <a:latin typeface="Times New Roman" pitchFamily="18" charset="0"/>
                <a:cs typeface="Times New Roman" pitchFamily="18" charset="0"/>
              </a:rPr>
              <a:t>Acetic acid is very active against bacteria and yeast than moulds. </a:t>
            </a:r>
          </a:p>
          <a:p>
            <a:r>
              <a:rPr lang="en-GB" dirty="0">
                <a:latin typeface="Times New Roman" pitchFamily="18" charset="0"/>
                <a:cs typeface="Times New Roman" pitchFamily="18" charset="0"/>
              </a:rPr>
              <a:t>The bacteria </a:t>
            </a:r>
            <a:r>
              <a:rPr lang="en-GB" i="1" dirty="0">
                <a:latin typeface="Times New Roman" pitchFamily="18" charset="0"/>
                <a:cs typeface="Times New Roman" pitchFamily="18" charset="0"/>
              </a:rPr>
              <a:t>Acetobacter</a:t>
            </a:r>
            <a:r>
              <a:rPr lang="en-GB" dirty="0">
                <a:latin typeface="Times New Roman" pitchFamily="18" charset="0"/>
                <a:cs typeface="Times New Roman" pitchFamily="18" charset="0"/>
              </a:rPr>
              <a:t>, LAB, and Butyric acid bacteria(BAB) are, however, tolerant to acetic acid.</a:t>
            </a:r>
            <a:endParaRPr lang="en-US" dirty="0">
              <a:latin typeface="Times New Roman" pitchFamily="18" charset="0"/>
              <a:cs typeface="Times New Roman" pitchFamily="18" charset="0"/>
            </a:endParaRPr>
          </a:p>
          <a:p>
            <a:r>
              <a:rPr lang="en-GB" i="1" dirty="0">
                <a:latin typeface="Times New Roman" pitchFamily="18" charset="0"/>
                <a:cs typeface="Times New Roman" pitchFamily="18" charset="0"/>
              </a:rPr>
              <a:t>Clostridium </a:t>
            </a:r>
            <a:r>
              <a:rPr lang="en-GB" dirty="0">
                <a:latin typeface="Times New Roman" pitchFamily="18" charset="0"/>
                <a:cs typeface="Times New Roman" pitchFamily="18" charset="0"/>
              </a:rPr>
              <a:t>sp</a:t>
            </a:r>
            <a:r>
              <a:rPr lang="en-GB" i="1" dirty="0">
                <a:latin typeface="Times New Roman" pitchFamily="18" charset="0"/>
                <a:cs typeface="Times New Roman" pitchFamily="18" charset="0"/>
              </a:rPr>
              <a:t>.</a:t>
            </a:r>
            <a:r>
              <a:rPr lang="en-GB" dirty="0">
                <a:latin typeface="Times New Roman" pitchFamily="18" charset="0"/>
                <a:cs typeface="Times New Roman" pitchFamily="18" charset="0"/>
              </a:rPr>
              <a:t>, </a:t>
            </a:r>
            <a:r>
              <a:rPr lang="en-GB" i="1" dirty="0">
                <a:latin typeface="Times New Roman" pitchFamily="18" charset="0"/>
                <a:cs typeface="Times New Roman" pitchFamily="18" charset="0"/>
              </a:rPr>
              <a:t>Listeria monocytogenes, Salmonella </a:t>
            </a:r>
            <a:r>
              <a:rPr lang="en-GB" dirty="0" err="1">
                <a:latin typeface="Times New Roman" pitchFamily="18" charset="0"/>
                <a:cs typeface="Times New Roman" pitchFamily="18" charset="0"/>
              </a:rPr>
              <a:t>spp</a:t>
            </a:r>
            <a:r>
              <a:rPr lang="en-GB" i="1" dirty="0">
                <a:latin typeface="Times New Roman" pitchFamily="18" charset="0"/>
                <a:cs typeface="Times New Roman" pitchFamily="18" charset="0"/>
              </a:rPr>
              <a:t>, E. coli, Campylobacter </a:t>
            </a:r>
            <a:r>
              <a:rPr lang="en-GB" i="1" dirty="0" err="1">
                <a:latin typeface="Times New Roman" pitchFamily="18" charset="0"/>
                <a:cs typeface="Times New Roman" pitchFamily="18" charset="0"/>
              </a:rPr>
              <a:t>jejuni</a:t>
            </a:r>
            <a:r>
              <a:rPr lang="en-GB" dirty="0">
                <a:latin typeface="Times New Roman" pitchFamily="18" charset="0"/>
                <a:cs typeface="Times New Roman" pitchFamily="18" charset="0"/>
              </a:rPr>
              <a:t>, </a:t>
            </a:r>
            <a:r>
              <a:rPr lang="en-GB" i="1" dirty="0">
                <a:latin typeface="Times New Roman" pitchFamily="18" charset="0"/>
                <a:cs typeface="Times New Roman" pitchFamily="18" charset="0"/>
              </a:rPr>
              <a:t>Staphylococcus </a:t>
            </a:r>
            <a:r>
              <a:rPr lang="en-GB" i="1" dirty="0" err="1">
                <a:latin typeface="Times New Roman" pitchFamily="18" charset="0"/>
                <a:cs typeface="Times New Roman" pitchFamily="18" charset="0"/>
              </a:rPr>
              <a:t>aureus</a:t>
            </a:r>
            <a:r>
              <a:rPr lang="en-GB" i="1" dirty="0">
                <a:latin typeface="Times New Roman" pitchFamily="18" charset="0"/>
                <a:cs typeface="Times New Roman" pitchFamily="18" charset="0"/>
              </a:rPr>
              <a:t>, Pseudomonas</a:t>
            </a:r>
            <a:r>
              <a:rPr lang="en-GB" dirty="0">
                <a:latin typeface="Times New Roman" pitchFamily="18" charset="0"/>
                <a:cs typeface="Times New Roman" pitchFamily="18" charset="0"/>
              </a:rPr>
              <a:t> are inhibited by acetic acid</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815010537"/>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685800"/>
          </a:xfrm>
        </p:spPr>
        <p:txBody>
          <a:bodyPr>
            <a:noAutofit/>
          </a:bodyPr>
          <a:lstStyle/>
          <a:p>
            <a:r>
              <a:rPr lang="en-GB" sz="4400" dirty="0">
                <a:latin typeface="Times New Roman" pitchFamily="18" charset="0"/>
                <a:cs typeface="Times New Roman" pitchFamily="18" charset="0"/>
              </a:rPr>
              <a:t>Acetic Acid and Acetate….contd.</a:t>
            </a:r>
            <a:endParaRPr lang="en-US" sz="4400" dirty="0"/>
          </a:p>
        </p:txBody>
      </p:sp>
      <p:sp>
        <p:nvSpPr>
          <p:cNvPr id="3" name="Content Placeholder 2"/>
          <p:cNvSpPr>
            <a:spLocks noGrp="1"/>
          </p:cNvSpPr>
          <p:nvPr>
            <p:ph idx="1"/>
          </p:nvPr>
        </p:nvSpPr>
        <p:spPr>
          <a:xfrm>
            <a:off x="457200" y="1066800"/>
            <a:ext cx="8229600" cy="5257800"/>
          </a:xfrm>
        </p:spPr>
        <p:txBody>
          <a:bodyPr>
            <a:normAutofit/>
          </a:bodyPr>
          <a:lstStyle/>
          <a:p>
            <a:r>
              <a:rPr lang="en-GB" dirty="0">
                <a:latin typeface="Times New Roman" pitchFamily="18" charset="0"/>
                <a:cs typeface="Times New Roman" pitchFamily="18" charset="0"/>
              </a:rPr>
              <a:t>The resistance of microbes decreases from moulds, yeast and bacteria in that order</a:t>
            </a:r>
            <a:r>
              <a:rPr lang="en-GB" i="1" dirty="0">
                <a:latin typeface="Times New Roman" pitchFamily="18" charset="0"/>
                <a:cs typeface="Times New Roman" pitchFamily="18" charset="0"/>
              </a:rPr>
              <a:t>. Aspergillus, Penicillium, </a:t>
            </a:r>
            <a:r>
              <a:rPr lang="en-GB" i="1" dirty="0" err="1">
                <a:latin typeface="Times New Roman" pitchFamily="18" charset="0"/>
                <a:cs typeface="Times New Roman" pitchFamily="18" charset="0"/>
              </a:rPr>
              <a:t>Rhizopus</a:t>
            </a:r>
            <a:r>
              <a:rPr lang="en-GB" dirty="0">
                <a:latin typeface="Times New Roman" pitchFamily="18" charset="0"/>
                <a:cs typeface="Times New Roman" pitchFamily="18" charset="0"/>
              </a:rPr>
              <a:t> and some other strains are sensitive to acetic acid. </a:t>
            </a:r>
          </a:p>
          <a:p>
            <a:r>
              <a:rPr lang="en-GB" dirty="0">
                <a:latin typeface="Times New Roman" pitchFamily="18" charset="0"/>
                <a:cs typeface="Times New Roman" pitchFamily="18" charset="0"/>
              </a:rPr>
              <a:t>The acid and its salts have shown variable success. They have been found to be effective in increasing poultry shelf life. </a:t>
            </a:r>
          </a:p>
          <a:p>
            <a:r>
              <a:rPr lang="en-GB" dirty="0">
                <a:latin typeface="Times New Roman" pitchFamily="18" charset="0"/>
                <a:cs typeface="Times New Roman" pitchFamily="18" charset="0"/>
              </a:rPr>
              <a:t>Addition of acetic acids at 0.1% to water used in processing poultry decreases the heat resistance of </a:t>
            </a:r>
            <a:r>
              <a:rPr lang="en-GB" i="1" dirty="0">
                <a:latin typeface="Times New Roman" pitchFamily="18" charset="0"/>
                <a:cs typeface="Times New Roman" pitchFamily="18" charset="0"/>
              </a:rPr>
              <a:t>Salmonella.</a:t>
            </a:r>
            <a:endParaRPr lang="en-US" dirty="0">
              <a:latin typeface="Times New Roman" pitchFamily="18" charset="0"/>
              <a:cs typeface="Times New Roman" pitchFamily="18" charset="0"/>
            </a:endParaRPr>
          </a:p>
          <a:p>
            <a:r>
              <a:rPr lang="en-GB" dirty="0">
                <a:latin typeface="Times New Roman" pitchFamily="18" charset="0"/>
                <a:cs typeface="Times New Roman" pitchFamily="18" charset="0"/>
              </a:rPr>
              <a:t>Under certain conditions 2% acetic acid is effective in reducing the numbers of viable </a:t>
            </a:r>
            <a:r>
              <a:rPr lang="en-GB" i="1" dirty="0">
                <a:latin typeface="Times New Roman" pitchFamily="18" charset="0"/>
                <a:cs typeface="Times New Roman" pitchFamily="18" charset="0"/>
              </a:rPr>
              <a:t>E. coli</a:t>
            </a:r>
            <a:r>
              <a:rPr lang="en-GB" dirty="0">
                <a:latin typeface="Times New Roman" pitchFamily="18" charset="0"/>
                <a:cs typeface="Times New Roman" pitchFamily="18" charset="0"/>
              </a:rPr>
              <a:t> on beef.</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625878098"/>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62000"/>
          </a:xfrm>
        </p:spPr>
        <p:txBody>
          <a:bodyPr>
            <a:normAutofit/>
          </a:bodyPr>
          <a:lstStyle/>
          <a:p>
            <a:r>
              <a:rPr lang="en-GB" sz="4400" dirty="0">
                <a:latin typeface="Times New Roman" pitchFamily="18" charset="0"/>
                <a:cs typeface="Times New Roman" pitchFamily="18" charset="0"/>
              </a:rPr>
              <a:t>Acetic Acid and Acetate….contd.</a:t>
            </a:r>
            <a:endParaRPr lang="en-US" sz="4400" dirty="0"/>
          </a:p>
        </p:txBody>
      </p:sp>
      <p:sp>
        <p:nvSpPr>
          <p:cNvPr id="3" name="Content Placeholder 2"/>
          <p:cNvSpPr>
            <a:spLocks noGrp="1"/>
          </p:cNvSpPr>
          <p:nvPr>
            <p:ph idx="1"/>
          </p:nvPr>
        </p:nvSpPr>
        <p:spPr>
          <a:xfrm>
            <a:off x="457200" y="990600"/>
            <a:ext cx="8229600" cy="5334000"/>
          </a:xfrm>
        </p:spPr>
        <p:txBody>
          <a:bodyPr>
            <a:normAutofit fontScale="92500" lnSpcReduction="20000"/>
          </a:bodyPr>
          <a:lstStyle/>
          <a:p>
            <a:r>
              <a:rPr lang="en-GB" dirty="0">
                <a:latin typeface="Times New Roman" pitchFamily="18" charset="0"/>
                <a:cs typeface="Times New Roman" pitchFamily="18" charset="0"/>
              </a:rPr>
              <a:t>Acetic acid added to bread dough is effective against rope-forming </a:t>
            </a:r>
            <a:r>
              <a:rPr lang="en-GB" i="1" dirty="0">
                <a:latin typeface="Times New Roman" pitchFamily="18" charset="0"/>
                <a:cs typeface="Times New Roman" pitchFamily="18" charset="0"/>
              </a:rPr>
              <a:t>Bacillus sp</a:t>
            </a:r>
            <a:r>
              <a:rPr lang="en-GB" dirty="0">
                <a:latin typeface="Times New Roman" pitchFamily="18" charset="0"/>
                <a:cs typeface="Times New Roman" pitchFamily="18" charset="0"/>
              </a:rPr>
              <a:t>. </a:t>
            </a:r>
          </a:p>
          <a:p>
            <a:r>
              <a:rPr lang="en-GB" dirty="0">
                <a:latin typeface="Times New Roman" pitchFamily="18" charset="0"/>
                <a:cs typeface="Times New Roman" pitchFamily="18" charset="0"/>
              </a:rPr>
              <a:t>Sodium acetate increases the shelf life of catfish fillets by 6 days when stored at 4⁰C. Also effective against </a:t>
            </a:r>
            <a:r>
              <a:rPr lang="en-GB" i="1" dirty="0">
                <a:latin typeface="Times New Roman" pitchFamily="18" charset="0"/>
                <a:cs typeface="Times New Roman" pitchFamily="18" charset="0"/>
              </a:rPr>
              <a:t>Bacillus </a:t>
            </a:r>
            <a:r>
              <a:rPr lang="en-GB" dirty="0">
                <a:latin typeface="Times New Roman" pitchFamily="18" charset="0"/>
                <a:cs typeface="Times New Roman" pitchFamily="18" charset="0"/>
              </a:rPr>
              <a:t>sp,</a:t>
            </a:r>
            <a:r>
              <a:rPr lang="en-GB" i="1" dirty="0">
                <a:latin typeface="Times New Roman" pitchFamily="18" charset="0"/>
                <a:cs typeface="Times New Roman" pitchFamily="18" charset="0"/>
              </a:rPr>
              <a:t> Aspergillus flavus, A. niger, A. fumigatus, Penicillium expansum</a:t>
            </a:r>
            <a:r>
              <a:rPr lang="en-GB" dirty="0">
                <a:latin typeface="Times New Roman" pitchFamily="18" charset="0"/>
                <a:cs typeface="Times New Roman" pitchFamily="18" charset="0"/>
              </a:rPr>
              <a:t> and </a:t>
            </a:r>
            <a:r>
              <a:rPr lang="en-GB" i="1" dirty="0">
                <a:latin typeface="Times New Roman" pitchFamily="18" charset="0"/>
                <a:cs typeface="Times New Roman" pitchFamily="18" charset="0"/>
              </a:rPr>
              <a:t>Mucor </a:t>
            </a:r>
            <a:r>
              <a:rPr lang="en-GB" dirty="0">
                <a:latin typeface="Times New Roman" pitchFamily="18" charset="0"/>
                <a:cs typeface="Times New Roman" pitchFamily="18" charset="0"/>
              </a:rPr>
              <a:t>sp.</a:t>
            </a:r>
          </a:p>
          <a:p>
            <a:r>
              <a:rPr lang="en-GB" dirty="0">
                <a:latin typeface="Times New Roman" pitchFamily="18" charset="0"/>
                <a:cs typeface="Times New Roman" pitchFamily="18" charset="0"/>
              </a:rPr>
              <a:t> Useful in the baking industry because it has little or no effect on baker’s </a:t>
            </a:r>
            <a:r>
              <a:rPr lang="en-GB" b="1" dirty="0">
                <a:latin typeface="Times New Roman" pitchFamily="18" charset="0"/>
                <a:cs typeface="Times New Roman" pitchFamily="18" charset="0"/>
              </a:rPr>
              <a:t>yeast</a:t>
            </a:r>
            <a:r>
              <a:rPr lang="en-GB" dirty="0">
                <a:latin typeface="Times New Roman" pitchFamily="18" charset="0"/>
                <a:cs typeface="Times New Roman" pitchFamily="18" charset="0"/>
              </a:rPr>
              <a:t>. It inhibits </a:t>
            </a:r>
            <a:r>
              <a:rPr lang="en-GB" b="1" dirty="0">
                <a:latin typeface="Times New Roman" pitchFamily="18" charset="0"/>
                <a:cs typeface="Times New Roman" pitchFamily="18" charset="0"/>
              </a:rPr>
              <a:t>mould</a:t>
            </a:r>
            <a:r>
              <a:rPr lang="en-GB" dirty="0">
                <a:latin typeface="Times New Roman" pitchFamily="18" charset="0"/>
                <a:cs typeface="Times New Roman" pitchFamily="18" charset="0"/>
              </a:rPr>
              <a:t> growth in cheese and brain-heart infusion broth.</a:t>
            </a:r>
            <a:endParaRPr lang="en-US" dirty="0">
              <a:latin typeface="Times New Roman" pitchFamily="18" charset="0"/>
              <a:cs typeface="Times New Roman" pitchFamily="18" charset="0"/>
            </a:endParaRPr>
          </a:p>
          <a:p>
            <a:r>
              <a:rPr lang="en-GB" dirty="0">
                <a:latin typeface="Times New Roman" pitchFamily="18" charset="0"/>
                <a:cs typeface="Times New Roman" pitchFamily="18" charset="0"/>
              </a:rPr>
              <a:t>Sodium </a:t>
            </a:r>
            <a:r>
              <a:rPr lang="en-GB" dirty="0" err="1">
                <a:latin typeface="Times New Roman" pitchFamily="18" charset="0"/>
                <a:cs typeface="Times New Roman" pitchFamily="18" charset="0"/>
              </a:rPr>
              <a:t>diacetate</a:t>
            </a:r>
            <a:r>
              <a:rPr lang="en-GB" dirty="0">
                <a:latin typeface="Times New Roman" pitchFamily="18" charset="0"/>
                <a:cs typeface="Times New Roman" pitchFamily="18" charset="0"/>
              </a:rPr>
              <a:t> is inhibitory to </a:t>
            </a:r>
            <a:r>
              <a:rPr lang="en-GB" i="1" dirty="0">
                <a:latin typeface="Times New Roman" pitchFamily="18" charset="0"/>
                <a:cs typeface="Times New Roman" pitchFamily="18" charset="0"/>
              </a:rPr>
              <a:t>Listeria monocytogenes, E. coli, Salmonella </a:t>
            </a:r>
            <a:r>
              <a:rPr lang="en-GB" i="1" dirty="0" err="1">
                <a:latin typeface="Times New Roman" pitchFamily="18" charset="0"/>
                <a:cs typeface="Times New Roman" pitchFamily="18" charset="0"/>
              </a:rPr>
              <a:t>enterica</a:t>
            </a:r>
            <a:r>
              <a:rPr lang="en-GB" i="1" dirty="0">
                <a:latin typeface="Times New Roman" pitchFamily="18" charset="0"/>
                <a:cs typeface="Times New Roman" pitchFamily="18" charset="0"/>
              </a:rPr>
              <a:t>, Enterococcus faecalis, </a:t>
            </a:r>
            <a:r>
              <a:rPr lang="en-GB" i="1" dirty="0" err="1">
                <a:latin typeface="Times New Roman" pitchFamily="18" charset="0"/>
                <a:cs typeface="Times New Roman" pitchFamily="18" charset="0"/>
              </a:rPr>
              <a:t>Shewanella</a:t>
            </a:r>
            <a:r>
              <a:rPr lang="en-GB" i="1" dirty="0">
                <a:latin typeface="Times New Roman" pitchFamily="18" charset="0"/>
                <a:cs typeface="Times New Roman" pitchFamily="18" charset="0"/>
              </a:rPr>
              <a:t> </a:t>
            </a:r>
            <a:r>
              <a:rPr lang="en-GB" i="1" dirty="0" err="1">
                <a:latin typeface="Times New Roman" pitchFamily="18" charset="0"/>
                <a:cs typeface="Times New Roman" pitchFamily="18" charset="0"/>
              </a:rPr>
              <a:t>putrefaciens</a:t>
            </a:r>
            <a:r>
              <a:rPr lang="en-GB" i="1" dirty="0">
                <a:latin typeface="Times New Roman" pitchFamily="18" charset="0"/>
                <a:cs typeface="Times New Roman" pitchFamily="18" charset="0"/>
              </a:rPr>
              <a:t>, Lactobacillus fermentis </a:t>
            </a:r>
            <a:r>
              <a:rPr lang="en-GB" dirty="0">
                <a:latin typeface="Times New Roman" pitchFamily="18" charset="0"/>
                <a:cs typeface="Times New Roman" pitchFamily="18" charset="0"/>
              </a:rPr>
              <a:t>and </a:t>
            </a:r>
            <a:r>
              <a:rPr lang="en-GB" i="1" dirty="0">
                <a:latin typeface="Times New Roman" pitchFamily="18" charset="0"/>
                <a:cs typeface="Times New Roman" pitchFamily="18" charset="0"/>
              </a:rPr>
              <a:t>Yersinia </a:t>
            </a:r>
            <a:r>
              <a:rPr lang="en-GB" i="1" dirty="0" err="1">
                <a:latin typeface="Times New Roman" pitchFamily="18" charset="0"/>
                <a:cs typeface="Times New Roman" pitchFamily="18" charset="0"/>
              </a:rPr>
              <a:t>enterocolitica</a:t>
            </a:r>
            <a:r>
              <a:rPr lang="en-GB" dirty="0">
                <a:latin typeface="Times New Roman" pitchFamily="18" charset="0"/>
                <a:cs typeface="Times New Roman" pitchFamily="18" charset="0"/>
              </a:rPr>
              <a:t>. </a:t>
            </a:r>
          </a:p>
          <a:p>
            <a:r>
              <a:rPr lang="en-GB" dirty="0">
                <a:latin typeface="Times New Roman" pitchFamily="18" charset="0"/>
                <a:cs typeface="Times New Roman" pitchFamily="18" charset="0"/>
              </a:rPr>
              <a:t>Acetic acid is used commercially in baked foods, cheese and dairy product analogues. Sodium and Calcium salts are used in breakfast cereals  and jams.</a:t>
            </a:r>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877479898"/>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838200"/>
          </a:xfrm>
        </p:spPr>
        <p:txBody>
          <a:bodyPr>
            <a:normAutofit fontScale="90000"/>
          </a:bodyPr>
          <a:lstStyle/>
          <a:p>
            <a:r>
              <a:rPr lang="en-US" dirty="0"/>
              <a:t/>
            </a:r>
            <a:br>
              <a:rPr lang="en-US" dirty="0"/>
            </a:br>
            <a:r>
              <a:rPr lang="en-GB" dirty="0"/>
              <a:t>Benzoic Acids and Benzoates</a:t>
            </a:r>
            <a:endParaRPr lang="en-US" dirty="0"/>
          </a:p>
        </p:txBody>
      </p:sp>
      <p:sp>
        <p:nvSpPr>
          <p:cNvPr id="3" name="Content Placeholder 2"/>
          <p:cNvSpPr>
            <a:spLocks noGrp="1"/>
          </p:cNvSpPr>
          <p:nvPr>
            <p:ph idx="1"/>
          </p:nvPr>
        </p:nvSpPr>
        <p:spPr>
          <a:xfrm>
            <a:off x="457200" y="1066800"/>
            <a:ext cx="8229600" cy="5257800"/>
          </a:xfrm>
        </p:spPr>
        <p:txBody>
          <a:bodyPr>
            <a:normAutofit/>
          </a:bodyPr>
          <a:lstStyle/>
          <a:p>
            <a:r>
              <a:rPr lang="en-GB" dirty="0">
                <a:latin typeface="Times New Roman" pitchFamily="18" charset="0"/>
                <a:cs typeface="Times New Roman" pitchFamily="18" charset="0"/>
              </a:rPr>
              <a:t>Sodium benzoates were the first antimicrobial compounds permitted in the food industry by the U.S. food and drug industry. </a:t>
            </a:r>
          </a:p>
          <a:p>
            <a:r>
              <a:rPr lang="en-GB" dirty="0">
                <a:latin typeface="Times New Roman" pitchFamily="18" charset="0"/>
                <a:cs typeface="Times New Roman" pitchFamily="18" charset="0"/>
              </a:rPr>
              <a:t>Sodium benzoate is highly soluble in water but the acid is much less. They are most effective at the pH ranges between 2.5 and 4.5, which makes them very effective in acid foods. </a:t>
            </a:r>
          </a:p>
          <a:p>
            <a:r>
              <a:rPr lang="en-GB" dirty="0">
                <a:latin typeface="Times New Roman" pitchFamily="18" charset="0"/>
                <a:cs typeface="Times New Roman" pitchFamily="18" charset="0"/>
              </a:rPr>
              <a:t>They are 100× effective in acid solutions than they are in neutral solutions. Only the undissociated acids have antimicrobial activity.</a:t>
            </a:r>
          </a:p>
          <a:p>
            <a:r>
              <a:rPr lang="en-GB" dirty="0">
                <a:latin typeface="Times New Roman" pitchFamily="18" charset="0"/>
                <a:cs typeface="Times New Roman" pitchFamily="18" charset="0"/>
              </a:rPr>
              <a:t> Benzoic acid and Sodium benzoate are used primarily as antifungals. </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91612906"/>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8229600" cy="685800"/>
          </a:xfrm>
        </p:spPr>
        <p:txBody>
          <a:bodyPr>
            <a:normAutofit/>
          </a:bodyPr>
          <a:lstStyle/>
          <a:p>
            <a:r>
              <a:rPr lang="en-GB" sz="4000" dirty="0"/>
              <a:t>Benzoic Acids and Benzoates….contd.</a:t>
            </a:r>
            <a:endParaRPr lang="en-US" sz="4000" dirty="0"/>
          </a:p>
        </p:txBody>
      </p:sp>
      <p:sp>
        <p:nvSpPr>
          <p:cNvPr id="3" name="Content Placeholder 2"/>
          <p:cNvSpPr>
            <a:spLocks noGrp="1"/>
          </p:cNvSpPr>
          <p:nvPr>
            <p:ph idx="1"/>
          </p:nvPr>
        </p:nvSpPr>
        <p:spPr>
          <a:xfrm>
            <a:off x="457200" y="1066800"/>
            <a:ext cx="8229600" cy="5257800"/>
          </a:xfrm>
        </p:spPr>
        <p:txBody>
          <a:bodyPr>
            <a:normAutofit/>
          </a:bodyPr>
          <a:lstStyle/>
          <a:p>
            <a:r>
              <a:rPr lang="en-GB" dirty="0">
                <a:latin typeface="Times New Roman" pitchFamily="18" charset="0"/>
                <a:cs typeface="Times New Roman" pitchFamily="18" charset="0"/>
              </a:rPr>
              <a:t>Consequently, the practical use is to inhibit the growth of spoilage yeast and moulds. </a:t>
            </a:r>
          </a:p>
          <a:p>
            <a:r>
              <a:rPr lang="en-GB" dirty="0">
                <a:latin typeface="Times New Roman" pitchFamily="18" charset="0"/>
                <a:cs typeface="Times New Roman" pitchFamily="18" charset="0"/>
              </a:rPr>
              <a:t>Activity against bacteria has ,</a:t>
            </a:r>
            <a:r>
              <a:rPr lang="en-GB" dirty="0" err="1">
                <a:latin typeface="Times New Roman" pitchFamily="18" charset="0"/>
                <a:cs typeface="Times New Roman" pitchFamily="18" charset="0"/>
              </a:rPr>
              <a:t>however,been</a:t>
            </a:r>
            <a:r>
              <a:rPr lang="en-GB" dirty="0">
                <a:latin typeface="Times New Roman" pitchFamily="18" charset="0"/>
                <a:cs typeface="Times New Roman" pitchFamily="18" charset="0"/>
              </a:rPr>
              <a:t> reported. </a:t>
            </a:r>
          </a:p>
          <a:p>
            <a:pPr>
              <a:buNone/>
            </a:pPr>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Some fungi like </a:t>
            </a:r>
            <a:r>
              <a:rPr lang="en-GB" i="1" dirty="0" err="1">
                <a:latin typeface="Times New Roman" pitchFamily="18" charset="0"/>
                <a:cs typeface="Times New Roman" pitchFamily="18" charset="0"/>
              </a:rPr>
              <a:t>Bysochlamys</a:t>
            </a:r>
            <a:r>
              <a:rPr lang="en-GB" i="1" dirty="0">
                <a:latin typeface="Times New Roman" pitchFamily="18" charset="0"/>
                <a:cs typeface="Times New Roman" pitchFamily="18" charset="0"/>
              </a:rPr>
              <a:t> </a:t>
            </a:r>
            <a:r>
              <a:rPr lang="en-GB" i="1" dirty="0" err="1">
                <a:latin typeface="Times New Roman" pitchFamily="18" charset="0"/>
                <a:cs typeface="Times New Roman" pitchFamily="18" charset="0"/>
              </a:rPr>
              <a:t>nivea</a:t>
            </a:r>
            <a:r>
              <a:rPr lang="en-GB" dirty="0">
                <a:latin typeface="Times New Roman" pitchFamily="18" charset="0"/>
                <a:cs typeface="Times New Roman" pitchFamily="18" charset="0"/>
              </a:rPr>
              <a:t>, </a:t>
            </a:r>
            <a:r>
              <a:rPr lang="en-GB" i="1" dirty="0">
                <a:latin typeface="Times New Roman" pitchFamily="18" charset="0"/>
                <a:cs typeface="Times New Roman" pitchFamily="18" charset="0"/>
              </a:rPr>
              <a:t>Pichia sp </a:t>
            </a:r>
            <a:r>
              <a:rPr lang="en-GB" dirty="0">
                <a:latin typeface="Times New Roman" pitchFamily="18" charset="0"/>
                <a:cs typeface="Times New Roman" pitchFamily="18" charset="0"/>
              </a:rPr>
              <a:t>and </a:t>
            </a:r>
            <a:r>
              <a:rPr lang="en-GB" i="1" dirty="0" err="1">
                <a:latin typeface="Times New Roman" pitchFamily="18" charset="0"/>
                <a:cs typeface="Times New Roman" pitchFamily="18" charset="0"/>
              </a:rPr>
              <a:t>Talosomyces</a:t>
            </a:r>
            <a:r>
              <a:rPr lang="en-GB" i="1" dirty="0">
                <a:latin typeface="Times New Roman" pitchFamily="18" charset="0"/>
                <a:cs typeface="Times New Roman" pitchFamily="18" charset="0"/>
              </a:rPr>
              <a:t> flavus </a:t>
            </a:r>
            <a:r>
              <a:rPr lang="en-GB" dirty="0">
                <a:latin typeface="Times New Roman" pitchFamily="18" charset="0"/>
                <a:cs typeface="Times New Roman" pitchFamily="18" charset="0"/>
              </a:rPr>
              <a:t>are resistant to benzoic acid. </a:t>
            </a:r>
          </a:p>
          <a:p>
            <a:r>
              <a:rPr lang="en-GB" dirty="0">
                <a:latin typeface="Times New Roman" pitchFamily="18" charset="0"/>
                <a:cs typeface="Times New Roman" pitchFamily="18" charset="0"/>
              </a:rPr>
              <a:t>Benzoate inhibits various microbial enzymes and enzyme systems.</a:t>
            </a:r>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1501752556"/>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85800"/>
          </a:xfrm>
        </p:spPr>
        <p:txBody>
          <a:bodyPr>
            <a:normAutofit fontScale="90000"/>
          </a:bodyPr>
          <a:lstStyle/>
          <a:p>
            <a:r>
              <a:rPr lang="en-US" dirty="0"/>
              <a:t/>
            </a:r>
            <a:br>
              <a:rPr lang="en-US" dirty="0"/>
            </a:br>
            <a:r>
              <a:rPr lang="en-GB" dirty="0"/>
              <a:t>Lactic Acid and Lactate</a:t>
            </a:r>
            <a:endParaRPr lang="en-US" dirty="0"/>
          </a:p>
        </p:txBody>
      </p:sp>
      <p:sp>
        <p:nvSpPr>
          <p:cNvPr id="3" name="Content Placeholder 2"/>
          <p:cNvSpPr>
            <a:spLocks noGrp="1"/>
          </p:cNvSpPr>
          <p:nvPr>
            <p:ph idx="1"/>
          </p:nvPr>
        </p:nvSpPr>
        <p:spPr>
          <a:xfrm>
            <a:off x="457200" y="914400"/>
            <a:ext cx="8229600" cy="5410200"/>
          </a:xfrm>
        </p:spPr>
        <p:txBody>
          <a:bodyPr>
            <a:normAutofit/>
          </a:bodyPr>
          <a:lstStyle/>
          <a:p>
            <a:r>
              <a:rPr lang="en-GB" dirty="0">
                <a:latin typeface="Times New Roman" pitchFamily="18" charset="0"/>
                <a:cs typeface="Times New Roman" pitchFamily="18" charset="0"/>
              </a:rPr>
              <a:t>They are produced naturally during fermentation of food by LAB.</a:t>
            </a:r>
          </a:p>
          <a:p>
            <a:r>
              <a:rPr lang="en-GB" dirty="0">
                <a:latin typeface="Times New Roman" pitchFamily="18" charset="0"/>
                <a:cs typeface="Times New Roman" pitchFamily="18" charset="0"/>
              </a:rPr>
              <a:t> Even though they have antimicrobial activity, primarily, lactic acids are used as pH control agents and flavours.</a:t>
            </a:r>
          </a:p>
          <a:p>
            <a:r>
              <a:rPr lang="en-GB" dirty="0">
                <a:latin typeface="Times New Roman" pitchFamily="18" charset="0"/>
                <a:cs typeface="Times New Roman" pitchFamily="18" charset="0"/>
              </a:rPr>
              <a:t> Lactic acid inhibits </a:t>
            </a:r>
            <a:r>
              <a:rPr lang="en-GB" i="1" dirty="0">
                <a:latin typeface="Times New Roman" pitchFamily="18" charset="0"/>
                <a:cs typeface="Times New Roman" pitchFamily="18" charset="0"/>
              </a:rPr>
              <a:t>Staphylococcus </a:t>
            </a:r>
            <a:r>
              <a:rPr lang="en-GB" i="1" dirty="0" err="1">
                <a:latin typeface="Times New Roman" pitchFamily="18" charset="0"/>
                <a:cs typeface="Times New Roman" pitchFamily="18" charset="0"/>
              </a:rPr>
              <a:t>aureus</a:t>
            </a:r>
            <a:r>
              <a:rPr lang="en-GB" i="1" dirty="0">
                <a:latin typeface="Times New Roman" pitchFamily="18" charset="0"/>
                <a:cs typeface="Times New Roman" pitchFamily="18" charset="0"/>
              </a:rPr>
              <a:t>, Yersinia </a:t>
            </a:r>
            <a:r>
              <a:rPr lang="en-GB" i="1" dirty="0" err="1">
                <a:latin typeface="Times New Roman" pitchFamily="18" charset="0"/>
                <a:cs typeface="Times New Roman" pitchFamily="18" charset="0"/>
              </a:rPr>
              <a:t>enterocolitica</a:t>
            </a:r>
            <a:r>
              <a:rPr lang="en-GB" dirty="0">
                <a:latin typeface="Times New Roman" pitchFamily="18" charset="0"/>
                <a:cs typeface="Times New Roman" pitchFamily="18" charset="0"/>
              </a:rPr>
              <a:t> and spore-forming bacteria.</a:t>
            </a:r>
          </a:p>
          <a:p>
            <a:r>
              <a:rPr lang="en-GB" dirty="0">
                <a:latin typeface="Times New Roman" pitchFamily="18" charset="0"/>
                <a:cs typeface="Times New Roman" pitchFamily="18" charset="0"/>
              </a:rPr>
              <a:t> It is used as a sanitizer on meat and poultry carcasses to control pathogens. </a:t>
            </a:r>
          </a:p>
          <a:p>
            <a:r>
              <a:rPr lang="en-GB" dirty="0">
                <a:latin typeface="Times New Roman" pitchFamily="18" charset="0"/>
                <a:cs typeface="Times New Roman" pitchFamily="18" charset="0"/>
              </a:rPr>
              <a:t>Sodium lactate inhibits </a:t>
            </a:r>
            <a:r>
              <a:rPr lang="en-GB" i="1" dirty="0">
                <a:latin typeface="Times New Roman" pitchFamily="18" charset="0"/>
                <a:cs typeface="Times New Roman" pitchFamily="18" charset="0"/>
              </a:rPr>
              <a:t>Clostridium botulinum, C. </a:t>
            </a:r>
            <a:r>
              <a:rPr lang="en-GB" i="1" dirty="0" err="1">
                <a:latin typeface="Times New Roman" pitchFamily="18" charset="0"/>
                <a:cs typeface="Times New Roman" pitchFamily="18" charset="0"/>
              </a:rPr>
              <a:t>sporogens</a:t>
            </a:r>
            <a:r>
              <a:rPr lang="en-GB" dirty="0">
                <a:latin typeface="Times New Roman" pitchFamily="18" charset="0"/>
                <a:cs typeface="Times New Roman" pitchFamily="18" charset="0"/>
              </a:rPr>
              <a:t>, </a:t>
            </a:r>
            <a:r>
              <a:rPr lang="en-GB" i="1" dirty="0">
                <a:latin typeface="Times New Roman" pitchFamily="18" charset="0"/>
                <a:cs typeface="Times New Roman" pitchFamily="18" charset="0"/>
              </a:rPr>
              <a:t>Staphylococcus </a:t>
            </a:r>
            <a:r>
              <a:rPr lang="en-GB" i="1" dirty="0" err="1">
                <a:latin typeface="Times New Roman" pitchFamily="18" charset="0"/>
                <a:cs typeface="Times New Roman" pitchFamily="18" charset="0"/>
              </a:rPr>
              <a:t>aureus</a:t>
            </a:r>
            <a:r>
              <a:rPr lang="en-GB" dirty="0">
                <a:latin typeface="Times New Roman" pitchFamily="18" charset="0"/>
                <a:cs typeface="Times New Roman" pitchFamily="18" charset="0"/>
              </a:rPr>
              <a:t> and spoilage bacteria in various meat products</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1581198608"/>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62000"/>
          </a:xfrm>
        </p:spPr>
        <p:txBody>
          <a:bodyPr>
            <a:normAutofit fontScale="90000"/>
          </a:bodyPr>
          <a:lstStyle/>
          <a:p>
            <a:r>
              <a:rPr lang="en-US" dirty="0"/>
              <a:t/>
            </a:r>
            <a:br>
              <a:rPr lang="en-US" dirty="0"/>
            </a:br>
            <a:r>
              <a:rPr lang="en-GB" dirty="0">
                <a:latin typeface="Times New Roman" pitchFamily="18" charset="0"/>
                <a:cs typeface="Times New Roman" pitchFamily="18" charset="0"/>
              </a:rPr>
              <a:t>Propionic acid and Propionate</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457200" y="1066800"/>
            <a:ext cx="8229600" cy="5257800"/>
          </a:xfrm>
        </p:spPr>
        <p:txBody>
          <a:bodyPr>
            <a:normAutofit fontScale="92500" lnSpcReduction="10000"/>
          </a:bodyPr>
          <a:lstStyle/>
          <a:p>
            <a:r>
              <a:rPr lang="en-GB" dirty="0">
                <a:latin typeface="Times New Roman" pitchFamily="18" charset="0"/>
                <a:cs typeface="Times New Roman" pitchFamily="18" charset="0"/>
              </a:rPr>
              <a:t>Occurs in a number of plants and is also produced by the activity of propionic bacteria in certain cheese.</a:t>
            </a:r>
          </a:p>
          <a:p>
            <a:r>
              <a:rPr lang="en-GB" dirty="0">
                <a:latin typeface="Times New Roman" pitchFamily="18" charset="0"/>
                <a:cs typeface="Times New Roman" pitchFamily="18" charset="0"/>
              </a:rPr>
              <a:t> Used as a mould inhibitor in cheese and in baked products where it inhibits rope-forming </a:t>
            </a:r>
            <a:r>
              <a:rPr lang="en-GB" i="1" dirty="0">
                <a:latin typeface="Times New Roman" pitchFamily="18" charset="0"/>
                <a:cs typeface="Times New Roman" pitchFamily="18" charset="0"/>
              </a:rPr>
              <a:t>Bacillus</a:t>
            </a:r>
            <a:r>
              <a:rPr lang="en-GB" dirty="0">
                <a:latin typeface="Times New Roman" pitchFamily="18" charset="0"/>
                <a:cs typeface="Times New Roman" pitchFamily="18" charset="0"/>
              </a:rPr>
              <a:t>. </a:t>
            </a:r>
          </a:p>
          <a:p>
            <a:r>
              <a:rPr lang="en-GB" dirty="0">
                <a:latin typeface="Times New Roman" pitchFamily="18" charset="0"/>
                <a:cs typeface="Times New Roman" pitchFamily="18" charset="0"/>
              </a:rPr>
              <a:t>Their activity depends on the pH of the food substance to be preserved. Sodium, Potassium and Calcium propionates are also effective against moulds. </a:t>
            </a:r>
          </a:p>
          <a:p>
            <a:r>
              <a:rPr lang="en-GB" dirty="0">
                <a:latin typeface="Times New Roman" pitchFamily="18" charset="0"/>
                <a:cs typeface="Times New Roman" pitchFamily="18" charset="0"/>
              </a:rPr>
              <a:t>The salts also inhibit the growth of bacteria; e.g. </a:t>
            </a:r>
            <a:r>
              <a:rPr lang="en-GB" i="1" dirty="0">
                <a:latin typeface="Times New Roman" pitchFamily="18" charset="0"/>
                <a:cs typeface="Times New Roman" pitchFamily="18" charset="0"/>
              </a:rPr>
              <a:t>E. coli</a:t>
            </a:r>
            <a:r>
              <a:rPr lang="en-GB" dirty="0">
                <a:latin typeface="Times New Roman" pitchFamily="18" charset="0"/>
                <a:cs typeface="Times New Roman" pitchFamily="18" charset="0"/>
              </a:rPr>
              <a:t>, </a:t>
            </a:r>
            <a:r>
              <a:rPr lang="en-GB" i="1" dirty="0">
                <a:latin typeface="Times New Roman" pitchFamily="18" charset="0"/>
                <a:cs typeface="Times New Roman" pitchFamily="18" charset="0"/>
              </a:rPr>
              <a:t>S. aureus</a:t>
            </a:r>
            <a:r>
              <a:rPr lang="en-GB" dirty="0">
                <a:latin typeface="Times New Roman" pitchFamily="18" charset="0"/>
                <a:cs typeface="Times New Roman" pitchFamily="18" charset="0"/>
              </a:rPr>
              <a:t>, </a:t>
            </a:r>
            <a:r>
              <a:rPr lang="en-GB" i="1" dirty="0">
                <a:latin typeface="Times New Roman" pitchFamily="18" charset="0"/>
                <a:cs typeface="Times New Roman" pitchFamily="18" charset="0"/>
              </a:rPr>
              <a:t>Salmonella </a:t>
            </a:r>
            <a:r>
              <a:rPr lang="en-GB" dirty="0">
                <a:latin typeface="Times New Roman" pitchFamily="18" charset="0"/>
                <a:cs typeface="Times New Roman" pitchFamily="18" charset="0"/>
              </a:rPr>
              <a:t>spp., </a:t>
            </a:r>
            <a:r>
              <a:rPr lang="en-GB" i="1" dirty="0">
                <a:latin typeface="Times New Roman" pitchFamily="18" charset="0"/>
                <a:cs typeface="Times New Roman" pitchFamily="18" charset="0"/>
              </a:rPr>
              <a:t>Proteus vulgaris</a:t>
            </a:r>
            <a:r>
              <a:rPr lang="en-GB" dirty="0">
                <a:latin typeface="Times New Roman" pitchFamily="18" charset="0"/>
                <a:cs typeface="Times New Roman" pitchFamily="18" charset="0"/>
              </a:rPr>
              <a:t>, Yeast such as </a:t>
            </a:r>
            <a:r>
              <a:rPr lang="en-GB" i="1" dirty="0">
                <a:latin typeface="Times New Roman" pitchFamily="18" charset="0"/>
                <a:cs typeface="Times New Roman" pitchFamily="18" charset="0"/>
              </a:rPr>
              <a:t>Candida sp</a:t>
            </a:r>
            <a:r>
              <a:rPr lang="en-GB" dirty="0">
                <a:latin typeface="Times New Roman" pitchFamily="18" charset="0"/>
                <a:cs typeface="Times New Roman" pitchFamily="18" charset="0"/>
              </a:rPr>
              <a:t>. and </a:t>
            </a:r>
            <a:r>
              <a:rPr lang="en-GB" i="1" dirty="0">
                <a:latin typeface="Times New Roman" pitchFamily="18" charset="0"/>
                <a:cs typeface="Times New Roman" pitchFamily="18" charset="0"/>
              </a:rPr>
              <a:t>Saccharomyces</a:t>
            </a:r>
            <a:r>
              <a:rPr lang="en-GB" dirty="0">
                <a:latin typeface="Times New Roman" pitchFamily="18" charset="0"/>
                <a:cs typeface="Times New Roman" pitchFamily="18" charset="0"/>
              </a:rPr>
              <a:t>. </a:t>
            </a:r>
          </a:p>
          <a:p>
            <a:r>
              <a:rPr lang="en-GB" dirty="0">
                <a:latin typeface="Times New Roman" pitchFamily="18" charset="0"/>
                <a:cs typeface="Times New Roman" pitchFamily="18" charset="0"/>
              </a:rPr>
              <a:t>They have no effects on the bakers’ yeast and are added directly to bread dough to control other microbes. </a:t>
            </a:r>
          </a:p>
          <a:p>
            <a:r>
              <a:rPr lang="en-GB" dirty="0">
                <a:latin typeface="Times New Roman" pitchFamily="18" charset="0"/>
                <a:cs typeface="Times New Roman" pitchFamily="18" charset="0"/>
              </a:rPr>
              <a:t>It inhibits amino acids intake in some microbes, e.g. </a:t>
            </a:r>
            <a:r>
              <a:rPr lang="en-GB" i="1" dirty="0">
                <a:latin typeface="Times New Roman" pitchFamily="18" charset="0"/>
                <a:cs typeface="Times New Roman" pitchFamily="18" charset="0"/>
              </a:rPr>
              <a:t>P. </a:t>
            </a:r>
            <a:r>
              <a:rPr lang="en-GB" i="1" dirty="0" err="1">
                <a:latin typeface="Times New Roman" pitchFamily="18" charset="0"/>
                <a:cs typeface="Times New Roman" pitchFamily="18" charset="0"/>
              </a:rPr>
              <a:t>chrysogenum</a:t>
            </a:r>
            <a:r>
              <a:rPr lang="en-GB" dirty="0">
                <a:latin typeface="Times New Roman" pitchFamily="18" charset="0"/>
                <a:cs typeface="Times New Roman" pitchFamily="18" charset="0"/>
              </a:rPr>
              <a:t>.</a:t>
            </a:r>
            <a:endParaRPr lang="en-US" dirty="0">
              <a:latin typeface="Times New Roman" pitchFamily="18" charset="0"/>
              <a:cs typeface="Times New Roman" pitchFamily="18" charset="0"/>
            </a:endParaRPr>
          </a:p>
          <a:p>
            <a:endParaRPr lang="en-US" dirty="0"/>
          </a:p>
        </p:txBody>
      </p:sp>
    </p:spTree>
    <p:extLst>
      <p:ext uri="{BB962C8B-B14F-4D97-AF65-F5344CB8AC3E}">
        <p14:creationId xmlns:p14="http://schemas.microsoft.com/office/powerpoint/2010/main" val="2266636304"/>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
            <a:ext cx="8229600" cy="609600"/>
          </a:xfrm>
        </p:spPr>
        <p:txBody>
          <a:bodyPr>
            <a:normAutofit fontScale="90000"/>
          </a:bodyPr>
          <a:lstStyle/>
          <a:p>
            <a:r>
              <a:rPr lang="en-US" dirty="0"/>
              <a:t/>
            </a:r>
            <a:br>
              <a:rPr lang="en-US" dirty="0"/>
            </a:br>
            <a:r>
              <a:rPr lang="en-GB" dirty="0">
                <a:latin typeface="Times New Roman" pitchFamily="18" charset="0"/>
                <a:cs typeface="Times New Roman" pitchFamily="18" charset="0"/>
              </a:rPr>
              <a:t>Sorbic acids and Sorbates</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457200" y="838200"/>
            <a:ext cx="8229600" cy="5486400"/>
          </a:xfrm>
        </p:spPr>
        <p:txBody>
          <a:bodyPr>
            <a:normAutofit lnSpcReduction="10000"/>
          </a:bodyPr>
          <a:lstStyle/>
          <a:p>
            <a:r>
              <a:rPr lang="en-GB" dirty="0">
                <a:latin typeface="Times New Roman" pitchFamily="18" charset="0"/>
                <a:cs typeface="Times New Roman" pitchFamily="18" charset="0"/>
              </a:rPr>
              <a:t>They are the best characterised of all food antimicrobials. </a:t>
            </a:r>
          </a:p>
          <a:p>
            <a:r>
              <a:rPr lang="en-GB" dirty="0">
                <a:latin typeface="Times New Roman" pitchFamily="18" charset="0"/>
                <a:cs typeface="Times New Roman" pitchFamily="18" charset="0"/>
              </a:rPr>
              <a:t>Like other organic acids, the antimicrobial activity is most effective when the compound is in the undissociated form. </a:t>
            </a:r>
          </a:p>
          <a:p>
            <a:r>
              <a:rPr lang="en-GB" dirty="0">
                <a:latin typeface="Times New Roman" pitchFamily="18" charset="0"/>
                <a:cs typeface="Times New Roman" pitchFamily="18" charset="0"/>
              </a:rPr>
              <a:t>Employed as food preservatives usually as Sodium, Calcium and Potassium salts.</a:t>
            </a:r>
            <a:endParaRPr lang="en-US" dirty="0">
              <a:latin typeface="Times New Roman" pitchFamily="18" charset="0"/>
              <a:cs typeface="Times New Roman" pitchFamily="18" charset="0"/>
            </a:endParaRPr>
          </a:p>
          <a:p>
            <a:r>
              <a:rPr lang="en-GB" dirty="0">
                <a:latin typeface="Times New Roman" pitchFamily="18" charset="0"/>
                <a:cs typeface="Times New Roman" pitchFamily="18" charset="0"/>
              </a:rPr>
              <a:t>Their permissible levels in food </a:t>
            </a:r>
            <a:r>
              <a:rPr lang="en-GB" dirty="0" err="1">
                <a:latin typeface="Times New Roman" pitchFamily="18" charset="0"/>
                <a:cs typeface="Times New Roman" pitchFamily="18" charset="0"/>
              </a:rPr>
              <a:t>donot</a:t>
            </a:r>
            <a:r>
              <a:rPr lang="en-GB" dirty="0">
                <a:latin typeface="Times New Roman" pitchFamily="18" charset="0"/>
                <a:cs typeface="Times New Roman" pitchFamily="18" charset="0"/>
              </a:rPr>
              <a:t> exceed 0.2% and they are effective in acid foods than in neutral foods.</a:t>
            </a:r>
          </a:p>
          <a:p>
            <a:r>
              <a:rPr lang="en-GB" dirty="0">
                <a:latin typeface="Times New Roman" pitchFamily="18" charset="0"/>
                <a:cs typeface="Times New Roman" pitchFamily="18" charset="0"/>
              </a:rPr>
              <a:t> They work best below pH 6.0. </a:t>
            </a:r>
          </a:p>
          <a:p>
            <a:r>
              <a:rPr lang="en-GB" dirty="0">
                <a:latin typeface="Times New Roman" pitchFamily="18" charset="0"/>
                <a:cs typeface="Times New Roman" pitchFamily="18" charset="0"/>
              </a:rPr>
              <a:t>Sorbates are primarily effective against moulds and yeast and also effective against a wide range of bacteria.</a:t>
            </a:r>
          </a:p>
          <a:p>
            <a:r>
              <a:rPr lang="en-GB" dirty="0">
                <a:latin typeface="Times New Roman" pitchFamily="18" charset="0"/>
                <a:cs typeface="Times New Roman" pitchFamily="18" charset="0"/>
              </a:rPr>
              <a:t> In general, the catalase positive </a:t>
            </a:r>
            <a:r>
              <a:rPr lang="en-GB" dirty="0" err="1">
                <a:latin typeface="Times New Roman" pitchFamily="18" charset="0"/>
                <a:cs typeface="Times New Roman" pitchFamily="18" charset="0"/>
              </a:rPr>
              <a:t>cocci</a:t>
            </a:r>
            <a:r>
              <a:rPr lang="en-GB" dirty="0">
                <a:latin typeface="Times New Roman" pitchFamily="18" charset="0"/>
                <a:cs typeface="Times New Roman" pitchFamily="18" charset="0"/>
              </a:rPr>
              <a:t> are more sensitive than the catalase negatives and aerobes are more sensitive than anaerobes</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744215124"/>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838200"/>
          </a:xfrm>
        </p:spPr>
        <p:txBody>
          <a:bodyPr>
            <a:normAutofit fontScale="90000"/>
          </a:bodyPr>
          <a:lstStyle/>
          <a:p>
            <a:r>
              <a:rPr lang="en-GB" dirty="0">
                <a:latin typeface="Times New Roman" pitchFamily="18" charset="0"/>
                <a:cs typeface="Times New Roman" pitchFamily="18" charset="0"/>
              </a:rPr>
              <a:t>Sorbic acids and Sorbates….contd.</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685800" y="1066800"/>
            <a:ext cx="8229600" cy="5257800"/>
          </a:xfrm>
        </p:spPr>
        <p:txBody>
          <a:bodyPr>
            <a:normAutofit/>
          </a:bodyPr>
          <a:lstStyle/>
          <a:p>
            <a:r>
              <a:rPr lang="en-GB" dirty="0">
                <a:latin typeface="Times New Roman" pitchFamily="18" charset="0"/>
                <a:cs typeface="Times New Roman" pitchFamily="18" charset="0"/>
              </a:rPr>
              <a:t>They are active  against </a:t>
            </a:r>
            <a:r>
              <a:rPr lang="en-GB" i="1" dirty="0">
                <a:latin typeface="Times New Roman" pitchFamily="18" charset="0"/>
                <a:cs typeface="Times New Roman" pitchFamily="18" charset="0"/>
              </a:rPr>
              <a:t>Salmonella</a:t>
            </a:r>
            <a:r>
              <a:rPr lang="en-GB" dirty="0">
                <a:latin typeface="Times New Roman" pitchFamily="18" charset="0"/>
                <a:cs typeface="Times New Roman" pitchFamily="18" charset="0"/>
              </a:rPr>
              <a:t>, coliforms and </a:t>
            </a:r>
            <a:r>
              <a:rPr lang="en-GB" i="1" dirty="0">
                <a:latin typeface="Times New Roman" pitchFamily="18" charset="0"/>
                <a:cs typeface="Times New Roman" pitchFamily="18" charset="0"/>
              </a:rPr>
              <a:t>Pseudomonas</a:t>
            </a:r>
            <a:r>
              <a:rPr lang="en-GB" dirty="0">
                <a:latin typeface="Times New Roman" pitchFamily="18" charset="0"/>
                <a:cs typeface="Times New Roman" pitchFamily="18" charset="0"/>
              </a:rPr>
              <a:t> ,and also moulds and certain yeast. </a:t>
            </a:r>
          </a:p>
          <a:p>
            <a:r>
              <a:rPr lang="en-GB" dirty="0">
                <a:latin typeface="Times New Roman" pitchFamily="18" charset="0"/>
                <a:cs typeface="Times New Roman" pitchFamily="18" charset="0"/>
              </a:rPr>
              <a:t>Food related yeast inhibited by sorbates include species of </a:t>
            </a:r>
            <a:r>
              <a:rPr lang="en-GB" i="1" dirty="0">
                <a:latin typeface="Times New Roman" pitchFamily="18" charset="0"/>
                <a:cs typeface="Times New Roman" pitchFamily="18" charset="0"/>
              </a:rPr>
              <a:t>Brettanomyces</a:t>
            </a:r>
            <a:r>
              <a:rPr lang="en-GB" dirty="0">
                <a:latin typeface="Times New Roman" pitchFamily="18" charset="0"/>
                <a:cs typeface="Times New Roman" pitchFamily="18" charset="0"/>
              </a:rPr>
              <a:t>, </a:t>
            </a:r>
            <a:r>
              <a:rPr lang="en-GB" i="1" dirty="0">
                <a:latin typeface="Times New Roman" pitchFamily="18" charset="0"/>
                <a:cs typeface="Times New Roman" pitchFamily="18" charset="0"/>
              </a:rPr>
              <a:t>Byssochlamys,Candida, Debaryomyces, Hansenula</a:t>
            </a:r>
            <a:r>
              <a:rPr lang="en-GB" dirty="0">
                <a:latin typeface="Times New Roman" pitchFamily="18" charset="0"/>
                <a:cs typeface="Times New Roman" pitchFamily="18" charset="0"/>
              </a:rPr>
              <a:t> and </a:t>
            </a:r>
            <a:r>
              <a:rPr lang="en-GB" i="1" dirty="0">
                <a:latin typeface="Times New Roman" pitchFamily="18" charset="0"/>
                <a:cs typeface="Times New Roman" pitchFamily="18" charset="0"/>
              </a:rPr>
              <a:t>Pichia</a:t>
            </a:r>
            <a:r>
              <a:rPr lang="en-GB" dirty="0">
                <a:latin typeface="Times New Roman" pitchFamily="18" charset="0"/>
                <a:cs typeface="Times New Roman" pitchFamily="18" charset="0"/>
              </a:rPr>
              <a:t>. </a:t>
            </a:r>
          </a:p>
          <a:p>
            <a:r>
              <a:rPr lang="en-GB" dirty="0">
                <a:latin typeface="Times New Roman" pitchFamily="18" charset="0"/>
                <a:cs typeface="Times New Roman" pitchFamily="18" charset="0"/>
              </a:rPr>
              <a:t>Moulds sensitive to sorbates include </a:t>
            </a:r>
            <a:r>
              <a:rPr lang="en-GB" i="1" dirty="0">
                <a:latin typeface="Times New Roman" pitchFamily="18" charset="0"/>
                <a:cs typeface="Times New Roman" pitchFamily="18" charset="0"/>
              </a:rPr>
              <a:t>Aspergillus, Botrytis, Alternaria, Fusarium, Cephalosporium, Helminthosporium, Penicillium, Mucor and Trichoderma</a:t>
            </a:r>
            <a:r>
              <a:rPr lang="en-GB" dirty="0">
                <a:latin typeface="Times New Roman" pitchFamily="18" charset="0"/>
                <a:cs typeface="Times New Roman" pitchFamily="18" charset="0"/>
              </a:rPr>
              <a:t>. </a:t>
            </a:r>
          </a:p>
          <a:p>
            <a:r>
              <a:rPr lang="en-GB" dirty="0">
                <a:latin typeface="Times New Roman" pitchFamily="18" charset="0"/>
                <a:cs typeface="Times New Roman" pitchFamily="18" charset="0"/>
              </a:rPr>
              <a:t>Sorbates inhibit growth and mycotoxin production by mycotoxigenic moulds, e.g. </a:t>
            </a:r>
            <a:r>
              <a:rPr lang="en-GB" i="1" dirty="0" err="1">
                <a:latin typeface="Times New Roman" pitchFamily="18" charset="0"/>
                <a:cs typeface="Times New Roman" pitchFamily="18" charset="0"/>
              </a:rPr>
              <a:t>Aspergillus</a:t>
            </a:r>
            <a:r>
              <a:rPr lang="en-GB" i="1" dirty="0">
                <a:latin typeface="Times New Roman" pitchFamily="18" charset="0"/>
                <a:cs typeface="Times New Roman" pitchFamily="18" charset="0"/>
              </a:rPr>
              <a:t> parasiticus</a:t>
            </a:r>
            <a:r>
              <a:rPr lang="en-GB" dirty="0">
                <a:latin typeface="Times New Roman" pitchFamily="18" charset="0"/>
                <a:cs typeface="Times New Roman" pitchFamily="18" charset="0"/>
              </a:rPr>
              <a:t>, </a:t>
            </a:r>
            <a:r>
              <a:rPr lang="en-GB" i="1" dirty="0">
                <a:latin typeface="Times New Roman" pitchFamily="18" charset="0"/>
                <a:cs typeface="Times New Roman" pitchFamily="18" charset="0"/>
              </a:rPr>
              <a:t>A. flavus</a:t>
            </a:r>
            <a:r>
              <a:rPr lang="en-GB" dirty="0">
                <a:latin typeface="Times New Roman" pitchFamily="18" charset="0"/>
                <a:cs typeface="Times New Roman" pitchFamily="18" charset="0"/>
              </a:rPr>
              <a:t>, </a:t>
            </a:r>
            <a:r>
              <a:rPr lang="en-GB" i="1" dirty="0">
                <a:latin typeface="Times New Roman" pitchFamily="18" charset="0"/>
                <a:cs typeface="Times New Roman" pitchFamily="18" charset="0"/>
              </a:rPr>
              <a:t>Penicillium expansum</a:t>
            </a:r>
            <a:r>
              <a:rPr lang="en-GB" dirty="0">
                <a:latin typeface="Times New Roman" pitchFamily="18" charset="0"/>
                <a:cs typeface="Times New Roman" pitchFamily="18" charset="0"/>
              </a:rPr>
              <a:t> and </a:t>
            </a:r>
            <a:r>
              <a:rPr lang="en-GB" i="1" dirty="0">
                <a:latin typeface="Times New Roman" pitchFamily="18" charset="0"/>
                <a:cs typeface="Times New Roman" pitchFamily="18" charset="0"/>
              </a:rPr>
              <a:t>P. patulum</a:t>
            </a:r>
            <a:r>
              <a:rPr lang="en-GB" dirty="0">
                <a:latin typeface="Times New Roman" pitchFamily="18" charset="0"/>
                <a:cs typeface="Times New Roman" pitchFamily="18" charset="0"/>
              </a:rPr>
              <a:t>.</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664309839"/>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62000"/>
          </a:xfrm>
        </p:spPr>
        <p:txBody>
          <a:bodyPr>
            <a:normAutofit fontScale="90000"/>
          </a:bodyPr>
          <a:lstStyle/>
          <a:p>
            <a:r>
              <a:rPr lang="en-GB" dirty="0">
                <a:latin typeface="Times New Roman" pitchFamily="18" charset="0"/>
                <a:cs typeface="Times New Roman" pitchFamily="18" charset="0"/>
              </a:rPr>
              <a:t>Sorbic acids and Sorbates..contd.</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457200" y="1447800"/>
            <a:ext cx="8229600" cy="4876800"/>
          </a:xfrm>
        </p:spPr>
        <p:txBody>
          <a:bodyPr/>
          <a:lstStyle/>
          <a:p>
            <a:r>
              <a:rPr lang="en-GB" dirty="0" err="1">
                <a:latin typeface="Times New Roman" pitchFamily="18" charset="0"/>
                <a:cs typeface="Times New Roman" pitchFamily="18" charset="0"/>
              </a:rPr>
              <a:t>Sorbate</a:t>
            </a:r>
            <a:r>
              <a:rPr lang="en-GB" dirty="0">
                <a:latin typeface="Times New Roman" pitchFamily="18" charset="0"/>
                <a:cs typeface="Times New Roman" pitchFamily="18" charset="0"/>
              </a:rPr>
              <a:t> is also active against such bacteria as </a:t>
            </a:r>
            <a:r>
              <a:rPr lang="en-GB" i="1" dirty="0" err="1">
                <a:latin typeface="Times New Roman" pitchFamily="18" charset="0"/>
                <a:cs typeface="Times New Roman" pitchFamily="18" charset="0"/>
              </a:rPr>
              <a:t>Acinetobacter</a:t>
            </a:r>
            <a:r>
              <a:rPr lang="en-GB" dirty="0">
                <a:latin typeface="Times New Roman" pitchFamily="18" charset="0"/>
                <a:cs typeface="Times New Roman" pitchFamily="18" charset="0"/>
              </a:rPr>
              <a:t>, </a:t>
            </a:r>
            <a:r>
              <a:rPr lang="en-GB" i="1" dirty="0" err="1">
                <a:latin typeface="Times New Roman" pitchFamily="18" charset="0"/>
                <a:cs typeface="Times New Roman" pitchFamily="18" charset="0"/>
              </a:rPr>
              <a:t>Aeromonas</a:t>
            </a:r>
            <a:r>
              <a:rPr lang="en-GB" dirty="0">
                <a:latin typeface="Times New Roman" pitchFamily="18" charset="0"/>
                <a:cs typeface="Times New Roman" pitchFamily="18" charset="0"/>
              </a:rPr>
              <a:t>, </a:t>
            </a:r>
            <a:r>
              <a:rPr lang="en-GB" i="1" dirty="0">
                <a:latin typeface="Times New Roman" pitchFamily="18" charset="0"/>
                <a:cs typeface="Times New Roman" pitchFamily="18" charset="0"/>
              </a:rPr>
              <a:t>Bacillus</a:t>
            </a:r>
            <a:r>
              <a:rPr lang="en-GB" dirty="0">
                <a:latin typeface="Times New Roman" pitchFamily="18" charset="0"/>
                <a:cs typeface="Times New Roman" pitchFamily="18" charset="0"/>
              </a:rPr>
              <a:t>, </a:t>
            </a:r>
            <a:r>
              <a:rPr lang="en-GB" i="1" dirty="0">
                <a:latin typeface="Times New Roman" pitchFamily="18" charset="0"/>
                <a:cs typeface="Times New Roman" pitchFamily="18" charset="0"/>
              </a:rPr>
              <a:t>Campylobacter</a:t>
            </a:r>
            <a:r>
              <a:rPr lang="en-GB" dirty="0">
                <a:latin typeface="Times New Roman" pitchFamily="18" charset="0"/>
                <a:cs typeface="Times New Roman" pitchFamily="18" charset="0"/>
              </a:rPr>
              <a:t>, and </a:t>
            </a:r>
            <a:r>
              <a:rPr lang="en-GB" i="1" dirty="0">
                <a:latin typeface="Times New Roman" pitchFamily="18" charset="0"/>
                <a:cs typeface="Times New Roman" pitchFamily="18" charset="0"/>
              </a:rPr>
              <a:t>Clostridium</a:t>
            </a:r>
            <a:r>
              <a:rPr lang="en-GB" dirty="0">
                <a:latin typeface="Times New Roman" pitchFamily="18" charset="0"/>
                <a:cs typeface="Times New Roman" pitchFamily="18" charset="0"/>
              </a:rPr>
              <a:t>.</a:t>
            </a:r>
            <a:endParaRPr lang="en-US" dirty="0">
              <a:latin typeface="Times New Roman" pitchFamily="18" charset="0"/>
              <a:cs typeface="Times New Roman" pitchFamily="18" charset="0"/>
            </a:endParaRPr>
          </a:p>
          <a:p>
            <a:r>
              <a:rPr lang="en-GB" dirty="0">
                <a:latin typeface="Times New Roman" pitchFamily="18" charset="0"/>
                <a:cs typeface="Times New Roman" pitchFamily="18" charset="0"/>
              </a:rPr>
              <a:t>Sorbates are effective anti-</a:t>
            </a:r>
            <a:r>
              <a:rPr lang="en-GB" dirty="0" err="1">
                <a:latin typeface="Times New Roman" pitchFamily="18" charset="0"/>
                <a:cs typeface="Times New Roman" pitchFamily="18" charset="0"/>
              </a:rPr>
              <a:t>clostridial</a:t>
            </a:r>
            <a:r>
              <a:rPr lang="en-GB" dirty="0">
                <a:latin typeface="Times New Roman" pitchFamily="18" charset="0"/>
                <a:cs typeface="Times New Roman" pitchFamily="18" charset="0"/>
              </a:rPr>
              <a:t> agents in cured meat, other meats and sea food.</a:t>
            </a:r>
          </a:p>
          <a:p>
            <a:r>
              <a:rPr lang="en-GB" dirty="0">
                <a:latin typeface="Times New Roman" pitchFamily="18" charset="0"/>
                <a:cs typeface="Times New Roman" pitchFamily="18" charset="0"/>
              </a:rPr>
              <a:t> Sorbates prevent spores of </a:t>
            </a:r>
            <a:r>
              <a:rPr lang="en-GB" i="1" dirty="0">
                <a:latin typeface="Times New Roman" pitchFamily="18" charset="0"/>
                <a:cs typeface="Times New Roman" pitchFamily="18" charset="0"/>
              </a:rPr>
              <a:t>C. botulinum</a:t>
            </a:r>
            <a:r>
              <a:rPr lang="en-GB" dirty="0">
                <a:latin typeface="Times New Roman" pitchFamily="18" charset="0"/>
                <a:cs typeface="Times New Roman" pitchFamily="18" charset="0"/>
              </a:rPr>
              <a:t> from germinating and forming toxins in beef, pork and poultry</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146041996"/>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62000"/>
          </a:xfrm>
        </p:spPr>
        <p:txBody>
          <a:bodyPr>
            <a:normAutofit fontScale="90000"/>
          </a:bodyPr>
          <a:lstStyle/>
          <a:p>
            <a:r>
              <a:rPr lang="en-US" dirty="0"/>
              <a:t/>
            </a:r>
            <a:br>
              <a:rPr lang="en-US" dirty="0"/>
            </a:br>
            <a:r>
              <a:rPr lang="en-GB" dirty="0">
                <a:latin typeface="Times New Roman" pitchFamily="18" charset="0"/>
                <a:cs typeface="Times New Roman" pitchFamily="18" charset="0"/>
              </a:rPr>
              <a:t>FERMENTATION</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457200" y="990600"/>
            <a:ext cx="8229600" cy="5334000"/>
          </a:xfrm>
        </p:spPr>
        <p:txBody>
          <a:bodyPr>
            <a:normAutofit fontScale="92500" lnSpcReduction="10000"/>
          </a:bodyPr>
          <a:lstStyle/>
          <a:p>
            <a:r>
              <a:rPr lang="en-GB" dirty="0">
                <a:latin typeface="Times New Roman" pitchFamily="18" charset="0"/>
                <a:cs typeface="Times New Roman" pitchFamily="18" charset="0"/>
              </a:rPr>
              <a:t>Numerous food products owe their production and characteristics to the activities of microorganisms.</a:t>
            </a:r>
          </a:p>
          <a:p>
            <a:r>
              <a:rPr lang="en-GB" dirty="0">
                <a:latin typeface="Times New Roman" pitchFamily="18" charset="0"/>
                <a:cs typeface="Times New Roman" pitchFamily="18" charset="0"/>
              </a:rPr>
              <a:t> Many of these including ripened cheese, pickles and sauerkraut, are preserved products in that their shelf-life is extended considerably over that of the raw materials from which they are made. </a:t>
            </a:r>
          </a:p>
          <a:p>
            <a:r>
              <a:rPr lang="en-GB" dirty="0">
                <a:latin typeface="Times New Roman" pitchFamily="18" charset="0"/>
                <a:cs typeface="Times New Roman" pitchFamily="18" charset="0"/>
              </a:rPr>
              <a:t>In addition to being made more shelf-stable, all fermented foods have aroma or flavour characteristics that result directly or indirectly from the fermentation organisms. </a:t>
            </a:r>
          </a:p>
          <a:p>
            <a:r>
              <a:rPr lang="en-GB" dirty="0">
                <a:latin typeface="Times New Roman" pitchFamily="18" charset="0"/>
                <a:cs typeface="Times New Roman" pitchFamily="18" charset="0"/>
              </a:rPr>
              <a:t>In some instances, the vitamin content of the fermented food is increased along with an increased digestibility of the raw material. </a:t>
            </a:r>
          </a:p>
          <a:p>
            <a:r>
              <a:rPr lang="en-GB" dirty="0">
                <a:latin typeface="Times New Roman" pitchFamily="18" charset="0"/>
                <a:cs typeface="Times New Roman" pitchFamily="18" charset="0"/>
              </a:rPr>
              <a:t>E.g. Sun-dried Konkonte is more digestible and nutritious than oven-dried</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661006242"/>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8229600" cy="838200"/>
          </a:xfrm>
        </p:spPr>
        <p:txBody>
          <a:bodyPr/>
          <a:lstStyle/>
          <a:p>
            <a:r>
              <a:rPr lang="en-GB" dirty="0">
                <a:latin typeface="Times New Roman" pitchFamily="18" charset="0"/>
                <a:cs typeface="Times New Roman" pitchFamily="18" charset="0"/>
              </a:rPr>
              <a:t>FERMENTATION….contd.</a:t>
            </a:r>
            <a:endParaRPr lang="en-GB" dirty="0"/>
          </a:p>
        </p:txBody>
      </p:sp>
      <p:sp>
        <p:nvSpPr>
          <p:cNvPr id="3" name="Content Placeholder 2"/>
          <p:cNvSpPr>
            <a:spLocks noGrp="1"/>
          </p:cNvSpPr>
          <p:nvPr>
            <p:ph idx="1"/>
          </p:nvPr>
        </p:nvSpPr>
        <p:spPr>
          <a:xfrm>
            <a:off x="228600" y="1066800"/>
            <a:ext cx="8458200" cy="5257800"/>
          </a:xfrm>
        </p:spPr>
        <p:txBody>
          <a:bodyPr>
            <a:normAutofit lnSpcReduction="10000"/>
          </a:bodyPr>
          <a:lstStyle/>
          <a:p>
            <a:r>
              <a:rPr lang="en-GB" dirty="0">
                <a:latin typeface="Times New Roman" pitchFamily="18" charset="0"/>
                <a:cs typeface="Times New Roman" pitchFamily="18" charset="0"/>
              </a:rPr>
              <a:t>The fermentation process can also reduce the toxicity of some foods e.g. </a:t>
            </a:r>
            <a:r>
              <a:rPr lang="en-GB" dirty="0" err="1">
                <a:latin typeface="Times New Roman" pitchFamily="18" charset="0"/>
                <a:cs typeface="Times New Roman" pitchFamily="18" charset="0"/>
              </a:rPr>
              <a:t>Gari</a:t>
            </a:r>
            <a:r>
              <a:rPr lang="en-GB" dirty="0">
                <a:latin typeface="Times New Roman" pitchFamily="18" charset="0"/>
                <a:cs typeface="Times New Roman" pitchFamily="18" charset="0"/>
              </a:rPr>
              <a:t> made from higher cyanide content cassava while others may become extremely toxic during fermentation e.g. the production of </a:t>
            </a:r>
            <a:r>
              <a:rPr lang="en-GB" dirty="0" err="1">
                <a:latin typeface="Times New Roman" pitchFamily="18" charset="0"/>
                <a:cs typeface="Times New Roman" pitchFamily="18" charset="0"/>
              </a:rPr>
              <a:t>aflatoxin</a:t>
            </a:r>
            <a:r>
              <a:rPr lang="en-GB" dirty="0">
                <a:latin typeface="Times New Roman" pitchFamily="18" charset="0"/>
                <a:cs typeface="Times New Roman" pitchFamily="18" charset="0"/>
              </a:rPr>
              <a:t>. </a:t>
            </a:r>
          </a:p>
          <a:p>
            <a:r>
              <a:rPr lang="en-GB" dirty="0">
                <a:latin typeface="Times New Roman" pitchFamily="18" charset="0"/>
                <a:cs typeface="Times New Roman" pitchFamily="18" charset="0"/>
              </a:rPr>
              <a:t>The microbial ecology of food and related fermentation has been studied for many years.</a:t>
            </a:r>
          </a:p>
          <a:p>
            <a:r>
              <a:rPr lang="en-GB" dirty="0">
                <a:latin typeface="Times New Roman" pitchFamily="18" charset="0"/>
                <a:cs typeface="Times New Roman" pitchFamily="18" charset="0"/>
              </a:rPr>
              <a:t> In most cases for </a:t>
            </a:r>
            <a:r>
              <a:rPr lang="en-GB" dirty="0" err="1">
                <a:latin typeface="Times New Roman" pitchFamily="18" charset="0"/>
                <a:cs typeface="Times New Roman" pitchFamily="18" charset="0"/>
              </a:rPr>
              <a:t>eg</a:t>
            </a:r>
            <a:r>
              <a:rPr lang="en-GB" dirty="0">
                <a:latin typeface="Times New Roman" pitchFamily="18" charset="0"/>
                <a:cs typeface="Times New Roman" pitchFamily="18" charset="0"/>
              </a:rPr>
              <a:t>. ripened cheese, sauerkraut and others, the activities of fermenting organisms are dependent on the intrinsic and extrinsic parameters of growth. </a:t>
            </a:r>
          </a:p>
          <a:p>
            <a:r>
              <a:rPr lang="en-GB" dirty="0">
                <a:latin typeface="Times New Roman" pitchFamily="18" charset="0"/>
                <a:cs typeface="Times New Roman" pitchFamily="18" charset="0"/>
              </a:rPr>
              <a:t>E.g. when the natural raw materials are acidic and contain free sugar, yeast develops readily and the alcohols they produce restrict the activities of naturally contaminating organisms.</a:t>
            </a:r>
          </a:p>
        </p:txBody>
      </p:sp>
    </p:spTree>
    <p:extLst>
      <p:ext uri="{BB962C8B-B14F-4D97-AF65-F5344CB8AC3E}">
        <p14:creationId xmlns:p14="http://schemas.microsoft.com/office/powerpoint/2010/main" val="2057631302"/>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838200"/>
          </a:xfrm>
        </p:spPr>
        <p:txBody>
          <a:bodyPr/>
          <a:lstStyle/>
          <a:p>
            <a:r>
              <a:rPr lang="en-GB" dirty="0">
                <a:latin typeface="Times New Roman" pitchFamily="18" charset="0"/>
                <a:cs typeface="Times New Roman" pitchFamily="18" charset="0"/>
              </a:rPr>
              <a:t>FERMENTATION….contd.</a:t>
            </a:r>
            <a:endParaRPr lang="en-GB" dirty="0"/>
          </a:p>
        </p:txBody>
      </p:sp>
      <p:sp>
        <p:nvSpPr>
          <p:cNvPr id="3" name="Content Placeholder 2"/>
          <p:cNvSpPr>
            <a:spLocks noGrp="1"/>
          </p:cNvSpPr>
          <p:nvPr>
            <p:ph idx="1"/>
          </p:nvPr>
        </p:nvSpPr>
        <p:spPr>
          <a:xfrm>
            <a:off x="304800" y="990600"/>
            <a:ext cx="8610600" cy="5334000"/>
          </a:xfrm>
        </p:spPr>
        <p:txBody>
          <a:bodyPr>
            <a:normAutofit lnSpcReduction="10000"/>
          </a:bodyPr>
          <a:lstStyle/>
          <a:p>
            <a:r>
              <a:rPr lang="en-GB" dirty="0">
                <a:latin typeface="Times New Roman" pitchFamily="18" charset="0"/>
                <a:cs typeface="Times New Roman" pitchFamily="18" charset="0"/>
              </a:rPr>
              <a:t>Fermentation forms an important part of industrial biology and no single group of food products have had impact like fermented foods.</a:t>
            </a:r>
          </a:p>
          <a:p>
            <a:r>
              <a:rPr lang="en-GB" dirty="0">
                <a:latin typeface="Times New Roman" pitchFamily="18" charset="0"/>
                <a:cs typeface="Times New Roman" pitchFamily="18" charset="0"/>
              </a:rPr>
              <a:t> Several definitions have been given from that of the lay man to the industrial microbiologist. To the lay man, it is any process that produces alcoholic beverages. </a:t>
            </a:r>
          </a:p>
          <a:p>
            <a:r>
              <a:rPr lang="en-GB" dirty="0">
                <a:latin typeface="Times New Roman" pitchFamily="18" charset="0"/>
                <a:cs typeface="Times New Roman" pitchFamily="18" charset="0"/>
              </a:rPr>
              <a:t>This is limited because it considers fermentation as just the production of alcohol. Another definition; it is any spoilage of food by microorganisms. </a:t>
            </a:r>
          </a:p>
          <a:p>
            <a:r>
              <a:rPr lang="en-GB" dirty="0">
                <a:latin typeface="Times New Roman" pitchFamily="18" charset="0"/>
                <a:cs typeface="Times New Roman" pitchFamily="18" charset="0"/>
              </a:rPr>
              <a:t>This is also limited because it is limited to food. Another definition is; any large scale microbial process occurring with or without air. It should be noted that fermentation can also take place on a small scale. </a:t>
            </a:r>
          </a:p>
          <a:p>
            <a:pPr marL="0" indent="0">
              <a:buNone/>
            </a:pPr>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1281291270"/>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838200"/>
          </a:xfrm>
        </p:spPr>
        <p:txBody>
          <a:bodyPr/>
          <a:lstStyle/>
          <a:p>
            <a:r>
              <a:rPr lang="en-GB" dirty="0">
                <a:latin typeface="Times New Roman" pitchFamily="18" charset="0"/>
                <a:cs typeface="Times New Roman" pitchFamily="18" charset="0"/>
              </a:rPr>
              <a:t>FERMENTATION….contd.</a:t>
            </a:r>
            <a:endParaRPr lang="en-GB" dirty="0"/>
          </a:p>
        </p:txBody>
      </p:sp>
      <p:sp>
        <p:nvSpPr>
          <p:cNvPr id="3" name="Content Placeholder 2"/>
          <p:cNvSpPr>
            <a:spLocks noGrp="1"/>
          </p:cNvSpPr>
          <p:nvPr>
            <p:ph idx="1"/>
          </p:nvPr>
        </p:nvSpPr>
        <p:spPr>
          <a:xfrm>
            <a:off x="457200" y="990600"/>
            <a:ext cx="8229600" cy="5334000"/>
          </a:xfrm>
        </p:spPr>
        <p:txBody>
          <a:bodyPr>
            <a:normAutofit/>
          </a:bodyPr>
          <a:lstStyle/>
          <a:p>
            <a:r>
              <a:rPr lang="en-GB" sz="2800" dirty="0">
                <a:latin typeface="Times New Roman" pitchFamily="18" charset="0"/>
                <a:cs typeface="Times New Roman" pitchFamily="18" charset="0"/>
              </a:rPr>
              <a:t>Fermentation is also defined as anaerobic reactions that convert the pyruvic acid produced by glycolysis to lactic acid or alcohol and CO₂</a:t>
            </a:r>
          </a:p>
          <a:p>
            <a:r>
              <a:rPr lang="en-GB" sz="2800" dirty="0">
                <a:latin typeface="Times New Roman" pitchFamily="18" charset="0"/>
                <a:cs typeface="Times New Roman" pitchFamily="18" charset="0"/>
              </a:rPr>
              <a:t>The most acceptable however is; all metabolic processes that release energy from sugar or organic molecules which do not require oxygen and also use an organic molecule as final electron acceptor.</a:t>
            </a:r>
          </a:p>
          <a:p>
            <a:r>
              <a:rPr lang="en-GB" sz="2800" dirty="0">
                <a:latin typeface="Times New Roman" pitchFamily="18" charset="0"/>
                <a:cs typeface="Times New Roman" pitchFamily="18" charset="0"/>
              </a:rPr>
              <a:t> Fermentation characteristically occurs under anaerobic conditions. </a:t>
            </a:r>
          </a:p>
          <a:p>
            <a:r>
              <a:rPr lang="en-GB" sz="2800" dirty="0">
                <a:latin typeface="Times New Roman" pitchFamily="18" charset="0"/>
                <a:cs typeface="Times New Roman" pitchFamily="18" charset="0"/>
              </a:rPr>
              <a:t>Organisms that are used for fermentation are generally fungi (mould and yeast), bacteria and </a:t>
            </a:r>
            <a:r>
              <a:rPr lang="en-GB" sz="2800" dirty="0" err="1">
                <a:latin typeface="Times New Roman" pitchFamily="18" charset="0"/>
                <a:cs typeface="Times New Roman" pitchFamily="18" charset="0"/>
              </a:rPr>
              <a:t>actinomyces</a:t>
            </a:r>
            <a:r>
              <a:rPr lang="en-GB" sz="2800" dirty="0">
                <a:latin typeface="Times New Roman" pitchFamily="18" charset="0"/>
                <a:cs typeface="Times New Roman" pitchFamily="18" charset="0"/>
              </a:rPr>
              <a:t>.</a:t>
            </a:r>
          </a:p>
        </p:txBody>
      </p:sp>
    </p:spTree>
    <p:extLst>
      <p:ext uri="{BB962C8B-B14F-4D97-AF65-F5344CB8AC3E}">
        <p14:creationId xmlns:p14="http://schemas.microsoft.com/office/powerpoint/2010/main" val="4178761069"/>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85800"/>
          </a:xfrm>
        </p:spPr>
        <p:txBody>
          <a:bodyPr>
            <a:normAutofit fontScale="90000"/>
          </a:bodyPr>
          <a:lstStyle/>
          <a:p>
            <a:r>
              <a:rPr lang="en-GB" dirty="0">
                <a:latin typeface="Times New Roman" pitchFamily="18" charset="0"/>
                <a:cs typeface="Times New Roman" pitchFamily="18" charset="0"/>
              </a:rPr>
              <a:t>LACTIC ACID BACTERIA</a:t>
            </a:r>
          </a:p>
        </p:txBody>
      </p:sp>
      <p:sp>
        <p:nvSpPr>
          <p:cNvPr id="3" name="Content Placeholder 2"/>
          <p:cNvSpPr>
            <a:spLocks noGrp="1"/>
          </p:cNvSpPr>
          <p:nvPr>
            <p:ph idx="1"/>
          </p:nvPr>
        </p:nvSpPr>
        <p:spPr>
          <a:xfrm>
            <a:off x="457200" y="1066800"/>
            <a:ext cx="8229600" cy="5257800"/>
          </a:xfrm>
        </p:spPr>
        <p:txBody>
          <a:bodyPr>
            <a:normAutofit fontScale="92500"/>
          </a:bodyPr>
          <a:lstStyle/>
          <a:p>
            <a:r>
              <a:rPr lang="en-GB" dirty="0">
                <a:latin typeface="Times New Roman" pitchFamily="18" charset="0"/>
                <a:cs typeface="Times New Roman" pitchFamily="18" charset="0"/>
              </a:rPr>
              <a:t>This is a non-taxonomic group of gram positive, non-spore-forming bacteria which carry out lactic acid fermentation, e.g. Lactobacillus. </a:t>
            </a:r>
          </a:p>
          <a:p>
            <a:r>
              <a:rPr lang="en-GB" dirty="0">
                <a:latin typeface="Times New Roman" pitchFamily="18" charset="0"/>
                <a:cs typeface="Times New Roman" pitchFamily="18" charset="0"/>
              </a:rPr>
              <a:t>The group is made up of at least eight (8) genera in contrast to the four (4) genera in the 9</a:t>
            </a:r>
            <a:r>
              <a:rPr lang="en-GB" baseline="30000" dirty="0">
                <a:latin typeface="Times New Roman" pitchFamily="18" charset="0"/>
                <a:cs typeface="Times New Roman" pitchFamily="18" charset="0"/>
              </a:rPr>
              <a:t>th</a:t>
            </a:r>
            <a:r>
              <a:rPr lang="en-GB" dirty="0">
                <a:latin typeface="Times New Roman" pitchFamily="18" charset="0"/>
                <a:cs typeface="Times New Roman" pitchFamily="18" charset="0"/>
              </a:rPr>
              <a:t> Edition of the </a:t>
            </a:r>
            <a:r>
              <a:rPr lang="en-GB" dirty="0" err="1">
                <a:latin typeface="Times New Roman" pitchFamily="18" charset="0"/>
                <a:cs typeface="Times New Roman" pitchFamily="18" charset="0"/>
              </a:rPr>
              <a:t>Bergey’s</a:t>
            </a:r>
            <a:r>
              <a:rPr lang="en-GB" dirty="0">
                <a:latin typeface="Times New Roman" pitchFamily="18" charset="0"/>
                <a:cs typeface="Times New Roman" pitchFamily="18" charset="0"/>
              </a:rPr>
              <a:t> manual. </a:t>
            </a:r>
          </a:p>
          <a:p>
            <a:r>
              <a:rPr lang="en-GB" dirty="0">
                <a:latin typeface="Times New Roman" pitchFamily="18" charset="0"/>
                <a:cs typeface="Times New Roman" pitchFamily="18" charset="0"/>
              </a:rPr>
              <a:t>The traditional genera of </a:t>
            </a:r>
            <a:r>
              <a:rPr lang="en-GB" i="1" dirty="0">
                <a:latin typeface="Times New Roman" pitchFamily="18" charset="0"/>
                <a:cs typeface="Times New Roman" pitchFamily="18" charset="0"/>
              </a:rPr>
              <a:t>Lactobacillus, </a:t>
            </a:r>
            <a:r>
              <a:rPr lang="en-GB" i="1" dirty="0" err="1">
                <a:latin typeface="Times New Roman" pitchFamily="18" charset="0"/>
                <a:cs typeface="Times New Roman" pitchFamily="18" charset="0"/>
              </a:rPr>
              <a:t>Leuconostoc</a:t>
            </a:r>
            <a:r>
              <a:rPr lang="en-GB" i="1" dirty="0">
                <a:latin typeface="Times New Roman" pitchFamily="18" charset="0"/>
                <a:cs typeface="Times New Roman" pitchFamily="18" charset="0"/>
              </a:rPr>
              <a:t>, Streptococcus</a:t>
            </a:r>
            <a:r>
              <a:rPr lang="en-GB" dirty="0">
                <a:latin typeface="Times New Roman" pitchFamily="18" charset="0"/>
                <a:cs typeface="Times New Roman" pitchFamily="18" charset="0"/>
              </a:rPr>
              <a:t> and </a:t>
            </a:r>
            <a:r>
              <a:rPr lang="en-GB" i="1" dirty="0" err="1">
                <a:latin typeface="Times New Roman" pitchFamily="18" charset="0"/>
                <a:cs typeface="Times New Roman" pitchFamily="18" charset="0"/>
              </a:rPr>
              <a:t>Pediococcus</a:t>
            </a:r>
            <a:r>
              <a:rPr lang="en-GB" i="1" dirty="0">
                <a:latin typeface="Times New Roman" pitchFamily="18" charset="0"/>
                <a:cs typeface="Times New Roman" pitchFamily="18" charset="0"/>
              </a:rPr>
              <a:t> </a:t>
            </a:r>
            <a:r>
              <a:rPr lang="en-GB" dirty="0">
                <a:latin typeface="Times New Roman" pitchFamily="18" charset="0"/>
                <a:cs typeface="Times New Roman" pitchFamily="18" charset="0"/>
              </a:rPr>
              <a:t>have been expanded to include </a:t>
            </a:r>
            <a:r>
              <a:rPr lang="en-GB" i="1" dirty="0" err="1">
                <a:latin typeface="Times New Roman" pitchFamily="18" charset="0"/>
                <a:cs typeface="Times New Roman" pitchFamily="18" charset="0"/>
              </a:rPr>
              <a:t>Carnobacterium</a:t>
            </a:r>
            <a:r>
              <a:rPr lang="en-GB" i="1" dirty="0">
                <a:latin typeface="Times New Roman" pitchFamily="18" charset="0"/>
                <a:cs typeface="Times New Roman" pitchFamily="18" charset="0"/>
              </a:rPr>
              <a:t>, Enterococcus, </a:t>
            </a:r>
            <a:r>
              <a:rPr lang="en-GB" i="1" dirty="0" err="1">
                <a:latin typeface="Times New Roman" pitchFamily="18" charset="0"/>
                <a:cs typeface="Times New Roman" pitchFamily="18" charset="0"/>
              </a:rPr>
              <a:t>Lactococcus</a:t>
            </a:r>
            <a:r>
              <a:rPr lang="en-GB" dirty="0">
                <a:latin typeface="Times New Roman" pitchFamily="18" charset="0"/>
                <a:cs typeface="Times New Roman" pitchFamily="18" charset="0"/>
              </a:rPr>
              <a:t> and </a:t>
            </a:r>
            <a:r>
              <a:rPr lang="en-GB" i="1" dirty="0" err="1">
                <a:latin typeface="Times New Roman" pitchFamily="18" charset="0"/>
                <a:cs typeface="Times New Roman" pitchFamily="18" charset="0"/>
              </a:rPr>
              <a:t>Vagococcus</a:t>
            </a:r>
            <a:r>
              <a:rPr lang="en-GB" dirty="0">
                <a:latin typeface="Times New Roman" pitchFamily="18" charset="0"/>
                <a:cs typeface="Times New Roman" pitchFamily="18" charset="0"/>
              </a:rPr>
              <a:t>.</a:t>
            </a:r>
          </a:p>
          <a:p>
            <a:r>
              <a:rPr lang="en-GB" dirty="0">
                <a:latin typeface="Times New Roman" pitchFamily="18" charset="0"/>
                <a:cs typeface="Times New Roman" pitchFamily="18" charset="0"/>
              </a:rPr>
              <a:t>The </a:t>
            </a:r>
            <a:r>
              <a:rPr lang="en-GB" i="1" dirty="0" err="1">
                <a:latin typeface="Times New Roman" pitchFamily="18" charset="0"/>
                <a:cs typeface="Times New Roman" pitchFamily="18" charset="0"/>
              </a:rPr>
              <a:t>Carnobacterium</a:t>
            </a:r>
            <a:r>
              <a:rPr lang="en-GB" dirty="0">
                <a:latin typeface="Times New Roman" pitchFamily="18" charset="0"/>
                <a:cs typeface="Times New Roman" pitchFamily="18" charset="0"/>
              </a:rPr>
              <a:t> represents strains that were once classified as </a:t>
            </a:r>
            <a:r>
              <a:rPr lang="en-GB" i="1" dirty="0">
                <a:latin typeface="Times New Roman" pitchFamily="18" charset="0"/>
                <a:cs typeface="Times New Roman" pitchFamily="18" charset="0"/>
              </a:rPr>
              <a:t>Lactobacillus </a:t>
            </a:r>
            <a:r>
              <a:rPr lang="en-GB" dirty="0">
                <a:latin typeface="Times New Roman" pitchFamily="18" charset="0"/>
                <a:cs typeface="Times New Roman" pitchFamily="18" charset="0"/>
              </a:rPr>
              <a:t>and the other three (3) genera comprise strains that were formally classified as </a:t>
            </a:r>
            <a:r>
              <a:rPr lang="en-GB" i="1" dirty="0">
                <a:latin typeface="Times New Roman" pitchFamily="18" charset="0"/>
                <a:cs typeface="Times New Roman" pitchFamily="18" charset="0"/>
              </a:rPr>
              <a:t>Streptococci</a:t>
            </a:r>
            <a:r>
              <a:rPr lang="en-GB" dirty="0">
                <a:latin typeface="Times New Roman" pitchFamily="18" charset="0"/>
                <a:cs typeface="Times New Roman" pitchFamily="18" charset="0"/>
              </a:rPr>
              <a:t>.</a:t>
            </a:r>
          </a:p>
          <a:p>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11373120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90600"/>
          </a:xfrm>
        </p:spPr>
        <p:txBody>
          <a:bodyPr>
            <a:normAutofit/>
          </a:bodyPr>
          <a:lstStyle/>
          <a:p>
            <a:r>
              <a:rPr lang="en-GB" sz="4000" b="1" dirty="0">
                <a:latin typeface="Times New Roman" pitchFamily="18" charset="0"/>
                <a:cs typeface="Times New Roman" pitchFamily="18" charset="0"/>
              </a:rPr>
              <a:t>LACTIC ACID BACTERIA…contd</a:t>
            </a:r>
            <a:r>
              <a:rPr lang="en-GB" sz="4000" dirty="0">
                <a:latin typeface="Times New Roman" pitchFamily="18" charset="0"/>
                <a:cs typeface="Times New Roman" pitchFamily="18" charset="0"/>
              </a:rPr>
              <a:t>.</a:t>
            </a:r>
            <a:endParaRPr lang="en-GB" sz="4000" dirty="0"/>
          </a:p>
        </p:txBody>
      </p:sp>
      <p:sp>
        <p:nvSpPr>
          <p:cNvPr id="3" name="Content Placeholder 2"/>
          <p:cNvSpPr>
            <a:spLocks noGrp="1"/>
          </p:cNvSpPr>
          <p:nvPr>
            <p:ph idx="1"/>
          </p:nvPr>
        </p:nvSpPr>
        <p:spPr>
          <a:xfrm>
            <a:off x="457200" y="1219200"/>
            <a:ext cx="8229600" cy="5105400"/>
          </a:xfrm>
        </p:spPr>
        <p:txBody>
          <a:bodyPr>
            <a:normAutofit/>
          </a:bodyPr>
          <a:lstStyle/>
          <a:p>
            <a:r>
              <a:rPr lang="en-GB" dirty="0">
                <a:latin typeface="Times New Roman" pitchFamily="18" charset="0"/>
                <a:cs typeface="Times New Roman" pitchFamily="18" charset="0"/>
              </a:rPr>
              <a:t>While the lactic acid group is loosely defined with no precise boundaries, all members share the property of producing lactic acid from hexoses. </a:t>
            </a:r>
          </a:p>
          <a:p>
            <a:r>
              <a:rPr lang="en-GB" dirty="0">
                <a:latin typeface="Times New Roman" pitchFamily="18" charset="0"/>
                <a:cs typeface="Times New Roman" pitchFamily="18" charset="0"/>
              </a:rPr>
              <a:t>They can be divided into two groups based on the end products of glucose metabolism. </a:t>
            </a:r>
          </a:p>
          <a:p>
            <a:r>
              <a:rPr lang="en-GB" dirty="0">
                <a:latin typeface="Times New Roman" pitchFamily="18" charset="0"/>
                <a:cs typeface="Times New Roman" pitchFamily="18" charset="0"/>
              </a:rPr>
              <a:t>There are those that produce lactic acid as the major or sole product of glucose fermentation. </a:t>
            </a:r>
          </a:p>
          <a:p>
            <a:r>
              <a:rPr lang="en-GB" dirty="0">
                <a:latin typeface="Times New Roman" pitchFamily="18" charset="0"/>
                <a:cs typeface="Times New Roman" pitchFamily="18" charset="0"/>
              </a:rPr>
              <a:t>The </a:t>
            </a:r>
            <a:r>
              <a:rPr lang="en-GB" dirty="0" err="1">
                <a:latin typeface="Times New Roman" pitchFamily="18" charset="0"/>
                <a:cs typeface="Times New Roman" pitchFamily="18" charset="0"/>
              </a:rPr>
              <a:t>homofermentative</a:t>
            </a:r>
            <a:r>
              <a:rPr lang="en-GB" dirty="0">
                <a:latin typeface="Times New Roman" pitchFamily="18" charset="0"/>
                <a:cs typeface="Times New Roman" pitchFamily="18" charset="0"/>
              </a:rPr>
              <a:t> pattern is observed when glucose is metabolised but not necessarily when pentoses are metabolised, because for some homolactis, acetic acid and lactic acid may be produced when pentoses are utilized. </a:t>
            </a:r>
          </a:p>
        </p:txBody>
      </p:sp>
    </p:spTree>
    <p:extLst>
      <p:ext uri="{BB962C8B-B14F-4D97-AF65-F5344CB8AC3E}">
        <p14:creationId xmlns:p14="http://schemas.microsoft.com/office/powerpoint/2010/main" val="7431368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8229600" cy="762000"/>
          </a:xfrm>
        </p:spPr>
        <p:txBody>
          <a:bodyPr>
            <a:normAutofit fontScale="90000"/>
          </a:bodyPr>
          <a:lstStyle/>
          <a:p>
            <a:r>
              <a:rPr lang="en-GB" sz="4400" dirty="0">
                <a:latin typeface="Times New Roman" pitchFamily="18" charset="0"/>
                <a:cs typeface="Times New Roman" pitchFamily="18" charset="0"/>
              </a:rPr>
              <a:t>LACTIC ACID BACTERIA…contd</a:t>
            </a:r>
            <a:r>
              <a:rPr lang="en-GB" sz="5400" dirty="0">
                <a:latin typeface="Times New Roman" pitchFamily="18" charset="0"/>
                <a:cs typeface="Times New Roman" pitchFamily="18" charset="0"/>
              </a:rPr>
              <a:t>.</a:t>
            </a:r>
            <a:endParaRPr lang="en-GB" dirty="0"/>
          </a:p>
        </p:txBody>
      </p:sp>
      <p:sp>
        <p:nvSpPr>
          <p:cNvPr id="3" name="Content Placeholder 2"/>
          <p:cNvSpPr>
            <a:spLocks noGrp="1"/>
          </p:cNvSpPr>
          <p:nvPr>
            <p:ph idx="1"/>
          </p:nvPr>
        </p:nvSpPr>
        <p:spPr>
          <a:xfrm>
            <a:off x="457200" y="1143000"/>
            <a:ext cx="8229600" cy="5410200"/>
          </a:xfrm>
        </p:spPr>
        <p:txBody>
          <a:bodyPr>
            <a:normAutofit/>
          </a:bodyPr>
          <a:lstStyle/>
          <a:p>
            <a:r>
              <a:rPr lang="en-GB" dirty="0">
                <a:latin typeface="Times New Roman" pitchFamily="18" charset="0"/>
                <a:cs typeface="Times New Roman" pitchFamily="18" charset="0"/>
              </a:rPr>
              <a:t>While the lactic acid group is loosely defined with no precise boundaries, all members share the property of producing lactic acid from hexoses. </a:t>
            </a:r>
          </a:p>
          <a:p>
            <a:r>
              <a:rPr lang="en-GB" dirty="0">
                <a:latin typeface="Times New Roman" pitchFamily="18" charset="0"/>
                <a:cs typeface="Times New Roman" pitchFamily="18" charset="0"/>
              </a:rPr>
              <a:t>They can be divided into two groups based on the end products of glucose metabolism. </a:t>
            </a:r>
          </a:p>
          <a:p>
            <a:r>
              <a:rPr lang="en-GB" dirty="0">
                <a:latin typeface="Times New Roman" pitchFamily="18" charset="0"/>
                <a:cs typeface="Times New Roman" pitchFamily="18" charset="0"/>
              </a:rPr>
              <a:t>There are those that produce lactic acid as the major or sole product of glucose fermentation. </a:t>
            </a:r>
          </a:p>
          <a:p>
            <a:r>
              <a:rPr lang="en-GB" dirty="0">
                <a:latin typeface="Times New Roman" pitchFamily="18" charset="0"/>
                <a:cs typeface="Times New Roman" pitchFamily="18" charset="0"/>
              </a:rPr>
              <a:t>The homofermentatvie pattern is observed when glucose is metabolised but not necessarily when pentoses are metabolised, because for some homolactis, acetic acid and lactic acid may be produced when pentoses are utilized. </a:t>
            </a:r>
          </a:p>
        </p:txBody>
      </p:sp>
    </p:spTree>
    <p:extLst>
      <p:ext uri="{BB962C8B-B14F-4D97-AF65-F5344CB8AC3E}">
        <p14:creationId xmlns:p14="http://schemas.microsoft.com/office/powerpoint/2010/main" val="382334925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85800"/>
          </a:xfrm>
        </p:spPr>
        <p:txBody>
          <a:bodyPr>
            <a:normAutofit/>
          </a:bodyPr>
          <a:lstStyle/>
          <a:p>
            <a:r>
              <a:rPr lang="en-GB" sz="4000" b="1" dirty="0">
                <a:latin typeface="Times New Roman" pitchFamily="18" charset="0"/>
                <a:cs typeface="Times New Roman" pitchFamily="18" charset="0"/>
              </a:rPr>
              <a:t>LACTIC ACID BACTERIA…contd.</a:t>
            </a:r>
            <a:endParaRPr lang="en-GB" sz="4000" b="1" dirty="0"/>
          </a:p>
        </p:txBody>
      </p:sp>
      <p:sp>
        <p:nvSpPr>
          <p:cNvPr id="3" name="Content Placeholder 2"/>
          <p:cNvSpPr>
            <a:spLocks noGrp="1"/>
          </p:cNvSpPr>
          <p:nvPr>
            <p:ph idx="1"/>
          </p:nvPr>
        </p:nvSpPr>
        <p:spPr>
          <a:xfrm>
            <a:off x="457200" y="1143000"/>
            <a:ext cx="8229600" cy="5181600"/>
          </a:xfrm>
        </p:spPr>
        <p:txBody>
          <a:bodyPr>
            <a:normAutofit/>
          </a:bodyPr>
          <a:lstStyle/>
          <a:p>
            <a:r>
              <a:rPr lang="en-GB" dirty="0">
                <a:latin typeface="Times New Roman" pitchFamily="18" charset="0"/>
                <a:cs typeface="Times New Roman" pitchFamily="18" charset="0"/>
              </a:rPr>
              <a:t>The heterolactis are more important than the homolactis in producing flavour and aroma components such as acetaldehyde and diacetyls. </a:t>
            </a:r>
          </a:p>
          <a:p>
            <a:r>
              <a:rPr lang="en-GB" dirty="0">
                <a:latin typeface="Times New Roman" pitchFamily="18" charset="0"/>
                <a:cs typeface="Times New Roman" pitchFamily="18" charset="0"/>
              </a:rPr>
              <a:t>The end product differences between homo and heterolactis when glucose is attacked are a result of basic genetic and physiological differences.</a:t>
            </a:r>
          </a:p>
          <a:p>
            <a:r>
              <a:rPr lang="en-GB" dirty="0">
                <a:latin typeface="Times New Roman" pitchFamily="18" charset="0"/>
                <a:cs typeface="Times New Roman" pitchFamily="18" charset="0"/>
              </a:rPr>
              <a:t>The homolactis possess the enzymes aldolase and hexose isomerase but lack phosphoketolase. </a:t>
            </a:r>
          </a:p>
          <a:p>
            <a:r>
              <a:rPr lang="en-GB" dirty="0">
                <a:latin typeface="Times New Roman" pitchFamily="18" charset="0"/>
                <a:cs typeface="Times New Roman" pitchFamily="18" charset="0"/>
              </a:rPr>
              <a:t>They use the Emden-</a:t>
            </a:r>
            <a:r>
              <a:rPr lang="en-GB" dirty="0" err="1">
                <a:latin typeface="Times New Roman" pitchFamily="18" charset="0"/>
                <a:cs typeface="Times New Roman" pitchFamily="18" charset="0"/>
              </a:rPr>
              <a:t>Meryehof</a:t>
            </a:r>
            <a:r>
              <a:rPr lang="en-GB" dirty="0">
                <a:latin typeface="Times New Roman" pitchFamily="18" charset="0"/>
                <a:cs typeface="Times New Roman" pitchFamily="18" charset="0"/>
              </a:rPr>
              <a:t>-</a:t>
            </a:r>
            <a:r>
              <a:rPr lang="en-GB" dirty="0" err="1">
                <a:latin typeface="Times New Roman" pitchFamily="18" charset="0"/>
                <a:cs typeface="Times New Roman" pitchFamily="18" charset="0"/>
              </a:rPr>
              <a:t>Parnas</a:t>
            </a:r>
            <a:r>
              <a:rPr lang="en-GB" dirty="0">
                <a:latin typeface="Times New Roman" pitchFamily="18" charset="0"/>
                <a:cs typeface="Times New Roman" pitchFamily="18" charset="0"/>
              </a:rPr>
              <a:t> (EMP) pathway towards the production of their two (2) lactates per glucose molecule. </a:t>
            </a:r>
          </a:p>
        </p:txBody>
      </p:sp>
    </p:spTree>
    <p:extLst>
      <p:ext uri="{BB962C8B-B14F-4D97-AF65-F5344CB8AC3E}">
        <p14:creationId xmlns:p14="http://schemas.microsoft.com/office/powerpoint/2010/main" val="225678331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76200"/>
            <a:ext cx="8229600" cy="609600"/>
          </a:xfrm>
        </p:spPr>
        <p:txBody>
          <a:bodyPr>
            <a:normAutofit fontScale="90000"/>
          </a:bodyPr>
          <a:lstStyle/>
          <a:p>
            <a:r>
              <a:rPr lang="en-GB" sz="4400" b="1" dirty="0">
                <a:latin typeface="Times New Roman" pitchFamily="18" charset="0"/>
                <a:cs typeface="Times New Roman" pitchFamily="18" charset="0"/>
              </a:rPr>
              <a:t>LACTIC ACID BACTERIA…contd</a:t>
            </a:r>
            <a:r>
              <a:rPr lang="en-GB" sz="5400" b="1" dirty="0">
                <a:latin typeface="Times New Roman" pitchFamily="18" charset="0"/>
                <a:cs typeface="Times New Roman" pitchFamily="18" charset="0"/>
              </a:rPr>
              <a:t>.</a:t>
            </a:r>
            <a:endParaRPr lang="en-GB" b="1" dirty="0">
              <a:latin typeface="Times New Roman" pitchFamily="18" charset="0"/>
              <a:cs typeface="Times New Roman" pitchFamily="18" charset="0"/>
            </a:endParaRPr>
          </a:p>
        </p:txBody>
      </p:sp>
      <p:sp>
        <p:nvSpPr>
          <p:cNvPr id="3" name="Content Placeholder 2"/>
          <p:cNvSpPr>
            <a:spLocks noGrp="1"/>
          </p:cNvSpPr>
          <p:nvPr>
            <p:ph idx="1"/>
          </p:nvPr>
        </p:nvSpPr>
        <p:spPr>
          <a:xfrm>
            <a:off x="457200" y="1066800"/>
            <a:ext cx="8229600" cy="5257800"/>
          </a:xfrm>
        </p:spPr>
        <p:txBody>
          <a:bodyPr>
            <a:normAutofit/>
          </a:bodyPr>
          <a:lstStyle/>
          <a:p>
            <a:r>
              <a:rPr lang="en-GB" dirty="0">
                <a:latin typeface="Times New Roman" pitchFamily="18" charset="0"/>
                <a:cs typeface="Times New Roman" pitchFamily="18" charset="0"/>
              </a:rPr>
              <a:t>The heterolactis on the other hand have phosphoketolase but do not possess aldolase or hexose isomerase and instead of the EMP pathway for glucose metabolism, these organisms use the hexose monophosphate or pentose pathways.</a:t>
            </a:r>
          </a:p>
          <a:p>
            <a:r>
              <a:rPr lang="en-GB" dirty="0">
                <a:latin typeface="Times New Roman" pitchFamily="18" charset="0"/>
                <a:cs typeface="Times New Roman" pitchFamily="18" charset="0"/>
              </a:rPr>
              <a:t>In the past, the taxonomy of the </a:t>
            </a:r>
            <a:r>
              <a:rPr lang="en-GB" dirty="0" err="1">
                <a:latin typeface="Times New Roman" pitchFamily="18" charset="0"/>
                <a:cs typeface="Times New Roman" pitchFamily="18" charset="0"/>
              </a:rPr>
              <a:t>lactics</a:t>
            </a:r>
            <a:r>
              <a:rPr lang="en-GB" dirty="0">
                <a:latin typeface="Times New Roman" pitchFamily="18" charset="0"/>
                <a:cs typeface="Times New Roman" pitchFamily="18" charset="0"/>
              </a:rPr>
              <a:t> has been based on the gram reaction, general lack of ability to produce catalase, the production of lactic acid along with the ability to ferment various carbohydrates. </a:t>
            </a:r>
          </a:p>
          <a:p>
            <a:r>
              <a:rPr lang="en-GB" dirty="0">
                <a:latin typeface="Times New Roman" pitchFamily="18" charset="0"/>
                <a:cs typeface="Times New Roman" pitchFamily="18" charset="0"/>
              </a:rPr>
              <a:t>Presently </a:t>
            </a:r>
            <a:r>
              <a:rPr lang="en-GB" dirty="0" err="1">
                <a:latin typeface="Times New Roman" pitchFamily="18" charset="0"/>
                <a:cs typeface="Times New Roman" pitchFamily="18" charset="0"/>
              </a:rPr>
              <a:t>rRNA</a:t>
            </a:r>
            <a:r>
              <a:rPr lang="en-GB" dirty="0">
                <a:latin typeface="Times New Roman" pitchFamily="18" charset="0"/>
                <a:cs typeface="Times New Roman" pitchFamily="18" charset="0"/>
              </a:rPr>
              <a:t> sequencing, DNA base composition, DNA homology, cell wall peptidoglycan type and immunologic specificity of enzymes are used.</a:t>
            </a:r>
          </a:p>
          <a:p>
            <a:endParaRPr lang="en-GB" dirty="0"/>
          </a:p>
        </p:txBody>
      </p:sp>
    </p:spTree>
    <p:extLst>
      <p:ext uri="{BB962C8B-B14F-4D97-AF65-F5344CB8AC3E}">
        <p14:creationId xmlns:p14="http://schemas.microsoft.com/office/powerpoint/2010/main" val="144350404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685800"/>
          </a:xfrm>
        </p:spPr>
        <p:txBody>
          <a:bodyPr>
            <a:normAutofit fontScale="90000"/>
          </a:bodyPr>
          <a:lstStyle/>
          <a:p>
            <a:r>
              <a:rPr lang="en-GB" dirty="0"/>
              <a:t/>
            </a:r>
            <a:br>
              <a:rPr lang="en-GB" dirty="0"/>
            </a:br>
            <a:r>
              <a:rPr lang="en-GB" dirty="0">
                <a:latin typeface="Times New Roman" pitchFamily="18" charset="0"/>
                <a:cs typeface="Times New Roman" pitchFamily="18" charset="0"/>
              </a:rPr>
              <a:t>Products of Fermentation</a:t>
            </a:r>
            <a:endParaRPr lang="en-GB" dirty="0"/>
          </a:p>
        </p:txBody>
      </p:sp>
      <p:sp>
        <p:nvSpPr>
          <p:cNvPr id="3" name="Content Placeholder 2"/>
          <p:cNvSpPr>
            <a:spLocks noGrp="1"/>
          </p:cNvSpPr>
          <p:nvPr>
            <p:ph idx="1"/>
          </p:nvPr>
        </p:nvSpPr>
        <p:spPr>
          <a:xfrm>
            <a:off x="457200" y="838200"/>
            <a:ext cx="8229600" cy="5791200"/>
          </a:xfrm>
        </p:spPr>
        <p:txBody>
          <a:bodyPr>
            <a:noAutofit/>
          </a:bodyPr>
          <a:lstStyle/>
          <a:p>
            <a:r>
              <a:rPr lang="en-GB" sz="2700" dirty="0">
                <a:latin typeface="Times New Roman" pitchFamily="18" charset="0"/>
                <a:cs typeface="Times New Roman" pitchFamily="18" charset="0"/>
              </a:rPr>
              <a:t>Fermentation has been used over the years as a means of food processing as well as for preservation. </a:t>
            </a:r>
          </a:p>
          <a:p>
            <a:r>
              <a:rPr lang="en-GB" sz="2700" dirty="0">
                <a:latin typeface="Times New Roman" pitchFamily="18" charset="0"/>
                <a:cs typeface="Times New Roman" pitchFamily="18" charset="0"/>
              </a:rPr>
              <a:t>Microbial growth, either natural or inoculated population, on or in the product, causes chemical or textural changes forming a product that can be stored for extended periods.</a:t>
            </a:r>
          </a:p>
          <a:p>
            <a:r>
              <a:rPr lang="en-GB" sz="2700" dirty="0">
                <a:latin typeface="Times New Roman" pitchFamily="18" charset="0"/>
                <a:cs typeface="Times New Roman" pitchFamily="18" charset="0"/>
              </a:rPr>
              <a:t> The process also impacts new pleasing food flavours and aromas.</a:t>
            </a:r>
          </a:p>
          <a:p>
            <a:r>
              <a:rPr lang="en-GB" sz="2700" dirty="0">
                <a:latin typeface="Times New Roman" pitchFamily="18" charset="0"/>
                <a:cs typeface="Times New Roman" pitchFamily="18" charset="0"/>
              </a:rPr>
              <a:t> Originally, the most important of these changes have been an improvement of the shelf-life and safety of the product, but these are becoming less important in the industrial world with the advent of alternative preservation methods such as canning, chilling and freezing. </a:t>
            </a:r>
          </a:p>
        </p:txBody>
      </p:sp>
    </p:spTree>
    <p:extLst>
      <p:ext uri="{BB962C8B-B14F-4D97-AF65-F5344CB8AC3E}">
        <p14:creationId xmlns:p14="http://schemas.microsoft.com/office/powerpoint/2010/main" val="600429973"/>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838200"/>
          </a:xfrm>
        </p:spPr>
        <p:txBody>
          <a:bodyPr>
            <a:normAutofit fontScale="90000"/>
          </a:bodyPr>
          <a:lstStyle/>
          <a:p>
            <a:r>
              <a:rPr lang="en-GB" dirty="0">
                <a:latin typeface="Times New Roman" pitchFamily="18" charset="0"/>
                <a:cs typeface="Times New Roman" pitchFamily="18" charset="0"/>
              </a:rPr>
              <a:t>Products of Fermentation..</a:t>
            </a:r>
            <a:r>
              <a:rPr lang="en-GB" dirty="0" err="1">
                <a:latin typeface="Times New Roman" pitchFamily="18" charset="0"/>
                <a:cs typeface="Times New Roman" pitchFamily="18" charset="0"/>
              </a:rPr>
              <a:t>contd</a:t>
            </a:r>
            <a:r>
              <a:rPr lang="en-GB" dirty="0">
                <a:latin typeface="Times New Roman" pitchFamily="18" charset="0"/>
                <a:cs typeface="Times New Roman" pitchFamily="18" charset="0"/>
              </a:rPr>
              <a:t>.</a:t>
            </a:r>
            <a:endParaRPr lang="en-GB" dirty="0"/>
          </a:p>
        </p:txBody>
      </p:sp>
      <p:sp>
        <p:nvSpPr>
          <p:cNvPr id="3" name="Content Placeholder 2"/>
          <p:cNvSpPr>
            <a:spLocks noGrp="1"/>
          </p:cNvSpPr>
          <p:nvPr>
            <p:ph idx="1"/>
          </p:nvPr>
        </p:nvSpPr>
        <p:spPr>
          <a:xfrm>
            <a:off x="457200" y="1219200"/>
            <a:ext cx="8229600" cy="5105400"/>
          </a:xfrm>
        </p:spPr>
        <p:txBody>
          <a:bodyPr/>
          <a:lstStyle/>
          <a:p>
            <a:r>
              <a:rPr lang="en-GB" dirty="0">
                <a:latin typeface="Times New Roman" pitchFamily="18" charset="0"/>
                <a:cs typeface="Times New Roman" pitchFamily="18" charset="0"/>
              </a:rPr>
              <a:t>What modern technologies have not been able to do is to diminish the sensory appeal of fermented products.</a:t>
            </a:r>
          </a:p>
          <a:p>
            <a:r>
              <a:rPr lang="en-GB" dirty="0">
                <a:latin typeface="Times New Roman" pitchFamily="18" charset="0"/>
                <a:cs typeface="Times New Roman" pitchFamily="18" charset="0"/>
              </a:rPr>
              <a:t> The overwhelming majority of fermented foods are produced by the activities of LAB and fungi principally yeast but also, to a lesser extent moulds. </a:t>
            </a:r>
          </a:p>
          <a:p>
            <a:r>
              <a:rPr lang="en-GB" dirty="0">
                <a:latin typeface="Times New Roman" pitchFamily="18" charset="0"/>
                <a:cs typeface="Times New Roman" pitchFamily="18" charset="0"/>
              </a:rPr>
              <a:t>Both groups of organisms share a common ecological niche. They are able to grow under conditions of low pH and reduced water activity. </a:t>
            </a:r>
          </a:p>
          <a:p>
            <a:r>
              <a:rPr lang="en-GB" dirty="0">
                <a:latin typeface="Times New Roman" pitchFamily="18" charset="0"/>
                <a:cs typeface="Times New Roman" pitchFamily="18" charset="0"/>
              </a:rPr>
              <a:t>LAB and facultative yeast do well under anaerobic conditions. </a:t>
            </a:r>
          </a:p>
        </p:txBody>
      </p:sp>
    </p:spTree>
    <p:extLst>
      <p:ext uri="{BB962C8B-B14F-4D97-AF65-F5344CB8AC3E}">
        <p14:creationId xmlns:p14="http://schemas.microsoft.com/office/powerpoint/2010/main" val="3239818589"/>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62000"/>
          </a:xfrm>
        </p:spPr>
        <p:txBody>
          <a:bodyPr>
            <a:normAutofit fontScale="90000"/>
          </a:bodyPr>
          <a:lstStyle/>
          <a:p>
            <a:r>
              <a:rPr lang="en-GB" dirty="0">
                <a:latin typeface="Times New Roman" pitchFamily="18" charset="0"/>
                <a:cs typeface="Times New Roman" pitchFamily="18" charset="0"/>
              </a:rPr>
              <a:t>Products of Fermentation….</a:t>
            </a:r>
            <a:r>
              <a:rPr lang="en-GB" dirty="0" err="1">
                <a:latin typeface="Times New Roman" pitchFamily="18" charset="0"/>
                <a:cs typeface="Times New Roman" pitchFamily="18" charset="0"/>
              </a:rPr>
              <a:t>contd</a:t>
            </a:r>
            <a:endParaRPr lang="en-GB" dirty="0"/>
          </a:p>
        </p:txBody>
      </p:sp>
      <p:sp>
        <p:nvSpPr>
          <p:cNvPr id="3" name="Content Placeholder 2"/>
          <p:cNvSpPr>
            <a:spLocks noGrp="1"/>
          </p:cNvSpPr>
          <p:nvPr>
            <p:ph idx="1"/>
          </p:nvPr>
        </p:nvSpPr>
        <p:spPr>
          <a:xfrm>
            <a:off x="457200" y="1219200"/>
            <a:ext cx="8229600" cy="5105400"/>
          </a:xfrm>
        </p:spPr>
        <p:txBody>
          <a:bodyPr/>
          <a:lstStyle/>
          <a:p>
            <a:r>
              <a:rPr lang="en-GB" dirty="0">
                <a:latin typeface="Times New Roman" pitchFamily="18" charset="0"/>
                <a:cs typeface="Times New Roman" pitchFamily="18" charset="0"/>
              </a:rPr>
              <a:t>Hence they frequently occur together in fermented foods; in some cases members of both groups act in concert to produce a product whilst in others, one group plays the role of a spoilage organism.</a:t>
            </a:r>
          </a:p>
          <a:p>
            <a:r>
              <a:rPr lang="en-GB" dirty="0">
                <a:latin typeface="Times New Roman" pitchFamily="18" charset="0"/>
                <a:cs typeface="Times New Roman" pitchFamily="18" charset="0"/>
              </a:rPr>
              <a:t> E.g. in bread, wine and most European beers, the presence of LAB causes spoilage whereas yeast is desirable. </a:t>
            </a:r>
          </a:p>
          <a:p>
            <a:r>
              <a:rPr lang="en-GB" dirty="0">
                <a:latin typeface="Times New Roman" pitchFamily="18" charset="0"/>
                <a:cs typeface="Times New Roman" pitchFamily="18" charset="0"/>
              </a:rPr>
              <a:t>In yoghurt, sauerkraut, salami and cheese, yeast will cause spoilage when the two occur together.</a:t>
            </a:r>
          </a:p>
          <a:p>
            <a:r>
              <a:rPr lang="en-GB" dirty="0">
                <a:latin typeface="Times New Roman" pitchFamily="18" charset="0"/>
                <a:cs typeface="Times New Roman" pitchFamily="18" charset="0"/>
              </a:rPr>
              <a:t> In soy sauce, the presence of both are desirable (other products include African beers, </a:t>
            </a:r>
            <a:r>
              <a:rPr lang="en-GB" dirty="0" err="1">
                <a:latin typeface="Times New Roman" pitchFamily="18" charset="0"/>
                <a:cs typeface="Times New Roman" pitchFamily="18" charset="0"/>
              </a:rPr>
              <a:t>kefir</a:t>
            </a:r>
            <a:r>
              <a:rPr lang="en-GB" dirty="0">
                <a:latin typeface="Times New Roman" pitchFamily="18" charset="0"/>
                <a:cs typeface="Times New Roman" pitchFamily="18" charset="0"/>
              </a:rPr>
              <a:t> etc.). </a:t>
            </a:r>
          </a:p>
          <a:p>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2902387375"/>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85800"/>
          </a:xfrm>
        </p:spPr>
        <p:txBody>
          <a:bodyPr>
            <a:normAutofit fontScale="90000"/>
          </a:bodyPr>
          <a:lstStyle/>
          <a:p>
            <a:r>
              <a:rPr lang="en-GB" dirty="0">
                <a:latin typeface="Times New Roman" pitchFamily="18" charset="0"/>
                <a:cs typeface="Times New Roman" pitchFamily="18" charset="0"/>
              </a:rPr>
              <a:t>Products of Fermentation..</a:t>
            </a:r>
            <a:r>
              <a:rPr lang="en-GB" dirty="0" err="1">
                <a:latin typeface="Times New Roman" pitchFamily="18" charset="0"/>
                <a:cs typeface="Times New Roman" pitchFamily="18" charset="0"/>
              </a:rPr>
              <a:t>contd</a:t>
            </a:r>
            <a:endParaRPr lang="en-GB" dirty="0"/>
          </a:p>
        </p:txBody>
      </p:sp>
      <p:sp>
        <p:nvSpPr>
          <p:cNvPr id="3" name="Content Placeholder 2"/>
          <p:cNvSpPr>
            <a:spLocks noGrp="1"/>
          </p:cNvSpPr>
          <p:nvPr>
            <p:ph idx="1"/>
          </p:nvPr>
        </p:nvSpPr>
        <p:spPr>
          <a:xfrm>
            <a:off x="457200" y="990600"/>
            <a:ext cx="8229600" cy="5334000"/>
          </a:xfrm>
        </p:spPr>
        <p:txBody>
          <a:bodyPr>
            <a:normAutofit lnSpcReduction="10000"/>
          </a:bodyPr>
          <a:lstStyle/>
          <a:p>
            <a:r>
              <a:rPr lang="en-GB" dirty="0"/>
              <a:t>Fermented products are classified based on the type of food or substrate or microorganism(s) involved in the process and these include</a:t>
            </a:r>
          </a:p>
          <a:p>
            <a:endParaRPr lang="en-GB" dirty="0"/>
          </a:p>
          <a:p>
            <a:r>
              <a:rPr lang="en-GB" dirty="0"/>
              <a:t> dairy products, </a:t>
            </a:r>
          </a:p>
          <a:p>
            <a:endParaRPr lang="en-GB" dirty="0"/>
          </a:p>
          <a:p>
            <a:r>
              <a:rPr lang="en-GB" dirty="0"/>
              <a:t>meat and fishery products, non-beverage plant products</a:t>
            </a:r>
          </a:p>
          <a:p>
            <a:endParaRPr lang="en-GB" dirty="0"/>
          </a:p>
          <a:p>
            <a:r>
              <a:rPr lang="en-GB" dirty="0"/>
              <a:t> beverages and related products and </a:t>
            </a:r>
          </a:p>
          <a:p>
            <a:pPr marL="0" indent="0">
              <a:buNone/>
            </a:pPr>
            <a:endParaRPr lang="en-GB" dirty="0"/>
          </a:p>
          <a:p>
            <a:r>
              <a:rPr lang="en-GB" dirty="0"/>
              <a:t>breads.</a:t>
            </a:r>
          </a:p>
        </p:txBody>
      </p:sp>
    </p:spTree>
    <p:extLst>
      <p:ext uri="{BB962C8B-B14F-4D97-AF65-F5344CB8AC3E}">
        <p14:creationId xmlns:p14="http://schemas.microsoft.com/office/powerpoint/2010/main" val="3186255023"/>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838200"/>
          </a:xfrm>
        </p:spPr>
        <p:txBody>
          <a:bodyPr>
            <a:normAutofit fontScale="90000"/>
          </a:bodyPr>
          <a:lstStyle/>
          <a:p>
            <a:r>
              <a:rPr lang="en-GB" dirty="0"/>
              <a:t/>
            </a:r>
            <a:br>
              <a:rPr lang="en-GB" dirty="0"/>
            </a:br>
            <a:r>
              <a:rPr lang="en-GB" dirty="0">
                <a:latin typeface="Times New Roman" pitchFamily="18" charset="0"/>
                <a:cs typeface="Times New Roman" pitchFamily="18" charset="0"/>
              </a:rPr>
              <a:t>STARTER CULTURES</a:t>
            </a:r>
          </a:p>
        </p:txBody>
      </p:sp>
      <p:sp>
        <p:nvSpPr>
          <p:cNvPr id="3" name="Content Placeholder 2"/>
          <p:cNvSpPr>
            <a:spLocks noGrp="1"/>
          </p:cNvSpPr>
          <p:nvPr>
            <p:ph idx="1"/>
          </p:nvPr>
        </p:nvSpPr>
        <p:spPr>
          <a:xfrm>
            <a:off x="457200" y="1143000"/>
            <a:ext cx="8229600" cy="5181600"/>
          </a:xfrm>
        </p:spPr>
        <p:txBody>
          <a:bodyPr/>
          <a:lstStyle/>
          <a:p>
            <a:r>
              <a:rPr lang="en-GB" dirty="0">
                <a:latin typeface="Times New Roman" pitchFamily="18" charset="0"/>
                <a:cs typeface="Times New Roman" pitchFamily="18" charset="0"/>
              </a:rPr>
              <a:t>Starter culture may be defined as a preparation containing high numbers of viable microorganisms which may be added to bring about desirable changes in a food substrate (</a:t>
            </a:r>
            <a:r>
              <a:rPr lang="en-GB" dirty="0" err="1">
                <a:latin typeface="Times New Roman" pitchFamily="18" charset="0"/>
                <a:cs typeface="Times New Roman" pitchFamily="18" charset="0"/>
              </a:rPr>
              <a:t>Dirar</a:t>
            </a:r>
            <a:r>
              <a:rPr lang="en-GB" dirty="0">
                <a:latin typeface="Times New Roman" pitchFamily="18" charset="0"/>
                <a:cs typeface="Times New Roman" pitchFamily="18" charset="0"/>
              </a:rPr>
              <a:t>, 1993).</a:t>
            </a:r>
          </a:p>
          <a:p>
            <a:r>
              <a:rPr lang="en-GB" dirty="0">
                <a:latin typeface="Times New Roman" pitchFamily="18" charset="0"/>
                <a:cs typeface="Times New Roman" pitchFamily="18" charset="0"/>
              </a:rPr>
              <a:t> The use of starter cultures enables stricter control over the process, the outcome of which may be predicted. </a:t>
            </a:r>
          </a:p>
          <a:p>
            <a:r>
              <a:rPr lang="en-GB" dirty="0">
                <a:latin typeface="Times New Roman" pitchFamily="18" charset="0"/>
                <a:cs typeface="Times New Roman" pitchFamily="18" charset="0"/>
              </a:rPr>
              <a:t>Traditionally, starter cultures are not used in food processing in Africa and fermentations are spontaneous resulting from the competitive activities of microorganisms.</a:t>
            </a:r>
          </a:p>
          <a:p>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213502179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04800"/>
            <a:ext cx="8229600" cy="685800"/>
          </a:xfrm>
        </p:spPr>
        <p:txBody>
          <a:bodyPr>
            <a:normAutofit fontScale="90000"/>
          </a:bodyPr>
          <a:lstStyle/>
          <a:p>
            <a:r>
              <a:rPr lang="en-GB" dirty="0">
                <a:latin typeface="Times New Roman" pitchFamily="18" charset="0"/>
                <a:cs typeface="Times New Roman" pitchFamily="18" charset="0"/>
              </a:rPr>
              <a:t>Starter cultures…..contd.</a:t>
            </a:r>
            <a:endParaRPr lang="en-GB" dirty="0"/>
          </a:p>
        </p:txBody>
      </p:sp>
      <p:sp>
        <p:nvSpPr>
          <p:cNvPr id="3" name="Content Placeholder 2"/>
          <p:cNvSpPr>
            <a:spLocks noGrp="1"/>
          </p:cNvSpPr>
          <p:nvPr>
            <p:ph idx="1"/>
          </p:nvPr>
        </p:nvSpPr>
        <p:spPr>
          <a:xfrm>
            <a:off x="457200" y="1371600"/>
            <a:ext cx="8229600" cy="4953000"/>
          </a:xfrm>
        </p:spPr>
        <p:txBody>
          <a:bodyPr/>
          <a:lstStyle/>
          <a:p>
            <a:r>
              <a:rPr lang="en-GB" dirty="0">
                <a:latin typeface="Times New Roman" pitchFamily="18" charset="0"/>
                <a:cs typeface="Times New Roman" pitchFamily="18" charset="0"/>
              </a:rPr>
              <a:t>Strains that are best adapted and with the highest growth rate will dominate during particular stages of the process.</a:t>
            </a:r>
          </a:p>
          <a:p>
            <a:r>
              <a:rPr lang="en-GB" dirty="0">
                <a:latin typeface="Times New Roman" pitchFamily="18" charset="0"/>
                <a:cs typeface="Times New Roman" pitchFamily="18" charset="0"/>
              </a:rPr>
              <a:t> In order to control the fermentation process, skills have been developed in some traditional fermentation processes in Africa by trial and error (</a:t>
            </a:r>
            <a:r>
              <a:rPr lang="en-GB" dirty="0" err="1">
                <a:latin typeface="Times New Roman" pitchFamily="18" charset="0"/>
                <a:cs typeface="Times New Roman" pitchFamily="18" charset="0"/>
              </a:rPr>
              <a:t>Odumfa</a:t>
            </a:r>
            <a:r>
              <a:rPr lang="en-GB" dirty="0">
                <a:latin typeface="Times New Roman" pitchFamily="18" charset="0"/>
                <a:cs typeface="Times New Roman" pitchFamily="18" charset="0"/>
              </a:rPr>
              <a:t>, 1994).</a:t>
            </a:r>
          </a:p>
          <a:p>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18224128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62000"/>
          </a:xfrm>
        </p:spPr>
        <p:txBody>
          <a:bodyPr>
            <a:normAutofit fontScale="90000"/>
          </a:bodyPr>
          <a:lstStyle/>
          <a:p>
            <a:r>
              <a:rPr lang="en-GB" dirty="0">
                <a:latin typeface="Times New Roman" pitchFamily="18" charset="0"/>
                <a:cs typeface="Times New Roman" pitchFamily="18" charset="0"/>
              </a:rPr>
              <a:t>Starter cultures…..contd.</a:t>
            </a:r>
            <a:endParaRPr lang="en-GB" dirty="0"/>
          </a:p>
        </p:txBody>
      </p:sp>
      <p:sp>
        <p:nvSpPr>
          <p:cNvPr id="3" name="Content Placeholder 2"/>
          <p:cNvSpPr>
            <a:spLocks noGrp="1"/>
          </p:cNvSpPr>
          <p:nvPr>
            <p:ph idx="1"/>
          </p:nvPr>
        </p:nvSpPr>
        <p:spPr>
          <a:xfrm>
            <a:off x="457200" y="1371600"/>
            <a:ext cx="8229600" cy="4953000"/>
          </a:xfrm>
        </p:spPr>
        <p:txBody>
          <a:bodyPr>
            <a:normAutofit lnSpcReduction="10000"/>
          </a:bodyPr>
          <a:lstStyle/>
          <a:p>
            <a:r>
              <a:rPr lang="en-GB" dirty="0">
                <a:latin typeface="Times New Roman" pitchFamily="18" charset="0"/>
                <a:cs typeface="Times New Roman" pitchFamily="18" charset="0"/>
              </a:rPr>
              <a:t>Experience has shown that inoculation of raw material with the residue of a previous batch (back slopping) accelerated the initial fermentation phase and control desirable changes. </a:t>
            </a:r>
          </a:p>
          <a:p>
            <a:r>
              <a:rPr lang="en-GB" dirty="0">
                <a:latin typeface="Times New Roman" pitchFamily="18" charset="0"/>
                <a:cs typeface="Times New Roman" pitchFamily="18" charset="0"/>
              </a:rPr>
              <a:t>E.g. in </a:t>
            </a:r>
            <a:r>
              <a:rPr lang="en-GB" dirty="0" err="1">
                <a:latin typeface="Times New Roman" pitchFamily="18" charset="0"/>
                <a:cs typeface="Times New Roman" pitchFamily="18" charset="0"/>
              </a:rPr>
              <a:t>Pito</a:t>
            </a:r>
            <a:r>
              <a:rPr lang="en-GB" dirty="0">
                <a:latin typeface="Times New Roman" pitchFamily="18" charset="0"/>
                <a:cs typeface="Times New Roman" pitchFamily="18" charset="0"/>
              </a:rPr>
              <a:t> production, impregnation of fibre belt which is called the ‘</a:t>
            </a:r>
            <a:r>
              <a:rPr lang="en-GB" dirty="0" err="1">
                <a:latin typeface="Times New Roman" pitchFamily="18" charset="0"/>
                <a:cs typeface="Times New Roman" pitchFamily="18" charset="0"/>
              </a:rPr>
              <a:t>Pito</a:t>
            </a:r>
            <a:r>
              <a:rPr lang="en-GB" dirty="0">
                <a:latin typeface="Times New Roman" pitchFamily="18" charset="0"/>
                <a:cs typeface="Times New Roman" pitchFamily="18" charset="0"/>
              </a:rPr>
              <a:t> belt’ with the fermented product followed by drying and storage in a dry place is practiced in some regions and this is used as a culture base for fermentation. </a:t>
            </a:r>
          </a:p>
          <a:p>
            <a:r>
              <a:rPr lang="en-GB" dirty="0">
                <a:latin typeface="Times New Roman" pitchFamily="18" charset="0"/>
                <a:cs typeface="Times New Roman" pitchFamily="18" charset="0"/>
              </a:rPr>
              <a:t>These methods are, however , not hygienic and convenient since the cultures can be contaminated. </a:t>
            </a:r>
          </a:p>
          <a:p>
            <a:r>
              <a:rPr lang="en-GB" dirty="0">
                <a:latin typeface="Times New Roman" pitchFamily="18" charset="0"/>
                <a:cs typeface="Times New Roman" pitchFamily="18" charset="0"/>
              </a:rPr>
              <a:t>Starter cultures can be made up of a single strain or a mix and they are kept by freeze-drying or under nitrogen.</a:t>
            </a:r>
          </a:p>
          <a:p>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25763107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09600"/>
          </a:xfrm>
        </p:spPr>
        <p:txBody>
          <a:bodyPr>
            <a:normAutofit fontScale="90000"/>
          </a:bodyPr>
          <a:lstStyle/>
          <a:p>
            <a:r>
              <a:rPr lang="en-GB" dirty="0"/>
              <a:t/>
            </a:r>
            <a:br>
              <a:rPr lang="en-GB" dirty="0"/>
            </a:br>
            <a:r>
              <a:rPr lang="en-GB" sz="4400" b="1" dirty="0">
                <a:latin typeface="Times New Roman" pitchFamily="18" charset="0"/>
                <a:cs typeface="Times New Roman" pitchFamily="18" charset="0"/>
              </a:rPr>
              <a:t>FERMENTED DAIRY PRODUCTS</a:t>
            </a:r>
          </a:p>
        </p:txBody>
      </p:sp>
      <p:sp>
        <p:nvSpPr>
          <p:cNvPr id="3" name="Content Placeholder 2"/>
          <p:cNvSpPr>
            <a:spLocks noGrp="1"/>
          </p:cNvSpPr>
          <p:nvPr>
            <p:ph idx="1"/>
          </p:nvPr>
        </p:nvSpPr>
        <p:spPr>
          <a:xfrm>
            <a:off x="457200" y="990600"/>
            <a:ext cx="8229600" cy="5334000"/>
          </a:xfrm>
        </p:spPr>
        <p:txBody>
          <a:bodyPr>
            <a:normAutofit lnSpcReduction="10000"/>
          </a:bodyPr>
          <a:lstStyle/>
          <a:p>
            <a:r>
              <a:rPr lang="en-GB" dirty="0">
                <a:latin typeface="Times New Roman" pitchFamily="18" charset="0"/>
                <a:cs typeface="Times New Roman" pitchFamily="18" charset="0"/>
              </a:rPr>
              <a:t>Several foods are made by the microbial fermentation of milk. </a:t>
            </a:r>
          </a:p>
          <a:p>
            <a:r>
              <a:rPr lang="en-GB" dirty="0">
                <a:latin typeface="Times New Roman" pitchFamily="18" charset="0"/>
                <a:cs typeface="Times New Roman" pitchFamily="18" charset="0"/>
              </a:rPr>
              <a:t>Fermented dairy products include yoghurt, butter, cheese, </a:t>
            </a:r>
            <a:r>
              <a:rPr lang="en-GB" dirty="0" err="1">
                <a:latin typeface="Times New Roman" pitchFamily="18" charset="0"/>
                <a:cs typeface="Times New Roman" pitchFamily="18" charset="0"/>
              </a:rPr>
              <a:t>koumiss</a:t>
            </a:r>
            <a:r>
              <a:rPr lang="en-GB" dirty="0">
                <a:latin typeface="Times New Roman" pitchFamily="18" charset="0"/>
                <a:cs typeface="Times New Roman" pitchFamily="18" charset="0"/>
              </a:rPr>
              <a:t>, </a:t>
            </a:r>
            <a:r>
              <a:rPr lang="en-GB" dirty="0" err="1">
                <a:latin typeface="Times New Roman" pitchFamily="18" charset="0"/>
                <a:cs typeface="Times New Roman" pitchFamily="18" charset="0"/>
              </a:rPr>
              <a:t>kefir</a:t>
            </a:r>
            <a:r>
              <a:rPr lang="en-GB" dirty="0">
                <a:latin typeface="Times New Roman" pitchFamily="18" charset="0"/>
                <a:cs typeface="Times New Roman" pitchFamily="18" charset="0"/>
              </a:rPr>
              <a:t> etc. the fermentation is primarily carried out by LAB. </a:t>
            </a:r>
          </a:p>
          <a:p>
            <a:r>
              <a:rPr lang="en-GB" dirty="0">
                <a:latin typeface="Times New Roman" pitchFamily="18" charset="0"/>
                <a:cs typeface="Times New Roman" pitchFamily="18" charset="0"/>
              </a:rPr>
              <a:t>The accumulation of lactic acid from the metabolism of the milk sugar, lactose is common to the production of fermented dairy products. </a:t>
            </a:r>
          </a:p>
          <a:p>
            <a:r>
              <a:rPr lang="en-GB" dirty="0">
                <a:latin typeface="Times New Roman" pitchFamily="18" charset="0"/>
                <a:cs typeface="Times New Roman" pitchFamily="18" charset="0"/>
              </a:rPr>
              <a:t>The accumulation of lactic acid in these products acts as a natural preservative and a flavouring agent. </a:t>
            </a:r>
          </a:p>
          <a:p>
            <a:r>
              <a:rPr lang="en-GB" dirty="0">
                <a:latin typeface="Times New Roman" pitchFamily="18" charset="0"/>
                <a:cs typeface="Times New Roman" pitchFamily="18" charset="0"/>
              </a:rPr>
              <a:t>The acid also lowers the pH of the milk which facilitates the coagulation of the milk protein casein with some lipids to form solid curds. </a:t>
            </a:r>
          </a:p>
        </p:txBody>
      </p:sp>
    </p:spTree>
    <p:extLst>
      <p:ext uri="{BB962C8B-B14F-4D97-AF65-F5344CB8AC3E}">
        <p14:creationId xmlns:p14="http://schemas.microsoft.com/office/powerpoint/2010/main" val="2968081021"/>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62000"/>
          </a:xfrm>
        </p:spPr>
        <p:txBody>
          <a:bodyPr>
            <a:normAutofit/>
          </a:bodyPr>
          <a:lstStyle/>
          <a:p>
            <a:r>
              <a:rPr lang="en-GB" sz="3200" dirty="0">
                <a:latin typeface="Times New Roman" pitchFamily="18" charset="0"/>
                <a:cs typeface="Times New Roman" pitchFamily="18" charset="0"/>
              </a:rPr>
              <a:t>FERMENTED DAIRY PRODUCTS….contd.</a:t>
            </a:r>
            <a:endParaRPr lang="en-GB" sz="3200" dirty="0"/>
          </a:p>
        </p:txBody>
      </p:sp>
      <p:sp>
        <p:nvSpPr>
          <p:cNvPr id="3" name="Content Placeholder 2"/>
          <p:cNvSpPr>
            <a:spLocks noGrp="1"/>
          </p:cNvSpPr>
          <p:nvPr>
            <p:ph idx="1"/>
          </p:nvPr>
        </p:nvSpPr>
        <p:spPr>
          <a:xfrm>
            <a:off x="457200" y="1066800"/>
            <a:ext cx="8229600" cy="5257800"/>
          </a:xfrm>
        </p:spPr>
        <p:txBody>
          <a:bodyPr>
            <a:normAutofit/>
          </a:bodyPr>
          <a:lstStyle/>
          <a:p>
            <a:r>
              <a:rPr lang="en-GB" dirty="0">
                <a:latin typeface="Times New Roman" pitchFamily="18" charset="0"/>
                <a:cs typeface="Times New Roman" pitchFamily="18" charset="0"/>
              </a:rPr>
              <a:t>The differences in the flavour and the aroma of the various fermented dairy products  may be due to the incubation period and the microbial inocula used. </a:t>
            </a:r>
          </a:p>
          <a:p>
            <a:r>
              <a:rPr lang="en-GB" dirty="0">
                <a:latin typeface="Times New Roman" pitchFamily="18" charset="0"/>
                <a:cs typeface="Times New Roman" pitchFamily="18" charset="0"/>
              </a:rPr>
              <a:t>To carry out the process, commercial or domestic ,one usually inoculates milk with the desired starter culture (generally the </a:t>
            </a:r>
            <a:r>
              <a:rPr lang="en-GB" dirty="0" err="1">
                <a:latin typeface="Times New Roman" pitchFamily="18" charset="0"/>
                <a:cs typeface="Times New Roman" pitchFamily="18" charset="0"/>
              </a:rPr>
              <a:t>lactics</a:t>
            </a:r>
            <a:r>
              <a:rPr lang="en-GB" dirty="0">
                <a:latin typeface="Times New Roman" pitchFamily="18" charset="0"/>
                <a:cs typeface="Times New Roman" pitchFamily="18" charset="0"/>
              </a:rPr>
              <a:t> starter). </a:t>
            </a:r>
          </a:p>
          <a:p>
            <a:r>
              <a:rPr lang="en-GB" dirty="0">
                <a:latin typeface="Times New Roman" pitchFamily="18" charset="0"/>
                <a:cs typeface="Times New Roman" pitchFamily="18" charset="0"/>
              </a:rPr>
              <a:t>It is then incubated at an optimum temperature and at the end of the incubation process; microbial growth is stopped by cooling.</a:t>
            </a:r>
          </a:p>
        </p:txBody>
      </p:sp>
    </p:spTree>
    <p:extLst>
      <p:ext uri="{BB962C8B-B14F-4D97-AF65-F5344CB8AC3E}">
        <p14:creationId xmlns:p14="http://schemas.microsoft.com/office/powerpoint/2010/main" val="1891737595"/>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229600" cy="685800"/>
          </a:xfrm>
        </p:spPr>
        <p:txBody>
          <a:bodyPr>
            <a:normAutofit fontScale="90000"/>
          </a:bodyPr>
          <a:lstStyle/>
          <a:p>
            <a:r>
              <a:rPr lang="en-GB" dirty="0"/>
              <a:t/>
            </a:r>
            <a:br>
              <a:rPr lang="en-GB" dirty="0"/>
            </a:br>
            <a:r>
              <a:rPr lang="en-GB" dirty="0"/>
              <a:t>   </a:t>
            </a:r>
            <a:r>
              <a:rPr lang="en-GB" b="1" dirty="0">
                <a:latin typeface="Times New Roman" pitchFamily="18" charset="0"/>
                <a:cs typeface="Times New Roman" pitchFamily="18" charset="0"/>
              </a:rPr>
              <a:t>Yoghurt</a:t>
            </a:r>
          </a:p>
        </p:txBody>
      </p:sp>
      <p:sp>
        <p:nvSpPr>
          <p:cNvPr id="3" name="Content Placeholder 2"/>
          <p:cNvSpPr>
            <a:spLocks noGrp="1"/>
          </p:cNvSpPr>
          <p:nvPr>
            <p:ph idx="1"/>
          </p:nvPr>
        </p:nvSpPr>
        <p:spPr>
          <a:xfrm>
            <a:off x="0" y="1066800"/>
            <a:ext cx="8610600" cy="5410200"/>
          </a:xfrm>
        </p:spPr>
        <p:txBody>
          <a:bodyPr/>
          <a:lstStyle/>
          <a:p>
            <a:r>
              <a:rPr lang="en-GB" dirty="0">
                <a:latin typeface="Times New Roman" pitchFamily="18" charset="0"/>
                <a:cs typeface="Times New Roman" pitchFamily="18" charset="0"/>
              </a:rPr>
              <a:t>Yoghurt is made by fermenting milk with a mixture of </a:t>
            </a:r>
            <a:r>
              <a:rPr lang="en-GB" i="1" dirty="0">
                <a:latin typeface="Times New Roman" pitchFamily="18" charset="0"/>
                <a:cs typeface="Times New Roman" pitchFamily="18" charset="0"/>
              </a:rPr>
              <a:t>Lactobacillus </a:t>
            </a:r>
            <a:r>
              <a:rPr lang="en-GB" i="1" dirty="0" err="1">
                <a:latin typeface="Times New Roman" pitchFamily="18" charset="0"/>
                <a:cs typeface="Times New Roman" pitchFamily="18" charset="0"/>
              </a:rPr>
              <a:t>bulgaricus</a:t>
            </a:r>
            <a:r>
              <a:rPr lang="en-GB" dirty="0">
                <a:latin typeface="Times New Roman" pitchFamily="18" charset="0"/>
                <a:cs typeface="Times New Roman" pitchFamily="18" charset="0"/>
              </a:rPr>
              <a:t> and </a:t>
            </a:r>
            <a:r>
              <a:rPr lang="en-GB" i="1" dirty="0">
                <a:latin typeface="Times New Roman" pitchFamily="18" charset="0"/>
                <a:cs typeface="Times New Roman" pitchFamily="18" charset="0"/>
              </a:rPr>
              <a:t>Streptococcus </a:t>
            </a:r>
            <a:r>
              <a:rPr lang="en-GB" i="1" dirty="0" err="1">
                <a:latin typeface="Times New Roman" pitchFamily="18" charset="0"/>
                <a:cs typeface="Times New Roman" pitchFamily="18" charset="0"/>
              </a:rPr>
              <a:t>thermophilus</a:t>
            </a:r>
            <a:r>
              <a:rPr lang="en-GB" dirty="0">
                <a:latin typeface="Times New Roman" pitchFamily="18" charset="0"/>
                <a:cs typeface="Times New Roman" pitchFamily="18" charset="0"/>
              </a:rPr>
              <a:t> (Yoghurt starter) in a 1:1 ratio. </a:t>
            </a:r>
          </a:p>
          <a:p>
            <a:r>
              <a:rPr lang="en-GB" dirty="0">
                <a:latin typeface="Times New Roman" pitchFamily="18" charset="0"/>
                <a:cs typeface="Times New Roman" pitchFamily="18" charset="0"/>
              </a:rPr>
              <a:t>The associative growth of the two organisms results in lactic acid production at a rate greater than if only one were used alone. </a:t>
            </a:r>
          </a:p>
          <a:p>
            <a:r>
              <a:rPr lang="en-GB" dirty="0">
                <a:latin typeface="Times New Roman" pitchFamily="18" charset="0"/>
                <a:cs typeface="Times New Roman" pitchFamily="18" charset="0"/>
              </a:rPr>
              <a:t>The main volatile flavour component (acetaldehyde) of yoghurt is produced by </a:t>
            </a:r>
            <a:r>
              <a:rPr lang="en-GB" i="1" dirty="0">
                <a:latin typeface="Times New Roman" pitchFamily="18" charset="0"/>
                <a:cs typeface="Times New Roman" pitchFamily="18" charset="0"/>
              </a:rPr>
              <a:t>Lactobacillus</a:t>
            </a:r>
            <a:r>
              <a:rPr lang="en-GB" dirty="0">
                <a:latin typeface="Times New Roman" pitchFamily="18" charset="0"/>
                <a:cs typeface="Times New Roman" pitchFamily="18" charset="0"/>
              </a:rPr>
              <a:t> when grown in association with </a:t>
            </a:r>
            <a:r>
              <a:rPr lang="en-GB" i="1" dirty="0">
                <a:latin typeface="Times New Roman" pitchFamily="18" charset="0"/>
                <a:cs typeface="Times New Roman" pitchFamily="18" charset="0"/>
              </a:rPr>
              <a:t>S. </a:t>
            </a:r>
            <a:r>
              <a:rPr lang="en-GB" i="1" dirty="0" err="1">
                <a:latin typeface="Times New Roman" pitchFamily="18" charset="0"/>
                <a:cs typeface="Times New Roman" pitchFamily="18" charset="0"/>
              </a:rPr>
              <a:t>thermophilus</a:t>
            </a:r>
            <a:r>
              <a:rPr lang="en-GB" i="1" dirty="0">
                <a:latin typeface="Times New Roman" pitchFamily="18" charset="0"/>
                <a:cs typeface="Times New Roman" pitchFamily="18" charset="0"/>
              </a:rPr>
              <a:t>.</a:t>
            </a:r>
            <a:r>
              <a:rPr lang="en-GB" dirty="0">
                <a:latin typeface="Times New Roman" pitchFamily="18" charset="0"/>
                <a:cs typeface="Times New Roman" pitchFamily="18" charset="0"/>
              </a:rPr>
              <a:t> </a:t>
            </a:r>
          </a:p>
          <a:p>
            <a:r>
              <a:rPr lang="en-GB" dirty="0">
                <a:latin typeface="Times New Roman" pitchFamily="18" charset="0"/>
                <a:cs typeface="Times New Roman" pitchFamily="18" charset="0"/>
              </a:rPr>
              <a:t>The first prerequisite of any milk to be used in the fermentation process is that it should be free from antimicrobials</a:t>
            </a:r>
          </a:p>
        </p:txBody>
      </p:sp>
    </p:spTree>
    <p:extLst>
      <p:ext uri="{BB962C8B-B14F-4D97-AF65-F5344CB8AC3E}">
        <p14:creationId xmlns:p14="http://schemas.microsoft.com/office/powerpoint/2010/main" val="3275836134"/>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8229600" cy="685800"/>
          </a:xfrm>
        </p:spPr>
        <p:txBody>
          <a:bodyPr>
            <a:normAutofit fontScale="90000"/>
          </a:bodyPr>
          <a:lstStyle/>
          <a:p>
            <a:r>
              <a:rPr lang="en-GB" dirty="0">
                <a:latin typeface="Times New Roman" pitchFamily="18" charset="0"/>
                <a:cs typeface="Times New Roman" pitchFamily="18" charset="0"/>
              </a:rPr>
              <a:t>Yoghurt…….contd.</a:t>
            </a:r>
            <a:endParaRPr lang="en-GB" dirty="0"/>
          </a:p>
        </p:txBody>
      </p:sp>
      <p:sp>
        <p:nvSpPr>
          <p:cNvPr id="3" name="Content Placeholder 2"/>
          <p:cNvSpPr>
            <a:spLocks noGrp="1"/>
          </p:cNvSpPr>
          <p:nvPr>
            <p:ph idx="1"/>
          </p:nvPr>
        </p:nvSpPr>
        <p:spPr>
          <a:xfrm>
            <a:off x="228600" y="990600"/>
            <a:ext cx="8686800" cy="5486400"/>
          </a:xfrm>
        </p:spPr>
        <p:txBody>
          <a:bodyPr/>
          <a:lstStyle/>
          <a:p>
            <a:r>
              <a:rPr lang="en-GB" dirty="0">
                <a:latin typeface="Times New Roman" pitchFamily="18" charset="0"/>
                <a:cs typeface="Times New Roman" pitchFamily="18" charset="0"/>
              </a:rPr>
              <a:t>Because of the sour nature of yoghurt, most yoghurt produced is flavoured by adding fruits. </a:t>
            </a:r>
          </a:p>
          <a:p>
            <a:r>
              <a:rPr lang="en-GB" dirty="0">
                <a:latin typeface="Times New Roman" pitchFamily="18" charset="0"/>
                <a:cs typeface="Times New Roman" pitchFamily="18" charset="0"/>
              </a:rPr>
              <a:t>Freshly produced yoghurt typically contains about 10⁹ microbes per gram, but during storage, numbers may reduce to 10⁶ per gram especially when stored at 5⁰C for up to 60 days. </a:t>
            </a:r>
          </a:p>
          <a:p>
            <a:r>
              <a:rPr lang="en-GB" dirty="0">
                <a:latin typeface="Times New Roman" pitchFamily="18" charset="0"/>
                <a:cs typeface="Times New Roman" pitchFamily="18" charset="0"/>
              </a:rPr>
              <a:t>The rods generally decrease more rapidly than the </a:t>
            </a:r>
            <a:r>
              <a:rPr lang="en-GB" dirty="0" err="1">
                <a:latin typeface="Times New Roman" pitchFamily="18" charset="0"/>
                <a:cs typeface="Times New Roman" pitchFamily="18" charset="0"/>
              </a:rPr>
              <a:t>coccus</a:t>
            </a:r>
            <a:r>
              <a:rPr lang="en-GB" dirty="0">
                <a:latin typeface="Times New Roman" pitchFamily="18" charset="0"/>
                <a:cs typeface="Times New Roman" pitchFamily="18" charset="0"/>
              </a:rPr>
              <a:t>. </a:t>
            </a:r>
          </a:p>
          <a:p>
            <a:r>
              <a:rPr lang="en-GB" dirty="0">
                <a:latin typeface="Times New Roman" pitchFamily="18" charset="0"/>
                <a:cs typeface="Times New Roman" pitchFamily="18" charset="0"/>
              </a:rPr>
              <a:t>The production of yoghurt is a relatively rapid process (less than 24 hours) compared to the production of other fermented dairy products.</a:t>
            </a:r>
          </a:p>
          <a:p>
            <a:pPr marL="0" indent="0">
              <a:buNone/>
            </a:pPr>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2955605051"/>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62000"/>
          </a:xfrm>
        </p:spPr>
        <p:txBody>
          <a:bodyPr>
            <a:normAutofit fontScale="90000"/>
          </a:bodyPr>
          <a:lstStyle/>
          <a:p>
            <a:r>
              <a:rPr lang="en-GB" dirty="0"/>
              <a:t/>
            </a:r>
            <a:br>
              <a:rPr lang="en-GB" dirty="0"/>
            </a:br>
            <a:r>
              <a:rPr lang="en-GB" dirty="0"/>
              <a:t> </a:t>
            </a:r>
            <a:r>
              <a:rPr lang="en-GB" dirty="0">
                <a:latin typeface="Times New Roman" pitchFamily="18" charset="0"/>
                <a:cs typeface="Times New Roman" pitchFamily="18" charset="0"/>
              </a:rPr>
              <a:t>CHEESE</a:t>
            </a:r>
          </a:p>
        </p:txBody>
      </p:sp>
      <p:sp>
        <p:nvSpPr>
          <p:cNvPr id="3" name="Content Placeholder 2"/>
          <p:cNvSpPr>
            <a:spLocks noGrp="1"/>
          </p:cNvSpPr>
          <p:nvPr>
            <p:ph idx="1"/>
          </p:nvPr>
        </p:nvSpPr>
        <p:spPr>
          <a:xfrm>
            <a:off x="457200" y="1143000"/>
            <a:ext cx="8229600" cy="5181600"/>
          </a:xfrm>
        </p:spPr>
        <p:txBody>
          <a:bodyPr>
            <a:normAutofit lnSpcReduction="10000"/>
          </a:bodyPr>
          <a:lstStyle/>
          <a:p>
            <a:r>
              <a:rPr lang="en-GB" dirty="0">
                <a:latin typeface="Times New Roman" pitchFamily="18" charset="0"/>
                <a:cs typeface="Times New Roman" pitchFamily="18" charset="0"/>
              </a:rPr>
              <a:t>Various cheeses are produced by microbial fermentation of milk.</a:t>
            </a:r>
          </a:p>
          <a:p>
            <a:r>
              <a:rPr lang="en-GB" dirty="0">
                <a:latin typeface="Times New Roman" pitchFamily="18" charset="0"/>
                <a:cs typeface="Times New Roman" pitchFamily="18" charset="0"/>
              </a:rPr>
              <a:t> Cheese is made up of milk curds that have separated from the liquid portion of the milk called whey.</a:t>
            </a:r>
          </a:p>
          <a:p>
            <a:r>
              <a:rPr lang="en-GB" dirty="0">
                <a:latin typeface="Times New Roman" pitchFamily="18" charset="0"/>
                <a:cs typeface="Times New Roman" pitchFamily="18" charset="0"/>
              </a:rPr>
              <a:t> The curdling of milk is accomplished by using the enzyme rennin or casein coagulase or </a:t>
            </a:r>
            <a:r>
              <a:rPr lang="en-GB" dirty="0" err="1">
                <a:latin typeface="Times New Roman" pitchFamily="18" charset="0"/>
                <a:cs typeface="Times New Roman" pitchFamily="18" charset="0"/>
              </a:rPr>
              <a:t>Chymosin</a:t>
            </a:r>
            <a:r>
              <a:rPr lang="en-GB" dirty="0">
                <a:latin typeface="Times New Roman" pitchFamily="18" charset="0"/>
                <a:cs typeface="Times New Roman" pitchFamily="18" charset="0"/>
              </a:rPr>
              <a:t>. </a:t>
            </a:r>
          </a:p>
          <a:p>
            <a:r>
              <a:rPr lang="en-GB" dirty="0">
                <a:latin typeface="Times New Roman" pitchFamily="18" charset="0"/>
                <a:cs typeface="Times New Roman" pitchFamily="18" charset="0"/>
              </a:rPr>
              <a:t>Rennin is obtained from the stomach of calves or by microbial production from </a:t>
            </a:r>
            <a:r>
              <a:rPr lang="en-GB" i="1" dirty="0">
                <a:latin typeface="Times New Roman" pitchFamily="18" charset="0"/>
                <a:cs typeface="Times New Roman" pitchFamily="18" charset="0"/>
              </a:rPr>
              <a:t>Mucor </a:t>
            </a:r>
            <a:r>
              <a:rPr lang="en-GB" i="1" dirty="0" err="1">
                <a:latin typeface="Times New Roman" pitchFamily="18" charset="0"/>
                <a:cs typeface="Times New Roman" pitchFamily="18" charset="0"/>
              </a:rPr>
              <a:t>pussilis</a:t>
            </a:r>
            <a:r>
              <a:rPr lang="en-GB" dirty="0">
                <a:latin typeface="Times New Roman" pitchFamily="18" charset="0"/>
                <a:cs typeface="Times New Roman" pitchFamily="18" charset="0"/>
              </a:rPr>
              <a:t>. </a:t>
            </a:r>
          </a:p>
          <a:p>
            <a:r>
              <a:rPr lang="en-GB" dirty="0">
                <a:latin typeface="Times New Roman" pitchFamily="18" charset="0"/>
                <a:cs typeface="Times New Roman" pitchFamily="18" charset="0"/>
              </a:rPr>
              <a:t>After the formation of the curds, they are separated from the whey, washed, pressed and salted.</a:t>
            </a:r>
          </a:p>
          <a:p>
            <a:r>
              <a:rPr lang="en-GB" dirty="0">
                <a:latin typeface="Times New Roman" pitchFamily="18" charset="0"/>
                <a:cs typeface="Times New Roman" pitchFamily="18" charset="0"/>
              </a:rPr>
              <a:t> The cheese curds are then ripened – a process involving additional transformation performed by </a:t>
            </a:r>
            <a:r>
              <a:rPr lang="en-GB" dirty="0" err="1">
                <a:latin typeface="Times New Roman" pitchFamily="18" charset="0"/>
                <a:cs typeface="Times New Roman" pitchFamily="18" charset="0"/>
              </a:rPr>
              <a:t>proteolytic</a:t>
            </a:r>
            <a:r>
              <a:rPr lang="en-GB" dirty="0">
                <a:latin typeface="Times New Roman" pitchFamily="18" charset="0"/>
                <a:cs typeface="Times New Roman" pitchFamily="18" charset="0"/>
              </a:rPr>
              <a:t> enzymes</a:t>
            </a:r>
          </a:p>
        </p:txBody>
      </p:sp>
    </p:spTree>
    <p:extLst>
      <p:ext uri="{BB962C8B-B14F-4D97-AF65-F5344CB8AC3E}">
        <p14:creationId xmlns:p14="http://schemas.microsoft.com/office/powerpoint/2010/main" val="3926277925"/>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762000"/>
          </a:xfrm>
        </p:spPr>
        <p:txBody>
          <a:bodyPr>
            <a:normAutofit fontScale="90000"/>
          </a:bodyPr>
          <a:lstStyle/>
          <a:p>
            <a:r>
              <a:rPr lang="en-GB" dirty="0">
                <a:latin typeface="Times New Roman" pitchFamily="18" charset="0"/>
                <a:cs typeface="Times New Roman" pitchFamily="18" charset="0"/>
              </a:rPr>
              <a:t>CHEESE……contd.</a:t>
            </a:r>
            <a:endParaRPr lang="en-GB" dirty="0"/>
          </a:p>
        </p:txBody>
      </p:sp>
      <p:sp>
        <p:nvSpPr>
          <p:cNvPr id="3" name="Content Placeholder 2"/>
          <p:cNvSpPr>
            <a:spLocks noGrp="1"/>
          </p:cNvSpPr>
          <p:nvPr>
            <p:ph idx="1"/>
          </p:nvPr>
        </p:nvSpPr>
        <p:spPr>
          <a:xfrm>
            <a:off x="457200" y="1219200"/>
            <a:ext cx="8229600" cy="5105400"/>
          </a:xfrm>
        </p:spPr>
        <p:txBody>
          <a:bodyPr>
            <a:normAutofit fontScale="92500" lnSpcReduction="10000"/>
          </a:bodyPr>
          <a:lstStyle/>
          <a:p>
            <a:r>
              <a:rPr lang="en-GB" dirty="0">
                <a:latin typeface="Times New Roman" pitchFamily="18" charset="0"/>
                <a:cs typeface="Times New Roman" pitchFamily="18" charset="0"/>
              </a:rPr>
              <a:t>Different kinds of cheese are ripened at various temperatures to promote the growth of specific microorganisms.</a:t>
            </a:r>
          </a:p>
          <a:p>
            <a:r>
              <a:rPr lang="en-GB" dirty="0">
                <a:latin typeface="Times New Roman" pitchFamily="18" charset="0"/>
                <a:cs typeface="Times New Roman" pitchFamily="18" charset="0"/>
              </a:rPr>
              <a:t> Sometimes a cheese is soaked in brine to encourage the development of selected bacterial and fungal population during ripening.</a:t>
            </a:r>
          </a:p>
          <a:p>
            <a:r>
              <a:rPr lang="en-GB" dirty="0">
                <a:latin typeface="Times New Roman" pitchFamily="18" charset="0"/>
                <a:cs typeface="Times New Roman" pitchFamily="18" charset="0"/>
              </a:rPr>
              <a:t> During ripening, the curds are softened by enzymes and the cheese acquires its characteristic aroma and flavour from the microbial by-product. </a:t>
            </a:r>
          </a:p>
          <a:p>
            <a:r>
              <a:rPr lang="en-GB" dirty="0">
                <a:latin typeface="Times New Roman" pitchFamily="18" charset="0"/>
                <a:cs typeface="Times New Roman" pitchFamily="18" charset="0"/>
              </a:rPr>
              <a:t>E.g. Swiss cheese involves late propionic acid fermentation with ripening accomplished by propionic bacteria </a:t>
            </a:r>
            <a:r>
              <a:rPr lang="en-GB" i="1" dirty="0" err="1">
                <a:latin typeface="Times New Roman" pitchFamily="18" charset="0"/>
                <a:cs typeface="Times New Roman" pitchFamily="18" charset="0"/>
              </a:rPr>
              <a:t>Shermanii</a:t>
            </a:r>
            <a:r>
              <a:rPr lang="en-GB" dirty="0">
                <a:latin typeface="Times New Roman" pitchFamily="18" charset="0"/>
                <a:cs typeface="Times New Roman" pitchFamily="18" charset="0"/>
              </a:rPr>
              <a:t> and </a:t>
            </a:r>
            <a:r>
              <a:rPr lang="en-GB" i="1" dirty="0" err="1">
                <a:latin typeface="Times New Roman" pitchFamily="18" charset="0"/>
                <a:cs typeface="Times New Roman" pitchFamily="18" charset="0"/>
              </a:rPr>
              <a:t>Freudenreichii</a:t>
            </a:r>
            <a:r>
              <a:rPr lang="en-GB" i="1" dirty="0">
                <a:latin typeface="Times New Roman" pitchFamily="18" charset="0"/>
                <a:cs typeface="Times New Roman" pitchFamily="18" charset="0"/>
              </a:rPr>
              <a:t>.</a:t>
            </a:r>
            <a:r>
              <a:rPr lang="en-GB" dirty="0">
                <a:latin typeface="Times New Roman" pitchFamily="18" charset="0"/>
                <a:cs typeface="Times New Roman" pitchFamily="18" charset="0"/>
              </a:rPr>
              <a:t> </a:t>
            </a:r>
          </a:p>
          <a:p>
            <a:r>
              <a:rPr lang="en-GB" dirty="0">
                <a:latin typeface="Times New Roman" pitchFamily="18" charset="0"/>
                <a:cs typeface="Times New Roman" pitchFamily="18" charset="0"/>
              </a:rPr>
              <a:t>The propionic acid yields the characteristic aroma and flavour and the CO₂ produced during this late fermentation forms the holes or eyes in the Swiss cheese. </a:t>
            </a:r>
          </a:p>
        </p:txBody>
      </p:sp>
    </p:spTree>
    <p:extLst>
      <p:ext uri="{BB962C8B-B14F-4D97-AF65-F5344CB8AC3E}">
        <p14:creationId xmlns:p14="http://schemas.microsoft.com/office/powerpoint/2010/main" val="1937625335"/>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62000"/>
          </a:xfrm>
        </p:spPr>
        <p:txBody>
          <a:bodyPr>
            <a:normAutofit fontScale="90000"/>
          </a:bodyPr>
          <a:lstStyle/>
          <a:p>
            <a:r>
              <a:rPr lang="en-GB" dirty="0">
                <a:latin typeface="Times New Roman" pitchFamily="18" charset="0"/>
                <a:cs typeface="Times New Roman" pitchFamily="18" charset="0"/>
              </a:rPr>
              <a:t>CHEESE……contd.</a:t>
            </a:r>
            <a:endParaRPr lang="en-GB" dirty="0"/>
          </a:p>
        </p:txBody>
      </p:sp>
      <p:sp>
        <p:nvSpPr>
          <p:cNvPr id="3" name="Content Placeholder 2"/>
          <p:cNvSpPr>
            <a:spLocks noGrp="1"/>
          </p:cNvSpPr>
          <p:nvPr>
            <p:ph idx="1"/>
          </p:nvPr>
        </p:nvSpPr>
        <p:spPr>
          <a:xfrm>
            <a:off x="457200" y="990600"/>
            <a:ext cx="8229600" cy="5334000"/>
          </a:xfrm>
        </p:spPr>
        <p:txBody>
          <a:bodyPr>
            <a:normAutofit fontScale="92500" lnSpcReduction="10000"/>
          </a:bodyPr>
          <a:lstStyle/>
          <a:p>
            <a:r>
              <a:rPr lang="en-GB" dirty="0">
                <a:latin typeface="Times New Roman" pitchFamily="18" charset="0"/>
                <a:cs typeface="Times New Roman" pitchFamily="18" charset="0"/>
              </a:rPr>
              <a:t>Various fungi may also be used in the ripening of various cheeses. </a:t>
            </a:r>
          </a:p>
          <a:p>
            <a:r>
              <a:rPr lang="en-GB" dirty="0">
                <a:latin typeface="Times New Roman" pitchFamily="18" charset="0"/>
                <a:cs typeface="Times New Roman" pitchFamily="18" charset="0"/>
              </a:rPr>
              <a:t>The unripe cheese is normally inoculated with fungal spores and incubated in a warm and moist environment to promote the growth of filamentous fungi. E.g. in the making of Roquefort (blue) cheese, </a:t>
            </a:r>
            <a:r>
              <a:rPr lang="en-GB" i="1" dirty="0">
                <a:latin typeface="Times New Roman" pitchFamily="18" charset="0"/>
                <a:cs typeface="Times New Roman" pitchFamily="18" charset="0"/>
              </a:rPr>
              <a:t>Penicillium </a:t>
            </a:r>
            <a:r>
              <a:rPr lang="en-GB" i="1" dirty="0" err="1">
                <a:latin typeface="Times New Roman" pitchFamily="18" charset="0"/>
                <a:cs typeface="Times New Roman" pitchFamily="18" charset="0"/>
              </a:rPr>
              <a:t>roquefortii</a:t>
            </a:r>
            <a:r>
              <a:rPr lang="en-GB" dirty="0">
                <a:latin typeface="Times New Roman" pitchFamily="18" charset="0"/>
                <a:cs typeface="Times New Roman" pitchFamily="18" charset="0"/>
              </a:rPr>
              <a:t> spores are added to the curds just before the final cheese processing. </a:t>
            </a:r>
          </a:p>
          <a:p>
            <a:r>
              <a:rPr lang="en-GB" dirty="0">
                <a:latin typeface="Times New Roman" pitchFamily="18" charset="0"/>
                <a:cs typeface="Times New Roman" pitchFamily="18" charset="0"/>
              </a:rPr>
              <a:t>This organism effects ripening and impacts the blue vein appearance characteristic of this type of cheese. </a:t>
            </a:r>
          </a:p>
          <a:p>
            <a:r>
              <a:rPr lang="en-GB" dirty="0">
                <a:latin typeface="Times New Roman" pitchFamily="18" charset="0"/>
                <a:cs typeface="Times New Roman" pitchFamily="18" charset="0"/>
              </a:rPr>
              <a:t>There are over two thousand (2000) varieties of cheese representing fewer than twenty (20) distinct types and these are grouped or classified according to texture or moisture content and also whether ripe or unripe and if ripe, whether ripening is by bacteria or moulds.</a:t>
            </a:r>
          </a:p>
          <a:p>
            <a:pPr marL="0" indent="0">
              <a:buNone/>
            </a:pPr>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2294772116"/>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04800"/>
            <a:ext cx="8458200" cy="762000"/>
          </a:xfrm>
        </p:spPr>
        <p:txBody>
          <a:bodyPr>
            <a:normAutofit fontScale="90000"/>
          </a:bodyPr>
          <a:lstStyle/>
          <a:p>
            <a:r>
              <a:rPr lang="en-GB" dirty="0">
                <a:latin typeface="Times New Roman" pitchFamily="18" charset="0"/>
                <a:cs typeface="Times New Roman" pitchFamily="18" charset="0"/>
              </a:rPr>
              <a:t>CHEESE……contd.</a:t>
            </a:r>
            <a:endParaRPr lang="en-GB" dirty="0"/>
          </a:p>
        </p:txBody>
      </p:sp>
      <p:sp>
        <p:nvSpPr>
          <p:cNvPr id="3" name="Content Placeholder 2"/>
          <p:cNvSpPr>
            <a:spLocks noGrp="1"/>
          </p:cNvSpPr>
          <p:nvPr>
            <p:ph idx="1"/>
          </p:nvPr>
        </p:nvSpPr>
        <p:spPr>
          <a:xfrm>
            <a:off x="228600" y="1066800"/>
            <a:ext cx="8686800" cy="5257800"/>
          </a:xfrm>
        </p:spPr>
        <p:txBody>
          <a:bodyPr/>
          <a:lstStyle/>
          <a:p>
            <a:r>
              <a:rPr lang="en-GB" dirty="0">
                <a:latin typeface="Times New Roman" pitchFamily="18" charset="0"/>
                <a:cs typeface="Times New Roman" pitchFamily="18" charset="0"/>
              </a:rPr>
              <a:t>According to texture, cheeses are grouped as: </a:t>
            </a:r>
            <a:r>
              <a:rPr lang="en-GB" b="1" dirty="0">
                <a:latin typeface="Times New Roman" pitchFamily="18" charset="0"/>
                <a:cs typeface="Times New Roman" pitchFamily="18" charset="0"/>
              </a:rPr>
              <a:t>Soft</a:t>
            </a:r>
            <a:r>
              <a:rPr lang="en-GB" dirty="0">
                <a:latin typeface="Times New Roman" pitchFamily="18" charset="0"/>
                <a:cs typeface="Times New Roman" pitchFamily="18" charset="0"/>
              </a:rPr>
              <a:t> e.g. cottage cheese or cream, </a:t>
            </a:r>
            <a:r>
              <a:rPr lang="en-GB" b="1" dirty="0">
                <a:latin typeface="Times New Roman" pitchFamily="18" charset="0"/>
                <a:cs typeface="Times New Roman" pitchFamily="18" charset="0"/>
              </a:rPr>
              <a:t>Semi-soft </a:t>
            </a:r>
            <a:r>
              <a:rPr lang="en-GB" dirty="0">
                <a:latin typeface="Times New Roman" pitchFamily="18" charset="0"/>
                <a:cs typeface="Times New Roman" pitchFamily="18" charset="0"/>
              </a:rPr>
              <a:t>or </a:t>
            </a:r>
            <a:r>
              <a:rPr lang="en-GB" b="1" dirty="0">
                <a:latin typeface="Times New Roman" pitchFamily="18" charset="0"/>
                <a:cs typeface="Times New Roman" pitchFamily="18" charset="0"/>
              </a:rPr>
              <a:t>semi-hard</a:t>
            </a:r>
            <a:r>
              <a:rPr lang="en-GB" dirty="0">
                <a:latin typeface="Times New Roman" pitchFamily="18" charset="0"/>
                <a:cs typeface="Times New Roman" pitchFamily="18" charset="0"/>
              </a:rPr>
              <a:t> e.g. Blue cheese, </a:t>
            </a:r>
            <a:r>
              <a:rPr lang="en-GB" b="1" dirty="0">
                <a:latin typeface="Times New Roman" pitchFamily="18" charset="0"/>
                <a:cs typeface="Times New Roman" pitchFamily="18" charset="0"/>
              </a:rPr>
              <a:t>Hard cheese </a:t>
            </a:r>
            <a:r>
              <a:rPr lang="en-GB" dirty="0">
                <a:latin typeface="Times New Roman" pitchFamily="18" charset="0"/>
                <a:cs typeface="Times New Roman" pitchFamily="18" charset="0"/>
              </a:rPr>
              <a:t>e.g. Swiss cheese and </a:t>
            </a:r>
            <a:r>
              <a:rPr lang="en-GB" b="1" dirty="0">
                <a:latin typeface="Times New Roman" pitchFamily="18" charset="0"/>
                <a:cs typeface="Times New Roman" pitchFamily="18" charset="0"/>
              </a:rPr>
              <a:t>Very hard cheese</a:t>
            </a:r>
            <a:r>
              <a:rPr lang="en-GB" dirty="0">
                <a:latin typeface="Times New Roman" pitchFamily="18" charset="0"/>
                <a:cs typeface="Times New Roman" pitchFamily="18" charset="0"/>
              </a:rPr>
              <a:t> e.g. Romano.</a:t>
            </a:r>
          </a:p>
          <a:p>
            <a:r>
              <a:rPr lang="en-GB" dirty="0">
                <a:latin typeface="Times New Roman" pitchFamily="18" charset="0"/>
                <a:cs typeface="Times New Roman" pitchFamily="18" charset="0"/>
              </a:rPr>
              <a:t>The hardness of cheese partially depends on the length of the ripening period and the amount of water removed from the curds. Soft cheese is ripened for 1-5 months. Hard cheese is ripened for 3-12 months and very hard cheese may require up to 16 months for ripening.</a:t>
            </a:r>
          </a:p>
          <a:p>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438791833"/>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305800" cy="609600"/>
          </a:xfrm>
        </p:spPr>
        <p:txBody>
          <a:bodyPr>
            <a:normAutofit fontScale="90000"/>
          </a:bodyPr>
          <a:lstStyle/>
          <a:p>
            <a:r>
              <a:rPr lang="en-GB" dirty="0"/>
              <a:t/>
            </a:r>
            <a:br>
              <a:rPr lang="en-GB" dirty="0"/>
            </a:br>
            <a:r>
              <a:rPr lang="en-GB" sz="3100" dirty="0">
                <a:latin typeface="Times New Roman" pitchFamily="18" charset="0"/>
                <a:cs typeface="Times New Roman" pitchFamily="18" charset="0"/>
              </a:rPr>
              <a:t>FERMENTED MEAT AND FISHERY      PRODUCTS</a:t>
            </a:r>
          </a:p>
        </p:txBody>
      </p:sp>
      <p:sp>
        <p:nvSpPr>
          <p:cNvPr id="3" name="Content Placeholder 2"/>
          <p:cNvSpPr>
            <a:spLocks noGrp="1"/>
          </p:cNvSpPr>
          <p:nvPr>
            <p:ph idx="1"/>
          </p:nvPr>
        </p:nvSpPr>
        <p:spPr>
          <a:xfrm>
            <a:off x="304800" y="914400"/>
            <a:ext cx="8534400" cy="5334000"/>
          </a:xfrm>
        </p:spPr>
        <p:txBody>
          <a:bodyPr>
            <a:normAutofit/>
          </a:bodyPr>
          <a:lstStyle/>
          <a:p>
            <a:r>
              <a:rPr lang="en-GB" dirty="0">
                <a:latin typeface="Times New Roman" pitchFamily="18" charset="0"/>
                <a:cs typeface="Times New Roman" pitchFamily="18" charset="0"/>
              </a:rPr>
              <a:t>A variety of meat products especially sausage can be </a:t>
            </a:r>
            <a:r>
              <a:rPr lang="en-GB" dirty="0" err="1">
                <a:latin typeface="Times New Roman" pitchFamily="18" charset="0"/>
                <a:cs typeface="Times New Roman" pitchFamily="18" charset="0"/>
              </a:rPr>
              <a:t>fermented.</a:t>
            </a:r>
            <a:r>
              <a:rPr lang="en-GB" i="1" dirty="0" err="1">
                <a:latin typeface="Times New Roman" pitchFamily="18" charset="0"/>
                <a:cs typeface="Times New Roman" pitchFamily="18" charset="0"/>
              </a:rPr>
              <a:t>Pediococcus</a:t>
            </a:r>
            <a:r>
              <a:rPr lang="en-GB" i="1" dirty="0">
                <a:latin typeface="Times New Roman" pitchFamily="18" charset="0"/>
                <a:cs typeface="Times New Roman" pitchFamily="18" charset="0"/>
              </a:rPr>
              <a:t> </a:t>
            </a:r>
            <a:r>
              <a:rPr lang="en-GB" i="1" dirty="0" err="1">
                <a:latin typeface="Times New Roman" pitchFamily="18" charset="0"/>
                <a:cs typeface="Times New Roman" pitchFamily="18" charset="0"/>
              </a:rPr>
              <a:t>cerevisae</a:t>
            </a:r>
            <a:r>
              <a:rPr lang="en-GB" dirty="0">
                <a:latin typeface="Times New Roman" pitchFamily="18" charset="0"/>
                <a:cs typeface="Times New Roman" pitchFamily="18" charset="0"/>
              </a:rPr>
              <a:t> and </a:t>
            </a:r>
            <a:r>
              <a:rPr lang="en-GB" i="1" dirty="0">
                <a:latin typeface="Times New Roman" pitchFamily="18" charset="0"/>
                <a:cs typeface="Times New Roman" pitchFamily="18" charset="0"/>
              </a:rPr>
              <a:t>Lactobacillus </a:t>
            </a:r>
            <a:r>
              <a:rPr lang="en-GB" i="1" dirty="0" err="1">
                <a:latin typeface="Times New Roman" pitchFamily="18" charset="0"/>
                <a:cs typeface="Times New Roman" pitchFamily="18" charset="0"/>
              </a:rPr>
              <a:t>plantarum</a:t>
            </a:r>
            <a:r>
              <a:rPr lang="en-GB" dirty="0">
                <a:latin typeface="Times New Roman" pitchFamily="18" charset="0"/>
                <a:cs typeface="Times New Roman" pitchFamily="18" charset="0"/>
              </a:rPr>
              <a:t> are often most involved in sausage fermentation.</a:t>
            </a:r>
          </a:p>
          <a:p>
            <a:r>
              <a:rPr lang="en-GB" dirty="0">
                <a:latin typeface="Times New Roman" pitchFamily="18" charset="0"/>
                <a:cs typeface="Times New Roman" pitchFamily="18" charset="0"/>
              </a:rPr>
              <a:t> In their preparation, curing and seasoning agents are added to ground meat followed by its stuffing into casing and incubated for varied periods of time at 80⁰F to 95⁰F. Incubation times are shorter when starter cultures are used. </a:t>
            </a:r>
          </a:p>
          <a:p>
            <a:r>
              <a:rPr lang="en-GB" dirty="0">
                <a:latin typeface="Times New Roman" pitchFamily="18" charset="0"/>
                <a:cs typeface="Times New Roman" pitchFamily="18" charset="0"/>
              </a:rPr>
              <a:t>The curing mixtures include glucose as substrates for the fermenters and nitrates or nitrites as colour stabilizers; these nitrites enhance the colour and flavour of red meat. </a:t>
            </a:r>
          </a:p>
        </p:txBody>
      </p:sp>
    </p:spTree>
    <p:extLst>
      <p:ext uri="{BB962C8B-B14F-4D97-AF65-F5344CB8AC3E}">
        <p14:creationId xmlns:p14="http://schemas.microsoft.com/office/powerpoint/2010/main" val="4231939422"/>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990600"/>
          </a:xfrm>
        </p:spPr>
        <p:txBody>
          <a:bodyPr>
            <a:noAutofit/>
          </a:bodyPr>
          <a:lstStyle/>
          <a:p>
            <a:r>
              <a:rPr lang="en-GB" sz="2800" b="1" dirty="0">
                <a:latin typeface="Times New Roman" pitchFamily="18" charset="0"/>
                <a:cs typeface="Times New Roman" pitchFamily="18" charset="0"/>
              </a:rPr>
              <a:t>FERMENTED MEAT AND FISHERY      PRODUCTS….contd.</a:t>
            </a:r>
            <a:endParaRPr lang="en-GB" sz="2800" b="1" dirty="0"/>
          </a:p>
        </p:txBody>
      </p:sp>
      <p:sp>
        <p:nvSpPr>
          <p:cNvPr id="3" name="Content Placeholder 2"/>
          <p:cNvSpPr>
            <a:spLocks noGrp="1"/>
          </p:cNvSpPr>
          <p:nvPr>
            <p:ph idx="1"/>
          </p:nvPr>
        </p:nvSpPr>
        <p:spPr>
          <a:xfrm>
            <a:off x="457200" y="1524000"/>
            <a:ext cx="8229600" cy="4800600"/>
          </a:xfrm>
        </p:spPr>
        <p:txBody>
          <a:bodyPr/>
          <a:lstStyle/>
          <a:p>
            <a:r>
              <a:rPr lang="en-GB" dirty="0">
                <a:latin typeface="Times New Roman" pitchFamily="18" charset="0"/>
                <a:cs typeface="Times New Roman" pitchFamily="18" charset="0"/>
              </a:rPr>
              <a:t>When only nitrates are used, it becomes necessary for the sausages to contain bacteria like Micrococci that can reduce nitrates to nitrites. </a:t>
            </a:r>
          </a:p>
          <a:p>
            <a:r>
              <a:rPr lang="en-GB" dirty="0">
                <a:latin typeface="Times New Roman" pitchFamily="18" charset="0"/>
                <a:cs typeface="Times New Roman" pitchFamily="18" charset="0"/>
              </a:rPr>
              <a:t>The pH in dry sausages decreases from 5.8-4.8 during the first 15 days of ripening and remain constant thereafter.</a:t>
            </a:r>
          </a:p>
          <a:p>
            <a:r>
              <a:rPr lang="en-GB" dirty="0">
                <a:latin typeface="Times New Roman" pitchFamily="18" charset="0"/>
                <a:cs typeface="Times New Roman" pitchFamily="18" charset="0"/>
              </a:rPr>
              <a:t> </a:t>
            </a:r>
            <a:r>
              <a:rPr lang="en-GB" i="1" dirty="0">
                <a:latin typeface="Times New Roman" pitchFamily="18" charset="0"/>
                <a:cs typeface="Times New Roman" pitchFamily="18" charset="0"/>
              </a:rPr>
              <a:t>Lactobacillus </a:t>
            </a:r>
            <a:r>
              <a:rPr lang="en-GB" i="1" dirty="0" err="1">
                <a:latin typeface="Times New Roman" pitchFamily="18" charset="0"/>
                <a:cs typeface="Times New Roman" pitchFamily="18" charset="0"/>
              </a:rPr>
              <a:t>plantarum</a:t>
            </a:r>
            <a:r>
              <a:rPr lang="en-GB" dirty="0">
                <a:latin typeface="Times New Roman" pitchFamily="18" charset="0"/>
                <a:cs typeface="Times New Roman" pitchFamily="18" charset="0"/>
              </a:rPr>
              <a:t> is the most predominant species with respect to the changes that occur in the flora of fermenting dry sausages when starter cultures are not used. </a:t>
            </a:r>
          </a:p>
        </p:txBody>
      </p:sp>
    </p:spTree>
    <p:extLst>
      <p:ext uri="{BB962C8B-B14F-4D97-AF65-F5344CB8AC3E}">
        <p14:creationId xmlns:p14="http://schemas.microsoft.com/office/powerpoint/2010/main" val="2978907522"/>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8229600" cy="1143000"/>
          </a:xfrm>
        </p:spPr>
        <p:txBody>
          <a:bodyPr>
            <a:normAutofit fontScale="90000"/>
          </a:bodyPr>
          <a:lstStyle/>
          <a:p>
            <a:r>
              <a:rPr lang="en-GB" sz="3600" b="1" dirty="0">
                <a:latin typeface="Times New Roman" pitchFamily="18" charset="0"/>
                <a:cs typeface="Times New Roman" pitchFamily="18" charset="0"/>
              </a:rPr>
              <a:t>FERMENTED MEAT AND FISHERY      PRODUCTS….contd</a:t>
            </a:r>
            <a:r>
              <a:rPr lang="en-GB" sz="5400" b="1" dirty="0">
                <a:latin typeface="Times New Roman" pitchFamily="18" charset="0"/>
                <a:cs typeface="Times New Roman" pitchFamily="18" charset="0"/>
              </a:rPr>
              <a:t>.</a:t>
            </a:r>
            <a:endParaRPr lang="en-GB" b="1" dirty="0"/>
          </a:p>
        </p:txBody>
      </p:sp>
      <p:sp>
        <p:nvSpPr>
          <p:cNvPr id="3" name="Content Placeholder 2"/>
          <p:cNvSpPr>
            <a:spLocks noGrp="1"/>
          </p:cNvSpPr>
          <p:nvPr>
            <p:ph idx="1"/>
          </p:nvPr>
        </p:nvSpPr>
        <p:spPr>
          <a:xfrm>
            <a:off x="152400" y="1219200"/>
            <a:ext cx="8686800" cy="5105400"/>
          </a:xfrm>
        </p:spPr>
        <p:txBody>
          <a:bodyPr/>
          <a:lstStyle/>
          <a:p>
            <a:r>
              <a:rPr lang="en-GB" dirty="0" err="1">
                <a:latin typeface="Times New Roman" pitchFamily="18" charset="0"/>
                <a:cs typeface="Times New Roman" pitchFamily="18" charset="0"/>
              </a:rPr>
              <a:t>Heterofermenters</a:t>
            </a:r>
            <a:r>
              <a:rPr lang="en-GB" dirty="0">
                <a:latin typeface="Times New Roman" pitchFamily="18" charset="0"/>
                <a:cs typeface="Times New Roman" pitchFamily="18" charset="0"/>
              </a:rPr>
              <a:t> like </a:t>
            </a:r>
            <a:r>
              <a:rPr lang="en-GB" i="1" dirty="0">
                <a:latin typeface="Times New Roman" pitchFamily="18" charset="0"/>
                <a:cs typeface="Times New Roman" pitchFamily="18" charset="0"/>
              </a:rPr>
              <a:t>Lactobacillus </a:t>
            </a:r>
            <a:r>
              <a:rPr lang="en-GB" i="1" dirty="0" err="1">
                <a:latin typeface="Times New Roman" pitchFamily="18" charset="0"/>
                <a:cs typeface="Times New Roman" pitchFamily="18" charset="0"/>
              </a:rPr>
              <a:t>brevis</a:t>
            </a:r>
            <a:r>
              <a:rPr lang="en-GB" dirty="0">
                <a:latin typeface="Times New Roman" pitchFamily="18" charset="0"/>
                <a:cs typeface="Times New Roman" pitchFamily="18" charset="0"/>
              </a:rPr>
              <a:t> and </a:t>
            </a:r>
            <a:r>
              <a:rPr lang="en-GB" i="1" dirty="0">
                <a:latin typeface="Times New Roman" pitchFamily="18" charset="0"/>
                <a:cs typeface="Times New Roman" pitchFamily="18" charset="0"/>
              </a:rPr>
              <a:t>Lactobacillus </a:t>
            </a:r>
            <a:r>
              <a:rPr lang="en-GB" i="1" dirty="0" err="1">
                <a:latin typeface="Times New Roman" pitchFamily="18" charset="0"/>
                <a:cs typeface="Times New Roman" pitchFamily="18" charset="0"/>
              </a:rPr>
              <a:t>buchneri</a:t>
            </a:r>
            <a:r>
              <a:rPr lang="en-GB" dirty="0">
                <a:latin typeface="Times New Roman" pitchFamily="18" charset="0"/>
                <a:cs typeface="Times New Roman" pitchFamily="18" charset="0"/>
              </a:rPr>
              <a:t> also increase in their numbers during a six day incubation period as a result of changes in pH and redox potential brought about by the </a:t>
            </a:r>
            <a:r>
              <a:rPr lang="en-GB" dirty="0" err="1">
                <a:latin typeface="Times New Roman" pitchFamily="18" charset="0"/>
                <a:cs typeface="Times New Roman" pitchFamily="18" charset="0"/>
              </a:rPr>
              <a:t>homofermenters</a:t>
            </a:r>
            <a:r>
              <a:rPr lang="en-GB" dirty="0">
                <a:latin typeface="Times New Roman" pitchFamily="18" charset="0"/>
                <a:cs typeface="Times New Roman" pitchFamily="18" charset="0"/>
              </a:rPr>
              <a:t>.</a:t>
            </a:r>
          </a:p>
          <a:p>
            <a:r>
              <a:rPr lang="en-GB" dirty="0">
                <a:latin typeface="Times New Roman" pitchFamily="18" charset="0"/>
                <a:cs typeface="Times New Roman" pitchFamily="18" charset="0"/>
              </a:rPr>
              <a:t> Curing of meat is a method of food preservation in which meat is immersed or permeated with a solution typically containing </a:t>
            </a:r>
            <a:r>
              <a:rPr lang="en-GB" dirty="0" err="1">
                <a:latin typeface="Times New Roman" pitchFamily="18" charset="0"/>
                <a:cs typeface="Times New Roman" pitchFamily="18" charset="0"/>
              </a:rPr>
              <a:t>NaCl</a:t>
            </a:r>
            <a:r>
              <a:rPr lang="en-GB" dirty="0">
                <a:latin typeface="Times New Roman" pitchFamily="18" charset="0"/>
                <a:cs typeface="Times New Roman" pitchFamily="18" charset="0"/>
              </a:rPr>
              <a:t>, </a:t>
            </a:r>
            <a:r>
              <a:rPr lang="en-GB" dirty="0" err="1">
                <a:latin typeface="Times New Roman" pitchFamily="18" charset="0"/>
                <a:cs typeface="Times New Roman" pitchFamily="18" charset="0"/>
              </a:rPr>
              <a:t>NaNO</a:t>
            </a:r>
            <a:r>
              <a:rPr lang="en-GB" dirty="0">
                <a:latin typeface="Times New Roman" pitchFamily="18" charset="0"/>
                <a:cs typeface="Times New Roman" pitchFamily="18" charset="0"/>
              </a:rPr>
              <a:t>₃ and </a:t>
            </a:r>
            <a:r>
              <a:rPr lang="en-GB" dirty="0" err="1">
                <a:latin typeface="Times New Roman" pitchFamily="18" charset="0"/>
                <a:cs typeface="Times New Roman" pitchFamily="18" charset="0"/>
              </a:rPr>
              <a:t>NaNO</a:t>
            </a:r>
            <a:r>
              <a:rPr lang="en-GB" dirty="0">
                <a:latin typeface="Times New Roman" pitchFamily="18" charset="0"/>
                <a:cs typeface="Times New Roman" pitchFamily="18" charset="0"/>
              </a:rPr>
              <a:t>₂ at temperatures of about 4⁰C. </a:t>
            </a:r>
          </a:p>
          <a:p>
            <a:r>
              <a:rPr lang="en-GB" dirty="0">
                <a:latin typeface="Times New Roman" pitchFamily="18" charset="0"/>
                <a:cs typeface="Times New Roman" pitchFamily="18" charset="0"/>
              </a:rPr>
              <a:t>The use of </a:t>
            </a:r>
            <a:r>
              <a:rPr lang="en-GB" i="1" dirty="0" err="1">
                <a:latin typeface="Times New Roman" pitchFamily="18" charset="0"/>
                <a:cs typeface="Times New Roman" pitchFamily="18" charset="0"/>
              </a:rPr>
              <a:t>Pediococcus</a:t>
            </a:r>
            <a:r>
              <a:rPr lang="en-GB" i="1" dirty="0">
                <a:latin typeface="Times New Roman" pitchFamily="18" charset="0"/>
                <a:cs typeface="Times New Roman" pitchFamily="18" charset="0"/>
              </a:rPr>
              <a:t> </a:t>
            </a:r>
            <a:r>
              <a:rPr lang="en-GB" i="1" dirty="0" err="1">
                <a:latin typeface="Times New Roman" pitchFamily="18" charset="0"/>
                <a:cs typeface="Times New Roman" pitchFamily="18" charset="0"/>
              </a:rPr>
              <a:t>cerevicae</a:t>
            </a:r>
            <a:r>
              <a:rPr lang="en-GB" dirty="0">
                <a:latin typeface="Times New Roman" pitchFamily="18" charset="0"/>
                <a:cs typeface="Times New Roman" pitchFamily="18" charset="0"/>
              </a:rPr>
              <a:t> starter leads to the production of a more desirable product. </a:t>
            </a:r>
          </a:p>
        </p:txBody>
      </p:sp>
    </p:spTree>
    <p:extLst>
      <p:ext uri="{BB962C8B-B14F-4D97-AF65-F5344CB8AC3E}">
        <p14:creationId xmlns:p14="http://schemas.microsoft.com/office/powerpoint/2010/main" val="951308155"/>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8229600" cy="914400"/>
          </a:xfrm>
        </p:spPr>
        <p:txBody>
          <a:bodyPr>
            <a:normAutofit fontScale="90000"/>
          </a:bodyPr>
          <a:lstStyle/>
          <a:p>
            <a:r>
              <a:rPr lang="en-GB" dirty="0"/>
              <a:t/>
            </a:r>
            <a:br>
              <a:rPr lang="en-GB" dirty="0"/>
            </a:br>
            <a:r>
              <a:rPr lang="en-GB" sz="3600" dirty="0">
                <a:latin typeface="Times New Roman" pitchFamily="18" charset="0"/>
                <a:cs typeface="Times New Roman" pitchFamily="18" charset="0"/>
              </a:rPr>
              <a:t>FERMENTED BEVERAGES AND RELATED PRODUCTS</a:t>
            </a:r>
          </a:p>
        </p:txBody>
      </p:sp>
      <p:sp>
        <p:nvSpPr>
          <p:cNvPr id="3" name="Content Placeholder 2"/>
          <p:cNvSpPr>
            <a:spLocks noGrp="1"/>
          </p:cNvSpPr>
          <p:nvPr>
            <p:ph idx="1"/>
          </p:nvPr>
        </p:nvSpPr>
        <p:spPr>
          <a:xfrm>
            <a:off x="228600" y="1143000"/>
            <a:ext cx="8610600" cy="5105400"/>
          </a:xfrm>
        </p:spPr>
        <p:txBody>
          <a:bodyPr>
            <a:normAutofit fontScale="92500" lnSpcReduction="20000"/>
          </a:bodyPr>
          <a:lstStyle/>
          <a:p>
            <a:pPr marL="0" indent="0" algn="ctr">
              <a:buNone/>
            </a:pPr>
            <a:r>
              <a:rPr lang="en-GB" b="1" u="sng" dirty="0" err="1">
                <a:latin typeface="Times New Roman" pitchFamily="18" charset="0"/>
                <a:cs typeface="Times New Roman" pitchFamily="18" charset="0"/>
              </a:rPr>
              <a:t>Palmwine</a:t>
            </a:r>
            <a:endParaRPr lang="en-GB" b="1" dirty="0">
              <a:latin typeface="Times New Roman" pitchFamily="18" charset="0"/>
              <a:cs typeface="Times New Roman" pitchFamily="18" charset="0"/>
            </a:endParaRPr>
          </a:p>
          <a:p>
            <a:r>
              <a:rPr lang="en-GB" dirty="0">
                <a:latin typeface="Times New Roman" pitchFamily="18" charset="0"/>
                <a:cs typeface="Times New Roman" pitchFamily="18" charset="0"/>
              </a:rPr>
              <a:t>This is produced by a natural fermentation of palm sap. </a:t>
            </a:r>
          </a:p>
          <a:p>
            <a:r>
              <a:rPr lang="en-GB" dirty="0">
                <a:latin typeface="Times New Roman" pitchFamily="18" charset="0"/>
                <a:cs typeface="Times New Roman" pitchFamily="18" charset="0"/>
              </a:rPr>
              <a:t>The sap is sweet and dirty brown in colour. </a:t>
            </a:r>
          </a:p>
          <a:p>
            <a:r>
              <a:rPr lang="en-GB" dirty="0">
                <a:latin typeface="Times New Roman" pitchFamily="18" charset="0"/>
                <a:cs typeface="Times New Roman" pitchFamily="18" charset="0"/>
              </a:rPr>
              <a:t>It contains 10-12 </a:t>
            </a:r>
            <a:r>
              <a:rPr lang="en-GB" dirty="0" err="1">
                <a:latin typeface="Times New Roman" pitchFamily="18" charset="0"/>
                <a:cs typeface="Times New Roman" pitchFamily="18" charset="0"/>
              </a:rPr>
              <a:t>percent</a:t>
            </a:r>
            <a:r>
              <a:rPr lang="en-GB" dirty="0">
                <a:latin typeface="Times New Roman" pitchFamily="18" charset="0"/>
                <a:cs typeface="Times New Roman" pitchFamily="18" charset="0"/>
              </a:rPr>
              <a:t> sucrose. </a:t>
            </a:r>
          </a:p>
          <a:p>
            <a:r>
              <a:rPr lang="en-GB" dirty="0">
                <a:latin typeface="Times New Roman" pitchFamily="18" charset="0"/>
                <a:cs typeface="Times New Roman" pitchFamily="18" charset="0"/>
              </a:rPr>
              <a:t>The fermentation process results in the sap becoming milky white in appearance due to the presence of large numbers of fermenting bacteria and yeast. </a:t>
            </a:r>
          </a:p>
          <a:p>
            <a:r>
              <a:rPr lang="en-GB" dirty="0">
                <a:latin typeface="Times New Roman" pitchFamily="18" charset="0"/>
                <a:cs typeface="Times New Roman" pitchFamily="18" charset="0"/>
              </a:rPr>
              <a:t>The product is unique in the sense that the microorganisms are alive when the wine is consumed. </a:t>
            </a:r>
          </a:p>
          <a:p>
            <a:r>
              <a:rPr lang="en-GB" dirty="0">
                <a:latin typeface="Times New Roman" pitchFamily="18" charset="0"/>
                <a:cs typeface="Times New Roman" pitchFamily="18" charset="0"/>
              </a:rPr>
              <a:t>The following genera of bacteria are most predominant in the finished product. </a:t>
            </a:r>
          </a:p>
          <a:p>
            <a:r>
              <a:rPr lang="en-GB" dirty="0">
                <a:latin typeface="Times New Roman" pitchFamily="18" charset="0"/>
                <a:cs typeface="Times New Roman" pitchFamily="18" charset="0"/>
              </a:rPr>
              <a:t>These are </a:t>
            </a:r>
            <a:r>
              <a:rPr lang="en-GB" i="1" dirty="0">
                <a:latin typeface="Times New Roman" pitchFamily="18" charset="0"/>
                <a:cs typeface="Times New Roman" pitchFamily="18" charset="0"/>
              </a:rPr>
              <a:t>Micrococcus</a:t>
            </a:r>
            <a:r>
              <a:rPr lang="en-GB" dirty="0">
                <a:latin typeface="Times New Roman" pitchFamily="18" charset="0"/>
                <a:cs typeface="Times New Roman" pitchFamily="18" charset="0"/>
              </a:rPr>
              <a:t>, </a:t>
            </a:r>
            <a:r>
              <a:rPr lang="en-GB" i="1" dirty="0" err="1">
                <a:latin typeface="Times New Roman" pitchFamily="18" charset="0"/>
                <a:cs typeface="Times New Roman" pitchFamily="18" charset="0"/>
              </a:rPr>
              <a:t>Leuconostoc</a:t>
            </a:r>
            <a:r>
              <a:rPr lang="en-GB" i="1" dirty="0">
                <a:latin typeface="Times New Roman" pitchFamily="18" charset="0"/>
                <a:cs typeface="Times New Roman" pitchFamily="18" charset="0"/>
              </a:rPr>
              <a:t>, Lactobacillus</a:t>
            </a:r>
            <a:r>
              <a:rPr lang="en-GB" dirty="0">
                <a:latin typeface="Times New Roman" pitchFamily="18" charset="0"/>
                <a:cs typeface="Times New Roman" pitchFamily="18" charset="0"/>
              </a:rPr>
              <a:t> and </a:t>
            </a:r>
            <a:r>
              <a:rPr lang="en-GB" i="1" dirty="0">
                <a:latin typeface="Times New Roman" pitchFamily="18" charset="0"/>
                <a:cs typeface="Times New Roman" pitchFamily="18" charset="0"/>
              </a:rPr>
              <a:t>Acetobacter</a:t>
            </a:r>
            <a:r>
              <a:rPr lang="en-GB" dirty="0">
                <a:latin typeface="Times New Roman" pitchFamily="18" charset="0"/>
                <a:cs typeface="Times New Roman" pitchFamily="18" charset="0"/>
              </a:rPr>
              <a:t>. </a:t>
            </a:r>
          </a:p>
          <a:p>
            <a:r>
              <a:rPr lang="en-GB" dirty="0">
                <a:latin typeface="Times New Roman" pitchFamily="18" charset="0"/>
                <a:cs typeface="Times New Roman" pitchFamily="18" charset="0"/>
              </a:rPr>
              <a:t>The predominant yeast found are Saccharomyces and Candida species with the former being most common.</a:t>
            </a:r>
          </a:p>
        </p:txBody>
      </p:sp>
    </p:spTree>
    <p:extLst>
      <p:ext uri="{BB962C8B-B14F-4D97-AF65-F5344CB8AC3E}">
        <p14:creationId xmlns:p14="http://schemas.microsoft.com/office/powerpoint/2010/main" val="4010064008"/>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8229600" cy="1143000"/>
          </a:xfrm>
        </p:spPr>
        <p:txBody>
          <a:bodyPr>
            <a:normAutofit/>
          </a:bodyPr>
          <a:lstStyle/>
          <a:p>
            <a:r>
              <a:rPr lang="en-GB" sz="3600" dirty="0">
                <a:latin typeface="Times New Roman" pitchFamily="18" charset="0"/>
                <a:cs typeface="Times New Roman" pitchFamily="18" charset="0"/>
              </a:rPr>
              <a:t>FERMENTED BEVERAGES AND RELATED PRODUCTS…..contd.</a:t>
            </a:r>
            <a:endParaRPr lang="en-GB" sz="3600" dirty="0"/>
          </a:p>
        </p:txBody>
      </p:sp>
      <p:sp>
        <p:nvSpPr>
          <p:cNvPr id="3" name="Content Placeholder 2"/>
          <p:cNvSpPr>
            <a:spLocks noGrp="1"/>
          </p:cNvSpPr>
          <p:nvPr>
            <p:ph idx="1"/>
          </p:nvPr>
        </p:nvSpPr>
        <p:spPr>
          <a:xfrm>
            <a:off x="457200" y="1295400"/>
            <a:ext cx="8229600" cy="5029200"/>
          </a:xfrm>
        </p:spPr>
        <p:txBody>
          <a:bodyPr/>
          <a:lstStyle/>
          <a:p>
            <a:r>
              <a:rPr lang="en-GB" dirty="0">
                <a:latin typeface="Times New Roman" pitchFamily="18" charset="0"/>
                <a:cs typeface="Times New Roman" pitchFamily="18" charset="0"/>
              </a:rPr>
              <a:t>The fermentation occurs over 36-48 hour period during which the pH of the sap falls from 7.0-7.2 to less than 4.5.</a:t>
            </a:r>
          </a:p>
          <a:p>
            <a:r>
              <a:rPr lang="en-GB" dirty="0">
                <a:latin typeface="Times New Roman" pitchFamily="18" charset="0"/>
                <a:cs typeface="Times New Roman" pitchFamily="18" charset="0"/>
              </a:rPr>
              <a:t> Fermentation products consist of organic acid in addition to ethanol. </a:t>
            </a:r>
          </a:p>
          <a:p>
            <a:r>
              <a:rPr lang="en-GB" dirty="0">
                <a:latin typeface="Times New Roman" pitchFamily="18" charset="0"/>
                <a:cs typeface="Times New Roman" pitchFamily="18" charset="0"/>
              </a:rPr>
              <a:t>During the early phases of fermentation, </a:t>
            </a:r>
            <a:r>
              <a:rPr lang="en-GB" i="1" dirty="0" err="1">
                <a:latin typeface="Times New Roman" pitchFamily="18" charset="0"/>
                <a:cs typeface="Times New Roman" pitchFamily="18" charset="0"/>
              </a:rPr>
              <a:t>Serratia</a:t>
            </a:r>
            <a:r>
              <a:rPr lang="en-GB" dirty="0">
                <a:latin typeface="Times New Roman" pitchFamily="18" charset="0"/>
                <a:cs typeface="Times New Roman" pitchFamily="18" charset="0"/>
              </a:rPr>
              <a:t> and </a:t>
            </a:r>
            <a:r>
              <a:rPr lang="en-GB" i="1" dirty="0" err="1">
                <a:latin typeface="Times New Roman" pitchFamily="18" charset="0"/>
                <a:cs typeface="Times New Roman" pitchFamily="18" charset="0"/>
              </a:rPr>
              <a:t>Enterobacter</a:t>
            </a:r>
            <a:r>
              <a:rPr lang="en-GB" dirty="0">
                <a:latin typeface="Times New Roman" pitchFamily="18" charset="0"/>
                <a:cs typeface="Times New Roman" pitchFamily="18" charset="0"/>
              </a:rPr>
              <a:t> species increase in numbers followed by </a:t>
            </a:r>
            <a:r>
              <a:rPr lang="en-GB" i="1" dirty="0">
                <a:latin typeface="Times New Roman" pitchFamily="18" charset="0"/>
                <a:cs typeface="Times New Roman" pitchFamily="18" charset="0"/>
              </a:rPr>
              <a:t>Lactobacilli </a:t>
            </a:r>
            <a:r>
              <a:rPr lang="en-GB" dirty="0">
                <a:latin typeface="Times New Roman" pitchFamily="18" charset="0"/>
                <a:cs typeface="Times New Roman" pitchFamily="18" charset="0"/>
              </a:rPr>
              <a:t>and </a:t>
            </a:r>
            <a:r>
              <a:rPr lang="en-GB" i="1" dirty="0" err="1">
                <a:latin typeface="Times New Roman" pitchFamily="18" charset="0"/>
                <a:cs typeface="Times New Roman" pitchFamily="18" charset="0"/>
              </a:rPr>
              <a:t>Leuconostoc</a:t>
            </a:r>
            <a:r>
              <a:rPr lang="en-GB" i="1" dirty="0">
                <a:latin typeface="Times New Roman" pitchFamily="18" charset="0"/>
                <a:cs typeface="Times New Roman" pitchFamily="18" charset="0"/>
              </a:rPr>
              <a:t>. </a:t>
            </a:r>
          </a:p>
          <a:p>
            <a:r>
              <a:rPr lang="en-GB" i="1" dirty="0">
                <a:latin typeface="Times New Roman" pitchFamily="18" charset="0"/>
                <a:cs typeface="Times New Roman" pitchFamily="18" charset="0"/>
              </a:rPr>
              <a:t>Acetobacter </a:t>
            </a:r>
            <a:r>
              <a:rPr lang="en-GB" dirty="0">
                <a:latin typeface="Times New Roman" pitchFamily="18" charset="0"/>
                <a:cs typeface="Times New Roman" pitchFamily="18" charset="0"/>
              </a:rPr>
              <a:t>species begin to appear after 48 hours.</a:t>
            </a:r>
          </a:p>
          <a:p>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1025143304"/>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GB" dirty="0">
                <a:latin typeface="Times New Roman" pitchFamily="18" charset="0"/>
                <a:cs typeface="Times New Roman" pitchFamily="18" charset="0"/>
              </a:rPr>
              <a:t>FOOD-BORNE DISEASES</a:t>
            </a:r>
          </a:p>
        </p:txBody>
      </p:sp>
      <p:sp>
        <p:nvSpPr>
          <p:cNvPr id="3" name="Content Placeholder 2"/>
          <p:cNvSpPr>
            <a:spLocks noGrp="1"/>
          </p:cNvSpPr>
          <p:nvPr>
            <p:ph idx="1"/>
          </p:nvPr>
        </p:nvSpPr>
        <p:spPr>
          <a:xfrm>
            <a:off x="457200" y="1295400"/>
            <a:ext cx="8229600" cy="5029200"/>
          </a:xfrm>
        </p:spPr>
        <p:txBody>
          <a:bodyPr/>
          <a:lstStyle/>
          <a:p>
            <a:r>
              <a:rPr lang="en-GB" dirty="0">
                <a:latin typeface="Times New Roman" pitchFamily="18" charset="0"/>
                <a:cs typeface="Times New Roman" pitchFamily="18" charset="0"/>
              </a:rPr>
              <a:t>It is any infection or illness that is transferred to people by the food they eat or the water they drink. </a:t>
            </a:r>
          </a:p>
          <a:p>
            <a:r>
              <a:rPr lang="en-GB" dirty="0">
                <a:latin typeface="Times New Roman" pitchFamily="18" charset="0"/>
                <a:cs typeface="Times New Roman" pitchFamily="18" charset="0"/>
              </a:rPr>
              <a:t>Food that are most likely to cause food borne diseases are called potentially hazardous foods.</a:t>
            </a:r>
          </a:p>
          <a:p>
            <a:r>
              <a:rPr lang="en-GB" dirty="0">
                <a:latin typeface="Times New Roman" pitchFamily="18" charset="0"/>
                <a:cs typeface="Times New Roman" pitchFamily="18" charset="0"/>
              </a:rPr>
              <a:t> All foods that will support the growth of microorganisms or have previously been involved in food-borne disease outbreaks. </a:t>
            </a:r>
          </a:p>
          <a:p>
            <a:r>
              <a:rPr lang="en-GB" dirty="0">
                <a:latin typeface="Times New Roman" pitchFamily="18" charset="0"/>
                <a:cs typeface="Times New Roman" pitchFamily="18" charset="0"/>
              </a:rPr>
              <a:t>These foods are generally high in protein, moisture and are chemically neutral or only slightly acidic. </a:t>
            </a:r>
          </a:p>
        </p:txBody>
      </p:sp>
    </p:spTree>
    <p:extLst>
      <p:ext uri="{BB962C8B-B14F-4D97-AF65-F5344CB8AC3E}">
        <p14:creationId xmlns:p14="http://schemas.microsoft.com/office/powerpoint/2010/main" val="1405179999"/>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229600" cy="914400"/>
          </a:xfrm>
        </p:spPr>
        <p:txBody>
          <a:bodyPr>
            <a:normAutofit/>
          </a:bodyPr>
          <a:lstStyle/>
          <a:p>
            <a:r>
              <a:rPr lang="en-GB" sz="4000" dirty="0">
                <a:latin typeface="Times New Roman" pitchFamily="18" charset="0"/>
                <a:cs typeface="Times New Roman" pitchFamily="18" charset="0"/>
              </a:rPr>
              <a:t>FOOD-BORNE DISEASES….contd.</a:t>
            </a:r>
          </a:p>
        </p:txBody>
      </p:sp>
      <p:sp>
        <p:nvSpPr>
          <p:cNvPr id="3" name="Content Placeholder 2"/>
          <p:cNvSpPr>
            <a:spLocks noGrp="1"/>
          </p:cNvSpPr>
          <p:nvPr>
            <p:ph idx="1"/>
          </p:nvPr>
        </p:nvSpPr>
        <p:spPr>
          <a:xfrm>
            <a:off x="457200" y="1143000"/>
            <a:ext cx="8229600" cy="5181600"/>
          </a:xfrm>
        </p:spPr>
        <p:txBody>
          <a:bodyPr>
            <a:normAutofit fontScale="92500"/>
          </a:bodyPr>
          <a:lstStyle/>
          <a:p>
            <a:r>
              <a:rPr lang="en-GB" dirty="0">
                <a:latin typeface="Times New Roman" pitchFamily="18" charset="0"/>
                <a:cs typeface="Times New Roman" pitchFamily="18" charset="0"/>
              </a:rPr>
              <a:t>Some foods are also considered potentially hazardous because the way they are processed or prepared may make them more likely to become contaminated. </a:t>
            </a:r>
          </a:p>
          <a:p>
            <a:r>
              <a:rPr lang="en-GB" dirty="0">
                <a:latin typeface="Times New Roman" pitchFamily="18" charset="0"/>
                <a:cs typeface="Times New Roman" pitchFamily="18" charset="0"/>
              </a:rPr>
              <a:t>Adults are less likely to get food-borne illness if they are healthy and in good physical condition. </a:t>
            </a:r>
          </a:p>
          <a:p>
            <a:r>
              <a:rPr lang="en-GB" dirty="0">
                <a:latin typeface="Times New Roman" pitchFamily="18" charset="0"/>
                <a:cs typeface="Times New Roman" pitchFamily="18" charset="0"/>
              </a:rPr>
              <a:t>People with a higher risk for contracting food-borne illness include young children, elderly, pregnant women, individuals taking certain medication and people with weakened immune systems.</a:t>
            </a:r>
          </a:p>
          <a:p>
            <a:r>
              <a:rPr lang="en-GB" dirty="0">
                <a:latin typeface="Times New Roman" pitchFamily="18" charset="0"/>
                <a:cs typeface="Times New Roman" pitchFamily="18" charset="0"/>
              </a:rPr>
              <a:t> Infants and young children are more susceptible because their immune systems are not as fully developed as an adult. </a:t>
            </a:r>
          </a:p>
          <a:p>
            <a:r>
              <a:rPr lang="en-GB" dirty="0">
                <a:latin typeface="Times New Roman" pitchFamily="18" charset="0"/>
                <a:cs typeface="Times New Roman" pitchFamily="18" charset="0"/>
              </a:rPr>
              <a:t>Elderly people have a higher risk because their immune system begins to weaken with age</a:t>
            </a:r>
          </a:p>
        </p:txBody>
      </p:sp>
    </p:spTree>
    <p:extLst>
      <p:ext uri="{BB962C8B-B14F-4D97-AF65-F5344CB8AC3E}">
        <p14:creationId xmlns:p14="http://schemas.microsoft.com/office/powerpoint/2010/main" val="1678480650"/>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ormAutofit fontScale="90000"/>
          </a:bodyPr>
          <a:lstStyle/>
          <a:p>
            <a:r>
              <a:rPr lang="en-GB" dirty="0"/>
              <a:t/>
            </a:r>
            <a:br>
              <a:rPr lang="en-GB" dirty="0"/>
            </a:br>
            <a:r>
              <a:rPr lang="en-GB" sz="4400" dirty="0"/>
              <a:t>Risk Factors for Food-Borne Illnesses</a:t>
            </a:r>
          </a:p>
        </p:txBody>
      </p:sp>
      <p:sp>
        <p:nvSpPr>
          <p:cNvPr id="3" name="Content Placeholder 2"/>
          <p:cNvSpPr>
            <a:spLocks noGrp="1"/>
          </p:cNvSpPr>
          <p:nvPr>
            <p:ph idx="1"/>
          </p:nvPr>
        </p:nvSpPr>
        <p:spPr>
          <a:xfrm>
            <a:off x="304800" y="1447800"/>
            <a:ext cx="8534400" cy="4876800"/>
          </a:xfrm>
        </p:spPr>
        <p:txBody>
          <a:bodyPr/>
          <a:lstStyle/>
          <a:p>
            <a:r>
              <a:rPr lang="en-GB" dirty="0"/>
              <a:t>Food held at improper temperature</a:t>
            </a:r>
          </a:p>
          <a:p>
            <a:endParaRPr lang="en-GB" dirty="0"/>
          </a:p>
          <a:p>
            <a:r>
              <a:rPr lang="en-GB" dirty="0"/>
              <a:t>Inadequately cooked or undercooked foods</a:t>
            </a:r>
          </a:p>
          <a:p>
            <a:endParaRPr lang="en-GB" dirty="0"/>
          </a:p>
          <a:p>
            <a:r>
              <a:rPr lang="en-GB" dirty="0"/>
              <a:t>Contaminated food equipment</a:t>
            </a:r>
          </a:p>
          <a:p>
            <a:endParaRPr lang="en-GB" dirty="0"/>
          </a:p>
          <a:p>
            <a:r>
              <a:rPr lang="en-GB" dirty="0"/>
              <a:t>Food from an unsafe source</a:t>
            </a:r>
          </a:p>
          <a:p>
            <a:endParaRPr lang="en-GB" dirty="0"/>
          </a:p>
          <a:p>
            <a:r>
              <a:rPr lang="en-GB" dirty="0"/>
              <a:t>Poor hygienic practices</a:t>
            </a:r>
          </a:p>
          <a:p>
            <a:endParaRPr lang="en-GB" dirty="0"/>
          </a:p>
        </p:txBody>
      </p:sp>
    </p:spTree>
    <p:extLst>
      <p:ext uri="{BB962C8B-B14F-4D97-AF65-F5344CB8AC3E}">
        <p14:creationId xmlns:p14="http://schemas.microsoft.com/office/powerpoint/2010/main" val="4110746148"/>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8229600" cy="838200"/>
          </a:xfrm>
        </p:spPr>
        <p:txBody>
          <a:bodyPr>
            <a:normAutofit/>
          </a:bodyPr>
          <a:lstStyle/>
          <a:p>
            <a:r>
              <a:rPr lang="en-GB" sz="4000" dirty="0">
                <a:latin typeface="Times New Roman" pitchFamily="18" charset="0"/>
                <a:cs typeface="Times New Roman" pitchFamily="18" charset="0"/>
              </a:rPr>
              <a:t>FOOD-BORNE DISEASES….contd.</a:t>
            </a:r>
            <a:endParaRPr lang="en-GB" sz="4000" dirty="0"/>
          </a:p>
        </p:txBody>
      </p:sp>
      <p:sp>
        <p:nvSpPr>
          <p:cNvPr id="3" name="Content Placeholder 2"/>
          <p:cNvSpPr>
            <a:spLocks noGrp="1"/>
          </p:cNvSpPr>
          <p:nvPr>
            <p:ph idx="1"/>
          </p:nvPr>
        </p:nvSpPr>
        <p:spPr>
          <a:xfrm>
            <a:off x="457200" y="1524000"/>
            <a:ext cx="8229600" cy="4800600"/>
          </a:xfrm>
        </p:spPr>
        <p:txBody>
          <a:bodyPr>
            <a:normAutofit fontScale="92500"/>
          </a:bodyPr>
          <a:lstStyle/>
          <a:p>
            <a:r>
              <a:rPr lang="en-GB" dirty="0">
                <a:latin typeface="Times New Roman" pitchFamily="18" charset="0"/>
                <a:cs typeface="Times New Roman" pitchFamily="18" charset="0"/>
              </a:rPr>
              <a:t>A </a:t>
            </a:r>
            <a:r>
              <a:rPr lang="en-GB" b="1" dirty="0">
                <a:latin typeface="Times New Roman" pitchFamily="18" charset="0"/>
                <a:cs typeface="Times New Roman" pitchFamily="18" charset="0"/>
              </a:rPr>
              <a:t>food-borne illness </a:t>
            </a:r>
            <a:r>
              <a:rPr lang="en-GB" dirty="0">
                <a:latin typeface="Times New Roman" pitchFamily="18" charset="0"/>
                <a:cs typeface="Times New Roman" pitchFamily="18" charset="0"/>
              </a:rPr>
              <a:t>may be classified as an infection, intoxication or toxin mediated infection.</a:t>
            </a:r>
          </a:p>
          <a:p>
            <a:r>
              <a:rPr lang="en-GB" dirty="0">
                <a:latin typeface="Times New Roman" pitchFamily="18" charset="0"/>
                <a:cs typeface="Times New Roman" pitchFamily="18" charset="0"/>
              </a:rPr>
              <a:t> A </a:t>
            </a:r>
            <a:r>
              <a:rPr lang="en-GB" b="1" dirty="0">
                <a:latin typeface="Times New Roman" pitchFamily="18" charset="0"/>
                <a:cs typeface="Times New Roman" pitchFamily="18" charset="0"/>
              </a:rPr>
              <a:t>food-borne intoxication </a:t>
            </a:r>
            <a:r>
              <a:rPr lang="en-GB" dirty="0">
                <a:latin typeface="Times New Roman" pitchFamily="18" charset="0"/>
                <a:cs typeface="Times New Roman" pitchFamily="18" charset="0"/>
              </a:rPr>
              <a:t>is an illness that is caused by eating a food containing a chemical hazard or toxin.</a:t>
            </a:r>
          </a:p>
          <a:p>
            <a:r>
              <a:rPr lang="en-GB" dirty="0">
                <a:latin typeface="Times New Roman" pitchFamily="18" charset="0"/>
                <a:cs typeface="Times New Roman" pitchFamily="18" charset="0"/>
              </a:rPr>
              <a:t> A </a:t>
            </a:r>
            <a:r>
              <a:rPr lang="en-GB" b="1" dirty="0">
                <a:latin typeface="Times New Roman" pitchFamily="18" charset="0"/>
                <a:cs typeface="Times New Roman" pitchFamily="18" charset="0"/>
              </a:rPr>
              <a:t>food-borne infection </a:t>
            </a:r>
            <a:r>
              <a:rPr lang="en-GB" dirty="0">
                <a:latin typeface="Times New Roman" pitchFamily="18" charset="0"/>
                <a:cs typeface="Times New Roman" pitchFamily="18" charset="0"/>
              </a:rPr>
              <a:t>is an illness caused by eating food containing live pathogenic microorganisms such as virus, some types of bacteria, parasites</a:t>
            </a:r>
          </a:p>
          <a:p>
            <a:r>
              <a:rPr lang="en-GB" dirty="0">
                <a:latin typeface="Times New Roman" pitchFamily="18" charset="0"/>
                <a:cs typeface="Times New Roman" pitchFamily="18" charset="0"/>
              </a:rPr>
              <a:t>For most food organisms, the microorganisms of greatest concern are the following; </a:t>
            </a:r>
            <a:r>
              <a:rPr lang="en-GB" i="1" dirty="0">
                <a:latin typeface="Times New Roman" pitchFamily="18" charset="0"/>
                <a:cs typeface="Times New Roman" pitchFamily="18" charset="0"/>
              </a:rPr>
              <a:t>Clostridium botulinum, Salmonella sp</a:t>
            </a:r>
            <a:r>
              <a:rPr lang="en-GB" dirty="0">
                <a:latin typeface="Times New Roman" pitchFamily="18" charset="0"/>
                <a:cs typeface="Times New Roman" pitchFamily="18" charset="0"/>
              </a:rPr>
              <a:t>, </a:t>
            </a:r>
            <a:r>
              <a:rPr lang="en-GB" i="1" dirty="0">
                <a:latin typeface="Times New Roman" pitchFamily="18" charset="0"/>
                <a:cs typeface="Times New Roman" pitchFamily="18" charset="0"/>
              </a:rPr>
              <a:t>Staphylococcus </a:t>
            </a:r>
            <a:r>
              <a:rPr lang="en-GB" i="1" dirty="0" err="1">
                <a:latin typeface="Times New Roman" pitchFamily="18" charset="0"/>
                <a:cs typeface="Times New Roman" pitchFamily="18" charset="0"/>
              </a:rPr>
              <a:t>aureus</a:t>
            </a:r>
            <a:r>
              <a:rPr lang="en-GB" i="1" dirty="0">
                <a:latin typeface="Times New Roman" pitchFamily="18" charset="0"/>
                <a:cs typeface="Times New Roman" pitchFamily="18" charset="0"/>
              </a:rPr>
              <a:t>, Clostridium </a:t>
            </a:r>
            <a:r>
              <a:rPr lang="en-GB" i="1" dirty="0" err="1">
                <a:latin typeface="Times New Roman" pitchFamily="18" charset="0"/>
                <a:cs typeface="Times New Roman" pitchFamily="18" charset="0"/>
              </a:rPr>
              <a:t>perfringens</a:t>
            </a:r>
            <a:r>
              <a:rPr lang="en-GB" i="1" dirty="0">
                <a:latin typeface="Times New Roman" pitchFamily="18" charset="0"/>
                <a:cs typeface="Times New Roman" pitchFamily="18" charset="0"/>
              </a:rPr>
              <a:t>, Listeria monocytogenes</a:t>
            </a:r>
            <a:r>
              <a:rPr lang="en-GB" dirty="0">
                <a:latin typeface="Times New Roman" pitchFamily="18" charset="0"/>
                <a:cs typeface="Times New Roman" pitchFamily="18" charset="0"/>
              </a:rPr>
              <a:t>, </a:t>
            </a:r>
            <a:r>
              <a:rPr lang="en-GB" dirty="0" err="1">
                <a:latin typeface="Times New Roman" pitchFamily="18" charset="0"/>
                <a:cs typeface="Times New Roman" pitchFamily="18" charset="0"/>
              </a:rPr>
              <a:t>Enterovirulent</a:t>
            </a:r>
            <a:r>
              <a:rPr lang="en-GB" dirty="0">
                <a:latin typeface="Times New Roman" pitchFamily="18" charset="0"/>
                <a:cs typeface="Times New Roman" pitchFamily="18" charset="0"/>
              </a:rPr>
              <a:t> </a:t>
            </a:r>
            <a:r>
              <a:rPr lang="en-GB" i="1" dirty="0">
                <a:latin typeface="Times New Roman" pitchFamily="18" charset="0"/>
                <a:cs typeface="Times New Roman" pitchFamily="18" charset="0"/>
              </a:rPr>
              <a:t>E. coli</a:t>
            </a:r>
            <a:r>
              <a:rPr lang="en-GB" dirty="0">
                <a:latin typeface="Times New Roman" pitchFamily="18" charset="0"/>
                <a:cs typeface="Times New Roman" pitchFamily="18" charset="0"/>
              </a:rPr>
              <a:t>, </a:t>
            </a:r>
            <a:r>
              <a:rPr lang="en-GB" i="1" dirty="0" err="1">
                <a:latin typeface="Times New Roman" pitchFamily="18" charset="0"/>
                <a:cs typeface="Times New Roman" pitchFamily="18" charset="0"/>
              </a:rPr>
              <a:t>Shigella</a:t>
            </a:r>
            <a:r>
              <a:rPr lang="en-GB" i="1" dirty="0">
                <a:latin typeface="Times New Roman" pitchFamily="18" charset="0"/>
                <a:cs typeface="Times New Roman" pitchFamily="18" charset="0"/>
              </a:rPr>
              <a:t>  </a:t>
            </a:r>
            <a:r>
              <a:rPr lang="en-GB" i="1" dirty="0" err="1">
                <a:latin typeface="Times New Roman" pitchFamily="18" charset="0"/>
                <a:cs typeface="Times New Roman" pitchFamily="18" charset="0"/>
              </a:rPr>
              <a:t>dysenteriae</a:t>
            </a:r>
            <a:r>
              <a:rPr lang="en-GB" dirty="0">
                <a:latin typeface="Times New Roman" pitchFamily="18" charset="0"/>
                <a:cs typeface="Times New Roman" pitchFamily="18" charset="0"/>
              </a:rPr>
              <a:t>, Hepatitis A and </a:t>
            </a:r>
            <a:r>
              <a:rPr lang="en-GB" i="1" dirty="0">
                <a:latin typeface="Times New Roman" pitchFamily="18" charset="0"/>
                <a:cs typeface="Times New Roman" pitchFamily="18" charset="0"/>
              </a:rPr>
              <a:t>Campylobacter</a:t>
            </a:r>
            <a:r>
              <a:rPr lang="en-GB" dirty="0">
                <a:latin typeface="Times New Roman" pitchFamily="18" charset="0"/>
                <a:cs typeface="Times New Roman" pitchFamily="18" charset="0"/>
              </a:rPr>
              <a:t>.</a:t>
            </a:r>
          </a:p>
          <a:p>
            <a:endParaRPr lang="en-GB" dirty="0">
              <a:latin typeface="Times New Roman" pitchFamily="18" charset="0"/>
              <a:cs typeface="Times New Roman" pitchFamily="18" charset="0"/>
            </a:endParaRPr>
          </a:p>
          <a:p>
            <a:pPr marL="0" indent="0">
              <a:buNone/>
            </a:pPr>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1748061518"/>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914400"/>
          </a:xfrm>
        </p:spPr>
        <p:txBody>
          <a:bodyPr/>
          <a:lstStyle/>
          <a:p>
            <a:r>
              <a:rPr lang="en-GB" dirty="0">
                <a:latin typeface="Times New Roman" pitchFamily="18" charset="0"/>
                <a:cs typeface="Times New Roman" pitchFamily="18" charset="0"/>
              </a:rPr>
              <a:t>CHOLERA</a:t>
            </a:r>
          </a:p>
        </p:txBody>
      </p:sp>
      <p:sp>
        <p:nvSpPr>
          <p:cNvPr id="3" name="Content Placeholder 2"/>
          <p:cNvSpPr>
            <a:spLocks noGrp="1"/>
          </p:cNvSpPr>
          <p:nvPr>
            <p:ph idx="1"/>
          </p:nvPr>
        </p:nvSpPr>
        <p:spPr>
          <a:xfrm>
            <a:off x="457200" y="1295400"/>
            <a:ext cx="8229600" cy="5029200"/>
          </a:xfrm>
        </p:spPr>
        <p:txBody>
          <a:bodyPr>
            <a:normAutofit fontScale="92500" lnSpcReduction="10000"/>
          </a:bodyPr>
          <a:lstStyle/>
          <a:p>
            <a:r>
              <a:rPr lang="en-GB" dirty="0">
                <a:latin typeface="Times New Roman" pitchFamily="18" charset="0"/>
                <a:cs typeface="Times New Roman" pitchFamily="18" charset="0"/>
              </a:rPr>
              <a:t>Cholera is caused by the gram-negative organisms called Vibrio cholera of the family </a:t>
            </a:r>
            <a:r>
              <a:rPr lang="en-GB" dirty="0" err="1">
                <a:latin typeface="Times New Roman" pitchFamily="18" charset="0"/>
                <a:cs typeface="Times New Roman" pitchFamily="18" charset="0"/>
              </a:rPr>
              <a:t>Vibrionaceae</a:t>
            </a:r>
            <a:r>
              <a:rPr lang="en-GB" dirty="0">
                <a:latin typeface="Times New Roman" pitchFamily="18" charset="0"/>
                <a:cs typeface="Times New Roman" pitchFamily="18" charset="0"/>
              </a:rPr>
              <a:t>. </a:t>
            </a:r>
          </a:p>
          <a:p>
            <a:r>
              <a:rPr lang="en-GB" dirty="0">
                <a:latin typeface="Times New Roman" pitchFamily="18" charset="0"/>
                <a:cs typeface="Times New Roman" pitchFamily="18" charset="0"/>
              </a:rPr>
              <a:t>Although there are many </a:t>
            </a:r>
            <a:r>
              <a:rPr lang="en-GB" dirty="0" err="1">
                <a:latin typeface="Times New Roman" pitchFamily="18" charset="0"/>
                <a:cs typeface="Times New Roman" pitchFamily="18" charset="0"/>
              </a:rPr>
              <a:t>sero</a:t>
            </a:r>
            <a:r>
              <a:rPr lang="en-GB" dirty="0">
                <a:latin typeface="Times New Roman" pitchFamily="18" charset="0"/>
                <a:cs typeface="Times New Roman" pitchFamily="18" charset="0"/>
              </a:rPr>
              <a:t> groups (groups based on antigen-antibody reactions), only 01: 0139 have exhibited the ability to cause epidemics.</a:t>
            </a:r>
          </a:p>
          <a:p>
            <a:r>
              <a:rPr lang="en-GB" dirty="0">
                <a:latin typeface="Times New Roman" pitchFamily="18" charset="0"/>
                <a:cs typeface="Times New Roman" pitchFamily="18" charset="0"/>
              </a:rPr>
              <a:t> Cholera is acquired by ingesting food or water contaminated by faecal material from patients or carriers. Sea foods are the natural reservoirs. </a:t>
            </a:r>
          </a:p>
          <a:p>
            <a:r>
              <a:rPr lang="en-GB" dirty="0">
                <a:latin typeface="Times New Roman" pitchFamily="18" charset="0"/>
                <a:cs typeface="Times New Roman" pitchFamily="18" charset="0"/>
              </a:rPr>
              <a:t>Once the bacteria enter the body, the incubation period is between 24-72 hours. </a:t>
            </a:r>
          </a:p>
          <a:p>
            <a:r>
              <a:rPr lang="en-GB" dirty="0">
                <a:latin typeface="Times New Roman" pitchFamily="18" charset="0"/>
                <a:cs typeface="Times New Roman" pitchFamily="18" charset="0"/>
              </a:rPr>
              <a:t>The bacteria adhere or attach to the intestinal mucosa of the small intestines where they secrete a cholera toxin called </a:t>
            </a:r>
            <a:r>
              <a:rPr lang="en-GB" dirty="0" err="1">
                <a:latin typeface="Times New Roman" pitchFamily="18" charset="0"/>
                <a:cs typeface="Times New Roman" pitchFamily="18" charset="0"/>
              </a:rPr>
              <a:t>choleragen</a:t>
            </a:r>
            <a:r>
              <a:rPr lang="en-GB" dirty="0">
                <a:latin typeface="Times New Roman" pitchFamily="18" charset="0"/>
                <a:cs typeface="Times New Roman" pitchFamily="18" charset="0"/>
              </a:rPr>
              <a:t>. </a:t>
            </a:r>
          </a:p>
        </p:txBody>
      </p:sp>
    </p:spTree>
    <p:extLst>
      <p:ext uri="{BB962C8B-B14F-4D97-AF65-F5344CB8AC3E}">
        <p14:creationId xmlns:p14="http://schemas.microsoft.com/office/powerpoint/2010/main" val="978161749"/>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229600" cy="838200"/>
          </a:xfrm>
        </p:spPr>
        <p:txBody>
          <a:bodyPr/>
          <a:lstStyle/>
          <a:p>
            <a:r>
              <a:rPr lang="en-GB" dirty="0">
                <a:latin typeface="Times New Roman" pitchFamily="18" charset="0"/>
                <a:cs typeface="Times New Roman" pitchFamily="18" charset="0"/>
              </a:rPr>
              <a:t>CHOLERA……contd.</a:t>
            </a:r>
            <a:endParaRPr lang="en-GB" dirty="0"/>
          </a:p>
        </p:txBody>
      </p:sp>
      <p:sp>
        <p:nvSpPr>
          <p:cNvPr id="3" name="Content Placeholder 2"/>
          <p:cNvSpPr>
            <a:spLocks noGrp="1"/>
          </p:cNvSpPr>
          <p:nvPr>
            <p:ph idx="1"/>
          </p:nvPr>
        </p:nvSpPr>
        <p:spPr>
          <a:xfrm>
            <a:off x="457200" y="1219200"/>
            <a:ext cx="8229600" cy="5105400"/>
          </a:xfrm>
        </p:spPr>
        <p:txBody>
          <a:bodyPr/>
          <a:lstStyle/>
          <a:p>
            <a:r>
              <a:rPr lang="en-GB" dirty="0">
                <a:latin typeface="Times New Roman" pitchFamily="18" charset="0"/>
                <a:cs typeface="Times New Roman" pitchFamily="18" charset="0"/>
              </a:rPr>
              <a:t>The toxin is a protein composed of an enzymatic A-subunit and an intestinal receptor binding B-subunit. </a:t>
            </a:r>
          </a:p>
          <a:p>
            <a:r>
              <a:rPr lang="en-GB" dirty="0">
                <a:latin typeface="Times New Roman" pitchFamily="18" charset="0"/>
                <a:cs typeface="Times New Roman" pitchFamily="18" charset="0"/>
              </a:rPr>
              <a:t>The A-subunit enters the intestinal epithelial cells and activates the enzyme </a:t>
            </a:r>
            <a:r>
              <a:rPr lang="en-GB" dirty="0" err="1">
                <a:latin typeface="Times New Roman" pitchFamily="18" charset="0"/>
                <a:cs typeface="Times New Roman" pitchFamily="18" charset="0"/>
              </a:rPr>
              <a:t>adenylate</a:t>
            </a:r>
            <a:r>
              <a:rPr lang="en-GB" dirty="0">
                <a:latin typeface="Times New Roman" pitchFamily="18" charset="0"/>
                <a:cs typeface="Times New Roman" pitchFamily="18" charset="0"/>
              </a:rPr>
              <a:t> </a:t>
            </a:r>
            <a:r>
              <a:rPr lang="en-GB" dirty="0" err="1">
                <a:latin typeface="Times New Roman" pitchFamily="18" charset="0"/>
                <a:cs typeface="Times New Roman" pitchFamily="18" charset="0"/>
              </a:rPr>
              <a:t>cyclase</a:t>
            </a:r>
            <a:r>
              <a:rPr lang="en-GB" dirty="0">
                <a:latin typeface="Times New Roman" pitchFamily="18" charset="0"/>
                <a:cs typeface="Times New Roman" pitchFamily="18" charset="0"/>
              </a:rPr>
              <a:t> by the addition of an ADP-</a:t>
            </a:r>
            <a:r>
              <a:rPr lang="en-GB" dirty="0" err="1">
                <a:latin typeface="Times New Roman" pitchFamily="18" charset="0"/>
                <a:cs typeface="Times New Roman" pitchFamily="18" charset="0"/>
              </a:rPr>
              <a:t>ribosyl</a:t>
            </a:r>
            <a:r>
              <a:rPr lang="en-GB" dirty="0">
                <a:latin typeface="Times New Roman" pitchFamily="18" charset="0"/>
                <a:cs typeface="Times New Roman" pitchFamily="18" charset="0"/>
              </a:rPr>
              <a:t> group. </a:t>
            </a:r>
          </a:p>
          <a:p>
            <a:r>
              <a:rPr lang="en-GB" dirty="0">
                <a:latin typeface="Times New Roman" pitchFamily="18" charset="0"/>
                <a:cs typeface="Times New Roman" pitchFamily="18" charset="0"/>
              </a:rPr>
              <a:t>As a result, </a:t>
            </a:r>
            <a:r>
              <a:rPr lang="en-GB" dirty="0" err="1">
                <a:latin typeface="Times New Roman" pitchFamily="18" charset="0"/>
                <a:cs typeface="Times New Roman" pitchFamily="18" charset="0"/>
              </a:rPr>
              <a:t>choleragen</a:t>
            </a:r>
            <a:r>
              <a:rPr lang="en-GB" dirty="0">
                <a:latin typeface="Times New Roman" pitchFamily="18" charset="0"/>
                <a:cs typeface="Times New Roman" pitchFamily="18" charset="0"/>
              </a:rPr>
              <a:t> stimulates hyper-secretion of water and chloride ions while inhibiting the absorption of Na+ ions. </a:t>
            </a:r>
          </a:p>
          <a:p>
            <a:r>
              <a:rPr lang="en-GB" dirty="0">
                <a:latin typeface="Times New Roman" pitchFamily="18" charset="0"/>
                <a:cs typeface="Times New Roman" pitchFamily="18" charset="0"/>
              </a:rPr>
              <a:t>The patient loses massive quantities of fluid and electrolytes which is associated with abdominal muscle cramps, vomiting, fever and watery diarrhoea. </a:t>
            </a:r>
          </a:p>
        </p:txBody>
      </p:sp>
    </p:spTree>
    <p:extLst>
      <p:ext uri="{BB962C8B-B14F-4D97-AF65-F5344CB8AC3E}">
        <p14:creationId xmlns:p14="http://schemas.microsoft.com/office/powerpoint/2010/main" val="2733123951"/>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62000"/>
          </a:xfrm>
        </p:spPr>
        <p:txBody>
          <a:bodyPr>
            <a:normAutofit fontScale="90000"/>
          </a:bodyPr>
          <a:lstStyle/>
          <a:p>
            <a:r>
              <a:rPr lang="en-GB" dirty="0">
                <a:latin typeface="Times New Roman" pitchFamily="18" charset="0"/>
                <a:cs typeface="Times New Roman" pitchFamily="18" charset="0"/>
              </a:rPr>
              <a:t>CHOLERA……contd.</a:t>
            </a:r>
            <a:endParaRPr lang="en-GB" dirty="0"/>
          </a:p>
        </p:txBody>
      </p:sp>
      <p:sp>
        <p:nvSpPr>
          <p:cNvPr id="3" name="Content Placeholder 2"/>
          <p:cNvSpPr>
            <a:spLocks noGrp="1"/>
          </p:cNvSpPr>
          <p:nvPr>
            <p:ph idx="1"/>
          </p:nvPr>
        </p:nvSpPr>
        <p:spPr>
          <a:xfrm>
            <a:off x="457200" y="1143000"/>
            <a:ext cx="8229600" cy="5181600"/>
          </a:xfrm>
        </p:spPr>
        <p:txBody>
          <a:bodyPr/>
          <a:lstStyle/>
          <a:p>
            <a:r>
              <a:rPr lang="en-GB" dirty="0"/>
              <a:t>Death may occur per elevation of the concentration of blood proteins caused by reduced fluid levels which leads to circulatory shock and collapse. </a:t>
            </a:r>
          </a:p>
          <a:p>
            <a:r>
              <a:rPr lang="en-GB" dirty="0"/>
              <a:t>Laboratory diagnosis is by culture of the bacterium from faeces and subsequent identification by agglutination reaction with specific antisera. </a:t>
            </a:r>
          </a:p>
          <a:p>
            <a:r>
              <a:rPr lang="en-GB" dirty="0"/>
              <a:t>Treatment is by oral or intravenous rehydration therapy with </a:t>
            </a:r>
            <a:r>
              <a:rPr lang="en-GB" dirty="0" err="1"/>
              <a:t>NaCl</a:t>
            </a:r>
            <a:r>
              <a:rPr lang="en-GB" dirty="0"/>
              <a:t> and glucose to stimulate water uptake by the intestines. </a:t>
            </a:r>
          </a:p>
        </p:txBody>
      </p:sp>
    </p:spTree>
    <p:extLst>
      <p:ext uri="{BB962C8B-B14F-4D97-AF65-F5344CB8AC3E}">
        <p14:creationId xmlns:p14="http://schemas.microsoft.com/office/powerpoint/2010/main" val="4174788121"/>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838200"/>
          </a:xfrm>
        </p:spPr>
        <p:txBody>
          <a:bodyPr/>
          <a:lstStyle/>
          <a:p>
            <a:r>
              <a:rPr lang="en-GB" dirty="0">
                <a:latin typeface="Times New Roman" pitchFamily="18" charset="0"/>
                <a:cs typeface="Times New Roman" pitchFamily="18" charset="0"/>
              </a:rPr>
              <a:t>CHOLERA……contd.</a:t>
            </a:r>
            <a:endParaRPr lang="en-GB" dirty="0"/>
          </a:p>
        </p:txBody>
      </p:sp>
      <p:sp>
        <p:nvSpPr>
          <p:cNvPr id="3" name="Content Placeholder 2"/>
          <p:cNvSpPr>
            <a:spLocks noGrp="1"/>
          </p:cNvSpPr>
          <p:nvPr>
            <p:ph idx="1"/>
          </p:nvPr>
        </p:nvSpPr>
        <p:spPr>
          <a:xfrm>
            <a:off x="457200" y="1143000"/>
            <a:ext cx="8229600" cy="5181600"/>
          </a:xfrm>
        </p:spPr>
        <p:txBody>
          <a:bodyPr/>
          <a:lstStyle/>
          <a:p>
            <a:r>
              <a:rPr lang="en-GB" dirty="0">
                <a:latin typeface="Times New Roman" pitchFamily="18" charset="0"/>
                <a:cs typeface="Times New Roman" pitchFamily="18" charset="0"/>
              </a:rPr>
              <a:t>The antibiotic of choice is tetracycline and ciprofloxacin. </a:t>
            </a:r>
          </a:p>
          <a:p>
            <a:r>
              <a:rPr lang="en-GB" dirty="0">
                <a:latin typeface="Times New Roman" pitchFamily="18" charset="0"/>
                <a:cs typeface="Times New Roman" pitchFamily="18" charset="0"/>
              </a:rPr>
              <a:t>The most reliable control is by preventive measures based on proper sanitation especially of water supplies.</a:t>
            </a:r>
          </a:p>
          <a:p>
            <a:r>
              <a:rPr lang="en-GB" dirty="0">
                <a:latin typeface="Times New Roman" pitchFamily="18" charset="0"/>
                <a:cs typeface="Times New Roman" pitchFamily="18" charset="0"/>
              </a:rPr>
              <a:t> The strains of </a:t>
            </a:r>
            <a:r>
              <a:rPr lang="en-GB" i="1" dirty="0">
                <a:latin typeface="Times New Roman" pitchFamily="18" charset="0"/>
                <a:cs typeface="Times New Roman" pitchFamily="18" charset="0"/>
              </a:rPr>
              <a:t>V. cholera </a:t>
            </a:r>
            <a:r>
              <a:rPr lang="en-GB" dirty="0">
                <a:latin typeface="Times New Roman" pitchFamily="18" charset="0"/>
                <a:cs typeface="Times New Roman" pitchFamily="18" charset="0"/>
              </a:rPr>
              <a:t>that are biochemically similar to the epidemic strains but do not agglutinate or react in </a:t>
            </a:r>
            <a:r>
              <a:rPr lang="en-GB" i="1" dirty="0">
                <a:latin typeface="Times New Roman" pitchFamily="18" charset="0"/>
                <a:cs typeface="Times New Roman" pitchFamily="18" charset="0"/>
              </a:rPr>
              <a:t>V. cholera</a:t>
            </a:r>
            <a:r>
              <a:rPr lang="en-GB" dirty="0">
                <a:latin typeface="Times New Roman" pitchFamily="18" charset="0"/>
                <a:cs typeface="Times New Roman" pitchFamily="18" charset="0"/>
              </a:rPr>
              <a:t> 0 and 1 antisera and do not cause epidemic or disease are called non-01 or non-agglutination </a:t>
            </a:r>
            <a:r>
              <a:rPr lang="en-GB" dirty="0" err="1">
                <a:latin typeface="Times New Roman" pitchFamily="18" charset="0"/>
                <a:cs typeface="Times New Roman" pitchFamily="18" charset="0"/>
              </a:rPr>
              <a:t>vibrios</a:t>
            </a:r>
            <a:r>
              <a:rPr lang="en-GB" dirty="0">
                <a:latin typeface="Times New Roman" pitchFamily="18" charset="0"/>
                <a:cs typeface="Times New Roman" pitchFamily="18" charset="0"/>
              </a:rPr>
              <a:t>.</a:t>
            </a:r>
          </a:p>
          <a:p>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3410613875"/>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81000"/>
            <a:ext cx="8229600" cy="1143000"/>
          </a:xfrm>
        </p:spPr>
        <p:txBody>
          <a:bodyPr>
            <a:noAutofit/>
          </a:bodyPr>
          <a:lstStyle/>
          <a:p>
            <a:r>
              <a:rPr lang="en-GB" sz="4000" dirty="0" err="1">
                <a:latin typeface="Times New Roman" pitchFamily="18" charset="0"/>
                <a:cs typeface="Times New Roman" pitchFamily="18" charset="0"/>
              </a:rPr>
              <a:t>Campylobacteriosis</a:t>
            </a:r>
            <a:r>
              <a:rPr lang="en-GB" sz="4000" dirty="0">
                <a:latin typeface="Times New Roman" pitchFamily="18" charset="0"/>
                <a:cs typeface="Times New Roman" pitchFamily="18" charset="0"/>
              </a:rPr>
              <a:t> (</a:t>
            </a:r>
            <a:r>
              <a:rPr lang="en-GB" sz="4000" i="1" dirty="0">
                <a:latin typeface="Times New Roman" pitchFamily="18" charset="0"/>
                <a:cs typeface="Times New Roman" pitchFamily="18" charset="0"/>
              </a:rPr>
              <a:t>Campylobacter </a:t>
            </a:r>
            <a:r>
              <a:rPr lang="en-GB" sz="4000" i="1" dirty="0" err="1">
                <a:latin typeface="Times New Roman" pitchFamily="18" charset="0"/>
                <a:cs typeface="Times New Roman" pitchFamily="18" charset="0"/>
              </a:rPr>
              <a:t>jejuni</a:t>
            </a:r>
            <a:r>
              <a:rPr lang="en-GB" sz="4000" i="1" dirty="0">
                <a:latin typeface="Times New Roman" pitchFamily="18" charset="0"/>
                <a:cs typeface="Times New Roman" pitchFamily="18" charset="0"/>
              </a:rPr>
              <a:t>)</a:t>
            </a:r>
            <a:endParaRPr lang="en-GB" sz="40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524000"/>
            <a:ext cx="8229600" cy="4800600"/>
          </a:xfrm>
        </p:spPr>
        <p:txBody>
          <a:bodyPr>
            <a:normAutofit fontScale="92500" lnSpcReduction="10000"/>
          </a:bodyPr>
          <a:lstStyle/>
          <a:p>
            <a:r>
              <a:rPr lang="en-GB" dirty="0">
                <a:latin typeface="Times New Roman" pitchFamily="18" charset="0"/>
                <a:cs typeface="Times New Roman" pitchFamily="18" charset="0"/>
              </a:rPr>
              <a:t>Campylobacter consists of about 14 species. </a:t>
            </a:r>
          </a:p>
          <a:p>
            <a:r>
              <a:rPr lang="en-GB" dirty="0">
                <a:latin typeface="Times New Roman" pitchFamily="18" charset="0"/>
                <a:cs typeface="Times New Roman" pitchFamily="18" charset="0"/>
              </a:rPr>
              <a:t>It is a gram negative spirally curved rod that possess a single polar flagellum at one or both ends of the cell. </a:t>
            </a:r>
          </a:p>
          <a:p>
            <a:r>
              <a:rPr lang="en-GB" dirty="0">
                <a:latin typeface="Times New Roman" pitchFamily="18" charset="0"/>
                <a:cs typeface="Times New Roman" pitchFamily="18" charset="0"/>
              </a:rPr>
              <a:t>It is micro-</a:t>
            </a:r>
            <a:r>
              <a:rPr lang="en-GB" dirty="0" err="1">
                <a:latin typeface="Times New Roman" pitchFamily="18" charset="0"/>
                <a:cs typeface="Times New Roman" pitchFamily="18" charset="0"/>
              </a:rPr>
              <a:t>aerophilic</a:t>
            </a:r>
            <a:r>
              <a:rPr lang="en-GB" dirty="0">
                <a:latin typeface="Times New Roman" pitchFamily="18" charset="0"/>
                <a:cs typeface="Times New Roman" pitchFamily="18" charset="0"/>
              </a:rPr>
              <a:t> requiring small amounts of oxygen for growth.</a:t>
            </a:r>
          </a:p>
          <a:p>
            <a:r>
              <a:rPr lang="en-GB" dirty="0">
                <a:latin typeface="Times New Roman" pitchFamily="18" charset="0"/>
                <a:cs typeface="Times New Roman" pitchFamily="18" charset="0"/>
              </a:rPr>
              <a:t> It also requires about 10% CO2 for its growth and it is found in the intestinal tract of animals. </a:t>
            </a:r>
          </a:p>
          <a:p>
            <a:r>
              <a:rPr lang="en-GB" dirty="0">
                <a:latin typeface="Times New Roman" pitchFamily="18" charset="0"/>
                <a:cs typeface="Times New Roman" pitchFamily="18" charset="0"/>
              </a:rPr>
              <a:t>They are transmitted to humans by contaminated food and water, contact with infected animal like undercooked chicken, meat, turkey and others and anal, oral, sexual activity.</a:t>
            </a:r>
          </a:p>
          <a:p>
            <a:r>
              <a:rPr lang="en-GB" dirty="0">
                <a:latin typeface="Times New Roman" pitchFamily="18" charset="0"/>
                <a:cs typeface="Times New Roman" pitchFamily="18" charset="0"/>
              </a:rPr>
              <a:t> It is estimated that </a:t>
            </a:r>
            <a:r>
              <a:rPr lang="en-GB" i="1" dirty="0">
                <a:latin typeface="Times New Roman" pitchFamily="18" charset="0"/>
                <a:cs typeface="Times New Roman" pitchFamily="18" charset="0"/>
              </a:rPr>
              <a:t>C. </a:t>
            </a:r>
            <a:r>
              <a:rPr lang="en-GB" i="1" dirty="0" err="1">
                <a:latin typeface="Times New Roman" pitchFamily="18" charset="0"/>
                <a:cs typeface="Times New Roman" pitchFamily="18" charset="0"/>
              </a:rPr>
              <a:t>jejuni</a:t>
            </a:r>
            <a:r>
              <a:rPr lang="en-GB" dirty="0">
                <a:latin typeface="Times New Roman" pitchFamily="18" charset="0"/>
                <a:cs typeface="Times New Roman" pitchFamily="18" charset="0"/>
              </a:rPr>
              <a:t> causes 2 million cases of Campylobacter gastroenteritis in the U.S each year. </a:t>
            </a:r>
          </a:p>
        </p:txBody>
      </p:sp>
    </p:spTree>
    <p:extLst>
      <p:ext uri="{BB962C8B-B14F-4D97-AF65-F5344CB8AC3E}">
        <p14:creationId xmlns:p14="http://schemas.microsoft.com/office/powerpoint/2010/main" val="2721883779"/>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62000"/>
          </a:xfrm>
        </p:spPr>
        <p:txBody>
          <a:bodyPr>
            <a:normAutofit fontScale="90000"/>
          </a:bodyPr>
          <a:lstStyle/>
          <a:p>
            <a:r>
              <a:rPr lang="en-GB" sz="5400" dirty="0" err="1">
                <a:latin typeface="Times New Roman" pitchFamily="18" charset="0"/>
                <a:cs typeface="Times New Roman" pitchFamily="18" charset="0"/>
              </a:rPr>
              <a:t>Campylobacteriosis</a:t>
            </a:r>
            <a:r>
              <a:rPr lang="en-GB" sz="5400" dirty="0">
                <a:latin typeface="Times New Roman" pitchFamily="18" charset="0"/>
                <a:cs typeface="Times New Roman" pitchFamily="18" charset="0"/>
              </a:rPr>
              <a:t>….contd.</a:t>
            </a:r>
            <a:endParaRPr lang="en-GB" dirty="0"/>
          </a:p>
        </p:txBody>
      </p:sp>
      <p:sp>
        <p:nvSpPr>
          <p:cNvPr id="3" name="Content Placeholder 2"/>
          <p:cNvSpPr>
            <a:spLocks noGrp="1"/>
          </p:cNvSpPr>
          <p:nvPr>
            <p:ph idx="1"/>
          </p:nvPr>
        </p:nvSpPr>
        <p:spPr>
          <a:xfrm>
            <a:off x="457200" y="1066800"/>
            <a:ext cx="8229600" cy="5257800"/>
          </a:xfrm>
        </p:spPr>
        <p:txBody>
          <a:bodyPr>
            <a:normAutofit/>
          </a:bodyPr>
          <a:lstStyle/>
          <a:p>
            <a:r>
              <a:rPr lang="en-GB" dirty="0">
                <a:latin typeface="Times New Roman" pitchFamily="18" charset="0"/>
                <a:cs typeface="Times New Roman" pitchFamily="18" charset="0"/>
              </a:rPr>
              <a:t>The incubation period is between 2-10 days and </a:t>
            </a:r>
            <a:r>
              <a:rPr lang="en-GB" i="1" dirty="0">
                <a:latin typeface="Times New Roman" pitchFamily="18" charset="0"/>
                <a:cs typeface="Times New Roman" pitchFamily="18" charset="0"/>
              </a:rPr>
              <a:t>C. </a:t>
            </a:r>
            <a:r>
              <a:rPr lang="en-GB" i="1" dirty="0" err="1">
                <a:latin typeface="Times New Roman" pitchFamily="18" charset="0"/>
                <a:cs typeface="Times New Roman" pitchFamily="18" charset="0"/>
              </a:rPr>
              <a:t>jejuni</a:t>
            </a:r>
            <a:r>
              <a:rPr lang="en-GB" dirty="0">
                <a:latin typeface="Times New Roman" pitchFamily="18" charset="0"/>
                <a:cs typeface="Times New Roman" pitchFamily="18" charset="0"/>
              </a:rPr>
              <a:t> invades the epithelium of the small intestines causing inflammation. </a:t>
            </a:r>
          </a:p>
          <a:p>
            <a:r>
              <a:rPr lang="en-GB" dirty="0">
                <a:latin typeface="Times New Roman" pitchFamily="18" charset="0"/>
                <a:cs typeface="Times New Roman" pitchFamily="18" charset="0"/>
              </a:rPr>
              <a:t>The mechanism of pathogenic or disease development is uncertain but an enterotoxin similar to the cholera toxin may be involved.</a:t>
            </a:r>
          </a:p>
          <a:p>
            <a:r>
              <a:rPr lang="en-GB" dirty="0">
                <a:latin typeface="Times New Roman" pitchFamily="18" charset="0"/>
                <a:cs typeface="Times New Roman" pitchFamily="18" charset="0"/>
              </a:rPr>
              <a:t> The pathogen can survive refrigeration and freezing temperatures but it is killed by moderate heating or pasteurisation.</a:t>
            </a:r>
          </a:p>
          <a:p>
            <a:r>
              <a:rPr lang="en-GB" dirty="0">
                <a:latin typeface="Times New Roman" pitchFamily="18" charset="0"/>
                <a:cs typeface="Times New Roman" pitchFamily="18" charset="0"/>
              </a:rPr>
              <a:t> Symptoms include high fever, vomiting, nausea, abdominal pains followed by watery diarrhoea sometimes with mucus, blood and pus in the stool.</a:t>
            </a:r>
          </a:p>
          <a:p>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2720761191"/>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8229600" cy="762000"/>
          </a:xfrm>
        </p:spPr>
        <p:txBody>
          <a:bodyPr>
            <a:normAutofit fontScale="90000"/>
          </a:bodyPr>
          <a:lstStyle/>
          <a:p>
            <a:r>
              <a:rPr lang="en-GB" sz="5400" dirty="0" err="1">
                <a:latin typeface="Times New Roman" pitchFamily="18" charset="0"/>
                <a:cs typeface="Times New Roman" pitchFamily="18" charset="0"/>
              </a:rPr>
              <a:t>Campylobacteriosis</a:t>
            </a:r>
            <a:r>
              <a:rPr lang="en-GB" sz="5400" dirty="0">
                <a:latin typeface="Times New Roman" pitchFamily="18" charset="0"/>
                <a:cs typeface="Times New Roman" pitchFamily="18" charset="0"/>
              </a:rPr>
              <a:t>…..contd.</a:t>
            </a:r>
            <a:endParaRPr lang="en-GB" dirty="0"/>
          </a:p>
        </p:txBody>
      </p:sp>
      <p:sp>
        <p:nvSpPr>
          <p:cNvPr id="3" name="Content Placeholder 2"/>
          <p:cNvSpPr>
            <a:spLocks noGrp="1"/>
          </p:cNvSpPr>
          <p:nvPr>
            <p:ph idx="1"/>
          </p:nvPr>
        </p:nvSpPr>
        <p:spPr>
          <a:xfrm>
            <a:off x="457200" y="1066800"/>
            <a:ext cx="8229600" cy="5257800"/>
          </a:xfrm>
        </p:spPr>
        <p:txBody>
          <a:bodyPr>
            <a:normAutofit/>
          </a:bodyPr>
          <a:lstStyle/>
          <a:p>
            <a:r>
              <a:rPr lang="en-GB" dirty="0">
                <a:latin typeface="Times New Roman" pitchFamily="18" charset="0"/>
                <a:cs typeface="Times New Roman" pitchFamily="18" charset="0"/>
              </a:rPr>
              <a:t>Recovery usually occurs within 3-5 days.</a:t>
            </a:r>
          </a:p>
          <a:p>
            <a:r>
              <a:rPr lang="en-GB" dirty="0">
                <a:latin typeface="Times New Roman" pitchFamily="18" charset="0"/>
                <a:cs typeface="Times New Roman" pitchFamily="18" charset="0"/>
              </a:rPr>
              <a:t> Lab diagnosis is by culture in an atmosphere with reduced oxygen and added CO₂.</a:t>
            </a:r>
          </a:p>
          <a:p>
            <a:r>
              <a:rPr lang="en-GB" dirty="0">
                <a:latin typeface="Times New Roman" pitchFamily="18" charset="0"/>
                <a:cs typeface="Times New Roman" pitchFamily="18" charset="0"/>
              </a:rPr>
              <a:t> Prevention and control involves good personal hygiene and food handling precautions including pasteurization of milk and thorough cooking of poultry.</a:t>
            </a:r>
          </a:p>
          <a:p>
            <a:r>
              <a:rPr lang="en-GB" dirty="0">
                <a:latin typeface="Times New Roman" pitchFamily="18" charset="0"/>
                <a:cs typeface="Times New Roman" pitchFamily="18" charset="0"/>
              </a:rPr>
              <a:t> The antibiotic of choice is erythromycin for persistent cases. </a:t>
            </a:r>
          </a:p>
          <a:p>
            <a:r>
              <a:rPr lang="en-GB" dirty="0">
                <a:latin typeface="Times New Roman" pitchFamily="18" charset="0"/>
                <a:cs typeface="Times New Roman" pitchFamily="18" charset="0"/>
              </a:rPr>
              <a:t>In addition to </a:t>
            </a:r>
            <a:r>
              <a:rPr lang="en-GB" i="1" dirty="0">
                <a:latin typeface="Times New Roman" pitchFamily="18" charset="0"/>
                <a:cs typeface="Times New Roman" pitchFamily="18" charset="0"/>
              </a:rPr>
              <a:t>C. </a:t>
            </a:r>
            <a:r>
              <a:rPr lang="en-GB" i="1" dirty="0" err="1">
                <a:latin typeface="Times New Roman" pitchFamily="18" charset="0"/>
                <a:cs typeface="Times New Roman" pitchFamily="18" charset="0"/>
              </a:rPr>
              <a:t>jejuni</a:t>
            </a:r>
            <a:r>
              <a:rPr lang="en-GB" dirty="0">
                <a:latin typeface="Times New Roman" pitchFamily="18" charset="0"/>
                <a:cs typeface="Times New Roman" pitchFamily="18" charset="0"/>
              </a:rPr>
              <a:t>, </a:t>
            </a:r>
            <a:r>
              <a:rPr lang="en-GB" i="1" dirty="0">
                <a:latin typeface="Times New Roman" pitchFamily="18" charset="0"/>
                <a:cs typeface="Times New Roman" pitchFamily="18" charset="0"/>
              </a:rPr>
              <a:t>C. coli</a:t>
            </a:r>
            <a:r>
              <a:rPr lang="en-GB" dirty="0">
                <a:latin typeface="Times New Roman" pitchFamily="18" charset="0"/>
                <a:cs typeface="Times New Roman" pitchFamily="18" charset="0"/>
              </a:rPr>
              <a:t>, </a:t>
            </a:r>
            <a:r>
              <a:rPr lang="en-GB" i="1" dirty="0">
                <a:latin typeface="Times New Roman" pitchFamily="18" charset="0"/>
                <a:cs typeface="Times New Roman" pitchFamily="18" charset="0"/>
              </a:rPr>
              <a:t>C. </a:t>
            </a:r>
            <a:r>
              <a:rPr lang="en-GB" i="1" dirty="0" err="1">
                <a:latin typeface="Times New Roman" pitchFamily="18" charset="0"/>
                <a:cs typeface="Times New Roman" pitchFamily="18" charset="0"/>
              </a:rPr>
              <a:t>intestinalis</a:t>
            </a:r>
            <a:r>
              <a:rPr lang="en-GB" dirty="0">
                <a:latin typeface="Times New Roman" pitchFamily="18" charset="0"/>
                <a:cs typeface="Times New Roman" pitchFamily="18" charset="0"/>
              </a:rPr>
              <a:t> and several other </a:t>
            </a:r>
            <a:r>
              <a:rPr lang="en-GB" i="1" dirty="0">
                <a:latin typeface="Times New Roman" pitchFamily="18" charset="0"/>
                <a:cs typeface="Times New Roman" pitchFamily="18" charset="0"/>
              </a:rPr>
              <a:t>Campylobacter</a:t>
            </a:r>
            <a:r>
              <a:rPr lang="en-GB" dirty="0">
                <a:latin typeface="Times New Roman" pitchFamily="18" charset="0"/>
                <a:cs typeface="Times New Roman" pitchFamily="18" charset="0"/>
              </a:rPr>
              <a:t> species are known to cause diarrhoea in humans but </a:t>
            </a:r>
            <a:r>
              <a:rPr lang="en-GB" i="1" dirty="0">
                <a:latin typeface="Times New Roman" pitchFamily="18" charset="0"/>
                <a:cs typeface="Times New Roman" pitchFamily="18" charset="0"/>
              </a:rPr>
              <a:t>C. </a:t>
            </a:r>
            <a:r>
              <a:rPr lang="en-GB" i="1" dirty="0" err="1">
                <a:latin typeface="Times New Roman" pitchFamily="18" charset="0"/>
                <a:cs typeface="Times New Roman" pitchFamily="18" charset="0"/>
              </a:rPr>
              <a:t>jejuni</a:t>
            </a:r>
            <a:r>
              <a:rPr lang="en-GB" dirty="0">
                <a:latin typeface="Times New Roman" pitchFamily="18" charset="0"/>
                <a:cs typeface="Times New Roman" pitchFamily="18" charset="0"/>
              </a:rPr>
              <a:t> is by far the most important.</a:t>
            </a:r>
          </a:p>
          <a:p>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2284585081"/>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Autofit/>
          </a:bodyPr>
          <a:lstStyle/>
          <a:p>
            <a:r>
              <a:rPr lang="en-GB" sz="4000" dirty="0"/>
              <a:t/>
            </a:r>
            <a:br>
              <a:rPr lang="en-GB" sz="4000" dirty="0"/>
            </a:br>
            <a:r>
              <a:rPr lang="en-GB" sz="4000" b="1" dirty="0">
                <a:latin typeface="Times New Roman" pitchFamily="18" charset="0"/>
                <a:cs typeface="Times New Roman" pitchFamily="18" charset="0"/>
              </a:rPr>
              <a:t>Salmonellosis (</a:t>
            </a:r>
            <a:r>
              <a:rPr lang="en-GB" sz="4000" b="1" i="1" dirty="0">
                <a:latin typeface="Times New Roman" pitchFamily="18" charset="0"/>
                <a:cs typeface="Times New Roman" pitchFamily="18" charset="0"/>
              </a:rPr>
              <a:t>Salmonella</a:t>
            </a:r>
            <a:r>
              <a:rPr lang="en-GB" sz="4000" b="1" dirty="0">
                <a:latin typeface="Times New Roman" pitchFamily="18" charset="0"/>
                <a:cs typeface="Times New Roman" pitchFamily="18" charset="0"/>
              </a:rPr>
              <a:t> gastroenteritis)</a:t>
            </a:r>
          </a:p>
        </p:txBody>
      </p:sp>
      <p:sp>
        <p:nvSpPr>
          <p:cNvPr id="3" name="Content Placeholder 2"/>
          <p:cNvSpPr>
            <a:spLocks noGrp="1"/>
          </p:cNvSpPr>
          <p:nvPr>
            <p:ph idx="1"/>
          </p:nvPr>
        </p:nvSpPr>
        <p:spPr>
          <a:xfrm>
            <a:off x="457200" y="1447800"/>
            <a:ext cx="8229600" cy="4876800"/>
          </a:xfrm>
        </p:spPr>
        <p:txBody>
          <a:bodyPr>
            <a:normAutofit lnSpcReduction="10000"/>
          </a:bodyPr>
          <a:lstStyle/>
          <a:p>
            <a:r>
              <a:rPr lang="en-GB" dirty="0">
                <a:latin typeface="Times New Roman" pitchFamily="18" charset="0"/>
                <a:cs typeface="Times New Roman" pitchFamily="18" charset="0"/>
              </a:rPr>
              <a:t>Among the gram negative rods that cause food- borne gastroenteritis, the most important are members of the genus salmonella.</a:t>
            </a:r>
          </a:p>
          <a:p>
            <a:r>
              <a:rPr lang="en-GB" dirty="0">
                <a:latin typeface="Times New Roman" pitchFamily="18" charset="0"/>
                <a:cs typeface="Times New Roman" pitchFamily="18" charset="0"/>
              </a:rPr>
              <a:t> They are small, gram negative, non-spore-forming rods that are indistinguishable from E coli under the microscope or on ordinary nutrient media.</a:t>
            </a:r>
          </a:p>
          <a:p>
            <a:r>
              <a:rPr lang="en-GB" dirty="0">
                <a:latin typeface="Times New Roman" pitchFamily="18" charset="0"/>
                <a:cs typeface="Times New Roman" pitchFamily="18" charset="0"/>
              </a:rPr>
              <a:t> Humans and animals are their primary reservoirs. </a:t>
            </a:r>
          </a:p>
          <a:p>
            <a:r>
              <a:rPr lang="en-GB" dirty="0">
                <a:latin typeface="Times New Roman" pitchFamily="18" charset="0"/>
                <a:cs typeface="Times New Roman" pitchFamily="18" charset="0"/>
              </a:rPr>
              <a:t>The most frequently reported ones from humans are </a:t>
            </a:r>
            <a:r>
              <a:rPr lang="en-GB" i="1" dirty="0">
                <a:latin typeface="Times New Roman" pitchFamily="18" charset="0"/>
                <a:cs typeface="Times New Roman" pitchFamily="18" charset="0"/>
              </a:rPr>
              <a:t>S. </a:t>
            </a:r>
            <a:r>
              <a:rPr lang="en-GB" i="1" dirty="0" err="1">
                <a:latin typeface="Times New Roman" pitchFamily="18" charset="0"/>
                <a:cs typeface="Times New Roman" pitchFamily="18" charset="0"/>
              </a:rPr>
              <a:t>typhi</a:t>
            </a:r>
            <a:r>
              <a:rPr lang="en-GB" dirty="0">
                <a:latin typeface="Times New Roman" pitchFamily="18" charset="0"/>
                <a:cs typeface="Times New Roman" pitchFamily="18" charset="0"/>
              </a:rPr>
              <a:t>, </a:t>
            </a:r>
            <a:r>
              <a:rPr lang="en-GB" i="1" dirty="0">
                <a:latin typeface="Times New Roman" pitchFamily="18" charset="0"/>
                <a:cs typeface="Times New Roman" pitchFamily="18" charset="0"/>
              </a:rPr>
              <a:t>S. </a:t>
            </a:r>
            <a:r>
              <a:rPr lang="en-GB" i="1" dirty="0" err="1">
                <a:latin typeface="Times New Roman" pitchFamily="18" charset="0"/>
                <a:cs typeface="Times New Roman" pitchFamily="18" charset="0"/>
              </a:rPr>
              <a:t>paratyphi</a:t>
            </a:r>
            <a:r>
              <a:rPr lang="en-GB" dirty="0">
                <a:latin typeface="Times New Roman" pitchFamily="18" charset="0"/>
                <a:cs typeface="Times New Roman" pitchFamily="18" charset="0"/>
              </a:rPr>
              <a:t> A and </a:t>
            </a:r>
            <a:r>
              <a:rPr lang="en-GB" i="1" dirty="0">
                <a:latin typeface="Times New Roman" pitchFamily="18" charset="0"/>
                <a:cs typeface="Times New Roman" pitchFamily="18" charset="0"/>
              </a:rPr>
              <a:t>S. </a:t>
            </a:r>
            <a:r>
              <a:rPr lang="en-GB" i="1" dirty="0" err="1">
                <a:latin typeface="Times New Roman" pitchFamily="18" charset="0"/>
                <a:cs typeface="Times New Roman" pitchFamily="18" charset="0"/>
              </a:rPr>
              <a:t>paratyphi</a:t>
            </a:r>
            <a:r>
              <a:rPr lang="en-GB" dirty="0">
                <a:latin typeface="Times New Roman" pitchFamily="18" charset="0"/>
                <a:cs typeface="Times New Roman" pitchFamily="18" charset="0"/>
              </a:rPr>
              <a:t> C. </a:t>
            </a:r>
          </a:p>
          <a:p>
            <a:r>
              <a:rPr lang="en-GB" i="1" dirty="0">
                <a:latin typeface="Times New Roman" pitchFamily="18" charset="0"/>
                <a:cs typeface="Times New Roman" pitchFamily="18" charset="0"/>
              </a:rPr>
              <a:t>Salmonella</a:t>
            </a:r>
            <a:r>
              <a:rPr lang="en-GB" dirty="0">
                <a:latin typeface="Times New Roman" pitchFamily="18" charset="0"/>
                <a:cs typeface="Times New Roman" pitchFamily="18" charset="0"/>
              </a:rPr>
              <a:t> food poisoning results from the ingestion of food containing appropriate strains of this genus in significant numbers. </a:t>
            </a:r>
          </a:p>
        </p:txBody>
      </p:sp>
    </p:spTree>
    <p:extLst>
      <p:ext uri="{BB962C8B-B14F-4D97-AF65-F5344CB8AC3E}">
        <p14:creationId xmlns:p14="http://schemas.microsoft.com/office/powerpoint/2010/main" val="147077140"/>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229600" cy="838200"/>
          </a:xfrm>
        </p:spPr>
        <p:txBody>
          <a:bodyPr>
            <a:normAutofit fontScale="90000"/>
          </a:bodyPr>
          <a:lstStyle/>
          <a:p>
            <a:r>
              <a:rPr lang="en-GB" sz="5400" dirty="0">
                <a:latin typeface="Times New Roman" pitchFamily="18" charset="0"/>
                <a:cs typeface="Times New Roman" pitchFamily="18" charset="0"/>
              </a:rPr>
              <a:t>Salmonellosis…..contd.</a:t>
            </a:r>
            <a:endParaRPr lang="en-GB" dirty="0"/>
          </a:p>
        </p:txBody>
      </p:sp>
      <p:sp>
        <p:nvSpPr>
          <p:cNvPr id="3" name="Content Placeholder 2"/>
          <p:cNvSpPr>
            <a:spLocks noGrp="1"/>
          </p:cNvSpPr>
          <p:nvPr>
            <p:ph idx="1"/>
          </p:nvPr>
        </p:nvSpPr>
        <p:spPr>
          <a:xfrm>
            <a:off x="457200" y="1143000"/>
            <a:ext cx="8229600" cy="5181600"/>
          </a:xfrm>
        </p:spPr>
        <p:txBody>
          <a:bodyPr>
            <a:normAutofit/>
          </a:bodyPr>
          <a:lstStyle/>
          <a:p>
            <a:r>
              <a:rPr lang="en-GB" dirty="0">
                <a:latin typeface="Times New Roman" pitchFamily="18" charset="0"/>
                <a:cs typeface="Times New Roman" pitchFamily="18" charset="0"/>
              </a:rPr>
              <a:t>Humans acquire the bacteria from contaminated foods such as beef products, poultry, egg products or water.</a:t>
            </a:r>
          </a:p>
          <a:p>
            <a:r>
              <a:rPr lang="en-GB" dirty="0">
                <a:latin typeface="Times New Roman" pitchFamily="18" charset="0"/>
                <a:cs typeface="Times New Roman" pitchFamily="18" charset="0"/>
              </a:rPr>
              <a:t> </a:t>
            </a:r>
            <a:r>
              <a:rPr lang="en-GB" i="1" dirty="0">
                <a:latin typeface="Times New Roman" pitchFamily="18" charset="0"/>
                <a:cs typeface="Times New Roman" pitchFamily="18" charset="0"/>
              </a:rPr>
              <a:t>Once the bacteria are in the body period is only 8-48</a:t>
            </a:r>
            <a:r>
              <a:rPr lang="en-GB" dirty="0">
                <a:latin typeface="Times New Roman" pitchFamily="18" charset="0"/>
                <a:cs typeface="Times New Roman" pitchFamily="18" charset="0"/>
              </a:rPr>
              <a:t> hours. </a:t>
            </a:r>
          </a:p>
          <a:p>
            <a:r>
              <a:rPr lang="en-GB" dirty="0">
                <a:latin typeface="Times New Roman" pitchFamily="18" charset="0"/>
                <a:cs typeface="Times New Roman" pitchFamily="18" charset="0"/>
              </a:rPr>
              <a:t>The bacteria multiply and invade the intestinal mucosa where they produce an enterotoxin – a toxin specifically affecting the cells of the intestinal mucosa and results in vomiting and diarrhoea.</a:t>
            </a:r>
          </a:p>
          <a:p>
            <a:r>
              <a:rPr lang="en-GB" dirty="0">
                <a:latin typeface="Times New Roman" pitchFamily="18" charset="0"/>
                <a:cs typeface="Times New Roman" pitchFamily="18" charset="0"/>
              </a:rPr>
              <a:t> They also produce a </a:t>
            </a:r>
            <a:r>
              <a:rPr lang="en-GB" dirty="0" err="1">
                <a:latin typeface="Times New Roman" pitchFamily="18" charset="0"/>
                <a:cs typeface="Times New Roman" pitchFamily="18" charset="0"/>
              </a:rPr>
              <a:t>cytotoxin</a:t>
            </a:r>
            <a:r>
              <a:rPr lang="en-GB" dirty="0">
                <a:latin typeface="Times New Roman" pitchFamily="18" charset="0"/>
                <a:cs typeface="Times New Roman" pitchFamily="18" charset="0"/>
              </a:rPr>
              <a:t> that has a specific toxic action upon cells which destroys the epithelial cells.. </a:t>
            </a:r>
          </a:p>
        </p:txBody>
      </p:sp>
    </p:spTree>
    <p:extLst>
      <p:ext uri="{BB962C8B-B14F-4D97-AF65-F5344CB8AC3E}">
        <p14:creationId xmlns:p14="http://schemas.microsoft.com/office/powerpoint/2010/main" val="2786183710"/>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229600" cy="762000"/>
          </a:xfrm>
        </p:spPr>
        <p:txBody>
          <a:bodyPr>
            <a:normAutofit fontScale="90000"/>
          </a:bodyPr>
          <a:lstStyle/>
          <a:p>
            <a:r>
              <a:rPr lang="en-GB" sz="4800" dirty="0">
                <a:latin typeface="Times New Roman" pitchFamily="18" charset="0"/>
                <a:cs typeface="Times New Roman" pitchFamily="18" charset="0"/>
              </a:rPr>
              <a:t>Salmonellosis…..contd.</a:t>
            </a:r>
            <a:endParaRPr lang="en-GB" dirty="0"/>
          </a:p>
        </p:txBody>
      </p:sp>
      <p:sp>
        <p:nvSpPr>
          <p:cNvPr id="3" name="Content Placeholder 2"/>
          <p:cNvSpPr>
            <a:spLocks noGrp="1"/>
          </p:cNvSpPr>
          <p:nvPr>
            <p:ph idx="1"/>
          </p:nvPr>
        </p:nvSpPr>
        <p:spPr>
          <a:xfrm>
            <a:off x="457200" y="1066800"/>
            <a:ext cx="8229600" cy="5257800"/>
          </a:xfrm>
        </p:spPr>
        <p:txBody>
          <a:bodyPr/>
          <a:lstStyle/>
          <a:p>
            <a:r>
              <a:rPr lang="en-GB" dirty="0">
                <a:latin typeface="Times New Roman" pitchFamily="18" charset="0"/>
                <a:cs typeface="Times New Roman" pitchFamily="18" charset="0"/>
              </a:rPr>
              <a:t>Abdominal pains, diarrhoea, cramps, nausea and fever are the most predominant symptoms which usually persist for 2-5 days but can last for several weeks. </a:t>
            </a:r>
          </a:p>
          <a:p>
            <a:r>
              <a:rPr lang="en-GB" dirty="0">
                <a:latin typeface="Times New Roman" pitchFamily="18" charset="0"/>
                <a:cs typeface="Times New Roman" pitchFamily="18" charset="0"/>
              </a:rPr>
              <a:t>During the acute phase of the disease, as many as one billion Salmonella can be found per gram of faeces</a:t>
            </a:r>
          </a:p>
          <a:p>
            <a:r>
              <a:rPr lang="en-GB" dirty="0">
                <a:latin typeface="Times New Roman" pitchFamily="18" charset="0"/>
                <a:cs typeface="Times New Roman" pitchFamily="18" charset="0"/>
              </a:rPr>
              <a:t>Laboratory diagnosis:  Isolation of the bacteria from the patient’s stool or food.</a:t>
            </a:r>
          </a:p>
          <a:p>
            <a:r>
              <a:rPr lang="en-GB" dirty="0">
                <a:latin typeface="Times New Roman" pitchFamily="18" charset="0"/>
                <a:cs typeface="Times New Roman" pitchFamily="18" charset="0"/>
              </a:rPr>
              <a:t>Treatment: Depends on good processing practices and proper refrigeration and adequate cooking. </a:t>
            </a:r>
          </a:p>
          <a:p>
            <a:pPr marL="0" indent="0">
              <a:buNone/>
            </a:pPr>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192230503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125532</TotalTime>
  <Words>14383</Words>
  <Application>Microsoft Office PowerPoint</Application>
  <PresentationFormat>On-screen Show (4:3)</PresentationFormat>
  <Paragraphs>1130</Paragraphs>
  <Slides>182</Slides>
  <Notes>3</Notes>
  <HiddenSlides>23</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182</vt:i4>
      </vt:variant>
    </vt:vector>
  </HeadingPairs>
  <TitlesOfParts>
    <vt:vector size="188" baseType="lpstr">
      <vt:lpstr>Calibri</vt:lpstr>
      <vt:lpstr>Constantia</vt:lpstr>
      <vt:lpstr>Times New Roman</vt:lpstr>
      <vt:lpstr>Wingdings</vt:lpstr>
      <vt:lpstr>Wingdings 2</vt:lpstr>
      <vt:lpstr>Flow</vt:lpstr>
      <vt:lpstr>FOOD &amp; INDUSTRIAL MICROBIOLOGY        BIOL 457</vt:lpstr>
      <vt:lpstr>PowerPoint Presentation</vt:lpstr>
      <vt:lpstr>PowerPoint Presentation</vt:lpstr>
      <vt:lpstr>DEFINITION AND SCOPE</vt:lpstr>
      <vt:lpstr>DEFINITION AND SCOPE contd.</vt:lpstr>
      <vt:lpstr>DEFINITION AND SCOPE contd.</vt:lpstr>
      <vt:lpstr>MICROBES AND FOOD</vt:lpstr>
      <vt:lpstr>MICROBES AND FOOD</vt:lpstr>
      <vt:lpstr>MICROBES AND FOOD contd.</vt:lpstr>
      <vt:lpstr>MICROBES AND FOOD contd.</vt:lpstr>
      <vt:lpstr>SPOILAGE</vt:lpstr>
      <vt:lpstr>PowerPoint Presentation</vt:lpstr>
      <vt:lpstr>SPOILAGE contd.</vt:lpstr>
      <vt:lpstr>SPOILAGE contd.</vt:lpstr>
      <vt:lpstr>SPOILAGE contd.</vt:lpstr>
      <vt:lpstr>SPOILAGE contd.</vt:lpstr>
      <vt:lpstr>SPOILAGE contd.</vt:lpstr>
      <vt:lpstr>FRESH FOODS AND MICROBES</vt:lpstr>
      <vt:lpstr>FRESH FOODS...(Meat) contd.</vt:lpstr>
      <vt:lpstr>FRESH FOODS...(Meat) contd.</vt:lpstr>
      <vt:lpstr>FRESH FOODS...(Meat) contd.</vt:lpstr>
      <vt:lpstr>FRESH FOODS...(Meat) contd.</vt:lpstr>
      <vt:lpstr>FRESH FOODS...(Meat) contd.</vt:lpstr>
      <vt:lpstr>Spoilage of meat</vt:lpstr>
      <vt:lpstr>Spoilage of meat cont’d</vt:lpstr>
      <vt:lpstr>Spoilage of meat cont’d</vt:lpstr>
      <vt:lpstr>Spoilage of meat cont’d</vt:lpstr>
      <vt:lpstr>Spoilage of meat cont’d</vt:lpstr>
      <vt:lpstr>Spoilage of meat cont’d</vt:lpstr>
      <vt:lpstr>PowerPoint Presentation</vt:lpstr>
      <vt:lpstr>Spoilage of meat cont’d</vt:lpstr>
      <vt:lpstr>Spoilage of meat cont’d</vt:lpstr>
      <vt:lpstr>FRESH FOODS...(Meat) contd.</vt:lpstr>
      <vt:lpstr>FRESH FOODS...(Meat) contd.</vt:lpstr>
      <vt:lpstr>SOURCES OF MICROBIAL CONTAMINATION OF MEAT.</vt:lpstr>
      <vt:lpstr>SOURCES OF MICROBIAL...contd</vt:lpstr>
      <vt:lpstr>SOURCES OF MICROBIAL...contd</vt:lpstr>
      <vt:lpstr>SOURCES OF MICROBIAL...contd</vt:lpstr>
      <vt:lpstr>SOURCES OF MICROBIAL...contd</vt:lpstr>
      <vt:lpstr>MILK AND MILK PRODUCTS</vt:lpstr>
      <vt:lpstr>MILK AND MILK PRODUCTS</vt:lpstr>
      <vt:lpstr>MILK AND MILK PRODUCTS...contd.</vt:lpstr>
      <vt:lpstr>MILK AND MILK PRODUCTS...contd.</vt:lpstr>
      <vt:lpstr>MILK AND MILK PRODUCTS...contd.</vt:lpstr>
      <vt:lpstr>MILK AND MILK PRODUCTS...contd.</vt:lpstr>
      <vt:lpstr>MILK AND MILK PRODUCTS...contd.</vt:lpstr>
      <vt:lpstr>THE NORMAL MICROFLORA OF MILK</vt:lpstr>
      <vt:lpstr>MICROFLORA OF MILK...contd.</vt:lpstr>
      <vt:lpstr>MICROFLORA OF MILK...contd.</vt:lpstr>
      <vt:lpstr>MICROFLORA OF MILK...contd.</vt:lpstr>
      <vt:lpstr>MICROFLORA OF MILK...contd.</vt:lpstr>
      <vt:lpstr>MICROFLORA OF MILK...contd.</vt:lpstr>
      <vt:lpstr>CHANGES IN THE MICROFLORA OF MILK</vt:lpstr>
      <vt:lpstr>CHANGES IN THE MICROFLORA...contd.</vt:lpstr>
      <vt:lpstr>CHANGES IN THE MICROFLORA...contd.</vt:lpstr>
      <vt:lpstr>CHANGES IN THE MICROFLORA...contd.</vt:lpstr>
      <vt:lpstr>CHANGES IN THE MICROFLORA...contd.</vt:lpstr>
      <vt:lpstr>CHANGES IN THE MICROFLORA...contd.</vt:lpstr>
      <vt:lpstr>DISEASES TRANSMITTED IN MILK</vt:lpstr>
      <vt:lpstr>DISEASES TRANSMITTED IN MILK...contd.</vt:lpstr>
      <vt:lpstr>DISEASES...contd.</vt:lpstr>
      <vt:lpstr>RIGOR MORTIS</vt:lpstr>
      <vt:lpstr>RIGOR MORTIS contd.</vt:lpstr>
      <vt:lpstr>RIGOR MORTIS contd.</vt:lpstr>
      <vt:lpstr>RIGOR MORTIS contd.</vt:lpstr>
      <vt:lpstr>RIGOR MORTIS contd.</vt:lpstr>
      <vt:lpstr>                                FISH AND FISH PRODUCTS</vt:lpstr>
      <vt:lpstr>FISH AND FISH PRODUCTS..contd</vt:lpstr>
      <vt:lpstr>FISH AND FISH PRODUCTS..contd</vt:lpstr>
      <vt:lpstr>FISH AND FISH PRODUCTS..contd</vt:lpstr>
      <vt:lpstr>PowerPoint Presentation</vt:lpstr>
      <vt:lpstr>FISH AND FISH PRODUCTS..contd</vt:lpstr>
      <vt:lpstr>FISH AND FISH PRODUCTS….contd</vt:lpstr>
      <vt:lpstr>PowerPoint Presentation</vt:lpstr>
      <vt:lpstr>FISH AND FISH PRODUCTS..contd</vt:lpstr>
      <vt:lpstr>PowerPoint Presentation</vt:lpstr>
      <vt:lpstr>FISH AND FISH PRODUCTS..contd</vt:lpstr>
      <vt:lpstr> EGG</vt:lpstr>
      <vt:lpstr>PowerPoint Presentation</vt:lpstr>
      <vt:lpstr>EGG……contd</vt:lpstr>
      <vt:lpstr>EGG……contd.</vt:lpstr>
      <vt:lpstr>EGG……contd.</vt:lpstr>
      <vt:lpstr>EGG……contd.</vt:lpstr>
      <vt:lpstr>EGG……contd.</vt:lpstr>
      <vt:lpstr>EGG……contd</vt:lpstr>
      <vt:lpstr>Fruits and Vegetables products</vt:lpstr>
      <vt:lpstr>Fruits and Vegetables products</vt:lpstr>
      <vt:lpstr>Fruits and Vegetables products</vt:lpstr>
      <vt:lpstr>Fruits and Vegetables products</vt:lpstr>
      <vt:lpstr>Methods used in reducing excessive mould spoilage during storage and transport</vt:lpstr>
      <vt:lpstr>Methods used in reducing excessive mould spoilage during storage and transport……cont’d</vt:lpstr>
      <vt:lpstr>READING ASSIGNMENT</vt:lpstr>
      <vt:lpstr>  PRESERVATION</vt:lpstr>
      <vt:lpstr>PRESERVATION</vt:lpstr>
      <vt:lpstr>PRESERVATION….contd</vt:lpstr>
      <vt:lpstr>PRESERVATION….contd</vt:lpstr>
      <vt:lpstr>PRESERVATION….contd</vt:lpstr>
      <vt:lpstr> Asepsis Method</vt:lpstr>
      <vt:lpstr>Asepsis Method….contd</vt:lpstr>
      <vt:lpstr> Low Temperatures</vt:lpstr>
      <vt:lpstr>Low Temperatures….contd</vt:lpstr>
      <vt:lpstr>Low Temperatures</vt:lpstr>
      <vt:lpstr>Low Temperatures….contd</vt:lpstr>
      <vt:lpstr>Low Temperatures….contd.</vt:lpstr>
      <vt:lpstr>Low Temperatures….contd</vt:lpstr>
      <vt:lpstr> High Temperatures</vt:lpstr>
      <vt:lpstr>High Temperatures…..contd</vt:lpstr>
      <vt:lpstr>Pasteurization</vt:lpstr>
      <vt:lpstr>High Temperatures…..contd</vt:lpstr>
      <vt:lpstr>PowerPoint Presentation</vt:lpstr>
      <vt:lpstr>Boiling</vt:lpstr>
      <vt:lpstr>Canning (Autoclaving)</vt:lpstr>
      <vt:lpstr>Canning (Autoclaving)…contd</vt:lpstr>
      <vt:lpstr>Canning (Autoclaving)….contd</vt:lpstr>
      <vt:lpstr>Canning (Autoclaving)….contd</vt:lpstr>
      <vt:lpstr> PRESERVATION BY DRYING</vt:lpstr>
      <vt:lpstr>DRYING……contd.</vt:lpstr>
      <vt:lpstr> PRESERVATION BY SMOKING</vt:lpstr>
      <vt:lpstr>SMOKING…….contd.</vt:lpstr>
      <vt:lpstr> CHEMICAL PRESERVATIVES</vt:lpstr>
      <vt:lpstr>PRESERVATIVES…..contd.</vt:lpstr>
      <vt:lpstr>PRESERVATIVES…….contd.</vt:lpstr>
      <vt:lpstr>Nitrites</vt:lpstr>
      <vt:lpstr>Nitrites…….contd</vt:lpstr>
      <vt:lpstr>Sulphur (IV) oxide and sulphides</vt:lpstr>
      <vt:lpstr>Sulphur (IV) oxide and sulphides</vt:lpstr>
      <vt:lpstr>Weak organic acids and their salts</vt:lpstr>
      <vt:lpstr>PowerPoint Presentation</vt:lpstr>
      <vt:lpstr> weak organic acids and their salts</vt:lpstr>
      <vt:lpstr> Acetic Acid and Acetate</vt:lpstr>
      <vt:lpstr>Acetic Acid and Acetate….contd.</vt:lpstr>
      <vt:lpstr>Acetic Acid and Acetate….contd.</vt:lpstr>
      <vt:lpstr> Benzoic Acids and Benzoates</vt:lpstr>
      <vt:lpstr>Benzoic Acids and Benzoates….contd.</vt:lpstr>
      <vt:lpstr> Lactic Acid and Lactate</vt:lpstr>
      <vt:lpstr> Propionic acid and Propionate</vt:lpstr>
      <vt:lpstr> Sorbic acids and Sorbates</vt:lpstr>
      <vt:lpstr>Sorbic acids and Sorbates….contd.</vt:lpstr>
      <vt:lpstr>Sorbic acids and Sorbates..contd.</vt:lpstr>
      <vt:lpstr> FERMENTATION</vt:lpstr>
      <vt:lpstr>FERMENTATION….contd.</vt:lpstr>
      <vt:lpstr>FERMENTATION….contd.</vt:lpstr>
      <vt:lpstr>FERMENTATION….contd.</vt:lpstr>
      <vt:lpstr>LACTIC ACID BACTERIA</vt:lpstr>
      <vt:lpstr>LACTIC ACID BACTERIA…contd.</vt:lpstr>
      <vt:lpstr>LACTIC ACID BACTERIA…contd.</vt:lpstr>
      <vt:lpstr>LACTIC ACID BACTERIA…contd.</vt:lpstr>
      <vt:lpstr>LACTIC ACID BACTERIA…contd.</vt:lpstr>
      <vt:lpstr> Products of Fermentation</vt:lpstr>
      <vt:lpstr>Products of Fermentation..contd.</vt:lpstr>
      <vt:lpstr>Products of Fermentation….contd</vt:lpstr>
      <vt:lpstr>Products of Fermentation..contd</vt:lpstr>
      <vt:lpstr> STARTER CULTURES</vt:lpstr>
      <vt:lpstr>Starter cultures…..contd.</vt:lpstr>
      <vt:lpstr>Starter cultures…..contd.</vt:lpstr>
      <vt:lpstr> FERMENTED DAIRY PRODUCTS</vt:lpstr>
      <vt:lpstr>FERMENTED DAIRY PRODUCTS….contd.</vt:lpstr>
      <vt:lpstr>    Yoghurt</vt:lpstr>
      <vt:lpstr>Yoghurt…….contd.</vt:lpstr>
      <vt:lpstr>  CHEESE</vt:lpstr>
      <vt:lpstr>CHEESE……contd.</vt:lpstr>
      <vt:lpstr>CHEESE……contd.</vt:lpstr>
      <vt:lpstr>CHEESE……contd.</vt:lpstr>
      <vt:lpstr> FERMENTED MEAT AND FISHERY      PRODUCTS</vt:lpstr>
      <vt:lpstr>FERMENTED MEAT AND FISHERY      PRODUCTS….contd.</vt:lpstr>
      <vt:lpstr>FERMENTED MEAT AND FISHERY      PRODUCTS….contd.</vt:lpstr>
      <vt:lpstr> FERMENTED BEVERAGES AND RELATED PRODUCTS</vt:lpstr>
      <vt:lpstr>FERMENTED BEVERAGES AND RELATED PRODUCTS…..contd.</vt:lpstr>
      <vt:lpstr>FOOD-BORNE DISEASES</vt:lpstr>
      <vt:lpstr>FOOD-BORNE DISEASES….contd.</vt:lpstr>
      <vt:lpstr> Risk Factors for Food-Borne Illnesses</vt:lpstr>
      <vt:lpstr>FOOD-BORNE DISEASES….contd.</vt:lpstr>
      <vt:lpstr>CHOLERA</vt:lpstr>
      <vt:lpstr>CHOLERA……contd.</vt:lpstr>
      <vt:lpstr>CHOLERA……contd.</vt:lpstr>
      <vt:lpstr>CHOLERA……contd.</vt:lpstr>
      <vt:lpstr>Campylobacteriosis (Campylobacter jejuni)</vt:lpstr>
      <vt:lpstr>Campylobacteriosis….contd.</vt:lpstr>
      <vt:lpstr>Campylobacteriosis…..contd.</vt:lpstr>
      <vt:lpstr> Salmonellosis (Salmonella gastroenteritis)</vt:lpstr>
      <vt:lpstr>Salmonellosis…..contd.</vt:lpstr>
      <vt:lpstr>Salmonellosis…..contd.</vt:lpstr>
    </vt:vector>
  </TitlesOfParts>
  <Company>HP</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FOOD &amp; INDUSTRIAL MICROBIOLOGY</dc:title>
  <dc:creator>Lawer john terlabie</dc:creator>
  <cp:lastModifiedBy>NARKIE</cp:lastModifiedBy>
  <cp:revision>1099</cp:revision>
  <dcterms:created xsi:type="dcterms:W3CDTF">2011-08-28T23:16:04Z</dcterms:created>
  <dcterms:modified xsi:type="dcterms:W3CDTF">2023-02-16T11:43:06Z</dcterms:modified>
</cp:coreProperties>
</file>