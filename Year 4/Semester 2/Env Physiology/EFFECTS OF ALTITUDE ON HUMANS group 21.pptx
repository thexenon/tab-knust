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74" r:id="rId6"/>
    <p:sldId id="267" r:id="rId7"/>
    <p:sldId id="266" r:id="rId8"/>
    <p:sldId id="269" r:id="rId9"/>
    <p:sldId id="272" r:id="rId10"/>
    <p:sldId id="260" r:id="rId11"/>
    <p:sldId id="273" r:id="rId12"/>
    <p:sldId id="261" r:id="rId13"/>
    <p:sldId id="262" r:id="rId14"/>
    <p:sldId id="265" r:id="rId15"/>
    <p:sldId id="275"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56" d="100"/>
          <a:sy n="56" d="100"/>
        </p:scale>
        <p:origin x="84"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9/1/2022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9/1/2022</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10ADA-1086-4878-BB73-0C7FB4058248}"/>
              </a:ext>
            </a:extLst>
          </p:cNvPr>
          <p:cNvSpPr>
            <a:spLocks noGrp="1"/>
          </p:cNvSpPr>
          <p:nvPr>
            <p:ph type="ctrTitle"/>
          </p:nvPr>
        </p:nvSpPr>
        <p:spPr>
          <a:xfrm>
            <a:off x="2072378" y="1427921"/>
            <a:ext cx="8915399" cy="2262781"/>
          </a:xfrm>
        </p:spPr>
        <p:txBody>
          <a:bodyPr>
            <a:normAutofit/>
          </a:bodyPr>
          <a:lstStyle/>
          <a:p>
            <a:r>
              <a:rPr lang="en-US" dirty="0">
                <a:latin typeface="Arial Black" panose="020B0A04020102020204" pitchFamily="34" charset="0"/>
                <a:cs typeface="Arial" panose="020B0604020202020204" pitchFamily="34" charset="0"/>
              </a:rPr>
              <a:t>EFFECTS OF ALTITUDE ON HUMANS</a:t>
            </a:r>
          </a:p>
        </p:txBody>
      </p:sp>
      <p:sp>
        <p:nvSpPr>
          <p:cNvPr id="3" name="Subtitle 2">
            <a:extLst>
              <a:ext uri="{FF2B5EF4-FFF2-40B4-BE49-F238E27FC236}">
                <a16:creationId xmlns:a16="http://schemas.microsoft.com/office/drawing/2014/main" id="{2C43F1B0-92E2-48C2-BDBF-0F6EAEEBB381}"/>
              </a:ext>
            </a:extLst>
          </p:cNvPr>
          <p:cNvSpPr>
            <a:spLocks noGrp="1"/>
          </p:cNvSpPr>
          <p:nvPr>
            <p:ph type="subTitle" idx="1"/>
          </p:nvPr>
        </p:nvSpPr>
        <p:spPr>
          <a:xfrm>
            <a:off x="2297666" y="4432823"/>
            <a:ext cx="8915399" cy="1126283"/>
          </a:xfrm>
        </p:spPr>
        <p:txBody>
          <a:bodyPr>
            <a:normAutofit/>
          </a:bodyPr>
          <a:lstStyle/>
          <a:p>
            <a:r>
              <a:rPr lang="en-US" sz="2400" dirty="0">
                <a:latin typeface="Arial" panose="020B0604020202020204" pitchFamily="34" charset="0"/>
                <a:cs typeface="Arial" panose="020B0604020202020204" pitchFamily="34" charset="0"/>
              </a:rPr>
              <a:t>GROUP 21</a:t>
            </a:r>
          </a:p>
        </p:txBody>
      </p:sp>
    </p:spTree>
    <p:extLst>
      <p:ext uri="{BB962C8B-B14F-4D97-AF65-F5344CB8AC3E}">
        <p14:creationId xmlns:p14="http://schemas.microsoft.com/office/powerpoint/2010/main" val="3262108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30223-B3C2-41EE-A777-7AF9F8F08222}"/>
              </a:ext>
            </a:extLst>
          </p:cNvPr>
          <p:cNvSpPr>
            <a:spLocks noGrp="1"/>
          </p:cNvSpPr>
          <p:nvPr>
            <p:ph type="title"/>
          </p:nvPr>
        </p:nvSpPr>
        <p:spPr/>
        <p:txBody>
          <a:bodyPr>
            <a:normAutofit fontScale="90000"/>
          </a:bodyPr>
          <a:lstStyle/>
          <a:p>
            <a:r>
              <a:rPr lang="en-US" sz="4900" dirty="0">
                <a:latin typeface="Arial Black" panose="020B0A04020102020204" pitchFamily="34" charset="0"/>
                <a:cs typeface="Arial" panose="020B0604020202020204" pitchFamily="34" charset="0"/>
              </a:rPr>
              <a:t>GROUP MEMBERS </a:t>
            </a:r>
            <a:br>
              <a:rPr lang="en-US" dirty="0">
                <a:latin typeface="Arial Black" panose="020B0A04020102020204" pitchFamily="34" charset="0"/>
              </a:rPr>
            </a:br>
            <a:endParaRPr lang="en-US" dirty="0">
              <a:latin typeface="Arial Black" panose="020B0A04020102020204" pitchFamily="34" charset="0"/>
            </a:endParaRPr>
          </a:p>
        </p:txBody>
      </p:sp>
      <p:sp>
        <p:nvSpPr>
          <p:cNvPr id="3" name="Content Placeholder 2">
            <a:extLst>
              <a:ext uri="{FF2B5EF4-FFF2-40B4-BE49-F238E27FC236}">
                <a16:creationId xmlns:a16="http://schemas.microsoft.com/office/drawing/2014/main" id="{3E4F3259-61B8-45C8-A895-03A7ACD166F2}"/>
              </a:ext>
            </a:extLst>
          </p:cNvPr>
          <p:cNvSpPr>
            <a:spLocks noGrp="1"/>
          </p:cNvSpPr>
          <p:nvPr>
            <p:ph idx="1"/>
          </p:nvPr>
        </p:nvSpPr>
        <p:spPr>
          <a:xfrm>
            <a:off x="2589212" y="2133599"/>
            <a:ext cx="8915400" cy="4188823"/>
          </a:xfrm>
        </p:spPr>
        <p:txBody>
          <a:bodyPr>
            <a:normAutofit/>
          </a:bodyPr>
          <a:lstStyle/>
          <a:p>
            <a:r>
              <a:rPr lang="en-US" sz="2000" dirty="0" err="1">
                <a:latin typeface="Arial" panose="020B0604020202020204" pitchFamily="34" charset="0"/>
                <a:cs typeface="Arial" panose="020B0604020202020204" pitchFamily="34" charset="0"/>
              </a:rPr>
              <a:t>Adumoah</a:t>
            </a:r>
            <a:r>
              <a:rPr lang="en-US" sz="2000" dirty="0">
                <a:latin typeface="Arial" panose="020B0604020202020204" pitchFamily="34" charset="0"/>
                <a:cs typeface="Arial" panose="020B0604020202020204" pitchFamily="34" charset="0"/>
              </a:rPr>
              <a:t> Samuel – 4435618</a:t>
            </a:r>
          </a:p>
          <a:p>
            <a:r>
              <a:rPr lang="en-US" sz="2000" dirty="0" err="1">
                <a:latin typeface="Arial" panose="020B0604020202020204" pitchFamily="34" charset="0"/>
                <a:cs typeface="Arial" panose="020B0604020202020204" pitchFamily="34" charset="0"/>
              </a:rPr>
              <a:t>Anto</a:t>
            </a:r>
            <a:r>
              <a:rPr lang="en-US" sz="2000" dirty="0">
                <a:latin typeface="Arial" panose="020B0604020202020204" pitchFamily="34" charset="0"/>
                <a:cs typeface="Arial" panose="020B0604020202020204" pitchFamily="34" charset="0"/>
              </a:rPr>
              <a:t> Ebenezer – 4439818</a:t>
            </a:r>
          </a:p>
          <a:p>
            <a:r>
              <a:rPr lang="en-US" sz="2000" dirty="0">
                <a:latin typeface="Arial" panose="020B0604020202020204" pitchFamily="34" charset="0"/>
                <a:cs typeface="Arial" panose="020B0604020202020204" pitchFamily="34" charset="0"/>
              </a:rPr>
              <a:t> Owusu Afriyie Nana </a:t>
            </a:r>
            <a:r>
              <a:rPr lang="en-US" sz="2000" dirty="0" err="1">
                <a:latin typeface="Arial" panose="020B0604020202020204" pitchFamily="34" charset="0"/>
                <a:cs typeface="Arial" panose="020B0604020202020204" pitchFamily="34" charset="0"/>
              </a:rPr>
              <a:t>Frema</a:t>
            </a:r>
            <a:r>
              <a:rPr lang="en-US" sz="2000" dirty="0">
                <a:latin typeface="Arial" panose="020B0604020202020204" pitchFamily="34" charset="0"/>
                <a:cs typeface="Arial" panose="020B0604020202020204" pitchFamily="34" charset="0"/>
              </a:rPr>
              <a:t> – 4456018</a:t>
            </a:r>
          </a:p>
          <a:p>
            <a:r>
              <a:rPr lang="en-US" sz="2000" dirty="0" err="1">
                <a:latin typeface="Arial" panose="020B0604020202020204" pitchFamily="34" charset="0"/>
                <a:cs typeface="Arial" panose="020B0604020202020204" pitchFamily="34" charset="0"/>
              </a:rPr>
              <a:t>Lomotey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Lomoteley</a:t>
            </a:r>
            <a:r>
              <a:rPr lang="en-US" sz="2000" dirty="0">
                <a:latin typeface="Arial" panose="020B0604020202020204" pitchFamily="34" charset="0"/>
                <a:cs typeface="Arial" panose="020B0604020202020204" pitchFamily="34" charset="0"/>
              </a:rPr>
              <a:t> Doreen – 4450918</a:t>
            </a:r>
          </a:p>
          <a:p>
            <a:r>
              <a:rPr lang="en-US" sz="2000" dirty="0" err="1">
                <a:latin typeface="Arial" panose="020B0604020202020204" pitchFamily="34" charset="0"/>
                <a:cs typeface="Arial" panose="020B0604020202020204" pitchFamily="34" charset="0"/>
              </a:rPr>
              <a:t>Antwi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Anyeniwaa</a:t>
            </a:r>
            <a:r>
              <a:rPr lang="en-US" sz="2000" dirty="0">
                <a:latin typeface="Arial" panose="020B0604020202020204" pitchFamily="34" charset="0"/>
                <a:cs typeface="Arial" panose="020B0604020202020204" pitchFamily="34" charset="0"/>
              </a:rPr>
              <a:t> Elizabeth – 4439918</a:t>
            </a:r>
          </a:p>
          <a:p>
            <a:r>
              <a:rPr lang="en-US" sz="2000" dirty="0" err="1">
                <a:latin typeface="Arial" panose="020B0604020202020204" pitchFamily="34" charset="0"/>
                <a:cs typeface="Arial" panose="020B0604020202020204" pitchFamily="34" charset="0"/>
              </a:rPr>
              <a:t>Gyeni</a:t>
            </a:r>
            <a:r>
              <a:rPr lang="en-US" sz="2000" dirty="0">
                <a:latin typeface="Arial" panose="020B0604020202020204" pitchFamily="34" charset="0"/>
                <a:cs typeface="Arial" panose="020B0604020202020204" pitchFamily="34" charset="0"/>
              </a:rPr>
              <a:t> Judith – 4449118</a:t>
            </a:r>
          </a:p>
          <a:p>
            <a:r>
              <a:rPr lang="en-US" sz="2000" dirty="0">
                <a:latin typeface="Arial" panose="020B0604020202020204" pitchFamily="34" charset="0"/>
                <a:cs typeface="Arial" panose="020B0604020202020204" pitchFamily="34" charset="0"/>
              </a:rPr>
              <a:t>Opoku-</a:t>
            </a:r>
            <a:r>
              <a:rPr lang="en-US" sz="2000" dirty="0" err="1">
                <a:latin typeface="Arial" panose="020B0604020202020204" pitchFamily="34" charset="0"/>
                <a:cs typeface="Arial" panose="020B0604020202020204" pitchFamily="34" charset="0"/>
              </a:rPr>
              <a:t>Bamfoh</a:t>
            </a:r>
            <a:r>
              <a:rPr lang="en-US" sz="2000" dirty="0">
                <a:latin typeface="Arial" panose="020B0604020202020204" pitchFamily="34" charset="0"/>
                <a:cs typeface="Arial" panose="020B0604020202020204" pitchFamily="34" charset="0"/>
              </a:rPr>
              <a:t> Obadiah – 4463918</a:t>
            </a:r>
          </a:p>
          <a:p>
            <a:r>
              <a:rPr lang="en-US" sz="2000" dirty="0" err="1">
                <a:latin typeface="Arial" panose="020B0604020202020204" pitchFamily="34" charset="0"/>
                <a:cs typeface="Arial" panose="020B0604020202020204" pitchFamily="34" charset="0"/>
              </a:rPr>
              <a:t>Twum</a:t>
            </a:r>
            <a:r>
              <a:rPr lang="en-US" sz="2000" dirty="0">
                <a:latin typeface="Arial" panose="020B0604020202020204" pitchFamily="34" charset="0"/>
                <a:cs typeface="Arial" panose="020B0604020202020204" pitchFamily="34" charset="0"/>
              </a:rPr>
              <a:t>-Mensah Phebe </a:t>
            </a:r>
            <a:r>
              <a:rPr lang="en-US" sz="2000" dirty="0" err="1">
                <a:latin typeface="Arial" panose="020B0604020202020204" pitchFamily="34" charset="0"/>
                <a:cs typeface="Arial" panose="020B0604020202020204" pitchFamily="34" charset="0"/>
              </a:rPr>
              <a:t>Ewura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Akua</a:t>
            </a:r>
            <a:r>
              <a:rPr lang="en-US" sz="2000" dirty="0">
                <a:latin typeface="Arial" panose="020B0604020202020204" pitchFamily="34" charset="0"/>
                <a:cs typeface="Arial" panose="020B0604020202020204" pitchFamily="34" charset="0"/>
              </a:rPr>
              <a:t> – 4459118 </a:t>
            </a:r>
          </a:p>
          <a:p>
            <a:r>
              <a:rPr lang="en-US" sz="2000" dirty="0">
                <a:latin typeface="Arial" panose="020B0604020202020204" pitchFamily="34" charset="0"/>
                <a:cs typeface="Arial" panose="020B0604020202020204" pitchFamily="34" charset="0"/>
              </a:rPr>
              <a:t>Appiah </a:t>
            </a:r>
            <a:r>
              <a:rPr lang="en-US" sz="2000" dirty="0" err="1">
                <a:latin typeface="Arial" panose="020B0604020202020204" pitchFamily="34" charset="0"/>
                <a:cs typeface="Arial" panose="020B0604020202020204" pitchFamily="34" charset="0"/>
              </a:rPr>
              <a:t>Boahen</a:t>
            </a:r>
            <a:r>
              <a:rPr lang="en-US" sz="2000" dirty="0">
                <a:latin typeface="Arial" panose="020B0604020202020204" pitchFamily="34" charset="0"/>
                <a:cs typeface="Arial" panose="020B0604020202020204" pitchFamily="34" charset="0"/>
              </a:rPr>
              <a:t> Edmund - 4440618</a:t>
            </a:r>
          </a:p>
          <a:p>
            <a:endParaRPr lang="en-US" dirty="0"/>
          </a:p>
        </p:txBody>
      </p:sp>
    </p:spTree>
    <p:extLst>
      <p:ext uri="{BB962C8B-B14F-4D97-AF65-F5344CB8AC3E}">
        <p14:creationId xmlns:p14="http://schemas.microsoft.com/office/powerpoint/2010/main" val="753312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137C9-6071-4F8C-8C3A-3BD2B0763D78}"/>
              </a:ext>
            </a:extLst>
          </p:cNvPr>
          <p:cNvSpPr>
            <a:spLocks noGrp="1"/>
          </p:cNvSpPr>
          <p:nvPr>
            <p:ph type="title"/>
          </p:nvPr>
        </p:nvSpPr>
        <p:spPr>
          <a:xfrm>
            <a:off x="2019369" y="596401"/>
            <a:ext cx="8911687" cy="1280890"/>
          </a:xfrm>
        </p:spPr>
        <p:txBody>
          <a:bodyPr>
            <a:normAutofit/>
          </a:bodyPr>
          <a:lstStyle/>
          <a:p>
            <a:r>
              <a:rPr lang="en-US" sz="4400" dirty="0">
                <a:latin typeface="Arial Black" panose="020B0A040201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A909C15C-A4C6-4EBE-BD70-4BA5DA8567BC}"/>
              </a:ext>
            </a:extLst>
          </p:cNvPr>
          <p:cNvSpPr>
            <a:spLocks noGrp="1"/>
          </p:cNvSpPr>
          <p:nvPr>
            <p:ph idx="1"/>
          </p:nvPr>
        </p:nvSpPr>
        <p:spPr>
          <a:xfrm>
            <a:off x="2019368" y="1460676"/>
            <a:ext cx="9833325" cy="5085898"/>
          </a:xfrm>
        </p:spPr>
        <p:txBody>
          <a:bodyPr>
            <a:noAutofit/>
          </a:bodyPr>
          <a:lstStyle/>
          <a:p>
            <a:r>
              <a:rPr lang="en-US" sz="2800" dirty="0">
                <a:latin typeface="Arial" panose="020B0604020202020204" pitchFamily="34" charset="0"/>
                <a:cs typeface="Arial" panose="020B0604020202020204" pitchFamily="34" charset="0"/>
              </a:rPr>
              <a:t>Introduction</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Effects Of High Altitude On Humans</a:t>
            </a:r>
          </a:p>
          <a:p>
            <a:pPr marL="0" indent="0">
              <a:buNone/>
            </a:pPr>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Effects Of Low Altitude On Humans</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How altitude affects the human body</a:t>
            </a:r>
          </a:p>
          <a:p>
            <a:pPr marL="0" indent="0">
              <a:buNone/>
            </a:pPr>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Conclusion </a:t>
            </a:r>
          </a:p>
          <a:p>
            <a:endParaRPr lang="en-US" sz="2800" dirty="0">
              <a:latin typeface="Arial" panose="020B0604020202020204" pitchFamily="34" charset="0"/>
              <a:cs typeface="Arial" panose="020B0604020202020204" pitchFamily="34" charset="0"/>
            </a:endParaRPr>
          </a:p>
          <a:p>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8673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77EF2-BE1E-4169-B5CB-348C5247F44C}"/>
              </a:ext>
            </a:extLst>
          </p:cNvPr>
          <p:cNvSpPr>
            <a:spLocks noGrp="1"/>
          </p:cNvSpPr>
          <p:nvPr>
            <p:ph type="title"/>
          </p:nvPr>
        </p:nvSpPr>
        <p:spPr>
          <a:xfrm>
            <a:off x="1856509" y="457200"/>
            <a:ext cx="8911687" cy="1280890"/>
          </a:xfrm>
        </p:spPr>
        <p:txBody>
          <a:bodyPr>
            <a:normAutofit fontScale="90000"/>
          </a:bodyPr>
          <a:lstStyle/>
          <a:p>
            <a:r>
              <a:rPr lang="en-US" sz="4900" dirty="0">
                <a:latin typeface="Arial Black" panose="020B0A04020102020204" pitchFamily="34" charset="0"/>
                <a:cs typeface="Arial" panose="020B0604020202020204" pitchFamily="34" charset="0"/>
              </a:rPr>
              <a:t>Introduction</a:t>
            </a:r>
            <a:br>
              <a:rPr lang="en-US" dirty="0">
                <a:latin typeface="Arial Black" panose="020B0A04020102020204" pitchFamily="34" charset="0"/>
              </a:rPr>
            </a:br>
            <a:endParaRPr lang="en-US" dirty="0">
              <a:latin typeface="Arial Black" panose="020B0A04020102020204" pitchFamily="34" charset="0"/>
            </a:endParaRPr>
          </a:p>
        </p:txBody>
      </p:sp>
      <p:sp>
        <p:nvSpPr>
          <p:cNvPr id="3" name="Content Placeholder 2">
            <a:extLst>
              <a:ext uri="{FF2B5EF4-FFF2-40B4-BE49-F238E27FC236}">
                <a16:creationId xmlns:a16="http://schemas.microsoft.com/office/drawing/2014/main" id="{2B4C60D9-9140-4B94-8A75-05D7F7FC2372}"/>
              </a:ext>
            </a:extLst>
          </p:cNvPr>
          <p:cNvSpPr>
            <a:spLocks noGrp="1"/>
          </p:cNvSpPr>
          <p:nvPr>
            <p:ph idx="1"/>
          </p:nvPr>
        </p:nvSpPr>
        <p:spPr>
          <a:xfrm>
            <a:off x="1121435" y="1436165"/>
            <a:ext cx="10679502" cy="5421835"/>
          </a:xfrm>
        </p:spPr>
        <p:txBody>
          <a:bodyPr>
            <a:noAutofit/>
          </a:bodyPr>
          <a:lstStyle/>
          <a:p>
            <a:r>
              <a:rPr lang="en-US" sz="3300" dirty="0">
                <a:latin typeface="Arial" panose="020B0604020202020204" pitchFamily="34" charset="0"/>
                <a:cs typeface="Arial" panose="020B0604020202020204" pitchFamily="34" charset="0"/>
              </a:rPr>
              <a:t>Altitude is a distance measurement, referring to the distance above sea level of a location. </a:t>
            </a:r>
          </a:p>
          <a:p>
            <a:endParaRPr lang="en-US" sz="3300" dirty="0">
              <a:latin typeface="Arial" panose="020B0604020202020204" pitchFamily="34" charset="0"/>
              <a:cs typeface="Arial" panose="020B0604020202020204" pitchFamily="34" charset="0"/>
            </a:endParaRPr>
          </a:p>
          <a:p>
            <a:r>
              <a:rPr lang="en-US" sz="3300" dirty="0">
                <a:latin typeface="Arial" panose="020B0604020202020204" pitchFamily="34" charset="0"/>
                <a:cs typeface="Arial" panose="020B0604020202020204" pitchFamily="34" charset="0"/>
              </a:rPr>
              <a:t>The Earth’s atmosphere is divided into several altitude regions.</a:t>
            </a:r>
          </a:p>
          <a:p>
            <a:pPr marL="0" indent="0">
              <a:buNone/>
            </a:pPr>
            <a:endParaRPr lang="en-US" sz="3300" dirty="0">
              <a:latin typeface="Arial" panose="020B0604020202020204" pitchFamily="34" charset="0"/>
              <a:cs typeface="Arial" panose="020B0604020202020204" pitchFamily="34" charset="0"/>
            </a:endParaRPr>
          </a:p>
          <a:p>
            <a:r>
              <a:rPr lang="en-US" sz="3300" dirty="0">
                <a:latin typeface="Arial" panose="020B0604020202020204" pitchFamily="34" charset="0"/>
                <a:cs typeface="Arial" panose="020B0604020202020204" pitchFamily="34" charset="0"/>
              </a:rPr>
              <a:t> Some examples of altitudes include troposphere, stratosphere, mesosphere, thermosphere and exosphere. </a:t>
            </a:r>
          </a:p>
          <a:p>
            <a:endParaRPr lang="en-US" sz="3300" dirty="0"/>
          </a:p>
        </p:txBody>
      </p:sp>
    </p:spTree>
    <p:extLst>
      <p:ext uri="{BB962C8B-B14F-4D97-AF65-F5344CB8AC3E}">
        <p14:creationId xmlns:p14="http://schemas.microsoft.com/office/powerpoint/2010/main" val="1551193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EDBA5-2AB9-F891-9D2F-10F16C9CCA8B}"/>
              </a:ext>
            </a:extLst>
          </p:cNvPr>
          <p:cNvSpPr>
            <a:spLocks noGrp="1"/>
          </p:cNvSpPr>
          <p:nvPr>
            <p:ph type="title"/>
          </p:nvPr>
        </p:nvSpPr>
        <p:spPr/>
        <p:txBody>
          <a:bodyPr/>
          <a:lstStyle/>
          <a:p>
            <a:endParaRPr lang="en-GB"/>
          </a:p>
        </p:txBody>
      </p:sp>
      <p:pic>
        <p:nvPicPr>
          <p:cNvPr id="11" name="Picture 10">
            <a:extLst>
              <a:ext uri="{FF2B5EF4-FFF2-40B4-BE49-F238E27FC236}">
                <a16:creationId xmlns:a16="http://schemas.microsoft.com/office/drawing/2014/main" id="{33AB3315-84C5-B5C3-8E04-26B59CF0025B}"/>
              </a:ext>
            </a:extLst>
          </p:cNvPr>
          <p:cNvPicPr>
            <a:picLocks noChangeAspect="1"/>
          </p:cNvPicPr>
          <p:nvPr/>
        </p:nvPicPr>
        <p:blipFill>
          <a:blip r:embed="rId2"/>
          <a:stretch>
            <a:fillRect/>
          </a:stretch>
        </p:blipFill>
        <p:spPr>
          <a:xfrm>
            <a:off x="5042479" y="2790647"/>
            <a:ext cx="7220694" cy="4067353"/>
          </a:xfrm>
          <a:prstGeom prst="rect">
            <a:avLst/>
          </a:prstGeom>
        </p:spPr>
      </p:pic>
      <p:pic>
        <p:nvPicPr>
          <p:cNvPr id="9" name="Picture 8">
            <a:extLst>
              <a:ext uri="{FF2B5EF4-FFF2-40B4-BE49-F238E27FC236}">
                <a16:creationId xmlns:a16="http://schemas.microsoft.com/office/drawing/2014/main" id="{03C84966-F469-18ED-6704-CEF3B4CEA4FC}"/>
              </a:ext>
            </a:extLst>
          </p:cNvPr>
          <p:cNvPicPr>
            <a:picLocks noChangeAspect="1"/>
          </p:cNvPicPr>
          <p:nvPr/>
        </p:nvPicPr>
        <p:blipFill>
          <a:blip r:embed="rId3"/>
          <a:stretch>
            <a:fillRect/>
          </a:stretch>
        </p:blipFill>
        <p:spPr>
          <a:xfrm>
            <a:off x="5568462" y="0"/>
            <a:ext cx="6694711" cy="4463140"/>
          </a:xfrm>
          <a:prstGeom prst="rect">
            <a:avLst/>
          </a:prstGeom>
        </p:spPr>
      </p:pic>
      <p:pic>
        <p:nvPicPr>
          <p:cNvPr id="5" name="Content Placeholder 4">
            <a:extLst>
              <a:ext uri="{FF2B5EF4-FFF2-40B4-BE49-F238E27FC236}">
                <a16:creationId xmlns:a16="http://schemas.microsoft.com/office/drawing/2014/main" id="{3B796E90-085D-15E7-3B70-CCD6D5AE537C}"/>
              </a:ext>
            </a:extLst>
          </p:cNvPr>
          <p:cNvPicPr>
            <a:picLocks noGrp="1" noChangeAspect="1"/>
          </p:cNvPicPr>
          <p:nvPr>
            <p:ph idx="1"/>
          </p:nvPr>
        </p:nvPicPr>
        <p:blipFill>
          <a:blip r:embed="rId4"/>
          <a:stretch>
            <a:fillRect/>
          </a:stretch>
        </p:blipFill>
        <p:spPr>
          <a:xfrm>
            <a:off x="1957201" y="0"/>
            <a:ext cx="5263493" cy="6858000"/>
          </a:xfrm>
        </p:spPr>
      </p:pic>
      <p:pic>
        <p:nvPicPr>
          <p:cNvPr id="7" name="Picture 6">
            <a:extLst>
              <a:ext uri="{FF2B5EF4-FFF2-40B4-BE49-F238E27FC236}">
                <a16:creationId xmlns:a16="http://schemas.microsoft.com/office/drawing/2014/main" id="{1873DDE4-287F-CD3C-F947-5104CC6E14C5}"/>
              </a:ext>
            </a:extLst>
          </p:cNvPr>
          <p:cNvPicPr>
            <a:picLocks noChangeAspect="1"/>
          </p:cNvPicPr>
          <p:nvPr/>
        </p:nvPicPr>
        <p:blipFill>
          <a:blip r:embed="rId5"/>
          <a:stretch>
            <a:fillRect/>
          </a:stretch>
        </p:blipFill>
        <p:spPr>
          <a:xfrm>
            <a:off x="-856508" y="0"/>
            <a:ext cx="4114800" cy="6858000"/>
          </a:xfrm>
          <a:prstGeom prst="rect">
            <a:avLst/>
          </a:prstGeom>
        </p:spPr>
      </p:pic>
    </p:spTree>
    <p:extLst>
      <p:ext uri="{BB962C8B-B14F-4D97-AF65-F5344CB8AC3E}">
        <p14:creationId xmlns:p14="http://schemas.microsoft.com/office/powerpoint/2010/main" val="748695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37627-F158-47C0-A509-91BCC0B9DE90}"/>
              </a:ext>
            </a:extLst>
          </p:cNvPr>
          <p:cNvSpPr>
            <a:spLocks noGrp="1"/>
          </p:cNvSpPr>
          <p:nvPr>
            <p:ph type="title"/>
          </p:nvPr>
        </p:nvSpPr>
        <p:spPr>
          <a:xfrm>
            <a:off x="1830925" y="624110"/>
            <a:ext cx="8911687" cy="1280890"/>
          </a:xfrm>
        </p:spPr>
        <p:txBody>
          <a:bodyPr/>
          <a:lstStyle/>
          <a:p>
            <a:r>
              <a:rPr lang="en-US" dirty="0">
                <a:latin typeface="Arial Black" panose="020B0A04020102020204" pitchFamily="34" charset="0"/>
                <a:cs typeface="Arial" panose="020B0604020202020204" pitchFamily="34" charset="0"/>
              </a:rPr>
              <a:t>HIGH ALTITUDE</a:t>
            </a:r>
          </a:p>
        </p:txBody>
      </p:sp>
      <p:sp>
        <p:nvSpPr>
          <p:cNvPr id="3" name="Content Placeholder 2">
            <a:extLst>
              <a:ext uri="{FF2B5EF4-FFF2-40B4-BE49-F238E27FC236}">
                <a16:creationId xmlns:a16="http://schemas.microsoft.com/office/drawing/2014/main" id="{D08405C7-33EC-42F9-BE18-C65F20885A32}"/>
              </a:ext>
            </a:extLst>
          </p:cNvPr>
          <p:cNvSpPr>
            <a:spLocks noGrp="1"/>
          </p:cNvSpPr>
          <p:nvPr>
            <p:ph idx="1"/>
          </p:nvPr>
        </p:nvSpPr>
        <p:spPr>
          <a:xfrm>
            <a:off x="1827212" y="1717964"/>
            <a:ext cx="8915400" cy="4515926"/>
          </a:xfrm>
        </p:spPr>
        <p:txBody>
          <a:bodyPr>
            <a:normAutofit/>
          </a:bodyPr>
          <a:lstStyle/>
          <a:p>
            <a:r>
              <a:rPr lang="en-US" sz="2800" dirty="0">
                <a:latin typeface="Arial" panose="020B0604020202020204" pitchFamily="34" charset="0"/>
                <a:cs typeface="Arial" panose="020B0604020202020204" pitchFamily="34" charset="0"/>
              </a:rPr>
              <a:t>High Altitude refers to regions on the Earth’s surface or in the atmosphere that are high above mean sea level.</a:t>
            </a:r>
          </a:p>
          <a:p>
            <a:pPr marL="0" indent="0">
              <a:buNone/>
            </a:pPr>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 High altitude is sometimes defined to begin at 2400 meters (8000 ft) above sea level. </a:t>
            </a:r>
          </a:p>
          <a:p>
            <a:pPr marL="0" indent="0">
              <a:buNone/>
            </a:pPr>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These areas are characterized by low atmospheric pressure, low moisture and high wind speeds.</a:t>
            </a:r>
          </a:p>
          <a:p>
            <a:pPr marL="0" indent="0">
              <a:buNone/>
            </a:pPr>
            <a:endParaRPr lang="en-US" sz="2000" dirty="0"/>
          </a:p>
        </p:txBody>
      </p:sp>
    </p:spTree>
    <p:extLst>
      <p:ext uri="{BB962C8B-B14F-4D97-AF65-F5344CB8AC3E}">
        <p14:creationId xmlns:p14="http://schemas.microsoft.com/office/powerpoint/2010/main" val="3412892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052A8-4A40-45A7-BD36-429A96BFAA58}"/>
              </a:ext>
            </a:extLst>
          </p:cNvPr>
          <p:cNvSpPr>
            <a:spLocks noGrp="1"/>
          </p:cNvSpPr>
          <p:nvPr>
            <p:ph type="title"/>
          </p:nvPr>
        </p:nvSpPr>
        <p:spPr>
          <a:xfrm>
            <a:off x="1834120" y="693383"/>
            <a:ext cx="8911687" cy="1280890"/>
          </a:xfrm>
        </p:spPr>
        <p:txBody>
          <a:bodyPr/>
          <a:lstStyle/>
          <a:p>
            <a:r>
              <a:rPr lang="en-US" dirty="0">
                <a:latin typeface="Arial Black" panose="020B0A04020102020204" pitchFamily="34" charset="0"/>
                <a:cs typeface="Arial" panose="020B0604020202020204" pitchFamily="34" charset="0"/>
              </a:rPr>
              <a:t>LOW ALTITUDE</a:t>
            </a:r>
          </a:p>
        </p:txBody>
      </p:sp>
      <p:sp>
        <p:nvSpPr>
          <p:cNvPr id="3" name="Content Placeholder 2">
            <a:extLst>
              <a:ext uri="{FF2B5EF4-FFF2-40B4-BE49-F238E27FC236}">
                <a16:creationId xmlns:a16="http://schemas.microsoft.com/office/drawing/2014/main" id="{B432BA22-FB1A-4C20-8C69-3584F2BF29BE}"/>
              </a:ext>
            </a:extLst>
          </p:cNvPr>
          <p:cNvSpPr>
            <a:spLocks noGrp="1"/>
          </p:cNvSpPr>
          <p:nvPr>
            <p:ph idx="1"/>
          </p:nvPr>
        </p:nvSpPr>
        <p:spPr>
          <a:xfrm>
            <a:off x="1834120" y="1738745"/>
            <a:ext cx="8915400" cy="4675909"/>
          </a:xfrm>
        </p:spPr>
        <p:txBody>
          <a:bodyPr>
            <a:normAutofit/>
          </a:bodyPr>
          <a:lstStyle/>
          <a:p>
            <a:r>
              <a:rPr lang="en-US" sz="2800" dirty="0">
                <a:latin typeface="Arial" panose="020B0604020202020204" pitchFamily="34" charset="0"/>
                <a:cs typeface="Arial" panose="020B0604020202020204" pitchFamily="34" charset="0"/>
              </a:rPr>
              <a:t>Low Altitude refers to refers  to any elevation equal to or less than 1,219 meters (4,000 feet).</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The lowest land area is the shoreline of  the Dead Sea Depression in Israel, Jordan and Syria.</a:t>
            </a:r>
          </a:p>
          <a:p>
            <a:pPr marL="0" indent="0">
              <a:buNone/>
            </a:pPr>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These areas are characterized by high atmospheric pressure, high oxygen concentration, increased humidity, etc.</a:t>
            </a:r>
          </a:p>
          <a:p>
            <a:pPr marL="0" indent="0">
              <a:buNone/>
            </a:pPr>
            <a:endParaRPr lang="en-US" sz="2800" dirty="0">
              <a:latin typeface="Arial" panose="020B0604020202020204" pitchFamily="34" charset="0"/>
              <a:cs typeface="Arial" panose="020B0604020202020204" pitchFamily="34" charset="0"/>
            </a:endParaRPr>
          </a:p>
          <a:p>
            <a:pPr marL="0" indent="0">
              <a:buNone/>
            </a:pPr>
            <a:endParaRPr lang="en-US" sz="2800" dirty="0">
              <a:latin typeface="Arial" panose="020B0604020202020204" pitchFamily="34" charset="0"/>
              <a:cs typeface="Arial" panose="020B0604020202020204" pitchFamily="34" charset="0"/>
            </a:endParaRPr>
          </a:p>
          <a:p>
            <a:endParaRPr lang="en-US" sz="2000" dirty="0"/>
          </a:p>
        </p:txBody>
      </p:sp>
    </p:spTree>
    <p:extLst>
      <p:ext uri="{BB962C8B-B14F-4D97-AF65-F5344CB8AC3E}">
        <p14:creationId xmlns:p14="http://schemas.microsoft.com/office/powerpoint/2010/main" val="3588691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6B4E22-51C3-4370-972B-B1B3212A504D}"/>
              </a:ext>
            </a:extLst>
          </p:cNvPr>
          <p:cNvSpPr>
            <a:spLocks noGrp="1"/>
          </p:cNvSpPr>
          <p:nvPr>
            <p:ph idx="1"/>
          </p:nvPr>
        </p:nvSpPr>
        <p:spPr>
          <a:xfrm>
            <a:off x="1828800" y="1967346"/>
            <a:ext cx="9675812" cy="4322618"/>
          </a:xfrm>
        </p:spPr>
        <p:txBody>
          <a:bodyPr>
            <a:noAutofit/>
          </a:bodyPr>
          <a:lstStyle/>
          <a:p>
            <a:r>
              <a:rPr lang="en-US" sz="2800" dirty="0">
                <a:latin typeface="Arial" panose="020B0604020202020204" pitchFamily="34" charset="0"/>
                <a:cs typeface="Arial" panose="020B0604020202020204" pitchFamily="34" charset="0"/>
              </a:rPr>
              <a:t>At high altitudes, oxygen molecules are further apart because there is less pressure to “push” them together. This effectively means fewer oxygen molecules in the same air volume as we inhale. In scientific studies, this is often referred to as “hypoxia”.</a:t>
            </a:r>
          </a:p>
          <a:p>
            <a:pPr marL="0" indent="0">
              <a:buNone/>
            </a:pPr>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However, the human body has both short-term and long-term adaptations to altitude that allows it to partially compensate for the lack of oxygen.</a:t>
            </a:r>
            <a:endParaRPr lang="en-GB" sz="2800" dirty="0">
              <a:latin typeface="Arial" panose="020B0604020202020204" pitchFamily="34" charset="0"/>
              <a:cs typeface="Arial" panose="020B0604020202020204" pitchFamily="34" charset="0"/>
            </a:endParaRPr>
          </a:p>
          <a:p>
            <a:endParaRPr lang="en-US" sz="2800" dirty="0"/>
          </a:p>
        </p:txBody>
      </p:sp>
      <p:sp>
        <p:nvSpPr>
          <p:cNvPr id="4" name="Title 1">
            <a:extLst>
              <a:ext uri="{FF2B5EF4-FFF2-40B4-BE49-F238E27FC236}">
                <a16:creationId xmlns:a16="http://schemas.microsoft.com/office/drawing/2014/main" id="{98A58F73-AA07-434F-B38C-3707A0CF2AAF}"/>
              </a:ext>
            </a:extLst>
          </p:cNvPr>
          <p:cNvSpPr txBox="1">
            <a:spLocks/>
          </p:cNvSpPr>
          <p:nvPr/>
        </p:nvSpPr>
        <p:spPr>
          <a:xfrm>
            <a:off x="1828801" y="447137"/>
            <a:ext cx="9675812"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rgbClr val="333333"/>
                </a:solidFill>
                <a:latin typeface="Arial Black" panose="020B0A04020102020204" pitchFamily="34" charset="0"/>
              </a:rPr>
              <a:t>How does the change in altitude affect the body?</a:t>
            </a:r>
            <a:endParaRPr lang="en-US" dirty="0">
              <a:latin typeface="Arial Black" panose="020B0A04020102020204" pitchFamily="34" charset="0"/>
            </a:endParaRPr>
          </a:p>
        </p:txBody>
      </p:sp>
    </p:spTree>
    <p:extLst>
      <p:ext uri="{BB962C8B-B14F-4D97-AF65-F5344CB8AC3E}">
        <p14:creationId xmlns:p14="http://schemas.microsoft.com/office/powerpoint/2010/main" val="2849312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D7F9B-8D8A-3A13-8B68-138EB099162F}"/>
              </a:ext>
            </a:extLst>
          </p:cNvPr>
          <p:cNvSpPr>
            <a:spLocks noGrp="1"/>
          </p:cNvSpPr>
          <p:nvPr>
            <p:ph type="title"/>
          </p:nvPr>
        </p:nvSpPr>
        <p:spPr>
          <a:xfrm>
            <a:off x="1858634" y="554837"/>
            <a:ext cx="8911687" cy="1280890"/>
          </a:xfrm>
        </p:spPr>
        <p:txBody>
          <a:bodyPr>
            <a:normAutofit fontScale="90000"/>
          </a:bodyPr>
          <a:lstStyle/>
          <a:p>
            <a:r>
              <a:rPr lang="en-US" b="1" i="0" dirty="0">
                <a:solidFill>
                  <a:srgbClr val="333333"/>
                </a:solidFill>
                <a:effectLst/>
                <a:latin typeface="Arial Black" panose="020B0A04020102020204" pitchFamily="34" charset="0"/>
              </a:rPr>
              <a:t>How does the change in altitude affect the body?</a:t>
            </a:r>
            <a:br>
              <a:rPr lang="en-US" b="1" i="0" dirty="0">
                <a:solidFill>
                  <a:srgbClr val="333333"/>
                </a:solidFill>
                <a:effectLst/>
                <a:latin typeface="Arial Black" panose="020B0A04020102020204" pitchFamily="34" charset="0"/>
              </a:rPr>
            </a:br>
            <a:endParaRPr lang="en-GB" dirty="0">
              <a:latin typeface="Arial Black" panose="020B0A04020102020204" pitchFamily="34" charset="0"/>
            </a:endParaRPr>
          </a:p>
        </p:txBody>
      </p:sp>
      <p:sp>
        <p:nvSpPr>
          <p:cNvPr id="3" name="Content Placeholder 2">
            <a:extLst>
              <a:ext uri="{FF2B5EF4-FFF2-40B4-BE49-F238E27FC236}">
                <a16:creationId xmlns:a16="http://schemas.microsoft.com/office/drawing/2014/main" id="{877066FE-D2C4-5D90-0451-D6F156C9CCC2}"/>
              </a:ext>
            </a:extLst>
          </p:cNvPr>
          <p:cNvSpPr>
            <a:spLocks noGrp="1"/>
          </p:cNvSpPr>
          <p:nvPr>
            <p:ph idx="1"/>
          </p:nvPr>
        </p:nvSpPr>
        <p:spPr>
          <a:xfrm>
            <a:off x="1638299" y="2036617"/>
            <a:ext cx="10553701" cy="5054295"/>
          </a:xfrm>
        </p:spPr>
        <p:txBody>
          <a:bodyPr>
            <a:noAutofit/>
          </a:bodyPr>
          <a:lstStyle/>
          <a:p>
            <a:pPr marL="0" indent="0">
              <a:buNone/>
            </a:pPr>
            <a:r>
              <a:rPr lang="en-US" sz="3200" b="0" i="0" dirty="0">
                <a:solidFill>
                  <a:schemeClr val="tx1"/>
                </a:solidFill>
                <a:effectLst/>
                <a:latin typeface="Arial" panose="020B0604020202020204" pitchFamily="34" charset="0"/>
                <a:cs typeface="Arial" panose="020B0604020202020204" pitchFamily="34" charset="0"/>
              </a:rPr>
              <a:t>The </a:t>
            </a:r>
            <a:r>
              <a:rPr lang="en-US" sz="3200" b="1" i="0" dirty="0">
                <a:solidFill>
                  <a:schemeClr val="tx1"/>
                </a:solidFill>
                <a:effectLst/>
                <a:latin typeface="Arial" panose="020B0604020202020204" pitchFamily="34" charset="0"/>
                <a:cs typeface="Arial" panose="020B0604020202020204" pitchFamily="34" charset="0"/>
              </a:rPr>
              <a:t>lungs</a:t>
            </a:r>
            <a:r>
              <a:rPr lang="en-US" sz="3200" b="0" i="0" dirty="0">
                <a:solidFill>
                  <a:schemeClr val="tx1"/>
                </a:solidFill>
                <a:effectLst/>
                <a:latin typeface="Arial" panose="020B0604020202020204" pitchFamily="34" charset="0"/>
                <a:cs typeface="Arial" panose="020B0604020202020204" pitchFamily="34" charset="0"/>
              </a:rPr>
              <a:t> play a crucial role as it acts as an interface between the environment and the functions of the body by supplying oxygen. The body automatically takes compensatory measures( the process of acclimatization) to overcome the thin air. </a:t>
            </a:r>
          </a:p>
          <a:p>
            <a:pPr marL="0" indent="0">
              <a:buNone/>
            </a:pPr>
            <a:r>
              <a:rPr lang="en-US" sz="3200" b="0" i="0" dirty="0">
                <a:solidFill>
                  <a:schemeClr val="tx1"/>
                </a:solidFill>
                <a:effectLst/>
                <a:latin typeface="Arial" panose="020B0604020202020204" pitchFamily="34" charset="0"/>
                <a:cs typeface="Arial" panose="020B0604020202020204" pitchFamily="34" charset="0"/>
              </a:rPr>
              <a:t>This causes </a:t>
            </a:r>
            <a:r>
              <a:rPr lang="en-US" sz="3200" b="1" i="0" strike="noStrike" dirty="0">
                <a:solidFill>
                  <a:schemeClr val="tx1"/>
                </a:solidFill>
                <a:effectLst/>
                <a:latin typeface="Arial" panose="020B0604020202020204" pitchFamily="34" charset="0"/>
                <a:cs typeface="Arial" panose="020B0604020202020204" pitchFamily="34" charset="0"/>
              </a:rPr>
              <a:t>acute mountain sickness</a:t>
            </a:r>
            <a:r>
              <a:rPr lang="en-US" sz="3200" b="1" i="0" dirty="0">
                <a:solidFill>
                  <a:schemeClr val="tx1"/>
                </a:solidFill>
                <a:effectLst/>
                <a:latin typeface="Arial" panose="020B0604020202020204" pitchFamily="34" charset="0"/>
                <a:cs typeface="Arial" panose="020B0604020202020204" pitchFamily="34" charset="0"/>
              </a:rPr>
              <a:t> (AMS) </a:t>
            </a:r>
            <a:r>
              <a:rPr lang="en-US" sz="3200" b="0" i="0" dirty="0">
                <a:solidFill>
                  <a:schemeClr val="tx1"/>
                </a:solidFill>
                <a:effectLst/>
                <a:latin typeface="Arial" panose="020B0604020202020204" pitchFamily="34" charset="0"/>
                <a:cs typeface="Arial" panose="020B0604020202020204" pitchFamily="34" charset="0"/>
              </a:rPr>
              <a:t>which is accompanied by headache, gastrointestinal problems, and sleep disturbance.. Fluid starts building up in the lungs. The </a:t>
            </a:r>
            <a:r>
              <a:rPr lang="en-US" sz="3200" b="1" i="0" dirty="0">
                <a:solidFill>
                  <a:schemeClr val="tx1"/>
                </a:solidFill>
                <a:effectLst/>
                <a:latin typeface="Arial" panose="020B0604020202020204" pitchFamily="34" charset="0"/>
                <a:cs typeface="Arial" panose="020B0604020202020204" pitchFamily="34" charset="0"/>
              </a:rPr>
              <a:t>breathing rate also increases</a:t>
            </a:r>
            <a:r>
              <a:rPr lang="en-US" sz="3200" b="0" i="0" dirty="0">
                <a:solidFill>
                  <a:schemeClr val="tx1"/>
                </a:solidFill>
                <a:effectLst/>
                <a:latin typeface="Arial" panose="020B0604020202020204" pitchFamily="34" charset="0"/>
                <a:cs typeface="Arial" panose="020B0604020202020204" pitchFamily="34" charset="0"/>
              </a:rPr>
              <a:t>, even at rest.</a:t>
            </a:r>
            <a:endParaRPr lang="en-GB" sz="3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39269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A0DBC2-0D8C-EC67-6DB8-E31A75BA71FA}"/>
              </a:ext>
            </a:extLst>
          </p:cNvPr>
          <p:cNvSpPr>
            <a:spLocks noGrp="1"/>
          </p:cNvSpPr>
          <p:nvPr>
            <p:ph idx="1"/>
          </p:nvPr>
        </p:nvSpPr>
        <p:spPr>
          <a:xfrm>
            <a:off x="1565563" y="1758872"/>
            <a:ext cx="10459659" cy="4866215"/>
          </a:xfrm>
        </p:spPr>
        <p:txBody>
          <a:bodyPr>
            <a:noAutofit/>
          </a:bodyPr>
          <a:lstStyle/>
          <a:p>
            <a:r>
              <a:rPr lang="en-US" sz="3200" dirty="0">
                <a:solidFill>
                  <a:srgbClr val="333333"/>
                </a:solidFill>
                <a:latin typeface="Arial" panose="020B0604020202020204" pitchFamily="34" charset="0"/>
                <a:cs typeface="Arial" panose="020B0604020202020204" pitchFamily="34" charset="0"/>
              </a:rPr>
              <a:t>The </a:t>
            </a:r>
            <a:r>
              <a:rPr lang="en-US" sz="3200" b="0" i="0" dirty="0">
                <a:solidFill>
                  <a:srgbClr val="333333"/>
                </a:solidFill>
                <a:effectLst/>
                <a:latin typeface="Arial" panose="020B0604020202020204" pitchFamily="34" charset="0"/>
                <a:cs typeface="Arial" panose="020B0604020202020204" pitchFamily="34" charset="0"/>
              </a:rPr>
              <a:t>blood tries to increase the amount of circulated </a:t>
            </a:r>
            <a:r>
              <a:rPr lang="en-US" sz="3200" b="0" i="0" dirty="0" err="1">
                <a:solidFill>
                  <a:srgbClr val="333333"/>
                </a:solidFill>
                <a:effectLst/>
                <a:latin typeface="Arial" panose="020B0604020202020204" pitchFamily="34" charset="0"/>
                <a:cs typeface="Arial" panose="020B0604020202020204" pitchFamily="34" charset="0"/>
              </a:rPr>
              <a:t>haemoglobin</a:t>
            </a:r>
            <a:r>
              <a:rPr lang="en-US" sz="3200" b="0" i="0" dirty="0">
                <a:solidFill>
                  <a:srgbClr val="333333"/>
                </a:solidFill>
                <a:effectLst/>
                <a:latin typeface="Arial" panose="020B0604020202020204" pitchFamily="34" charset="0"/>
                <a:cs typeface="Arial" panose="020B0604020202020204" pitchFamily="34" charset="0"/>
              </a:rPr>
              <a:t>. However, excess </a:t>
            </a:r>
            <a:r>
              <a:rPr lang="en-US" sz="3200" b="0" i="0" dirty="0" err="1">
                <a:solidFill>
                  <a:srgbClr val="333333"/>
                </a:solidFill>
                <a:effectLst/>
                <a:latin typeface="Arial" panose="020B0604020202020204" pitchFamily="34" charset="0"/>
                <a:cs typeface="Arial" panose="020B0604020202020204" pitchFamily="34" charset="0"/>
              </a:rPr>
              <a:t>haemoglobin</a:t>
            </a:r>
            <a:r>
              <a:rPr lang="en-US" sz="3200" b="0" i="0" dirty="0">
                <a:solidFill>
                  <a:srgbClr val="333333"/>
                </a:solidFill>
                <a:effectLst/>
                <a:latin typeface="Arial" panose="020B0604020202020204" pitchFamily="34" charset="0"/>
                <a:cs typeface="Arial" panose="020B0604020202020204" pitchFamily="34" charset="0"/>
              </a:rPr>
              <a:t> in the blood can result in severe clotting.</a:t>
            </a:r>
            <a:endParaRPr lang="en-US" sz="3200" dirty="0">
              <a:solidFill>
                <a:srgbClr val="333333"/>
              </a:solidFill>
              <a:latin typeface="Arial" panose="020B0604020202020204" pitchFamily="34" charset="0"/>
              <a:cs typeface="Arial" panose="020B0604020202020204" pitchFamily="34" charset="0"/>
            </a:endParaRPr>
          </a:p>
          <a:p>
            <a:r>
              <a:rPr lang="en-US" sz="3200" b="0" i="0" dirty="0">
                <a:solidFill>
                  <a:srgbClr val="333333"/>
                </a:solidFill>
                <a:effectLst/>
                <a:latin typeface="Arial" panose="020B0604020202020204" pitchFamily="34" charset="0"/>
                <a:cs typeface="Arial" panose="020B0604020202020204" pitchFamily="34" charset="0"/>
              </a:rPr>
              <a:t>The </a:t>
            </a:r>
            <a:r>
              <a:rPr lang="en-US" sz="3200" b="1" i="0" dirty="0">
                <a:solidFill>
                  <a:srgbClr val="333333"/>
                </a:solidFill>
                <a:effectLst/>
                <a:latin typeface="Arial" panose="020B0604020202020204" pitchFamily="34" charset="0"/>
                <a:cs typeface="Arial" panose="020B0604020202020204" pitchFamily="34" charset="0"/>
              </a:rPr>
              <a:t>first exposure to altitude causes nausea</a:t>
            </a:r>
            <a:r>
              <a:rPr lang="en-US" sz="3200" b="0" i="0" dirty="0">
                <a:solidFill>
                  <a:srgbClr val="333333"/>
                </a:solidFill>
                <a:effectLst/>
                <a:latin typeface="Arial" panose="020B0604020202020204" pitchFamily="34" charset="0"/>
                <a:cs typeface="Arial" panose="020B0604020202020204" pitchFamily="34" charset="0"/>
              </a:rPr>
              <a:t>, vomiting, headache, insomnia, fatigue, and dizziness. The condition gets worse when a person develops High-Altitude Cerebral edema(HACE), </a:t>
            </a:r>
            <a:r>
              <a:rPr lang="en-US" sz="3200" dirty="0">
                <a:solidFill>
                  <a:srgbClr val="333333"/>
                </a:solidFill>
                <a:latin typeface="Arial" panose="020B0604020202020204" pitchFamily="34" charset="0"/>
                <a:cs typeface="Arial" panose="020B0604020202020204" pitchFamily="34" charset="0"/>
              </a:rPr>
              <a:t>The lack of oxygen damages the brain cells.</a:t>
            </a:r>
            <a:endParaRPr lang="en-GB" sz="3200" dirty="0">
              <a:latin typeface="Arial" panose="020B0604020202020204" pitchFamily="34" charset="0"/>
              <a:cs typeface="Arial" panose="020B0604020202020204" pitchFamily="34" charset="0"/>
            </a:endParaRPr>
          </a:p>
        </p:txBody>
      </p:sp>
      <p:sp>
        <p:nvSpPr>
          <p:cNvPr id="4" name="Title 1">
            <a:extLst>
              <a:ext uri="{FF2B5EF4-FFF2-40B4-BE49-F238E27FC236}">
                <a16:creationId xmlns:a16="http://schemas.microsoft.com/office/drawing/2014/main" id="{C55CF741-313F-4246-89CF-D06DBC023EAA}"/>
              </a:ext>
            </a:extLst>
          </p:cNvPr>
          <p:cNvSpPr>
            <a:spLocks noGrp="1"/>
          </p:cNvSpPr>
          <p:nvPr>
            <p:ph type="title"/>
          </p:nvPr>
        </p:nvSpPr>
        <p:spPr>
          <a:xfrm>
            <a:off x="1858634" y="554837"/>
            <a:ext cx="8911687" cy="1280890"/>
          </a:xfrm>
        </p:spPr>
        <p:txBody>
          <a:bodyPr>
            <a:normAutofit fontScale="90000"/>
          </a:bodyPr>
          <a:lstStyle/>
          <a:p>
            <a:r>
              <a:rPr lang="en-US" b="1" i="0" dirty="0">
                <a:solidFill>
                  <a:srgbClr val="333333"/>
                </a:solidFill>
                <a:effectLst/>
                <a:latin typeface="Arial Black" panose="020B0A04020102020204" pitchFamily="34" charset="0"/>
              </a:rPr>
              <a:t>How does the change in altitude affect the body?</a:t>
            </a:r>
            <a:br>
              <a:rPr lang="en-US" b="1" i="0" dirty="0">
                <a:solidFill>
                  <a:srgbClr val="333333"/>
                </a:solidFill>
                <a:effectLst/>
                <a:latin typeface="Arial Black" panose="020B0A04020102020204" pitchFamily="34" charset="0"/>
              </a:rPr>
            </a:br>
            <a:endParaRPr lang="en-GB" dirty="0">
              <a:latin typeface="Arial Black" panose="020B0A04020102020204" pitchFamily="34" charset="0"/>
            </a:endParaRPr>
          </a:p>
        </p:txBody>
      </p:sp>
    </p:spTree>
    <p:extLst>
      <p:ext uri="{BB962C8B-B14F-4D97-AF65-F5344CB8AC3E}">
        <p14:creationId xmlns:p14="http://schemas.microsoft.com/office/powerpoint/2010/main" val="336902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29E96A-3E99-B701-A7EC-261C878C82D9}"/>
              </a:ext>
            </a:extLst>
          </p:cNvPr>
          <p:cNvSpPr>
            <a:spLocks noGrp="1"/>
          </p:cNvSpPr>
          <p:nvPr>
            <p:ph idx="1"/>
          </p:nvPr>
        </p:nvSpPr>
        <p:spPr>
          <a:xfrm>
            <a:off x="931653" y="1835727"/>
            <a:ext cx="11128075" cy="4713421"/>
          </a:xfrm>
        </p:spPr>
        <p:txBody>
          <a:bodyPr>
            <a:noAutofit/>
          </a:bodyPr>
          <a:lstStyle/>
          <a:p>
            <a:r>
              <a:rPr lang="en-US" sz="2900" b="1" i="0" dirty="0">
                <a:solidFill>
                  <a:srgbClr val="333333"/>
                </a:solidFill>
                <a:effectLst/>
                <a:latin typeface="Arial" panose="020B0604020202020204" pitchFamily="34" charset="0"/>
                <a:cs typeface="Arial" panose="020B0604020202020204" pitchFamily="34" charset="0"/>
              </a:rPr>
              <a:t>Kidney diseases progress faster at high altitude</a:t>
            </a:r>
            <a:r>
              <a:rPr lang="en-US" sz="2900" b="0" i="0" dirty="0">
                <a:solidFill>
                  <a:srgbClr val="333333"/>
                </a:solidFill>
                <a:effectLst/>
                <a:latin typeface="Arial" panose="020B0604020202020204" pitchFamily="34" charset="0"/>
                <a:cs typeface="Arial" panose="020B0604020202020204" pitchFamily="34" charset="0"/>
              </a:rPr>
              <a:t> which can lead to renal hypoxia and renal injury. There is an increase in the frequency of urination as the body tries to get rid of excess fluids. But the urine output and sodium excretion depend on the partial pressure.</a:t>
            </a:r>
          </a:p>
          <a:p>
            <a:r>
              <a:rPr lang="en-US" sz="2900" b="1" i="0" dirty="0">
                <a:solidFill>
                  <a:srgbClr val="333333"/>
                </a:solidFill>
                <a:effectLst/>
                <a:latin typeface="Arial" panose="020B0604020202020204" pitchFamily="34" charset="0"/>
                <a:cs typeface="Arial" panose="020B0604020202020204" pitchFamily="34" charset="0"/>
              </a:rPr>
              <a:t>Cardiovascular system gets affected at high altitudes</a:t>
            </a:r>
            <a:r>
              <a:rPr lang="en-US" sz="2900" b="0" i="0" dirty="0">
                <a:solidFill>
                  <a:srgbClr val="333333"/>
                </a:solidFill>
                <a:effectLst/>
                <a:latin typeface="Arial" panose="020B0604020202020204" pitchFamily="34" charset="0"/>
                <a:cs typeface="Arial" panose="020B0604020202020204" pitchFamily="34" charset="0"/>
              </a:rPr>
              <a:t> since the level of oxygen in blood decreases. This causes the heart to pump faster, increases adrenaline release and pulmonary artery pressures. Patients suffering from cardiac issues should avoid places of thin air as they are prone to heart attacks.</a:t>
            </a:r>
            <a:endParaRPr lang="en-GB" sz="2900" dirty="0">
              <a:latin typeface="Arial" panose="020B0604020202020204" pitchFamily="34" charset="0"/>
              <a:cs typeface="Arial" panose="020B0604020202020204" pitchFamily="34" charset="0"/>
            </a:endParaRPr>
          </a:p>
        </p:txBody>
      </p:sp>
      <p:sp>
        <p:nvSpPr>
          <p:cNvPr id="4" name="Title 1">
            <a:extLst>
              <a:ext uri="{FF2B5EF4-FFF2-40B4-BE49-F238E27FC236}">
                <a16:creationId xmlns:a16="http://schemas.microsoft.com/office/drawing/2014/main" id="{ABB8BE99-1A7F-4F19-89EB-1FACE110C7ED}"/>
              </a:ext>
            </a:extLst>
          </p:cNvPr>
          <p:cNvSpPr txBox="1">
            <a:spLocks/>
          </p:cNvSpPr>
          <p:nvPr/>
        </p:nvSpPr>
        <p:spPr>
          <a:xfrm>
            <a:off x="1858634" y="554837"/>
            <a:ext cx="8911687" cy="1280890"/>
          </a:xfrm>
          <a:prstGeom prst="rect">
            <a:avLst/>
          </a:prstGeom>
        </p:spPr>
        <p:txBody>
          <a:bodyPr vert="horz" lIns="91440" tIns="45720" rIns="91440" bIns="45720" rtlCol="0" anchor="t">
            <a:normAutofit fontScale="90000" lnSpcReduction="200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a:solidFill>
                  <a:srgbClr val="333333"/>
                </a:solidFill>
                <a:latin typeface="Arial Black" panose="020B0A04020102020204" pitchFamily="34" charset="0"/>
              </a:rPr>
              <a:t>How does the change in altitude affect the body?</a:t>
            </a:r>
            <a:br>
              <a:rPr lang="en-US" b="1">
                <a:solidFill>
                  <a:srgbClr val="333333"/>
                </a:solidFill>
                <a:latin typeface="Arial Black" panose="020B0A04020102020204" pitchFamily="34" charset="0"/>
              </a:rPr>
            </a:br>
            <a:endParaRPr lang="en-GB" dirty="0">
              <a:latin typeface="Arial Black" panose="020B0A04020102020204" pitchFamily="34" charset="0"/>
            </a:endParaRPr>
          </a:p>
        </p:txBody>
      </p:sp>
    </p:spTree>
    <p:extLst>
      <p:ext uri="{BB962C8B-B14F-4D97-AF65-F5344CB8AC3E}">
        <p14:creationId xmlns:p14="http://schemas.microsoft.com/office/powerpoint/2010/main" val="1474659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81F02-29BA-44FD-B331-11A9BBA2A427}"/>
              </a:ext>
            </a:extLst>
          </p:cNvPr>
          <p:cNvSpPr>
            <a:spLocks noGrp="1"/>
          </p:cNvSpPr>
          <p:nvPr>
            <p:ph type="title"/>
          </p:nvPr>
        </p:nvSpPr>
        <p:spPr>
          <a:xfrm>
            <a:off x="1941761" y="652696"/>
            <a:ext cx="9668348" cy="1280890"/>
          </a:xfrm>
        </p:spPr>
        <p:txBody>
          <a:bodyPr>
            <a:normAutofit fontScale="90000"/>
          </a:bodyPr>
          <a:lstStyle/>
          <a:p>
            <a:r>
              <a:rPr lang="en-US" dirty="0">
                <a:latin typeface="Arial Black" panose="020B0A04020102020204" pitchFamily="34" charset="0"/>
                <a:cs typeface="Arial" panose="020B0604020202020204" pitchFamily="34" charset="0"/>
              </a:rPr>
              <a:t>EFFECTS OF HIGH ALTITUDE ON HUMANS</a:t>
            </a:r>
            <a:br>
              <a:rPr lang="en-US" dirty="0">
                <a:latin typeface="Arial Black" panose="020B0A04020102020204" pitchFamily="34" charset="0"/>
              </a:rPr>
            </a:br>
            <a:endParaRPr lang="en-US" dirty="0">
              <a:latin typeface="Arial Black" panose="020B0A04020102020204" pitchFamily="34" charset="0"/>
            </a:endParaRPr>
          </a:p>
        </p:txBody>
      </p:sp>
      <p:sp>
        <p:nvSpPr>
          <p:cNvPr id="3" name="Content Placeholder 2">
            <a:extLst>
              <a:ext uri="{FF2B5EF4-FFF2-40B4-BE49-F238E27FC236}">
                <a16:creationId xmlns:a16="http://schemas.microsoft.com/office/drawing/2014/main" id="{D6CE9780-D9A4-44C8-AC64-8B3EB0841637}"/>
              </a:ext>
            </a:extLst>
          </p:cNvPr>
          <p:cNvSpPr>
            <a:spLocks noGrp="1"/>
          </p:cNvSpPr>
          <p:nvPr>
            <p:ph idx="1"/>
          </p:nvPr>
        </p:nvSpPr>
        <p:spPr>
          <a:xfrm>
            <a:off x="1941761" y="1565564"/>
            <a:ext cx="8915400" cy="4973781"/>
          </a:xfrm>
        </p:spPr>
        <p:txBody>
          <a:bodyPr>
            <a:noAutofit/>
          </a:bodyPr>
          <a:lstStyle/>
          <a:p>
            <a:r>
              <a:rPr lang="en-US" sz="4000" dirty="0">
                <a:latin typeface="Arial" panose="020B0604020202020204" pitchFamily="34" charset="0"/>
                <a:cs typeface="Arial" panose="020B0604020202020204" pitchFamily="34" charset="0"/>
              </a:rPr>
              <a:t>Hypoxemia </a:t>
            </a:r>
          </a:p>
          <a:p>
            <a:r>
              <a:rPr lang="en-US" sz="4000" dirty="0">
                <a:latin typeface="Arial" panose="020B0604020202020204" pitchFamily="34" charset="0"/>
                <a:cs typeface="Arial" panose="020B0604020202020204" pitchFamily="34" charset="0"/>
              </a:rPr>
              <a:t>Increased breathing at high altitudes</a:t>
            </a:r>
          </a:p>
          <a:p>
            <a:r>
              <a:rPr lang="en-US" sz="4000" dirty="0">
                <a:latin typeface="Arial" panose="020B0604020202020204" pitchFamily="34" charset="0"/>
                <a:cs typeface="Arial" panose="020B0604020202020204" pitchFamily="34" charset="0"/>
              </a:rPr>
              <a:t>High production of red blood cells</a:t>
            </a:r>
          </a:p>
          <a:p>
            <a:r>
              <a:rPr lang="en-US" sz="4000" dirty="0">
                <a:latin typeface="Arial" panose="020B0604020202020204" pitchFamily="34" charset="0"/>
                <a:cs typeface="Arial" panose="020B0604020202020204" pitchFamily="34" charset="0"/>
              </a:rPr>
              <a:t>Increase in water loss</a:t>
            </a:r>
          </a:p>
          <a:p>
            <a:r>
              <a:rPr lang="en-US" sz="4000" dirty="0">
                <a:latin typeface="Arial" panose="020B0604020202020204" pitchFamily="34" charset="0"/>
                <a:cs typeface="Arial" panose="020B0604020202020204" pitchFamily="34" charset="0"/>
              </a:rPr>
              <a:t>Loss of appetite</a:t>
            </a:r>
          </a:p>
          <a:p>
            <a:pPr marL="0" indent="0">
              <a:buNone/>
            </a:pPr>
            <a:endParaRPr lang="en-US" sz="4000" dirty="0"/>
          </a:p>
          <a:p>
            <a:pPr marL="0" indent="0">
              <a:buNone/>
            </a:pPr>
            <a:endParaRPr lang="en-US" sz="4000" dirty="0"/>
          </a:p>
        </p:txBody>
      </p:sp>
    </p:spTree>
    <p:extLst>
      <p:ext uri="{BB962C8B-B14F-4D97-AF65-F5344CB8AC3E}">
        <p14:creationId xmlns:p14="http://schemas.microsoft.com/office/powerpoint/2010/main" val="22681520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57AD5-DFCA-41DE-831C-39872627F8E7}"/>
              </a:ext>
            </a:extLst>
          </p:cNvPr>
          <p:cNvSpPr>
            <a:spLocks noGrp="1"/>
          </p:cNvSpPr>
          <p:nvPr>
            <p:ph type="title"/>
          </p:nvPr>
        </p:nvSpPr>
        <p:spPr>
          <a:xfrm>
            <a:off x="1953491" y="707237"/>
            <a:ext cx="9551121" cy="1280890"/>
          </a:xfrm>
        </p:spPr>
        <p:txBody>
          <a:bodyPr>
            <a:normAutofit fontScale="90000"/>
          </a:bodyPr>
          <a:lstStyle/>
          <a:p>
            <a:r>
              <a:rPr lang="en-US" dirty="0">
                <a:latin typeface="Arial Black" panose="020B0A04020102020204" pitchFamily="34" charset="0"/>
                <a:cs typeface="Arial" panose="020B0604020202020204" pitchFamily="34" charset="0"/>
              </a:rPr>
              <a:t>EFFECTS OF LOW ALTITUDE ON HUMANS</a:t>
            </a:r>
            <a:br>
              <a:rPr lang="en-US" dirty="0">
                <a:latin typeface="Arial Black" panose="020B0A04020102020204" pitchFamily="34" charset="0"/>
                <a:cs typeface="Arial" panose="020B0604020202020204" pitchFamily="34" charset="0"/>
              </a:rPr>
            </a:br>
            <a:endParaRPr lang="en-US" dirty="0">
              <a:latin typeface="Arial Black" panose="020B0A040201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AB3F2A4-E223-466F-B432-0C962268F20F}"/>
              </a:ext>
            </a:extLst>
          </p:cNvPr>
          <p:cNvSpPr>
            <a:spLocks noGrp="1"/>
          </p:cNvSpPr>
          <p:nvPr>
            <p:ph idx="1"/>
          </p:nvPr>
        </p:nvSpPr>
        <p:spPr>
          <a:xfrm>
            <a:off x="1953491" y="1745673"/>
            <a:ext cx="8915400" cy="4530436"/>
          </a:xfrm>
        </p:spPr>
        <p:txBody>
          <a:bodyPr>
            <a:normAutofit/>
          </a:bodyPr>
          <a:lstStyle/>
          <a:p>
            <a:r>
              <a:rPr lang="en-US" sz="4800" dirty="0">
                <a:latin typeface="Arial" panose="020B0604020202020204" pitchFamily="34" charset="0"/>
                <a:cs typeface="Arial" panose="020B0604020202020204" pitchFamily="34" charset="0"/>
              </a:rPr>
              <a:t>Less breathe intake</a:t>
            </a:r>
          </a:p>
          <a:p>
            <a:r>
              <a:rPr lang="en-US" sz="4800" dirty="0">
                <a:latin typeface="Arial" panose="020B0604020202020204" pitchFamily="34" charset="0"/>
                <a:cs typeface="Arial" panose="020B0604020202020204" pitchFamily="34" charset="0"/>
              </a:rPr>
              <a:t>Increased hydration</a:t>
            </a:r>
          </a:p>
          <a:p>
            <a:r>
              <a:rPr lang="en-US" sz="4800" dirty="0">
                <a:latin typeface="Arial" panose="020B0604020202020204" pitchFamily="34" charset="0"/>
                <a:cs typeface="Arial" panose="020B0604020202020204" pitchFamily="34" charset="0"/>
              </a:rPr>
              <a:t>Decreased metabolism</a:t>
            </a:r>
          </a:p>
          <a:p>
            <a:r>
              <a:rPr lang="en-US" sz="4800" dirty="0">
                <a:latin typeface="Arial" panose="020B0604020202020204" pitchFamily="34" charset="0"/>
                <a:cs typeface="Arial" panose="020B0604020202020204" pitchFamily="34" charset="0"/>
              </a:rPr>
              <a:t>Increased perspiration</a:t>
            </a:r>
          </a:p>
          <a:p>
            <a:endParaRPr lang="en-US" sz="4800" dirty="0">
              <a:latin typeface="Arial" panose="020B0604020202020204" pitchFamily="34" charset="0"/>
              <a:cs typeface="Arial" panose="020B0604020202020204" pitchFamily="34" charset="0"/>
            </a:endParaRPr>
          </a:p>
          <a:p>
            <a:endParaRPr lang="en-US" sz="4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014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43222-02B2-413B-B5F3-6688474A9395}"/>
              </a:ext>
            </a:extLst>
          </p:cNvPr>
          <p:cNvSpPr>
            <a:spLocks noGrp="1"/>
          </p:cNvSpPr>
          <p:nvPr>
            <p:ph type="title"/>
          </p:nvPr>
        </p:nvSpPr>
        <p:spPr>
          <a:xfrm>
            <a:off x="1782042" y="675868"/>
            <a:ext cx="8911687" cy="1280890"/>
          </a:xfrm>
        </p:spPr>
        <p:txBody>
          <a:bodyPr/>
          <a:lstStyle/>
          <a:p>
            <a:r>
              <a:rPr lang="en-US" dirty="0">
                <a:latin typeface="Arial Black" panose="020B0A04020102020204" pitchFamily="34" charset="0"/>
              </a:rPr>
              <a:t>CONCLUSION</a:t>
            </a:r>
          </a:p>
        </p:txBody>
      </p:sp>
      <p:sp>
        <p:nvSpPr>
          <p:cNvPr id="3" name="Content Placeholder 2">
            <a:extLst>
              <a:ext uri="{FF2B5EF4-FFF2-40B4-BE49-F238E27FC236}">
                <a16:creationId xmlns:a16="http://schemas.microsoft.com/office/drawing/2014/main" id="{6077F763-F178-479C-93C0-1D6D81ACDFE0}"/>
              </a:ext>
            </a:extLst>
          </p:cNvPr>
          <p:cNvSpPr>
            <a:spLocks noGrp="1"/>
          </p:cNvSpPr>
          <p:nvPr>
            <p:ph idx="1"/>
          </p:nvPr>
        </p:nvSpPr>
        <p:spPr>
          <a:xfrm>
            <a:off x="1638300" y="2081841"/>
            <a:ext cx="8915400" cy="3777622"/>
          </a:xfrm>
        </p:spPr>
        <p:txBody>
          <a:bodyPr>
            <a:normAutofit/>
          </a:bodyPr>
          <a:lstStyle/>
          <a:p>
            <a:r>
              <a:rPr lang="en-US" sz="3200" dirty="0">
                <a:latin typeface="Arial" panose="020B0604020202020204" pitchFamily="34" charset="0"/>
                <a:cs typeface="Arial" panose="020B0604020202020204" pitchFamily="34" charset="0"/>
              </a:rPr>
              <a:t>The effects of altitude on humans has considerably caused the human body to learn to adapt and compensate when necessary for its survival.</a:t>
            </a:r>
          </a:p>
        </p:txBody>
      </p:sp>
    </p:spTree>
    <p:extLst>
      <p:ext uri="{BB962C8B-B14F-4D97-AF65-F5344CB8AC3E}">
        <p14:creationId xmlns:p14="http://schemas.microsoft.com/office/powerpoint/2010/main" val="1198636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B2BC8-CD77-69CA-37E8-E8BAF9F2756A}"/>
              </a:ext>
            </a:extLst>
          </p:cNvPr>
          <p:cNvSpPr>
            <a:spLocks noGrp="1"/>
          </p:cNvSpPr>
          <p:nvPr>
            <p:ph type="title"/>
          </p:nvPr>
        </p:nvSpPr>
        <p:spPr/>
        <p:txBody>
          <a:bodyPr/>
          <a:lstStyle/>
          <a:p>
            <a:r>
              <a:rPr lang="en-US" dirty="0"/>
              <a:t>Thank you</a:t>
            </a:r>
            <a:endParaRPr lang="en-GB" dirty="0"/>
          </a:p>
        </p:txBody>
      </p:sp>
      <p:sp>
        <p:nvSpPr>
          <p:cNvPr id="3" name="Content Placeholder 2">
            <a:extLst>
              <a:ext uri="{FF2B5EF4-FFF2-40B4-BE49-F238E27FC236}">
                <a16:creationId xmlns:a16="http://schemas.microsoft.com/office/drawing/2014/main" id="{1ADD0C78-9FA9-B04C-52E9-F80A4A42A997}"/>
              </a:ext>
            </a:extLst>
          </p:cNvPr>
          <p:cNvSpPr>
            <a:spLocks noGrp="1"/>
          </p:cNvSpPr>
          <p:nvPr>
            <p:ph idx="1"/>
          </p:nvPr>
        </p:nvSpPr>
        <p:spPr/>
        <p:txBody>
          <a:bodyPr/>
          <a:lstStyle/>
          <a:p>
            <a:r>
              <a:rPr lang="en-US"/>
              <a:t>QUESTIONS</a:t>
            </a:r>
            <a:endParaRPr lang="en-GB"/>
          </a:p>
        </p:txBody>
      </p:sp>
    </p:spTree>
    <p:extLst>
      <p:ext uri="{BB962C8B-B14F-4D97-AF65-F5344CB8AC3E}">
        <p14:creationId xmlns:p14="http://schemas.microsoft.com/office/powerpoint/2010/main" val="270752569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491</TotalTime>
  <Words>672</Words>
  <Application>Microsoft Office PowerPoint</Application>
  <PresentationFormat>Widescreen</PresentationFormat>
  <Paragraphs>69</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Arial Black</vt:lpstr>
      <vt:lpstr>Century Gothic</vt:lpstr>
      <vt:lpstr>Wingdings 3</vt:lpstr>
      <vt:lpstr>Wisp</vt:lpstr>
      <vt:lpstr>EFFECTS OF ALTITUDE ON HUMANS</vt:lpstr>
      <vt:lpstr>GROUP MEMBERS  </vt:lpstr>
      <vt:lpstr>OUTLINE</vt:lpstr>
      <vt:lpstr>Introduction </vt:lpstr>
      <vt:lpstr>PowerPoint Presentation</vt:lpstr>
      <vt:lpstr>HIGH ALTITUDE</vt:lpstr>
      <vt:lpstr>LOW ALTITUDE</vt:lpstr>
      <vt:lpstr>PowerPoint Presentation</vt:lpstr>
      <vt:lpstr>How does the change in altitude affect the body? </vt:lpstr>
      <vt:lpstr>How does the change in altitude affect the body? </vt:lpstr>
      <vt:lpstr>PowerPoint Presentation</vt:lpstr>
      <vt:lpstr>EFFECTS OF HIGH ALTITUDE ON HUMANS </vt:lpstr>
      <vt:lpstr>EFFECTS OF LOW ALTITUDE ON HUMANS </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EFFECTS OF HIGH ALTITUDE ON HUMANS</dc:title>
  <dc:creator>DOREEN</dc:creator>
  <cp:lastModifiedBy>Obadiah Opoku</cp:lastModifiedBy>
  <cp:revision>31</cp:revision>
  <dcterms:created xsi:type="dcterms:W3CDTF">2022-09-01T06:04:48Z</dcterms:created>
  <dcterms:modified xsi:type="dcterms:W3CDTF">2022-09-01T14:22:13Z</dcterms:modified>
</cp:coreProperties>
</file>