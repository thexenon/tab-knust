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1" r:id="rId6"/>
    <p:sldId id="261" r:id="rId7"/>
    <p:sldId id="265" r:id="rId8"/>
    <p:sldId id="272" r:id="rId9"/>
    <p:sldId id="262" r:id="rId10"/>
    <p:sldId id="266" r:id="rId11"/>
    <p:sldId id="263" r:id="rId12"/>
    <p:sldId id="267" r:id="rId13"/>
    <p:sldId id="264" r:id="rId14"/>
    <p:sldId id="268" r:id="rId15"/>
    <p:sldId id="269" r:id="rId16"/>
    <p:sldId id="274" r:id="rId17"/>
    <p:sldId id="27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4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0CAE0-2F69-4DBE-8C62-31D85309700A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A553F-2CD9-4C02-A351-C7CE375AE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6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BA553F-2CD9-4C02-A351-C7CE375AEA1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3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01B3-2F4A-4C5D-8DAE-5160707F7431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F3E6-FF38-46B6-AC9A-FF4A8C2B289D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0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7580A-54C5-4056-9607-9039AEDCF201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0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0DF-3494-4ACF-BD30-CB35CABD3904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1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F03E0-16AC-427E-97A5-ECAB2C6DBCAD}" type="datetime1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9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9FE2-8AC5-485D-A8DF-23F54EBF01B2}" type="datetime1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1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5FCA6-B1D9-4D12-A8B7-02FC5B07CA87}" type="datetime1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7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38CA-ACAB-4FDC-9642-37FD6FC53357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5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F5FE1-F884-4BA1-B60B-745129756052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5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2E64-F39D-4109-B266-1F7AB864CC57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5BE5-64F7-4CBC-8A63-E0DEA63A23C5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6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938C-A34E-4384-98D4-2F78830436DD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8FBD4-3FFB-4A50-987C-B4399D11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4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usgs.gov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sgs.gov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EXTREME AQUATIC ENVIRONMENT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GROUP 30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5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Content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Description of the aquatic environment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Examples of extreme aquatic environments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Features of extreme aquatic environments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Examples of organisms in extreme aquatic environments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1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Description Of Aquatic Environment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Any water based ecosystem.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Water is the most common substance on earth.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71% of the earth’s surface is covered by water (</a:t>
            </a:r>
            <a:r>
              <a:rPr lang="en-US" dirty="0" smtClean="0">
                <a:latin typeface="Comic Sans MS" panose="030F0702030302020204" pitchFamily="66" charset="0"/>
                <a:hlinkClick r:id="rId2"/>
              </a:rPr>
              <a:t>www.usgs.gov</a:t>
            </a:r>
            <a:r>
              <a:rPr lang="en-US" dirty="0" smtClean="0">
                <a:latin typeface="Comic Sans MS" panose="030F0702030302020204" pitchFamily="66" charset="0"/>
              </a:rPr>
              <a:t>).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mic Sans MS" panose="030F0702030302020204" pitchFamily="66" charset="0"/>
              </a:rPr>
              <a:t>Fig.1 Aquatic Ecosystems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 smtClean="0">
              <a:latin typeface="Century Schoolbook" panose="02040604050505020304" pitchFamily="18" charset="0"/>
            </a:endParaRPr>
          </a:p>
          <a:p>
            <a:endParaRPr lang="en-US" dirty="0">
              <a:latin typeface="Century Schoolbook" panose="020406040505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11" y="3603800"/>
            <a:ext cx="10515600" cy="261602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8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289" y="410281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Extreme Aquatic Environments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87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000" dirty="0" smtClean="0">
                <a:latin typeface="Comic Sans MS" panose="030F0702030302020204" pitchFamily="66" charset="0"/>
              </a:rPr>
              <a:t>Fig.2 ocean                                           Fig.3 Wetland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4"/>
            <a:ext cx="4326114" cy="40558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269" y="1825624"/>
            <a:ext cx="4609042" cy="4055887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9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Extreme Aquatic Environments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210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600" dirty="0" smtClean="0">
                <a:latin typeface="Comic Sans MS" panose="030F0702030302020204" pitchFamily="66" charset="0"/>
              </a:rPr>
              <a:t>Fig.4 Estuary                                              Fig.5 Fast-flowing lotic system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5077178" cy="38747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689" y="1690686"/>
            <a:ext cx="5348111" cy="387473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mic Sans MS" panose="030F0702030302020204" pitchFamily="66" charset="0"/>
              </a:rPr>
              <a:t>Extremeties</a:t>
            </a:r>
            <a:r>
              <a:rPr lang="en-US" dirty="0" smtClean="0">
                <a:latin typeface="Comic Sans MS" panose="030F0702030302020204" pitchFamily="66" charset="0"/>
              </a:rPr>
              <a:t> Of The Ocean Environment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Increased salinity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Low transmission of light thereby separating the environment into photic, </a:t>
            </a:r>
            <a:r>
              <a:rPr lang="en-US" dirty="0" err="1" smtClean="0">
                <a:latin typeface="Comic Sans MS" panose="030F0702030302020204" pitchFamily="66" charset="0"/>
              </a:rPr>
              <a:t>disphotic</a:t>
            </a:r>
            <a:r>
              <a:rPr lang="en-US" dirty="0" smtClean="0">
                <a:latin typeface="Comic Sans MS" panose="030F0702030302020204" pitchFamily="66" charset="0"/>
              </a:rPr>
              <a:t> and aphotic zones.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Plants are absent in the aphotic zones.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Animals in the aphotic zones are mostly bioluminescent.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Extremely reduced temperatures in oceanic depths.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Organisms In Ocean Environments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 algn="ctr">
              <a:buNone/>
            </a:pPr>
            <a:r>
              <a:rPr lang="en-US" sz="2200" dirty="0" smtClean="0">
                <a:latin typeface="Comic Sans MS" panose="030F0702030302020204" pitchFamily="66" charset="0"/>
              </a:rPr>
              <a:t>Fig.6 Lantern fish         Fig.7   short nose-green eye fish                       Fig.8 anglerfish</a:t>
            </a:r>
          </a:p>
          <a:p>
            <a:endParaRPr lang="en-US" sz="2200" dirty="0">
              <a:latin typeface="Comic Sans MS" panose="030F0702030302020204" pitchFamily="66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56" y="1825625"/>
            <a:ext cx="3476977" cy="36043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78" y="1825625"/>
            <a:ext cx="3251200" cy="36043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088" y="1825625"/>
            <a:ext cx="3544711" cy="3604331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Organisms In Ocean Environments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0444"/>
            <a:ext cx="10515600" cy="45965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sz="1400" dirty="0" smtClean="0"/>
          </a:p>
          <a:p>
            <a:pPr marL="0" indent="0">
              <a:buNone/>
            </a:pPr>
            <a:endParaRPr lang="en-US" sz="20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mic Sans MS" panose="030F0702030302020204" pitchFamily="66" charset="0"/>
              </a:rPr>
              <a:t>Fig.9 </a:t>
            </a:r>
            <a:r>
              <a:rPr lang="en-US" sz="2400" dirty="0" err="1" smtClean="0">
                <a:latin typeface="Comic Sans MS" panose="030F0702030302020204" pitchFamily="66" charset="0"/>
              </a:rPr>
              <a:t>oceanodromous</a:t>
            </a:r>
            <a:r>
              <a:rPr lang="en-US" sz="2400" dirty="0" smtClean="0">
                <a:latin typeface="Comic Sans MS" panose="030F0702030302020204" pitchFamily="66" charset="0"/>
              </a:rPr>
              <a:t> fishes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3" y="1690688"/>
            <a:ext cx="7763933" cy="396504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81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Estuarine Environment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Fluctuating salinity.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Flora and fauna is composed predominantly of organisms with advanced osmoregulation physiological systems.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Reduced levels of dissolved oxygen.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Presence of pneumatophores in mangrove plants to aid in root oxygenation.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9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Organisms Estuarine Environments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Wedge-like structure of estuaries allow for co-habitation of both </a:t>
            </a:r>
            <a:r>
              <a:rPr lang="en-US" dirty="0" err="1" smtClean="0">
                <a:latin typeface="Comic Sans MS" panose="030F0702030302020204" pitchFamily="66" charset="0"/>
              </a:rPr>
              <a:t>anadromous</a:t>
            </a:r>
            <a:r>
              <a:rPr lang="en-US" dirty="0" smtClean="0">
                <a:latin typeface="Comic Sans MS" panose="030F0702030302020204" pitchFamily="66" charset="0"/>
              </a:rPr>
              <a:t> and </a:t>
            </a:r>
            <a:r>
              <a:rPr lang="en-US" dirty="0" err="1" smtClean="0">
                <a:latin typeface="Comic Sans MS" panose="030F0702030302020204" pitchFamily="66" charset="0"/>
              </a:rPr>
              <a:t>catadromous</a:t>
            </a:r>
            <a:r>
              <a:rPr lang="en-US" dirty="0" smtClean="0">
                <a:latin typeface="Comic Sans MS" panose="030F0702030302020204" pitchFamily="66" charset="0"/>
              </a:rPr>
              <a:t> fishes.</a:t>
            </a: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mic Sans MS" panose="030F0702030302020204" pitchFamily="66" charset="0"/>
              </a:rPr>
              <a:t>Fig.10 </a:t>
            </a:r>
            <a:r>
              <a:rPr lang="en-US" sz="2000" dirty="0" err="1" smtClean="0">
                <a:latin typeface="Comic Sans MS" panose="030F0702030302020204" pitchFamily="66" charset="0"/>
              </a:rPr>
              <a:t>amphidromous</a:t>
            </a:r>
            <a:r>
              <a:rPr lang="en-US" sz="2000" dirty="0" smtClean="0">
                <a:latin typeface="Comic Sans MS" panose="030F0702030302020204" pitchFamily="66" charset="0"/>
              </a:rPr>
              <a:t> fishes                           Fig.11 </a:t>
            </a:r>
            <a:r>
              <a:rPr lang="en-US" sz="2000" i="1" dirty="0" err="1" smtClean="0">
                <a:latin typeface="Comic Sans MS" panose="030F0702030302020204" pitchFamily="66" charset="0"/>
              </a:rPr>
              <a:t>Rhizophora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36" y="2657386"/>
            <a:ext cx="4905375" cy="30999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447" y="2657386"/>
            <a:ext cx="5328353" cy="309994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7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Wetlands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Peat-laden standing waters with a depth of not less than 6 </a:t>
            </a:r>
            <a:r>
              <a:rPr lang="en-US" dirty="0" err="1" smtClean="0">
                <a:latin typeface="Comic Sans MS" panose="030F0702030302020204" pitchFamily="66" charset="0"/>
              </a:rPr>
              <a:t>metres</a:t>
            </a:r>
            <a:r>
              <a:rPr lang="en-US" dirty="0" smtClean="0">
                <a:latin typeface="Comic Sans MS" panose="030F0702030302020204" pitchFamily="66" charset="0"/>
              </a:rPr>
              <a:t> at low tide.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Permanent wetlands may have anoxic and acidophilic soils.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Abundance of low-oxygen loving organisms.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Marine wetlands are composed of coral reefs and </a:t>
            </a:r>
            <a:r>
              <a:rPr lang="en-US" dirty="0" err="1" smtClean="0">
                <a:latin typeface="Comic Sans MS" panose="030F0702030302020204" pitchFamily="66" charset="0"/>
              </a:rPr>
              <a:t>subtidal</a:t>
            </a:r>
            <a:r>
              <a:rPr lang="en-US" dirty="0" smtClean="0">
                <a:latin typeface="Comic Sans MS" panose="030F0702030302020204" pitchFamily="66" charset="0"/>
              </a:rPr>
              <a:t> beds of sea grass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8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Organisms Found In Wetlands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 smtClean="0">
                <a:latin typeface="Comic Sans MS" panose="030F0702030302020204" pitchFamily="66" charset="0"/>
              </a:rPr>
              <a:t>Sphagnum mosses</a:t>
            </a: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600" dirty="0" smtClean="0">
                <a:latin typeface="Comic Sans MS" panose="030F0702030302020204" pitchFamily="66" charset="0"/>
              </a:rPr>
              <a:t>Fig.12 Dugong                                             Fig.13 Marine turtle</a:t>
            </a:r>
            <a:endParaRPr lang="en-US" sz="26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6489"/>
            <a:ext cx="4343400" cy="35108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56" y="2246489"/>
            <a:ext cx="6025444" cy="351084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4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Fast-flowing Lotic Systems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High turbulence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Abundant bottom feeders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Lack of </a:t>
            </a:r>
            <a:r>
              <a:rPr lang="en-US" dirty="0" err="1" smtClean="0">
                <a:latin typeface="Comic Sans MS" panose="030F0702030302020204" pitchFamily="66" charset="0"/>
              </a:rPr>
              <a:t>pleuston</a:t>
            </a:r>
            <a:endParaRPr lang="en-US" dirty="0" smtClean="0">
              <a:latin typeface="Comic Sans MS" panose="030F0702030302020204" pitchFamily="66" charset="0"/>
            </a:endParaRPr>
          </a:p>
          <a:p>
            <a:r>
              <a:rPr lang="en-US" dirty="0" smtClean="0">
                <a:latin typeface="Comic Sans MS" panose="030F0702030302020204" pitchFamily="66" charset="0"/>
              </a:rPr>
              <a:t>Varying dissolved oxygen content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74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Examples Of Organisms In The Fast-flowing Lotic Systems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Bottom-dwelling </a:t>
            </a:r>
            <a:r>
              <a:rPr lang="en-US" dirty="0" err="1" smtClean="0">
                <a:latin typeface="Comic Sans MS" panose="030F0702030302020204" pitchFamily="66" charset="0"/>
              </a:rPr>
              <a:t>potamoplankton</a:t>
            </a:r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 smtClean="0">
              <a:latin typeface="Comic Sans MS" panose="030F0702030302020204" pitchFamily="66" charset="0"/>
            </a:endParaRPr>
          </a:p>
          <a:p>
            <a:endParaRPr lang="en-US" sz="1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mic Sans MS" panose="030F0702030302020204" pitchFamily="66" charset="0"/>
              </a:rPr>
              <a:t>  Fig.14 </a:t>
            </a:r>
            <a:r>
              <a:rPr lang="en-US" sz="2000" dirty="0" err="1" smtClean="0">
                <a:latin typeface="Comic Sans MS" panose="030F0702030302020204" pitchFamily="66" charset="0"/>
              </a:rPr>
              <a:t>Rheophiles</a:t>
            </a:r>
            <a:endParaRPr lang="en-US" sz="2000" dirty="0" smtClean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93" y="2336799"/>
            <a:ext cx="9425340" cy="336409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0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Conclusion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The aquatic environment has massively adapted its biota with enigmatic features through its varying extreme environments.</a:t>
            </a:r>
          </a:p>
          <a:p>
            <a:r>
              <a:rPr lang="en-US" dirty="0" smtClean="0">
                <a:latin typeface="Comic Sans MS" panose="030F0702030302020204" pitchFamily="66" charset="0"/>
              </a:rPr>
              <a:t> Indeed extreme environments facilitate adaptation of improved homeostatic responses to harsh conditions. Thus, increasing the fitness and survival rate of organisms in harsh conditions as well as enriching biodiversity.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2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References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  <a:hlinkClick r:id="rId2"/>
              </a:rPr>
              <a:t>www.usgs.gov</a:t>
            </a:r>
            <a:endParaRPr lang="en-US" dirty="0" smtClean="0">
              <a:latin typeface="Comic Sans MS" panose="030F0702030302020204" pitchFamily="66" charset="0"/>
            </a:endParaRPr>
          </a:p>
          <a:p>
            <a:r>
              <a:rPr lang="en-US" dirty="0" smtClean="0">
                <a:latin typeface="Comic Sans MS" panose="030F0702030302020204" pitchFamily="66" charset="0"/>
              </a:rPr>
              <a:t>Aquatic Ecology notes: F. E. </a:t>
            </a:r>
            <a:r>
              <a:rPr lang="en-US" dirty="0" err="1" smtClean="0">
                <a:latin typeface="Comic Sans MS" panose="030F0702030302020204" pitchFamily="66" charset="0"/>
              </a:rPr>
              <a:t>Awortwi</a:t>
            </a:r>
            <a:r>
              <a:rPr lang="en-US" dirty="0" smtClean="0">
                <a:latin typeface="Comic Sans MS" panose="030F0702030302020204" pitchFamily="66" charset="0"/>
              </a:rPr>
              <a:t>, PhD.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18075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>
                <a:latin typeface="Comic Sans MS" panose="030F0702030302020204" pitchFamily="66" charset="0"/>
              </a:rPr>
              <a:t>THANK YOU</a:t>
            </a:r>
            <a:endParaRPr lang="en-US" sz="88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68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Group Members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Oti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Frimpong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Esther Cindy 9216519</a:t>
            </a:r>
          </a:p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Sarkodie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Evans 9218819</a:t>
            </a:r>
          </a:p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Wiredu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Cudjoe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Maxwell 9220619</a:t>
            </a:r>
          </a:p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Owusu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Ansah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Lordina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9221719</a:t>
            </a:r>
          </a:p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Adzrakor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Gameli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Richard 9196319</a:t>
            </a:r>
          </a:p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Mahama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Abdul-Hakim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Borenyi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9212019</a:t>
            </a:r>
          </a:p>
          <a:p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Adomako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Linford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omic Sans MS" panose="030F0702030302020204" pitchFamily="66" charset="0"/>
                <a:cs typeface="Times New Roman" panose="02020603050405020304" pitchFamily="18" charset="0"/>
              </a:rPr>
              <a:t>Dwamena</a:t>
            </a:r>
            <a:r>
              <a:rPr lang="en-US" dirty="0" smtClean="0">
                <a:latin typeface="Comic Sans MS" panose="030F0702030302020204" pitchFamily="66" charset="0"/>
                <a:cs typeface="Times New Roman" panose="02020603050405020304" pitchFamily="18" charset="0"/>
              </a:rPr>
              <a:t> 9195819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FBD4-3FFB-4A50-987C-B4399D1142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1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417</Words>
  <Application>Microsoft Office PowerPoint</Application>
  <PresentationFormat>Widescreen</PresentationFormat>
  <Paragraphs>160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Century Schoolbook</vt:lpstr>
      <vt:lpstr>Comic Sans MS</vt:lpstr>
      <vt:lpstr>Times New Roman</vt:lpstr>
      <vt:lpstr>Office Theme</vt:lpstr>
      <vt:lpstr>EXTREME AQUATIC ENVIRONMENT</vt:lpstr>
      <vt:lpstr>Content</vt:lpstr>
      <vt:lpstr>Description Of Aquatic Environment</vt:lpstr>
      <vt:lpstr>Examples Of Extreme Aquatic Environments</vt:lpstr>
      <vt:lpstr>Examples Of Extreme Aquatic Environments</vt:lpstr>
      <vt:lpstr>Extremeties Of The Ocean Environment</vt:lpstr>
      <vt:lpstr>Examples Of Organisms In Ocean Environments</vt:lpstr>
      <vt:lpstr>Examples Of Organisms In Ocean Environments</vt:lpstr>
      <vt:lpstr>Estuarine Environment</vt:lpstr>
      <vt:lpstr>Examples Of Organisms Estuarine Environments</vt:lpstr>
      <vt:lpstr>Wetlands</vt:lpstr>
      <vt:lpstr>Examples Of Organisms Found In Wetlands</vt:lpstr>
      <vt:lpstr>Fast-flowing Lotic Systems</vt:lpstr>
      <vt:lpstr>Examples Of Organisms In The Fast-flowing Lotic Systems</vt:lpstr>
      <vt:lpstr>Conclusion</vt:lpstr>
      <vt:lpstr>References</vt:lpstr>
      <vt:lpstr>THANK YOU</vt:lpstr>
      <vt:lpstr>Group Members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AQUATIC ENVIRONMENT</dc:title>
  <dc:creator>Microsoft account</dc:creator>
  <cp:lastModifiedBy>Microsoft account</cp:lastModifiedBy>
  <cp:revision>31</cp:revision>
  <dcterms:created xsi:type="dcterms:W3CDTF">2023-06-15T07:38:06Z</dcterms:created>
  <dcterms:modified xsi:type="dcterms:W3CDTF">2023-06-15T19:46:51Z</dcterms:modified>
</cp:coreProperties>
</file>