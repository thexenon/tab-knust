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2"/>
  </p:notesMasterIdLst>
  <p:sldIdLst>
    <p:sldId id="256" r:id="rId2"/>
    <p:sldId id="257" r:id="rId3"/>
    <p:sldId id="258" r:id="rId4"/>
    <p:sldId id="265" r:id="rId5"/>
    <p:sldId id="259" r:id="rId6"/>
    <p:sldId id="261" r:id="rId7"/>
    <p:sldId id="262" r:id="rId8"/>
    <p:sldId id="260"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720D33-8DBD-49AF-BA86-90CD2469FC9F}" type="datetimeFigureOut">
              <a:rPr lang="en-GB" smtClean="0"/>
              <a:t>01/08/2023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A4AFEB-B69D-423B-811D-74133AAD1807}" type="slidenum">
              <a:rPr lang="en-GB" smtClean="0"/>
              <a:t>‹#›</a:t>
            </a:fld>
            <a:endParaRPr lang="en-GB"/>
          </a:p>
        </p:txBody>
      </p:sp>
    </p:spTree>
    <p:extLst>
      <p:ext uri="{BB962C8B-B14F-4D97-AF65-F5344CB8AC3E}">
        <p14:creationId xmlns:p14="http://schemas.microsoft.com/office/powerpoint/2010/main" val="1261090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25FC8A-EB90-478C-BB01-C10188BA567A}"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4191076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237C91-9759-4661-8115-D73F398BB259}"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1117013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76C1F5-EDAB-4905-9AAD-F472BF41095E}"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260821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EACF8-DFEF-4CAC-A4A4-A09CC9023646}"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4276172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FE25F9-9347-428C-B65E-BEFCF9E909B4}" type="datetime1">
              <a:rPr lang="en-GB" smtClean="0"/>
              <a:t>01/08/2023</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3407047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960CFC-CEE3-4666-BD84-E42C774FD7C2}" type="datetime1">
              <a:rPr lang="en-GB" smtClean="0"/>
              <a:t>01/08/2023</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259659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931986-2820-4A39-BE23-BD400565B7D1}" type="datetime1">
              <a:rPr lang="en-GB" smtClean="0"/>
              <a:t>01/08/2023</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353312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4E4F1D-3B4C-41BB-84F8-9307AA412BC3}"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2192767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CB7979-0112-4D6E-9808-A67C503CC0E6}"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2141899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B026D5-0E62-416D-8ED5-56163B2BEEBA}"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4224956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D95AF8-5C2A-4BFF-9ACF-15297A918DA6}"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4C9198-4BDF-4CC8-8AC4-AB4676630990}"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93281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502D482-17FF-4CBC-98C4-F9B262B51FAD}"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1713217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13A80A-D578-4F08-9DE2-E84487A6859E}"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4C9198-4BDF-4CC8-8AC4-AB4676630990}"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385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F2BCC3-6A8C-4BD3-AABF-33FD024F7B9A}" type="datetime1">
              <a:rPr lang="en-GB" smtClean="0"/>
              <a:t>01/08/2023</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1023099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BD2BE-4645-4A62-95B0-B0D725DB8F1D}"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1005688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2DE5-408B-4F7F-9660-CBBE63F890DD}" type="datetime1">
              <a:rPr lang="en-GB" smtClean="0"/>
              <a:t>01/08/2023</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4C9198-4BDF-4CC8-8AC4-AB4676630990}" type="slidenum">
              <a:rPr lang="en-GB" smtClean="0"/>
              <a:t>‹#›</a:t>
            </a:fld>
            <a:endParaRPr lang="en-GB"/>
          </a:p>
        </p:txBody>
      </p:sp>
    </p:spTree>
    <p:extLst>
      <p:ext uri="{BB962C8B-B14F-4D97-AF65-F5344CB8AC3E}">
        <p14:creationId xmlns:p14="http://schemas.microsoft.com/office/powerpoint/2010/main" val="157490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BBEE659-A6AF-4891-AE41-18252205F16A}" type="datetime1">
              <a:rPr lang="en-GB" smtClean="0"/>
              <a:t>01/08/2023</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E4C9198-4BDF-4CC8-8AC4-AB4676630990}" type="slidenum">
              <a:rPr lang="en-GB" smtClean="0"/>
              <a:t>‹#›</a:t>
            </a:fld>
            <a:endParaRPr lang="en-GB"/>
          </a:p>
        </p:txBody>
      </p:sp>
    </p:spTree>
    <p:extLst>
      <p:ext uri="{BB962C8B-B14F-4D97-AF65-F5344CB8AC3E}">
        <p14:creationId xmlns:p14="http://schemas.microsoft.com/office/powerpoint/2010/main" val="161460277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498D4-2238-A6F9-A85D-EC3876BF09C6}"/>
              </a:ext>
            </a:extLst>
          </p:cNvPr>
          <p:cNvSpPr>
            <a:spLocks noGrp="1"/>
          </p:cNvSpPr>
          <p:nvPr>
            <p:ph type="ctrTitle"/>
          </p:nvPr>
        </p:nvSpPr>
        <p:spPr>
          <a:xfrm>
            <a:off x="2589213" y="2949262"/>
            <a:ext cx="8808590" cy="1403797"/>
          </a:xfrm>
        </p:spPr>
        <p:txBody>
          <a:bodyPr/>
          <a:lstStyle/>
          <a:p>
            <a:r>
              <a:rPr lang="en-US" dirty="0">
                <a:latin typeface="Times New Roman" panose="02020603050405020304" pitchFamily="18" charset="0"/>
                <a:cs typeface="Times New Roman" panose="02020603050405020304" pitchFamily="18" charset="0"/>
              </a:rPr>
              <a:t>BIOLOGICAL RHYTHMS</a:t>
            </a:r>
            <a:endParaRPr lang="en-GB"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DF306DB-9CFF-BC84-C6C3-567C8D81547E}"/>
              </a:ext>
            </a:extLst>
          </p:cNvPr>
          <p:cNvSpPr>
            <a:spLocks noGrp="1"/>
          </p:cNvSpPr>
          <p:nvPr>
            <p:ph type="subTitle" idx="1"/>
          </p:nvPr>
        </p:nvSpPr>
        <p:spPr>
          <a:xfrm>
            <a:off x="2589213" y="4353060"/>
            <a:ext cx="8915399" cy="541606"/>
          </a:xfrm>
        </p:spPr>
        <p:txBody>
          <a:bodyPr/>
          <a:lstStyle/>
          <a:p>
            <a:pPr algn="ctr"/>
            <a:r>
              <a:rPr lang="en-US" dirty="0">
                <a:solidFill>
                  <a:schemeClr val="tx1"/>
                </a:solidFill>
                <a:latin typeface="Times New Roman" panose="02020603050405020304" pitchFamily="18" charset="0"/>
                <a:cs typeface="Times New Roman" panose="02020603050405020304" pitchFamily="18" charset="0"/>
              </a:rPr>
              <a:t>GROUP 23</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29B0E80-ED03-E5B8-2C95-CCB21F4E6FDB}"/>
              </a:ext>
            </a:extLst>
          </p:cNvPr>
          <p:cNvSpPr>
            <a:spLocks noGrp="1"/>
          </p:cNvSpPr>
          <p:nvPr>
            <p:ph type="sldNum" sz="quarter" idx="12"/>
          </p:nvPr>
        </p:nvSpPr>
        <p:spPr/>
        <p:txBody>
          <a:bodyPr/>
          <a:lstStyle/>
          <a:p>
            <a:fld id="{4E4C9198-4BDF-4CC8-8AC4-AB4676630990}" type="slidenum">
              <a:rPr lang="en-GB" smtClean="0"/>
              <a:t>1</a:t>
            </a:fld>
            <a:endParaRPr lang="en-GB"/>
          </a:p>
        </p:txBody>
      </p:sp>
    </p:spTree>
    <p:extLst>
      <p:ext uri="{BB962C8B-B14F-4D97-AF65-F5344CB8AC3E}">
        <p14:creationId xmlns:p14="http://schemas.microsoft.com/office/powerpoint/2010/main" val="4045965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2129-F4C8-40A9-2263-2700DBD4D7D5}"/>
              </a:ext>
            </a:extLst>
          </p:cNvPr>
          <p:cNvSpPr>
            <a:spLocks noGrp="1"/>
          </p:cNvSpPr>
          <p:nvPr>
            <p:ph type="title"/>
          </p:nvPr>
        </p:nvSpPr>
        <p:spPr>
          <a:xfrm>
            <a:off x="2592925" y="787782"/>
            <a:ext cx="8911687" cy="654652"/>
          </a:xfrm>
        </p:spPr>
        <p:txBody>
          <a:bodyPr/>
          <a:lstStyle/>
          <a:p>
            <a:r>
              <a:rPr lang="en-US" u="sng" dirty="0">
                <a:latin typeface="Times New Roman" panose="02020603050405020304" pitchFamily="18" charset="0"/>
                <a:cs typeface="Times New Roman" panose="02020603050405020304" pitchFamily="18" charset="0"/>
              </a:rPr>
              <a:t>OUTLINE</a:t>
            </a:r>
            <a:endParaRPr lang="en-GB"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074B0F-DB4D-A2B0-CEE5-510178DDCEEC}"/>
              </a:ext>
            </a:extLst>
          </p:cNvPr>
          <p:cNvSpPr>
            <a:spLocks noGrp="1"/>
          </p:cNvSpPr>
          <p:nvPr>
            <p:ph idx="1"/>
          </p:nvPr>
        </p:nvSpPr>
        <p:spPr>
          <a:xfrm>
            <a:off x="2009104" y="1687132"/>
            <a:ext cx="9495508" cy="4855335"/>
          </a:xfrm>
        </p:spPr>
        <p:txBody>
          <a:bodyPr>
            <a:normAutofit/>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Definition of Biological rhythms</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How biological rhythms work</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Classification of biological rhythms</a:t>
            </a:r>
          </a:p>
          <a:p>
            <a:pPr>
              <a:lnSpc>
                <a:spcPct val="150000"/>
              </a:lnSpc>
            </a:pPr>
            <a:r>
              <a:rPr lang="en-US" dirty="0">
                <a:latin typeface="Times New Roman" panose="02020603050405020304" pitchFamily="18" charset="0"/>
                <a:cs typeface="Times New Roman" panose="02020603050405020304" pitchFamily="18" charset="0"/>
              </a:rPr>
              <a:t>Factors Influencing Biological Rhythms or Causes</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Effects of biological rhythms </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Importance of biological rhythms in organisms</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Conclusion</a:t>
            </a: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References</a:t>
            </a:r>
          </a:p>
          <a:p>
            <a:endParaRPr lang="en-GB"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6A28388-9E24-A780-D5AF-FA6E7E59CD09}"/>
              </a:ext>
            </a:extLst>
          </p:cNvPr>
          <p:cNvSpPr>
            <a:spLocks noGrp="1"/>
          </p:cNvSpPr>
          <p:nvPr>
            <p:ph type="sldNum" sz="quarter" idx="12"/>
          </p:nvPr>
        </p:nvSpPr>
        <p:spPr/>
        <p:txBody>
          <a:bodyPr/>
          <a:lstStyle/>
          <a:p>
            <a:fld id="{4E4C9198-4BDF-4CC8-8AC4-AB4676630990}" type="slidenum">
              <a:rPr lang="en-GB" smtClean="0"/>
              <a:t>2</a:t>
            </a:fld>
            <a:endParaRPr lang="en-GB"/>
          </a:p>
        </p:txBody>
      </p:sp>
    </p:spTree>
    <p:extLst>
      <p:ext uri="{BB962C8B-B14F-4D97-AF65-F5344CB8AC3E}">
        <p14:creationId xmlns:p14="http://schemas.microsoft.com/office/powerpoint/2010/main" val="2841699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DB126-E4BC-0C6B-543C-B0DF230808FE}"/>
              </a:ext>
            </a:extLst>
          </p:cNvPr>
          <p:cNvSpPr>
            <a:spLocks noGrp="1"/>
          </p:cNvSpPr>
          <p:nvPr>
            <p:ph type="title"/>
          </p:nvPr>
        </p:nvSpPr>
        <p:spPr>
          <a:xfrm>
            <a:off x="2592926" y="787782"/>
            <a:ext cx="8611694" cy="770562"/>
          </a:xfrm>
        </p:spPr>
        <p:txBody>
          <a:bodyPr/>
          <a:lstStyle/>
          <a:p>
            <a:r>
              <a:rPr lang="en-US" u="sng" dirty="0">
                <a:latin typeface="Times New Roman" panose="02020603050405020304" pitchFamily="18" charset="0"/>
                <a:cs typeface="Times New Roman" panose="02020603050405020304" pitchFamily="18" charset="0"/>
              </a:rPr>
              <a:t>WHAT IS BIOLOGICAL RHYTHMS</a:t>
            </a:r>
            <a:endParaRPr lang="en-GB"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C887B3-1E40-C66D-C932-F7CFA813253E}"/>
              </a:ext>
            </a:extLst>
          </p:cNvPr>
          <p:cNvSpPr>
            <a:spLocks noGrp="1"/>
          </p:cNvSpPr>
          <p:nvPr>
            <p:ph idx="1"/>
          </p:nvPr>
        </p:nvSpPr>
        <p:spPr>
          <a:xfrm>
            <a:off x="1661375" y="1687131"/>
            <a:ext cx="9843237" cy="4997003"/>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Biological rhythms are a fundamental aspect of living organisms.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Biological rhythms are regular, recurring patterns of changes in living organisms.</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Biological rhythms are regular, recurring patterns of changes in living organisms.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They are driven by internal biological processes, such as hormonal fluctuations and neural activity, rather than being solely influenced by external factors.</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These rhythms are present in a wide range of biological processes, from our sleep-wake cycles to hormonal secretion and metabolic activities.</a:t>
            </a:r>
            <a:endParaRPr lang="en-GB"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1763C-5D85-C004-85ED-E06235791508}"/>
              </a:ext>
            </a:extLst>
          </p:cNvPr>
          <p:cNvSpPr>
            <a:spLocks noGrp="1"/>
          </p:cNvSpPr>
          <p:nvPr>
            <p:ph type="sldNum" sz="quarter" idx="12"/>
          </p:nvPr>
        </p:nvSpPr>
        <p:spPr/>
        <p:txBody>
          <a:bodyPr/>
          <a:lstStyle/>
          <a:p>
            <a:fld id="{4E4C9198-4BDF-4CC8-8AC4-AB4676630990}" type="slidenum">
              <a:rPr lang="en-GB" smtClean="0"/>
              <a:t>3</a:t>
            </a:fld>
            <a:endParaRPr lang="en-GB"/>
          </a:p>
        </p:txBody>
      </p:sp>
    </p:spTree>
    <p:extLst>
      <p:ext uri="{BB962C8B-B14F-4D97-AF65-F5344CB8AC3E}">
        <p14:creationId xmlns:p14="http://schemas.microsoft.com/office/powerpoint/2010/main" val="1684609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A1250-6A0D-0D5F-6F81-8F9BA56D0227}"/>
              </a:ext>
            </a:extLst>
          </p:cNvPr>
          <p:cNvSpPr>
            <a:spLocks noGrp="1"/>
          </p:cNvSpPr>
          <p:nvPr>
            <p:ph type="title"/>
          </p:nvPr>
        </p:nvSpPr>
        <p:spPr>
          <a:xfrm>
            <a:off x="2592925" y="787782"/>
            <a:ext cx="8911687" cy="925108"/>
          </a:xfrm>
        </p:spPr>
        <p:txBody>
          <a:bodyPr/>
          <a:lstStyle/>
          <a:p>
            <a:r>
              <a:rPr lang="en-GB" u="sng" dirty="0">
                <a:latin typeface="Times New Roman" panose="02020603050405020304" pitchFamily="18" charset="0"/>
                <a:cs typeface="Times New Roman" panose="02020603050405020304" pitchFamily="18" charset="0"/>
              </a:rPr>
              <a:t>HOW BIOLOGICAL RHYTHMS WORK</a:t>
            </a:r>
          </a:p>
        </p:txBody>
      </p:sp>
      <p:sp>
        <p:nvSpPr>
          <p:cNvPr id="3" name="Content Placeholder 2">
            <a:extLst>
              <a:ext uri="{FF2B5EF4-FFF2-40B4-BE49-F238E27FC236}">
                <a16:creationId xmlns:a16="http://schemas.microsoft.com/office/drawing/2014/main" id="{3032263C-1941-4270-BC0D-D4F45763DB13}"/>
              </a:ext>
            </a:extLst>
          </p:cNvPr>
          <p:cNvSpPr>
            <a:spLocks noGrp="1"/>
          </p:cNvSpPr>
          <p:nvPr>
            <p:ph idx="1"/>
          </p:nvPr>
        </p:nvSpPr>
        <p:spPr>
          <a:xfrm>
            <a:off x="1996225" y="1957589"/>
            <a:ext cx="9508387" cy="4468969"/>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The primary regulator of biological rhythms is the suprachiasmatic nucleus (SCN), a tiny cluster of cells in the brain's hypothalamus. </a:t>
            </a:r>
          </a:p>
          <a:p>
            <a:pPr>
              <a:lnSpc>
                <a:spcPct val="150000"/>
              </a:lnSpc>
            </a:pPr>
            <a:r>
              <a:rPr lang="en-US" sz="2000" dirty="0">
                <a:latin typeface="Times New Roman" panose="02020603050405020304" pitchFamily="18" charset="0"/>
                <a:cs typeface="Times New Roman" panose="02020603050405020304" pitchFamily="18" charset="0"/>
              </a:rPr>
              <a:t>The SCN acts as our internal biological clock, which responds to external cues, especially light and darkness. </a:t>
            </a:r>
          </a:p>
          <a:p>
            <a:pPr>
              <a:lnSpc>
                <a:spcPct val="150000"/>
              </a:lnSpc>
            </a:pPr>
            <a:r>
              <a:rPr lang="en-US" sz="2000" dirty="0">
                <a:latin typeface="Times New Roman" panose="02020603050405020304" pitchFamily="18" charset="0"/>
                <a:cs typeface="Times New Roman" panose="02020603050405020304" pitchFamily="18" charset="0"/>
              </a:rPr>
              <a:t>Through a complex network of interactions and feedback loops, the SCN synchronizes the body's circadian rhythms with the external 24-hour day-night cycle, helping us maintain a consistent and coordinated internal schedule</a:t>
            </a:r>
            <a:r>
              <a:rPr lang="en-US" dirty="0"/>
              <a:t>.</a:t>
            </a:r>
          </a:p>
          <a:p>
            <a:endParaRPr lang="en-GB" dirty="0"/>
          </a:p>
        </p:txBody>
      </p:sp>
      <p:sp>
        <p:nvSpPr>
          <p:cNvPr id="4" name="Slide Number Placeholder 3">
            <a:extLst>
              <a:ext uri="{FF2B5EF4-FFF2-40B4-BE49-F238E27FC236}">
                <a16:creationId xmlns:a16="http://schemas.microsoft.com/office/drawing/2014/main" id="{E048BB24-FD23-9C07-132C-E9633517A440}"/>
              </a:ext>
            </a:extLst>
          </p:cNvPr>
          <p:cNvSpPr>
            <a:spLocks noGrp="1"/>
          </p:cNvSpPr>
          <p:nvPr>
            <p:ph type="sldNum" sz="quarter" idx="12"/>
          </p:nvPr>
        </p:nvSpPr>
        <p:spPr/>
        <p:txBody>
          <a:bodyPr/>
          <a:lstStyle/>
          <a:p>
            <a:fld id="{4E4C9198-4BDF-4CC8-8AC4-AB4676630990}" type="slidenum">
              <a:rPr lang="en-GB" smtClean="0"/>
              <a:t>4</a:t>
            </a:fld>
            <a:endParaRPr lang="en-GB"/>
          </a:p>
        </p:txBody>
      </p:sp>
    </p:spTree>
    <p:extLst>
      <p:ext uri="{BB962C8B-B14F-4D97-AF65-F5344CB8AC3E}">
        <p14:creationId xmlns:p14="http://schemas.microsoft.com/office/powerpoint/2010/main" val="1530369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59BF1-13B2-B7B2-AD94-18035A308A4E}"/>
              </a:ext>
            </a:extLst>
          </p:cNvPr>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CLASSICATION OF Biological Rhythms</a:t>
            </a:r>
            <a:endParaRPr lang="en-GB"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FDD31D-9B2F-E015-F052-7A879C578BC2}"/>
              </a:ext>
            </a:extLst>
          </p:cNvPr>
          <p:cNvSpPr>
            <a:spLocks noGrp="1"/>
          </p:cNvSpPr>
          <p:nvPr>
            <p:ph idx="1"/>
          </p:nvPr>
        </p:nvSpPr>
        <p:spPr>
          <a:xfrm>
            <a:off x="1944710" y="1622738"/>
            <a:ext cx="9556189" cy="4984124"/>
          </a:xfrm>
        </p:spPr>
        <p:txBody>
          <a:bodyPr>
            <a:normAutofit/>
          </a:bodyPr>
          <a:lstStyle/>
          <a:p>
            <a:pPr>
              <a:lnSpc>
                <a:spcPct val="150000"/>
              </a:lnSpc>
            </a:pPr>
            <a:r>
              <a:rPr lang="en-GB" sz="2200" dirty="0">
                <a:latin typeface="Times New Roman" panose="02020603050405020304" pitchFamily="18" charset="0"/>
                <a:cs typeface="Times New Roman" panose="02020603050405020304" pitchFamily="18" charset="0"/>
              </a:rPr>
              <a:t>Circadian Rhythms: </a:t>
            </a:r>
            <a:r>
              <a:rPr lang="en-US" sz="2200" dirty="0">
                <a:latin typeface="Times New Roman" panose="02020603050405020304" pitchFamily="18" charset="0"/>
                <a:cs typeface="Times New Roman" panose="02020603050405020304" pitchFamily="18" charset="0"/>
              </a:rPr>
              <a:t>Have a period of approximately 24 hours and regulate our sleep-wake cycles, body temperature, hormone release, and other vital functions throughout the day.</a:t>
            </a:r>
            <a:endParaRPr lang="en-GB" sz="2200" dirty="0">
              <a:latin typeface="Times New Roman" panose="02020603050405020304" pitchFamily="18" charset="0"/>
              <a:cs typeface="Times New Roman" panose="02020603050405020304" pitchFamily="18" charset="0"/>
            </a:endParaRPr>
          </a:p>
          <a:p>
            <a:pPr>
              <a:lnSpc>
                <a:spcPct val="150000"/>
              </a:lnSpc>
            </a:pPr>
            <a:r>
              <a:rPr lang="en-GB" sz="2200" dirty="0">
                <a:latin typeface="Times New Roman" panose="02020603050405020304" pitchFamily="18" charset="0"/>
                <a:cs typeface="Times New Roman" panose="02020603050405020304" pitchFamily="18" charset="0"/>
              </a:rPr>
              <a:t>Ultradian Rhythms: </a:t>
            </a:r>
            <a:r>
              <a:rPr lang="en-US" sz="2200" dirty="0">
                <a:latin typeface="Times New Roman" panose="02020603050405020304" pitchFamily="18" charset="0"/>
                <a:cs typeface="Times New Roman" panose="02020603050405020304" pitchFamily="18" charset="0"/>
              </a:rPr>
              <a:t>Shorter cycles that occur within 24 hours, like the REM and NREM sleep cycles during the night and regular hunger pangs throughout the day.</a:t>
            </a:r>
            <a:endParaRPr lang="en-GB" sz="2200" dirty="0">
              <a:latin typeface="Times New Roman" panose="02020603050405020304" pitchFamily="18" charset="0"/>
              <a:cs typeface="Times New Roman" panose="02020603050405020304" pitchFamily="18" charset="0"/>
            </a:endParaRPr>
          </a:p>
          <a:p>
            <a:pPr>
              <a:lnSpc>
                <a:spcPct val="150000"/>
              </a:lnSpc>
            </a:pPr>
            <a:r>
              <a:rPr lang="en-GB" sz="2200" dirty="0">
                <a:latin typeface="Times New Roman" panose="02020603050405020304" pitchFamily="18" charset="0"/>
                <a:cs typeface="Times New Roman" panose="02020603050405020304" pitchFamily="18" charset="0"/>
              </a:rPr>
              <a:t>Infra-</a:t>
            </a:r>
            <a:r>
              <a:rPr lang="en-GB" sz="2200" dirty="0" err="1">
                <a:latin typeface="Times New Roman" panose="02020603050405020304" pitchFamily="18" charset="0"/>
                <a:cs typeface="Times New Roman" panose="02020603050405020304" pitchFamily="18" charset="0"/>
              </a:rPr>
              <a:t>dian</a:t>
            </a:r>
            <a:r>
              <a:rPr lang="en-GB" sz="2200" dirty="0">
                <a:latin typeface="Times New Roman" panose="02020603050405020304" pitchFamily="18" charset="0"/>
                <a:cs typeface="Times New Roman" panose="02020603050405020304" pitchFamily="18" charset="0"/>
              </a:rPr>
              <a:t> Rhythms: </a:t>
            </a:r>
            <a:r>
              <a:rPr lang="en-US" sz="2200" dirty="0">
                <a:latin typeface="Times New Roman" panose="02020603050405020304" pitchFamily="18" charset="0"/>
                <a:cs typeface="Times New Roman" panose="02020603050405020304" pitchFamily="18" charset="0"/>
              </a:rPr>
              <a:t>Have a period longer than 24 hours, like the monthly menstrual cycle in females or the seasonal migration and mating patterns in animals.</a:t>
            </a:r>
            <a:endParaRPr lang="en-GB" sz="2200"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2333EB7-65A2-DB7F-5B77-009F2A416D83}"/>
              </a:ext>
            </a:extLst>
          </p:cNvPr>
          <p:cNvSpPr>
            <a:spLocks noGrp="1"/>
          </p:cNvSpPr>
          <p:nvPr>
            <p:ph type="sldNum" sz="quarter" idx="12"/>
          </p:nvPr>
        </p:nvSpPr>
        <p:spPr/>
        <p:txBody>
          <a:bodyPr/>
          <a:lstStyle/>
          <a:p>
            <a:fld id="{4E4C9198-4BDF-4CC8-8AC4-AB4676630990}" type="slidenum">
              <a:rPr lang="en-GB" smtClean="0"/>
              <a:t>5</a:t>
            </a:fld>
            <a:endParaRPr lang="en-GB"/>
          </a:p>
        </p:txBody>
      </p:sp>
    </p:spTree>
    <p:extLst>
      <p:ext uri="{BB962C8B-B14F-4D97-AF65-F5344CB8AC3E}">
        <p14:creationId xmlns:p14="http://schemas.microsoft.com/office/powerpoint/2010/main" val="16602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F129B-F034-4F67-ACE5-0F4D2F4BBA6F}"/>
              </a:ext>
            </a:extLst>
          </p:cNvPr>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Factors Influencing Biological Rhythms or Causes</a:t>
            </a:r>
            <a:r>
              <a:rPr lang="en-US"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3F86CD-4FD3-1169-0D27-AA7A243832C7}"/>
              </a:ext>
            </a:extLst>
          </p:cNvPr>
          <p:cNvSpPr>
            <a:spLocks noGrp="1"/>
          </p:cNvSpPr>
          <p:nvPr>
            <p:ph idx="1"/>
          </p:nvPr>
        </p:nvSpPr>
        <p:spPr>
          <a:xfrm>
            <a:off x="1311579" y="1905000"/>
            <a:ext cx="10193033" cy="4804893"/>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External factors significantly influence biological rhythms.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The most prominent external cue is light, which affects the SCN and helps synchronize our internal clock with the natural day-night cycle.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 Social cues.</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Temperature changes.</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Daily routines.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However, disruptions can occur when individuals work night shifts, experience jet lag due to crossing time zones, or maintain irregular sleep patterns, leading to imbalances in their biological rhythms</a:t>
            </a:r>
            <a:r>
              <a:rPr lang="en-US" sz="2000" dirty="0">
                <a:latin typeface="Times New Roman" panose="02020603050405020304" pitchFamily="18" charset="0"/>
                <a:cs typeface="Times New Roman" panose="02020603050405020304" pitchFamily="18" charset="0"/>
              </a:rPr>
              <a:t>.</a:t>
            </a:r>
            <a:endParaRPr lang="en-GB"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4CBB616-A7F5-DBA4-80A9-A6FB4D47A7E0}"/>
              </a:ext>
            </a:extLst>
          </p:cNvPr>
          <p:cNvSpPr>
            <a:spLocks noGrp="1"/>
          </p:cNvSpPr>
          <p:nvPr>
            <p:ph type="sldNum" sz="quarter" idx="12"/>
          </p:nvPr>
        </p:nvSpPr>
        <p:spPr/>
        <p:txBody>
          <a:bodyPr/>
          <a:lstStyle/>
          <a:p>
            <a:fld id="{4E4C9198-4BDF-4CC8-8AC4-AB4676630990}" type="slidenum">
              <a:rPr lang="en-GB" smtClean="0"/>
              <a:t>6</a:t>
            </a:fld>
            <a:endParaRPr lang="en-GB"/>
          </a:p>
        </p:txBody>
      </p:sp>
    </p:spTree>
    <p:extLst>
      <p:ext uri="{BB962C8B-B14F-4D97-AF65-F5344CB8AC3E}">
        <p14:creationId xmlns:p14="http://schemas.microsoft.com/office/powerpoint/2010/main" val="3107384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6634B-686D-7B1F-F154-131A4451CF86}"/>
              </a:ext>
            </a:extLst>
          </p:cNvPr>
          <p:cNvSpPr>
            <a:spLocks noGrp="1"/>
          </p:cNvSpPr>
          <p:nvPr>
            <p:ph type="title"/>
          </p:nvPr>
        </p:nvSpPr>
        <p:spPr>
          <a:xfrm>
            <a:off x="2592925" y="787782"/>
            <a:ext cx="8911687" cy="886472"/>
          </a:xfrm>
        </p:spPr>
        <p:txBody>
          <a:bodyPr/>
          <a:lstStyle/>
          <a:p>
            <a:r>
              <a:rPr lang="en-GB" u="sng" dirty="0">
                <a:latin typeface="Times New Roman" panose="02020603050405020304" pitchFamily="18" charset="0"/>
                <a:cs typeface="Times New Roman" panose="02020603050405020304" pitchFamily="18" charset="0"/>
              </a:rPr>
              <a:t>EFFECTS OF BIOLOGICAL RHYTHMS</a:t>
            </a:r>
          </a:p>
        </p:txBody>
      </p:sp>
      <p:sp>
        <p:nvSpPr>
          <p:cNvPr id="3" name="Content Placeholder 2">
            <a:extLst>
              <a:ext uri="{FF2B5EF4-FFF2-40B4-BE49-F238E27FC236}">
                <a16:creationId xmlns:a16="http://schemas.microsoft.com/office/drawing/2014/main" id="{B62EB03D-3C48-505E-8A86-AB1B7E06B944}"/>
              </a:ext>
            </a:extLst>
          </p:cNvPr>
          <p:cNvSpPr>
            <a:spLocks noGrp="1"/>
          </p:cNvSpPr>
          <p:nvPr>
            <p:ph idx="1"/>
          </p:nvPr>
        </p:nvSpPr>
        <p:spPr>
          <a:xfrm>
            <a:off x="2125014" y="1850264"/>
            <a:ext cx="9250809" cy="4820991"/>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When biological rhythms are well-aligned and functioning correctly, they support overall health and well-being.  </a:t>
            </a:r>
          </a:p>
          <a:p>
            <a:pPr>
              <a:lnSpc>
                <a:spcPct val="150000"/>
              </a:lnSpc>
            </a:pPr>
            <a:r>
              <a:rPr lang="en-US" sz="2400" dirty="0">
                <a:latin typeface="Times New Roman" panose="02020603050405020304" pitchFamily="18" charset="0"/>
                <a:cs typeface="Times New Roman" panose="02020603050405020304" pitchFamily="18" charset="0"/>
              </a:rPr>
              <a:t>Sleep disorders.</a:t>
            </a:r>
          </a:p>
          <a:p>
            <a:pPr>
              <a:lnSpc>
                <a:spcPct val="150000"/>
              </a:lnSpc>
            </a:pPr>
            <a:r>
              <a:rPr lang="en-US" sz="2400" dirty="0">
                <a:latin typeface="Times New Roman" panose="02020603050405020304" pitchFamily="18" charset="0"/>
                <a:cs typeface="Times New Roman" panose="02020603050405020304" pitchFamily="18" charset="0"/>
              </a:rPr>
              <a:t>Mood swings.</a:t>
            </a:r>
          </a:p>
          <a:p>
            <a:pPr>
              <a:lnSpc>
                <a:spcPct val="150000"/>
              </a:lnSpc>
            </a:pPr>
            <a:r>
              <a:rPr lang="en-US" sz="2400" dirty="0">
                <a:latin typeface="Times New Roman" panose="02020603050405020304" pitchFamily="18" charset="0"/>
                <a:cs typeface="Times New Roman" panose="02020603050405020304" pitchFamily="18" charset="0"/>
              </a:rPr>
              <a:t>Impaired cognitive function.</a:t>
            </a:r>
          </a:p>
          <a:p>
            <a:pPr>
              <a:lnSpc>
                <a:spcPct val="150000"/>
              </a:lnSpc>
            </a:pPr>
            <a:r>
              <a:rPr lang="en-US" sz="2400" dirty="0">
                <a:latin typeface="Times New Roman" panose="02020603050405020304" pitchFamily="18" charset="0"/>
                <a:cs typeface="Times New Roman" panose="02020603050405020304" pitchFamily="18" charset="0"/>
              </a:rPr>
              <a:t>Compromised immune responses.</a:t>
            </a:r>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D6E0886-E77E-5D39-483E-ADB79E02D19F}"/>
              </a:ext>
            </a:extLst>
          </p:cNvPr>
          <p:cNvSpPr>
            <a:spLocks noGrp="1"/>
          </p:cNvSpPr>
          <p:nvPr>
            <p:ph type="sldNum" sz="quarter" idx="12"/>
          </p:nvPr>
        </p:nvSpPr>
        <p:spPr/>
        <p:txBody>
          <a:bodyPr/>
          <a:lstStyle/>
          <a:p>
            <a:fld id="{4E4C9198-4BDF-4CC8-8AC4-AB4676630990}" type="slidenum">
              <a:rPr lang="en-GB" smtClean="0"/>
              <a:t>7</a:t>
            </a:fld>
            <a:endParaRPr lang="en-GB"/>
          </a:p>
        </p:txBody>
      </p:sp>
    </p:spTree>
    <p:extLst>
      <p:ext uri="{BB962C8B-B14F-4D97-AF65-F5344CB8AC3E}">
        <p14:creationId xmlns:p14="http://schemas.microsoft.com/office/powerpoint/2010/main" val="3193271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DFD0-4D68-5784-2F69-2D88A26A8A71}"/>
              </a:ext>
            </a:extLst>
          </p:cNvPr>
          <p:cNvSpPr>
            <a:spLocks noGrp="1"/>
          </p:cNvSpPr>
          <p:nvPr>
            <p:ph type="title"/>
          </p:nvPr>
        </p:nvSpPr>
        <p:spPr>
          <a:xfrm>
            <a:off x="1725769" y="787782"/>
            <a:ext cx="9778843" cy="1105412"/>
          </a:xfrm>
        </p:spPr>
        <p:txBody>
          <a:bodyPr>
            <a:noAutofit/>
          </a:bodyPr>
          <a:lstStyle/>
          <a:p>
            <a:pPr algn="ctr"/>
            <a:r>
              <a:rPr lang="en-US" sz="3200" u="sng" dirty="0">
                <a:latin typeface="Times New Roman" panose="02020603050405020304" pitchFamily="18" charset="0"/>
                <a:cs typeface="Times New Roman" panose="02020603050405020304" pitchFamily="18" charset="0"/>
              </a:rPr>
              <a:t>IMPORTANCE OF BIOLOGICAL RHYTHMS IN ORGANISMS</a:t>
            </a:r>
            <a:endParaRPr lang="en-GB" sz="32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6452B3-6B0E-E2ED-DE23-AECBB2C27E37}"/>
              </a:ext>
            </a:extLst>
          </p:cNvPr>
          <p:cNvSpPr>
            <a:spLocks noGrp="1"/>
          </p:cNvSpPr>
          <p:nvPr>
            <p:ph idx="1"/>
          </p:nvPr>
        </p:nvSpPr>
        <p:spPr>
          <a:xfrm>
            <a:off x="1854558" y="2099255"/>
            <a:ext cx="9650054" cy="4623517"/>
          </a:xfrm>
        </p:spPr>
        <p:txBody>
          <a:bodyPr>
            <a:normAutofit lnSpcReduction="10000"/>
          </a:bodyPr>
          <a:lstStyle/>
          <a:p>
            <a:pPr>
              <a:lnSpc>
                <a:spcPct val="150000"/>
              </a:lnSpc>
            </a:pPr>
            <a:r>
              <a:rPr lang="en-US" sz="2000" dirty="0">
                <a:latin typeface="Times New Roman" panose="02020603050405020304" pitchFamily="18" charset="0"/>
                <a:cs typeface="Times New Roman" panose="02020603050405020304" pitchFamily="18" charset="0"/>
              </a:rPr>
              <a:t>Maintaining the proper functioning of living organisms. </a:t>
            </a:r>
          </a:p>
          <a:p>
            <a:pPr>
              <a:lnSpc>
                <a:spcPct val="150000"/>
              </a:lnSpc>
            </a:pPr>
            <a:r>
              <a:rPr lang="en-US" sz="2000" dirty="0">
                <a:latin typeface="Times New Roman" panose="02020603050405020304" pitchFamily="18" charset="0"/>
                <a:cs typeface="Times New Roman" panose="02020603050405020304" pitchFamily="18" charset="0"/>
              </a:rPr>
              <a:t>Optimize energy utilization, hormone release, and tissue repair, helping us adapt to the changing environment. </a:t>
            </a:r>
          </a:p>
          <a:p>
            <a:pPr>
              <a:lnSpc>
                <a:spcPct val="150000"/>
              </a:lnSpc>
            </a:pPr>
            <a:r>
              <a:rPr lang="en-US" sz="2000" dirty="0">
                <a:latin typeface="Times New Roman" panose="02020603050405020304" pitchFamily="18" charset="0"/>
                <a:cs typeface="Times New Roman" panose="02020603050405020304" pitchFamily="18" charset="0"/>
              </a:rPr>
              <a:t>Circadian rhythms regulate our sleep and wakefulness, allowing us to be alert during the day and restful at night.</a:t>
            </a:r>
          </a:p>
          <a:p>
            <a:pPr>
              <a:lnSpc>
                <a:spcPct val="150000"/>
              </a:lnSpc>
            </a:pPr>
            <a:r>
              <a:rPr lang="en-US" sz="2000" dirty="0">
                <a:latin typeface="Times New Roman" panose="02020603050405020304" pitchFamily="18" charset="0"/>
                <a:cs typeface="Times New Roman" panose="02020603050405020304" pitchFamily="18" charset="0"/>
              </a:rPr>
              <a:t> Ultradian rhythms play a role in essential physiological processes like digestion and cellular repair. </a:t>
            </a:r>
          </a:p>
          <a:p>
            <a:pPr>
              <a:lnSpc>
                <a:spcPct val="150000"/>
              </a:lnSpc>
            </a:pPr>
            <a:r>
              <a:rPr lang="en-US" sz="2000" dirty="0">
                <a:latin typeface="Times New Roman" panose="02020603050405020304" pitchFamily="18" charset="0"/>
                <a:cs typeface="Times New Roman" panose="02020603050405020304" pitchFamily="18" charset="0"/>
              </a:rPr>
              <a:t>Infra-</a:t>
            </a:r>
            <a:r>
              <a:rPr lang="en-US" sz="2000" dirty="0" err="1">
                <a:latin typeface="Times New Roman" panose="02020603050405020304" pitchFamily="18" charset="0"/>
                <a:cs typeface="Times New Roman" panose="02020603050405020304" pitchFamily="18" charset="0"/>
              </a:rPr>
              <a:t>dian</a:t>
            </a:r>
            <a:r>
              <a:rPr lang="en-US" sz="2000" dirty="0">
                <a:latin typeface="Times New Roman" panose="02020603050405020304" pitchFamily="18" charset="0"/>
                <a:cs typeface="Times New Roman" panose="02020603050405020304" pitchFamily="18" charset="0"/>
              </a:rPr>
              <a:t> rhythms are essential for reproductive functions and seasonal adaptations in animals</a:t>
            </a:r>
            <a:r>
              <a:rPr lang="en-US" sz="2400" dirty="0">
                <a:latin typeface="Times New Roman" panose="02020603050405020304" pitchFamily="18" charset="0"/>
                <a:cs typeface="Times New Roman" panose="02020603050405020304" pitchFamily="18" charset="0"/>
              </a:rPr>
              <a:t>.</a:t>
            </a:r>
            <a:endParaRPr lang="en-GB"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1FE590-C4B1-1390-3E3C-E783C58B88B7}"/>
              </a:ext>
            </a:extLst>
          </p:cNvPr>
          <p:cNvSpPr>
            <a:spLocks noGrp="1"/>
          </p:cNvSpPr>
          <p:nvPr>
            <p:ph type="sldNum" sz="quarter" idx="12"/>
          </p:nvPr>
        </p:nvSpPr>
        <p:spPr/>
        <p:txBody>
          <a:bodyPr/>
          <a:lstStyle/>
          <a:p>
            <a:fld id="{4E4C9198-4BDF-4CC8-8AC4-AB4676630990}" type="slidenum">
              <a:rPr lang="en-GB" smtClean="0"/>
              <a:t>8</a:t>
            </a:fld>
            <a:endParaRPr lang="en-GB"/>
          </a:p>
        </p:txBody>
      </p:sp>
    </p:spTree>
    <p:extLst>
      <p:ext uri="{BB962C8B-B14F-4D97-AF65-F5344CB8AC3E}">
        <p14:creationId xmlns:p14="http://schemas.microsoft.com/office/powerpoint/2010/main" val="361360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1FEF9-920E-8138-825E-DB6629A24CF0}"/>
              </a:ext>
            </a:extLst>
          </p:cNvPr>
          <p:cNvSpPr>
            <a:spLocks noGrp="1"/>
          </p:cNvSpPr>
          <p:nvPr>
            <p:ph type="title"/>
          </p:nvPr>
        </p:nvSpPr>
        <p:spPr>
          <a:xfrm>
            <a:off x="2592925" y="624110"/>
            <a:ext cx="8911687" cy="1011507"/>
          </a:xfrm>
        </p:spPr>
        <p:txBody>
          <a:bodyPr/>
          <a:lstStyle/>
          <a:p>
            <a:r>
              <a:rPr lang="en-US" u="sng" dirty="0">
                <a:latin typeface="Times New Roman" panose="02020603050405020304" pitchFamily="18" charset="0"/>
                <a:cs typeface="Times New Roman" panose="02020603050405020304" pitchFamily="18" charset="0"/>
              </a:rPr>
              <a:t>CONCLUSION</a:t>
            </a:r>
            <a:endParaRPr lang="en-GB"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D897C8-CED2-57E2-B7B8-50A48D829779}"/>
              </a:ext>
            </a:extLst>
          </p:cNvPr>
          <p:cNvSpPr>
            <a:spLocks noGrp="1"/>
          </p:cNvSpPr>
          <p:nvPr>
            <p:ph idx="1"/>
          </p:nvPr>
        </p:nvSpPr>
        <p:spPr>
          <a:xfrm>
            <a:off x="1764407" y="1635617"/>
            <a:ext cx="9740206" cy="4790941"/>
          </a:xfrm>
        </p:spPr>
        <p:txBody>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Biological rhythms are an integral part of life, regulating numerous essential functions in living organisms. They are driven by internal biological processes, with the SCN acting as our internal clock. Circadian, ultradian, and infra-</a:t>
            </a:r>
            <a:r>
              <a:rPr lang="en-US" sz="2000" dirty="0" err="1">
                <a:latin typeface="Times New Roman" panose="02020603050405020304" pitchFamily="18" charset="0"/>
                <a:cs typeface="Times New Roman" panose="02020603050405020304" pitchFamily="18" charset="0"/>
              </a:rPr>
              <a:t>dian</a:t>
            </a:r>
            <a:r>
              <a:rPr lang="en-US" sz="2000" dirty="0">
                <a:latin typeface="Times New Roman" panose="02020603050405020304" pitchFamily="18" charset="0"/>
                <a:cs typeface="Times New Roman" panose="02020603050405020304" pitchFamily="18" charset="0"/>
              </a:rPr>
              <a:t> rhythms all contribute to maintaining our well-being, and disruptions can lead to health issues. By being mindful of external cues and lifestyle choices, we can support and synchronize our biological rhythms, leading to a healthier and more balanced life. By understanding and respecting our biological rhythms, we can promote better health outcomes and increased productivity.</a:t>
            </a:r>
          </a:p>
          <a:p>
            <a:endParaRPr lang="en-GB"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3EE6AB1-0E3E-E151-0868-FF6DCA1C5137}"/>
              </a:ext>
            </a:extLst>
          </p:cNvPr>
          <p:cNvSpPr>
            <a:spLocks noGrp="1"/>
          </p:cNvSpPr>
          <p:nvPr>
            <p:ph type="sldNum" sz="quarter" idx="12"/>
          </p:nvPr>
        </p:nvSpPr>
        <p:spPr/>
        <p:txBody>
          <a:bodyPr/>
          <a:lstStyle/>
          <a:p>
            <a:fld id="{4E4C9198-4BDF-4CC8-8AC4-AB4676630990}" type="slidenum">
              <a:rPr lang="en-GB" smtClean="0"/>
              <a:t>9</a:t>
            </a:fld>
            <a:endParaRPr lang="en-GB"/>
          </a:p>
        </p:txBody>
      </p:sp>
    </p:spTree>
    <p:extLst>
      <p:ext uri="{BB962C8B-B14F-4D97-AF65-F5344CB8AC3E}">
        <p14:creationId xmlns:p14="http://schemas.microsoft.com/office/powerpoint/2010/main" val="177206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4718D-1348-915B-AFD7-8A2C8C7690E5}"/>
              </a:ext>
            </a:extLst>
          </p:cNvPr>
          <p:cNvSpPr>
            <a:spLocks noGrp="1"/>
          </p:cNvSpPr>
          <p:nvPr>
            <p:ph type="title"/>
          </p:nvPr>
        </p:nvSpPr>
        <p:spPr>
          <a:xfrm>
            <a:off x="2592925" y="787782"/>
            <a:ext cx="8911687" cy="847835"/>
          </a:xfrm>
        </p:spPr>
        <p:txBody>
          <a:bodyPr/>
          <a:lstStyle/>
          <a:p>
            <a:r>
              <a:rPr lang="en-US" u="sng" dirty="0">
                <a:latin typeface="Times New Roman" panose="02020603050405020304" pitchFamily="18" charset="0"/>
                <a:cs typeface="Times New Roman" panose="02020603050405020304" pitchFamily="18" charset="0"/>
              </a:rPr>
              <a:t>REFERENCES</a:t>
            </a:r>
            <a:endParaRPr lang="en-GB"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48F3A16-7745-99ED-3452-13D637A85A5B}"/>
              </a:ext>
            </a:extLst>
          </p:cNvPr>
          <p:cNvSpPr>
            <a:spLocks noGrp="1"/>
          </p:cNvSpPr>
          <p:nvPr>
            <p:ph idx="1"/>
          </p:nvPr>
        </p:nvSpPr>
        <p:spPr>
          <a:xfrm>
            <a:off x="2086377" y="1815921"/>
            <a:ext cx="9418235" cy="4095301"/>
          </a:xfrm>
        </p:spPr>
        <p:txBody>
          <a:bodyPr/>
          <a:lstStyle/>
          <a:p>
            <a:endParaRPr lang="en-GB" dirty="0"/>
          </a:p>
        </p:txBody>
      </p:sp>
      <p:sp>
        <p:nvSpPr>
          <p:cNvPr id="4" name="Slide Number Placeholder 3">
            <a:extLst>
              <a:ext uri="{FF2B5EF4-FFF2-40B4-BE49-F238E27FC236}">
                <a16:creationId xmlns:a16="http://schemas.microsoft.com/office/drawing/2014/main" id="{152C4824-7E0C-1613-9F71-F4CE1E907160}"/>
              </a:ext>
            </a:extLst>
          </p:cNvPr>
          <p:cNvSpPr>
            <a:spLocks noGrp="1"/>
          </p:cNvSpPr>
          <p:nvPr>
            <p:ph type="sldNum" sz="quarter" idx="12"/>
          </p:nvPr>
        </p:nvSpPr>
        <p:spPr/>
        <p:txBody>
          <a:bodyPr/>
          <a:lstStyle/>
          <a:p>
            <a:fld id="{4E4C9198-4BDF-4CC8-8AC4-AB4676630990}" type="slidenum">
              <a:rPr lang="en-GB" smtClean="0"/>
              <a:t>10</a:t>
            </a:fld>
            <a:endParaRPr lang="en-GB"/>
          </a:p>
        </p:txBody>
      </p:sp>
    </p:spTree>
    <p:extLst>
      <p:ext uri="{BB962C8B-B14F-4D97-AF65-F5344CB8AC3E}">
        <p14:creationId xmlns:p14="http://schemas.microsoft.com/office/powerpoint/2010/main" val="424104082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84</TotalTime>
  <Words>608</Words>
  <Application>Microsoft Office PowerPoint</Application>
  <PresentationFormat>Widescreen</PresentationFormat>
  <Paragraphs>57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vt:lpstr>
      <vt:lpstr>Times New Roman</vt:lpstr>
      <vt:lpstr>Wingdings 3</vt:lpstr>
      <vt:lpstr>Wisp</vt:lpstr>
      <vt:lpstr>BIOLOGICAL RHYTHMS</vt:lpstr>
      <vt:lpstr>OUTLINE</vt:lpstr>
      <vt:lpstr>WHAT IS BIOLOGICAL RHYTHMS</vt:lpstr>
      <vt:lpstr>HOW BIOLOGICAL RHYTHMS WORK</vt:lpstr>
      <vt:lpstr>CLASSICATION OF Biological Rhythms</vt:lpstr>
      <vt:lpstr>Factors Influencing Biological Rhythms or Causes:</vt:lpstr>
      <vt:lpstr>EFFECTS OF BIOLOGICAL RHYTHMS</vt:lpstr>
      <vt:lpstr>IMPORTANCE OF BIOLOGICAL RHYTHMS IN ORGANISMS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RHYTHMS</dc:title>
  <dc:creator>Stacy Amoah</dc:creator>
  <cp:lastModifiedBy>Stacy Amoah</cp:lastModifiedBy>
  <cp:revision>2</cp:revision>
  <dcterms:created xsi:type="dcterms:W3CDTF">2023-08-01T19:39:22Z</dcterms:created>
  <dcterms:modified xsi:type="dcterms:W3CDTF">2023-08-01T21:58:11Z</dcterms:modified>
</cp:coreProperties>
</file>