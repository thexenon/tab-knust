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0"/>
  </p:notesMasterIdLst>
  <p:sldIdLst>
    <p:sldId id="256" r:id="rId2"/>
    <p:sldId id="269" r:id="rId3"/>
    <p:sldId id="258" r:id="rId4"/>
    <p:sldId id="270" r:id="rId5"/>
    <p:sldId id="257" r:id="rId6"/>
    <p:sldId id="271" r:id="rId7"/>
    <p:sldId id="259" r:id="rId8"/>
    <p:sldId id="272" r:id="rId9"/>
    <p:sldId id="260" r:id="rId10"/>
    <p:sldId id="261" r:id="rId11"/>
    <p:sldId id="262" r:id="rId12"/>
    <p:sldId id="263" r:id="rId13"/>
    <p:sldId id="273" r:id="rId14"/>
    <p:sldId id="264" r:id="rId15"/>
    <p:sldId id="265" r:id="rId16"/>
    <p:sldId id="268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4662"/>
  </p:normalViewPr>
  <p:slideViewPr>
    <p:cSldViewPr snapToGrid="0">
      <p:cViewPr varScale="1">
        <p:scale>
          <a:sx n="122" d="100"/>
          <a:sy n="12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27BF6-E9D7-4EF3-82C1-C86259014066}" type="datetimeFigureOut">
              <a:rPr lang="en-GH" smtClean="0"/>
              <a:t>19/07/2023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9F1F-8504-4DCB-BF84-8CBE65F171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1545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919CB-1861-4D02-9D69-E0C92E2F780B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5312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0A38F-9B4F-4DA1-AA43-A0DF598F2B53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1882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7784-B8DD-48A9-A667-516B2B38DBCC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4220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F58D8-898F-4A03-8228-E866BA1CD846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9305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44E7-F2C4-4AEF-AD45-5AE862F1F499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1639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1E973-82FF-4536-B21D-5A006F220889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384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E7525-BAE2-4446-9DEC-F75032E8065A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0599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1A80-360A-4D9D-B1A3-D42FBD70F98E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1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B2C0-D4C0-4548-BE3D-13B5C8D46EFF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6310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3547474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3220175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261674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5033663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7400641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028561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2549F-2E9D-4790-9E2C-9D971B1A82F9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7902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BD4B-4661-4827-B6ED-171056795ED3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5962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8B9B9-3486-4E00-8422-11CF3309A475}" type="datetime8">
              <a:rPr lang="en-GH" smtClean="0"/>
              <a:t>19/07/2023 11:15 PM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58BCF-5E6C-405E-95F1-E83D6BF9108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437483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3BC0-0E6A-BF77-7FC8-633B28CD8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TEMPERATURE EFFECTS ON CORAL REEFS</a:t>
            </a:r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9A421-7AFE-8211-22CE-C656A3F3F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BIOL 454 GROUP 1</a:t>
            </a:r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63007-948F-73C0-3F5C-6A86CB91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9083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0E7-34B2-9899-2CA9-191F5806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6AEE7-DF84-C184-1418-CDE9BA0C4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What is a Coral?</a:t>
            </a:r>
          </a:p>
          <a:p>
            <a:r>
              <a:rPr lang="en-US" dirty="0"/>
              <a:t>Symbiosis in Corals</a:t>
            </a:r>
          </a:p>
          <a:p>
            <a:r>
              <a:rPr lang="en-US" dirty="0"/>
              <a:t>Stresses of Coral Reefs</a:t>
            </a:r>
          </a:p>
          <a:p>
            <a:r>
              <a:rPr lang="en-US" dirty="0"/>
              <a:t>Temperature Effects of Coral Reefs</a:t>
            </a:r>
          </a:p>
          <a:p>
            <a:r>
              <a:rPr lang="en-US" dirty="0"/>
              <a:t>Response to High Temperatures</a:t>
            </a:r>
          </a:p>
          <a:p>
            <a:r>
              <a:rPr lang="en-US" dirty="0"/>
              <a:t>Ecological Implications of Coral Bleaching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23F04-814D-349E-F660-59227D7C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2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513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3775-9DAB-51E8-81A2-349435F9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E02E-5451-7BAD-7418-B505A706B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Under water ecosystem of reef-building corals</a:t>
            </a:r>
          </a:p>
          <a:p>
            <a:r>
              <a:rPr lang="en-US" sz="3200" dirty="0"/>
              <a:t>Are formed when polyps are held together by CaCO3 exoskeleton.</a:t>
            </a:r>
          </a:p>
          <a:p>
            <a:r>
              <a:rPr lang="en-US" sz="3200" dirty="0"/>
              <a:t>Nick-named Rainforests of the Sea</a:t>
            </a:r>
          </a:p>
          <a:p>
            <a:r>
              <a:rPr lang="en-US" sz="3200" dirty="0"/>
              <a:t>Are very sensitive to temperature changes.</a:t>
            </a:r>
          </a:p>
          <a:p>
            <a:endParaRPr lang="en-US" sz="3200" dirty="0"/>
          </a:p>
          <a:p>
            <a:pPr marL="36900" indent="0">
              <a:buNone/>
            </a:pPr>
            <a:endParaRPr lang="en-GH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40CFE-0685-43BD-82D3-983B86D6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372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D851-FAD4-A97B-E1F0-C1B0001E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609600"/>
          </a:xfrm>
        </p:spPr>
        <p:txBody>
          <a:bodyPr/>
          <a:lstStyle/>
          <a:p>
            <a:r>
              <a:rPr lang="en-US" dirty="0"/>
              <a:t>INTRODUCTION</a:t>
            </a:r>
            <a:endParaRPr lang="en-GH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CF5BDDD-51E3-0945-090B-7E3CB3EF44F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9" b="23549"/>
          <a:stretch/>
        </p:blipFill>
        <p:spPr>
          <a:xfrm>
            <a:off x="1168400" y="1384299"/>
            <a:ext cx="10350500" cy="3873501"/>
          </a:xfrm>
          <a:effectLst>
            <a:outerShdw blurRad="55000" dist="18000" dir="5400000" algn="tl" rotWithShape="0">
              <a:srgbClr val="000000">
                <a:alpha val="40000"/>
              </a:srgbClr>
            </a:outerShdw>
            <a:softEdge rad="6350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93BB2-3590-74F0-0443-6D4B8A3D8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4902200"/>
            <a:ext cx="5934950" cy="8890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Fig 1.0: A coral reef</a:t>
            </a:r>
            <a:endParaRPr lang="en-G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B16CB-CF04-342F-8FA7-A185124F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1303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FFB3-6454-01E2-ECFB-F55A6CA9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Coral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A7B6-7736-D53B-28A2-12AFC1D2D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Phylum Cnidaria (includes Sea Anemones and Jellyfish</a:t>
            </a:r>
          </a:p>
          <a:p>
            <a:r>
              <a:rPr lang="en-US" sz="3600" dirty="0"/>
              <a:t>Class Anthozoa </a:t>
            </a:r>
          </a:p>
          <a:p>
            <a:r>
              <a:rPr lang="en-US" sz="3600" dirty="0"/>
              <a:t>Unlike sea anemones, corals secrete hard Calcium exoskeleton (support and protection)</a:t>
            </a:r>
            <a:endParaRPr lang="en-GH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67795-1005-1424-A69B-6985ED82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4803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5DD5-3446-7800-C209-9A58E5F6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2" cy="756580"/>
          </a:xfrm>
        </p:spPr>
        <p:txBody>
          <a:bodyPr/>
          <a:lstStyle/>
          <a:p>
            <a:r>
              <a:rPr lang="en-US" dirty="0"/>
              <a:t>WHAT IS A CORAL? CONT’D</a:t>
            </a:r>
            <a:endParaRPr lang="en-G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1DB52-B1CB-ED41-8D96-C00E03D80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GH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6483BA8-4FB7-6B46-700C-83F91BFFF7EF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7" b="8887"/>
          <a:stretch>
            <a:fillRect/>
          </a:stretch>
        </p:blipFill>
        <p:spPr>
          <a:xfrm>
            <a:off x="4736743" y="1632112"/>
            <a:ext cx="3183549" cy="27747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E6723-90EB-09B5-1E60-9C3000AA319F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/>
              <a:t>Fig 2.0:  Corals</a:t>
            </a:r>
            <a:endParaRPr lang="en-G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5E0254-C14A-AB05-3064-4D486BBAE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GH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22BAF76-1C5E-8675-8095-E57DEF852B9E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0" b="14690"/>
          <a:stretch/>
        </p:blipFill>
        <p:spPr>
          <a:xfrm>
            <a:off x="8215687" y="1632112"/>
            <a:ext cx="3062518" cy="2774788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16D74B-21A3-3936-F92E-51097AC4C7BA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Fig 2.1: Sea anemones</a:t>
            </a:r>
            <a:endParaRPr lang="en-G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EDA6-E744-EB69-3D81-E794EEA5B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GH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1043A45-8395-E90C-BE62-2ACB3A6ECE8A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9" b="4529"/>
          <a:stretch/>
        </p:blipFill>
        <p:spPr>
          <a:xfrm>
            <a:off x="928677" y="1632112"/>
            <a:ext cx="3512671" cy="2774788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9AAA6E-877E-4DF5-1F6A-B01BFCC6767B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dirty="0"/>
              <a:t>Fig 2.2:  A jellyfish</a:t>
            </a:r>
            <a:endParaRPr lang="en-GH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0C844F-5260-BF0C-8F46-0BDC535C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6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3976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8A68-D476-CC2A-7666-C6C57554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Symbiosis in Corals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373B-B7DA-C47F-4BB4-BB086A20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Polyps live in an endosymbiotic relationship with Zooxanthellae (Single-celled dinoflagellates)</a:t>
            </a:r>
          </a:p>
          <a:p>
            <a:r>
              <a:rPr lang="en-US" sz="3200" dirty="0"/>
              <a:t>Most known zooxanthellae belong to the genus </a:t>
            </a:r>
            <a:r>
              <a:rPr lang="en-US" sz="3200" i="1" dirty="0"/>
              <a:t>Symbiodinium</a:t>
            </a:r>
          </a:p>
          <a:p>
            <a:r>
              <a:rPr lang="en-US" sz="3200" dirty="0"/>
              <a:t>Zooxanthellae; Provide nutrients (photosynthesis)</a:t>
            </a:r>
          </a:p>
          <a:p>
            <a:r>
              <a:rPr lang="en-US" sz="3200" dirty="0"/>
              <a:t>Corals; Provide Carbon dioxide and Ammonia needed for photosynthesis, and shelter</a:t>
            </a:r>
            <a:endParaRPr lang="en-GH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D8806-0D3D-C526-BC5C-B3E565EC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7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2837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9B53-DF5B-FF37-C252-90FA9414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622300"/>
          </a:xfrm>
        </p:spPr>
        <p:txBody>
          <a:bodyPr/>
          <a:lstStyle/>
          <a:p>
            <a:r>
              <a:rPr lang="en-US" dirty="0"/>
              <a:t>Symbiosis in corals</a:t>
            </a:r>
            <a:endParaRPr lang="en-GH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17C6412-5251-6965-E85D-310CB99F29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" t="-2536" r="32440" b="2536"/>
          <a:stretch/>
        </p:blipFill>
        <p:spPr>
          <a:xfrm>
            <a:off x="1943100" y="1489073"/>
            <a:ext cx="7353300" cy="392112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CA05-116F-B20D-88CA-EEFC695C6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3" y="5753100"/>
            <a:ext cx="9600217" cy="75247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Figure 3.0: Diagram of the anatomy of a coral polyp showing zooxanthellae in tissues</a:t>
            </a:r>
            <a:endParaRPr lang="en-G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A4059-2CD3-16B7-F767-B277A2C1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8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7461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97BC-7C0E-0B59-723A-B7E9A29E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Stressors of Coral Reefs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D87B-AE91-0889-15C1-D5BA8666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Temperature Changes (most important)</a:t>
            </a:r>
          </a:p>
          <a:p>
            <a:r>
              <a:rPr lang="en-US" sz="3600" dirty="0"/>
              <a:t>Increased Solar Irradiance</a:t>
            </a:r>
          </a:p>
          <a:p>
            <a:r>
              <a:rPr lang="en-US" sz="3600" dirty="0"/>
              <a:t>Increased Sedimentation</a:t>
            </a:r>
          </a:p>
          <a:p>
            <a:r>
              <a:rPr lang="en-US" sz="3600" dirty="0"/>
              <a:t>Bacterial Infections</a:t>
            </a:r>
          </a:p>
          <a:p>
            <a:r>
              <a:rPr lang="en-US" sz="3600" dirty="0"/>
              <a:t>Changes in Salinity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67A3-6C5F-9622-BCB8-AA8D2226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9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2353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2BCF-310E-051A-E7FE-9F0368B4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Effects on Coral Reefs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255DB-103D-1B4E-3A7E-799E085E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Optimum temperature between 23˚C and 29˚C</a:t>
            </a:r>
          </a:p>
          <a:p>
            <a:r>
              <a:rPr lang="en-US" sz="3600" dirty="0"/>
              <a:t> A temperature rise of 1˚C -2˚C leads to stress.</a:t>
            </a:r>
          </a:p>
          <a:p>
            <a:r>
              <a:rPr lang="en-US" sz="3600" dirty="0"/>
              <a:t>Too low temperatures also cause stress but are less prominent.</a:t>
            </a:r>
            <a:endParaRPr lang="en-GH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29F17-14FB-1AE5-07E9-031929C8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10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7865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80E1-E046-A88C-D34C-C07EE3C4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too High Temperatures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5B8E-BC8B-2639-560F-F59D00280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Zooxanthellae Response: Produces reactive oxygen species such as peroxides and superoxide.</a:t>
            </a:r>
          </a:p>
          <a:p>
            <a:r>
              <a:rPr lang="en-US" sz="3600" dirty="0"/>
              <a:t>These are toxic to the corals as it causes oxidative stress.</a:t>
            </a:r>
          </a:p>
          <a:p>
            <a:r>
              <a:rPr lang="en-US" sz="3600" dirty="0"/>
              <a:t>Coral Response: Expels the zooxanthellae from its tissues through exocytosis.</a:t>
            </a:r>
          </a:p>
          <a:p>
            <a:endParaRPr lang="en-GH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2CFF0-58F6-FD93-952A-6CB3D449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28363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8473-AEBA-1026-43FB-555B31C2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too High Temperatures Cont’d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E235-E8D2-271F-6C9F-071B799A1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This cascade of cause-effect relationships leads to </a:t>
            </a:r>
            <a:r>
              <a:rPr lang="en-US" sz="3600" dirty="0">
                <a:solidFill>
                  <a:srgbClr val="00B050"/>
                </a:solidFill>
              </a:rPr>
              <a:t>Coral Bleaching </a:t>
            </a:r>
            <a:r>
              <a:rPr lang="en-US" sz="3600" dirty="0">
                <a:solidFill>
                  <a:schemeClr val="tx1"/>
                </a:solidFill>
              </a:rPr>
              <a:t>(Lighter or completely white appearance)</a:t>
            </a:r>
          </a:p>
          <a:p>
            <a:r>
              <a:rPr lang="en-US" sz="3600" dirty="0"/>
              <a:t>Bleached corals starve and are susceptible to disease.</a:t>
            </a:r>
          </a:p>
          <a:p>
            <a:r>
              <a:rPr lang="en-US" sz="3600" dirty="0"/>
              <a:t>Prolonged effects may lead to death.</a:t>
            </a:r>
          </a:p>
          <a:p>
            <a:endParaRPr lang="en-US" sz="3600" dirty="0"/>
          </a:p>
          <a:p>
            <a:endParaRPr lang="en-GH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1A049-D7EA-AD8D-EA54-7D87471E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12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68799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F425-7A27-54C2-BC85-BCE9D455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7" y="609600"/>
            <a:ext cx="10500073" cy="774700"/>
          </a:xfrm>
        </p:spPr>
        <p:txBody>
          <a:bodyPr>
            <a:normAutofit fontScale="90000"/>
          </a:bodyPr>
          <a:lstStyle/>
          <a:p>
            <a:r>
              <a:rPr lang="en-US" dirty="0"/>
              <a:t>Response to too High Temperatures Cont’d</a:t>
            </a:r>
            <a:endParaRPr lang="en-GH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6EE2053-FAA8-431D-433B-210BF66C49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2" b="19722"/>
          <a:stretch/>
        </p:blipFill>
        <p:spPr>
          <a:xfrm>
            <a:off x="596900" y="1587500"/>
            <a:ext cx="10820400" cy="42957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81097-CB37-E5B7-6DED-2A235C820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6007100"/>
            <a:ext cx="5934950" cy="507999"/>
          </a:xfrm>
        </p:spPr>
        <p:txBody>
          <a:bodyPr>
            <a:normAutofit/>
          </a:bodyPr>
          <a:lstStyle/>
          <a:p>
            <a:r>
              <a:rPr lang="en-US" dirty="0"/>
              <a:t>Figure 4.0 A bleached coral reef</a:t>
            </a:r>
            <a:endParaRPr lang="en-G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39C66-FC6D-C9C8-BD97-C331D2FE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5398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3944-0AA4-0BDE-4299-EC101959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Ecological Implication of Coral Bleaching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BD03-CA16-880E-0416-23E52A4E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Healthy coral reefs are very productive</a:t>
            </a:r>
          </a:p>
          <a:p>
            <a:r>
              <a:rPr lang="en-US" sz="2800" dirty="0"/>
              <a:t>Occupy less than 0.1% of worlds ocean area</a:t>
            </a:r>
          </a:p>
          <a:p>
            <a:r>
              <a:rPr lang="en-US" sz="2800" dirty="0"/>
              <a:t>Yet provide home for at least 25% of all marine species.</a:t>
            </a:r>
          </a:p>
          <a:p>
            <a:r>
              <a:rPr lang="en-US" sz="2800" dirty="0"/>
              <a:t>Coral bleaching therefore results in loss of marine biodiversity.</a:t>
            </a:r>
          </a:p>
          <a:p>
            <a:r>
              <a:rPr lang="en-US" sz="2800" dirty="0"/>
              <a:t>Unfortunately, rising ocean temperatures is a current climate trend driven by human activities such as Emission of Green House Gases</a:t>
            </a:r>
            <a:endParaRPr lang="en-GH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A3183-8814-1CEC-F2C6-3D48BA3F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775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C9-699B-623A-DD68-7AEA36CC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8585-609C-D811-59E7-A2F21381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dirty="0"/>
              <a:t>3/4th of the world’s reef systems are severely bleached.</a:t>
            </a:r>
          </a:p>
          <a:p>
            <a:r>
              <a:rPr lang="en-US" sz="4000" dirty="0"/>
              <a:t>Knowing the cause and physiological mechanism behind the loss of one of the world’s most productive ecosystems is a crucial step towards halting and reversing the loss.</a:t>
            </a:r>
          </a:p>
          <a:p>
            <a:endParaRPr lang="en-GH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C1A10-EE7A-B83D-5F44-C668BE8F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1385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6D8C-7EEE-426D-B818-545D42EB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06E72-2B6F-CE12-1E2A-EF0F14C5C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77600" lvl="8" indent="0">
              <a:buNone/>
            </a:pPr>
            <a:r>
              <a:rPr lang="en-US" sz="4800" dirty="0"/>
              <a:t>THANK YOU!!!</a:t>
            </a:r>
            <a:endParaRPr lang="en-GH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F1C3-FAE5-ACDA-8490-A74D654A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16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52892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B65F-0C28-70C8-7ED3-618D7BE6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F0E1-6FE9-54A8-C4E1-626F3E18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US Department of Commerce, National Oceanic and Atmospheric Administration 13 September, 2021, What is Coral Bleaching.</a:t>
            </a:r>
          </a:p>
          <a:p>
            <a:r>
              <a:rPr lang="en-US" sz="2800" dirty="0"/>
              <a:t>The Guardian, 29 May 2017. Coral Bleaching on Great Barrier Reef worse than expected, surveys show</a:t>
            </a:r>
          </a:p>
          <a:p>
            <a:r>
              <a:rPr lang="en-US" sz="2800" dirty="0"/>
              <a:t>The Independent, 3 June 2017. The United Nations just released a warning that the Great Barrier Reef is dying</a:t>
            </a:r>
          </a:p>
          <a:p>
            <a:endParaRPr lang="en-US" sz="2800" dirty="0"/>
          </a:p>
          <a:p>
            <a:endParaRPr lang="en-GH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F5013-F23D-9867-B954-90BB03A7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17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7016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7BB4-058F-D76F-5DB0-2DE1102F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1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EB1D-C8CA-66A1-0C2B-4FFC04CD3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KUNYELEWOSI ALEXANDER</a:t>
            </a:r>
          </a:p>
          <a:p>
            <a:r>
              <a:rPr lang="en-US" dirty="0"/>
              <a:t>ADAM DUSHMAN KHADIJAH</a:t>
            </a:r>
          </a:p>
          <a:p>
            <a:r>
              <a:rPr lang="en-US" dirty="0"/>
              <a:t>BAIDOO SAMUEL</a:t>
            </a:r>
          </a:p>
          <a:p>
            <a:r>
              <a:rPr lang="en-US" dirty="0"/>
              <a:t>BONSU DANIELLA ABENA</a:t>
            </a:r>
          </a:p>
          <a:p>
            <a:r>
              <a:rPr lang="en-US" dirty="0"/>
              <a:t>KYEREMATENG EMMANUELLA TIWAA</a:t>
            </a:r>
          </a:p>
          <a:p>
            <a:r>
              <a:rPr lang="en-US" dirty="0"/>
              <a:t>GYAMFI KWAME FRIMPONG</a:t>
            </a:r>
          </a:p>
          <a:p>
            <a:r>
              <a:rPr lang="en-US" dirty="0"/>
              <a:t>KARIKARI ANN AGYAKOMAH TAWIAH</a:t>
            </a:r>
          </a:p>
          <a:p>
            <a:pPr marL="36900" indent="0">
              <a:buNone/>
            </a:pPr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99907-8AF3-F351-FDD1-0C60F992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8BCF-5E6C-405E-95F1-E83D6BF91081}" type="slidenum">
              <a:rPr lang="en-GH" smtClean="0"/>
              <a:t>18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70625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268</TotalTime>
  <Words>550</Words>
  <Application>Microsoft Macintosh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Calibri</vt:lpstr>
      <vt:lpstr>Rockwell</vt:lpstr>
      <vt:lpstr>Damask</vt:lpstr>
      <vt:lpstr>TEMPERATURE EFFECTS ON CORAL REEFS</vt:lpstr>
      <vt:lpstr>OUTLINE</vt:lpstr>
      <vt:lpstr>Introduction</vt:lpstr>
      <vt:lpstr>INTRODUCTION</vt:lpstr>
      <vt:lpstr>What is a Coral</vt:lpstr>
      <vt:lpstr>WHAT IS A CORAL? CONT’D</vt:lpstr>
      <vt:lpstr>Symbiosis in Corals</vt:lpstr>
      <vt:lpstr>Symbiosis in corals</vt:lpstr>
      <vt:lpstr>Stressors of Coral Reefs</vt:lpstr>
      <vt:lpstr>Temperature Effects on Coral Reefs</vt:lpstr>
      <vt:lpstr>Response to too High Temperatures</vt:lpstr>
      <vt:lpstr>Response to too High Temperatures Cont’d</vt:lpstr>
      <vt:lpstr>Response to too High Temperatures Cont’d</vt:lpstr>
      <vt:lpstr>Ecological Implication of Coral Bleaching</vt:lpstr>
      <vt:lpstr>CONCLUSION</vt:lpstr>
      <vt:lpstr>    </vt:lpstr>
      <vt:lpstr>REFERENCES</vt:lpstr>
      <vt:lpstr>GROUP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TEMPERATURE EFFECTS ON CORAL REEFS</dc:title>
  <dc:creator>Samuel Agyapong Antwi</dc:creator>
  <cp:lastModifiedBy>Microsoft Office User</cp:lastModifiedBy>
  <cp:revision>27</cp:revision>
  <dcterms:created xsi:type="dcterms:W3CDTF">2023-07-16T16:20:52Z</dcterms:created>
  <dcterms:modified xsi:type="dcterms:W3CDTF">2023-07-19T23:52:35Z</dcterms:modified>
</cp:coreProperties>
</file>