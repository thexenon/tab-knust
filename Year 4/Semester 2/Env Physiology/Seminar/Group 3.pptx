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15"/>
  </p:notesMasterIdLst>
  <p:handoutMasterIdLst>
    <p:handoutMasterId r:id="rId16"/>
  </p:handoutMasterIdLst>
  <p:sldIdLst>
    <p:sldId id="282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3" r:id="rId12"/>
    <p:sldId id="294" r:id="rId13"/>
    <p:sldId id="29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C59"/>
    <a:srgbClr val="417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45" d="100"/>
          <a:sy n="45" d="100"/>
        </p:scale>
        <p:origin x="71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411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handoutMaster" Target="handoutMasters/handout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90" name="Date Placeholder 2"/>
          <p:cNvSpPr>
            <a:spLocks noGrp="1" noEditPoints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55240-91AF-4248-BB6C-64FDE017B1F4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1048691" name="Footer Placeholder 3"/>
          <p:cNvSpPr>
            <a:spLocks noGrp="1" noEditPoints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84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76C85-58D2-4542-8F2A-226C15F1FA28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1048685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686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7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88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7C5BA-E483-4C4B-A432-EFB80B1098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Slide Image Placeholder 3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/>
          </a:p>
        </p:txBody>
      </p:sp>
      <p:sp>
        <p:nvSpPr>
          <p:cNvPr id="1048584" name="Notes Placeholder 4"/>
          <p:cNvSpPr>
            <a:spLocks noGrp="1" noEditPoints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5" name="Slide Number Placeholder 6"/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fld id="{0638A9F3-CB8E-440E-9770-F21E83101E17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8592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48593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6CEBA0D-EE78-4244-BE61-48DCB6207EC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8598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48599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E25BE0D-4A4A-4E60-8A4F-DB8BFCA01D1C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8606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48607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5E25A9E-24FE-4828-A0F1-5C833FA6A6C8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8612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48613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1C6870-3042-4A47-BD73-4CBE901767DA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8618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48619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A9DD9CD-AA92-40C9-9596-8DF5F373C6C6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8629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48630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3F09D7C-2B5E-487A-BDFA-75136655E15E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8635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48636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DC13596-203B-403F-9EAF-5C2533F8AC2C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8645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48646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4A0A956-15EC-4178-B69E-777508E9B91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8651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48652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F8692C9-E6C8-495F-9E7A-86E56D12E1A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8657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48658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A90BA3F-BF91-4BAC-8E6C-CD6C9917975A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5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583" y="0"/>
            <a:ext cx="12194583" cy="6861500"/>
          </a:xfrm>
          <a:prstGeom prst="rect">
            <a:avLst/>
          </a:prstGeom>
        </p:spPr>
      </p:pic>
      <p:sp>
        <p:nvSpPr>
          <p:cNvPr id="1048578" name="Title 1"/>
          <p:cNvSpPr>
            <a:spLocks noGrp="1" noEditPoints="1"/>
          </p:cNvSpPr>
          <p:nvPr>
            <p:ph type="ctrTitle"/>
          </p:nvPr>
        </p:nvSpPr>
        <p:spPr>
          <a:xfrm>
            <a:off x="914399" y="3916680"/>
            <a:ext cx="10363200" cy="70612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79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2885440" y="3578860"/>
            <a:ext cx="9144000" cy="642620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ED7C5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87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1"/>
          <p:cNvSpPr>
            <a:spLocks noGrp="1" noEditPoints="1"/>
          </p:cNvSpPr>
          <p:nvPr>
            <p:ph type="title"/>
          </p:nvPr>
        </p:nvSpPr>
        <p:spPr>
          <a:xfrm>
            <a:off x="831851" y="1736728"/>
            <a:ext cx="10515600" cy="2852737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1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lang="en-US" sz="2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838199" y="2965337"/>
            <a:ext cx="5181600" cy="2318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019800" y="2965338"/>
            <a:ext cx="5181600" cy="23044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 noEditPoints="1"/>
          </p:cNvSpPr>
          <p:nvPr>
            <p:ph type="title"/>
          </p:nvPr>
        </p:nvSpPr>
        <p:spPr>
          <a:xfrm>
            <a:off x="838200" y="1096169"/>
            <a:ext cx="10515600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6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925513" y="193119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7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927101" y="2755108"/>
            <a:ext cx="5157787" cy="38514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8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170613" y="1931195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9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6172201" y="2755108"/>
            <a:ext cx="5183188" cy="38514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itle 1"/>
          <p:cNvSpPr>
            <a:spLocks noGrp="1" noEditPoints="1"/>
          </p:cNvSpPr>
          <p:nvPr>
            <p:ph type="title"/>
          </p:nvPr>
        </p:nvSpPr>
        <p:spPr>
          <a:xfrm>
            <a:off x="895986" y="1320482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1" name="Content Placeholder 2"/>
          <p:cNvSpPr>
            <a:spLocks noGrp="1" noEditPoints="1"/>
          </p:cNvSpPr>
          <p:nvPr>
            <p:ph idx="1"/>
          </p:nvPr>
        </p:nvSpPr>
        <p:spPr>
          <a:xfrm>
            <a:off x="5212080" y="1320483"/>
            <a:ext cx="6172200" cy="466248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2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902971" y="3168333"/>
            <a:ext cx="3932237" cy="28146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Title 1"/>
          <p:cNvSpPr>
            <a:spLocks noGrp="1" noEditPoints="1"/>
          </p:cNvSpPr>
          <p:nvPr>
            <p:ph type="title"/>
          </p:nvPr>
        </p:nvSpPr>
        <p:spPr>
          <a:xfrm>
            <a:off x="836612" y="671209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04866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496766"/>
            <a:ext cx="3932237" cy="337222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5" name="Date Placeholder 4"/>
          <p:cNvSpPr>
            <a:spLocks noGrp="1" noEditPoints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/>
          <a:p>
            <a:fld id="{363DCB64-5090-461D-9AD2-20C99028C471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1048666" name="Footer Placeholder 5"/>
          <p:cNvSpPr>
            <a:spLocks noGrp="1" noEditPoints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48667" name="Slide Number Placeholder 6"/>
          <p:cNvSpPr>
            <a:spLocks noGrp="1" noEditPoints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DCCDA325-AD56-4C01-B14F-EAD30531C0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9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8863238" y="1476233"/>
            <a:ext cx="2628900" cy="4621787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1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752749" y="1476233"/>
            <a:ext cx="7734300" cy="46217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/>
          <p:cNvPicPr>
            <a:picLocks noChangeAspect="1"/>
          </p:cNvPicPr>
          <p:nvPr userDrawn="1"/>
        </p:nvPicPr>
        <p:blipFill>
          <a:blip r:embed="rId13"/>
          <a:srcRect/>
          <a:stretch>
            <a:fillRect/>
          </a:stretch>
        </p:blipFill>
        <p:spPr>
          <a:xfrm>
            <a:off x="1818" y="0"/>
            <a:ext cx="12188363" cy="6858000"/>
          </a:xfrm>
          <a:prstGeom prst="rect">
            <a:avLst/>
          </a:prstGeom>
        </p:spPr>
      </p:pic>
      <p:sp>
        <p:nvSpPr>
          <p:cNvPr id="1048576" name="Title Placeholder 1"/>
          <p:cNvSpPr>
            <a:spLocks noGrp="1" noEditPoints="1"/>
          </p:cNvSpPr>
          <p:nvPr>
            <p:ph type="title"/>
          </p:nvPr>
        </p:nvSpPr>
        <p:spPr>
          <a:xfrm>
            <a:off x="838199" y="14603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8199" y="2915387"/>
            <a:ext cx="10515600" cy="3515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417A9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 /><Relationship Id="rId3" Type="http://schemas.openxmlformats.org/officeDocument/2006/relationships/image" Target="../media/image7.png" /><Relationship Id="rId7" Type="http://schemas.openxmlformats.org/officeDocument/2006/relationships/image" Target="../media/image11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0.png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0" name="Title 1"/>
          <p:cNvSpPr>
            <a:spLocks noGrp="1" noEditPoints="1"/>
          </p:cNvSpPr>
          <p:nvPr>
            <p:ph type="ctrTitle"/>
          </p:nvPr>
        </p:nvSpPr>
        <p:spPr>
          <a:xfrm>
            <a:off x="0" y="3035602"/>
            <a:ext cx="12192000" cy="1273508"/>
          </a:xfrm>
        </p:spPr>
        <p:txBody>
          <a:bodyPr/>
          <a:lstStyle/>
          <a:p>
            <a:r>
              <a:rPr lang="en-US" sz="40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THERMOREGULATION IN</a:t>
            </a:r>
            <a:r>
              <a:rPr lang="en-GB" sz="40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en-US" sz="40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TERRESTRIAL REPTILES</a:t>
            </a:r>
            <a:endParaRPr lang="en-US" sz="4000" dirty="0">
              <a:solidFill>
                <a:schemeClr val="tx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48581" name="Subtitle 2"/>
          <p:cNvSpPr>
            <a:spLocks noGrp="1" noEditPoints="1"/>
          </p:cNvSpPr>
          <p:nvPr>
            <p:ph type="subTitle" idx="1"/>
          </p:nvPr>
        </p:nvSpPr>
        <p:spPr>
          <a:xfrm rot="21600000">
            <a:off x="4073398" y="4818745"/>
            <a:ext cx="6858000" cy="369212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GROUP 3</a:t>
            </a:r>
            <a:endParaRPr lang="en-US" sz="3200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48582" name="Rectangle 3"/>
          <p:cNvSpPr/>
          <p:nvPr/>
        </p:nvSpPr>
        <p:spPr>
          <a:xfrm>
            <a:off x="1182523" y="4543422"/>
            <a:ext cx="9576192" cy="41011"/>
          </a:xfrm>
          <a:prstGeom prst="rect">
            <a:avLst/>
          </a:prstGeom>
          <a:solidFill>
            <a:srgbClr val="ED7C59"/>
          </a:solidFill>
          <a:ln w="12700" cap="flat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OUTLINE</a:t>
            </a:r>
          </a:p>
        </p:txBody>
      </p:sp>
      <p:sp>
        <p:nvSpPr>
          <p:cNvPr id="1048589" name="Content Placeholder 2"/>
          <p:cNvSpPr>
            <a:spLocks noGrp="1" noEditPoints="1"/>
          </p:cNvSpPr>
          <p:nvPr>
            <p:ph idx="1"/>
          </p:nvPr>
        </p:nvSpPr>
        <p:spPr>
          <a:xfrm>
            <a:off x="838199" y="2785950"/>
            <a:ext cx="10515600" cy="3688315"/>
          </a:xfrm>
        </p:spPr>
        <p:txBody>
          <a:bodyPr>
            <a:normAutofit/>
          </a:bodyPr>
          <a:lstStyle/>
          <a:p>
            <a:pPr marR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Introduction</a:t>
            </a:r>
            <a:endParaRPr lang="en-US" sz="2800" b="0" i="0" u="none" strike="noStrike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R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Characteristics of reptiles</a:t>
            </a:r>
            <a:endParaRPr lang="en-GB" sz="2800" b="0" i="0" u="none" strike="noStrike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R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Terrestrial Reptiles</a:t>
            </a:r>
          </a:p>
          <a:p>
            <a:pPr marR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Thermoregulation in terrestrial reptiles </a:t>
            </a:r>
          </a:p>
          <a:p>
            <a:pPr marR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Conclusion</a:t>
            </a:r>
          </a:p>
          <a:p>
            <a:pPr marR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References </a:t>
            </a:r>
          </a:p>
        </p:txBody>
      </p:sp>
      <p:sp>
        <p:nvSpPr>
          <p:cNvPr id="1048590" name="Rectangle 3"/>
          <p:cNvSpPr/>
          <p:nvPr/>
        </p:nvSpPr>
        <p:spPr>
          <a:xfrm>
            <a:off x="838199" y="2643904"/>
            <a:ext cx="5751444" cy="28676"/>
          </a:xfrm>
          <a:prstGeom prst="rect">
            <a:avLst/>
          </a:prstGeom>
          <a:solidFill>
            <a:srgbClr val="ED7C59"/>
          </a:solidFill>
          <a:ln w="12700" cap="flat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 noEditPoints="1"/>
          </p:cNvSpPr>
          <p:nvPr>
            <p:ph type="title"/>
          </p:nvPr>
        </p:nvSpPr>
        <p:spPr>
          <a:xfrm>
            <a:off x="838199" y="1275369"/>
            <a:ext cx="10515600" cy="1325563"/>
          </a:xfrm>
        </p:spPr>
        <p:txBody>
          <a:bodyPr/>
          <a:lstStyle/>
          <a:p>
            <a:r>
              <a:rPr lang="en-GB"/>
              <a:t>INTRODUCTION</a:t>
            </a:r>
          </a:p>
        </p:txBody>
      </p:sp>
      <p:sp>
        <p:nvSpPr>
          <p:cNvPr id="1048595" name="Content Placeholder 2"/>
          <p:cNvSpPr>
            <a:spLocks noGrp="1" noEditPoints="1"/>
          </p:cNvSpPr>
          <p:nvPr>
            <p:ph idx="1"/>
          </p:nvPr>
        </p:nvSpPr>
        <p:spPr>
          <a:xfrm>
            <a:off x="838199" y="2496013"/>
            <a:ext cx="10515600" cy="4361987"/>
          </a:xfrm>
        </p:spPr>
        <p:txBody>
          <a:bodyPr>
            <a:normAutofit fontScale="99167" lnSpcReduction="10000"/>
          </a:bodyPr>
          <a:lstStyle/>
          <a:p>
            <a:pPr marR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Reptiles are air-breathing, cold-blooded or poikilothermic vertebrates that have scaly bodies rather than hair or feathers</a:t>
            </a:r>
            <a:r>
              <a:rPr lang="en-GB" sz="28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</a:p>
          <a:p>
            <a:pPr marR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They inhabit a wide range of aquatic as well as terrestrial ecosystems</a:t>
            </a:r>
            <a:endParaRPr lang="en-GB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+mn-ea"/>
            </a:endParaRPr>
          </a:p>
          <a:p>
            <a:pPr marR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most recent findings divide reptiles into the following  groups:</a:t>
            </a:r>
          </a:p>
          <a:p>
            <a:pPr marL="457200" marR="0" indent="-4572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lphaLcParenR"/>
            </a:pPr>
            <a:r>
              <a:rPr lang="en-US" sz="2800" b="0" i="0" u="none" strike="noStrike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Squamates</a:t>
            </a:r>
            <a:endParaRPr lang="en-US" sz="2800" b="0" i="0" u="none" strike="noStrike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457200" marR="0" indent="-4572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lphaLcParenR"/>
            </a:pPr>
            <a:r>
              <a:rPr lang="en-US" sz="28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Tuataras</a:t>
            </a:r>
            <a:endParaRPr lang="en-GB" sz="2800" b="0" i="0" u="none" strike="noStrike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457200" marR="0" indent="-4572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lphaLcParenR"/>
            </a:pPr>
            <a:r>
              <a:rPr lang="en-US" sz="2800" b="0" i="0" u="none" strike="noStrike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Testudines</a:t>
            </a:r>
            <a:endParaRPr lang="en-US" sz="2800" b="0" i="0" u="none" strike="noStrike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457200" marR="0" indent="-4572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lphaLcParenR"/>
            </a:pPr>
            <a:r>
              <a:rPr lang="en-US" sz="28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Crocodilians</a:t>
            </a:r>
            <a:endParaRPr lang="en-GB" sz="2800" b="0" i="0" u="none" strike="noStrike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48596" name="Rectangle 3"/>
          <p:cNvSpPr/>
          <p:nvPr/>
        </p:nvSpPr>
        <p:spPr>
          <a:xfrm>
            <a:off x="838198" y="2347875"/>
            <a:ext cx="5751444" cy="41011"/>
          </a:xfrm>
          <a:prstGeom prst="rect">
            <a:avLst/>
          </a:prstGeom>
          <a:solidFill>
            <a:srgbClr val="ED7C59"/>
          </a:solidFill>
          <a:ln w="12700" cap="flat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Content Placeholder 18"/>
          <p:cNvSpPr>
            <a:spLocks noGrp="1" noEditPoints="1"/>
          </p:cNvSpPr>
          <p:nvPr>
            <p:ph idx="1"/>
          </p:nvPr>
        </p:nvSpPr>
        <p:spPr>
          <a:xfrm>
            <a:off x="2746372" y="3856332"/>
            <a:ext cx="2784475" cy="562882"/>
          </a:xfrm>
        </p:spPr>
        <p:txBody>
          <a:bodyPr/>
          <a:lstStyle/>
          <a:p>
            <a:pPr marL="0" indent="0">
              <a:buNone/>
            </a:pPr>
            <a:r>
              <a:rPr lang="en-GB" sz="2400"/>
              <a:t>A Squamate</a:t>
            </a:r>
            <a:endParaRPr sz="2400"/>
          </a:p>
        </p:txBody>
      </p:sp>
      <p:sp>
        <p:nvSpPr>
          <p:cNvPr id="1048601" name="Title 11"/>
          <p:cNvSpPr>
            <a:spLocks noGrp="1" noEditPoints="1"/>
          </p:cNvSpPr>
          <p:nvPr>
            <p:ph type="title"/>
          </p:nvPr>
        </p:nvSpPr>
        <p:spPr>
          <a:xfrm>
            <a:off x="711199" y="1207330"/>
            <a:ext cx="10515600" cy="642938"/>
          </a:xfrm>
        </p:spPr>
        <p:txBody>
          <a:bodyPr/>
          <a:lstStyle/>
          <a:p>
            <a:r>
              <a:rPr lang="en-GB" sz="3200"/>
              <a:t> </a:t>
            </a:r>
            <a:endParaRPr sz="3200"/>
          </a:p>
        </p:txBody>
      </p:sp>
      <p:sp>
        <p:nvSpPr>
          <p:cNvPr id="1048602" name="TextBox 22"/>
          <p:cNvSpPr txBox="1"/>
          <p:nvPr/>
        </p:nvSpPr>
        <p:spPr>
          <a:xfrm>
            <a:off x="6903241" y="3801163"/>
            <a:ext cx="2655887" cy="456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 </a:t>
            </a:r>
            <a:r>
              <a:rPr lang="en-US" sz="24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Tuatara</a:t>
            </a:r>
            <a:endParaRPr lang="en-US" sz="2400"/>
          </a:p>
        </p:txBody>
      </p:sp>
      <p:sp>
        <p:nvSpPr>
          <p:cNvPr id="1048603" name="TextBox 26"/>
          <p:cNvSpPr txBox="1"/>
          <p:nvPr/>
        </p:nvSpPr>
        <p:spPr>
          <a:xfrm>
            <a:off x="2789467" y="6406312"/>
            <a:ext cx="2266950" cy="451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 </a:t>
            </a:r>
            <a:r>
              <a:rPr lang="en-US" sz="24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Testudine</a:t>
            </a:r>
            <a:endParaRPr lang="en-US"/>
          </a:p>
        </p:txBody>
      </p:sp>
      <p:sp>
        <p:nvSpPr>
          <p:cNvPr id="1048604" name="TextBox 28"/>
          <p:cNvSpPr txBox="1"/>
          <p:nvPr/>
        </p:nvSpPr>
        <p:spPr>
          <a:xfrm>
            <a:off x="6627809" y="6406312"/>
            <a:ext cx="2455069" cy="451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 </a:t>
            </a:r>
            <a:r>
              <a:rPr lang="en-US" sz="24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Crocodilian</a:t>
            </a:r>
            <a:endParaRPr lang="en-US"/>
          </a:p>
        </p:txBody>
      </p:sp>
      <p:pic>
        <p:nvPicPr>
          <p:cNvPr id="2097154" name="Picture 3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10932" y="1528799"/>
            <a:ext cx="3499303" cy="2274094"/>
          </a:xfrm>
          <a:prstGeom prst="rect">
            <a:avLst/>
          </a:prstGeom>
        </p:spPr>
      </p:pic>
      <p:pic>
        <p:nvPicPr>
          <p:cNvPr id="2097155" name="Picture 3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310309" y="1528799"/>
            <a:ext cx="3416758" cy="2272364"/>
          </a:xfrm>
          <a:prstGeom prst="rect">
            <a:avLst/>
          </a:prstGeom>
        </p:spPr>
      </p:pic>
      <p:pic>
        <p:nvPicPr>
          <p:cNvPr id="2097156" name="Picture 3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0932" y="4337200"/>
            <a:ext cx="3424020" cy="2069112"/>
          </a:xfrm>
          <a:prstGeom prst="rect">
            <a:avLst/>
          </a:prstGeom>
        </p:spPr>
      </p:pic>
      <p:pic>
        <p:nvPicPr>
          <p:cNvPr id="2097157" name="Picture 3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375397" y="4337200"/>
            <a:ext cx="3351670" cy="20691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CHARACTERISTICS OF REPTILES</a:t>
            </a:r>
          </a:p>
        </p:txBody>
      </p:sp>
      <p:sp>
        <p:nvSpPr>
          <p:cNvPr id="1048609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marR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</a:t>
            </a:r>
            <a:r>
              <a:rPr lang="en-US" sz="28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ertebrates</a:t>
            </a:r>
            <a:r>
              <a:rPr lang="en-GB" sz="28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endParaRPr lang="en-US" sz="2800" b="0" i="0" u="none" strike="noStrike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R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Body</a:t>
            </a:r>
            <a:r>
              <a:rPr lang="en-US" sz="28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covered with scales.</a:t>
            </a:r>
          </a:p>
          <a:p>
            <a:pPr marR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r>
              <a:rPr lang="en-US" sz="28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old-blooded.</a:t>
            </a:r>
          </a:p>
          <a:p>
            <a:pPr marR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</a:t>
            </a:r>
            <a:r>
              <a:rPr lang="en-US" sz="28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roduce shelled eggs or bear live young</a:t>
            </a:r>
            <a:r>
              <a:rPr lang="en-GB" sz="28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ones.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48610" name="Rectangle 3"/>
          <p:cNvSpPr/>
          <p:nvPr/>
        </p:nvSpPr>
        <p:spPr>
          <a:xfrm>
            <a:off x="838199" y="2532893"/>
            <a:ext cx="8674728" cy="41011"/>
          </a:xfrm>
          <a:prstGeom prst="rect">
            <a:avLst/>
          </a:prstGeom>
          <a:solidFill>
            <a:srgbClr val="ED7C59"/>
          </a:solidFill>
          <a:ln w="12700" cap="flat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TERRESTRIAL REPTILES</a:t>
            </a:r>
          </a:p>
        </p:txBody>
      </p:sp>
      <p:sp>
        <p:nvSpPr>
          <p:cNvPr id="1048615" name="Content Placeholder 2"/>
          <p:cNvSpPr>
            <a:spLocks noGrp="1" noEditPoints="1"/>
          </p:cNvSpPr>
          <p:nvPr>
            <p:ph idx="1"/>
          </p:nvPr>
        </p:nvSpPr>
        <p:spPr>
          <a:xfrm>
            <a:off x="838199" y="2573904"/>
            <a:ext cx="10034553" cy="3774657"/>
          </a:xfrm>
        </p:spPr>
        <p:txBody>
          <a:bodyPr>
            <a:normAutofit/>
          </a:bodyPr>
          <a:lstStyle/>
          <a:p>
            <a:pPr marR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Terrestrial reptiles are reptile species that primarily inhabit and adapt to life on land. </a:t>
            </a:r>
            <a:endParaRPr lang="en-GB" sz="2400" b="0" i="0" u="none" strike="noStrike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R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sz="2400" b="0" i="0" u="none" strike="noStrike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R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Unlike amphibians</a:t>
            </a:r>
            <a:r>
              <a:rPr lang="en-GB" sz="24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and aquatic reptiles,</a:t>
            </a:r>
            <a:r>
              <a:rPr lang="en-US" sz="24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terrestrial reptiles spend most, if not all, of their lives on land</a:t>
            </a:r>
          </a:p>
          <a:p>
            <a:pPr marR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sz="2400" b="0" i="0" u="none" strike="noStrike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R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These reptiles are well-suited to living in various terrestrial habitats.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48616" name="Rectangle 3"/>
          <p:cNvSpPr/>
          <p:nvPr/>
        </p:nvSpPr>
        <p:spPr>
          <a:xfrm>
            <a:off x="838199" y="2532893"/>
            <a:ext cx="8674728" cy="41011"/>
          </a:xfrm>
          <a:prstGeom prst="rect">
            <a:avLst/>
          </a:prstGeom>
          <a:solidFill>
            <a:srgbClr val="ED7C59"/>
          </a:solidFill>
          <a:ln w="12700" cap="flat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Content Placeholder 18"/>
          <p:cNvSpPr>
            <a:spLocks noGrp="1" noEditPoints="1"/>
          </p:cNvSpPr>
          <p:nvPr>
            <p:ph idx="1"/>
          </p:nvPr>
        </p:nvSpPr>
        <p:spPr>
          <a:xfrm>
            <a:off x="452437" y="3993393"/>
            <a:ext cx="2784475" cy="562882"/>
          </a:xfrm>
        </p:spPr>
        <p:txBody>
          <a:bodyPr>
            <a:normAutofit fontScale="95833" lnSpcReduction="20000"/>
          </a:bodyPr>
          <a:lstStyle/>
          <a:p>
            <a:pPr marL="0" indent="0">
              <a:buNone/>
            </a:pPr>
            <a:r>
              <a:rPr lang="en-GB" sz="2400"/>
              <a:t>A</a:t>
            </a:r>
            <a:r>
              <a:rPr sz="2400"/>
              <a:t>rgentine tegu</a:t>
            </a:r>
            <a:r>
              <a:rPr lang="en-GB" sz="2400"/>
              <a:t> lizard</a:t>
            </a:r>
            <a:endParaRPr sz="2400"/>
          </a:p>
        </p:txBody>
      </p:sp>
      <p:sp>
        <p:nvSpPr>
          <p:cNvPr id="1048621" name="Title 11"/>
          <p:cNvSpPr>
            <a:spLocks noGrp="1" noEditPoints="1"/>
          </p:cNvSpPr>
          <p:nvPr>
            <p:ph type="title"/>
          </p:nvPr>
        </p:nvSpPr>
        <p:spPr>
          <a:xfrm>
            <a:off x="711199" y="1207330"/>
            <a:ext cx="10515600" cy="1071563"/>
          </a:xfrm>
        </p:spPr>
        <p:txBody>
          <a:bodyPr/>
          <a:lstStyle/>
          <a:p>
            <a:r>
              <a:rPr lang="en-GB" sz="3200"/>
              <a:t>EXAMPLES OF TERRESTRIAL REPTILES </a:t>
            </a:r>
            <a:endParaRPr sz="3200"/>
          </a:p>
        </p:txBody>
      </p:sp>
      <p:pic>
        <p:nvPicPr>
          <p:cNvPr id="2097158" name="Picture 1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1199" y="2278893"/>
            <a:ext cx="2266950" cy="1714500"/>
          </a:xfrm>
          <a:prstGeom prst="rect">
            <a:avLst/>
          </a:prstGeom>
        </p:spPr>
      </p:pic>
      <p:sp>
        <p:nvSpPr>
          <p:cNvPr id="1048622" name="Rectangle 3"/>
          <p:cNvSpPr/>
          <p:nvPr/>
        </p:nvSpPr>
        <p:spPr>
          <a:xfrm>
            <a:off x="711199" y="2088393"/>
            <a:ext cx="8674728" cy="41011"/>
          </a:xfrm>
          <a:prstGeom prst="rect">
            <a:avLst/>
          </a:prstGeom>
          <a:solidFill>
            <a:srgbClr val="ED7C59"/>
          </a:solidFill>
          <a:ln w="12700" cap="flat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097159" name="Picture 2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754437" y="2278893"/>
            <a:ext cx="2428875" cy="1714500"/>
          </a:xfrm>
          <a:prstGeom prst="rect">
            <a:avLst/>
          </a:prstGeom>
        </p:spPr>
      </p:pic>
      <p:sp>
        <p:nvSpPr>
          <p:cNvPr id="1048623" name="TextBox 22"/>
          <p:cNvSpPr txBox="1"/>
          <p:nvPr/>
        </p:nvSpPr>
        <p:spPr>
          <a:xfrm>
            <a:off x="3640931" y="3993393"/>
            <a:ext cx="2655887" cy="454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/>
              <a:t>King Cobra Snake</a:t>
            </a:r>
            <a:endParaRPr lang="en-US" sz="2400"/>
          </a:p>
        </p:txBody>
      </p:sp>
      <p:pic>
        <p:nvPicPr>
          <p:cNvPr id="2097160" name="Picture 2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814343" y="2316993"/>
            <a:ext cx="2571584" cy="1676400"/>
          </a:xfrm>
          <a:prstGeom prst="rect">
            <a:avLst/>
          </a:prstGeom>
        </p:spPr>
      </p:pic>
      <p:sp>
        <p:nvSpPr>
          <p:cNvPr id="1048624" name="TextBox 24"/>
          <p:cNvSpPr txBox="1"/>
          <p:nvPr/>
        </p:nvSpPr>
        <p:spPr>
          <a:xfrm>
            <a:off x="6674560" y="3993393"/>
            <a:ext cx="2851150" cy="80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/>
              <a:t>Jackson's Chameleon</a:t>
            </a:r>
            <a:endParaRPr lang="en-US" sz="2400"/>
          </a:p>
        </p:txBody>
      </p:sp>
      <p:pic>
        <p:nvPicPr>
          <p:cNvPr id="2097161" name="Picture 2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11199" y="4556275"/>
            <a:ext cx="2266950" cy="1714500"/>
          </a:xfrm>
          <a:prstGeom prst="rect">
            <a:avLst/>
          </a:prstGeom>
        </p:spPr>
      </p:pic>
      <p:sp>
        <p:nvSpPr>
          <p:cNvPr id="1048625" name="TextBox 26"/>
          <p:cNvSpPr txBox="1"/>
          <p:nvPr/>
        </p:nvSpPr>
        <p:spPr>
          <a:xfrm>
            <a:off x="711199" y="6270775"/>
            <a:ext cx="2266950" cy="454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/>
              <a:t>Nile Crocodile</a:t>
            </a:r>
            <a:endParaRPr lang="en-US"/>
          </a:p>
        </p:txBody>
      </p:sp>
      <p:pic>
        <p:nvPicPr>
          <p:cNvPr id="2097162" name="Picture 2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772213" y="4541987"/>
            <a:ext cx="2411099" cy="1743075"/>
          </a:xfrm>
          <a:prstGeom prst="rect">
            <a:avLst/>
          </a:prstGeom>
        </p:spPr>
      </p:pic>
      <p:sp>
        <p:nvSpPr>
          <p:cNvPr id="1048626" name="TextBox 28"/>
          <p:cNvSpPr txBox="1"/>
          <p:nvPr/>
        </p:nvSpPr>
        <p:spPr>
          <a:xfrm>
            <a:off x="3640931" y="6270775"/>
            <a:ext cx="2655887" cy="454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/>
              <a:t>Eastern box turtle</a:t>
            </a:r>
            <a:endParaRPr lang="en-US"/>
          </a:p>
        </p:txBody>
      </p:sp>
      <p:pic>
        <p:nvPicPr>
          <p:cNvPr id="2097163" name="Picture 29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814343" y="4556275"/>
            <a:ext cx="2571584" cy="1714500"/>
          </a:xfrm>
          <a:prstGeom prst="rect">
            <a:avLst/>
          </a:prstGeom>
        </p:spPr>
      </p:pic>
      <p:sp>
        <p:nvSpPr>
          <p:cNvPr id="1048627" name="TextBox 30"/>
          <p:cNvSpPr txBox="1"/>
          <p:nvPr/>
        </p:nvSpPr>
        <p:spPr>
          <a:xfrm>
            <a:off x="6707898" y="6285062"/>
            <a:ext cx="2784475" cy="454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/>
              <a:t>Komodo Dragon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/>
              <a:t>THERMOREGULATION IN TERRESTRIAL REPTILES</a:t>
            </a:r>
          </a:p>
        </p:txBody>
      </p:sp>
      <p:sp>
        <p:nvSpPr>
          <p:cNvPr id="1048632" name="Content Placeholder 2"/>
          <p:cNvSpPr>
            <a:spLocks noGrp="1" noEditPoint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R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lang="en-US" sz="2400" b="0" i="0" u="none" strike="noStrike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hermoregulation</a:t>
            </a:r>
            <a:r>
              <a:rPr lang="en-US" sz="24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is the ability of an organism to keep its body temperature within certain boundaries, even when the surrounding temperature is very different</a:t>
            </a:r>
          </a:p>
          <a:p>
            <a:pPr marR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There are three  strategies that terrestrial reptiles use for thermoregulation:</a:t>
            </a:r>
          </a:p>
          <a:p>
            <a:pPr marL="457200" marR="0" indent="-45720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lphaLcParenR"/>
            </a:pPr>
            <a:r>
              <a:rPr lang="en-US" sz="24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Behavioral </a:t>
            </a:r>
            <a:r>
              <a:rPr lang="en-GB" sz="24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Adaptations</a:t>
            </a:r>
            <a:endParaRPr lang="en-US" sz="2400" b="0" i="0" u="none" strike="noStrike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457200" marR="0" indent="-45720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lphaLcParenR"/>
            </a:pPr>
            <a:r>
              <a:rPr lang="en-US" sz="2400" b="0" i="0" u="none" strike="noStrike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Physiological Adaptations</a:t>
            </a:r>
            <a:endParaRPr lang="en-GB" sz="2400" b="0" i="0" u="none" strike="noStrike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48633" name="Rectangle 3"/>
          <p:cNvSpPr/>
          <p:nvPr/>
        </p:nvSpPr>
        <p:spPr>
          <a:xfrm>
            <a:off x="838199" y="2785950"/>
            <a:ext cx="10833728" cy="41011"/>
          </a:xfrm>
          <a:prstGeom prst="rect">
            <a:avLst/>
          </a:prstGeom>
          <a:solidFill>
            <a:srgbClr val="ED7C59"/>
          </a:solidFill>
          <a:ln w="12700" cap="flat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a) Behavioural thermoregulation</a:t>
            </a:r>
          </a:p>
        </p:txBody>
      </p:sp>
      <p:sp>
        <p:nvSpPr>
          <p:cNvPr id="1048638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Basking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Shelter seeking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Posture and orientation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Burrowing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b)Physiological adaptation</a:t>
            </a:r>
          </a:p>
        </p:txBody>
      </p:sp>
      <p:sp>
        <p:nvSpPr>
          <p:cNvPr id="1048640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structure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flow regulation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Evaporative cooling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CONCLUSION</a:t>
            </a:r>
          </a:p>
        </p:txBody>
      </p:sp>
      <p:sp>
        <p:nvSpPr>
          <p:cNvPr id="1048642" name="Content Placeholder 2"/>
          <p:cNvSpPr>
            <a:spLocks noGrp="1" noEditPoints="1"/>
          </p:cNvSpPr>
          <p:nvPr>
            <p:ph idx="1"/>
          </p:nvPr>
        </p:nvSpPr>
        <p:spPr>
          <a:xfrm>
            <a:off x="742949" y="2995169"/>
            <a:ext cx="9993493" cy="2911696"/>
          </a:xfrm>
        </p:spPr>
        <p:txBody>
          <a:bodyPr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Adaptations in reptiles play a crucial role in their thermoregulation, enabling them to thrive in a wide range of environmental conditions. These adaptations highlight the incredible diversity and resilience of reptiles, allowing them to occupy various habitats.</a:t>
            </a:r>
            <a:br>
              <a:rPr lang="en-US" dirty="0"/>
            </a:b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48643" name="Rectangle 3"/>
          <p:cNvSpPr/>
          <p:nvPr/>
        </p:nvSpPr>
        <p:spPr>
          <a:xfrm>
            <a:off x="742949" y="2611325"/>
            <a:ext cx="9277978" cy="41011"/>
          </a:xfrm>
          <a:prstGeom prst="rect">
            <a:avLst/>
          </a:prstGeom>
          <a:solidFill>
            <a:srgbClr val="ED7C59"/>
          </a:solidFill>
          <a:ln w="12700" cap="flat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 noEditPoints="1"/>
          </p:cNvSpPr>
          <p:nvPr>
            <p:ph type="title"/>
          </p:nvPr>
        </p:nvSpPr>
        <p:spPr>
          <a:xfrm>
            <a:off x="727074" y="1224699"/>
            <a:ext cx="10515600" cy="1325563"/>
          </a:xfrm>
        </p:spPr>
        <p:txBody>
          <a:bodyPr/>
          <a:lstStyle/>
          <a:p>
            <a:r>
              <a:rPr lang="en-GB"/>
              <a:t>REFERENCES</a:t>
            </a:r>
          </a:p>
        </p:txBody>
      </p:sp>
      <p:sp>
        <p:nvSpPr>
          <p:cNvPr id="1048648" name="Content Placeholder 2"/>
          <p:cNvSpPr>
            <a:spLocks noGrp="1" noEditPoints="1"/>
          </p:cNvSpPr>
          <p:nvPr>
            <p:ph idx="1"/>
          </p:nvPr>
        </p:nvSpPr>
        <p:spPr>
          <a:xfrm>
            <a:off x="838199" y="2550262"/>
            <a:ext cx="10515600" cy="4214132"/>
          </a:xfrm>
        </p:spPr>
        <p:txBody>
          <a:bodyPr/>
          <a:lstStyle/>
          <a:p>
            <a:pPr marR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6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Savannah river ecology laboratory University of Georgia</a:t>
            </a:r>
          </a:p>
          <a:p>
            <a:pPr marR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6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Guyton &amp; Hall (2006), pp. 891–892</a:t>
            </a:r>
          </a:p>
          <a:p>
            <a:pPr marR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6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Wilmore, Jack H., &amp; Costill, David L. (1999). Physiology of sport and exercise (2nd ed).Champaign, Illinois: Human Kinetics.</a:t>
            </a:r>
            <a:endParaRPr lang="en-GB" sz="2600" b="0" i="0" u="none" strike="noStrike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R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6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Reptile: https://en.wikipedia.org/wiki/Reptile. Britannica. Accessed July 20, 2023.</a:t>
            </a:r>
          </a:p>
          <a:p>
            <a:pPr marR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6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Terrestrial reptile: https://www.sciencedirect.com/topics/earth-and-planetary-sciences/terrestrial-reptile. ScienceDirect. Accessed July 20, 2023</a:t>
            </a:r>
            <a:r>
              <a:rPr lang="en-GB" sz="2400" b="0" i="0" u="none" strike="noStrike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</a:p>
          <a:p>
            <a:pPr marR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GB" sz="2400" b="0" i="0" u="none" strike="noStrike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48649" name="Rectangle 3"/>
          <p:cNvSpPr/>
          <p:nvPr/>
        </p:nvSpPr>
        <p:spPr>
          <a:xfrm>
            <a:off x="647699" y="2300439"/>
            <a:ext cx="8674728" cy="41011"/>
          </a:xfrm>
          <a:prstGeom prst="rect">
            <a:avLst/>
          </a:prstGeom>
          <a:solidFill>
            <a:srgbClr val="ED7C59"/>
          </a:solidFill>
          <a:ln w="12700" cap="flat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 noEditPoints="1"/>
          </p:cNvSpPr>
          <p:nvPr>
            <p:ph type="title"/>
          </p:nvPr>
        </p:nvSpPr>
        <p:spPr>
          <a:xfrm>
            <a:off x="838199" y="1000012"/>
            <a:ext cx="10515600" cy="1325563"/>
          </a:xfrm>
        </p:spPr>
        <p:txBody>
          <a:bodyPr/>
          <a:lstStyle/>
          <a:p>
            <a:r>
              <a:rPr lang="en-GB"/>
              <a:t>GROUP MEMBERS</a:t>
            </a:r>
          </a:p>
        </p:txBody>
      </p:sp>
      <p:sp>
        <p:nvSpPr>
          <p:cNvPr id="1048654" name="Content Placeholder 2"/>
          <p:cNvSpPr>
            <a:spLocks noGrp="1" noEditPoints="1"/>
          </p:cNvSpPr>
          <p:nvPr>
            <p:ph idx="1"/>
          </p:nvPr>
        </p:nvSpPr>
        <p:spPr>
          <a:xfrm>
            <a:off x="838199" y="2391512"/>
            <a:ext cx="10515600" cy="4039507"/>
          </a:xfrm>
        </p:spPr>
        <p:txBody>
          <a:bodyPr/>
          <a:lstStyle/>
          <a:p>
            <a:pPr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Forson Prince</a:t>
            </a:r>
            <a:r>
              <a:rPr lang="en-US" altLang="en-GB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(9207619)</a:t>
            </a:r>
            <a:endParaRPr lang="en-GB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Mohammed Hafsa Bashir</a:t>
            </a: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en-US" altLang="en-GB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(9212819)</a:t>
            </a:r>
            <a:endParaRPr lang="en-GB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Boadi Princess Sophia</a:t>
            </a: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en-US" altLang="en-GB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(9204419)</a:t>
            </a:r>
            <a:endParaRPr lang="en-GB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Arthur Dorothy Otobbah</a:t>
            </a: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en-US" altLang="en-GB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(9201519)</a:t>
            </a:r>
            <a:endParaRPr lang="en-GB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Kosine Elsie Naa Adjaki</a:t>
            </a: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en-US" altLang="en-GB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(9221819)</a:t>
            </a:r>
            <a:endParaRPr lang="en-GB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Gyasi Philemon Kusi </a:t>
            </a:r>
            <a:r>
              <a:rPr lang="en-US" altLang="en-GB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(9208819)</a:t>
            </a:r>
            <a:endParaRPr lang="en-GB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GB"/>
          </a:p>
        </p:txBody>
      </p:sp>
      <p:sp>
        <p:nvSpPr>
          <p:cNvPr id="1048655" name="Rectangle 3"/>
          <p:cNvSpPr/>
          <p:nvPr/>
        </p:nvSpPr>
        <p:spPr>
          <a:xfrm>
            <a:off x="663574" y="2062314"/>
            <a:ext cx="8674728" cy="41011"/>
          </a:xfrm>
          <a:prstGeom prst="rect">
            <a:avLst/>
          </a:prstGeom>
          <a:solidFill>
            <a:srgbClr val="ED7C59"/>
          </a:solidFill>
          <a:ln w="12700" cap="flat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Presentation">
  <a:themeElements>
    <a:clrScheme name="ProjectPresentation">
      <a:dk1>
        <a:sysClr val="windowText" lastClr="000000"/>
      </a:dk1>
      <a:lt1>
        <a:sysClr val="window" lastClr="FFFFFF"/>
      </a:lt1>
      <a:dk2>
        <a:srgbClr val="417A9B"/>
      </a:dk2>
      <a:lt2>
        <a:srgbClr val="F4EBE3"/>
      </a:lt2>
      <a:accent1>
        <a:srgbClr val="ED7C59"/>
      </a:accent1>
      <a:accent2>
        <a:srgbClr val="00C4B9"/>
      </a:accent2>
      <a:accent3>
        <a:srgbClr val="F5AE00"/>
      </a:accent3>
      <a:accent4>
        <a:srgbClr val="74B287"/>
      </a:accent4>
      <a:accent5>
        <a:srgbClr val="EF5361"/>
      </a:accent5>
      <a:accent6>
        <a:srgbClr val="88C9CC"/>
      </a:accent6>
      <a:hlink>
        <a:srgbClr val="0563C1"/>
      </a:hlink>
      <a:folHlink>
        <a:srgbClr val="954F72"/>
      </a:folHlink>
    </a:clrScheme>
    <a:fontScheme name="Gill Sans MT - Gill Sans MT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ProjectPresentation</vt:lpstr>
      <vt:lpstr>THERMOREGULATION IN TERRESTRIAL REPTILES</vt:lpstr>
      <vt:lpstr>OUTLINE</vt:lpstr>
      <vt:lpstr>INTRODUCTION</vt:lpstr>
      <vt:lpstr> </vt:lpstr>
      <vt:lpstr>CHARACTERISTICS OF REPTILES</vt:lpstr>
      <vt:lpstr>TERRESTRIAL REPTILES</vt:lpstr>
      <vt:lpstr>EXAMPLES OF TERRESTRIAL REPTILES </vt:lpstr>
      <vt:lpstr>THERMOREGULATION IN TERRESTRIAL REPTILES</vt:lpstr>
      <vt:lpstr>a) Behavioural thermoregulation</vt:lpstr>
      <vt:lpstr>b)Physiological adaptation</vt:lpstr>
      <vt:lpstr>CONCLUSION</vt:lpstr>
      <vt:lpstr>REFERENCES</vt:lpstr>
      <vt:lpstr>GROUP MEMBERS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Philemon Gyasi Kusi</dc:creator>
  <cp:lastModifiedBy>Philemon Gyasi</cp:lastModifiedBy>
  <cp:revision>1</cp:revision>
  <dcterms:created xsi:type="dcterms:W3CDTF">2020-03-05T14:05:00Z</dcterms:created>
  <dcterms:modified xsi:type="dcterms:W3CDTF">2023-07-20T12:46:00Z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16A0E3BC44DF4DE0A45051FD3CD4E0E7</vt:lpwstr>
  </property>
  <property fmtid="{D5CDD505-2E9C-101B-9397-08002B2CF9AE}" pid="3" name="KSOProductBuildVer">
    <vt:lpwstr>1033-11.2.0.11537</vt:lpwstr>
  </property>
</Properties>
</file>