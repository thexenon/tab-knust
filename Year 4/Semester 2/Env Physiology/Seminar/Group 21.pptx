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8"/>
  </p:notesMasterIdLst>
  <p:sldIdLst>
    <p:sldId id="256" r:id="rId3"/>
    <p:sldId id="268" r:id="rId4"/>
    <p:sldId id="258" r:id="rId5"/>
    <p:sldId id="259" r:id="rId6"/>
    <p:sldId id="262" r:id="rId7"/>
    <p:sldId id="257" r:id="rId8"/>
    <p:sldId id="280" r:id="rId9"/>
    <p:sldId id="266" r:id="rId10"/>
    <p:sldId id="260" r:id="rId11"/>
    <p:sldId id="267" r:id="rId12"/>
    <p:sldId id="269" r:id="rId13"/>
    <p:sldId id="261" r:id="rId14"/>
    <p:sldId id="270" r:id="rId15"/>
    <p:sldId id="279" r:id="rId16"/>
    <p:sldId id="288"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2" autoAdjust="0"/>
    <p:restoredTop sz="94660"/>
  </p:normalViewPr>
  <p:slideViewPr>
    <p:cSldViewPr snapToGrid="0">
      <p:cViewPr varScale="1">
        <p:scale>
          <a:sx n="78" d="100"/>
          <a:sy n="78" d="100"/>
        </p:scale>
        <p:origin x="420"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1" Type="http://schemas.openxmlformats.org/officeDocument/2006/relationships/tableStyles" Target="tableStyles.xml"/><Relationship Id="rId20" Type="http://schemas.openxmlformats.org/officeDocument/2006/relationships/viewProps" Target="viewProps.xml"/><Relationship Id="rId2" Type="http://schemas.openxmlformats.org/officeDocument/2006/relationships/theme" Target="theme/theme1.xml"/><Relationship Id="rId19" Type="http://schemas.openxmlformats.org/officeDocument/2006/relationships/presProps" Target="presProps.xml"/><Relationship Id="rId18" Type="http://schemas.openxmlformats.org/officeDocument/2006/relationships/notesMaster" Target="notesMasters/notesMaster1.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bg>
      <p:bgPr>
        <a:solidFill>
          <a:schemeClr val="bg1"/>
        </a:solidFill>
        <a:effectLst/>
      </p:bgPr>
    </p:bg>
    <p:spTree>
      <p:nvGrpSpPr>
        <p:cNvPr id="1" name=""/>
        <p:cNvGrpSpPr/>
        <p:nvPr/>
      </p:nvGrpSpPr>
      <p:grpSpPr>
        <a:xfrm>
          <a:off x="0" y="0"/>
          <a:ext cx="0" cy="0"/>
          <a:chOff x="0" y="0"/>
          <a:chExt cx="0" cy="0"/>
        </a:xfrm>
      </p:grpSpPr>
      <p:pic>
        <p:nvPicPr>
          <p:cNvPr id="2050" name="Picture 2"/>
          <p:cNvPicPr>
            <a:picLocks noChangeAspect="1"/>
          </p:cNvPicPr>
          <p:nvPr/>
        </p:nvPicPr>
        <p:blipFill>
          <a:blip r:embed="rId2"/>
          <a:stretch>
            <a:fillRect/>
          </a:stretch>
        </p:blipFill>
        <p:spPr>
          <a:xfrm>
            <a:off x="0" y="0"/>
            <a:ext cx="12208933" cy="6858000"/>
          </a:xfrm>
          <a:prstGeom prst="rect">
            <a:avLst/>
          </a:prstGeom>
          <a:noFill/>
          <a:ln w="9525">
            <a:noFill/>
          </a:ln>
        </p:spPr>
      </p:pic>
      <p:sp>
        <p:nvSpPr>
          <p:cNvPr id="2051" name="Rectangle 3"/>
          <p:cNvSpPr>
            <a:spLocks noGrp="1" noChangeArrowheads="1"/>
          </p:cNvSpPr>
          <p:nvPr>
            <p:ph type="ctrTitle"/>
          </p:nvPr>
        </p:nvSpPr>
        <p:spPr>
          <a:xfrm>
            <a:off x="624417" y="1196975"/>
            <a:ext cx="10943167" cy="1082675"/>
          </a:xfrm>
        </p:spPr>
        <p:txBody>
          <a:bodyPr/>
          <a:lstStyle>
            <a:lvl1pPr algn="ctr">
              <a:defRPr>
                <a:solidFill>
                  <a:schemeClr val="bg1"/>
                </a:solidFill>
              </a:defRPr>
            </a:lvl1pPr>
          </a:lstStyle>
          <a:p>
            <a:pPr lvl="0"/>
            <a:r>
              <a:rPr lang="en-US" altLang="zh-CN" noProof="0"/>
              <a:t>Click to edit Master title style</a:t>
            </a:r>
            <a:endParaRPr lang="en-US" altLang="zh-CN" noProof="0"/>
          </a:p>
        </p:txBody>
      </p:sp>
      <p:sp>
        <p:nvSpPr>
          <p:cNvPr id="2052" name="Rectangle 4"/>
          <p:cNvSpPr>
            <a:spLocks noGrp="1" noChangeArrowheads="1"/>
          </p:cNvSpPr>
          <p:nvPr>
            <p:ph type="subTitle" idx="1"/>
          </p:nvPr>
        </p:nvSpPr>
        <p:spPr>
          <a:xfrm>
            <a:off x="626533" y="2422525"/>
            <a:ext cx="10949517" cy="1752600"/>
          </a:xfrm>
        </p:spPr>
        <p:txBody>
          <a:bodyPr/>
          <a:lstStyle>
            <a:lvl1pPr marL="0" indent="0" algn="ctr">
              <a:buFontTx/>
              <a:buNone/>
              <a:defRPr>
                <a:solidFill>
                  <a:schemeClr val="bg1"/>
                </a:solidFill>
              </a:defRPr>
            </a:lvl1pPr>
          </a:lstStyle>
          <a:p>
            <a:pPr lvl="0"/>
            <a:r>
              <a:rPr lang="en-US" altLang="zh-CN" noProof="0"/>
              <a:t>Click to edit Master subtitle style</a:t>
            </a:r>
            <a:endParaRPr lang="en-US" altLang="zh-CN" noProof="0"/>
          </a:p>
        </p:txBody>
      </p:sp>
      <p:sp>
        <p:nvSpPr>
          <p:cNvPr id="9" name="Rectangle 5"/>
          <p:cNvSpPr>
            <a:spLocks noGrp="1" noChangeArrowheads="1"/>
          </p:cNvSpPr>
          <p:nvPr>
            <p:ph type="dt" sz="half" idx="2"/>
          </p:nvPr>
        </p:nvSpPr>
        <p:spPr bwMode="auto">
          <a:xfrm>
            <a:off x="609600" y="6245225"/>
            <a:ext cx="2844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63A1C593-65D0-4073-BCC9-577B9352EA97}" type="datetimeFigureOut">
              <a:rPr lang="en-US" smtClean="0"/>
            </a:fld>
            <a:endParaRPr lang="en-US"/>
          </a:p>
        </p:txBody>
      </p:sp>
      <p:sp>
        <p:nvSpPr>
          <p:cNvPr id="10" name="Rectangle 6"/>
          <p:cNvSpPr>
            <a:spLocks noGrp="1" noChangeArrowheads="1"/>
          </p:cNvSpPr>
          <p:nvPr>
            <p:ph type="ftr" sz="quarter" idx="3"/>
          </p:nvPr>
        </p:nvSpPr>
        <p:spPr bwMode="auto">
          <a:xfrm>
            <a:off x="4165600" y="6245225"/>
            <a:ext cx="3860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endParaRPr lang="en-US"/>
          </a:p>
        </p:txBody>
      </p:sp>
      <p:sp>
        <p:nvSpPr>
          <p:cNvPr id="11" name="Rectangle 7"/>
          <p:cNvSpPr>
            <a:spLocks noGrp="1" noChangeArrowheads="1"/>
          </p:cNvSpPr>
          <p:nvPr>
            <p:ph type="sldNum" sz="quarter" idx="4"/>
          </p:nvPr>
        </p:nvSpPr>
        <p:spPr bwMode="auto">
          <a:xfrm>
            <a:off x="8737600" y="6245225"/>
            <a:ext cx="2844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9B618960-8005-486C-9A75-10CB2AAC16F9}" type="slidenum">
              <a:rPr lang="en-US" smtClean="0"/>
            </a:fld>
            <a:endParaRPr lang="en-US"/>
          </a:p>
        </p:txBody>
      </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8"/>
            <a:ext cx="10515600" cy="2852737"/>
          </a:xfrm>
        </p:spPr>
        <p:txBody>
          <a:bodyPr anchor="b"/>
          <a:lstStyle>
            <a:lvl1pPr>
              <a:defRPr sz="6000"/>
            </a:lvl1pPr>
          </a:lstStyle>
          <a:p>
            <a:r>
              <a:rPr lang="en-US"/>
              <a:t>Click to edit Master title style</a:t>
            </a:r>
            <a:endParaRPr lang="en-US"/>
          </a:p>
        </p:txBody>
      </p:sp>
      <p:sp>
        <p:nvSpPr>
          <p:cNvPr id="3" name="Text Placeholder 2"/>
          <p:cNvSpPr>
            <a:spLocks noGrp="1"/>
          </p:cNvSpPr>
          <p:nvPr>
            <p:ph type="body" idx="1"/>
          </p:nvPr>
        </p:nvSpPr>
        <p:spPr>
          <a:xfrm>
            <a:off x="831851" y="4589463"/>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609600" y="1174750"/>
            <a:ext cx="5384800" cy="495300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6197600" y="1174750"/>
            <a:ext cx="5384800" cy="495300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317" y="365125"/>
            <a:ext cx="10515600" cy="1325563"/>
          </a:xfrm>
        </p:spPr>
        <p:txBody>
          <a:bodyPr/>
          <a:lstStyle/>
          <a:p>
            <a:r>
              <a:rPr lang="en-US"/>
              <a:t>Click to edit Master title style</a:t>
            </a:r>
            <a:endParaRPr lang="en-US"/>
          </a:p>
        </p:txBody>
      </p:sp>
      <p:sp>
        <p:nvSpPr>
          <p:cNvPr id="3" name="Text Placeholder 2"/>
          <p:cNvSpPr>
            <a:spLocks noGrp="1"/>
          </p:cNvSpPr>
          <p:nvPr>
            <p:ph type="body" idx="1"/>
          </p:nvPr>
        </p:nvSpPr>
        <p:spPr>
          <a:xfrm>
            <a:off x="840317"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840317" y="2505075"/>
            <a:ext cx="5158316"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72200" y="2505075"/>
            <a:ext cx="5183717"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a:t>Click to edit Master title style</a:t>
            </a:r>
            <a:endParaRPr lang="en-US"/>
          </a:p>
        </p:txBody>
      </p:sp>
      <p:sp>
        <p:nvSpPr>
          <p:cNvPr id="3" name="Content Placeholder 2"/>
          <p:cNvSpPr>
            <a:spLocks noGrp="1"/>
          </p:cNvSpPr>
          <p:nvPr>
            <p:ph idx="1"/>
          </p:nvPr>
        </p:nvSpPr>
        <p:spPr>
          <a:xfrm>
            <a:off x="5183717"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a:t>Click to edit Master title style</a:t>
            </a:r>
            <a:endParaRPr lang="en-US"/>
          </a:p>
        </p:txBody>
      </p:sp>
      <p:sp>
        <p:nvSpPr>
          <p:cNvPr id="3" name="Picture Placeholder 2"/>
          <p:cNvSpPr>
            <a:spLocks noGrp="1"/>
          </p:cNvSpPr>
          <p:nvPr>
            <p:ph type="pic" idx="1"/>
          </p:nvPr>
        </p:nvSpPr>
        <p:spPr>
          <a:xfrm>
            <a:off x="5183717" y="987425"/>
            <a:ext cx="6172200"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base" latinLnBrk="0" hangingPunct="1">
              <a:lnSpc>
                <a:spcPct val="100000"/>
              </a:lnSpc>
              <a:spcBef>
                <a:spcPct val="20000"/>
              </a:spcBef>
              <a:spcAft>
                <a:spcPct val="0"/>
              </a:spcAft>
              <a:buClrTx/>
              <a:buSzTx/>
              <a:buFontTx/>
              <a:buNone/>
              <a:defRPr/>
            </a:pPr>
            <a:endParaRPr kumimoji="0" 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190500"/>
            <a:ext cx="2743200" cy="5937250"/>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609600" y="190500"/>
            <a:ext cx="8026400" cy="5937250"/>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2.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9"/>
          <p:cNvPicPr>
            <a:picLocks noChangeAspect="1"/>
          </p:cNvPicPr>
          <p:nvPr/>
        </p:nvPicPr>
        <p:blipFill>
          <a:blip r:embed="rId12"/>
          <a:stretch>
            <a:fillRect/>
          </a:stretch>
        </p:blipFill>
        <p:spPr>
          <a:xfrm>
            <a:off x="0" y="0"/>
            <a:ext cx="12208933" cy="6858000"/>
          </a:xfrm>
          <a:prstGeom prst="rect">
            <a:avLst/>
          </a:prstGeom>
          <a:noFill/>
          <a:ln w="9525">
            <a:noFill/>
          </a:ln>
        </p:spPr>
      </p:pic>
      <p:sp>
        <p:nvSpPr>
          <p:cNvPr id="1027" name="Rectangle 3"/>
          <p:cNvSpPr>
            <a:spLocks noGrp="1"/>
          </p:cNvSpPr>
          <p:nvPr>
            <p:ph type="title"/>
          </p:nvPr>
        </p:nvSpPr>
        <p:spPr>
          <a:xfrm>
            <a:off x="609600" y="190500"/>
            <a:ext cx="10972800" cy="582613"/>
          </a:xfrm>
          <a:prstGeom prst="rect">
            <a:avLst/>
          </a:prstGeom>
          <a:noFill/>
          <a:ln w="9525">
            <a:noFill/>
          </a:ln>
        </p:spPr>
        <p:txBody>
          <a:bodyPr anchor="ctr"/>
          <a:lstStyle/>
          <a:p>
            <a:pPr lvl="0"/>
            <a:r>
              <a:rPr lang="en-US" altLang="zh-CN" dirty="0"/>
              <a:t>Click to edit Master title style</a:t>
            </a:r>
            <a:endParaRPr lang="en-US" altLang="zh-CN" dirty="0"/>
          </a:p>
        </p:txBody>
      </p:sp>
      <p:sp>
        <p:nvSpPr>
          <p:cNvPr id="1028" name="Rectangle 4"/>
          <p:cNvSpPr>
            <a:spLocks noGrp="1"/>
          </p:cNvSpPr>
          <p:nvPr>
            <p:ph type="body" idx="1"/>
          </p:nvPr>
        </p:nvSpPr>
        <p:spPr>
          <a:xfrm>
            <a:off x="609600" y="1174750"/>
            <a:ext cx="10972800" cy="4953000"/>
          </a:xfrm>
          <a:prstGeom prst="rect">
            <a:avLst/>
          </a:prstGeom>
          <a:noFill/>
          <a:ln w="9525">
            <a:noFill/>
          </a:ln>
        </p:spPr>
        <p:txBody>
          <a:bodyPr/>
          <a:lstStyle/>
          <a:p>
            <a:pPr lvl="0"/>
            <a:r>
              <a:rPr lang="en-US" altLang="zh-CN" dirty="0"/>
              <a:t>Click to edit Master text styles</a:t>
            </a:r>
            <a:endParaRPr lang="en-US" altLang="zh-CN" dirty="0"/>
          </a:p>
          <a:p>
            <a:pPr lvl="1"/>
            <a:r>
              <a:rPr lang="en-US" altLang="zh-CN" dirty="0"/>
              <a:t>Second level</a:t>
            </a:r>
            <a:endParaRPr lang="en-US" altLang="zh-CN" dirty="0"/>
          </a:p>
          <a:p>
            <a:pPr lvl="2"/>
            <a:r>
              <a:rPr lang="en-US" altLang="zh-CN" dirty="0"/>
              <a:t>Third level</a:t>
            </a:r>
            <a:endParaRPr lang="en-US" altLang="zh-CN" dirty="0"/>
          </a:p>
          <a:p>
            <a:pPr lvl="3"/>
            <a:r>
              <a:rPr lang="en-US" altLang="zh-CN" dirty="0"/>
              <a:t>Fourth level</a:t>
            </a:r>
            <a:endParaRPr lang="en-US" altLang="zh-CN" dirty="0"/>
          </a:p>
          <a:p>
            <a:pPr lvl="4"/>
            <a:r>
              <a:rPr lang="en-US" altLang="zh-CN" dirty="0"/>
              <a:t>Fifth level</a:t>
            </a:r>
            <a:endParaRPr lang="en-US" altLang="zh-CN" dirty="0"/>
          </a:p>
        </p:txBody>
      </p:sp>
      <p:sp>
        <p:nvSpPr>
          <p:cNvPr id="1029" name="Rectangle 5"/>
          <p:cNvSpPr>
            <a:spLocks noGrp="1" noChangeArrowheads="1"/>
          </p:cNvSpPr>
          <p:nvPr>
            <p:ph type="dt" sz="half" idx="2"/>
          </p:nvPr>
        </p:nvSpPr>
        <p:spPr bwMode="auto">
          <a:xfrm>
            <a:off x="609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400"/>
            </a:lvl1pPr>
          </a:lstStyle>
          <a:p>
            <a:fld id="{63A1C593-65D0-4073-BCC9-577B9352EA97}" type="datetimeFigureOut">
              <a:rPr lang="en-US" smtClean="0"/>
            </a:fld>
            <a:endParaRPr lang="en-US"/>
          </a:p>
        </p:txBody>
      </p:sp>
      <p:sp>
        <p:nvSpPr>
          <p:cNvPr id="1030" name="Rectangle 6"/>
          <p:cNvSpPr>
            <a:spLocks noGrp="1" noChangeArrowheads="1"/>
          </p:cNvSpPr>
          <p:nvPr>
            <p:ph type="ftr" sz="quarter" idx="3"/>
          </p:nvPr>
        </p:nvSpPr>
        <p:spPr bwMode="auto">
          <a:xfrm>
            <a:off x="4165600" y="6245225"/>
            <a:ext cx="3860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a:defRPr sz="1400"/>
            </a:lvl1pPr>
          </a:lstStyle>
          <a:p>
            <a:endParaRPr lang="en-US"/>
          </a:p>
        </p:txBody>
      </p:sp>
      <p:sp>
        <p:nvSpPr>
          <p:cNvPr id="1031" name="Rectangle 7"/>
          <p:cNvSpPr>
            <a:spLocks noGrp="1" noChangeArrowheads="1"/>
          </p:cNvSpPr>
          <p:nvPr>
            <p:ph type="sldNum" sz="quarter" idx="4"/>
          </p:nvPr>
        </p:nvSpPr>
        <p:spPr bwMode="auto">
          <a:xfrm>
            <a:off x="8737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400"/>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rtl="0" fontAlgn="base">
        <a:spcBef>
          <a:spcPct val="0"/>
        </a:spcBef>
        <a:spcAft>
          <a:spcPct val="0"/>
        </a:spcAft>
        <a:defRPr sz="3600" kern="1200">
          <a:solidFill>
            <a:schemeClr val="tx1"/>
          </a:solidFill>
          <a:latin typeface="+mj-lt"/>
          <a:ea typeface="+mj-ea"/>
          <a:cs typeface="+mj-cs"/>
        </a:defRPr>
      </a:lvl1pPr>
      <a:lvl2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2pPr>
      <a:lvl3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3pPr>
      <a:lvl4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4pPr>
      <a:lvl5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5pPr>
      <a:lvl6pPr marL="4572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6pPr>
      <a:lvl7pPr marL="9144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7pPr>
      <a:lvl8pPr marL="13716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8pPr>
      <a:lvl9pPr marL="18288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9pPr>
    </p:titleStyle>
    <p:body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3.jpe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4.jpe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5.jpe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6.jpe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7.jpe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433705"/>
            <a:ext cx="9144000" cy="3662045"/>
          </a:xfrm>
        </p:spPr>
        <p:txBody>
          <a:bodyPr>
            <a:normAutofit/>
          </a:bodyPr>
          <a:lstStyle/>
          <a:p>
            <a:r>
              <a:rPr lang="en-US" sz="4400" dirty="0">
                <a:solidFill>
                  <a:schemeClr val="tx1"/>
                </a:solidFill>
                <a:latin typeface="Times New Roman" panose="02020603050405020304" charset="0"/>
                <a:cs typeface="Times New Roman" panose="02020603050405020304" charset="0"/>
              </a:rPr>
              <a:t>POLLUTION EFFECTS ON REPRODUCTION IN</a:t>
            </a:r>
            <a:br>
              <a:rPr lang="en-US" sz="4400" dirty="0">
                <a:solidFill>
                  <a:schemeClr val="tx1"/>
                </a:solidFill>
                <a:latin typeface="Times New Roman" panose="02020603050405020304" charset="0"/>
                <a:cs typeface="Times New Roman" panose="02020603050405020304" charset="0"/>
              </a:rPr>
            </a:br>
            <a:r>
              <a:rPr lang="en-US" sz="4400" dirty="0">
                <a:solidFill>
                  <a:schemeClr val="tx1"/>
                </a:solidFill>
                <a:latin typeface="Times New Roman" panose="02020603050405020304" charset="0"/>
                <a:cs typeface="Times New Roman" panose="02020603050405020304" charset="0"/>
              </a:rPr>
              <a:t>REPTILES, BIRDS, FISH AND MARINE ANIMALS</a:t>
            </a:r>
            <a:r>
              <a:rPr lang="en-US" sz="4400" dirty="0"/>
              <a:t>  </a:t>
            </a:r>
            <a:endParaRPr lang="en-US" sz="4400" dirty="0"/>
          </a:p>
        </p:txBody>
      </p:sp>
      <p:sp>
        <p:nvSpPr>
          <p:cNvPr id="3" name="Subtitle 2"/>
          <p:cNvSpPr>
            <a:spLocks noGrp="1"/>
          </p:cNvSpPr>
          <p:nvPr>
            <p:ph type="subTitle" idx="1"/>
          </p:nvPr>
        </p:nvSpPr>
        <p:spPr>
          <a:xfrm>
            <a:off x="2063750" y="4095750"/>
            <a:ext cx="9218295" cy="584200"/>
          </a:xfrm>
        </p:spPr>
        <p:txBody>
          <a:bodyPr>
            <a:scene3d>
              <a:camera prst="orthographicFront"/>
              <a:lightRig rig="threePt" dir="t"/>
            </a:scene3d>
          </a:bodyPr>
          <a:lstStyle/>
          <a:p>
            <a:r>
              <a:rPr lang="en-US">
                <a:solidFill>
                  <a:schemeClr val="tx1"/>
                </a:solidFill>
                <a:effectLst>
                  <a:outerShdw blurRad="38100" dist="19050" dir="2700000" algn="tl" rotWithShape="0">
                    <a:schemeClr val="dk1">
                      <a:alpha val="40000"/>
                    </a:schemeClr>
                  </a:outerShdw>
                </a:effectLst>
              </a:rPr>
              <a:t>GROUP 21</a:t>
            </a:r>
            <a:endParaRPr lang="en-US">
              <a:solidFill>
                <a:schemeClr val="tx1"/>
              </a:solidFill>
              <a:effectLst>
                <a:outerShdw blurRad="38100" dist="19050" dir="2700000" algn="tl" rotWithShape="0">
                  <a:schemeClr val="dk1">
                    <a:alpha val="40000"/>
                  </a:schemeClr>
                </a:outerShdw>
              </a:effectLst>
            </a:endParaRPr>
          </a:p>
          <a:p>
            <a:endParaRPr lang="en-US">
              <a:solidFill>
                <a:schemeClr val="tx1"/>
              </a:solidFill>
              <a:effectLst>
                <a:outerShdw blurRad="38100" dist="19050" dir="2700000" algn="tl" rotWithShape="0">
                  <a:schemeClr val="dk1">
                    <a:alpha val="40000"/>
                  </a:schemeClr>
                </a:outerShdw>
              </a:effectLst>
            </a:endParaRPr>
          </a:p>
          <a:p>
            <a:endParaRPr lang="en-US">
              <a:solidFill>
                <a:schemeClr val="tx1"/>
              </a:solidFill>
              <a:effectLst>
                <a:outerShdw blurRad="38100" dist="19050" dir="2700000" algn="tl" rotWithShape="0">
                  <a:schemeClr val="dk1">
                    <a:alpha val="40000"/>
                  </a:schemeClr>
                </a:outerShdw>
              </a:effectLst>
            </a:endParaRPr>
          </a:p>
          <a:p>
            <a:endParaRPr lang="en-US">
              <a:solidFill>
                <a:schemeClr val="tx1"/>
              </a:solidFill>
              <a:effectLst>
                <a:outerShdw blurRad="38100" dist="19050" dir="2700000" algn="tl" rotWithShape="0">
                  <a:schemeClr val="dk1">
                    <a:alpha val="40000"/>
                  </a:schemeClr>
                </a:outerShdw>
              </a:effectLst>
            </a:endParaRPr>
          </a:p>
        </p:txBody>
      </p:sp>
      <p:sp>
        <p:nvSpPr>
          <p:cNvPr id="4" name="Slide Number Placeholder 3"/>
          <p:cNvSpPr>
            <a:spLocks noGrp="1"/>
          </p:cNvSpPr>
          <p:nvPr>
            <p:ph type="sldNum" sz="quarter" idx="4"/>
          </p:nvPr>
        </p:nvSpPr>
        <p:spPr/>
        <p:txBody>
          <a:bodyPr/>
          <a:lstStyle/>
          <a:p>
            <a:fld id="{9B618960-8005-486C-9A75-10CB2AAC16F9}" type="slidenum">
              <a:rPr lang="en-US" sz="2800" smtClean="0"/>
            </a:fld>
            <a:endParaRPr lang="en-US" sz="28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a:t>OUTLINE</a:t>
            </a:r>
            <a:endParaRPr lang="en-US" sz="3200"/>
          </a:p>
        </p:txBody>
      </p:sp>
      <p:sp>
        <p:nvSpPr>
          <p:cNvPr id="3" name="Content Placeholder 2"/>
          <p:cNvSpPr>
            <a:spLocks noGrp="1"/>
          </p:cNvSpPr>
          <p:nvPr>
            <p:ph idx="1"/>
          </p:nvPr>
        </p:nvSpPr>
        <p:spPr/>
        <p:txBody>
          <a:bodyPr/>
          <a:lstStyle/>
          <a:p>
            <a:r>
              <a:rPr lang="en-US" sz="2800">
                <a:cs typeface="+mn-lt"/>
              </a:rPr>
              <a:t>INTRODUCTION</a:t>
            </a:r>
            <a:endParaRPr lang="en-US" sz="2800">
              <a:cs typeface="+mn-lt"/>
            </a:endParaRPr>
          </a:p>
          <a:p>
            <a:r>
              <a:rPr lang="en-US" sz="2800">
                <a:cs typeface="+mn-lt"/>
              </a:rPr>
              <a:t>GENERAL OVERVIEW</a:t>
            </a:r>
            <a:endParaRPr lang="en-US" sz="2800">
              <a:cs typeface="+mn-lt"/>
            </a:endParaRPr>
          </a:p>
          <a:p>
            <a:r>
              <a:rPr lang="en-US" sz="2800">
                <a:cs typeface="+mn-lt"/>
              </a:rPr>
              <a:t>POLLUTION EFFECT ON REPRODUCTION IN REPTILES</a:t>
            </a:r>
            <a:endParaRPr lang="en-US" sz="2800">
              <a:cs typeface="+mn-lt"/>
            </a:endParaRPr>
          </a:p>
          <a:p>
            <a:r>
              <a:rPr lang="en-US" sz="2800">
                <a:cs typeface="+mn-lt"/>
                <a:sym typeface="+mn-ea"/>
              </a:rPr>
              <a:t>POLLUTION EFFECT ON REPRODUCTION IN BIRDS</a:t>
            </a:r>
            <a:endParaRPr lang="en-US" sz="2800">
              <a:cs typeface="+mn-lt"/>
              <a:sym typeface="+mn-ea"/>
            </a:endParaRPr>
          </a:p>
          <a:p>
            <a:r>
              <a:rPr lang="en-US" sz="2800">
                <a:cs typeface="+mn-lt"/>
                <a:sym typeface="+mn-ea"/>
              </a:rPr>
              <a:t>POLLUTION EFFECT ON REPRODUCTION IN FISH</a:t>
            </a:r>
            <a:endParaRPr lang="en-US" sz="2800">
              <a:cs typeface="+mn-lt"/>
              <a:sym typeface="+mn-ea"/>
            </a:endParaRPr>
          </a:p>
          <a:p>
            <a:r>
              <a:rPr lang="en-US" sz="2800">
                <a:cs typeface="+mn-lt"/>
                <a:sym typeface="+mn-ea"/>
              </a:rPr>
              <a:t>POLLUTION EFFECT ON REPRODUCTION IN MARINE ANIMAL </a:t>
            </a:r>
            <a:endParaRPr lang="en-US" sz="2800">
              <a:cs typeface="+mn-lt"/>
              <a:sym typeface="+mn-ea"/>
            </a:endParaRPr>
          </a:p>
          <a:p>
            <a:r>
              <a:rPr lang="en-US" sz="2800">
                <a:cs typeface="+mn-lt"/>
              </a:rPr>
              <a:t>CONCLUSION </a:t>
            </a:r>
            <a:endParaRPr lang="en-US" sz="2800">
              <a:cs typeface="+mn-lt"/>
            </a:endParaRPr>
          </a:p>
          <a:p>
            <a:r>
              <a:rPr lang="en-US" sz="2800">
                <a:cs typeface="+mn-lt"/>
              </a:rPr>
              <a:t>REFERENCES</a:t>
            </a:r>
            <a:endParaRPr lang="en-US" sz="2800">
              <a:cs typeface="+mn-lt"/>
            </a:endParaRPr>
          </a:p>
        </p:txBody>
      </p:sp>
      <p:sp>
        <p:nvSpPr>
          <p:cNvPr id="4" name="Slide Number Placeholder 3"/>
          <p:cNvSpPr>
            <a:spLocks noGrp="1"/>
          </p:cNvSpPr>
          <p:nvPr>
            <p:ph type="sldNum" sz="quarter" idx="12"/>
          </p:nvPr>
        </p:nvSpPr>
        <p:spPr/>
        <p:txBody>
          <a:bodyPr/>
          <a:lstStyle/>
          <a:p>
            <a:fld id="{9B618960-8005-486C-9A75-10CB2AAC16F9}" type="slidenum">
              <a:rPr lang="en-US" sz="3200" smtClean="0"/>
            </a:fld>
            <a:endParaRPr lang="en-US" sz="32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a:latin typeface="Times New Roman" panose="02020603050405020304" charset="0"/>
                <a:cs typeface="Times New Roman" panose="02020603050405020304" charset="0"/>
              </a:rPr>
              <a:t>INTRODUCTION </a:t>
            </a:r>
            <a:endParaRPr lang="en-US" sz="2800">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609600" y="1174750"/>
            <a:ext cx="10972800" cy="4669155"/>
          </a:xfrm>
        </p:spPr>
        <p:txBody>
          <a:bodyPr/>
          <a:lstStyle/>
          <a:p>
            <a:pPr marL="0" indent="0">
              <a:buNone/>
            </a:pPr>
            <a:endParaRPr lang="en-US" dirty="0"/>
          </a:p>
          <a:p>
            <a:pPr marL="0" indent="0">
              <a:buNone/>
            </a:pPr>
            <a:r>
              <a:rPr lang="en-US" sz="2800" dirty="0">
                <a:cs typeface="+mn-lt"/>
              </a:rPr>
              <a:t>Pollution is the introduction of harmful substances into the environment. Examples of these pollutants or harmful substances include; plastics, heavy metals, noise, oil spills among others.  </a:t>
            </a:r>
            <a:endParaRPr lang="en-US" sz="2800" dirty="0">
              <a:cs typeface="+mn-lt"/>
            </a:endParaRPr>
          </a:p>
          <a:p>
            <a:pPr marL="0" indent="0">
              <a:buNone/>
            </a:pPr>
            <a:endParaRPr lang="en-US" sz="2800" dirty="0">
              <a:cs typeface="+mn-lt"/>
            </a:endParaRPr>
          </a:p>
          <a:p>
            <a:pPr marL="0" indent="0">
              <a:buNone/>
            </a:pPr>
            <a:r>
              <a:rPr lang="en-US" sz="2800" dirty="0">
                <a:cs typeface="+mn-lt"/>
              </a:rPr>
              <a:t>Pollution is a global issue that poses significant threat to the environment </a:t>
            </a:r>
            <a:endParaRPr lang="en-US" sz="2800" dirty="0">
              <a:cs typeface="+mn-lt"/>
            </a:endParaRPr>
          </a:p>
          <a:p>
            <a:pPr marL="0" indent="0">
              <a:buNone/>
            </a:pPr>
            <a:r>
              <a:rPr lang="en-US" sz="2800" dirty="0">
                <a:cs typeface="+mn-lt"/>
              </a:rPr>
              <a:t>and wildlife. Among the affected species, reptiles, birds, fishes and marine </a:t>
            </a:r>
            <a:endParaRPr lang="en-US" sz="2800" dirty="0">
              <a:cs typeface="+mn-lt"/>
            </a:endParaRPr>
          </a:p>
          <a:p>
            <a:pPr marL="0" indent="0">
              <a:buNone/>
            </a:pPr>
            <a:r>
              <a:rPr lang="en-US" sz="2800" dirty="0">
                <a:cs typeface="+mn-lt"/>
              </a:rPr>
              <a:t>animals face severe consequences as regards their reproductive abilities due to pollution.</a:t>
            </a:r>
            <a:endParaRPr lang="en-US" sz="2800" dirty="0">
              <a:cs typeface="+mn-lt"/>
            </a:endParaRPr>
          </a:p>
          <a:p>
            <a:endParaRPr lang="en-US" sz="2800" dirty="0">
              <a:cs typeface="+mn-lt"/>
            </a:endParaRPr>
          </a:p>
        </p:txBody>
      </p:sp>
      <p:sp>
        <p:nvSpPr>
          <p:cNvPr id="4" name="Slide Number Placeholder 3"/>
          <p:cNvSpPr>
            <a:spLocks noGrp="1"/>
          </p:cNvSpPr>
          <p:nvPr>
            <p:ph type="sldNum" sz="quarter" idx="12"/>
          </p:nvPr>
        </p:nvSpPr>
        <p:spPr/>
        <p:txBody>
          <a:bodyPr/>
          <a:lstStyle/>
          <a:p>
            <a:fld id="{9B618960-8005-486C-9A75-10CB2AAC16F9}" type="slidenum">
              <a:rPr lang="en-US" sz="2800" smtClean="0"/>
            </a:fld>
            <a:endParaRPr lang="en-US" sz="28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3550" y="357505"/>
            <a:ext cx="10972800" cy="817245"/>
          </a:xfrm>
        </p:spPr>
        <p:txBody>
          <a:bodyPr/>
          <a:lstStyle/>
          <a:p>
            <a:pPr algn="ctr"/>
            <a:r>
              <a:rPr lang="en-US" sz="2800" dirty="0"/>
              <a:t>GENERAL OVERVIEW OF POLLUTION EFFECTS ON REPRODUCTION IN REPTILES, BIRDS, FISHES AND MARINE ANIMALS</a:t>
            </a:r>
            <a:endParaRPr lang="en-US" sz="2800" dirty="0"/>
          </a:p>
        </p:txBody>
      </p:sp>
      <p:sp>
        <p:nvSpPr>
          <p:cNvPr id="3" name="Content Placeholder 2"/>
          <p:cNvSpPr>
            <a:spLocks noGrp="1"/>
          </p:cNvSpPr>
          <p:nvPr>
            <p:ph idx="1"/>
          </p:nvPr>
        </p:nvSpPr>
        <p:spPr>
          <a:xfrm>
            <a:off x="609600" y="1569085"/>
            <a:ext cx="10972800" cy="3886200"/>
          </a:xfrm>
        </p:spPr>
        <p:txBody>
          <a:bodyPr/>
          <a:lstStyle/>
          <a:p>
            <a:r>
              <a:rPr lang="en-US" sz="2800">
                <a:latin typeface="Times New Roman" panose="02020603050405020304" charset="0"/>
                <a:cs typeface="Times New Roman" panose="02020603050405020304" charset="0"/>
              </a:rPr>
              <a:t> </a:t>
            </a:r>
            <a:r>
              <a:rPr lang="en-US" sz="2800" b="1">
                <a:latin typeface="Times New Roman" panose="02020603050405020304" charset="0"/>
                <a:cs typeface="Times New Roman" panose="02020603050405020304" charset="0"/>
              </a:rPr>
              <a:t>Reduced fertility</a:t>
            </a:r>
            <a:r>
              <a:rPr lang="en-US" sz="2800">
                <a:latin typeface="Times New Roman" panose="02020603050405020304" charset="0"/>
                <a:cs typeface="Times New Roman" panose="02020603050405020304" charset="0"/>
              </a:rPr>
              <a:t>: Exposure to pollutants, especially endocrine-disrupting chemicals (EDCs), can interfere with the hormonal systems of the organisms. </a:t>
            </a:r>
            <a:endParaRPr lang="en-US" sz="2800">
              <a:latin typeface="Times New Roman" panose="02020603050405020304" charset="0"/>
              <a:cs typeface="Times New Roman" panose="02020603050405020304" charset="0"/>
            </a:endParaRPr>
          </a:p>
          <a:p>
            <a:r>
              <a:rPr lang="en-US" sz="2800" b="1">
                <a:latin typeface="Times New Roman" panose="02020603050405020304" charset="0"/>
                <a:cs typeface="Times New Roman" panose="02020603050405020304" charset="0"/>
              </a:rPr>
              <a:t>Egg viability</a:t>
            </a:r>
            <a:r>
              <a:rPr lang="en-US" sz="2800">
                <a:latin typeface="Times New Roman" panose="02020603050405020304" charset="0"/>
                <a:cs typeface="Times New Roman" panose="02020603050405020304" charset="0"/>
              </a:rPr>
              <a:t>: Pollution, especially environmental contaminants like heavy metals, can accumulate in the environment and contaminate the nesting sites of reptiles. </a:t>
            </a:r>
            <a:endParaRPr lang="en-US" sz="2800">
              <a:latin typeface="Times New Roman" panose="02020603050405020304" charset="0"/>
              <a:cs typeface="Times New Roman" panose="02020603050405020304" charset="0"/>
            </a:endParaRPr>
          </a:p>
          <a:p>
            <a:r>
              <a:rPr lang="en-US" sz="2800" b="1">
                <a:latin typeface="Times New Roman" panose="02020603050405020304" charset="0"/>
                <a:cs typeface="Times New Roman" panose="02020603050405020304" charset="0"/>
              </a:rPr>
              <a:t>Accumulation of toxic substances</a:t>
            </a:r>
            <a:r>
              <a:rPr lang="en-US" sz="2800">
                <a:latin typeface="Times New Roman" panose="02020603050405020304" charset="0"/>
                <a:cs typeface="Times New Roman" panose="02020603050405020304" charset="0"/>
              </a:rPr>
              <a:t>: These organisms may ingest pollutants directly or indirectly through contamination food sources. </a:t>
            </a:r>
            <a:endParaRPr lang="en-US" sz="2800">
              <a:latin typeface="Times New Roman" panose="02020603050405020304" charset="0"/>
              <a:cs typeface="Times New Roman" panose="02020603050405020304" charset="0"/>
            </a:endParaRPr>
          </a:p>
        </p:txBody>
      </p:sp>
      <p:sp>
        <p:nvSpPr>
          <p:cNvPr id="4" name="Slide Number Placeholder 3"/>
          <p:cNvSpPr>
            <a:spLocks noGrp="1"/>
          </p:cNvSpPr>
          <p:nvPr>
            <p:ph type="sldNum" sz="quarter" idx="12"/>
          </p:nvPr>
        </p:nvSpPr>
        <p:spPr/>
        <p:txBody>
          <a:bodyPr/>
          <a:lstStyle/>
          <a:p>
            <a:fld id="{9B618960-8005-486C-9A75-10CB2AAC16F9}" type="slidenum">
              <a:rPr lang="en-US" sz="2800" smtClean="0"/>
            </a:fld>
            <a:endParaRPr lang="en-US" sz="28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sz="2800" b="1">
                <a:latin typeface="Times New Roman" panose="02020603050405020304" charset="0"/>
                <a:cs typeface="Times New Roman" panose="02020603050405020304" charset="0"/>
                <a:sym typeface="+mn-ea"/>
              </a:rPr>
              <a:t>Hatchling survival</a:t>
            </a:r>
            <a:r>
              <a:rPr lang="en-US" sz="2800">
                <a:latin typeface="Times New Roman" panose="02020603050405020304" charset="0"/>
                <a:cs typeface="Times New Roman" panose="02020603050405020304" charset="0"/>
                <a:sym typeface="+mn-ea"/>
              </a:rPr>
              <a:t>: some pollutants can accumulate in the organism tissues and be transferred to developing embryos, potentially leading to reduced hatchling survival rates.</a:t>
            </a:r>
            <a:endParaRPr lang="en-US" sz="2800">
              <a:latin typeface="Times New Roman" panose="02020603050405020304" charset="0"/>
              <a:cs typeface="Times New Roman" panose="02020603050405020304" charset="0"/>
            </a:endParaRPr>
          </a:p>
          <a:p>
            <a:r>
              <a:rPr lang="en-US" sz="2800" b="1">
                <a:latin typeface="Times New Roman" panose="02020603050405020304" charset="0"/>
                <a:cs typeface="Times New Roman" panose="02020603050405020304" charset="0"/>
                <a:sym typeface="+mn-ea"/>
              </a:rPr>
              <a:t>Impaird courtship and mating behavior</a:t>
            </a:r>
            <a:r>
              <a:rPr lang="en-US" sz="2800">
                <a:latin typeface="Times New Roman" panose="02020603050405020304" charset="0"/>
                <a:cs typeface="Times New Roman" panose="02020603050405020304" charset="0"/>
                <a:sym typeface="+mn-ea"/>
              </a:rPr>
              <a:t>: Pollution can affect the behavoir and physiology of these organisms, including their courtship and mating rituals.</a:t>
            </a:r>
            <a:endParaRPr lang="en-US" sz="2800">
              <a:latin typeface="Times New Roman" panose="02020603050405020304" charset="0"/>
              <a:cs typeface="Times New Roman" panose="02020603050405020304" charset="0"/>
              <a:sym typeface="+mn-ea"/>
            </a:endParaRPr>
          </a:p>
          <a:p>
            <a:r>
              <a:rPr lang="en-US" sz="2800" b="1">
                <a:latin typeface="Times New Roman" panose="02020603050405020304" charset="0"/>
                <a:cs typeface="Times New Roman" panose="02020603050405020304" charset="0"/>
              </a:rPr>
              <a:t>Shifts in breeding timing and migration</a:t>
            </a:r>
            <a:r>
              <a:rPr lang="en-US" sz="2800">
                <a:latin typeface="Times New Roman" panose="02020603050405020304" charset="0"/>
                <a:cs typeface="Times New Roman" panose="02020603050405020304" charset="0"/>
              </a:rPr>
              <a:t>:</a:t>
            </a:r>
            <a:r>
              <a:rPr lang="en-US" sz="2800"/>
              <a:t> </a:t>
            </a:r>
            <a:r>
              <a:rPr lang="en-US" sz="2800">
                <a:latin typeface="Times New Roman" panose="02020603050405020304" charset="0"/>
                <a:cs typeface="Times New Roman" panose="02020603050405020304" charset="0"/>
              </a:rPr>
              <a:t>Climate change, which is closely linked to pollution, can influence the timing of key events in these organisms life cycle.</a:t>
            </a:r>
            <a:endParaRPr lang="en-US" sz="2800">
              <a:latin typeface="Times New Roman" panose="02020603050405020304" charset="0"/>
              <a:cs typeface="Times New Roman" panose="02020603050405020304" charset="0"/>
            </a:endParaRPr>
          </a:p>
        </p:txBody>
      </p:sp>
      <p:sp>
        <p:nvSpPr>
          <p:cNvPr id="4" name="Slide Number Placeholder 3"/>
          <p:cNvSpPr>
            <a:spLocks noGrp="1"/>
          </p:cNvSpPr>
          <p:nvPr>
            <p:ph type="sldNum" sz="quarter" idx="12"/>
          </p:nvPr>
        </p:nvSpPr>
        <p:spPr/>
        <p:txBody>
          <a:bodyPr/>
          <a:lstStyle/>
          <a:p>
            <a:fld id="{9B618960-8005-486C-9A75-10CB2AAC16F9}" type="slidenum">
              <a:rPr lang="en-US" sz="3200" smtClean="0">
                <a:cs typeface="+mn-lt"/>
              </a:rPr>
            </a:fld>
            <a:endParaRPr lang="en-US" sz="3200">
              <a:cs typeface="+mn-lt"/>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447040"/>
            <a:ext cx="10972800" cy="1039495"/>
          </a:xfrm>
        </p:spPr>
        <p:txBody>
          <a:bodyPr/>
          <a:lstStyle/>
          <a:p>
            <a:r>
              <a:rPr lang="en-US" sz="3200">
                <a:latin typeface="+mn-lt"/>
                <a:cs typeface="+mn-lt"/>
              </a:rPr>
              <a:t>EXAMPLES SHOWING POLLUTION EFFECT ON REPRODUCTION IN  SOME REPTILES </a:t>
            </a:r>
            <a:br>
              <a:rPr lang="en-US"/>
            </a:br>
            <a:endParaRPr lang="en-US"/>
          </a:p>
        </p:txBody>
      </p:sp>
      <p:sp>
        <p:nvSpPr>
          <p:cNvPr id="3" name="Content Placeholder 2"/>
          <p:cNvSpPr>
            <a:spLocks noGrp="1"/>
          </p:cNvSpPr>
          <p:nvPr>
            <p:ph sz="half" idx="1"/>
          </p:nvPr>
        </p:nvSpPr>
        <p:spPr>
          <a:xfrm>
            <a:off x="609600" y="1174749"/>
            <a:ext cx="5384800" cy="5546725"/>
          </a:xfrm>
        </p:spPr>
        <p:txBody>
          <a:bodyPr/>
          <a:lstStyle/>
          <a:p>
            <a:pPr marL="0" indent="0">
              <a:buNone/>
            </a:pPr>
            <a:r>
              <a:rPr lang="en-US" sz="2800" dirty="0">
                <a:latin typeface="Times New Roman" panose="02020603050405020304" charset="0"/>
                <a:cs typeface="Times New Roman" panose="02020603050405020304" charset="0"/>
              </a:rPr>
              <a:t> </a:t>
            </a:r>
            <a:endParaRPr lang="en-US" sz="2800" dirty="0">
              <a:latin typeface="Times New Roman" panose="02020603050405020304" charset="0"/>
              <a:cs typeface="Times New Roman" panose="02020603050405020304" charset="0"/>
            </a:endParaRPr>
          </a:p>
          <a:p>
            <a:r>
              <a:rPr lang="en-US" dirty="0">
                <a:cs typeface="+mn-lt"/>
              </a:rPr>
              <a:t>TURTLES</a:t>
            </a:r>
            <a:endParaRPr lang="en-US" dirty="0">
              <a:cs typeface="+mn-lt"/>
            </a:endParaRPr>
          </a:p>
          <a:p>
            <a:pPr marL="0" indent="0">
              <a:buNone/>
            </a:pPr>
            <a:r>
              <a:rPr lang="en-US" sz="2800" dirty="0">
                <a:cs typeface="+mn-lt"/>
              </a:rPr>
              <a:t>In the year 2000, a large crude oil spill from Sun Oil at the Refuge occurred. PAHs were subsequently detected in fat biopsies of turtles living in this area. This resulted in poor hatching success, the appearance of deformities and a decrease in survival rate in their young ones.</a:t>
            </a:r>
            <a:endParaRPr lang="en-US" sz="2800" dirty="0">
              <a:cs typeface="+mn-lt"/>
            </a:endParaRPr>
          </a:p>
          <a:p>
            <a:pPr marL="0" indent="0">
              <a:buNone/>
            </a:pPr>
            <a:endParaRPr lang="en-US" sz="2800" dirty="0">
              <a:cs typeface="+mn-lt"/>
            </a:endParaRPr>
          </a:p>
        </p:txBody>
      </p:sp>
      <p:sp>
        <p:nvSpPr>
          <p:cNvPr id="4" name="Slide Number Placeholder 3"/>
          <p:cNvSpPr>
            <a:spLocks noGrp="1"/>
          </p:cNvSpPr>
          <p:nvPr>
            <p:ph type="sldNum" sz="quarter" idx="12"/>
          </p:nvPr>
        </p:nvSpPr>
        <p:spPr/>
        <p:txBody>
          <a:bodyPr/>
          <a:lstStyle/>
          <a:p>
            <a:fld id="{9B618960-8005-486C-9A75-10CB2AAC16F9}" type="slidenum">
              <a:rPr lang="en-US" sz="2800" smtClean="0"/>
            </a:fld>
            <a:endParaRPr lang="en-US" sz="2800"/>
          </a:p>
        </p:txBody>
      </p:sp>
      <p:pic>
        <p:nvPicPr>
          <p:cNvPr id="5" name="Content Placeholder 4" descr="Screenshot_20230726-183459_Chrome"/>
          <p:cNvPicPr>
            <a:picLocks noGrp="1" noChangeAspect="1"/>
          </p:cNvPicPr>
          <p:nvPr>
            <p:ph sz="half" idx="2"/>
          </p:nvPr>
        </p:nvPicPr>
        <p:blipFill>
          <a:blip r:embed="rId1"/>
          <a:stretch>
            <a:fillRect/>
          </a:stretch>
        </p:blipFill>
        <p:spPr>
          <a:xfrm>
            <a:off x="6197600" y="3337560"/>
            <a:ext cx="5384800" cy="279019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ALLIGATORS </a:t>
            </a:r>
            <a:endParaRPr lang="en-US"/>
          </a:p>
        </p:txBody>
      </p:sp>
      <p:sp>
        <p:nvSpPr>
          <p:cNvPr id="3" name="Content Placeholder 2"/>
          <p:cNvSpPr>
            <a:spLocks noGrp="1"/>
          </p:cNvSpPr>
          <p:nvPr>
            <p:ph sz="half" idx="1"/>
          </p:nvPr>
        </p:nvSpPr>
        <p:spPr>
          <a:xfrm>
            <a:off x="609600" y="774065"/>
            <a:ext cx="5384800" cy="5947410"/>
          </a:xfrm>
        </p:spPr>
        <p:txBody>
          <a:bodyPr/>
          <a:lstStyle/>
          <a:p>
            <a:r>
              <a:rPr lang="en-US" dirty="0"/>
              <a:t>Juvenile</a:t>
            </a:r>
            <a:r>
              <a:rPr lang="en-US" i="1" dirty="0"/>
              <a:t> </a:t>
            </a:r>
            <a:r>
              <a:rPr lang="en-US" dirty="0"/>
              <a:t>A. </a:t>
            </a:r>
            <a:r>
              <a:rPr lang="en-US" i="1" dirty="0" err="1"/>
              <a:t>mississippiensis</a:t>
            </a:r>
            <a:r>
              <a:rPr lang="en-US" i="1" dirty="0"/>
              <a:t>, </a:t>
            </a:r>
            <a:r>
              <a:rPr lang="en-US" dirty="0"/>
              <a:t>alligators living in a lake in the state of Florida(USA), which is known to be polluted were  found to exhibit reduced phallus size and lower plasma concentrations to testosterone than those of alligators of similar size, living in low polluted areas.</a:t>
            </a:r>
            <a:endParaRPr lang="en-US" dirty="0"/>
          </a:p>
        </p:txBody>
      </p:sp>
      <p:sp>
        <p:nvSpPr>
          <p:cNvPr id="5" name="Slide Number Placeholder 4"/>
          <p:cNvSpPr>
            <a:spLocks noGrp="1"/>
          </p:cNvSpPr>
          <p:nvPr>
            <p:ph type="sldNum" sz="quarter" idx="12"/>
          </p:nvPr>
        </p:nvSpPr>
        <p:spPr/>
        <p:txBody>
          <a:bodyPr/>
          <a:lstStyle/>
          <a:p>
            <a:fld id="{9B618960-8005-486C-9A75-10CB2AAC16F9}" type="slidenum">
              <a:rPr lang="en-US" sz="3200" smtClean="0"/>
            </a:fld>
            <a:endParaRPr lang="en-US" sz="3200" dirty="0"/>
          </a:p>
        </p:txBody>
      </p:sp>
      <p:pic>
        <p:nvPicPr>
          <p:cNvPr id="6" name="Content Placeholder 5" descr="licensed-image"/>
          <p:cNvPicPr>
            <a:picLocks noGrp="1" noChangeAspect="1"/>
          </p:cNvPicPr>
          <p:nvPr>
            <p:ph sz="half" idx="2"/>
          </p:nvPr>
        </p:nvPicPr>
        <p:blipFill>
          <a:blip r:embed="rId1"/>
          <a:stretch>
            <a:fillRect/>
          </a:stretch>
        </p:blipFill>
        <p:spPr>
          <a:xfrm>
            <a:off x="6379845" y="2727960"/>
            <a:ext cx="5384800" cy="30289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a:latin typeface="+mn-lt"/>
                <a:cs typeface="+mn-lt"/>
              </a:rPr>
              <a:t>POLLUTION EFFECT ON REPRODUCTION IN BIRDS </a:t>
            </a:r>
            <a:endParaRPr lang="en-US" sz="3200">
              <a:latin typeface="+mn-lt"/>
              <a:cs typeface="+mn-lt"/>
            </a:endParaRPr>
          </a:p>
        </p:txBody>
      </p:sp>
      <p:sp>
        <p:nvSpPr>
          <p:cNvPr id="3" name="Content Placeholder 2"/>
          <p:cNvSpPr>
            <a:spLocks noGrp="1"/>
          </p:cNvSpPr>
          <p:nvPr>
            <p:ph sz="half" idx="1"/>
          </p:nvPr>
        </p:nvSpPr>
        <p:spPr/>
        <p:txBody>
          <a:bodyPr/>
          <a:lstStyle/>
          <a:p>
            <a:pPr marL="0" indent="0">
              <a:buNone/>
            </a:pPr>
            <a:r>
              <a:rPr lang="en-US" dirty="0">
                <a:cs typeface="+mn-lt"/>
              </a:rPr>
              <a:t>In the case of birds, a study at the species level showed that birds with low frequency birdsongs were negatively affected by noise pollution than with higher frequency vocal. (</a:t>
            </a:r>
            <a:r>
              <a:rPr lang="en-US" sz="2800" dirty="0">
                <a:cs typeface="+mn-lt"/>
              </a:rPr>
              <a:t>Masayuki, et al. November 11,2020</a:t>
            </a:r>
            <a:r>
              <a:rPr lang="en-US" dirty="0">
                <a:cs typeface="+mn-lt"/>
              </a:rPr>
              <a:t>)</a:t>
            </a:r>
            <a:endParaRPr lang="en-US" dirty="0">
              <a:cs typeface="+mn-lt"/>
            </a:endParaRPr>
          </a:p>
        </p:txBody>
      </p:sp>
      <p:sp>
        <p:nvSpPr>
          <p:cNvPr id="4" name="Slide Number Placeholder 3"/>
          <p:cNvSpPr>
            <a:spLocks noGrp="1"/>
          </p:cNvSpPr>
          <p:nvPr>
            <p:ph type="sldNum" sz="quarter" idx="12"/>
          </p:nvPr>
        </p:nvSpPr>
        <p:spPr/>
        <p:txBody>
          <a:bodyPr/>
          <a:lstStyle/>
          <a:p>
            <a:fld id="{9B618960-8005-486C-9A75-10CB2AAC16F9}" type="slidenum">
              <a:rPr lang="en-US" sz="2800" smtClean="0"/>
            </a:fld>
            <a:endParaRPr lang="en-US" sz="2800"/>
          </a:p>
        </p:txBody>
      </p:sp>
      <p:pic>
        <p:nvPicPr>
          <p:cNvPr id="5" name="Content Placeholder 4" descr="gull-with-litter-5a43ba1147c26600368d06e9"/>
          <p:cNvPicPr>
            <a:picLocks noGrp="1" noChangeAspect="1"/>
          </p:cNvPicPr>
          <p:nvPr>
            <p:ph sz="half" idx="2"/>
          </p:nvPr>
        </p:nvPicPr>
        <p:blipFill>
          <a:blip r:embed="rId1"/>
          <a:stretch>
            <a:fillRect/>
          </a:stretch>
        </p:blipFill>
        <p:spPr>
          <a:xfrm>
            <a:off x="6197600" y="1856105"/>
            <a:ext cx="5384800" cy="358965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charset="0"/>
                <a:cs typeface="Times New Roman" panose="02020603050405020304" charset="0"/>
              </a:rPr>
              <a:t>POLLUTION EFFECTS ON REPRODUCTION IN FISHES</a:t>
            </a:r>
            <a:endParaRPr lang="en-US" dirty="0">
              <a:latin typeface="Times New Roman" panose="02020603050405020304" charset="0"/>
              <a:cs typeface="Times New Roman" panose="02020603050405020304" charset="0"/>
            </a:endParaRPr>
          </a:p>
        </p:txBody>
      </p:sp>
      <p:sp>
        <p:nvSpPr>
          <p:cNvPr id="3" name="Content Placeholder 2"/>
          <p:cNvSpPr>
            <a:spLocks noGrp="1"/>
          </p:cNvSpPr>
          <p:nvPr>
            <p:ph sz="half" idx="1"/>
          </p:nvPr>
        </p:nvSpPr>
        <p:spPr/>
        <p:txBody>
          <a:bodyPr/>
          <a:lstStyle/>
          <a:p>
            <a:r>
              <a:rPr lang="en-US" dirty="0">
                <a:latin typeface="Times New Roman" panose="02020603050405020304" charset="0"/>
                <a:cs typeface="Times New Roman" panose="02020603050405020304" charset="0"/>
              </a:rPr>
              <a:t>Bioaccumulation and biomagnification</a:t>
            </a:r>
            <a:endParaRPr lang="en-US" dirty="0">
              <a:latin typeface="Times New Roman" panose="02020603050405020304" charset="0"/>
              <a:cs typeface="Times New Roman" panose="02020603050405020304" charset="0"/>
            </a:endParaRPr>
          </a:p>
          <a:p>
            <a:endParaRPr lang="en-US" dirty="0">
              <a:latin typeface="Times New Roman" panose="02020603050405020304" charset="0"/>
              <a:cs typeface="Times New Roman" panose="02020603050405020304" charset="0"/>
            </a:endParaRPr>
          </a:p>
          <a:p>
            <a:r>
              <a:rPr lang="en-US" dirty="0">
                <a:latin typeface="Times New Roman" panose="02020603050405020304" charset="0"/>
                <a:cs typeface="Times New Roman" panose="02020603050405020304" charset="0"/>
              </a:rPr>
              <a:t>Behavioral changes</a:t>
            </a:r>
            <a:endParaRPr lang="en-US" dirty="0">
              <a:latin typeface="Times New Roman" panose="02020603050405020304" charset="0"/>
              <a:cs typeface="Times New Roman" panose="02020603050405020304" charset="0"/>
            </a:endParaRPr>
          </a:p>
          <a:p>
            <a:pPr marL="0" indent="0">
              <a:buNone/>
            </a:pPr>
            <a:endParaRPr lang="en-US" dirty="0">
              <a:latin typeface="Times New Roman" panose="02020603050405020304" charset="0"/>
              <a:cs typeface="Times New Roman" panose="02020603050405020304" charset="0"/>
            </a:endParaRPr>
          </a:p>
          <a:p>
            <a:endParaRPr lang="en-US" dirty="0">
              <a:latin typeface="Times New Roman" panose="02020603050405020304" charset="0"/>
              <a:cs typeface="Times New Roman" panose="02020603050405020304" charset="0"/>
            </a:endParaRPr>
          </a:p>
          <a:p>
            <a:r>
              <a:rPr lang="en-US" dirty="0">
                <a:latin typeface="Times New Roman" panose="02020603050405020304" charset="0"/>
                <a:cs typeface="Times New Roman" panose="02020603050405020304" charset="0"/>
              </a:rPr>
              <a:t>Egg and larval development </a:t>
            </a:r>
            <a:endParaRPr lang="en-US" dirty="0">
              <a:latin typeface="Times New Roman" panose="02020603050405020304" charset="0"/>
              <a:cs typeface="Times New Roman" panose="02020603050405020304" charset="0"/>
            </a:endParaRPr>
          </a:p>
          <a:p>
            <a:endParaRPr lang="en-US" dirty="0">
              <a:latin typeface="Times New Roman" panose="02020603050405020304" charset="0"/>
              <a:cs typeface="Times New Roman" panose="02020603050405020304" charset="0"/>
            </a:endParaRPr>
          </a:p>
          <a:p>
            <a:pPr marL="0" indent="0">
              <a:buNone/>
            </a:pPr>
            <a:endParaRPr lang="en-US" dirty="0">
              <a:latin typeface="Times New Roman" panose="02020603050405020304" charset="0"/>
              <a:cs typeface="Times New Roman" panose="02020603050405020304" charset="0"/>
            </a:endParaRPr>
          </a:p>
        </p:txBody>
      </p:sp>
      <p:sp>
        <p:nvSpPr>
          <p:cNvPr id="4" name="Slide Number Placeholder 3"/>
          <p:cNvSpPr>
            <a:spLocks noGrp="1"/>
          </p:cNvSpPr>
          <p:nvPr>
            <p:ph type="sldNum" sz="quarter" idx="12"/>
          </p:nvPr>
        </p:nvSpPr>
        <p:spPr/>
        <p:txBody>
          <a:bodyPr/>
          <a:lstStyle/>
          <a:p>
            <a:fld id="{9B618960-8005-486C-9A75-10CB2AAC16F9}" type="slidenum">
              <a:rPr lang="en-US" sz="2800" smtClean="0"/>
            </a:fld>
            <a:endParaRPr lang="en-US" sz="2800"/>
          </a:p>
        </p:txBody>
      </p:sp>
      <p:pic>
        <p:nvPicPr>
          <p:cNvPr id="8" name="Content Placeholder 7" descr="istockphoto-1333781190-612x612"/>
          <p:cNvPicPr>
            <a:picLocks noGrp="1" noChangeAspect="1"/>
          </p:cNvPicPr>
          <p:nvPr>
            <p:ph sz="half" idx="2"/>
          </p:nvPr>
        </p:nvPicPr>
        <p:blipFill>
          <a:blip r:embed="rId1"/>
          <a:stretch>
            <a:fillRect/>
          </a:stretch>
        </p:blipFill>
        <p:spPr>
          <a:xfrm>
            <a:off x="5772785" y="773430"/>
            <a:ext cx="5911215" cy="518223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latin typeface="+mn-lt"/>
                <a:cs typeface="+mn-lt"/>
              </a:rPr>
              <a:t>POLLUTION EFFECTS ON REPRODUCTION IN MARINE ANIMALS</a:t>
            </a:r>
            <a:r>
              <a:rPr lang="en-US" dirty="0"/>
              <a:t> </a:t>
            </a:r>
            <a:endParaRPr lang="en-US" dirty="0"/>
          </a:p>
        </p:txBody>
      </p:sp>
      <p:sp>
        <p:nvSpPr>
          <p:cNvPr id="3" name="Content Placeholder 2"/>
          <p:cNvSpPr>
            <a:spLocks noGrp="1"/>
          </p:cNvSpPr>
          <p:nvPr>
            <p:ph sz="half" idx="1"/>
          </p:nvPr>
        </p:nvSpPr>
        <p:spPr/>
        <p:txBody>
          <a:bodyPr/>
          <a:lstStyle/>
          <a:p>
            <a:pPr marL="0" indent="0">
              <a:buNone/>
            </a:pPr>
            <a:endParaRPr lang="en-US" dirty="0">
              <a:latin typeface="Times New Roman" panose="02020603050405020304" charset="0"/>
              <a:cs typeface="Times New Roman" panose="02020603050405020304" charset="0"/>
            </a:endParaRPr>
          </a:p>
          <a:p>
            <a:endParaRPr lang="en-US" dirty="0">
              <a:latin typeface="Times New Roman" panose="02020603050405020304" charset="0"/>
              <a:cs typeface="Times New Roman" panose="02020603050405020304" charset="0"/>
            </a:endParaRPr>
          </a:p>
          <a:p>
            <a:r>
              <a:rPr lang="en-US" dirty="0">
                <a:latin typeface="Times New Roman" panose="02020603050405020304" charset="0"/>
                <a:cs typeface="Times New Roman" panose="02020603050405020304" charset="0"/>
              </a:rPr>
              <a:t>Coral reef bleaching</a:t>
            </a:r>
            <a:endParaRPr lang="en-US" dirty="0">
              <a:latin typeface="Times New Roman" panose="02020603050405020304" charset="0"/>
              <a:cs typeface="Times New Roman" panose="02020603050405020304" charset="0"/>
            </a:endParaRPr>
          </a:p>
          <a:p>
            <a:endParaRPr lang="en-US" dirty="0">
              <a:latin typeface="Times New Roman" panose="02020603050405020304" charset="0"/>
              <a:cs typeface="Times New Roman" panose="02020603050405020304" charset="0"/>
            </a:endParaRPr>
          </a:p>
          <a:p>
            <a:r>
              <a:rPr lang="en-US" dirty="0">
                <a:latin typeface="Times New Roman" panose="02020603050405020304" charset="0"/>
                <a:cs typeface="Times New Roman" panose="02020603050405020304" charset="0"/>
              </a:rPr>
              <a:t>Endocrine disruption</a:t>
            </a:r>
            <a:endParaRPr lang="en-US" dirty="0">
              <a:latin typeface="Times New Roman" panose="02020603050405020304" charset="0"/>
              <a:cs typeface="Times New Roman" panose="02020603050405020304" charset="0"/>
            </a:endParaRPr>
          </a:p>
          <a:p>
            <a:endParaRPr lang="en-US" dirty="0">
              <a:latin typeface="Times New Roman" panose="02020603050405020304" charset="0"/>
              <a:cs typeface="Times New Roman" panose="02020603050405020304" charset="0"/>
            </a:endParaRPr>
          </a:p>
          <a:p>
            <a:r>
              <a:rPr lang="en-US" dirty="0">
                <a:latin typeface="Times New Roman" panose="02020603050405020304" charset="0"/>
                <a:cs typeface="Times New Roman" panose="02020603050405020304" charset="0"/>
              </a:rPr>
              <a:t>Plastic pollution </a:t>
            </a:r>
            <a:endParaRPr lang="en-US" dirty="0">
              <a:latin typeface="Times New Roman" panose="02020603050405020304" charset="0"/>
              <a:cs typeface="Times New Roman" panose="02020603050405020304" charset="0"/>
            </a:endParaRPr>
          </a:p>
        </p:txBody>
      </p:sp>
      <p:sp>
        <p:nvSpPr>
          <p:cNvPr id="4" name="Slide Number Placeholder 3"/>
          <p:cNvSpPr>
            <a:spLocks noGrp="1"/>
          </p:cNvSpPr>
          <p:nvPr>
            <p:ph type="sldNum" sz="quarter" idx="12"/>
          </p:nvPr>
        </p:nvSpPr>
        <p:spPr/>
        <p:txBody>
          <a:bodyPr/>
          <a:lstStyle/>
          <a:p>
            <a:fld id="{9B618960-8005-486C-9A75-10CB2AAC16F9}" type="slidenum">
              <a:rPr lang="en-US" sz="2800" smtClean="0"/>
            </a:fld>
            <a:endParaRPr lang="en-US" sz="2800"/>
          </a:p>
        </p:txBody>
      </p:sp>
      <p:pic>
        <p:nvPicPr>
          <p:cNvPr id="5" name="Content Placeholder 4" descr="C0424326-Environmental_impact_of_plastics_pollution,_illustration"/>
          <p:cNvPicPr>
            <a:picLocks noGrp="1" noChangeAspect="1"/>
          </p:cNvPicPr>
          <p:nvPr>
            <p:ph sz="half" idx="2"/>
          </p:nvPr>
        </p:nvPicPr>
        <p:blipFill>
          <a:blip r:embed="rId1"/>
          <a:stretch>
            <a:fillRect/>
          </a:stretch>
        </p:blipFill>
        <p:spPr>
          <a:xfrm>
            <a:off x="4608830" y="603250"/>
            <a:ext cx="6481445" cy="55245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CONCLUSION</a:t>
            </a:r>
            <a:endParaRPr lang="en-US"/>
          </a:p>
        </p:txBody>
      </p:sp>
      <p:sp>
        <p:nvSpPr>
          <p:cNvPr id="3" name="Content Placeholder 2"/>
          <p:cNvSpPr>
            <a:spLocks noGrp="1"/>
          </p:cNvSpPr>
          <p:nvPr>
            <p:ph idx="1"/>
          </p:nvPr>
        </p:nvSpPr>
        <p:spPr>
          <a:xfrm>
            <a:off x="609600" y="1768475"/>
            <a:ext cx="10972800" cy="4953000"/>
          </a:xfrm>
        </p:spPr>
        <p:txBody>
          <a:bodyPr/>
          <a:lstStyle/>
          <a:p>
            <a:pPr marL="0" indent="0">
              <a:buNone/>
            </a:pPr>
            <a:r>
              <a:rPr lang="en-US"/>
              <a:t>Pollution poses a severe threat on the reproductive abilities</a:t>
            </a:r>
            <a:endParaRPr lang="en-US"/>
          </a:p>
          <a:p>
            <a:pPr marL="0" indent="0">
              <a:buNone/>
            </a:pPr>
            <a:r>
              <a:rPr lang="en-US"/>
              <a:t>of various organisms and so, it is advisable for the</a:t>
            </a:r>
            <a:endParaRPr lang="en-US"/>
          </a:p>
          <a:p>
            <a:pPr marL="0" indent="0">
              <a:buNone/>
            </a:pPr>
            <a:r>
              <a:rPr lang="en-US"/>
              <a:t>government and agencies to address the impacts it has on                </a:t>
            </a:r>
            <a:endParaRPr lang="en-US"/>
          </a:p>
          <a:p>
            <a:pPr marL="0" indent="0">
              <a:buNone/>
            </a:pPr>
            <a:r>
              <a:rPr lang="en-US"/>
              <a:t>these organisms to combat pollution and protect these </a:t>
            </a:r>
            <a:endParaRPr lang="en-US"/>
          </a:p>
          <a:p>
            <a:pPr marL="0" indent="0">
              <a:buNone/>
            </a:pPr>
            <a:r>
              <a:rPr lang="en-US"/>
              <a:t>vulnerable animal groups, thereby ensuring the crucial      </a:t>
            </a:r>
            <a:endParaRPr lang="en-US"/>
          </a:p>
          <a:p>
            <a:pPr marL="0" indent="0">
              <a:buNone/>
            </a:pPr>
            <a:r>
              <a:rPr lang="en-US"/>
              <a:t>safeguarding of biodiversity and ecosystem health.</a:t>
            </a:r>
            <a:endParaRPr lang="en-US"/>
          </a:p>
          <a:p>
            <a:pPr marL="0" indent="0">
              <a:buNone/>
            </a:pPr>
            <a:endParaRPr lang="en-US"/>
          </a:p>
          <a:p>
            <a:pPr marL="0" indent="0">
              <a:buNone/>
            </a:pPr>
            <a:endParaRPr lang="en-US"/>
          </a:p>
        </p:txBody>
      </p:sp>
      <p:sp>
        <p:nvSpPr>
          <p:cNvPr id="4" name="Slide Number Placeholder 3"/>
          <p:cNvSpPr>
            <a:spLocks noGrp="1"/>
          </p:cNvSpPr>
          <p:nvPr>
            <p:ph type="sldNum" sz="quarter" idx="12"/>
          </p:nvPr>
        </p:nvSpPr>
        <p:spPr/>
        <p:txBody>
          <a:bodyPr/>
          <a:lstStyle/>
          <a:p>
            <a:fld id="{9B618960-8005-486C-9A75-10CB2AAC16F9}" type="slidenum">
              <a:rPr lang="en-US" sz="3200" smtClean="0"/>
            </a:fld>
            <a:endParaRPr lang="en-US" sz="32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a:t>REFERENCES</a:t>
            </a:r>
            <a:r>
              <a:rPr lang="en-US"/>
              <a:t> </a:t>
            </a:r>
            <a:endParaRPr lang="en-US"/>
          </a:p>
        </p:txBody>
      </p:sp>
      <p:sp>
        <p:nvSpPr>
          <p:cNvPr id="3" name="Content Placeholder 2"/>
          <p:cNvSpPr>
            <a:spLocks noGrp="1"/>
          </p:cNvSpPr>
          <p:nvPr>
            <p:ph idx="1"/>
          </p:nvPr>
        </p:nvSpPr>
        <p:spPr/>
        <p:txBody>
          <a:bodyPr/>
          <a:lstStyle/>
          <a:p>
            <a:r>
              <a:rPr lang="en-US" sz="2800">
                <a:latin typeface="Times New Roman" panose="02020603050405020304" charset="0"/>
                <a:cs typeface="Times New Roman" panose="02020603050405020304" charset="0"/>
              </a:rPr>
              <a:t> </a:t>
            </a:r>
            <a:r>
              <a:rPr lang="en-US" sz="2800">
                <a:cs typeface="+mn-lt"/>
              </a:rPr>
              <a:t>Gibbon JW, Scott DE, Ryan TJ, Buhmann KA, Tuberville TD, Metts BS, Greene JL, Mills T, Leiden Y, Poppy S, Winne CT. 2000. The global decline of reptile, deja vu amphibian. BioScience 50 : 653-6</a:t>
            </a:r>
            <a:endParaRPr lang="en-US" sz="2800">
              <a:cs typeface="+mn-lt"/>
            </a:endParaRPr>
          </a:p>
          <a:p>
            <a:r>
              <a:rPr lang="en-US" sz="2800">
                <a:cs typeface="+mn-lt"/>
              </a:rPr>
              <a:t> Bell B, Spotila JR, Congdon J. 2006. High incidence of deformity in aquatic turtles in the John Heinz National Wildlife Refuge. Environ Pollut 142: 457– 465.</a:t>
            </a:r>
            <a:endParaRPr lang="en-US" sz="2800">
              <a:cs typeface="+mn-lt"/>
            </a:endParaRPr>
          </a:p>
          <a:p>
            <a:r>
              <a:rPr lang="en-US" sz="2800">
                <a:cs typeface="+mn-lt"/>
              </a:rPr>
              <a:t>Candolin U, Wong BBM. 2012 Sexual selection in changing environments: consequences for individuals and populations. In Behavioural responses to a changing world: mechanisms and consequences (eds Candolin U, Wong BBM), pp. 201-215. Oxford, UK: Oxford University Press. </a:t>
            </a:r>
            <a:endParaRPr lang="en-US" sz="2800">
              <a:cs typeface="+mn-lt"/>
            </a:endParaRPr>
          </a:p>
        </p:txBody>
      </p:sp>
      <p:sp>
        <p:nvSpPr>
          <p:cNvPr id="4" name="Slide Number Placeholder 3"/>
          <p:cNvSpPr>
            <a:spLocks noGrp="1"/>
          </p:cNvSpPr>
          <p:nvPr>
            <p:ph type="sldNum" sz="quarter" idx="12"/>
          </p:nvPr>
        </p:nvSpPr>
        <p:spPr/>
        <p:txBody>
          <a:bodyPr/>
          <a:lstStyle/>
          <a:p>
            <a:fld id="{9B618960-8005-486C-9A75-10CB2AAC16F9}" type="slidenum">
              <a:rPr lang="en-US" sz="3200" smtClean="0"/>
            </a:fld>
            <a:endParaRPr lang="en-US" sz="32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REFERENCES</a:t>
            </a:r>
            <a:endParaRPr lang="en-US"/>
          </a:p>
        </p:txBody>
      </p:sp>
      <p:sp>
        <p:nvSpPr>
          <p:cNvPr id="3" name="Content Placeholder 2"/>
          <p:cNvSpPr>
            <a:spLocks noGrp="1"/>
          </p:cNvSpPr>
          <p:nvPr>
            <p:ph idx="1"/>
          </p:nvPr>
        </p:nvSpPr>
        <p:spPr/>
        <p:txBody>
          <a:bodyPr/>
          <a:lstStyle/>
          <a:p>
            <a:r>
              <a:rPr lang="en-US" sz="2800"/>
              <a:t>Wingfield JC. 2015 Coping with change: a framework for environmental signals and how neuroendocrine pathways might respond. Front. Neuroendocrinol. 37, 89-96.</a:t>
            </a:r>
            <a:endParaRPr lang="en-US" sz="2800"/>
          </a:p>
          <a:p>
            <a:r>
              <a:rPr lang="en-US" sz="2800"/>
              <a:t>Guillette et al.,1999; Guillette and Guillette, 1996.</a:t>
            </a:r>
            <a:endParaRPr lang="en-US" sz="2800"/>
          </a:p>
        </p:txBody>
      </p:sp>
      <p:sp>
        <p:nvSpPr>
          <p:cNvPr id="4" name="Slide Number Placeholder 3"/>
          <p:cNvSpPr>
            <a:spLocks noGrp="1"/>
          </p:cNvSpPr>
          <p:nvPr>
            <p:ph type="sldNum" sz="quarter" idx="12"/>
          </p:nvPr>
        </p:nvSpPr>
        <p:spPr/>
        <p:txBody>
          <a:bodyPr/>
          <a:lstStyle/>
          <a:p>
            <a:fld id="{9B618960-8005-486C-9A75-10CB2AAC16F9}" type="slidenum">
              <a:rPr lang="en-US" sz="3200" smtClean="0"/>
            </a:fld>
            <a:endParaRPr lang="en-US" sz="32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3843020" y="2677795"/>
            <a:ext cx="4610735" cy="1249045"/>
          </a:xfrm>
        </p:spPr>
        <p:txBody>
          <a:bodyPr/>
          <a:lstStyle/>
          <a:p>
            <a:pPr marL="0" indent="0">
              <a:buNone/>
            </a:pPr>
            <a:r>
              <a:rPr lang="en-US" sz="4800">
                <a:ln w="22225">
                  <a:solidFill>
                    <a:schemeClr val="accent2"/>
                  </a:solidFill>
                  <a:prstDash val="solid"/>
                </a:ln>
                <a:solidFill>
                  <a:schemeClr val="accent2">
                    <a:lumMod val="40000"/>
                    <a:lumOff val="60000"/>
                  </a:schemeClr>
                </a:solidFill>
                <a:effectLst/>
                <a:cs typeface="+mn-lt"/>
              </a:rPr>
              <a:t>THANK YOU </a:t>
            </a:r>
            <a:endParaRPr lang="en-US" sz="4800">
              <a:ln w="22225">
                <a:solidFill>
                  <a:schemeClr val="accent2"/>
                </a:solidFill>
                <a:prstDash val="solid"/>
              </a:ln>
              <a:solidFill>
                <a:schemeClr val="accent2">
                  <a:lumMod val="40000"/>
                  <a:lumOff val="60000"/>
                </a:schemeClr>
              </a:solidFill>
              <a:effectLst/>
              <a:cs typeface="+mn-lt"/>
            </a:endParaRPr>
          </a:p>
        </p:txBody>
      </p:sp>
      <p:sp>
        <p:nvSpPr>
          <p:cNvPr id="4" name="Slide Number Placeholder 3"/>
          <p:cNvSpPr>
            <a:spLocks noGrp="1"/>
          </p:cNvSpPr>
          <p:nvPr>
            <p:ph type="sldNum" sz="quarter" idx="12"/>
          </p:nvPr>
        </p:nvSpPr>
        <p:spPr/>
        <p:txBody>
          <a:bodyPr/>
          <a:lstStyle/>
          <a:p>
            <a:fld id="{9B618960-8005-486C-9A75-10CB2AAC16F9}" type="slidenum">
              <a:rPr lang="en-US" sz="3200" smtClean="0"/>
            </a:fld>
            <a:endParaRPr lang="en-US" sz="32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GROUP MEMBERS </a:t>
            </a:r>
            <a:endParaRPr lang="en-US"/>
          </a:p>
        </p:txBody>
      </p:sp>
      <p:sp>
        <p:nvSpPr>
          <p:cNvPr id="3" name="Content Placeholder 2"/>
          <p:cNvSpPr>
            <a:spLocks noGrp="1"/>
          </p:cNvSpPr>
          <p:nvPr>
            <p:ph idx="1"/>
          </p:nvPr>
        </p:nvSpPr>
        <p:spPr/>
        <p:txBody>
          <a:bodyPr/>
          <a:p>
            <a:r>
              <a:rPr lang="en-US"/>
              <a:t>ADU ABENA OWUSU - 9196019</a:t>
            </a:r>
            <a:endParaRPr lang="en-US"/>
          </a:p>
          <a:p>
            <a:r>
              <a:rPr lang="en-US"/>
              <a:t>SMITH HENRY NII ARYEETEY - 9219219</a:t>
            </a:r>
            <a:endParaRPr lang="en-US"/>
          </a:p>
          <a:p>
            <a:r>
              <a:rPr lang="en-US"/>
              <a:t>RANDY OWUSU ADANSI - 9216819</a:t>
            </a:r>
            <a:endParaRPr lang="en-US"/>
          </a:p>
          <a:p>
            <a:r>
              <a:rPr lang="en-US"/>
              <a:t>ADJEI PETRA - 9195619</a:t>
            </a:r>
            <a:endParaRPr lang="en-US"/>
          </a:p>
          <a:p>
            <a:r>
              <a:rPr lang="en-US"/>
              <a:t>AFFENYI-BANSAH PRISCILLA - 9196419</a:t>
            </a:r>
            <a:endParaRPr lang="en-US"/>
          </a:p>
          <a:p>
            <a:r>
              <a:rPr lang="en-US"/>
              <a:t>ASIEDU PRECIOUS - 9202819</a:t>
            </a:r>
            <a:endParaRPr lang="en-US"/>
          </a:p>
          <a:p>
            <a:r>
              <a:rPr lang="en-US"/>
              <a:t>ABUBAKAR MUSAH - 9193819</a:t>
            </a:r>
            <a:endParaRPr lang="en-US"/>
          </a:p>
        </p:txBody>
      </p:sp>
      <p:sp>
        <p:nvSpPr>
          <p:cNvPr id="4" name="Slide Number Placeholder 3"/>
          <p:cNvSpPr>
            <a:spLocks noGrp="1"/>
          </p:cNvSpPr>
          <p:nvPr>
            <p:ph type="sldNum" sz="quarter" idx="12"/>
          </p:nvPr>
        </p:nvSpPr>
        <p:spPr/>
        <p:txBody>
          <a:bodyPr/>
          <a:p>
            <a:fld id="{9B618960-8005-486C-9A75-10CB2AAC16F9}" type="slidenum">
              <a:rPr lang="en-US" sz="2800" smtClean="0"/>
            </a:fld>
            <a:endParaRPr lang="en-US" sz="2800" smtClean="0"/>
          </a:p>
        </p:txBody>
      </p:sp>
    </p:spTree>
  </p:cSld>
  <p:clrMapOvr>
    <a:masterClrMapping/>
  </p:clrMapOvr>
</p:sld>
</file>

<file path=ppt/theme/theme1.xml><?xml version="1.0" encoding="utf-8"?>
<a:theme xmlns:a="http://schemas.openxmlformats.org/drawingml/2006/main" name="Blue Waves">
  <a:themeElements>
    <a:clrScheme name="Blue Waves 13">
      <a:dk1>
        <a:srgbClr val="000000"/>
      </a:dk1>
      <a:lt1>
        <a:srgbClr val="FFFFFF"/>
      </a:lt1>
      <a:dk2>
        <a:srgbClr val="000000"/>
      </a:dk2>
      <a:lt2>
        <a:srgbClr val="969696"/>
      </a:lt2>
      <a:accent1>
        <a:srgbClr val="0066CC"/>
      </a:accent1>
      <a:accent2>
        <a:srgbClr val="3399FF"/>
      </a:accent2>
      <a:accent3>
        <a:srgbClr val="FFFFFF"/>
      </a:accent3>
      <a:accent4>
        <a:srgbClr val="000000"/>
      </a:accent4>
      <a:accent5>
        <a:srgbClr val="AAB8E2"/>
      </a:accent5>
      <a:accent6>
        <a:srgbClr val="2D8AE7"/>
      </a:accent6>
      <a:hlink>
        <a:srgbClr val="CC3300"/>
      </a:hlink>
      <a:folHlink>
        <a:srgbClr val="996600"/>
      </a:folHlink>
    </a:clrScheme>
    <a:fontScheme name="Blue Waves">
      <a:majorFont>
        <a:latin typeface="Arial"/>
        <a:ea typeface="SimSun"/>
        <a:cs typeface=""/>
      </a:majorFont>
      <a:minorFont>
        <a:latin typeface="Arial"/>
        <a:ea typeface="SimSun"/>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spDef>
    <a:ln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lnDef>
  </a:objectDefaults>
  <a:extraClrSchemeLst>
    <a:extraClrScheme>
      <a:clrScheme name="Blue Waves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ue Waves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ue Waves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ue Waves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ue Waves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ue Waves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ue Waves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ue Waves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ue Waves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ue Waves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ue Waves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ue Waves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Blue Waves 13">
        <a:dk1>
          <a:srgbClr val="000000"/>
        </a:dk1>
        <a:lt1>
          <a:srgbClr val="FFFFFF"/>
        </a:lt1>
        <a:dk2>
          <a:srgbClr val="000000"/>
        </a:dk2>
        <a:lt2>
          <a:srgbClr val="969696"/>
        </a:lt2>
        <a:accent1>
          <a:srgbClr val="0066CC"/>
        </a:accent1>
        <a:accent2>
          <a:srgbClr val="3399FF"/>
        </a:accent2>
        <a:accent3>
          <a:srgbClr val="FFFFFF"/>
        </a:accent3>
        <a:accent4>
          <a:srgbClr val="000000"/>
        </a:accent4>
        <a:accent5>
          <a:srgbClr val="AAB8E2"/>
        </a:accent5>
        <a:accent6>
          <a:srgbClr val="2D8AE7"/>
        </a:accent6>
        <a:hlink>
          <a:srgbClr val="CC3300"/>
        </a:hlink>
        <a:folHlink>
          <a:srgbClr val="9966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4382</Words>
  <Application>WPS Presentation</Application>
  <PresentationFormat>Widescreen</PresentationFormat>
  <Paragraphs>136</Paragraphs>
  <Slides>15</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15</vt:i4>
      </vt:variant>
    </vt:vector>
  </HeadingPairs>
  <TitlesOfParts>
    <vt:vector size="23" baseType="lpstr">
      <vt:lpstr>Arial</vt:lpstr>
      <vt:lpstr>SimSun</vt:lpstr>
      <vt:lpstr>Wingdings</vt:lpstr>
      <vt:lpstr>Times New Roman</vt:lpstr>
      <vt:lpstr>Microsoft YaHei</vt:lpstr>
      <vt:lpstr>Arial Unicode MS</vt:lpstr>
      <vt:lpstr>Calibri</vt:lpstr>
      <vt:lpstr>Blue Waves</vt:lpstr>
      <vt:lpstr>POLLUTION EFFECTS ON REPRODUCTION IN REPTILES, BIRDS, FISH AND MARINE ANIMALS  </vt:lpstr>
      <vt:lpstr>OUTLINE</vt:lpstr>
      <vt:lpstr>INTRODUCTION </vt:lpstr>
      <vt:lpstr>GENERAL OVERVIEW OF POLLUTION EFFECTS ON REPRODUCTION IN REPTILES, BIRDS, FISHES AND MARINE ANIMALS</vt:lpstr>
      <vt:lpstr>PowerPoint 演示文稿</vt:lpstr>
      <vt:lpstr>EXAMPLES SHOWING POLLUTION EFFECT ON REPRODUCTION IN  SOME REPTILES  </vt:lpstr>
      <vt:lpstr>ALLIGATORS </vt:lpstr>
      <vt:lpstr>POLLUTION EFFECT ON REPRODUCTION IN BIRDS </vt:lpstr>
      <vt:lpstr>POLLUTION EFFECTS ON REPRODUCTION IN FISHES</vt:lpstr>
      <vt:lpstr>POLLUTION EFFECTS ON REPRODUCTION IN MARINE ANIMALS </vt:lpstr>
      <vt:lpstr>CONCLUSION</vt:lpstr>
      <vt:lpstr>REFERENCES </vt:lpstr>
      <vt:lpstr>REFERENCES</vt:lpstr>
      <vt:lpstr>PowerPoint 演示文稿</vt:lpstr>
      <vt:lpstr>GROUP MEMBERS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POLLUTION EFFECTS ON REPRODUCTION IN REPTILES, BIRDS, FISH AND MARINE ANIMALS</dc:title>
  <dc:creator>pc</dc:creator>
  <cp:lastModifiedBy>USER</cp:lastModifiedBy>
  <cp:revision>65</cp:revision>
  <dcterms:created xsi:type="dcterms:W3CDTF">2023-07-25T23:45:00Z</dcterms:created>
  <dcterms:modified xsi:type="dcterms:W3CDTF">2023-07-27T13:11:13Z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1033-11.2.0.9445</vt:lpwstr>
  </property>
</Properties>
</file>