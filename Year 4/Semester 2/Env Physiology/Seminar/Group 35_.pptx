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72" r:id="rId6"/>
    <p:sldId id="271" r:id="rId7"/>
    <p:sldId id="273" r:id="rId8"/>
    <p:sldId id="289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E7BAAB-66AE-4BC5-8059-E113358AB9C4}">
          <p14:sldIdLst>
            <p14:sldId id="256"/>
          </p14:sldIdLst>
        </p14:section>
        <p14:section name="Untitled Section" id="{4ADD78BA-3E1A-4A8A-9BE4-BC39738FDC5C}">
          <p14:sldIdLst>
            <p14:sldId id="257"/>
            <p14:sldId id="258"/>
            <p14:sldId id="272"/>
            <p14:sldId id="271"/>
            <p14:sldId id="273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5FD98-935D-4F04-88F3-462874A7D3A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8FD14-3B4C-44BD-AF0C-F00A447EE5E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DFFEDB3E-E008-41A2-BF2E-E2194556825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/>
          <p:nvPr>
            <p:ph sz="quarter" idx="13" hasCustomPrompt="1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00455482-9EC6-437E-8EBA-091392C230B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/>
          <p:nvPr>
            <p:ph type="body" idx="1" hasCustomPrompt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8835B26B-D1F2-4E95-9F9E-A1F208B4821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/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/>
          <p:nvPr>
            <p:ph sz="quarter" idx="13" hasCustomPrompt="1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/>
          <p:nvPr>
            <p:ph sz="quarter" idx="14" hasCustomPrompt="1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5A31CAD6-A06E-4014-9A86-8195C746F51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/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/>
          <p:nvPr>
            <p:ph type="body" idx="1" hasCustomPrompt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2" name="Content Placeholder 3"/>
          <p:cNvSpPr/>
          <p:nvPr>
            <p:ph sz="quarter" idx="13" hasCustomPrompt="1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/>
          <p:nvPr>
            <p:ph type="body" sz="quarter" idx="3" hasCustomPrompt="1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3" name="Content Placeholder 5"/>
          <p:cNvSpPr/>
          <p:nvPr>
            <p:ph sz="quarter" idx="14" hasCustomPrompt="1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/>
          <p:nvPr>
            <p:ph type="dt" sz="half" idx="10"/>
          </p:nvPr>
        </p:nvSpPr>
        <p:spPr/>
        <p:txBody>
          <a:bodyPr/>
          <a:lstStyle/>
          <a:p>
            <a:fld id="{8EDA4B72-EC79-436A-932E-F4AD3290343A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/>
          <p:nvPr>
            <p:ph type="dt" sz="half" idx="10"/>
          </p:nvPr>
        </p:nvSpPr>
        <p:spPr/>
        <p:txBody>
          <a:bodyPr/>
          <a:lstStyle/>
          <a:p>
            <a:fld id="{58A90980-D5B3-48D7-822F-08DFB037F19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/>
          <p:nvPr>
            <p:ph type="dt" sz="half" idx="10"/>
          </p:nvPr>
        </p:nvSpPr>
        <p:spPr/>
        <p:txBody>
          <a:bodyPr/>
          <a:lstStyle/>
          <a:p>
            <a:fld id="{EEF45DFB-782D-4281-96E2-B07DBA98542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/>
          <p:nvPr>
            <p:ph sz="quarter" idx="13" hasCustomPrompt="1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/>
          <p:nvPr>
            <p:ph type="body" sz="half" idx="2" hasCustomPrompt="1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39C7B468-2BD1-4CB7-8F60-2F7E6A173B2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/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/>
          <p:nvPr>
            <p:ph type="body" sz="half" idx="2" hasCustomPrompt="1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4869CD7C-E38C-41A4-9CC8-0F587129148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/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/>
          <p:nvPr>
            <p:ph type="body" sz="half" idx="2" hasCustomPrompt="1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A22C4B51-BBBD-43F6-9AFB-FB08ED8A074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/>
          <p:nvPr>
            <p:ph type="body" sz="half" idx="2" hasCustomPrompt="1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F42B6B59-A6B3-409B-90E1-A9DAAEC78D9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/>
          <p:nvPr>
            <p:ph type="body" sz="half" idx="13" hasCustomPrompt="1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Text Placeholder 3"/>
          <p:cNvSpPr/>
          <p:nvPr>
            <p:ph type="body" sz="half" idx="2" hasCustomPrompt="1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821785BA-ABBC-4429-836E-D1A390E65BB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/>
          <p:nvPr>
            <p:ph type="body" sz="half" idx="2" hasCustomPrompt="1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/>
          <p:nvPr>
            <p:ph type="dt" sz="half" idx="10"/>
          </p:nvPr>
        </p:nvSpPr>
        <p:spPr/>
        <p:txBody>
          <a:bodyPr/>
          <a:lstStyle/>
          <a:p>
            <a:fld id="{B6EA9534-A0E7-45D7-AAA7-96EEB01F8BF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/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/>
          <p:nvPr>
            <p:ph type="body" idx="1" hasCustomPrompt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8" name="Text Placeholder 3"/>
          <p:cNvSpPr/>
          <p:nvPr>
            <p:ph type="body" sz="half" idx="15" hasCustomPrompt="1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9" name="Text Placeholder 4"/>
          <p:cNvSpPr/>
          <p:nvPr>
            <p:ph type="body" sz="quarter" idx="3" hasCustomPrompt="1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0" name="Text Placeholder 3"/>
          <p:cNvSpPr/>
          <p:nvPr>
            <p:ph type="body" sz="half" idx="16" hasCustomPrompt="1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1" name="Text Placeholder 4"/>
          <p:cNvSpPr/>
          <p:nvPr>
            <p:ph type="body" sz="quarter" idx="13" hasCustomPrompt="1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2" name="Text Placeholder 3"/>
          <p:cNvSpPr/>
          <p:nvPr>
            <p:ph type="body" sz="half" idx="17" hasCustomPrompt="1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Date Placeholder 2"/>
          <p:cNvSpPr/>
          <p:nvPr>
            <p:ph type="dt" sz="half" idx="10"/>
          </p:nvPr>
        </p:nvSpPr>
        <p:spPr/>
        <p:txBody>
          <a:bodyPr/>
          <a:lstStyle/>
          <a:p>
            <a:fld id="{C013AFC2-C44F-444D-A2BC-64B7824A75A0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/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/>
          <p:nvPr>
            <p:ph type="body" idx="1" hasCustomPrompt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0" name="Picture Placeholder 2"/>
          <p:cNvSpPr/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/>
          <p:nvPr>
            <p:ph type="body" sz="half" idx="18" hasCustomPrompt="1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2" name="Text Placeholder 4"/>
          <p:cNvSpPr/>
          <p:nvPr>
            <p:ph type="body" sz="quarter" idx="3" hasCustomPrompt="1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3" name="Picture Placeholder 2"/>
          <p:cNvSpPr/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/>
          <p:nvPr>
            <p:ph type="body" sz="half" idx="19" hasCustomPrompt="1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5" name="Text Placeholder 4"/>
          <p:cNvSpPr/>
          <p:nvPr>
            <p:ph type="body" sz="quarter" idx="13" hasCustomPrompt="1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6" name="Picture Placeholder 2"/>
          <p:cNvSpPr/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/>
          <p:nvPr>
            <p:ph type="body" sz="half" idx="20" hasCustomPrompt="1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Date Placeholder 2"/>
          <p:cNvSpPr/>
          <p:nvPr>
            <p:ph type="dt" sz="half" idx="10"/>
          </p:nvPr>
        </p:nvSpPr>
        <p:spPr/>
        <p:txBody>
          <a:bodyPr/>
          <a:lstStyle/>
          <a:p>
            <a:fld id="{E13C641E-8FF5-4DD9-8343-034D7827CEEA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/>
          <p:nvPr>
            <p:ph type="body" orient="vert" sz="quarter" idx="13" hasCustomPrompt="1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8DC0FAE0-5FC2-4AC5-BBE2-E0BA9F908CA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/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/>
          <p:nvPr>
            <p:ph type="body" orient="vert" sz="quarter" idx="13" hasCustomPrompt="1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29D080DD-29F1-4B12-BD4A-78CADF80E1D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/>
          <p:nvPr>
            <p:ph idx="1" hasCustomPrompt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/>
          <p:nvPr>
            <p:ph type="dt" sz="half" idx="10"/>
          </p:nvPr>
        </p:nvSpPr>
        <p:spPr/>
        <p:txBody>
          <a:bodyPr/>
          <a:lstStyle/>
          <a:p>
            <a:fld id="{794C8727-2BD0-46E2-80C4-407E47CACA0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12"/>
          </p:nvPr>
        </p:nvSpPr>
        <p:spPr/>
        <p:txBody>
          <a:bodyPr/>
          <a:lstStyle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标题，两项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/>
          <p:nvPr>
            <p:ph sz="quarter" idx="1"/>
          </p:nvPr>
        </p:nvSpPr>
        <p:spPr>
          <a:xfrm>
            <a:off x="838200" y="1825625"/>
            <a:ext cx="51816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quarter" idx="2"/>
          </p:nvPr>
        </p:nvSpPr>
        <p:spPr>
          <a:xfrm>
            <a:off x="838200" y="4076700"/>
            <a:ext cx="51816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/>
          <p:nvPr>
            <p:ph type="body" sz="half" idx="3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/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/>
            </a:fld>
            <a:endParaRPr lang="zh-CN" altLang="en-US"/>
          </a:p>
        </p:txBody>
      </p:sp>
      <p:sp>
        <p:nvSpPr>
          <p:cNvPr id="7" name="页脚占位符 6"/>
          <p:cNvSpPr/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/>
          </a:p>
        </p:txBody>
      </p:sp>
      <p:sp>
        <p:nvSpPr>
          <p:cNvPr id="8" name="灯片编号占位符 7"/>
          <p:cNvSpPr/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/>
            </a:fld>
            <a:endParaRPr lang="zh-C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/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F706C4C-EC22-4E79-AF9C-2983201BBC5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/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/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1"/>
            <a:ext cx="12192000" cy="6851729"/>
          </a:xfrm>
          <a:prstGeom prst="rect">
            <a:avLst/>
          </a:prstGeom>
        </p:spPr>
      </p:pic>
      <p:sp>
        <p:nvSpPr>
          <p:cNvPr id="2" name="Title 1"/>
          <p:cNvSpPr/>
          <p:nvPr>
            <p:ph type="ctrTitle"/>
          </p:nvPr>
        </p:nvSpPr>
        <p:spPr>
          <a:xfrm>
            <a:off x="233082" y="1250830"/>
            <a:ext cx="11599483" cy="3062377"/>
          </a:xfrm>
        </p:spPr>
        <p:txBody>
          <a:bodyPr>
            <a:noAutofit/>
          </a:bodyPr>
          <a:lstStyle/>
          <a:p>
            <a:r>
              <a:rPr lang="en-US" sz="6000" dirty="0">
                <a:latin typeface="Times New Roman" pitchFamily="18" charset="0"/>
                <a:cs typeface="Times New Roman" pitchFamily="18" charset="0"/>
              </a:rPr>
              <a:t>HORMONES AND ENVIRONMENTAL TRIGGERS</a:t>
            </a:r>
            <a:br>
              <a:rPr lang="en-US" sz="6000" dirty="0">
                <a:latin typeface="Times New Roman" pitchFamily="18" charset="0"/>
                <a:cs typeface="Times New Roman" pitchFamily="18" charset="0"/>
              </a:rPr>
            </a:br>
            <a:endParaRPr lang="en-US" sz="6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/>
          <p:nvPr>
            <p:ph type="sldNum" sz="quarter" idx="12"/>
          </p:nvPr>
        </p:nvSpPr>
        <p:spPr/>
        <p:txBody>
          <a:bodyPr/>
          <a:p>
            <a:fld id="{3E5AFEEB-0136-4A33-9875-9F99A0403E7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511944" y="385605"/>
            <a:ext cx="10918055" cy="10837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itchFamily="18" charset="0"/>
                <a:cs typeface="Times New Roman" pitchFamily="18" charset="0"/>
              </a:rPr>
              <a:t>TABLE OF CONTENTS</a:t>
            </a:r>
            <a:endParaRPr lang="en-US" sz="6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838200" y="1038046"/>
            <a:ext cx="10515600" cy="5736273"/>
          </a:xfrm>
        </p:spPr>
        <p:txBody>
          <a:bodyPr>
            <a:noAutofit/>
          </a:bodyPr>
          <a:lstStyle/>
          <a:p>
            <a:pPr>
              <a:buFont typeface="Wingdings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OVERVIEW OF HORMONES AND ENVIRONMENTAL TRIGGERS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ESSENTIAL HORMONES AND FUNCTIONS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HOW ENVIRONMENTAL TRIGGERS IMPACT HORMONAL BALANCE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IMPORTANCE OF MAINTAINING HORMONAL BALANCE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DISEASES ASSOCIATED WITH HORMONAL IMBALANCE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PREVENTIVE MEASURES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>
          <a:xfrm>
            <a:off x="10833189" y="5819954"/>
            <a:ext cx="764215" cy="365125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/>
          <p:nvPr>
            <p:ph idx="1"/>
          </p:nvPr>
        </p:nvSpPr>
        <p:spPr>
          <a:xfrm>
            <a:off x="437322" y="516835"/>
            <a:ext cx="10916477" cy="6069495"/>
          </a:xfrm>
        </p:spPr>
        <p:txBody>
          <a:bodyPr>
            <a:normAutofit lnSpcReduction="10000"/>
          </a:bodyPr>
          <a:lstStyle/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Hormones play a crucial role in regulating various physiological processes in living organisms.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They are chemical messengers produced by the endocrine system and travel through the bloodstream to target cells.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Environmental triggers are factors in our surroundings that can affect the activities of hormones.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How environmental factors affect hormones differ from person to person</a:t>
            </a:r>
            <a:r>
              <a:rPr lang="en-US" sz="2400" dirty="0"/>
              <a:t>.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/>
          <p:nvPr>
            <p:ph type="sldNum" sz="quarter" idx="12"/>
          </p:nvPr>
        </p:nvSpPr>
        <p:spPr>
          <a:xfrm>
            <a:off x="10876320" y="5976040"/>
            <a:ext cx="764215" cy="365125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749873" y="139170"/>
            <a:ext cx="10364451" cy="117204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ESSENTIAL HORMONES AND FUNCTIONS</a:t>
            </a:r>
            <a:endParaRPr lang="en-US" sz="4000" dirty="0"/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296173" y="1233577"/>
            <a:ext cx="11895827" cy="1604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several essential hormones for body functions. These may include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OXYTOCIN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>
          <a:xfrm>
            <a:off x="10793084" y="5935033"/>
            <a:ext cx="764215" cy="365125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467" y="2911415"/>
            <a:ext cx="8021129" cy="38419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/>
          <p:nvPr>
            <p:ph idx="1"/>
          </p:nvPr>
        </p:nvSpPr>
        <p:spPr>
          <a:xfrm>
            <a:off x="887896" y="481439"/>
            <a:ext cx="7842036" cy="845389"/>
          </a:xfrm>
        </p:spPr>
        <p:txBody>
          <a:bodyPr/>
          <a:lstStyle/>
          <a:p>
            <a:pPr>
              <a:buFont typeface="Wingdings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ESTROGEN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>
          <a:xfrm>
            <a:off x="10917170" y="5995419"/>
            <a:ext cx="764215" cy="365125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08030" y="1326828"/>
            <a:ext cx="8389006" cy="50998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/>
          <p:nvPr>
            <p:ph idx="1"/>
          </p:nvPr>
        </p:nvSpPr>
        <p:spPr>
          <a:xfrm>
            <a:off x="913774" y="474453"/>
            <a:ext cx="10364452" cy="974785"/>
          </a:xfrm>
        </p:spPr>
        <p:txBody>
          <a:bodyPr/>
          <a:lstStyle/>
          <a:p>
            <a:pPr>
              <a:buFont typeface="Wingdings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TESTOSTERONE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>
          <a:xfrm>
            <a:off x="10789692" y="5919188"/>
            <a:ext cx="764215" cy="365125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76" y="1449238"/>
            <a:ext cx="7943314" cy="4652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ksoSlideStyle" descr="#wm#_a_04_210_110" hidden="1"/>
          <p:cNvSpPr/>
          <p:nvPr/>
        </p:nvSpPr>
        <p:spPr>
          <a:xfrm>
            <a:off x="152400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3075" name="Rectangle 2" descr="#wm#_a_04_210_110_a_1_1#clear#"/>
          <p:cNvSpPr/>
          <p:nvPr>
            <p:ph type="title"/>
          </p:nvPr>
        </p:nvSpPr>
        <p:spPr/>
        <p:txBody>
          <a:bodyPr vert="horz" wrap="square" anchor="ctr"/>
          <a:p>
            <a:pPr lvl="0" eaLnBrk="1" hangingPunct="1"/>
            <a:r>
              <a:rPr lang="en-AU"/>
              <a:t>INSULIN</a:t>
            </a:r>
            <a:endParaRPr lang="en-AU"/>
          </a:p>
        </p:txBody>
      </p:sp>
      <p:sp>
        <p:nvSpPr>
          <p:cNvPr id="3076" name="Rectangle 3" descr="#wm#_a_04_210_110_b_1_1#clear#"/>
          <p:cNvSpPr/>
          <p:nvPr>
            <p:ph type="body"/>
          </p:nvPr>
        </p:nvSpPr>
        <p:spPr/>
        <p:txBody>
          <a:bodyPr vert="horz" wrap="square" anchor="t"/>
          <a:p>
            <a:pPr lvl="0" eaLnBrk="1" hangingPunct="1"/>
            <a:r>
              <a:rPr lang="en-AU"/>
              <a:t>This is one of the most importance hormones in living organisms Responnsible for Glucose Regulation.</a:t>
            </a:r>
            <a:endParaRPr lang="en-AU"/>
          </a:p>
        </p:txBody>
      </p:sp>
      <p:sp>
        <p:nvSpPr>
          <p:cNvPr id="2" name="Slide Number Placeholder 1"/>
          <p:cNvSpPr/>
          <p:nvPr>
            <p:ph type="sldNum" sz="quarter" idx="12"/>
          </p:nvPr>
        </p:nvSpPr>
        <p:spPr/>
        <p:txBody>
          <a:bodyPr/>
          <a:p>
            <a:fld id="{3E5AFEEB-0136-4A33-9875-9F99A0403E7D}" type="slidenum">
              <a:rPr lang="en-US" smtClean="0"/>
            </a:fld>
            <a:endParaRPr lang="en-US"/>
          </a:p>
        </p:txBody>
      </p:sp>
      <p:pic>
        <p:nvPicPr>
          <p:cNvPr id="3" name="Picture 2" descr="2023-08-03 12:25:28.281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765" y="3413760"/>
            <a:ext cx="8763635" cy="2671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485954" y="303956"/>
            <a:ext cx="110490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ENVIRONMENTAL TRIGGERS AND HORMONAL IMBALANCE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913775" y="1561381"/>
            <a:ext cx="10364452" cy="4321894"/>
          </a:xfrm>
        </p:spPr>
        <p:txBody>
          <a:bodyPr>
            <a:noAutofit/>
          </a:bodyPr>
          <a:lstStyle/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Stress.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Seasonal changes.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Endocrine disruptors.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Poor diet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>
          <a:xfrm>
            <a:off x="10770739" y="5883335"/>
            <a:ext cx="764215" cy="365125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818884" y="187196"/>
            <a:ext cx="10364451" cy="121028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IMPORTANCE OF HORMONAL BALANCE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913774" y="1875448"/>
            <a:ext cx="10364452" cy="4007827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Proper body functioning.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Prevents the risks of certain diseases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Improves energy levels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Improves reproductive health.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>
          <a:xfrm>
            <a:off x="10896118" y="5926467"/>
            <a:ext cx="764215" cy="365125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69011" y="-5752"/>
            <a:ext cx="12122989" cy="146649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DISEASES ASSOCIATED WITH HORMONAL IMBALANCE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913775" y="1544127"/>
            <a:ext cx="10364452" cy="4787661"/>
          </a:xfrm>
        </p:spPr>
        <p:txBody>
          <a:bodyPr>
            <a:normAutofit fontScale="25000" lnSpcReduction="20000"/>
          </a:bodyPr>
          <a:lstStyle/>
          <a:p>
            <a:pPr>
              <a:buFont typeface="Wingdings" charset="2"/>
              <a:buChar char="Ø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Polycystic Ovarian Syndrome(PCOS)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Diabetes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Thyroid disorders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Reduction in libido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Neurological conditions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>
          <a:xfrm>
            <a:off x="10617528" y="5848769"/>
            <a:ext cx="907363" cy="365125"/>
          </a:xfrm>
        </p:spPr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8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913775" y="1"/>
            <a:ext cx="10364451" cy="145786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PREVENTIVE MEASURES TO HORMONAL DISEASES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913774" y="2303254"/>
            <a:ext cx="10829653" cy="476178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charset="2"/>
              <a:buChar char="Ø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Surgery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Medication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Chemotherapy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Hormone diet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9600" dirty="0">
                <a:latin typeface="Times New Roman" pitchFamily="18" charset="0"/>
                <a:cs typeface="Times New Roman" pitchFamily="18" charset="0"/>
              </a:rPr>
              <a:t>Hormonal replacement  therapy</a:t>
            </a:r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endParaRPr lang="en-US" sz="59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9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654982" y="195823"/>
            <a:ext cx="10364451" cy="121890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793005" y="1403290"/>
            <a:ext cx="10364452" cy="44799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conclusion, there are several environmental factors that triggers specific hormones to regulate specific functions for normal body regulation.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therefore urge the need for more research in the field of genetics to further understand the activities of hormones and how hormonal balances can be achieved.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1821299" y="320471"/>
            <a:ext cx="8532150" cy="120640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745871" y="1690779"/>
            <a:ext cx="10700258" cy="4014158"/>
          </a:xfrm>
        </p:spPr>
        <p:txBody>
          <a:bodyPr/>
          <a:lstStyle/>
          <a:p>
            <a:pPr>
              <a:buFont typeface="Wingdings" charset="2"/>
              <a:buChar char="Ø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Chrousos,G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P(2009) . Stress and  disorders of the stress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system.Nature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Review Endocrinology, 5(7), 381.)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Wehr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T. a. (2001). Seasonal affective disorders: a history overview. Journal of biological rhythms, 16(3), 207- 227.)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AMERICAN DIABETES ASSOCIATION. (2019). 2. CLASSIFICATION AND DIAGNOSIS   OF DIABETESS:STANDARD OF MEDICAL CARE IN DIABETES-2019. DIABETES CARE 42(SUPPLEMENT 1), S13-S28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11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/>
          <p:nvPr>
            <p:ph idx="1"/>
          </p:nvPr>
        </p:nvSpPr>
        <p:spPr>
          <a:xfrm>
            <a:off x="704021" y="879893"/>
            <a:ext cx="10783957" cy="47876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6600" dirty="0"/>
          </a:p>
          <a:p>
            <a:pPr marL="0" indent="0">
              <a:buNone/>
            </a:pPr>
            <a:r>
              <a:rPr lang="en-US" sz="6600" dirty="0"/>
              <a:t>       </a:t>
            </a: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THANK  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                  YOU.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/>
          <p:nvPr>
            <p:ph type="sldNum" sz="quarter" idx="12"/>
          </p:nvPr>
        </p:nvSpPr>
        <p:spPr/>
        <p:txBody>
          <a:bodyPr/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12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0</TotalTime>
  <Words>0</Words>
  <Application/>
  <PresentationFormat>Widescreen</PresentationFormat>
  <Paragraphs>87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宋体</vt:lpstr>
      <vt:lpstr>Tw Cen MT</vt:lpstr>
      <vt:lpstr>Calibri</vt:lpstr>
      <vt:lpstr>Droplet</vt:lpstr>
      <vt:lpstr>HORMONES AND ENVIRONMENTAL TRIGGERS </vt:lpstr>
      <vt:lpstr>TABLE OF CONTENTS</vt:lpstr>
      <vt:lpstr>PowerPoint 演示文稿</vt:lpstr>
      <vt:lpstr>ESSENTIAL HORMONES AND FUNCTIONS</vt:lpstr>
      <vt:lpstr>PowerPoint 演示文稿</vt:lpstr>
      <vt:lpstr>PowerPoint 演示文稿</vt:lpstr>
      <vt:lpstr>INSULIN</vt:lpstr>
      <vt:lpstr>ENVIRONMENTAL TRIGGERS AND HORMONAL IMBALANCE</vt:lpstr>
      <vt:lpstr>IMPORTANCE OF HORMONAL BALANCE</vt:lpstr>
      <vt:lpstr>DISEASES ASSOCIATED WITH HORMONAL IMBALANCE</vt:lpstr>
      <vt:lpstr>PREVENTIVE MEASURES TO HORMONAL DISEASES</vt:lpstr>
      <vt:lpstr>CONCLUSION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HORMONES AND ENVIRONMENTAL TRIGGERS</dc:title>
  <dc:creator>Sylvia Baffour Awuah</dc:creator>
  <cp:lastModifiedBy>Antoinette’s iPhone</cp:lastModifiedBy>
  <cp:revision>21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67436BC6F0E27605D09CCB64DD252E5C</vt:lpwstr>
  </property>
  <property fmtid="{D5CDD505-2E9C-101B-9397-08002B2CF9AE}" pid="3" name="KSOProductBuildVer">
    <vt:lpwstr>3081-11.24.6</vt:lpwstr>
  </property>
</Properties>
</file>