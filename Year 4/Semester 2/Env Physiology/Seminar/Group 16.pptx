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</p:sldMasterIdLst>
  <p:notesMasterIdLst>
    <p:notesMasterId r:id="rId17"/>
  </p:notesMasterIdLst>
  <p:sldIdLst>
    <p:sldId id="256" r:id="rId2"/>
    <p:sldId id="266" r:id="rId3"/>
    <p:sldId id="257" r:id="rId4"/>
    <p:sldId id="258" r:id="rId5"/>
    <p:sldId id="259" r:id="rId6"/>
    <p:sldId id="262" r:id="rId7"/>
    <p:sldId id="260" r:id="rId8"/>
    <p:sldId id="261" r:id="rId9"/>
    <p:sldId id="268" r:id="rId10"/>
    <p:sldId id="265" r:id="rId11"/>
    <p:sldId id="263" r:id="rId12"/>
    <p:sldId id="270" r:id="rId13"/>
    <p:sldId id="269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ollins Kenney" initials="CK" lastIdx="1" clrIdx="0">
    <p:extLst>
      <p:ext uri="{19B8F6BF-5375-455C-9EA6-DF929625EA0E}">
        <p15:presenceInfo xmlns:p15="http://schemas.microsoft.com/office/powerpoint/2012/main" userId="ffaf2071f0e3ed5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3" d="100"/>
          <a:sy n="73" d="100"/>
        </p:scale>
        <p:origin x="61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398D53-6BD1-4582-BDA0-0E97E4DA1DDC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B6A1B9-93A8-48D6-8ACE-C53DBD4A6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67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B0A3-53BC-42C5-9794-BEFF0B421115}" type="datetime1">
              <a:rPr lang="en-US" smtClean="0"/>
              <a:t>7/26/2023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19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410FA-BDB1-409A-99CB-49EEB6A4F337}" type="datetime1">
              <a:rPr lang="en-US" smtClean="0"/>
              <a:t>7/26/2023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86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14BD8-E900-4D7C-A2E2-69FD7ACA93EC}" type="datetime1">
              <a:rPr lang="en-US" smtClean="0"/>
              <a:t>7/26/2023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62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522D2-1270-4C9F-A6CF-B269F404B72A}" type="datetime1">
              <a:rPr lang="en-US" smtClean="0"/>
              <a:t>7/26/2023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3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BD14-9097-46CA-B955-62FAAC523C0D}" type="datetime1">
              <a:rPr lang="en-US" smtClean="0"/>
              <a:t>7/26/2023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379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8F9C1-276F-487E-82FB-01AEAC1D3C79}" type="datetime1">
              <a:rPr lang="en-US" smtClean="0"/>
              <a:t>7/26/2023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7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8BB6A-4ACA-4FF9-9062-7639FDE4C60A}" type="datetime1">
              <a:rPr lang="en-US" smtClean="0"/>
              <a:t>7/26/2023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44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9F69-6CCD-4640-96C8-EDD02D92636D}" type="datetime1">
              <a:rPr lang="en-US" smtClean="0"/>
              <a:t>7/26/2023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26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1E04107-CF1E-4BCF-9000-49DE54E01E00}" type="datetime1">
              <a:rPr lang="en-US" smtClean="0"/>
              <a:t>7/26/2023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28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F383-AFB2-450C-9C27-CBE2DB7273E5}" type="datetime1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689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277FA-E6E5-4BCD-A0AD-63153CFC0B27}" type="datetime1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07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5AD5CE5-F4B4-4D0E-BF3E-5BD21DE78B18}" type="datetime1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F1F757C-7599-4FA4-AF35-1555D851C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45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187E0-90B5-4986-9633-51500B511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74055"/>
            <a:ext cx="9144000" cy="2387600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AND PHYSIOLOGICAL RESPONSE OF PLANTS TO SUN AND SHADE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035844-2CE3-82FC-E4D0-08EB994C651C}"/>
              </a:ext>
            </a:extLst>
          </p:cNvPr>
          <p:cNvSpPr/>
          <p:nvPr/>
        </p:nvSpPr>
        <p:spPr>
          <a:xfrm>
            <a:off x="4417258" y="4115834"/>
            <a:ext cx="2926081" cy="751587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FE6B19-0095-437F-AB23-ED559C1DF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0763" y="4115834"/>
            <a:ext cx="3039070" cy="860612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16</a:t>
            </a:r>
          </a:p>
        </p:txBody>
      </p:sp>
    </p:spTree>
    <p:extLst>
      <p:ext uri="{BB962C8B-B14F-4D97-AF65-F5344CB8AC3E}">
        <p14:creationId xmlns:p14="http://schemas.microsoft.com/office/powerpoint/2010/main" val="2651486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98924-7CA2-45A4-B534-3F349CEA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8624" y="446824"/>
            <a:ext cx="7480091" cy="932271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EF67D-33D7-426C-AB90-DC90592FA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297" y="1573306"/>
            <a:ext cx="10285750" cy="5235109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Introduction</a:t>
            </a:r>
          </a:p>
          <a:p>
            <a:pPr algn="just"/>
            <a:r>
              <a:rPr lang="en-US" sz="3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Characteristics of sunlight </a:t>
            </a:r>
            <a:r>
              <a:rPr lang="en-US" sz="3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environment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Examples of sun plants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Physiological adaptations of sun-loving plants </a:t>
            </a:r>
            <a:endParaRPr lang="en-GB" sz="32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3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Characteristics of shade environment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Examples of  shade plants</a:t>
            </a:r>
            <a:endParaRPr lang="en-US" sz="32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Physiological adaptations of shade- loving plants</a:t>
            </a:r>
          </a:p>
          <a:p>
            <a:pPr algn="just"/>
            <a:r>
              <a:rPr lang="en-US" sz="3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Comparative analysis: Sun vs. Shade adaptations</a:t>
            </a:r>
          </a:p>
          <a:p>
            <a:pPr algn="just">
              <a:lnSpc>
                <a:spcPct val="100000"/>
              </a:lnSpc>
            </a:pPr>
            <a:r>
              <a:rPr lang="en-US" sz="3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Conclusion</a:t>
            </a:r>
            <a:endParaRPr lang="en-GB" sz="32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9E55B-DE53-42A6-9EE8-E919F0A91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444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9F7E0-6AF5-42C6-AF5E-4FC0AC08E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274" y="440036"/>
            <a:ext cx="7729728" cy="962750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2C77E-D4B8-44F4-8ED1-0AC4FCCFE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423" y="1738859"/>
            <a:ext cx="10433154" cy="5233741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Plants are sessile organisms which have evolved a wide array of  adaptations to thrive in various habitats, particularly in response to differences in light availability. Light is a fundamental resource that influences the  distribution and abundance of plant species in a particular ecosystem. 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certain plants excel in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Sunlit environments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others excel in 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Shaded environments.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8523E-6633-4986-8DCA-135735BF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6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DF56E-C0DF-4C26-BD02-737B3E205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671" y="739839"/>
            <a:ext cx="8807823" cy="857819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2A02A-76C7-4E8D-9261-6CE3A9F99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948" y="1723869"/>
            <a:ext cx="10508104" cy="482683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 environments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Are environments that are characterized by high light intensity and direct exposure to sunlight for a significant portion of the day.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Shaded areas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Are characterized by reduced light intensity due to partial or complete obstruction of direct sunlight </a:t>
            </a:r>
            <a:r>
              <a:rPr lang="en-US" sz="3200" dirty="0"/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571B9-AF7C-4647-A4BB-353B5D370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02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66101-9AC2-4307-A4C5-58FB500C5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4" y="324784"/>
            <a:ext cx="10605247" cy="1204213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sunlight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74975-E909-41DE-8968-8EE2BBD63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624" y="1966934"/>
            <a:ext cx="9492666" cy="52518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Light Intensity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Temperature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Sunlight Exposure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Humidity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90280-E576-47D1-8950-7D5059065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33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DEB6A8-5BD5-4F0E-B18E-7E81B33AD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612" y="251175"/>
            <a:ext cx="11070554" cy="1188720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SUN loving plants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E4807FD-C6F0-7329-E055-724655F62C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54" y="2055421"/>
            <a:ext cx="3795347" cy="3489294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818D3B4-4A02-0754-10F7-D9D39AB5EE2F}"/>
              </a:ext>
            </a:extLst>
          </p:cNvPr>
          <p:cNvSpPr txBox="1"/>
          <p:nvPr/>
        </p:nvSpPr>
        <p:spPr>
          <a:xfrm>
            <a:off x="860612" y="5616426"/>
            <a:ext cx="3795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Pertunia</a:t>
            </a:r>
            <a:r>
              <a:rPr lang="en-US" i="1" dirty="0"/>
              <a:t> </a:t>
            </a:r>
            <a:r>
              <a:rPr lang="en-US" b="1" i="1" dirty="0" err="1"/>
              <a:t>exserta</a:t>
            </a:r>
            <a:endParaRPr lang="en-GB" b="1" i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E05135D-D6DC-774F-4FD8-628BD4E6A9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282" y="2055421"/>
            <a:ext cx="3577884" cy="348929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474DAC5-33AC-371E-C5F9-AED15567E27D}"/>
              </a:ext>
            </a:extLst>
          </p:cNvPr>
          <p:cNvSpPr txBox="1"/>
          <p:nvPr/>
        </p:nvSpPr>
        <p:spPr>
          <a:xfrm>
            <a:off x="9049697" y="5718928"/>
            <a:ext cx="3418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Stonecrop</a:t>
            </a:r>
            <a:endParaRPr lang="en-GB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5984110-C505-91A5-6DD8-9B6C995D6E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918" y="2055421"/>
            <a:ext cx="3795346" cy="350310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3FAF8C9-D8F8-98B1-D13C-4ABC44D275A7}"/>
              </a:ext>
            </a:extLst>
          </p:cNvPr>
          <p:cNvSpPr txBox="1"/>
          <p:nvPr/>
        </p:nvSpPr>
        <p:spPr>
          <a:xfrm>
            <a:off x="5438043" y="5669280"/>
            <a:ext cx="3502855" cy="378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Sunflower</a:t>
            </a:r>
            <a:endParaRPr lang="en-GB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E388F7-3D19-4F11-82D6-01926550F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07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86003-8CF0-4F98-9BC5-917BBB005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494" y="147918"/>
            <a:ext cx="11443447" cy="1210235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Physiological adaptations of sun- loving plants </a:t>
            </a:r>
            <a:endParaRPr lang="en-US" sz="4400" b="1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4A017-B759-4D64-9976-E0BB52FED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411" y="1358153"/>
            <a:ext cx="10436460" cy="5499847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35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Leaf Structure and Morphology</a:t>
            </a:r>
            <a:endParaRPr lang="en-GB" sz="35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Small, Thick Leaves</a:t>
            </a:r>
            <a:endParaRPr lang="en-GB" sz="35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Waxy Cuticle</a:t>
            </a:r>
            <a:endParaRPr lang="en-GB" sz="35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Sunken Stomata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35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Drought Resistance and Water Conservation</a:t>
            </a:r>
            <a:endParaRPr lang="en-GB" sz="35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CAM and C4 Photosynthesis</a:t>
            </a:r>
            <a:endParaRPr lang="en-GB" sz="35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Reduced Transpiration Rate</a:t>
            </a:r>
            <a:endParaRPr lang="en-GB" sz="35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GB" sz="2800" dirty="0">
              <a:effectLst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D2615-0364-46D5-BAF2-C663EDA7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29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7B80E-546A-40BB-ABCC-77D910951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776" y="94129"/>
            <a:ext cx="10961353" cy="1253963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SHADE Environments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92D10-8533-75AF-EB4C-C626FCE7C8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5870" y="1831498"/>
            <a:ext cx="10860259" cy="46001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Low Light Intensity</a:t>
            </a:r>
            <a:endParaRPr lang="en-GB" sz="32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Lower Temperature</a:t>
            </a:r>
            <a:endParaRPr lang="en-GB" sz="32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Indirect or Diffused Sunlight</a:t>
            </a:r>
            <a:endParaRPr lang="en-GB" sz="32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Higher Humidity</a:t>
            </a:r>
            <a:endParaRPr lang="en-GB" sz="32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A0153D2-8A40-0BBB-D9C1-6E07C5E85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51102" y="6963507"/>
            <a:ext cx="1294109" cy="1088109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F8079B-5FF9-4FA7-87E8-6777255E5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83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DEB6A8-5BD5-4F0E-B18E-7E81B33AD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012" y="251175"/>
            <a:ext cx="10972800" cy="1188720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shade loving plants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18D3B4-4A02-0754-10F7-D9D39AB5EE2F}"/>
              </a:ext>
            </a:extLst>
          </p:cNvPr>
          <p:cNvSpPr txBox="1"/>
          <p:nvPr/>
        </p:nvSpPr>
        <p:spPr>
          <a:xfrm>
            <a:off x="1086143" y="5669280"/>
            <a:ext cx="3795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Begonia</a:t>
            </a:r>
            <a:endParaRPr lang="en-GB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74DAC5-33AC-371E-C5F9-AED15567E27D}"/>
              </a:ext>
            </a:extLst>
          </p:cNvPr>
          <p:cNvSpPr txBox="1"/>
          <p:nvPr/>
        </p:nvSpPr>
        <p:spPr>
          <a:xfrm>
            <a:off x="9073664" y="5669280"/>
            <a:ext cx="344834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Coral Bells</a:t>
            </a:r>
            <a:endParaRPr lang="en-GB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FAF8C9-D8F8-98B1-D13C-4ABC44D275A7}"/>
              </a:ext>
            </a:extLst>
          </p:cNvPr>
          <p:cNvSpPr txBox="1"/>
          <p:nvPr/>
        </p:nvSpPr>
        <p:spPr>
          <a:xfrm>
            <a:off x="5227028" y="5669280"/>
            <a:ext cx="3502855" cy="378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Lungworts</a:t>
            </a:r>
            <a:endParaRPr lang="en-GB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68ACFBD-4D91-DAE9-0701-9C51439D1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49" y="2250047"/>
            <a:ext cx="3795346" cy="3320757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F82A3A-EAD5-D268-6E10-F2EDA03E6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580" y="2250046"/>
            <a:ext cx="3643531" cy="33207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C53673-62D5-A51B-1223-971418EFC2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196" y="2250046"/>
            <a:ext cx="3770142" cy="332075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336077-E0F8-4355-AD9B-3BDCCC43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02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6B098-3D91-49F2-85F8-5C78D68CF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752" y="0"/>
            <a:ext cx="11268635" cy="1167619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Physiological adaptations of shade- loving plants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A5C27-626D-421A-9460-E05E7465E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277" y="1308295"/>
            <a:ext cx="10546079" cy="3334043"/>
          </a:xfrm>
        </p:spPr>
        <p:txBody>
          <a:bodyPr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Leaf Structure and Morphology</a:t>
            </a:r>
            <a:endParaRPr lang="en-GB" sz="32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Large, Thin Leaves</a:t>
            </a:r>
            <a:endParaRPr lang="en-GB" sz="32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Reduced Cuticle Thickness</a:t>
            </a:r>
            <a:endParaRPr lang="en-GB" sz="32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Increased Leaf Surface Area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Strategies for Efficient Light Capture</a:t>
            </a:r>
          </a:p>
          <a:p>
            <a:pPr>
              <a:spcAft>
                <a:spcPts val="10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Phototropism and Leaf Angle Adjustment</a:t>
            </a:r>
          </a:p>
          <a:p>
            <a:pPr>
              <a:spcAft>
                <a:spcPts val="10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Clustering and Shade Avoidance Response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GB" sz="2800" dirty="0">
              <a:effectLst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800" dirty="0"/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0DC76F-1ACB-765C-4167-F0C4D72A6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918" y="1308295"/>
            <a:ext cx="4171328" cy="379234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12918-C308-4E6A-8E43-F5C032FAA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75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DCF45-E7FC-4047-AA38-922DC11A1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224" y="430306"/>
            <a:ext cx="10824882" cy="1264443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effectLst/>
                <a:latin typeface="+mj-lt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49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Comparative analysis: </a:t>
            </a:r>
            <a:br>
              <a:rPr lang="en-US" sz="49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en-US" sz="49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Sun vs. Shade adaptations</a:t>
            </a:r>
            <a:br>
              <a:rPr lang="en-US" b="1" dirty="0">
                <a:effectLst/>
                <a:latin typeface="+mj-lt"/>
                <a:ea typeface="SimSun" panose="02010600030101010101" pitchFamily="2" charset="-122"/>
                <a:cs typeface="Times New Roman" panose="02020603050405020304" pitchFamily="18" charset="0"/>
              </a:rPr>
            </a:b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5DE2C-02AB-499D-AF87-176C9500F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759397" y="6330462"/>
            <a:ext cx="844061" cy="8862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1D2BDD-BA73-D802-D5F5-F015A8DC75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37138" y="2223104"/>
            <a:ext cx="9917723" cy="3938954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Leaf Characteristics</a:t>
            </a:r>
            <a:endParaRPr lang="en-GB" sz="32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10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Photosynthetic Strategies</a:t>
            </a:r>
            <a:endParaRPr lang="en-GB" sz="32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10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Water and Nutrient Use Efficiency</a:t>
            </a:r>
            <a:endParaRPr lang="en-GB" sz="32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GB" sz="3200" dirty="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1356B5-F58B-4AE8-9375-866E490E6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74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833C-0354-A70D-D942-4A6659B67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2294" y="228600"/>
            <a:ext cx="6527409" cy="1116106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363C7-F4A8-E568-279B-8D598C08E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7318" y="1506071"/>
            <a:ext cx="10107118" cy="697674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200" i="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Plants have evolved remarkable adaptations to cope with different light conditions. </a:t>
            </a:r>
            <a:r>
              <a:rPr lang="en-US" sz="320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Sun-loving</a:t>
            </a:r>
            <a:r>
              <a:rPr lang="en-US" sz="3200" i="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plants optimize light capture with thick leaves and efficient pigments. </a:t>
            </a:r>
            <a:r>
              <a:rPr lang="en-US" sz="320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Shade-loving</a:t>
            </a:r>
            <a:r>
              <a:rPr lang="en-US" sz="3200" i="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plants thrive in low light with larger, thinner leaves and specialized chlorophyll ratios. Understanding these responses helps us in agriculture, conservation, and creating greener environments for a sustainable future. Embracing plant diversity and preserving their habitats is vital for a healthier planet.</a:t>
            </a:r>
            <a:endParaRPr lang="en-GB" sz="3200" dirty="0">
              <a:solidFill>
                <a:srgbClr val="2626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1C822-963E-4427-BE9E-1429C1509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73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4851-137D-06F6-8652-1286D57FF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066" y="140677"/>
            <a:ext cx="7729728" cy="710418"/>
          </a:xfrm>
        </p:spPr>
        <p:txBody>
          <a:bodyPr>
            <a:no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GB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4E55E-B2C4-AAFD-94B8-6FF264A3D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4738" y="1280160"/>
            <a:ext cx="10058400" cy="5303520"/>
          </a:xfrm>
        </p:spPr>
        <p:txBody>
          <a:bodyPr>
            <a:noAutofit/>
          </a:bodyPr>
          <a:lstStyle/>
          <a:p>
            <a:r>
              <a:rPr lang="en-GB" dirty="0"/>
              <a:t>Valladares, F., </a:t>
            </a:r>
            <a:r>
              <a:rPr lang="en-GB" dirty="0" err="1"/>
              <a:t>Niinemets</a:t>
            </a:r>
            <a:r>
              <a:rPr lang="en-GB" dirty="0"/>
              <a:t>, Ü., &amp; Pearcy, R. W. (eds.). (2017). Photosynthesis in the Marine Environment. CRC Press.</a:t>
            </a:r>
          </a:p>
          <a:p>
            <a:r>
              <a:rPr lang="en-GB" dirty="0"/>
              <a:t>Pearcy, R. W., &amp; Sims, D. A. (1994). Photosynthetic acclimation to changing light environments: scaling from the leaf to the whole plant. Advances in Photosynthesis and Respiration, 3, 263-287.</a:t>
            </a:r>
          </a:p>
          <a:p>
            <a:r>
              <a:rPr lang="en-GB" dirty="0" err="1"/>
              <a:t>Björkman</a:t>
            </a:r>
            <a:r>
              <a:rPr lang="en-GB" dirty="0"/>
              <a:t>, O., &amp; </a:t>
            </a:r>
            <a:r>
              <a:rPr lang="en-GB" dirty="0" err="1"/>
              <a:t>Demmig</a:t>
            </a:r>
            <a:r>
              <a:rPr lang="en-GB" dirty="0"/>
              <a:t>-Adams, B. (1994). Regulation of photosynthetic light energy capture, conversion, and dissipation in leaves of higher plants. In E.-D. Schulze &amp; M. M. Caldwell (Eds.), Ecophysiology of Photosynthesis (pp. 17-47). Springer, Berlin, Heidelberg.</a:t>
            </a:r>
          </a:p>
          <a:p>
            <a:r>
              <a:rPr lang="en-GB" dirty="0"/>
              <a:t>Smith, W. K., &amp; Nobel, P. S. (1977). Leaf orientation, </a:t>
            </a:r>
            <a:r>
              <a:rPr lang="en-GB" dirty="0" err="1"/>
              <a:t>sunflecks</a:t>
            </a:r>
            <a:r>
              <a:rPr lang="en-GB" dirty="0"/>
              <a:t>, and photosynthesis in Atriplex </a:t>
            </a:r>
            <a:r>
              <a:rPr lang="en-GB" dirty="0" err="1"/>
              <a:t>lentiformis</a:t>
            </a:r>
            <a:r>
              <a:rPr lang="en-GB" dirty="0"/>
              <a:t> (Torr.) Wats. Plant Physiology, 59(6), 1008-1011.</a:t>
            </a:r>
          </a:p>
          <a:p>
            <a:r>
              <a:rPr lang="en-GB" dirty="0"/>
              <a:t>Boardman, N. K. (1977). Comparative photosynthesis of sun and shade plants. Annual Review of Plant Physiology, 28(1), 355-377.</a:t>
            </a:r>
          </a:p>
          <a:p>
            <a:r>
              <a:rPr lang="en-GB" dirty="0"/>
              <a:t>Valladares, F., Wright, S. J., Lasso, E., Kitajima, K., &amp; Pearcy, R. W. (2000). Plastic phenotypic response to light of 16 congeneric shrubs from a Panamanian rainforest. Ecology, 81(7), 1925-1936.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AD03F-C34B-4BFD-83AF-00ED485AF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063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C4A3-B2CD-C0A7-5043-9D5F43E52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76901"/>
            <a:ext cx="7729728" cy="1188720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  <a:endParaRPr lang="en-GB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CF341-92DF-B5EC-73C5-E98659B44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519311"/>
            <a:ext cx="7729728" cy="4473525"/>
          </a:xfrm>
        </p:spPr>
        <p:txBody>
          <a:bodyPr>
            <a:norm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Frimpong Abigail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Foriwaah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Kyeremateng Esther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Adoma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Anyemi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Dedaa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Kenney Collins Tetteh-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Adjor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Amponsah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Derek</a:t>
            </a:r>
          </a:p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Adongo Ernest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31656-E3F0-42A2-A054-FF17ABF02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65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C4A3-B2CD-C0A7-5043-9D5F43E52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4527" y="2230784"/>
            <a:ext cx="7729728" cy="2144268"/>
          </a:xfrm>
        </p:spPr>
        <p:txBody>
          <a:bodyPr>
            <a:normAutofit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 YOU</a:t>
            </a:r>
            <a:endParaRPr lang="en-GB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CF341-92DF-B5EC-73C5-E98659B447F7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12998547" y="493774"/>
            <a:ext cx="590842" cy="2144269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8F94E-5BF9-45E3-890D-BBB1FEA83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F757C-7599-4FA4-AF35-1555D851C52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8781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388</TotalTime>
  <Words>645</Words>
  <Application>Microsoft Office PowerPoint</Application>
  <PresentationFormat>Widescreen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SimSun</vt:lpstr>
      <vt:lpstr>Arial</vt:lpstr>
      <vt:lpstr>Calibri</vt:lpstr>
      <vt:lpstr>Gill Sans MT</vt:lpstr>
      <vt:lpstr>Times New Roman</vt:lpstr>
      <vt:lpstr>Parcel</vt:lpstr>
      <vt:lpstr>CHARACTERISTICS AND PHYSIOLOGICAL RESPONSE OF PLANTS TO SUN AND SHADE </vt:lpstr>
      <vt:lpstr>OUTLINE</vt:lpstr>
      <vt:lpstr>Introduction </vt:lpstr>
      <vt:lpstr>INTRODUCTION CONT’D</vt:lpstr>
      <vt:lpstr>Characteristics of sunlight ENVIRONMENTS</vt:lpstr>
      <vt:lpstr>EXAMPLES OF SUN loving plants</vt:lpstr>
      <vt:lpstr>Physiological adaptations of sun- loving plants </vt:lpstr>
      <vt:lpstr>CHARACTERISTICS OF SHADE Environments</vt:lpstr>
      <vt:lpstr>EXAMPLES OF shade loving plants</vt:lpstr>
      <vt:lpstr>Physiological adaptations of shade- loving plants </vt:lpstr>
      <vt:lpstr> Comparative analysis:  Sun vs. Shade adaptations </vt:lpstr>
      <vt:lpstr>CONCLUSION</vt:lpstr>
      <vt:lpstr>REFERENCES</vt:lpstr>
      <vt:lpstr>GROUP MEMBERS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CHARACTERISTICS AND PHYSIOLOGICAL RESPONSE OF PLANTS TO SUN AND SHADE</dc:title>
  <dc:creator>ADOMA</dc:creator>
  <cp:lastModifiedBy>ADOMA</cp:lastModifiedBy>
  <cp:revision>20</cp:revision>
  <dcterms:created xsi:type="dcterms:W3CDTF">2023-07-24T19:01:28Z</dcterms:created>
  <dcterms:modified xsi:type="dcterms:W3CDTF">2023-07-26T22:02:37Z</dcterms:modified>
</cp:coreProperties>
</file>