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sldIdLst>
    <p:sldId id="256" r:id="rId2"/>
    <p:sldId id="270" r:id="rId3"/>
    <p:sldId id="257" r:id="rId4"/>
    <p:sldId id="258" r:id="rId5"/>
    <p:sldId id="259" r:id="rId6"/>
    <p:sldId id="260" r:id="rId7"/>
    <p:sldId id="262" r:id="rId8"/>
    <p:sldId id="261" r:id="rId9"/>
    <p:sldId id="263" r:id="rId10"/>
    <p:sldId id="265" r:id="rId11"/>
    <p:sldId id="268" r:id="rId12"/>
    <p:sldId id="269" r:id="rId13"/>
    <p:sldId id="264"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C28B79-5458-4857-BF3C-2F8386785F5D}"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553ACB-9718-413C-8212-C29C5680699B}" type="slidenum">
              <a:rPr lang="en-US" smtClean="0"/>
              <a:t>‹#›</a:t>
            </a:fld>
            <a:endParaRPr lang="en-US"/>
          </a:p>
        </p:txBody>
      </p:sp>
    </p:spTree>
    <p:extLst>
      <p:ext uri="{BB962C8B-B14F-4D97-AF65-F5344CB8AC3E}">
        <p14:creationId xmlns:p14="http://schemas.microsoft.com/office/powerpoint/2010/main" val="2819422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E32625-04A0-4302-A214-C4A0BD9268C2}" type="datetime1">
              <a:rPr lang="en-US" smtClean="0"/>
              <a:t>6/15/2023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BF240D-D85E-4721-82AF-313A4D5825E1}" type="datetime1">
              <a:rPr lang="en-US" smtClean="0"/>
              <a:t>6/15/2023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030918-269D-4823-BC46-C86136848714}" type="datetime1">
              <a:rPr lang="en-US" smtClean="0"/>
              <a:t>6/15/2023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BDF188-A336-42BB-97BD-44B3C81E3154}"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7852CD-025A-4D9C-8048-90B3D006558C}" type="datetime1">
              <a:rPr lang="en-US" smtClean="0"/>
              <a:t>6/15/2023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05D442-D793-4C08-8A2A-EAF4F58DC6E0}" type="datetime1">
              <a:rPr lang="en-US" smtClean="0"/>
              <a:t>6/15/2023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0B8407-8969-4857-850F-8F7DE2459081}" type="datetime1">
              <a:rPr lang="en-US" smtClean="0"/>
              <a:t>6/15/2023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1B8DE3-4279-48E6-9576-144AE031A93B}"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1E8507-F914-48D0-A17E-60E3D32D7E1C}"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5DAD9E-6509-4C2F-8651-53F32C3BE3EB}"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02F042-CBB4-4F94-AB42-9B6D89444397}"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58EB9-36C5-4DD8-9B19-3451FBC7393E}"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C649BE-0076-470F-B7A4-FC920637F1AE}" type="datetime1">
              <a:rPr lang="en-US" smtClean="0"/>
              <a:t>6/15/2023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AF199F0-36C3-44A9-9F89-9BB530C874BD}" type="datetime1">
              <a:rPr lang="en-US" smtClean="0"/>
              <a:t>6/15/2023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ADF898F-E7BD-4034-A069-A72620C6936C}" type="datetime1">
              <a:rPr lang="en-US" smtClean="0"/>
              <a:t>6/15/2023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0EA82E-90EA-42EF-BE47-1913E55DE967}" type="datetime1">
              <a:rPr lang="en-US" smtClean="0"/>
              <a:t>6/15/2023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76582B-3AB1-4DB3-990A-E8179AF779B6}" type="datetime1">
              <a:rPr lang="en-US" smtClean="0"/>
              <a:t>6/15/2023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8FEC720-DE6A-4399-8D60-32745954288A}" type="datetime1">
              <a:rPr lang="en-US" smtClean="0"/>
              <a:t>6/15/2023</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085E5-F04E-4654-C513-36AA80D44AEC}"/>
              </a:ext>
            </a:extLst>
          </p:cNvPr>
          <p:cNvSpPr>
            <a:spLocks noGrp="1"/>
          </p:cNvSpPr>
          <p:nvPr>
            <p:ph type="ctrTitle"/>
          </p:nvPr>
        </p:nvSpPr>
        <p:spPr/>
        <p:txBody>
          <a:bodyPr>
            <a:normAutofit/>
          </a:bodyPr>
          <a:lstStyle/>
          <a:p>
            <a:r>
              <a:rPr lang="en-US" sz="6000" dirty="0">
                <a:latin typeface="Times New Roman" panose="02020603050405020304" pitchFamily="18" charset="0"/>
                <a:cs typeface="Times New Roman" panose="02020603050405020304" pitchFamily="18" charset="0"/>
              </a:rPr>
              <a:t>The cold region </a:t>
            </a:r>
          </a:p>
        </p:txBody>
      </p:sp>
      <p:sp>
        <p:nvSpPr>
          <p:cNvPr id="3" name="Subtitle 2">
            <a:extLst>
              <a:ext uri="{FF2B5EF4-FFF2-40B4-BE49-F238E27FC236}">
                <a16:creationId xmlns:a16="http://schemas.microsoft.com/office/drawing/2014/main" id="{D8FE0C7F-006A-0967-F1F6-0280CC9ACDFB}"/>
              </a:ext>
            </a:extLst>
          </p:cNvPr>
          <p:cNvSpPr>
            <a:spLocks noGrp="1"/>
          </p:cNvSpPr>
          <p:nvPr>
            <p:ph type="subTitle" idx="1"/>
          </p:nvPr>
        </p:nvSpPr>
        <p:spPr>
          <a:xfrm>
            <a:off x="8186467" y="3602038"/>
            <a:ext cx="2410263" cy="478256"/>
          </a:xfrm>
        </p:spPr>
        <p:txBody>
          <a:bodyPr>
            <a:normAutofit lnSpcReduction="10000"/>
          </a:bodyPr>
          <a:lstStyle/>
          <a:p>
            <a:r>
              <a:rPr lang="en-US" dirty="0"/>
              <a:t>Group 17</a:t>
            </a:r>
          </a:p>
        </p:txBody>
      </p:sp>
    </p:spTree>
    <p:extLst>
      <p:ext uri="{BB962C8B-B14F-4D97-AF65-F5344CB8AC3E}">
        <p14:creationId xmlns:p14="http://schemas.microsoft.com/office/powerpoint/2010/main" val="3459163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34407-A352-AF07-B39E-E339C52F050E}"/>
              </a:ext>
            </a:extLst>
          </p:cNvPr>
          <p:cNvSpPr>
            <a:spLocks noGrp="1"/>
          </p:cNvSpPr>
          <p:nvPr>
            <p:ph type="title"/>
          </p:nvPr>
        </p:nvSpPr>
        <p:spPr>
          <a:xfrm>
            <a:off x="1025939" y="186906"/>
            <a:ext cx="3804854" cy="1012166"/>
          </a:xfrm>
        </p:spPr>
        <p:txBody>
          <a:bodyPr>
            <a:normAutofit/>
          </a:bodyPr>
          <a:lstStyle/>
          <a:p>
            <a:r>
              <a:rPr lang="en-US" sz="3600"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6A1B9542-CC29-8457-BB91-E95D1B62A4FD}"/>
              </a:ext>
            </a:extLst>
          </p:cNvPr>
          <p:cNvSpPr>
            <a:spLocks noGrp="1"/>
          </p:cNvSpPr>
          <p:nvPr>
            <p:ph idx="1"/>
          </p:nvPr>
        </p:nvSpPr>
        <p:spPr>
          <a:xfrm>
            <a:off x="741267" y="966003"/>
            <a:ext cx="10353762" cy="4796442"/>
          </a:xfrm>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Introduction of the cold regions and examples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Characteristics of the cold region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Importance of studying the cold region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Examples of organisms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Adaptation of organism to the cold region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Environmental challenge</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Conservation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Conclusion </a:t>
            </a:r>
          </a:p>
        </p:txBody>
      </p:sp>
      <p:sp>
        <p:nvSpPr>
          <p:cNvPr id="4" name="Slide Number Placeholder 3">
            <a:extLst>
              <a:ext uri="{FF2B5EF4-FFF2-40B4-BE49-F238E27FC236}">
                <a16:creationId xmlns:a16="http://schemas.microsoft.com/office/drawing/2014/main" id="{AAEB0948-15AB-2324-010B-F7469F451D00}"/>
              </a:ext>
            </a:extLst>
          </p:cNvPr>
          <p:cNvSpPr>
            <a:spLocks noGrp="1"/>
          </p:cNvSpPr>
          <p:nvPr>
            <p:ph type="sldNum" sz="quarter" idx="12"/>
          </p:nvPr>
        </p:nvSpPr>
        <p:spPr>
          <a:xfrm>
            <a:off x="10488132" y="5891997"/>
            <a:ext cx="753545" cy="365125"/>
          </a:xfrm>
        </p:spPr>
        <p:txBody>
          <a:bodyPr/>
          <a:lstStyle/>
          <a:p>
            <a:r>
              <a:rPr lang="en-US" sz="28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722740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13E6A-BF10-A16B-B17D-F536683FAC4F}"/>
              </a:ext>
            </a:extLst>
          </p:cNvPr>
          <p:cNvSpPr>
            <a:spLocks noGrp="1"/>
          </p:cNvSpPr>
          <p:nvPr>
            <p:ph idx="1"/>
          </p:nvPr>
        </p:nvSpPr>
        <p:spPr>
          <a:xfrm>
            <a:off x="919119" y="845388"/>
            <a:ext cx="10353762" cy="5290868"/>
          </a:xfrm>
        </p:spPr>
        <p:txBody>
          <a:bodyPr>
            <a:noAutofit/>
          </a:bodyPr>
          <a:lstStyle/>
          <a:p>
            <a:pPr marL="0" indent="0">
              <a:buNone/>
            </a:pPr>
            <a:r>
              <a:rPr lang="en-US" sz="2400" b="0" i="0" dirty="0">
                <a:solidFill>
                  <a:srgbClr val="D1D5DB"/>
                </a:solidFill>
                <a:effectLst/>
                <a:latin typeface="Times New Roman" panose="02020603050405020304" pitchFamily="18" charset="0"/>
                <a:cs typeface="Times New Roman" panose="02020603050405020304" pitchFamily="18" charset="0"/>
              </a:rPr>
              <a:t>A cold region refers to a geographical area characterized by low temperatures and challenging environmental conditions. These regions are typically located near the Earth's poles, including the Arctic in the northern hemisphere and the Antarctic in the southern hemisphere. Also, other examples include Tundra, Alpine and Mountainous , and  Subarctic region.</a:t>
            </a:r>
          </a:p>
          <a:p>
            <a:pPr marL="0" indent="0">
              <a:buNone/>
            </a:pPr>
            <a:r>
              <a:rPr lang="en-US" sz="2400" b="0" i="0" dirty="0">
                <a:solidFill>
                  <a:srgbClr val="D1D5DB"/>
                </a:solidFill>
                <a:effectLst/>
                <a:latin typeface="Times New Roman" panose="02020603050405020304" pitchFamily="18" charset="0"/>
                <a:cs typeface="Times New Roman" panose="02020603050405020304" pitchFamily="18" charset="0"/>
              </a:rPr>
              <a:t>The Arctic region encompasses the area around the North Pole and extends into parts of several countries, including Canada, Russia, Greenland (an autonomous territory of Denmark), Norway, the United States (Alaska), and Iceland. It is surrounded by the Arctic Ocean.</a:t>
            </a:r>
          </a:p>
        </p:txBody>
      </p:sp>
      <p:sp>
        <p:nvSpPr>
          <p:cNvPr id="4" name="Slide Number Placeholder 3">
            <a:extLst>
              <a:ext uri="{FF2B5EF4-FFF2-40B4-BE49-F238E27FC236}">
                <a16:creationId xmlns:a16="http://schemas.microsoft.com/office/drawing/2014/main" id="{C38E160B-1A3B-4664-C739-B11714A8A86E}"/>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4120541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48D463-DF4B-4650-BCB4-872E0B8E6968}"/>
              </a:ext>
            </a:extLst>
          </p:cNvPr>
          <p:cNvSpPr>
            <a:spLocks noGrp="1"/>
          </p:cNvSpPr>
          <p:nvPr>
            <p:ph idx="1"/>
          </p:nvPr>
        </p:nvSpPr>
        <p:spPr>
          <a:xfrm>
            <a:off x="836157" y="879895"/>
            <a:ext cx="10353762" cy="4313207"/>
          </a:xfrm>
        </p:spPr>
        <p:txBody>
          <a:bodyPr>
            <a:normAutofit/>
          </a:bodyPr>
          <a:lstStyle/>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The Arctic experiences long, extremely cold winters and relatively short, cool summers. Average temperatures in winter range from -30 to -40 degrees Celsius (-22 to -40 degrees Fahrenheit), while summer temperatures can reach 0 to 10 degrees Celsius (32 to 50 degrees Fahrenheit)</a:t>
            </a:r>
            <a:endParaRPr lang="en-US" sz="2400" dirty="0">
              <a:latin typeface="Times New Roman" panose="02020603050405020304" pitchFamily="18" charset="0"/>
              <a:cs typeface="Times New Roman" panose="02020603050405020304" pitchFamily="18" charset="0"/>
            </a:endParaRPr>
          </a:p>
          <a:p>
            <a:pPr marL="0" indent="0">
              <a:buNone/>
            </a:pPr>
            <a:endParaRPr lang="en-US" sz="2400" b="0" i="0" dirty="0">
              <a:solidFill>
                <a:srgbClr val="D1D5DB"/>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The Arctic is known for its extensive sea ice cover, which forms during winter and melts during summer. It also contains ice caps, glaciers, and permafrost that cover a significant portion of the landmass.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ED401F1-882F-552B-7BAF-003BC4EE130C}"/>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3341831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FA939F-DFE6-98B4-11F7-82E8CB65CB23}"/>
              </a:ext>
            </a:extLst>
          </p:cNvPr>
          <p:cNvSpPr>
            <a:spLocks noGrp="1"/>
          </p:cNvSpPr>
          <p:nvPr>
            <p:ph idx="1"/>
          </p:nvPr>
        </p:nvSpPr>
        <p:spPr>
          <a:xfrm>
            <a:off x="913795" y="534838"/>
            <a:ext cx="10353762" cy="5472022"/>
          </a:xfrm>
        </p:spPr>
        <p:txBody>
          <a:bodyPr>
            <a:noAutofit/>
          </a:bodyPr>
          <a:lstStyle/>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The Antarctic region consists of the continent of Antarctica, which is situated at the southernmost part of the Earth. It is surrounded by the Southern Ocean. Antarctica is governed by the Antarctic Treaty System, with no permanent population.</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Antarctica is the coldest place on Earth. Average temperatures in winter can drop below -60 degrees Celsius (-76 degrees Fahrenheit), while summer temperatures hover around -20 degrees Celsius (-4 degrees Fahrenheit) near the coast. It is characterized by strong winds and dry conditions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Antarctica is covered by a massive ice sheet that contains around 90% of the world's ice and about 70% of its freshwater. The ice sheet is several kilometers thick in some areas and plays a significant role in global sea level rise dynamics.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17CC92A-B252-5156-CABC-2F333E51B3C6}"/>
              </a:ext>
            </a:extLst>
          </p:cNvPr>
          <p:cNvSpPr>
            <a:spLocks noGrp="1"/>
          </p:cNvSpPr>
          <p:nvPr>
            <p:ph type="sldNum" sz="quarter" idx="12"/>
          </p:nvPr>
        </p:nvSpPr>
        <p:spPr>
          <a:xfrm>
            <a:off x="10890784" y="6006860"/>
            <a:ext cx="753545" cy="365125"/>
          </a:xfrm>
        </p:spPr>
        <p:txBody>
          <a:bodyPr/>
          <a:lstStyle/>
          <a:p>
            <a:r>
              <a:rPr lang="en-US" sz="2800"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224930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7558AD-6A56-E652-F218-23DBAB9E9327}"/>
              </a:ext>
            </a:extLst>
          </p:cNvPr>
          <p:cNvSpPr>
            <a:spLocks noGrp="1"/>
          </p:cNvSpPr>
          <p:nvPr>
            <p:ph idx="1"/>
          </p:nvPr>
        </p:nvSpPr>
        <p:spPr>
          <a:xfrm>
            <a:off x="913795" y="621103"/>
            <a:ext cx="10353762" cy="5170098"/>
          </a:xfrm>
        </p:spPr>
        <p:txBody>
          <a:bodyPr/>
          <a:lstStyle/>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Alpine and Mountainous Regions: High-altitude regions around the world, especially those in temperate and subarctic latitudes, can be classified as cold regions due to their low temperatures and snow cover. Examples include the Alps in Europe, the Rocky Mountains in North America, the Andes in South America, and the Himalayas in Asia.</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Tundra Regions: Tundra regions are found primarily in the Arctic and subarctic regions but can also be present at high altitudes in mountainous areas. Examples include the tundra regions of northern Canada, Alaska, Russia's Yamal Peninsula, and parts of Scandinavia.</a:t>
            </a:r>
          </a:p>
          <a:p>
            <a:endParaRPr lang="en-US" dirty="0"/>
          </a:p>
        </p:txBody>
      </p:sp>
      <p:sp>
        <p:nvSpPr>
          <p:cNvPr id="4" name="Slide Number Placeholder 3">
            <a:extLst>
              <a:ext uri="{FF2B5EF4-FFF2-40B4-BE49-F238E27FC236}">
                <a16:creationId xmlns:a16="http://schemas.microsoft.com/office/drawing/2014/main" id="{36B80E85-CA10-8743-2E49-53804BBA662B}"/>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463468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B9A2E-54A2-4A90-0E4E-467A0CE649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Characteristics of the cold region </a:t>
            </a:r>
          </a:p>
        </p:txBody>
      </p:sp>
      <p:sp>
        <p:nvSpPr>
          <p:cNvPr id="3" name="Content Placeholder 2">
            <a:extLst>
              <a:ext uri="{FF2B5EF4-FFF2-40B4-BE49-F238E27FC236}">
                <a16:creationId xmlns:a16="http://schemas.microsoft.com/office/drawing/2014/main" id="{94EDEA18-B75D-9F6E-F7E0-659D4EC18A08}"/>
              </a:ext>
            </a:extLst>
          </p:cNvPr>
          <p:cNvSpPr>
            <a:spLocks noGrp="1"/>
          </p:cNvSpPr>
          <p:nvPr>
            <p:ph idx="1"/>
          </p:nvPr>
        </p:nvSpPr>
        <p:spPr/>
        <p:txBody>
          <a:bodyPr>
            <a:normAutofit/>
          </a:bodyPr>
          <a:lstStyle/>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Low Temperatures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Ice and Snow</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Permafrost</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Harsh Weather Conditions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Biodiversity</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7A7FD0F-D986-345C-58F1-4AE1D797E50B}"/>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289907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B57E0-309F-A7D7-F627-54C146788E20}"/>
              </a:ext>
            </a:extLst>
          </p:cNvPr>
          <p:cNvSpPr>
            <a:spLocks noGrp="1"/>
          </p:cNvSpPr>
          <p:nvPr>
            <p:ph type="title"/>
          </p:nvPr>
        </p:nvSpPr>
        <p:spPr>
          <a:xfrm>
            <a:off x="741267" y="138023"/>
            <a:ext cx="10353761" cy="779981"/>
          </a:xfrm>
        </p:spPr>
        <p:txBody>
          <a:bodyPr/>
          <a:lstStyle/>
          <a:p>
            <a:r>
              <a:rPr lang="en-US" dirty="0">
                <a:latin typeface="Times New Roman" panose="02020603050405020304" pitchFamily="18" charset="0"/>
                <a:cs typeface="Times New Roman" panose="02020603050405020304" pitchFamily="18" charset="0"/>
              </a:rPr>
              <a:t>Importance of studying cold region</a:t>
            </a:r>
          </a:p>
        </p:txBody>
      </p:sp>
      <p:sp>
        <p:nvSpPr>
          <p:cNvPr id="3" name="Content Placeholder 2">
            <a:extLst>
              <a:ext uri="{FF2B5EF4-FFF2-40B4-BE49-F238E27FC236}">
                <a16:creationId xmlns:a16="http://schemas.microsoft.com/office/drawing/2014/main" id="{62A86B8A-0CC3-46A6-8A00-9858AEAB2B99}"/>
              </a:ext>
            </a:extLst>
          </p:cNvPr>
          <p:cNvSpPr>
            <a:spLocks noGrp="1"/>
          </p:cNvSpPr>
          <p:nvPr>
            <p:ph idx="1"/>
          </p:nvPr>
        </p:nvSpPr>
        <p:spPr>
          <a:xfrm>
            <a:off x="919119" y="1250830"/>
            <a:ext cx="10353762" cy="4025738"/>
          </a:xfrm>
        </p:spPr>
        <p:txBody>
          <a:bodyPr>
            <a:normAutofit/>
          </a:bodyPr>
          <a:lstStyle/>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Climate Change</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Biodiversity and Ecosystems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Freshwater Resources:</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34AAA7F-F040-640F-0A34-2AC6C75E4D85}"/>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7</a:t>
            </a:r>
          </a:p>
        </p:txBody>
      </p:sp>
    </p:spTree>
    <p:extLst>
      <p:ext uri="{BB962C8B-B14F-4D97-AF65-F5344CB8AC3E}">
        <p14:creationId xmlns:p14="http://schemas.microsoft.com/office/powerpoint/2010/main" val="3441840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C4D85-0C69-4A0A-93AD-C28AD385A8FF}"/>
              </a:ext>
            </a:extLst>
          </p:cNvPr>
          <p:cNvSpPr>
            <a:spLocks noGrp="1"/>
          </p:cNvSpPr>
          <p:nvPr>
            <p:ph type="title"/>
          </p:nvPr>
        </p:nvSpPr>
        <p:spPr>
          <a:xfrm>
            <a:off x="913795" y="100949"/>
            <a:ext cx="10353761" cy="1326321"/>
          </a:xfrm>
        </p:spPr>
        <p:txBody>
          <a:bodyPr/>
          <a:lstStyle/>
          <a:p>
            <a:r>
              <a:rPr lang="en-US" dirty="0">
                <a:latin typeface="Times New Roman" panose="02020603050405020304" pitchFamily="18" charset="0"/>
                <a:cs typeface="Times New Roman" panose="02020603050405020304" pitchFamily="18" charset="0"/>
              </a:rPr>
              <a:t>Example of organism in the cold region</a:t>
            </a:r>
          </a:p>
        </p:txBody>
      </p:sp>
      <p:sp>
        <p:nvSpPr>
          <p:cNvPr id="3" name="Content Placeholder 2">
            <a:extLst>
              <a:ext uri="{FF2B5EF4-FFF2-40B4-BE49-F238E27FC236}">
                <a16:creationId xmlns:a16="http://schemas.microsoft.com/office/drawing/2014/main" id="{516FF10D-E18C-4C87-C880-3C55A0FC85F8}"/>
              </a:ext>
            </a:extLst>
          </p:cNvPr>
          <p:cNvSpPr>
            <a:spLocks noGrp="1"/>
          </p:cNvSpPr>
          <p:nvPr>
            <p:ph idx="1"/>
          </p:nvPr>
        </p:nvSpPr>
        <p:spPr>
          <a:xfrm>
            <a:off x="854827" y="1100137"/>
            <a:ext cx="10353762" cy="5335169"/>
          </a:xfrm>
        </p:spPr>
        <p:txBody>
          <a:bodyPr/>
          <a:lstStyle/>
          <a:p>
            <a:endParaRPr lang="en-US" dirty="0"/>
          </a:p>
          <a:p>
            <a:endParaRPr lang="en-US" dirty="0"/>
          </a:p>
          <a:p>
            <a:endParaRPr lang="en-US" dirty="0"/>
          </a:p>
          <a:p>
            <a:pPr marL="0" indent="0">
              <a:buNone/>
            </a:pPr>
            <a:br>
              <a:rPr lang="en-US" dirty="0"/>
            </a:br>
            <a:r>
              <a:rPr lang="en-US" dirty="0"/>
              <a:t>              </a:t>
            </a:r>
          </a:p>
          <a:p>
            <a:pPr marL="0" indent="0">
              <a:buNone/>
            </a:pPr>
            <a:r>
              <a:rPr lang="en-US" dirty="0"/>
              <a:t>                polar bear                                                                         Arctic Fox </a:t>
            </a:r>
          </a:p>
          <a:p>
            <a:endParaRPr lang="en-US" dirty="0"/>
          </a:p>
        </p:txBody>
      </p:sp>
      <p:pic>
        <p:nvPicPr>
          <p:cNvPr id="5" name="Picture 4" descr="A musk ox standing in the snow&#10;&#10;Description automatically generated with medium confidence">
            <a:extLst>
              <a:ext uri="{FF2B5EF4-FFF2-40B4-BE49-F238E27FC236}">
                <a16:creationId xmlns:a16="http://schemas.microsoft.com/office/drawing/2014/main" id="{C0138868-060F-B031-C91C-2FDBE2ADB660}"/>
              </a:ext>
            </a:extLst>
          </p:cNvPr>
          <p:cNvPicPr>
            <a:picLocks noChangeAspect="1"/>
          </p:cNvPicPr>
          <p:nvPr/>
        </p:nvPicPr>
        <p:blipFill>
          <a:blip r:embed="rId2"/>
          <a:stretch>
            <a:fillRect/>
          </a:stretch>
        </p:blipFill>
        <p:spPr>
          <a:xfrm>
            <a:off x="4158381" y="3956214"/>
            <a:ext cx="2914650" cy="2228850"/>
          </a:xfrm>
          <a:prstGeom prst="rect">
            <a:avLst/>
          </a:prstGeom>
        </p:spPr>
      </p:pic>
      <p:pic>
        <p:nvPicPr>
          <p:cNvPr id="7" name="Picture 6" descr="A white fox sitting in the snow&#10;&#10;Description automatically generated">
            <a:extLst>
              <a:ext uri="{FF2B5EF4-FFF2-40B4-BE49-F238E27FC236}">
                <a16:creationId xmlns:a16="http://schemas.microsoft.com/office/drawing/2014/main" id="{FB9C3E7D-492B-A3C5-5D77-ED8DDC6C2F86}"/>
              </a:ext>
            </a:extLst>
          </p:cNvPr>
          <p:cNvPicPr>
            <a:picLocks noChangeAspect="1"/>
          </p:cNvPicPr>
          <p:nvPr/>
        </p:nvPicPr>
        <p:blipFill>
          <a:blip r:embed="rId3"/>
          <a:stretch>
            <a:fillRect/>
          </a:stretch>
        </p:blipFill>
        <p:spPr>
          <a:xfrm>
            <a:off x="6512943" y="1241230"/>
            <a:ext cx="3724275" cy="2228850"/>
          </a:xfrm>
          <a:prstGeom prst="rect">
            <a:avLst/>
          </a:prstGeom>
        </p:spPr>
      </p:pic>
      <p:pic>
        <p:nvPicPr>
          <p:cNvPr id="9" name="Picture 8" descr="A polar bear walking on ice&#10;&#10;Description automatically generated">
            <a:extLst>
              <a:ext uri="{FF2B5EF4-FFF2-40B4-BE49-F238E27FC236}">
                <a16:creationId xmlns:a16="http://schemas.microsoft.com/office/drawing/2014/main" id="{FC325C89-267F-1BFB-7D67-F178EFAD2E32}"/>
              </a:ext>
            </a:extLst>
          </p:cNvPr>
          <p:cNvPicPr>
            <a:picLocks noChangeAspect="1"/>
          </p:cNvPicPr>
          <p:nvPr/>
        </p:nvPicPr>
        <p:blipFill>
          <a:blip r:embed="rId4"/>
          <a:stretch>
            <a:fillRect/>
          </a:stretch>
        </p:blipFill>
        <p:spPr>
          <a:xfrm>
            <a:off x="960375" y="1241230"/>
            <a:ext cx="3724275" cy="2187770"/>
          </a:xfrm>
          <a:prstGeom prst="rect">
            <a:avLst/>
          </a:prstGeom>
        </p:spPr>
      </p:pic>
      <p:sp>
        <p:nvSpPr>
          <p:cNvPr id="13" name="TextBox 12">
            <a:extLst>
              <a:ext uri="{FF2B5EF4-FFF2-40B4-BE49-F238E27FC236}">
                <a16:creationId xmlns:a16="http://schemas.microsoft.com/office/drawing/2014/main" id="{9F9C42AD-983E-8C6E-13AD-060F4303E41D}"/>
              </a:ext>
            </a:extLst>
          </p:cNvPr>
          <p:cNvSpPr txBox="1"/>
          <p:nvPr/>
        </p:nvSpPr>
        <p:spPr>
          <a:xfrm>
            <a:off x="4988225" y="6250640"/>
            <a:ext cx="1291805" cy="369332"/>
          </a:xfrm>
          <a:prstGeom prst="rect">
            <a:avLst/>
          </a:prstGeom>
          <a:noFill/>
        </p:spPr>
        <p:txBody>
          <a:bodyPr wrap="square">
            <a:spAutoFit/>
          </a:bodyPr>
          <a:lstStyle/>
          <a:p>
            <a:r>
              <a:rPr lang="en-US" dirty="0"/>
              <a:t>Musk Ox </a:t>
            </a:r>
          </a:p>
        </p:txBody>
      </p:sp>
      <p:sp>
        <p:nvSpPr>
          <p:cNvPr id="14" name="Slide Number Placeholder 13">
            <a:extLst>
              <a:ext uri="{FF2B5EF4-FFF2-40B4-BE49-F238E27FC236}">
                <a16:creationId xmlns:a16="http://schemas.microsoft.com/office/drawing/2014/main" id="{5A1FF5C6-24A7-A582-7854-EA1CDF3816C5}"/>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3550769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outdoor, grass, plant, field">
            <a:extLst>
              <a:ext uri="{FF2B5EF4-FFF2-40B4-BE49-F238E27FC236}">
                <a16:creationId xmlns:a16="http://schemas.microsoft.com/office/drawing/2014/main" id="{5DB1CADE-0188-81E3-77E7-82EF2BC46AE0}"/>
              </a:ext>
            </a:extLst>
          </p:cNvPr>
          <p:cNvPicPr>
            <a:picLocks noGrp="1" noChangeAspect="1"/>
          </p:cNvPicPr>
          <p:nvPr>
            <p:ph idx="1"/>
          </p:nvPr>
        </p:nvPicPr>
        <p:blipFill>
          <a:blip r:embed="rId2"/>
          <a:stretch>
            <a:fillRect/>
          </a:stretch>
        </p:blipFill>
        <p:spPr>
          <a:xfrm>
            <a:off x="389608" y="675012"/>
            <a:ext cx="5902561" cy="4604352"/>
          </a:xfrm>
        </p:spPr>
      </p:pic>
      <p:pic>
        <p:nvPicPr>
          <p:cNvPr id="7" name="Picture 6">
            <a:extLst>
              <a:ext uri="{FF2B5EF4-FFF2-40B4-BE49-F238E27FC236}">
                <a16:creationId xmlns:a16="http://schemas.microsoft.com/office/drawing/2014/main" id="{F854AEE6-21CB-8783-3DC9-16205A20389A}"/>
              </a:ext>
            </a:extLst>
          </p:cNvPr>
          <p:cNvPicPr>
            <a:picLocks noChangeAspect="1"/>
          </p:cNvPicPr>
          <p:nvPr/>
        </p:nvPicPr>
        <p:blipFill>
          <a:blip r:embed="rId3"/>
          <a:stretch>
            <a:fillRect/>
          </a:stretch>
        </p:blipFill>
        <p:spPr>
          <a:xfrm>
            <a:off x="6707840" y="675013"/>
            <a:ext cx="4887519" cy="4604351"/>
          </a:xfrm>
          <a:prstGeom prst="rect">
            <a:avLst/>
          </a:prstGeom>
        </p:spPr>
      </p:pic>
      <p:sp>
        <p:nvSpPr>
          <p:cNvPr id="8" name="Slide Number Placeholder 7">
            <a:extLst>
              <a:ext uri="{FF2B5EF4-FFF2-40B4-BE49-F238E27FC236}">
                <a16:creationId xmlns:a16="http://schemas.microsoft.com/office/drawing/2014/main" id="{4A677537-2FB4-5379-3725-6C1C26DF7923}"/>
              </a:ext>
            </a:extLst>
          </p:cNvPr>
          <p:cNvSpPr>
            <a:spLocks noGrp="1"/>
          </p:cNvSpPr>
          <p:nvPr>
            <p:ph type="sldNum" sz="quarter" idx="12"/>
          </p:nvPr>
        </p:nvSpPr>
        <p:spPr>
          <a:xfrm>
            <a:off x="10841814" y="5926407"/>
            <a:ext cx="753545" cy="365125"/>
          </a:xfrm>
        </p:spPr>
        <p:txBody>
          <a:bodyPr/>
          <a:lstStyle/>
          <a:p>
            <a:r>
              <a:rPr lang="en-US" sz="2800" dirty="0">
                <a:latin typeface="Times New Roman" panose="02020603050405020304" pitchFamily="18" charset="0"/>
                <a:cs typeface="Times New Roman" panose="02020603050405020304" pitchFamily="18" charset="0"/>
              </a:rPr>
              <a:t>9</a:t>
            </a:r>
          </a:p>
        </p:txBody>
      </p:sp>
      <p:sp>
        <p:nvSpPr>
          <p:cNvPr id="10" name="TextBox 9">
            <a:extLst>
              <a:ext uri="{FF2B5EF4-FFF2-40B4-BE49-F238E27FC236}">
                <a16:creationId xmlns:a16="http://schemas.microsoft.com/office/drawing/2014/main" id="{34249BDB-2F90-D3D0-4CC0-65486401F2F2}"/>
              </a:ext>
            </a:extLst>
          </p:cNvPr>
          <p:cNvSpPr txBox="1"/>
          <p:nvPr/>
        </p:nvSpPr>
        <p:spPr>
          <a:xfrm>
            <a:off x="2189261" y="5480131"/>
            <a:ext cx="2303253" cy="523220"/>
          </a:xfrm>
          <a:prstGeom prst="rect">
            <a:avLst/>
          </a:prstGeom>
          <a:noFill/>
        </p:spPr>
        <p:txBody>
          <a:bodyPr wrap="square">
            <a:spAutoFit/>
          </a:bodyPr>
          <a:lstStyle/>
          <a:p>
            <a:r>
              <a:rPr lang="en-US" sz="2800" dirty="0">
                <a:solidFill>
                  <a:srgbClr val="D1D5DB"/>
                </a:solidFill>
                <a:latin typeface="Times New Roman" panose="02020603050405020304" pitchFamily="18" charset="0"/>
                <a:cs typeface="Times New Roman" panose="02020603050405020304" pitchFamily="18" charset="0"/>
              </a:rPr>
              <a:t>Cotton grass </a:t>
            </a:r>
            <a:endParaRPr lang="en-US" sz="28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99CB102-D6C0-C7FA-5419-8EEEE250B260}"/>
              </a:ext>
            </a:extLst>
          </p:cNvPr>
          <p:cNvSpPr txBox="1"/>
          <p:nvPr/>
        </p:nvSpPr>
        <p:spPr>
          <a:xfrm>
            <a:off x="8399905" y="5480131"/>
            <a:ext cx="2749670"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Arctic plant</a:t>
            </a:r>
          </a:p>
        </p:txBody>
      </p:sp>
    </p:spTree>
    <p:extLst>
      <p:ext uri="{BB962C8B-B14F-4D97-AF65-F5344CB8AC3E}">
        <p14:creationId xmlns:p14="http://schemas.microsoft.com/office/powerpoint/2010/main" val="3438527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7C61-2CF5-BA3A-1954-2F7B6D001FB1}"/>
              </a:ext>
            </a:extLst>
          </p:cNvPr>
          <p:cNvSpPr>
            <a:spLocks noGrp="1"/>
          </p:cNvSpPr>
          <p:nvPr>
            <p:ph type="title"/>
          </p:nvPr>
        </p:nvSpPr>
        <p:spPr>
          <a:xfrm>
            <a:off x="810278" y="333555"/>
            <a:ext cx="10353761" cy="908649"/>
          </a:xfrm>
        </p:spPr>
        <p:txBody>
          <a:bodyPr>
            <a:normAutofit fontScale="90000"/>
          </a:bodyPr>
          <a:lstStyle/>
          <a:p>
            <a:r>
              <a:rPr lang="en-US" dirty="0">
                <a:latin typeface="Times New Roman" panose="02020603050405020304" pitchFamily="18" charset="0"/>
                <a:cs typeface="Times New Roman" panose="02020603050405020304" pitchFamily="18" charset="0"/>
              </a:rPr>
              <a:t>Adaptation of organism in the cold region </a:t>
            </a:r>
          </a:p>
        </p:txBody>
      </p:sp>
      <p:sp>
        <p:nvSpPr>
          <p:cNvPr id="3" name="Content Placeholder 2">
            <a:extLst>
              <a:ext uri="{FF2B5EF4-FFF2-40B4-BE49-F238E27FC236}">
                <a16:creationId xmlns:a16="http://schemas.microsoft.com/office/drawing/2014/main" id="{A8459CA2-E61F-0A6B-3F12-1EE0670C666E}"/>
              </a:ext>
            </a:extLst>
          </p:cNvPr>
          <p:cNvSpPr>
            <a:spLocks noGrp="1"/>
          </p:cNvSpPr>
          <p:nvPr>
            <p:ph idx="1"/>
          </p:nvPr>
        </p:nvSpPr>
        <p:spPr>
          <a:xfrm>
            <a:off x="913795" y="1052423"/>
            <a:ext cx="10353762" cy="4738777"/>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         For plant</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Small Size</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Hairy or Waxy Surfaces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Short Life Cycles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Deep Root Systems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Freeze Tolerance</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7768A24-2C7C-C84B-7C0E-FB39C67B6EE9}"/>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3554309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882601-AE10-8E41-6396-E749225E8A2F}"/>
              </a:ext>
            </a:extLst>
          </p:cNvPr>
          <p:cNvSpPr>
            <a:spLocks noGrp="1"/>
          </p:cNvSpPr>
          <p:nvPr>
            <p:ph idx="1"/>
          </p:nvPr>
        </p:nvSpPr>
        <p:spPr>
          <a:xfrm>
            <a:off x="913795" y="465826"/>
            <a:ext cx="10353762" cy="5325374"/>
          </a:xfrm>
        </p:spPr>
        <p:txBody>
          <a:bodyPr/>
          <a:lstStyle/>
          <a:p>
            <a:pPr marL="0" indent="0">
              <a:buNone/>
            </a:pPr>
            <a:r>
              <a:rPr lang="en-US" sz="2400" dirty="0">
                <a:latin typeface="Times New Roman" panose="02020603050405020304" pitchFamily="18" charset="0"/>
                <a:cs typeface="Times New Roman" panose="02020603050405020304" pitchFamily="18" charset="0"/>
              </a:rPr>
              <a:t>        For animals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Thick Insulating Fur or Feathers</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Large Body Size</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Camouflage</a:t>
            </a:r>
          </a:p>
          <a:p>
            <a:pPr>
              <a:buFont typeface="Wingdings" panose="05000000000000000000" pitchFamily="2" charset="2"/>
              <a:buChar char="v"/>
            </a:pPr>
            <a:r>
              <a:rPr lang="en-US" sz="2400" b="0" i="0" dirty="0">
                <a:solidFill>
                  <a:srgbClr val="D1D5DB"/>
                </a:solidFill>
                <a:effectLst/>
                <a:latin typeface="Times New Roman" panose="02020603050405020304" pitchFamily="18" charset="0"/>
                <a:cs typeface="Times New Roman" panose="02020603050405020304" pitchFamily="18" charset="0"/>
              </a:rPr>
              <a:t>Behavioral Adaptations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98E0F0-F8F3-FE56-8D07-DCA928D920FB}"/>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3580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4D0A-CB9E-1DC7-0536-ECB6B11E5F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environmental challenges OF COLD REGION</a:t>
            </a:r>
          </a:p>
        </p:txBody>
      </p:sp>
      <p:sp>
        <p:nvSpPr>
          <p:cNvPr id="3" name="Content Placeholder 2">
            <a:extLst>
              <a:ext uri="{FF2B5EF4-FFF2-40B4-BE49-F238E27FC236}">
                <a16:creationId xmlns:a16="http://schemas.microsoft.com/office/drawing/2014/main" id="{AB02C17F-3994-2E4E-27D7-7B07BBC4F601}"/>
              </a:ext>
            </a:extLst>
          </p:cNvPr>
          <p:cNvSpPr>
            <a:spLocks noGrp="1"/>
          </p:cNvSpPr>
          <p:nvPr>
            <p:ph idx="1"/>
          </p:nvPr>
        </p:nvSpPr>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Climate Change</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Melting Ice</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Permafrost Degradation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Biodiversity Loss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Resource Extraction</a:t>
            </a:r>
          </a:p>
        </p:txBody>
      </p:sp>
      <p:sp>
        <p:nvSpPr>
          <p:cNvPr id="4" name="Slide Number Placeholder 3">
            <a:extLst>
              <a:ext uri="{FF2B5EF4-FFF2-40B4-BE49-F238E27FC236}">
                <a16:creationId xmlns:a16="http://schemas.microsoft.com/office/drawing/2014/main" id="{D3A08A82-3BB8-B40F-D1DE-531E0DE778B4}"/>
              </a:ext>
            </a:extLst>
          </p:cNvPr>
          <p:cNvSpPr>
            <a:spLocks noGrp="1"/>
          </p:cNvSpPr>
          <p:nvPr>
            <p:ph type="sldNum" sz="quarter" idx="12"/>
          </p:nvPr>
        </p:nvSpPr>
        <p:spPr>
          <a:xfrm>
            <a:off x="10524660" y="5608637"/>
            <a:ext cx="753545" cy="365125"/>
          </a:xfrm>
        </p:spPr>
        <p:txBody>
          <a:bodyPr/>
          <a:lstStyle/>
          <a:p>
            <a:r>
              <a:rPr lang="en-US" sz="2800"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1678819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B8EE-B885-1184-C61D-9BC513864173}"/>
              </a:ext>
            </a:extLst>
          </p:cNvPr>
          <p:cNvSpPr>
            <a:spLocks noGrp="1"/>
          </p:cNvSpPr>
          <p:nvPr>
            <p:ph type="title"/>
          </p:nvPr>
        </p:nvSpPr>
        <p:spPr>
          <a:xfrm>
            <a:off x="913795" y="212785"/>
            <a:ext cx="10353761" cy="753373"/>
          </a:xfrm>
        </p:spPr>
        <p:txBody>
          <a:bodyPr/>
          <a:lstStyle/>
          <a:p>
            <a:r>
              <a:rPr lang="en-US" dirty="0"/>
              <a:t>Conservation of cold regions</a:t>
            </a:r>
          </a:p>
        </p:txBody>
      </p:sp>
      <p:sp>
        <p:nvSpPr>
          <p:cNvPr id="3" name="Content Placeholder 2">
            <a:extLst>
              <a:ext uri="{FF2B5EF4-FFF2-40B4-BE49-F238E27FC236}">
                <a16:creationId xmlns:a16="http://schemas.microsoft.com/office/drawing/2014/main" id="{731257C0-6FBD-2D63-FAB9-4D2DFBA9C3D3}"/>
              </a:ext>
            </a:extLst>
          </p:cNvPr>
          <p:cNvSpPr>
            <a:spLocks noGrp="1"/>
          </p:cNvSpPr>
          <p:nvPr>
            <p:ph idx="1"/>
          </p:nvPr>
        </p:nvSpPr>
        <p:spPr>
          <a:xfrm>
            <a:off x="836158" y="1380227"/>
            <a:ext cx="10353762" cy="4730151"/>
          </a:xfrm>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Arctic Council</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Circumpolar Biodiversity Monitoring Program (CBMP)</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Protected Areas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Long-Term Ecological Research (LTER) Programs</a:t>
            </a:r>
          </a:p>
        </p:txBody>
      </p:sp>
      <p:sp>
        <p:nvSpPr>
          <p:cNvPr id="4" name="Slide Number Placeholder 3">
            <a:extLst>
              <a:ext uri="{FF2B5EF4-FFF2-40B4-BE49-F238E27FC236}">
                <a16:creationId xmlns:a16="http://schemas.microsoft.com/office/drawing/2014/main" id="{6C0FCB60-2C24-FDDB-4332-F0FA2884093B}"/>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213547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CDA4-995F-15C8-E3BE-6B63840D0ECD}"/>
              </a:ext>
            </a:extLst>
          </p:cNvPr>
          <p:cNvSpPr>
            <a:spLocks noGrp="1"/>
          </p:cNvSpPr>
          <p:nvPr>
            <p:ph type="title"/>
          </p:nvPr>
        </p:nvSpPr>
        <p:spPr>
          <a:xfrm>
            <a:off x="698740" y="221412"/>
            <a:ext cx="7273526" cy="931653"/>
          </a:xfrm>
        </p:spPr>
        <p:txBody>
          <a:bodyPr/>
          <a:lstStyle/>
          <a:p>
            <a:r>
              <a:rPr lang="en-US" dirty="0"/>
              <a:t>CONCLUSION </a:t>
            </a:r>
          </a:p>
        </p:txBody>
      </p:sp>
      <p:sp>
        <p:nvSpPr>
          <p:cNvPr id="3" name="Content Placeholder 2">
            <a:extLst>
              <a:ext uri="{FF2B5EF4-FFF2-40B4-BE49-F238E27FC236}">
                <a16:creationId xmlns:a16="http://schemas.microsoft.com/office/drawing/2014/main" id="{60ABCFEF-A8C0-3084-C5BA-7233E46A2F4E}"/>
              </a:ext>
            </a:extLst>
          </p:cNvPr>
          <p:cNvSpPr>
            <a:spLocks noGrp="1"/>
          </p:cNvSpPr>
          <p:nvPr>
            <p:ph idx="1"/>
          </p:nvPr>
        </p:nvSpPr>
        <p:spPr>
          <a:xfrm>
            <a:off x="353078" y="1153065"/>
            <a:ext cx="10353762" cy="3695136"/>
          </a:xfrm>
        </p:spPr>
        <p:txBody>
          <a:bodyPr/>
          <a:lstStyle/>
          <a:p>
            <a:pPr marL="0" indent="0">
              <a:buNone/>
            </a:pPr>
            <a:r>
              <a:rPr lang="en-US" dirty="0"/>
              <a:t>The cold region provides conditions which makes it possible for only few organisms to survive there. This is because they have developed physiological adaptations that make their survival possible.  </a:t>
            </a:r>
          </a:p>
        </p:txBody>
      </p:sp>
      <p:sp>
        <p:nvSpPr>
          <p:cNvPr id="4" name="Slide Number Placeholder 3">
            <a:extLst>
              <a:ext uri="{FF2B5EF4-FFF2-40B4-BE49-F238E27FC236}">
                <a16:creationId xmlns:a16="http://schemas.microsoft.com/office/drawing/2014/main" id="{6C501B1E-7DED-0F6B-5E97-705E92AD81C8}"/>
              </a:ext>
            </a:extLst>
          </p:cNvPr>
          <p:cNvSpPr>
            <a:spLocks noGrp="1"/>
          </p:cNvSpPr>
          <p:nvPr>
            <p:ph type="sldNum" sz="quarter" idx="12"/>
          </p:nvPr>
        </p:nvSpPr>
        <p:spPr/>
        <p:txBody>
          <a:bodyPr/>
          <a:lstStyle/>
          <a:p>
            <a:r>
              <a:rPr lang="en-US" sz="2800" dirty="0">
                <a:latin typeface="Times New Roman" panose="02020603050405020304" pitchFamily="18" charset="0"/>
                <a:cs typeface="Times New Roman" panose="02020603050405020304" pitchFamily="18" charset="0"/>
              </a:rPr>
              <a:t>14</a:t>
            </a:r>
          </a:p>
        </p:txBody>
      </p:sp>
    </p:spTree>
    <p:extLst>
      <p:ext uri="{BB962C8B-B14F-4D97-AF65-F5344CB8AC3E}">
        <p14:creationId xmlns:p14="http://schemas.microsoft.com/office/powerpoint/2010/main" val="15657974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575</TotalTime>
  <Words>653</Words>
  <Application>Microsoft Office PowerPoint</Application>
  <PresentationFormat>Widescreen</PresentationFormat>
  <Paragraphs>79</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Bookman Old Style</vt:lpstr>
      <vt:lpstr>Calibri</vt:lpstr>
      <vt:lpstr>Rockwell</vt:lpstr>
      <vt:lpstr>Times New Roman</vt:lpstr>
      <vt:lpstr>Wingdings</vt:lpstr>
      <vt:lpstr>Damask</vt:lpstr>
      <vt:lpstr>The cold region </vt:lpstr>
      <vt:lpstr>OUTLINE</vt:lpstr>
      <vt:lpstr>PowerPoint Presentation</vt:lpstr>
      <vt:lpstr>PowerPoint Presentation</vt:lpstr>
      <vt:lpstr>PowerPoint Presentation</vt:lpstr>
      <vt:lpstr>PowerPoint Presentation</vt:lpstr>
      <vt:lpstr>Characteristics of the cold region </vt:lpstr>
      <vt:lpstr>Importance of studying cold region</vt:lpstr>
      <vt:lpstr>Example of organism in the cold region</vt:lpstr>
      <vt:lpstr>PowerPoint Presentation</vt:lpstr>
      <vt:lpstr>Adaptation of organism in the cold region </vt:lpstr>
      <vt:lpstr>PowerPoint Presentation</vt:lpstr>
      <vt:lpstr>environmental challenges OF COLD REGION</vt:lpstr>
      <vt:lpstr>Conservation of cold regions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amoah</dc:creator>
  <cp:lastModifiedBy>daniel amoah</cp:lastModifiedBy>
  <cp:revision>5</cp:revision>
  <dcterms:created xsi:type="dcterms:W3CDTF">2023-06-15T02:27:01Z</dcterms:created>
  <dcterms:modified xsi:type="dcterms:W3CDTF">2023-06-15T12:02:09Z</dcterms:modified>
</cp:coreProperties>
</file>