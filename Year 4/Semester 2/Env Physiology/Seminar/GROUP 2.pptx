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2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7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tableStyles" Target="tableStyle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06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9FDB0697-36DF-4303-B05F-6864D9732A9E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1048707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0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0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1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06737502-EC74-46B8-9B39-F48BEF2EDC8A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sp>
        <p:nvSpPr>
          <p:cNvPr id="104859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06737502-EC74-46B8-9B39-F48BEF2EDC8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9"/>
          <p:cNvSpPr/>
          <p:nvPr/>
        </p:nvSpPr>
        <p:spPr>
          <a:xfrm>
            <a:off x="0" y="0"/>
            <a:ext cx="12192000" cy="4572001"/>
          </a:xfrm>
          <a:prstGeom prst="rect"/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82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ah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83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baseline="0" sz="5000" spc="200"/>
            </a:lvl1pPr>
          </a:lstStyle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584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anchor="ctr" lIns="91440" rIns="91440">
            <a:normAutofit/>
          </a:bodyPr>
          <a:lstStyle>
            <a:lvl1pPr algn="l" indent="0" marL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algn="ctr" indent="0" marL="457200">
              <a:buNone/>
              <a:defRPr sz="18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800"/>
            </a:lvl4pPr>
            <a:lvl5pPr algn="ctr" indent="0" marL="1828800">
              <a:buNone/>
              <a:defRPr sz="1800"/>
            </a:lvl5pPr>
            <a:lvl6pPr algn="ctr" indent="0" marL="2286000">
              <a:buNone/>
              <a:defRPr sz="1800"/>
            </a:lvl6pPr>
            <a:lvl7pPr algn="ctr" indent="0" marL="2743200">
              <a:buNone/>
              <a:defRPr sz="1800"/>
            </a:lvl7pPr>
            <a:lvl8pPr algn="ctr" indent="0" marL="3200400">
              <a:buNone/>
              <a:defRPr sz="1800"/>
            </a:lvl8pPr>
            <a:lvl9pPr algn="ctr" indent="0" marL="3657600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dirty="0" lang="en-US"/>
          </a:p>
        </p:txBody>
      </p:sp>
      <p:sp>
        <p:nvSpPr>
          <p:cNvPr id="10485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/>
          </a:lstStyle>
          <a:p>
            <a:fld id="{33CFFA71-8333-42B1-B1E0-2D2698A12413}" type="datetime1">
              <a:rPr lang="en-US" smtClean="0"/>
              <a:t>7/20/2023</a:t>
            </a:fld>
            <a:endParaRPr dirty="0" lang="en-US"/>
          </a:p>
        </p:txBody>
      </p:sp>
      <p:sp>
        <p:nvSpPr>
          <p:cNvPr id="10485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dirty="0" lang="en-US"/>
              <a:t>‹#›</a:t>
            </a:fld>
            <a:endParaRPr dirty="0" lang="en-US"/>
          </a:p>
        </p:txBody>
      </p:sp>
      <p:cxnSp>
        <p:nvCxnSpPr>
          <p:cNvPr id="3145729" name="Straight Connector 7"/>
          <p:cNvCxnSpPr>
            <a:cxnSpLocks/>
          </p:cNvCxnSpPr>
          <p:nvPr/>
        </p:nvCxnSpPr>
        <p:spPr>
          <a:xfrm flipV="1">
            <a:off x="8386843" y="5264106"/>
            <a:ext cx="0" cy="914400"/>
          </a:xfrm>
          <a:prstGeom prst="line"/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5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1CC8942-5D89-46AE-869B-5BDAC30E0DBD}" type="datetime1">
              <a:rPr lang="en-US" smtClean="0"/>
              <a:t>7/20/2023</a:t>
            </a:fld>
            <a:endParaRPr dirty="0" lang="en-US"/>
          </a:p>
        </p:txBody>
      </p:sp>
      <p:sp>
        <p:nvSpPr>
          <p:cNvPr id="10485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secHead">
  <p:cSld name="Section Header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Rectangle 8"/>
          <p:cNvSpPr/>
          <p:nvPr/>
        </p:nvSpPr>
        <p:spPr>
          <a:xfrm>
            <a:off x="0" y="0"/>
            <a:ext cx="12192000" cy="4572001"/>
          </a:xfrm>
          <a:prstGeom prst="rect"/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90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ah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91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baseline="0" b="0" sz="5000" spc="200"/>
            </a:lvl1pPr>
          </a:lstStyle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92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anchor="ctr" lIns="91440" rIns="91440">
            <a:normAutofit/>
          </a:bodyPr>
          <a:lstStyle>
            <a:lvl1pPr indent="0" marL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CCF856C-18BD-41CB-889E-EA98E29DC1A3}" type="datetime1">
              <a:rPr lang="en-US" smtClean="0"/>
              <a:t>7/20/2023</a:t>
            </a:fld>
            <a:endParaRPr dirty="0" lang="en-US"/>
          </a:p>
        </p:txBody>
      </p:sp>
      <p:sp>
        <p:nvSpPr>
          <p:cNvPr id="10486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dirty="0" lang="en-US"/>
              <a:t>‹#›</a:t>
            </a:fld>
            <a:endParaRPr dirty="0" lang="en-US"/>
          </a:p>
        </p:txBody>
      </p:sp>
      <p:cxnSp>
        <p:nvCxnSpPr>
          <p:cNvPr id="3145732" name="Straight Connector 7"/>
          <p:cNvCxnSpPr>
            <a:cxnSpLocks/>
          </p:cNvCxnSpPr>
          <p:nvPr/>
        </p:nvCxnSpPr>
        <p:spPr>
          <a:xfrm flipV="1">
            <a:off x="8386843" y="5264106"/>
            <a:ext cx="0" cy="914400"/>
          </a:xfrm>
          <a:prstGeom prst="line"/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29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30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3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FA2D10-1B15-4D61-9871-606BFB994BE2}" type="datetime1">
              <a:rPr lang="en-US" smtClean="0"/>
              <a:t>7/20/2023</a:t>
            </a:fld>
            <a:endParaRPr dirty="0" lang="en-US"/>
          </a:p>
        </p:txBody>
      </p:sp>
      <p:sp>
        <p:nvSpPr>
          <p:cNvPr id="104863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3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9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0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anchor="ctr" lIns="137160" rIns="137160">
            <a:normAutofit/>
          </a:bodyPr>
          <a:lstStyle>
            <a:lvl1pPr indent="0" marL="0">
              <a:spcBef>
                <a:spcPts val="0"/>
              </a:spcBef>
              <a:spcAft>
                <a:spcPts val="0"/>
              </a:spcAft>
              <a:buNone/>
              <a:defRPr baseline="0" b="0" cap="none" sz="2300">
                <a:solidFill>
                  <a:schemeClr val="accent1"/>
                </a:solidFill>
                <a:latin typeface="+mn-lt"/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0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0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anchor="ctr" lIns="137160" rIns="137160">
            <a:normAutofit/>
          </a:bodyPr>
          <a:lstStyle>
            <a:lvl1pPr indent="0" marL="0">
              <a:spcBef>
                <a:spcPts val="0"/>
              </a:spcBef>
              <a:spcAft>
                <a:spcPts val="0"/>
              </a:spcAft>
              <a:buNone/>
              <a:defRPr baseline="0" b="0" cap="none" dirty="0" sz="2300" kern="1200" lang="en-US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algn="l" defTabSz="914400" eaLnBrk="1" hangingPunct="1" indent="0" latinLnBrk="0" lvl="0" marL="0" rtl="0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4860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0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CBB661-9B02-4C7F-BEA3-90D5EDA4AA69}" type="datetime1">
              <a:rPr lang="en-US" smtClean="0"/>
              <a:t>7/20/2023</a:t>
            </a:fld>
            <a:endParaRPr dirty="0" lang="en-US"/>
          </a:p>
        </p:txBody>
      </p:sp>
      <p:sp>
        <p:nvSpPr>
          <p:cNvPr id="104860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7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B7DED58-F19F-444B-9BE1-98915D03C889}" type="datetime1">
              <a:rPr lang="en-US" smtClean="0"/>
              <a:t>7/20/2023</a:t>
            </a:fld>
            <a:endParaRPr dirty="0" lang="en-US"/>
          </a:p>
        </p:txBody>
      </p:sp>
      <p:sp>
        <p:nvSpPr>
          <p:cNvPr id="104867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7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blank">
  <p:cSld name="Blank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D555B4B-7E02-45E3-9C24-4DC8BE95EBEC}" type="datetime1">
              <a:rPr lang="en-US" smtClean="0"/>
              <a:t>7/20/2023</a:t>
            </a:fld>
            <a:endParaRPr dirty="0" lang="en-US"/>
          </a:p>
        </p:txBody>
      </p:sp>
      <p:sp>
        <p:nvSpPr>
          <p:cNvPr id="104869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9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700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701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indent="0" marL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0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DF51B8B-984C-4A56-8068-D01BE8301286}" type="datetime1">
              <a:rPr lang="en-US" smtClean="0"/>
              <a:t>7/20/2023</a:t>
            </a:fld>
            <a:endParaRPr dirty="0" lang="en-US"/>
          </a:p>
        </p:txBody>
      </p:sp>
      <p:sp>
        <p:nvSpPr>
          <p:cNvPr id="104870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0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picTx">
  <p:cSld name="Picture with Caption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baseline="0" sz="5000" spc="200"/>
            </a:lvl1pPr>
          </a:lstStyle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79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anchor="t" bIns="45720" lIns="457200" rIns="45720" tIns="365760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dirty="0" lang="en-US"/>
          </a:p>
        </p:txBody>
      </p:sp>
      <p:sp>
        <p:nvSpPr>
          <p:cNvPr id="104868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anchor="ctr" lIns="91440" rIns="91440">
            <a:normAutofit/>
          </a:bodyPr>
          <a:lstStyle>
            <a:lvl1pPr indent="0" marL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A4E1107-9E76-4F82-A1C5-D9902F21091C}" type="datetime1">
              <a:rPr lang="en-US" smtClean="0"/>
              <a:t>7/20/2023</a:t>
            </a:fld>
            <a:endParaRPr dirty="0" lang="en-US"/>
          </a:p>
        </p:txBody>
      </p:sp>
      <p:sp>
        <p:nvSpPr>
          <p:cNvPr id="104868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67E5644-1E61-4311-A31E-84CB9C7AA8A9}" type="slidenum">
              <a:rPr dirty="0" lang="en-US"/>
              <a:t>‹#›</a:t>
            </a:fld>
            <a:endParaRPr dirty="0" lang="en-US"/>
          </a:p>
        </p:txBody>
      </p:sp>
      <p:cxnSp>
        <p:nvCxnSpPr>
          <p:cNvPr id="3145731" name="Straight Connector 7"/>
          <p:cNvCxnSpPr>
            <a:cxnSpLocks/>
          </p:cNvCxnSpPr>
          <p:nvPr/>
        </p:nvCxnSpPr>
        <p:spPr>
          <a:xfrm flipV="1">
            <a:off x="8386843" y="5264106"/>
            <a:ext cx="0" cy="914400"/>
          </a:xfrm>
          <a:prstGeom prst="line"/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8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F55C0D3-447B-421C-8FFF-E84BAF651FD5}" type="datetime1">
              <a:rPr lang="en-US" smtClean="0"/>
              <a:t>7/20/2023</a:t>
            </a:fld>
            <a:endParaRPr dirty="0" lang="en-US"/>
          </a:p>
        </p:txBody>
      </p:sp>
      <p:sp>
        <p:nvSpPr>
          <p:cNvPr id="10486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dirty="0" lang="en-US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vertTitleAndTx">
  <p:cSld name="Vertical Title and Text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bIns="91440" lIns="45720" rIns="45720" tIns="91440" vert="eaVert"/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7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7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182E63E-8818-4B4F-9FF3-3AEB75DD20A3}" type="datetime1">
              <a:rPr lang="en-US" smtClean="0"/>
              <a:t>7/20/2023</a:t>
            </a:fld>
            <a:endParaRPr dirty="0" lang="en-US"/>
          </a:p>
        </p:txBody>
      </p:sp>
      <p:sp>
        <p:nvSpPr>
          <p:cNvPr id="104867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7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dirty="0" lang="en-US"/>
              <a:t>‹#›</a:t>
            </a:fld>
            <a:endParaRPr dirty="0" lang="en-US"/>
          </a:p>
        </p:txBody>
      </p:sp>
      <p:cxnSp>
        <p:nvCxnSpPr>
          <p:cNvPr id="3145730" name="Straight Connector 6"/>
          <p:cNvCxnSpPr>
            <a:cxnSpLocks/>
          </p:cNvCxnSpPr>
          <p:nvPr/>
        </p:nvCxnSpPr>
        <p:spPr>
          <a:xfrm rot="5400000" flipV="1">
            <a:off x="10058400" y="59263"/>
            <a:ext cx="0" cy="914400"/>
          </a:xfrm>
          <a:prstGeom prst="line"/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/>
        </p:spPr>
        <p:txBody>
          <a:bodyPr bIns="45720" lIns="45720" rIns="4572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DC463EB-1781-412E-B7E5-2322EA5D92B6}" type="datetime1">
              <a:rPr lang="en-US" smtClean="0"/>
              <a:t>7/20/2023</a:t>
            </a:fld>
            <a:endParaRPr dirty="0"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baseline="0" cap="all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dirty="0"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dirty="0" lang="en-US"/>
              <a:t>‹#›</a:t>
            </a:fld>
            <a:endParaRPr dirty="0" lang="en-US"/>
          </a:p>
        </p:txBody>
      </p:sp>
      <p:cxnSp>
        <p:nvCxnSpPr>
          <p:cNvPr id="3145728" name="Straight Connector 6"/>
          <p:cNvCxnSpPr>
            <a:cxnSpLocks/>
          </p:cNvCxnSpPr>
          <p:nvPr/>
        </p:nvCxnSpPr>
        <p:spPr>
          <a:xfrm flipV="1">
            <a:off x="762000" y="826324"/>
            <a:ext cx="0" cy="914400"/>
          </a:xfrm>
          <a:prstGeom prst="line"/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 eaLnBrk="1" hangingPunct="1" latinLnBrk="0" rtl="0">
        <a:lnSpc>
          <a:spcPct val="80000"/>
        </a:lnSpc>
        <a:spcBef>
          <a:spcPct val="0"/>
        </a:spcBef>
        <a:buNone/>
        <a:defRPr baseline="0" cap="all" sz="5000" kern="1200" spc="1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91440" latinLnBrk="0" marL="91440" rtl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137160" latinLnBrk="0" marL="265176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137160" latinLnBrk="0" marL="448056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137160" latinLnBrk="0" marL="59436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137160" latinLnBrk="0" marL="77724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137160" latinLnBrk="0" marL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137160" latinLnBrk="0" marL="1060704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137160" latinLnBrk="0" marL="1216152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137160" latinLnBrk="0" marL="1362456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ctrTitle"/>
          </p:nvPr>
        </p:nvSpPr>
        <p:spPr>
          <a:xfrm>
            <a:off x="457200" y="4762500"/>
            <a:ext cx="7772400" cy="1660677"/>
          </a:xfrm>
        </p:spPr>
        <p:txBody>
          <a:bodyPr>
            <a:noAutofit/>
          </a:bodyPr>
          <a:p>
            <a:r>
              <a:rPr dirty="0" sz="8000" lang="en-US" smtClean="0"/>
              <a:t>THERMOEGULATION IN RODENTS</a:t>
            </a:r>
            <a:endParaRPr dirty="0" sz="8000" lang="en-US"/>
          </a:p>
        </p:txBody>
      </p:sp>
      <p:sp>
        <p:nvSpPr>
          <p:cNvPr id="1048589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p>
            <a:r>
              <a:rPr dirty="0" sz="4000" lang="en-US"/>
              <a:t>Adapting to Environmental Challenges</a:t>
            </a:r>
          </a:p>
        </p:txBody>
      </p:sp>
      <p:pic>
        <p:nvPicPr>
          <p:cNvPr id="2097152" name="Picture 2" descr="Baiting During Cold Weather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-167424" y="-1"/>
            <a:ext cx="12359424" cy="4520485"/>
          </a:xfrm>
          <a:prstGeom prst="rect"/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algn="tl" blurRad="5500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4859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24166" y="6583680"/>
            <a:ext cx="973667" cy="274320"/>
          </a:xfrm>
        </p:spPr>
        <p:txBody>
          <a:bodyPr/>
          <a:p>
            <a:fld id="{4FAB73BC-B049-4115-A692-8D63A059BFB8}" type="slidenum">
              <a:rPr sz="2800" lang="en-US" smtClean="0"/>
              <a:t>1</a:t>
            </a:fld>
            <a:endParaRPr dirty="0" sz="2800" lang="en-US"/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TABLE OF CONTENTS</a:t>
            </a:r>
            <a:endParaRPr dirty="0" lang="en-US"/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>
          <a:xfrm>
            <a:off x="1024128" y="1700011"/>
            <a:ext cx="9720073" cy="4609349"/>
          </a:xfrm>
        </p:spPr>
        <p:txBody>
          <a:bodyPr>
            <a:normAutofit lnSpcReduction="10000"/>
          </a:bodyPr>
          <a:p>
            <a:r>
              <a:rPr dirty="0" lang="en-US" smtClean="0"/>
              <a:t>INRODUCTION</a:t>
            </a:r>
          </a:p>
          <a:p>
            <a:r>
              <a:rPr dirty="0" lang="en-US"/>
              <a:t>EXAMPLES OF </a:t>
            </a:r>
            <a:r>
              <a:rPr dirty="0" lang="en-US" smtClean="0"/>
              <a:t>RODENTS</a:t>
            </a:r>
          </a:p>
          <a:p>
            <a:r>
              <a:rPr dirty="0" lang="en-US" smtClean="0"/>
              <a:t>RODENTS AS ENDOTHERMIC ANIMALS</a:t>
            </a:r>
          </a:p>
          <a:p>
            <a:r>
              <a:rPr dirty="0" lang="en-US" smtClean="0"/>
              <a:t>STRUCTURAL ADAPTATIONS</a:t>
            </a:r>
          </a:p>
          <a:p>
            <a:r>
              <a:rPr dirty="0" lang="en-US" smtClean="0"/>
              <a:t>BEHAVIOURAL ADAPTATIONS</a:t>
            </a:r>
          </a:p>
          <a:p>
            <a:r>
              <a:rPr dirty="0" lang="en-US" smtClean="0"/>
              <a:t>PHYSIOLOGICAL ADAPTATIONS</a:t>
            </a:r>
          </a:p>
          <a:p>
            <a:r>
              <a:rPr dirty="0" lang="en-US" smtClean="0"/>
              <a:t>COPING WITH COLD</a:t>
            </a:r>
          </a:p>
          <a:p>
            <a:r>
              <a:rPr dirty="0" lang="en-US" smtClean="0"/>
              <a:t>COPING WITH HEAT</a:t>
            </a:r>
          </a:p>
          <a:p>
            <a:r>
              <a:rPr dirty="0" lang="en-US"/>
              <a:t>IMPORTANCE OF </a:t>
            </a:r>
            <a:r>
              <a:rPr dirty="0" lang="en-US" smtClean="0"/>
              <a:t>THERMOREGULATION</a:t>
            </a:r>
          </a:p>
          <a:p>
            <a:r>
              <a:rPr dirty="0" lang="en-US" smtClean="0"/>
              <a:t>CONCLUSION</a:t>
            </a:r>
          </a:p>
          <a:p>
            <a:endParaRPr dirty="0" lang="en-US" smtClean="0"/>
          </a:p>
          <a:p>
            <a:endParaRPr dirty="0" lang="en-US"/>
          </a:p>
        </p:txBody>
      </p:sp>
      <p:sp>
        <p:nvSpPr>
          <p:cNvPr id="104860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sz="3600" lang="en-US" smtClean="0"/>
              <a:t>2</a:t>
            </a:fld>
            <a:endParaRPr dirty="0" sz="3600" lang="en-US"/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>
          <a:xfrm>
            <a:off x="1024128" y="309093"/>
            <a:ext cx="9720072" cy="1390919"/>
          </a:xfrm>
        </p:spPr>
        <p:txBody>
          <a:bodyPr/>
          <a:p>
            <a:r>
              <a:rPr dirty="0" lang="en-US" smtClean="0"/>
              <a:t>GROUP MEMBERS</a:t>
            </a:r>
            <a:endParaRPr dirty="0" lang="en-US"/>
          </a:p>
        </p:txBody>
      </p:sp>
      <p:sp>
        <p:nvSpPr>
          <p:cNvPr id="1048611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700012"/>
            <a:ext cx="4754880" cy="798489"/>
          </a:xfrm>
        </p:spPr>
        <p:txBody>
          <a:bodyPr/>
          <a:p>
            <a:r>
              <a:rPr dirty="0" lang="en-US" smtClean="0"/>
              <a:t>NAME</a:t>
            </a:r>
            <a:endParaRPr dirty="0" lang="en-US"/>
          </a:p>
        </p:txBody>
      </p:sp>
      <p:sp>
        <p:nvSpPr>
          <p:cNvPr id="1048612" name="Content Placeholder 3"/>
          <p:cNvSpPr>
            <a:spLocks noGrp="1"/>
          </p:cNvSpPr>
          <p:nvPr>
            <p:ph sz="half" idx="2"/>
          </p:nvPr>
        </p:nvSpPr>
        <p:spPr>
          <a:xfrm>
            <a:off x="566670" y="2261034"/>
            <a:ext cx="5859888" cy="4048326"/>
          </a:xfrm>
        </p:spPr>
        <p:txBody>
          <a:bodyPr>
            <a:normAutofit/>
          </a:bodyPr>
          <a:p>
            <a:r>
              <a:rPr dirty="0" sz="3200" lang="en-US" smtClean="0"/>
              <a:t>Janice </a:t>
            </a:r>
            <a:r>
              <a:rPr dirty="0" sz="3200" lang="en-US" err="1" smtClean="0"/>
              <a:t>Ewurabena</a:t>
            </a:r>
            <a:r>
              <a:rPr dirty="0" sz="3200" lang="en-US" smtClean="0"/>
              <a:t> </a:t>
            </a:r>
            <a:r>
              <a:rPr dirty="0" sz="3200" lang="en-US" smtClean="0"/>
              <a:t>Williams</a:t>
            </a:r>
          </a:p>
          <a:p>
            <a:r>
              <a:rPr dirty="0" sz="3200" lang="en-US" smtClean="0"/>
              <a:t>Kimberly </a:t>
            </a:r>
            <a:r>
              <a:rPr dirty="0" sz="3200" lang="en-US" err="1"/>
              <a:t>Frimpomaa</a:t>
            </a:r>
            <a:r>
              <a:rPr dirty="0" sz="3200" lang="en-US"/>
              <a:t> </a:t>
            </a:r>
            <a:r>
              <a:rPr dirty="0" sz="3200" lang="en-US" err="1"/>
              <a:t>Ofori</a:t>
            </a:r>
            <a:r>
              <a:rPr dirty="0" sz="3200" lang="en-US"/>
              <a:t> </a:t>
            </a:r>
            <a:r>
              <a:rPr dirty="0" sz="3200" lang="en-US" err="1"/>
              <a:t>Berko</a:t>
            </a:r>
            <a:r>
              <a:rPr dirty="0" sz="3200" lang="en-US"/>
              <a:t> </a:t>
            </a:r>
          </a:p>
          <a:p>
            <a:r>
              <a:rPr dirty="0" sz="3200" lang="en-US" err="1" smtClean="0"/>
              <a:t>Turkson</a:t>
            </a:r>
            <a:r>
              <a:rPr dirty="0" sz="3200" lang="en-US" smtClean="0"/>
              <a:t> </a:t>
            </a:r>
            <a:r>
              <a:rPr dirty="0" sz="3200" lang="en-US"/>
              <a:t>Jemima </a:t>
            </a:r>
            <a:r>
              <a:rPr dirty="0" sz="3200" lang="en-US" smtClean="0"/>
              <a:t>Love</a:t>
            </a:r>
            <a:endParaRPr dirty="0" sz="3200" lang="en-US"/>
          </a:p>
          <a:p>
            <a:pPr indent="0" marL="0">
              <a:buNone/>
            </a:pPr>
            <a:r>
              <a:rPr dirty="0" sz="3200" lang="en-US" err="1" smtClean="0"/>
              <a:t>Duah</a:t>
            </a:r>
            <a:r>
              <a:rPr dirty="0" sz="3200" lang="en-US" smtClean="0"/>
              <a:t> </a:t>
            </a:r>
            <a:r>
              <a:rPr dirty="0" sz="3200" lang="en-US"/>
              <a:t>Georgina </a:t>
            </a:r>
            <a:endParaRPr dirty="0" sz="3200" lang="en-US" smtClean="0"/>
          </a:p>
          <a:p>
            <a:pPr indent="0" marL="0">
              <a:buNone/>
            </a:pPr>
            <a:r>
              <a:rPr dirty="0" sz="3200" lang="en-US" err="1"/>
              <a:t>N</a:t>
            </a:r>
            <a:r>
              <a:rPr dirty="0" sz="3200" lang="en-US" err="1" smtClean="0"/>
              <a:t>imako</a:t>
            </a:r>
            <a:r>
              <a:rPr dirty="0" sz="3200" lang="en-US" smtClean="0"/>
              <a:t> Collins</a:t>
            </a:r>
            <a:endParaRPr dirty="0" sz="3200" lang="en-US"/>
          </a:p>
          <a:p>
            <a:pPr indent="0" marL="0">
              <a:buNone/>
            </a:pPr>
            <a:r>
              <a:rPr altLang="en-GB" dirty="0" sz="3200" lang="en-US" smtClean="0"/>
              <a:t>C</a:t>
            </a:r>
            <a:r>
              <a:rPr altLang="en-GB" dirty="0" sz="3200" lang="en-US" smtClean="0"/>
              <a:t>e</a:t>
            </a:r>
            <a:r>
              <a:rPr altLang="en-GB" dirty="0" sz="3200" lang="en-US" smtClean="0"/>
              <a:t>p</a:t>
            </a:r>
            <a:r>
              <a:rPr altLang="en-GB" dirty="0" sz="3200" lang="en-US" smtClean="0"/>
              <a:t>h</a:t>
            </a:r>
            <a:r>
              <a:rPr altLang="en-GB" dirty="0" sz="3200" lang="en-US" smtClean="0"/>
              <a:t>a</a:t>
            </a:r>
            <a:r>
              <a:rPr altLang="en-GB" dirty="0" sz="3200" lang="en-US" smtClean="0"/>
              <a:t>s</a:t>
            </a:r>
            <a:r>
              <a:rPr altLang="en-GB" dirty="0" sz="3200" lang="en-US" smtClean="0"/>
              <a:t> </a:t>
            </a:r>
            <a:r>
              <a:rPr altLang="en-GB" dirty="0" sz="3200" lang="en-US" smtClean="0"/>
              <a:t>A</a:t>
            </a:r>
            <a:r>
              <a:rPr altLang="en-GB" dirty="0" sz="3200" lang="en-US" smtClean="0"/>
              <a:t>g</a:t>
            </a:r>
            <a:r>
              <a:rPr altLang="en-GB" dirty="0" sz="3200" lang="en-US" smtClean="0"/>
              <a:t>b</a:t>
            </a:r>
            <a:r>
              <a:rPr altLang="en-GB" dirty="0" sz="3200" lang="en-US" smtClean="0"/>
              <a:t>e</a:t>
            </a:r>
            <a:r>
              <a:rPr altLang="en-GB" dirty="0" sz="3200" lang="en-US" smtClean="0"/>
              <a:t>n</a:t>
            </a:r>
            <a:r>
              <a:rPr altLang="en-GB" dirty="0" sz="3200" lang="en-US" smtClean="0"/>
              <a:t>o</a:t>
            </a:r>
            <a:r>
              <a:rPr altLang="en-GB" dirty="0" sz="3200" lang="en-US" smtClean="0"/>
              <a:t>r</a:t>
            </a:r>
            <a:r>
              <a:rPr altLang="en-GB" dirty="0" sz="3200" lang="en-US" smtClean="0"/>
              <a:t>w</a:t>
            </a:r>
            <a:r>
              <a:rPr altLang="en-GB" dirty="0" sz="3200" lang="en-US" smtClean="0"/>
              <a:t>u</a:t>
            </a:r>
            <a:r>
              <a:rPr altLang="en-GB" dirty="0" sz="3200" lang="en-US" smtClean="0"/>
              <a:t> </a:t>
            </a:r>
            <a:r>
              <a:rPr altLang="en-GB" dirty="0" sz="3200" lang="en-US" smtClean="0"/>
              <a:t>M</a:t>
            </a:r>
            <a:r>
              <a:rPr altLang="en-GB" dirty="0" sz="3200" lang="en-US" smtClean="0"/>
              <a:t>a</a:t>
            </a:r>
            <a:r>
              <a:rPr altLang="en-GB" dirty="0" sz="3200" lang="en-US" smtClean="0"/>
              <a:t>w</a:t>
            </a:r>
            <a:r>
              <a:rPr altLang="en-GB" dirty="0" sz="3200" lang="en-US" smtClean="0"/>
              <a:t>u</a:t>
            </a:r>
            <a:r>
              <a:rPr altLang="en-GB" dirty="0" sz="3200" lang="en-US" smtClean="0"/>
              <a:t>k</a:t>
            </a:r>
            <a:r>
              <a:rPr altLang="en-GB" dirty="0" sz="3200" lang="en-US" smtClean="0"/>
              <a:t>o</a:t>
            </a:r>
            <a:endParaRPr dirty="0" sz="3200" lang="en-US"/>
          </a:p>
        </p:txBody>
      </p:sp>
      <p:sp>
        <p:nvSpPr>
          <p:cNvPr id="10486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71256" y="1687133"/>
            <a:ext cx="4072944" cy="798489"/>
          </a:xfrm>
        </p:spPr>
        <p:txBody>
          <a:bodyPr/>
          <a:p>
            <a:r>
              <a:rPr dirty="0" lang="en-US" smtClean="0"/>
              <a:t>INDEX NUMBER</a:t>
            </a:r>
            <a:endParaRPr dirty="0" lang="en-US"/>
          </a:p>
        </p:txBody>
      </p:sp>
      <p:sp>
        <p:nvSpPr>
          <p:cNvPr id="1048614" name="Content Placeholder 5"/>
          <p:cNvSpPr>
            <a:spLocks noGrp="1"/>
          </p:cNvSpPr>
          <p:nvPr>
            <p:ph sz="quarter" idx="4"/>
          </p:nvPr>
        </p:nvSpPr>
        <p:spPr>
          <a:xfrm>
            <a:off x="6671256" y="2382592"/>
            <a:ext cx="4533364" cy="4224270"/>
          </a:xfrm>
        </p:spPr>
        <p:txBody>
          <a:bodyPr>
            <a:normAutofit/>
          </a:bodyPr>
          <a:p>
            <a:r>
              <a:rPr dirty="0" sz="2800" lang="en-US" smtClean="0"/>
              <a:t>9220519</a:t>
            </a:r>
          </a:p>
          <a:p>
            <a:r>
              <a:rPr dirty="0" sz="2800" lang="en-US" smtClean="0"/>
              <a:t>9214619</a:t>
            </a:r>
          </a:p>
          <a:p>
            <a:r>
              <a:rPr dirty="0" sz="2800" lang="en-US" smtClean="0"/>
              <a:t>9220119</a:t>
            </a:r>
          </a:p>
          <a:p>
            <a:r>
              <a:rPr dirty="0" sz="2800" lang="en-US" smtClean="0"/>
              <a:t>9207119</a:t>
            </a:r>
          </a:p>
          <a:p>
            <a:r>
              <a:rPr dirty="0" sz="2800" lang="en-US" smtClean="0"/>
              <a:t>9213319</a:t>
            </a:r>
            <a:endParaRPr dirty="0" sz="2800" lang="en-US"/>
          </a:p>
          <a:p>
            <a:endParaRPr dirty="0" sz="2800" lang="en-US"/>
          </a:p>
          <a:p>
            <a:r>
              <a:rPr altLang="en-GB" dirty="0" sz="2800" lang="en-US"/>
              <a:t>9</a:t>
            </a:r>
            <a:r>
              <a:rPr altLang="en-GB" dirty="0" sz="2800" lang="en-US"/>
              <a:t>1</a:t>
            </a:r>
            <a:r>
              <a:rPr altLang="en-GB" dirty="0" sz="2800" lang="en-US"/>
              <a:t>9</a:t>
            </a:r>
            <a:r>
              <a:rPr altLang="en-GB" dirty="0" sz="2800" lang="en-US"/>
              <a:t>6</a:t>
            </a:r>
            <a:r>
              <a:rPr altLang="en-GB" dirty="0" sz="2800" lang="en-US"/>
              <a:t>7</a:t>
            </a:r>
            <a:r>
              <a:rPr altLang="en-GB" dirty="0" sz="2800" lang="en-US"/>
              <a:t>1</a:t>
            </a:r>
            <a:r>
              <a:rPr altLang="en-GB" dirty="0" sz="2800" lang="en-US"/>
              <a:t>9</a:t>
            </a:r>
            <a:endParaRPr dirty="0" sz="2800" lang="en-US"/>
          </a:p>
        </p:txBody>
      </p:sp>
      <p:sp>
        <p:nvSpPr>
          <p:cNvPr id="104861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sz="3600" lang="en-US" smtClean="0"/>
              <a:t>3</a:t>
            </a:fld>
            <a:endParaRPr dirty="0" sz="3600" lang="en-US"/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dirty="0" sz="8800" lang="en-US" smtClean="0"/>
              <a:t>INTRODUCTION</a:t>
            </a:r>
            <a:endParaRPr dirty="0" sz="8800" lang="en-US"/>
          </a:p>
        </p:txBody>
      </p:sp>
      <p:sp>
        <p:nvSpPr>
          <p:cNvPr id="104861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>
              <a:lnSpc>
                <a:spcPct val="150000"/>
              </a:lnSpc>
            </a:pPr>
            <a:r>
              <a:rPr dirty="0" sz="2400" lang="en-US"/>
              <a:t>Thermoregulation is the ability of an organism to keep its body temperature within certain boundaries, even when the surrounding temperature is very different.</a:t>
            </a:r>
          </a:p>
          <a:p>
            <a:pPr algn="just">
              <a:lnSpc>
                <a:spcPct val="150000"/>
              </a:lnSpc>
            </a:pPr>
            <a:r>
              <a:rPr dirty="0" sz="2400" lang="en-US"/>
              <a:t>This presentation highlights the various ways rodents adapt to different temperatures </a:t>
            </a:r>
          </a:p>
          <a:p>
            <a:endParaRPr dirty="0" lang="en-US"/>
          </a:p>
        </p:txBody>
      </p:sp>
      <p:sp>
        <p:nvSpPr>
          <p:cNvPr id="104861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sz="3600" lang="en-US" smtClean="0"/>
              <a:t>4</a:t>
            </a:fld>
            <a:endParaRPr dirty="0" sz="3600" lang="en-US"/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>
          <a:xfrm>
            <a:off x="1015543" y="349018"/>
            <a:ext cx="9720072" cy="1441145"/>
          </a:xfrm>
        </p:spPr>
        <p:txBody>
          <a:bodyPr>
            <a:normAutofit fontScale="98000"/>
          </a:bodyPr>
          <a:p>
            <a:r>
              <a:rPr dirty="0" lang="en-US" smtClean="0"/>
              <a:t>EXAMPLES OF RODENTS that undergo thermoregulation</a:t>
            </a:r>
            <a:endParaRPr dirty="0" lang="en-US"/>
          </a:p>
        </p:txBody>
      </p:sp>
      <p:sp>
        <p:nvSpPr>
          <p:cNvPr id="1048620" name="Content Placeholder 2"/>
          <p:cNvSpPr>
            <a:spLocks noGrp="1"/>
          </p:cNvSpPr>
          <p:nvPr>
            <p:ph idx="1"/>
          </p:nvPr>
        </p:nvSpPr>
        <p:spPr>
          <a:xfrm>
            <a:off x="1024128" y="1790163"/>
            <a:ext cx="9720073" cy="4519197"/>
          </a:xfrm>
        </p:spPr>
        <p:txBody>
          <a:bodyPr/>
          <a:p>
            <a:r>
              <a:rPr dirty="0" lang="en-US"/>
              <a:t>Figure </a:t>
            </a:r>
            <a:r>
              <a:rPr dirty="0" lang="en-US" smtClean="0"/>
              <a:t>1 kangaroo </a:t>
            </a:r>
            <a:r>
              <a:rPr dirty="0" lang="en-US"/>
              <a:t>rat</a:t>
            </a:r>
          </a:p>
          <a:p>
            <a:endParaRPr dirty="0" lang="en-US"/>
          </a:p>
        </p:txBody>
      </p:sp>
      <p:pic>
        <p:nvPicPr>
          <p:cNvPr id="2097153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421228" y="2189408"/>
            <a:ext cx="7714445" cy="4462531"/>
          </a:xfrm>
          <a:prstGeom prst="rect"/>
        </p:spPr>
      </p:pic>
      <p:sp>
        <p:nvSpPr>
          <p:cNvPr id="104862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sz="3600" lang="en-US" smtClean="0"/>
              <a:t>5</a:t>
            </a:fld>
            <a:endParaRPr dirty="0" sz="3600" lang="en-US"/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114795"/>
          </a:xfrm>
        </p:spPr>
        <p:txBody>
          <a:bodyPr>
            <a:noAutofit/>
          </a:bodyPr>
          <a:p>
            <a:r>
              <a:rPr dirty="0" sz="5400" lang="en-US"/>
              <a:t>EXAMPLES OF </a:t>
            </a:r>
            <a:r>
              <a:rPr dirty="0" sz="5400" lang="en-US" smtClean="0"/>
              <a:t>RODENTS </a:t>
            </a:r>
            <a:r>
              <a:rPr dirty="0" sz="5400" lang="en-US"/>
              <a:t>that undergo thermoregulation</a:t>
            </a:r>
          </a:p>
        </p:txBody>
      </p:sp>
      <p:sp>
        <p:nvSpPr>
          <p:cNvPr id="1048623" name="Content Placeholder 2"/>
          <p:cNvSpPr>
            <a:spLocks noGrp="1"/>
          </p:cNvSpPr>
          <p:nvPr>
            <p:ph idx="1"/>
          </p:nvPr>
        </p:nvSpPr>
        <p:spPr>
          <a:xfrm>
            <a:off x="1024128" y="1970468"/>
            <a:ext cx="9720073" cy="4476696"/>
          </a:xfrm>
        </p:spPr>
        <p:txBody>
          <a:bodyPr>
            <a:normAutofit/>
          </a:bodyPr>
          <a:p>
            <a:r>
              <a:rPr dirty="0" sz="2800" lang="en-US" smtClean="0"/>
              <a:t>Figure 2 </a:t>
            </a:r>
            <a:r>
              <a:rPr dirty="0" sz="2800" lang="en-US"/>
              <a:t>Arctic </a:t>
            </a:r>
            <a:r>
              <a:rPr dirty="0" sz="2800" lang="en-US" smtClean="0"/>
              <a:t>ground squirrel</a:t>
            </a:r>
          </a:p>
          <a:p>
            <a:endParaRPr dirty="0" sz="2800" lang="en-US"/>
          </a:p>
        </p:txBody>
      </p:sp>
      <p:pic>
        <p:nvPicPr>
          <p:cNvPr id="2097154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820473" y="2459866"/>
            <a:ext cx="7469747" cy="4257756"/>
          </a:xfrm>
          <a:prstGeom prst="rect"/>
        </p:spPr>
      </p:pic>
      <p:sp>
        <p:nvSpPr>
          <p:cNvPr id="104862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sz="3600" lang="en-US" smtClean="0"/>
              <a:t>6</a:t>
            </a:fld>
            <a:endParaRPr dirty="0" sz="3600" lang="en-US"/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1024128" y="283335"/>
            <a:ext cx="9720072" cy="1567001"/>
          </a:xfrm>
        </p:spPr>
        <p:txBody>
          <a:bodyPr>
            <a:noAutofit/>
          </a:bodyPr>
          <a:p>
            <a:r>
              <a:rPr dirty="0" sz="6000" lang="en-US"/>
              <a:t>EXAMPLES OF </a:t>
            </a:r>
            <a:r>
              <a:rPr dirty="0" sz="6000" lang="en-US" smtClean="0"/>
              <a:t>RODENTS </a:t>
            </a:r>
            <a:r>
              <a:rPr dirty="0" sz="6000" lang="en-US"/>
              <a:t>that undergo thermoregulation</a:t>
            </a:r>
          </a:p>
        </p:txBody>
      </p:sp>
      <p:sp>
        <p:nvSpPr>
          <p:cNvPr id="1048626" name="Content Placeholder 2"/>
          <p:cNvSpPr>
            <a:spLocks noGrp="1"/>
          </p:cNvSpPr>
          <p:nvPr>
            <p:ph idx="1"/>
          </p:nvPr>
        </p:nvSpPr>
        <p:spPr>
          <a:xfrm>
            <a:off x="1024128" y="1850336"/>
            <a:ext cx="9720073" cy="4459024"/>
          </a:xfrm>
        </p:spPr>
        <p:txBody>
          <a:bodyPr>
            <a:normAutofit/>
          </a:bodyPr>
          <a:p>
            <a:r>
              <a:rPr dirty="0" sz="3600" lang="en-US" smtClean="0"/>
              <a:t>Figure 3 Naked </a:t>
            </a:r>
            <a:r>
              <a:rPr dirty="0" sz="3600" lang="en-US"/>
              <a:t>mole-rat: </a:t>
            </a:r>
          </a:p>
        </p:txBody>
      </p:sp>
      <p:pic>
        <p:nvPicPr>
          <p:cNvPr id="2097155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126086" y="2545080"/>
            <a:ext cx="7880798" cy="4199944"/>
          </a:xfrm>
          <a:prstGeom prst="rect"/>
        </p:spPr>
      </p:pic>
      <p:sp>
        <p:nvSpPr>
          <p:cNvPr id="104862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sz="3600" lang="en-US" smtClean="0"/>
              <a:t>7</a:t>
            </a:fld>
            <a:endParaRPr dirty="0" sz="3600" lang="en-US"/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RODENTS AS ENDOTHERMIC ANIMALS</a:t>
            </a:r>
            <a:endParaRPr dirty="0" lang="en-US"/>
          </a:p>
        </p:txBody>
      </p:sp>
      <p:sp>
        <p:nvSpPr>
          <p:cNvPr id="1048635" name="Content Placeholder 2"/>
          <p:cNvSpPr>
            <a:spLocks noGrp="1"/>
          </p:cNvSpPr>
          <p:nvPr>
            <p:ph sz="half" idx="1"/>
          </p:nvPr>
        </p:nvSpPr>
        <p:spPr>
          <a:xfrm>
            <a:off x="547609" y="1904528"/>
            <a:ext cx="4754880" cy="4403287"/>
          </a:xfrm>
        </p:spPr>
        <p:txBody>
          <a:bodyPr>
            <a:normAutofit/>
          </a:bodyPr>
          <a:p>
            <a:pPr lvl="0"/>
            <a:r>
              <a:rPr dirty="0" sz="3200" lang="en-US"/>
              <a:t>Rodents are endothermic animals, meaning they generate internal heat to regulate body temperature.</a:t>
            </a:r>
          </a:p>
          <a:p>
            <a:pPr lvl="0"/>
            <a:r>
              <a:rPr dirty="0" sz="3200" lang="en-US"/>
              <a:t>Endothermic rodents can maintain a relatively constant body temperature independent of the environment.</a:t>
            </a:r>
          </a:p>
          <a:p>
            <a:endParaRPr dirty="0" sz="3200" lang="en-US"/>
          </a:p>
        </p:txBody>
      </p:sp>
      <p:pic>
        <p:nvPicPr>
          <p:cNvPr id="2097156" name="Content Placeholder 4"/>
          <p:cNvPicPr>
            <a:picLocks noChangeAspect="1" noGrp="1"/>
          </p:cNvPicPr>
          <p:nvPr>
            <p:ph sz="half" idx="2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884164" y="2433563"/>
            <a:ext cx="4996041" cy="4104953"/>
          </a:xfrm>
        </p:spPr>
      </p:pic>
      <p:sp>
        <p:nvSpPr>
          <p:cNvPr id="1048636" name="Rectangle 3"/>
          <p:cNvSpPr/>
          <p:nvPr/>
        </p:nvSpPr>
        <p:spPr>
          <a:xfrm>
            <a:off x="8129719" y="1895804"/>
            <a:ext cx="2614481" cy="584775"/>
          </a:xfrm>
          <a:prstGeom prst="rect"/>
        </p:spPr>
        <p:txBody>
          <a:bodyPr wrap="square">
            <a:spAutoFit/>
          </a:bodyPr>
          <a:p>
            <a:r>
              <a:rPr dirty="0" sz="3200" lang="en-US"/>
              <a:t>Figure 4</a:t>
            </a:r>
          </a:p>
        </p:txBody>
      </p:sp>
      <p:sp>
        <p:nvSpPr>
          <p:cNvPr id="104863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07789" y="6502455"/>
            <a:ext cx="973667" cy="274320"/>
          </a:xfrm>
        </p:spPr>
        <p:txBody>
          <a:bodyPr/>
          <a:p>
            <a:fld id="{4FAB73BC-B049-4115-A692-8D63A059BFB8}" type="slidenum">
              <a:rPr sz="3600" lang="en-US" smtClean="0"/>
              <a:t>8</a:t>
            </a:fld>
            <a:endParaRPr dirty="0" sz="3600" lang="en-US"/>
          </a:p>
        </p:txBody>
      </p:sp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STRUCTURAL ADAPTATIONS</a:t>
            </a:r>
            <a:endParaRPr dirty="0" lang="en-US"/>
          </a:p>
        </p:txBody>
      </p:sp>
      <p:sp>
        <p:nvSpPr>
          <p:cNvPr id="1048639" name="Content Placeholder 2"/>
          <p:cNvSpPr>
            <a:spLocks noGrp="1"/>
          </p:cNvSpPr>
          <p:nvPr>
            <p:ph idx="1"/>
          </p:nvPr>
        </p:nvSpPr>
        <p:spPr>
          <a:xfrm>
            <a:off x="695460" y="1893194"/>
            <a:ext cx="10048742" cy="4416166"/>
          </a:xfrm>
        </p:spPr>
        <p:txBody>
          <a:bodyPr>
            <a:normAutofit/>
          </a:bodyPr>
          <a:p>
            <a:pPr>
              <a:buFont typeface="Courier New" panose="02070309020205020404" pitchFamily="49" charset="0"/>
              <a:buChar char="o"/>
            </a:pPr>
            <a:r>
              <a:rPr dirty="0" sz="4400" lang="en-US" smtClean="0"/>
              <a:t>Insulation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 sz="4400" lang="en-US" smtClean="0"/>
              <a:t>Fat deposition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 sz="4400" lang="en-US"/>
              <a:t>Counter-current heat exchange</a:t>
            </a:r>
          </a:p>
        </p:txBody>
      </p:sp>
      <p:sp>
        <p:nvSpPr>
          <p:cNvPr id="104864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sz="3600" lang="en-US" smtClean="0"/>
              <a:t>9</a:t>
            </a:fld>
            <a:endParaRPr dirty="0" lang="en-US"/>
          </a:p>
        </p:txBody>
      </p:sp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>
          <a:xfrm>
            <a:off x="954908" y="173092"/>
            <a:ext cx="9720072" cy="1204340"/>
          </a:xfrm>
        </p:spPr>
        <p:txBody>
          <a:bodyPr/>
          <a:p>
            <a:r>
              <a:rPr dirty="0" lang="en-US" smtClean="0"/>
              <a:t>BEHAVIOURAL ADAPTATIONS</a:t>
            </a:r>
            <a:endParaRPr dirty="0" lang="en-US"/>
          </a:p>
        </p:txBody>
      </p:sp>
      <p:sp>
        <p:nvSpPr>
          <p:cNvPr id="1048642" name="Content Placeholder 2"/>
          <p:cNvSpPr>
            <a:spLocks noGrp="1"/>
          </p:cNvSpPr>
          <p:nvPr>
            <p:ph idx="1"/>
          </p:nvPr>
        </p:nvSpPr>
        <p:spPr>
          <a:xfrm>
            <a:off x="837128" y="1262131"/>
            <a:ext cx="9907074" cy="5047230"/>
          </a:xfrm>
        </p:spPr>
        <p:txBody>
          <a:bodyPr/>
          <a:p>
            <a:pPr lvl="0">
              <a:buFont typeface="Courier New" panose="02070309020205020404" pitchFamily="49" charset="0"/>
              <a:buChar char="o"/>
            </a:pPr>
            <a:r>
              <a:rPr dirty="0" sz="3200" lang="en-US" smtClean="0"/>
              <a:t>Rodents </a:t>
            </a:r>
            <a:r>
              <a:rPr dirty="0" sz="3200" lang="en-US"/>
              <a:t>construct nests or burrows to shield themselves from extreme temperatures.</a:t>
            </a:r>
          </a:p>
          <a:p>
            <a:r>
              <a:rPr dirty="0" sz="2800" lang="en-US" smtClean="0"/>
              <a:t>                                                   Fig.5 </a:t>
            </a:r>
            <a:r>
              <a:rPr dirty="0" sz="2800" lang="en-US"/>
              <a:t>nesting in rodents </a:t>
            </a:r>
          </a:p>
          <a:p>
            <a:endParaRPr dirty="0" lang="en-US"/>
          </a:p>
        </p:txBody>
      </p:sp>
      <p:pic>
        <p:nvPicPr>
          <p:cNvPr id="2097157" name="Content Placeholder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537138" y="2704564"/>
            <a:ext cx="7340958" cy="3766140"/>
          </a:xfrm>
          <a:prstGeom prst="rect"/>
        </p:spPr>
      </p:pic>
      <p:sp>
        <p:nvSpPr>
          <p:cNvPr id="104864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endParaRPr dirty="0" lang="en-US"/>
          </a:p>
          <a:p>
            <a:fld id="{4FAB73BC-B049-4115-A692-8D63A059BFB8}" type="slidenum">
              <a:rPr sz="3600" lang="en-US" smtClean="0"/>
              <a:t>10</a:t>
            </a:fld>
            <a:endParaRPr dirty="0" sz="3600" lang="en-US"/>
          </a:p>
        </p:txBody>
      </p: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BEHAVIOURAL ADAPTATIONS</a:t>
            </a:r>
            <a:endParaRPr dirty="0" lang="en-US"/>
          </a:p>
        </p:txBody>
      </p:sp>
      <p:sp>
        <p:nvSpPr>
          <p:cNvPr id="1048645" name="Content Placeholder 2"/>
          <p:cNvSpPr>
            <a:spLocks noGrp="1"/>
          </p:cNvSpPr>
          <p:nvPr>
            <p:ph idx="1"/>
          </p:nvPr>
        </p:nvSpPr>
        <p:spPr>
          <a:xfrm>
            <a:off x="837128" y="1687132"/>
            <a:ext cx="9907074" cy="4622228"/>
          </a:xfrm>
        </p:spPr>
        <p:txBody>
          <a:bodyPr/>
          <a:p>
            <a:pPr indent="0" lvl="0" marL="0">
              <a:buNone/>
            </a:pPr>
            <a:endParaRPr dirty="0" sz="3200" lang="en-US"/>
          </a:p>
          <a:p>
            <a:pPr lvl="0">
              <a:buFont typeface="Courier New" panose="02070309020205020404" pitchFamily="49" charset="0"/>
              <a:buChar char="o"/>
            </a:pPr>
            <a:r>
              <a:rPr dirty="0" sz="3200" lang="en-US" smtClean="0"/>
              <a:t>Rodents are nocturnal</a:t>
            </a:r>
            <a:r>
              <a:rPr dirty="0" sz="3200" lang="en-US"/>
              <a:t>, allowing them to avoid the hottest parts of the day and conserve energy.</a:t>
            </a:r>
          </a:p>
          <a:p>
            <a:pPr indent="0" lvl="0" marL="0">
              <a:buNone/>
            </a:pPr>
            <a:endParaRPr dirty="0" sz="3200" lang="en-US"/>
          </a:p>
          <a:p>
            <a:endParaRPr dirty="0" lang="en-US"/>
          </a:p>
        </p:txBody>
      </p:sp>
      <p:sp>
        <p:nvSpPr>
          <p:cNvPr id="104864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sz="3600" lang="en-US" smtClean="0"/>
              <a:t>11</a:t>
            </a:fld>
            <a:endParaRPr dirty="0" sz="3600" lang="en-US"/>
          </a:p>
        </p:txBody>
      </p:sp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>
          <a:xfrm>
            <a:off x="1024128" y="321972"/>
            <a:ext cx="9720072" cy="1313645"/>
          </a:xfrm>
        </p:spPr>
        <p:txBody>
          <a:bodyPr/>
          <a:p>
            <a:r>
              <a:rPr dirty="0" lang="en-US" err="1" smtClean="0"/>
              <a:t>Behavioural</a:t>
            </a:r>
            <a:r>
              <a:rPr dirty="0" lang="en-US" smtClean="0"/>
              <a:t> adaptation</a:t>
            </a:r>
            <a:endParaRPr dirty="0" lang="en-US"/>
          </a:p>
        </p:txBody>
      </p:sp>
      <p:sp>
        <p:nvSpPr>
          <p:cNvPr id="1048648" name="Content Placeholder 2"/>
          <p:cNvSpPr>
            <a:spLocks noGrp="1"/>
          </p:cNvSpPr>
          <p:nvPr>
            <p:ph idx="1"/>
          </p:nvPr>
        </p:nvSpPr>
        <p:spPr>
          <a:xfrm>
            <a:off x="1024128" y="1635617"/>
            <a:ext cx="9720073" cy="4673743"/>
          </a:xfrm>
        </p:spPr>
        <p:txBody>
          <a:bodyPr>
            <a:normAutofit/>
          </a:bodyPr>
          <a:p>
            <a:pPr lvl="0">
              <a:buFont typeface="Courier New" panose="02070309020205020404" pitchFamily="49" charset="0"/>
              <a:buChar char="o"/>
            </a:pPr>
            <a:r>
              <a:rPr dirty="0" sz="3200" lang="en-US" smtClean="0"/>
              <a:t>Hibernation</a:t>
            </a:r>
            <a:endParaRPr dirty="0" sz="3200" lang="en-US"/>
          </a:p>
        </p:txBody>
      </p:sp>
      <p:pic>
        <p:nvPicPr>
          <p:cNvPr id="2097158" name="Content Placeholder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039415" y="2613224"/>
            <a:ext cx="6671256" cy="3857480"/>
          </a:xfrm>
          <a:prstGeom prst="rect"/>
        </p:spPr>
      </p:pic>
      <p:sp>
        <p:nvSpPr>
          <p:cNvPr id="1048649" name="Rectangle 4"/>
          <p:cNvSpPr/>
          <p:nvPr/>
        </p:nvSpPr>
        <p:spPr>
          <a:xfrm>
            <a:off x="5254579" y="1931830"/>
            <a:ext cx="4340182" cy="929640"/>
          </a:xfrm>
          <a:prstGeom prst="rect"/>
        </p:spPr>
        <p:txBody>
          <a:bodyPr wrap="square">
            <a:spAutoFit/>
          </a:bodyPr>
          <a:p>
            <a:r>
              <a:rPr dirty="0" sz="2800" lang="en-US"/>
              <a:t>Fig. </a:t>
            </a:r>
            <a:r>
              <a:rPr dirty="0" sz="2800" lang="en-US" smtClean="0"/>
              <a:t>7 hibernation </a:t>
            </a:r>
            <a:r>
              <a:rPr dirty="0" sz="2800" lang="en-US"/>
              <a:t>in rodents </a:t>
            </a:r>
          </a:p>
        </p:txBody>
      </p:sp>
      <p:sp>
        <p:nvSpPr>
          <p:cNvPr id="10486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sz="3600" lang="en-US" smtClean="0"/>
              <a:t>12</a:t>
            </a:fld>
            <a:endParaRPr dirty="0" sz="3600" lang="en-US"/>
          </a:p>
        </p:txBody>
      </p:sp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1024128" y="-103030"/>
            <a:ext cx="9720072" cy="1558344"/>
          </a:xfrm>
        </p:spPr>
        <p:txBody>
          <a:bodyPr/>
          <a:p>
            <a:r>
              <a:rPr dirty="0" lang="en-US" smtClean="0"/>
              <a:t>BEHAVIOURAL ADAPTATIONS</a:t>
            </a:r>
            <a:endParaRPr dirty="0" lang="en-US"/>
          </a:p>
        </p:txBody>
      </p:sp>
      <p:sp>
        <p:nvSpPr>
          <p:cNvPr id="1048652" name="Content Placeholder 2"/>
          <p:cNvSpPr>
            <a:spLocks noGrp="1"/>
          </p:cNvSpPr>
          <p:nvPr>
            <p:ph idx="1"/>
          </p:nvPr>
        </p:nvSpPr>
        <p:spPr>
          <a:xfrm>
            <a:off x="837128" y="1300766"/>
            <a:ext cx="9907074" cy="5008594"/>
          </a:xfrm>
        </p:spPr>
        <p:txBody>
          <a:bodyPr/>
          <a:p>
            <a:pPr lvl="0">
              <a:buFont typeface="Courier New" panose="02070309020205020404" pitchFamily="49" charset="0"/>
              <a:buChar char="o"/>
            </a:pPr>
            <a:r>
              <a:rPr dirty="0" sz="3200" lang="en-US" smtClean="0"/>
              <a:t>Social </a:t>
            </a:r>
            <a:r>
              <a:rPr dirty="0" sz="3200" lang="en-US"/>
              <a:t>rodents huddle together to share body heat during colder periods.</a:t>
            </a:r>
          </a:p>
          <a:p>
            <a:pPr indent="0" marL="0">
              <a:buNone/>
            </a:pPr>
            <a:r>
              <a:rPr dirty="0" sz="2400" lang="en-US"/>
              <a:t> </a:t>
            </a:r>
            <a:r>
              <a:rPr dirty="0" sz="2400" lang="en-US" smtClean="0"/>
              <a:t>                                                       Fig</a:t>
            </a:r>
            <a:r>
              <a:rPr dirty="0" sz="2400" lang="en-US"/>
              <a:t>. </a:t>
            </a:r>
            <a:r>
              <a:rPr dirty="0" sz="2400" lang="en-US" smtClean="0"/>
              <a:t>6 huddling  </a:t>
            </a:r>
            <a:r>
              <a:rPr dirty="0" sz="2400" lang="en-US"/>
              <a:t>in rodents </a:t>
            </a:r>
          </a:p>
          <a:p>
            <a:endParaRPr dirty="0" lang="en-US"/>
          </a:p>
        </p:txBody>
      </p:sp>
      <p:pic>
        <p:nvPicPr>
          <p:cNvPr id="2097159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562896" y="2675898"/>
            <a:ext cx="7911949" cy="3794806"/>
          </a:xfrm>
          <a:prstGeom prst="rect"/>
        </p:spPr>
      </p:pic>
      <p:sp>
        <p:nvSpPr>
          <p:cNvPr id="104865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sz="3600" lang="en-US" smtClean="0"/>
              <a:t>13</a:t>
            </a:fld>
            <a:endParaRPr dirty="0" sz="3600" lang="en-US"/>
          </a:p>
        </p:txBody>
      </p:sp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err="1" smtClean="0"/>
              <a:t>Behavioural</a:t>
            </a:r>
            <a:r>
              <a:rPr dirty="0" lang="en-US" smtClean="0"/>
              <a:t> adaptation</a:t>
            </a:r>
            <a:endParaRPr dirty="0" lang="en-US"/>
          </a:p>
        </p:txBody>
      </p:sp>
      <p:sp>
        <p:nvSpPr>
          <p:cNvPr id="10486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Font typeface="Courier New" panose="02070309020205020404" pitchFamily="49" charset="0"/>
              <a:buChar char="o"/>
            </a:pPr>
            <a:r>
              <a:rPr dirty="0" sz="4000" lang="en-US" smtClean="0"/>
              <a:t>Estivation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 sz="4000" lang="en-US"/>
              <a:t>Seeking shade and </a:t>
            </a:r>
            <a:r>
              <a:rPr dirty="0" sz="4000" lang="en-US" smtClean="0"/>
              <a:t>burrows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 sz="4000" lang="en-US" smtClean="0"/>
              <a:t>Grooming </a:t>
            </a:r>
            <a:r>
              <a:rPr dirty="0" sz="4000" lang="en-US"/>
              <a:t>or bathing to lower body temperature.</a:t>
            </a:r>
          </a:p>
          <a:p>
            <a:pPr>
              <a:buFont typeface="Courier New" panose="02070309020205020404" pitchFamily="49" charset="0"/>
              <a:buChar char="o"/>
            </a:pPr>
            <a:endParaRPr dirty="0" sz="4000" lang="en-US"/>
          </a:p>
          <a:p>
            <a:pPr>
              <a:buFont typeface="Courier New" panose="02070309020205020404" pitchFamily="49" charset="0"/>
              <a:buChar char="o"/>
            </a:pPr>
            <a:endParaRPr dirty="0" sz="3600" lang="en-US"/>
          </a:p>
        </p:txBody>
      </p:sp>
      <p:sp>
        <p:nvSpPr>
          <p:cNvPr id="104865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lang="en-US" smtClean="0"/>
              <a:t>14</a:t>
            </a:fld>
            <a:endParaRPr dirty="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Physiological Adaptations</a:t>
            </a:r>
          </a:p>
        </p:txBody>
      </p:sp>
      <p:sp>
        <p:nvSpPr>
          <p:cNvPr id="104865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lvl="0">
              <a:buFont typeface="Courier New" panose="02070309020205020404" pitchFamily="49" charset="0"/>
              <a:buChar char="o"/>
            </a:pPr>
            <a:r>
              <a:rPr dirty="0" sz="4800" lang="en-US"/>
              <a:t>Metabolic </a:t>
            </a:r>
            <a:r>
              <a:rPr dirty="0" sz="4800" lang="en-US" smtClean="0"/>
              <a:t>adjustments</a:t>
            </a:r>
            <a:endParaRPr dirty="0" sz="4800" lang="en-US"/>
          </a:p>
          <a:p>
            <a:pPr lvl="0">
              <a:buFont typeface="Courier New" panose="02070309020205020404" pitchFamily="49" charset="0"/>
              <a:buChar char="o"/>
            </a:pPr>
            <a:r>
              <a:rPr dirty="0" sz="4800" lang="en-US"/>
              <a:t>Vasoconstriction and </a:t>
            </a:r>
            <a:r>
              <a:rPr dirty="0" sz="4800" lang="en-US" smtClean="0"/>
              <a:t>vasodilation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dirty="0" sz="4800" lang="en-US" smtClean="0"/>
              <a:t>Sweating </a:t>
            </a:r>
            <a:r>
              <a:rPr dirty="0" sz="4800" lang="en-US"/>
              <a:t>and </a:t>
            </a:r>
            <a:r>
              <a:rPr dirty="0" sz="4800" lang="en-US" smtClean="0"/>
              <a:t>panting</a:t>
            </a:r>
            <a:endParaRPr dirty="0" sz="4800" lang="en-US"/>
          </a:p>
        </p:txBody>
      </p:sp>
      <p:sp>
        <p:nvSpPr>
          <p:cNvPr id="104865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sz="3600" lang="en-US" smtClean="0"/>
              <a:t>15</a:t>
            </a:fld>
            <a:endParaRPr dirty="0" sz="3600" lang="en-US"/>
          </a:p>
        </p:txBody>
      </p:sp>
    </p:spTree>
  </p:cSld>
  <p:clrMapOvr>
    <a:masterClrMapping/>
  </p:clrMapOvr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10296402" cy="1499616"/>
          </a:xfrm>
        </p:spPr>
        <p:txBody>
          <a:bodyPr>
            <a:normAutofit fontScale="98333"/>
          </a:bodyPr>
          <a:p>
            <a:r>
              <a:rPr dirty="0" sz="6000" lang="en-US" smtClean="0"/>
              <a:t>Physiological adaptation</a:t>
            </a:r>
            <a:endParaRPr dirty="0" sz="6000" lang="en-US"/>
          </a:p>
        </p:txBody>
      </p:sp>
      <p:sp>
        <p:nvSpPr>
          <p:cNvPr id="1048661" name="Content Placeholder 2"/>
          <p:cNvSpPr>
            <a:spLocks noGrp="1"/>
          </p:cNvSpPr>
          <p:nvPr>
            <p:ph idx="1"/>
          </p:nvPr>
        </p:nvSpPr>
        <p:spPr>
          <a:xfrm>
            <a:off x="1024128" y="2084832"/>
            <a:ext cx="9720073" cy="4224528"/>
          </a:xfrm>
        </p:spPr>
        <p:txBody>
          <a:bodyPr>
            <a:normAutofit/>
          </a:bodyPr>
          <a:p>
            <a:pPr lvl="0"/>
            <a:r>
              <a:rPr dirty="0" sz="3200" lang="en-US"/>
              <a:t>Torpor: Certain rodents exhibit daily torpor, a temporary drop in body temperature and metabolic rate during inactive periods.</a:t>
            </a:r>
          </a:p>
          <a:p>
            <a:pPr lvl="0"/>
            <a:r>
              <a:rPr dirty="0" sz="3200" lang="en-US"/>
              <a:t>Enhanced insulation: Some species develop thicker fur or grow a winter coat to provide better insulation against the cold.</a:t>
            </a:r>
          </a:p>
          <a:p>
            <a:endParaRPr dirty="0" sz="3200" lang="en-US"/>
          </a:p>
        </p:txBody>
      </p:sp>
      <p:sp>
        <p:nvSpPr>
          <p:cNvPr id="104866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sz="3600" lang="en-US" smtClean="0"/>
              <a:t>16</a:t>
            </a:fld>
            <a:endParaRPr dirty="0" sz="3600" lang="en-US"/>
          </a:p>
        </p:txBody>
      </p:sp>
    </p:spTree>
  </p:cSld>
  <p:clrMapOvr>
    <a:masterClrMapping/>
  </p:clrMapOvr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Importance of thermoregulation</a:t>
            </a:r>
            <a:endParaRPr dirty="0" lang="en-US"/>
          </a:p>
        </p:txBody>
      </p:sp>
      <p:sp>
        <p:nvSpPr>
          <p:cNvPr id="1048664" name="Content Placeholder 2"/>
          <p:cNvSpPr>
            <a:spLocks noGrp="1"/>
          </p:cNvSpPr>
          <p:nvPr>
            <p:ph idx="1"/>
          </p:nvPr>
        </p:nvSpPr>
        <p:spPr>
          <a:xfrm>
            <a:off x="1024128" y="1803042"/>
            <a:ext cx="10541100" cy="4506318"/>
          </a:xfrm>
        </p:spPr>
        <p:txBody>
          <a:bodyPr/>
          <a:p>
            <a:pPr>
              <a:buFont typeface="Courier New" panose="02070309020205020404" pitchFamily="49" charset="0"/>
              <a:buChar char="o"/>
            </a:pPr>
            <a:r>
              <a:rPr dirty="0" sz="4000" lang="en-US" smtClean="0"/>
              <a:t>Thermoregulation is critical </a:t>
            </a:r>
            <a:r>
              <a:rPr dirty="0" sz="4000" lang="en-US"/>
              <a:t>for maintaining physiological processes within optimal ranges</a:t>
            </a:r>
            <a:r>
              <a:rPr dirty="0" sz="4000" lang="en-US" smtClean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 sz="4000" lang="en-US" smtClean="0"/>
              <a:t>Disease prevention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 sz="4000" lang="en-US" smtClean="0"/>
              <a:t>Reproduction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 sz="4000" lang="en-US" smtClean="0"/>
              <a:t>Energy balance</a:t>
            </a:r>
          </a:p>
          <a:p>
            <a:pPr>
              <a:buFont typeface="Courier New" panose="02070309020205020404" pitchFamily="49" charset="0"/>
              <a:buChar char="o"/>
            </a:pPr>
            <a:endParaRPr dirty="0" lang="en-US"/>
          </a:p>
          <a:p>
            <a:endParaRPr dirty="0" lang="en-US"/>
          </a:p>
        </p:txBody>
      </p:sp>
      <p:sp>
        <p:nvSpPr>
          <p:cNvPr id="104866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sz="3600" lang="en-US" smtClean="0"/>
              <a:t>17</a:t>
            </a:fld>
            <a:endParaRPr dirty="0" sz="3600" lang="en-US"/>
          </a:p>
        </p:txBody>
      </p:sp>
    </p:spTree>
  </p:cSld>
  <p:clrMapOvr>
    <a:masterClrMapping/>
  </p:clrMapOvr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xfrm>
            <a:off x="1024128" y="141668"/>
            <a:ext cx="9720072" cy="1429555"/>
          </a:xfrm>
        </p:spPr>
        <p:txBody>
          <a:bodyPr>
            <a:normAutofit/>
          </a:bodyPr>
          <a:p>
            <a:r>
              <a:rPr dirty="0" sz="6000" lang="en-US" smtClean="0"/>
              <a:t>conclusion</a:t>
            </a:r>
            <a:endParaRPr dirty="0" sz="6000" lang="en-US"/>
          </a:p>
        </p:txBody>
      </p:sp>
      <p:sp>
        <p:nvSpPr>
          <p:cNvPr id="1048667" name="Content Placeholder 2"/>
          <p:cNvSpPr>
            <a:spLocks noGrp="1"/>
          </p:cNvSpPr>
          <p:nvPr>
            <p:ph idx="1"/>
          </p:nvPr>
        </p:nvSpPr>
        <p:spPr>
          <a:xfrm>
            <a:off x="656824" y="1571223"/>
            <a:ext cx="10702342" cy="4899481"/>
          </a:xfrm>
        </p:spPr>
        <p:txBody>
          <a:bodyPr>
            <a:normAutofit/>
          </a:bodyPr>
          <a:p>
            <a:pPr lvl="0"/>
            <a:r>
              <a:rPr dirty="0" sz="3600" lang="en-US"/>
              <a:t>Rodents employ a variety of structural, behavioral, and physiological adaptations to maintain body temperature in different </a:t>
            </a:r>
            <a:r>
              <a:rPr dirty="0" sz="3600" lang="en-US" smtClean="0"/>
              <a:t>environments. Their </a:t>
            </a:r>
            <a:r>
              <a:rPr dirty="0" sz="3600" lang="en-US"/>
              <a:t>remarkable thermoregulatory mechanisms allow them to thrive in a wide range of </a:t>
            </a:r>
            <a:r>
              <a:rPr dirty="0" sz="3600" lang="en-US" smtClean="0"/>
              <a:t>habitats. Understanding </a:t>
            </a:r>
            <a:r>
              <a:rPr dirty="0" sz="3600" lang="en-US"/>
              <a:t>thermoregulation in rodents contributes to our knowledge of mammalian adaptations and may have broader implications in ecology and human health.</a:t>
            </a:r>
          </a:p>
          <a:p>
            <a:endParaRPr dirty="0" sz="3600" lang="en-US"/>
          </a:p>
        </p:txBody>
      </p:sp>
      <p:sp>
        <p:nvSpPr>
          <p:cNvPr id="104866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FAB73BC-B049-4115-A692-8D63A059BFB8}" type="slidenum">
              <a:rPr sz="3600" lang="en-US" smtClean="0"/>
              <a:t>18</a:t>
            </a:fld>
            <a:endParaRPr dirty="0" sz="3600" lang="en-US"/>
          </a:p>
        </p:txBody>
      </p:sp>
    </p:spTree>
  </p:cSld>
  <p:clrMapOvr>
    <a:masterClrMapping/>
  </p:clrMapOvr>
  <p:timing/>
</p:sld>
</file>

<file path=ppt/theme/_rels/them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lastClr="000000" val="windowText"/>
      </a:dk1>
      <a:lt1>
        <a:sysClr lastClr="FFFFFF" val="window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algn="ctr" blurRad="50800" dir="54000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algn="ctr" blurRad="76200" dir="5400000" dist="254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dir="t" rig="fla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algn="tl" flip="none" sx="40000" sy="40000" tx="0" ty="0"/>
        </a:blip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THERMOEGULATION IN RODENTS</dc:title>
  <dc:creator>Microsoft account</dc:creator>
  <cp:lastModifiedBy>Microsoft account</cp:lastModifiedBy>
  <dcterms:created xsi:type="dcterms:W3CDTF">2023-07-19T12:39:13Z</dcterms:created>
  <dcterms:modified xsi:type="dcterms:W3CDTF">2023-07-20T13:22:40Z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7274c79de3ed48afb806810ac799b095</vt:lpwstr>
  </property>
</Properties>
</file>