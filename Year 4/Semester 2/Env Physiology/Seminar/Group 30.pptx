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0" r:id="rId5"/>
    <p:sldId id="265" r:id="rId6"/>
    <p:sldId id="272" r:id="rId7"/>
    <p:sldId id="260" r:id="rId8"/>
    <p:sldId id="261" r:id="rId9"/>
    <p:sldId id="262" r:id="rId10"/>
    <p:sldId id="266" r:id="rId11"/>
    <p:sldId id="264" r:id="rId12"/>
    <p:sldId id="268" r:id="rId13"/>
    <p:sldId id="273"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68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EP 1000" initials="HE1" lastIdx="1" clrIdx="0">
    <p:extLst>
      <p:ext uri="{19B8F6BF-5375-455C-9EA6-DF929625EA0E}">
        <p15:presenceInfo xmlns:p15="http://schemas.microsoft.com/office/powerpoint/2012/main" userId="HP EP 1000"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755" autoAdjust="0"/>
  </p:normalViewPr>
  <p:slideViewPr>
    <p:cSldViewPr snapToGrid="0">
      <p:cViewPr varScale="1">
        <p:scale>
          <a:sx n="70" d="100"/>
          <a:sy n="70" d="100"/>
        </p:scale>
        <p:origin x="618" y="48"/>
      </p:cViewPr>
      <p:guideLst>
        <p:guide orient="horz" pos="2160"/>
        <p:guide pos="3681"/>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605B40-A695-F884-C356-77E3714612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6E465E3C-73FD-836A-D4D4-6A1E02AADC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7AA563E4-647A-9BB2-0468-127312D634D1}"/>
              </a:ext>
            </a:extLst>
          </p:cNvPr>
          <p:cNvSpPr>
            <a:spLocks noGrp="1"/>
          </p:cNvSpPr>
          <p:nvPr>
            <p:ph type="dt" sz="half" idx="10"/>
          </p:nvPr>
        </p:nvSpPr>
        <p:spPr/>
        <p:txBody>
          <a:bodyPr/>
          <a:lstStyle/>
          <a:p>
            <a:fld id="{CC00C6A0-2A92-4A7A-896F-92CC493FB859}" type="datetimeFigureOut">
              <a:rPr lang="en-US" smtClean="0"/>
              <a:t>8/3/2023</a:t>
            </a:fld>
            <a:endParaRPr lang="en-US"/>
          </a:p>
        </p:txBody>
      </p:sp>
      <p:sp>
        <p:nvSpPr>
          <p:cNvPr id="5" name="Footer Placeholder 4">
            <a:extLst>
              <a:ext uri="{FF2B5EF4-FFF2-40B4-BE49-F238E27FC236}">
                <a16:creationId xmlns:a16="http://schemas.microsoft.com/office/drawing/2014/main" xmlns="" id="{0C6F629C-8C35-9062-5EAF-63F062C15D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E2222BE-9ECC-1C82-B655-8F8CA8F5EAE0}"/>
              </a:ext>
            </a:extLst>
          </p:cNvPr>
          <p:cNvSpPr>
            <a:spLocks noGrp="1"/>
          </p:cNvSpPr>
          <p:nvPr>
            <p:ph type="sldNum" sz="quarter" idx="12"/>
          </p:nvPr>
        </p:nvSpPr>
        <p:spPr/>
        <p:txBody>
          <a:bodyPr/>
          <a:lstStyle/>
          <a:p>
            <a:fld id="{CE4F65C5-38D1-429D-9E85-A099F957F0A1}" type="slidenum">
              <a:rPr lang="en-US" smtClean="0"/>
              <a:t>‹#›</a:t>
            </a:fld>
            <a:endParaRPr lang="en-US"/>
          </a:p>
        </p:txBody>
      </p:sp>
    </p:spTree>
    <p:extLst>
      <p:ext uri="{BB962C8B-B14F-4D97-AF65-F5344CB8AC3E}">
        <p14:creationId xmlns:p14="http://schemas.microsoft.com/office/powerpoint/2010/main" val="3532021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0702D9-8701-F3B1-9133-7D1DFB4108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B2CC2303-0268-D9C6-4759-0D9794EB01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4889944-3FE9-A445-C8DD-01590B505C02}"/>
              </a:ext>
            </a:extLst>
          </p:cNvPr>
          <p:cNvSpPr>
            <a:spLocks noGrp="1"/>
          </p:cNvSpPr>
          <p:nvPr>
            <p:ph type="dt" sz="half" idx="10"/>
          </p:nvPr>
        </p:nvSpPr>
        <p:spPr/>
        <p:txBody>
          <a:bodyPr/>
          <a:lstStyle/>
          <a:p>
            <a:fld id="{CC00C6A0-2A92-4A7A-896F-92CC493FB859}" type="datetimeFigureOut">
              <a:rPr lang="en-US" smtClean="0"/>
              <a:t>8/3/2023</a:t>
            </a:fld>
            <a:endParaRPr lang="en-US"/>
          </a:p>
        </p:txBody>
      </p:sp>
      <p:sp>
        <p:nvSpPr>
          <p:cNvPr id="5" name="Footer Placeholder 4">
            <a:extLst>
              <a:ext uri="{FF2B5EF4-FFF2-40B4-BE49-F238E27FC236}">
                <a16:creationId xmlns:a16="http://schemas.microsoft.com/office/drawing/2014/main" xmlns="" id="{1916F46A-CEA2-F057-715B-9FC2362DE5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31C2F7E-9892-FC76-1E2C-8E7905FF5FC6}"/>
              </a:ext>
            </a:extLst>
          </p:cNvPr>
          <p:cNvSpPr>
            <a:spLocks noGrp="1"/>
          </p:cNvSpPr>
          <p:nvPr>
            <p:ph type="sldNum" sz="quarter" idx="12"/>
          </p:nvPr>
        </p:nvSpPr>
        <p:spPr/>
        <p:txBody>
          <a:bodyPr/>
          <a:lstStyle/>
          <a:p>
            <a:fld id="{CE4F65C5-38D1-429D-9E85-A099F957F0A1}" type="slidenum">
              <a:rPr lang="en-US" smtClean="0"/>
              <a:t>‹#›</a:t>
            </a:fld>
            <a:endParaRPr lang="en-US"/>
          </a:p>
        </p:txBody>
      </p:sp>
    </p:spTree>
    <p:extLst>
      <p:ext uri="{BB962C8B-B14F-4D97-AF65-F5344CB8AC3E}">
        <p14:creationId xmlns:p14="http://schemas.microsoft.com/office/powerpoint/2010/main" val="334916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7DCBD7-5AFF-3E5D-5736-45B452B8C2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D3E187D6-9C9E-736E-5078-C9F5AD8CB4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CD5E017-43A6-FACE-3DC4-4F05EDAA767C}"/>
              </a:ext>
            </a:extLst>
          </p:cNvPr>
          <p:cNvSpPr>
            <a:spLocks noGrp="1"/>
          </p:cNvSpPr>
          <p:nvPr>
            <p:ph type="dt" sz="half" idx="10"/>
          </p:nvPr>
        </p:nvSpPr>
        <p:spPr/>
        <p:txBody>
          <a:bodyPr/>
          <a:lstStyle/>
          <a:p>
            <a:fld id="{CC00C6A0-2A92-4A7A-896F-92CC493FB859}" type="datetimeFigureOut">
              <a:rPr lang="en-US" smtClean="0"/>
              <a:t>8/3/2023</a:t>
            </a:fld>
            <a:endParaRPr lang="en-US"/>
          </a:p>
        </p:txBody>
      </p:sp>
      <p:sp>
        <p:nvSpPr>
          <p:cNvPr id="5" name="Footer Placeholder 4">
            <a:extLst>
              <a:ext uri="{FF2B5EF4-FFF2-40B4-BE49-F238E27FC236}">
                <a16:creationId xmlns:a16="http://schemas.microsoft.com/office/drawing/2014/main" xmlns="" id="{303AC0AE-507D-2F55-C704-918F116F1F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FF2564B-CFE9-DB58-A424-32DECA2AF1CF}"/>
              </a:ext>
            </a:extLst>
          </p:cNvPr>
          <p:cNvSpPr>
            <a:spLocks noGrp="1"/>
          </p:cNvSpPr>
          <p:nvPr>
            <p:ph type="sldNum" sz="quarter" idx="12"/>
          </p:nvPr>
        </p:nvSpPr>
        <p:spPr/>
        <p:txBody>
          <a:bodyPr/>
          <a:lstStyle/>
          <a:p>
            <a:fld id="{CE4F65C5-38D1-429D-9E85-A099F957F0A1}" type="slidenum">
              <a:rPr lang="en-US" smtClean="0"/>
              <a:t>‹#›</a:t>
            </a:fld>
            <a:endParaRPr lang="en-US"/>
          </a:p>
        </p:txBody>
      </p:sp>
    </p:spTree>
    <p:extLst>
      <p:ext uri="{BB962C8B-B14F-4D97-AF65-F5344CB8AC3E}">
        <p14:creationId xmlns:p14="http://schemas.microsoft.com/office/powerpoint/2010/main" val="4238192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7D83E8-7CFC-CB5A-3A87-8C424D3074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AEE9966B-F9D1-92D1-F170-D4A0244205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97421184-8D5A-D9DF-36A1-0542DB2481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01EC290B-11BE-AB6F-7A80-36541E7AE01A}"/>
              </a:ext>
            </a:extLst>
          </p:cNvPr>
          <p:cNvSpPr>
            <a:spLocks noGrp="1"/>
          </p:cNvSpPr>
          <p:nvPr>
            <p:ph type="dt" sz="half" idx="10"/>
          </p:nvPr>
        </p:nvSpPr>
        <p:spPr/>
        <p:txBody>
          <a:bodyPr/>
          <a:lstStyle/>
          <a:p>
            <a:fld id="{CC00C6A0-2A92-4A7A-896F-92CC493FB859}" type="datetimeFigureOut">
              <a:rPr lang="en-US" smtClean="0"/>
              <a:t>8/3/2023</a:t>
            </a:fld>
            <a:endParaRPr lang="en-US"/>
          </a:p>
        </p:txBody>
      </p:sp>
      <p:sp>
        <p:nvSpPr>
          <p:cNvPr id="6" name="Footer Placeholder 5">
            <a:extLst>
              <a:ext uri="{FF2B5EF4-FFF2-40B4-BE49-F238E27FC236}">
                <a16:creationId xmlns:a16="http://schemas.microsoft.com/office/drawing/2014/main" xmlns="" id="{04F2B03B-D38F-7FA7-C3C9-0862860A3F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F08A689B-879A-D3CA-8A27-48B8F7D09F96}"/>
              </a:ext>
            </a:extLst>
          </p:cNvPr>
          <p:cNvSpPr>
            <a:spLocks noGrp="1"/>
          </p:cNvSpPr>
          <p:nvPr>
            <p:ph type="sldNum" sz="quarter" idx="12"/>
          </p:nvPr>
        </p:nvSpPr>
        <p:spPr/>
        <p:txBody>
          <a:bodyPr/>
          <a:lstStyle/>
          <a:p>
            <a:fld id="{CE4F65C5-38D1-429D-9E85-A099F957F0A1}" type="slidenum">
              <a:rPr lang="en-US" smtClean="0"/>
              <a:t>‹#›</a:t>
            </a:fld>
            <a:endParaRPr lang="en-US"/>
          </a:p>
        </p:txBody>
      </p:sp>
    </p:spTree>
    <p:extLst>
      <p:ext uri="{BB962C8B-B14F-4D97-AF65-F5344CB8AC3E}">
        <p14:creationId xmlns:p14="http://schemas.microsoft.com/office/powerpoint/2010/main" val="376901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B8094B-E347-8FC7-661D-DDEBAD81CA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98070758-C00C-5ACB-71B6-91E075266D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F929D143-75BF-2A02-E4B5-2865ADDC5F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C443CC41-54B0-516C-090A-A071EEBD45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01241A2-72D3-5D93-83BF-E7EC5C1E56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C7EB0955-B465-1A44-A238-CB21C078CC0B}"/>
              </a:ext>
            </a:extLst>
          </p:cNvPr>
          <p:cNvSpPr>
            <a:spLocks noGrp="1"/>
          </p:cNvSpPr>
          <p:nvPr>
            <p:ph type="dt" sz="half" idx="10"/>
          </p:nvPr>
        </p:nvSpPr>
        <p:spPr/>
        <p:txBody>
          <a:bodyPr/>
          <a:lstStyle/>
          <a:p>
            <a:fld id="{CC00C6A0-2A92-4A7A-896F-92CC493FB859}" type="datetimeFigureOut">
              <a:rPr lang="en-US" smtClean="0"/>
              <a:t>8/3/2023</a:t>
            </a:fld>
            <a:endParaRPr lang="en-US"/>
          </a:p>
        </p:txBody>
      </p:sp>
      <p:sp>
        <p:nvSpPr>
          <p:cNvPr id="8" name="Footer Placeholder 7">
            <a:extLst>
              <a:ext uri="{FF2B5EF4-FFF2-40B4-BE49-F238E27FC236}">
                <a16:creationId xmlns:a16="http://schemas.microsoft.com/office/drawing/2014/main" xmlns="" id="{638BB401-E441-86DB-9CEC-282BE28FF3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F0A16A34-5B5A-B8EB-A014-671076F1E152}"/>
              </a:ext>
            </a:extLst>
          </p:cNvPr>
          <p:cNvSpPr>
            <a:spLocks noGrp="1"/>
          </p:cNvSpPr>
          <p:nvPr>
            <p:ph type="sldNum" sz="quarter" idx="12"/>
          </p:nvPr>
        </p:nvSpPr>
        <p:spPr/>
        <p:txBody>
          <a:bodyPr/>
          <a:lstStyle/>
          <a:p>
            <a:fld id="{CE4F65C5-38D1-429D-9E85-A099F957F0A1}" type="slidenum">
              <a:rPr lang="en-US" smtClean="0"/>
              <a:t>‹#›</a:t>
            </a:fld>
            <a:endParaRPr lang="en-US"/>
          </a:p>
        </p:txBody>
      </p:sp>
    </p:spTree>
    <p:extLst>
      <p:ext uri="{BB962C8B-B14F-4D97-AF65-F5344CB8AC3E}">
        <p14:creationId xmlns:p14="http://schemas.microsoft.com/office/powerpoint/2010/main" val="3358961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8D4D18-AC81-6888-ED4B-16FB5664B2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C7F12132-E00E-F004-DE3A-42FAA77068C2}"/>
              </a:ext>
            </a:extLst>
          </p:cNvPr>
          <p:cNvSpPr>
            <a:spLocks noGrp="1"/>
          </p:cNvSpPr>
          <p:nvPr>
            <p:ph type="dt" sz="half" idx="10"/>
          </p:nvPr>
        </p:nvSpPr>
        <p:spPr/>
        <p:txBody>
          <a:bodyPr/>
          <a:lstStyle/>
          <a:p>
            <a:fld id="{CC00C6A0-2A92-4A7A-896F-92CC493FB859}" type="datetimeFigureOut">
              <a:rPr lang="en-US" smtClean="0"/>
              <a:t>8/3/2023</a:t>
            </a:fld>
            <a:endParaRPr lang="en-US"/>
          </a:p>
        </p:txBody>
      </p:sp>
      <p:sp>
        <p:nvSpPr>
          <p:cNvPr id="4" name="Footer Placeholder 3">
            <a:extLst>
              <a:ext uri="{FF2B5EF4-FFF2-40B4-BE49-F238E27FC236}">
                <a16:creationId xmlns:a16="http://schemas.microsoft.com/office/drawing/2014/main" xmlns="" id="{BD3A5934-C944-A8EA-B41A-A670B3295F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2911749C-96A2-A7AD-0652-43D7685D2805}"/>
              </a:ext>
            </a:extLst>
          </p:cNvPr>
          <p:cNvSpPr>
            <a:spLocks noGrp="1"/>
          </p:cNvSpPr>
          <p:nvPr>
            <p:ph type="sldNum" sz="quarter" idx="12"/>
          </p:nvPr>
        </p:nvSpPr>
        <p:spPr/>
        <p:txBody>
          <a:bodyPr/>
          <a:lstStyle/>
          <a:p>
            <a:fld id="{CE4F65C5-38D1-429D-9E85-A099F957F0A1}" type="slidenum">
              <a:rPr lang="en-US" smtClean="0"/>
              <a:t>‹#›</a:t>
            </a:fld>
            <a:endParaRPr lang="en-US"/>
          </a:p>
        </p:txBody>
      </p:sp>
    </p:spTree>
    <p:extLst>
      <p:ext uri="{BB962C8B-B14F-4D97-AF65-F5344CB8AC3E}">
        <p14:creationId xmlns:p14="http://schemas.microsoft.com/office/powerpoint/2010/main" val="1291779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24B18FBE-2657-BA1A-2585-D455F52CE8AD}"/>
              </a:ext>
            </a:extLst>
          </p:cNvPr>
          <p:cNvSpPr>
            <a:spLocks noGrp="1"/>
          </p:cNvSpPr>
          <p:nvPr>
            <p:ph type="dt" sz="half" idx="10"/>
          </p:nvPr>
        </p:nvSpPr>
        <p:spPr/>
        <p:txBody>
          <a:bodyPr/>
          <a:lstStyle/>
          <a:p>
            <a:fld id="{CC00C6A0-2A92-4A7A-896F-92CC493FB859}" type="datetimeFigureOut">
              <a:rPr lang="en-US" smtClean="0"/>
              <a:t>8/3/2023</a:t>
            </a:fld>
            <a:endParaRPr lang="en-US"/>
          </a:p>
        </p:txBody>
      </p:sp>
      <p:sp>
        <p:nvSpPr>
          <p:cNvPr id="3" name="Footer Placeholder 2">
            <a:extLst>
              <a:ext uri="{FF2B5EF4-FFF2-40B4-BE49-F238E27FC236}">
                <a16:creationId xmlns:a16="http://schemas.microsoft.com/office/drawing/2014/main" xmlns="" id="{F33A05F9-69A3-A1DA-6D75-85781FEF3D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D9780472-2F7D-A27A-2062-E288304EB151}"/>
              </a:ext>
            </a:extLst>
          </p:cNvPr>
          <p:cNvSpPr>
            <a:spLocks noGrp="1"/>
          </p:cNvSpPr>
          <p:nvPr>
            <p:ph type="sldNum" sz="quarter" idx="12"/>
          </p:nvPr>
        </p:nvSpPr>
        <p:spPr/>
        <p:txBody>
          <a:bodyPr/>
          <a:lstStyle/>
          <a:p>
            <a:fld id="{CE4F65C5-38D1-429D-9E85-A099F957F0A1}" type="slidenum">
              <a:rPr lang="en-US" smtClean="0"/>
              <a:t>‹#›</a:t>
            </a:fld>
            <a:endParaRPr lang="en-US"/>
          </a:p>
        </p:txBody>
      </p:sp>
    </p:spTree>
    <p:extLst>
      <p:ext uri="{BB962C8B-B14F-4D97-AF65-F5344CB8AC3E}">
        <p14:creationId xmlns:p14="http://schemas.microsoft.com/office/powerpoint/2010/main" val="2723858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7A3FA5-7366-89DA-2197-514B4667C8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1D48F829-CF6B-2949-831F-77F6D092A2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5B45AFDD-0D61-56D1-34C6-E5A27C889A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54BDEA9-1271-46B0-915D-8387137185E2}"/>
              </a:ext>
            </a:extLst>
          </p:cNvPr>
          <p:cNvSpPr>
            <a:spLocks noGrp="1"/>
          </p:cNvSpPr>
          <p:nvPr>
            <p:ph type="dt" sz="half" idx="10"/>
          </p:nvPr>
        </p:nvSpPr>
        <p:spPr/>
        <p:txBody>
          <a:bodyPr/>
          <a:lstStyle/>
          <a:p>
            <a:fld id="{CC00C6A0-2A92-4A7A-896F-92CC493FB859}" type="datetimeFigureOut">
              <a:rPr lang="en-US" smtClean="0"/>
              <a:t>8/3/2023</a:t>
            </a:fld>
            <a:endParaRPr lang="en-US"/>
          </a:p>
        </p:txBody>
      </p:sp>
      <p:sp>
        <p:nvSpPr>
          <p:cNvPr id="6" name="Footer Placeholder 5">
            <a:extLst>
              <a:ext uri="{FF2B5EF4-FFF2-40B4-BE49-F238E27FC236}">
                <a16:creationId xmlns:a16="http://schemas.microsoft.com/office/drawing/2014/main" xmlns="" id="{2D490720-A310-9556-6C7B-1F87479F18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01F39D9E-DBB7-99EF-39B4-1814D580FB75}"/>
              </a:ext>
            </a:extLst>
          </p:cNvPr>
          <p:cNvSpPr>
            <a:spLocks noGrp="1"/>
          </p:cNvSpPr>
          <p:nvPr>
            <p:ph type="sldNum" sz="quarter" idx="12"/>
          </p:nvPr>
        </p:nvSpPr>
        <p:spPr/>
        <p:txBody>
          <a:bodyPr/>
          <a:lstStyle/>
          <a:p>
            <a:fld id="{CE4F65C5-38D1-429D-9E85-A099F957F0A1}" type="slidenum">
              <a:rPr lang="en-US" smtClean="0"/>
              <a:t>‹#›</a:t>
            </a:fld>
            <a:endParaRPr lang="en-US"/>
          </a:p>
        </p:txBody>
      </p:sp>
    </p:spTree>
    <p:extLst>
      <p:ext uri="{BB962C8B-B14F-4D97-AF65-F5344CB8AC3E}">
        <p14:creationId xmlns:p14="http://schemas.microsoft.com/office/powerpoint/2010/main" val="2481323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9A5B92-948F-4D48-8288-903D269B94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3B70B181-1B92-21C8-099D-B5EEC6D6DF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0F1793D1-5F1C-0FAE-67AE-5AEB397E6E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472BA84-9245-D573-031E-536378FF9496}"/>
              </a:ext>
            </a:extLst>
          </p:cNvPr>
          <p:cNvSpPr>
            <a:spLocks noGrp="1"/>
          </p:cNvSpPr>
          <p:nvPr>
            <p:ph type="dt" sz="half" idx="10"/>
          </p:nvPr>
        </p:nvSpPr>
        <p:spPr/>
        <p:txBody>
          <a:bodyPr/>
          <a:lstStyle/>
          <a:p>
            <a:fld id="{CC00C6A0-2A92-4A7A-896F-92CC493FB859}" type="datetimeFigureOut">
              <a:rPr lang="en-US" smtClean="0"/>
              <a:t>8/3/2023</a:t>
            </a:fld>
            <a:endParaRPr lang="en-US"/>
          </a:p>
        </p:txBody>
      </p:sp>
      <p:sp>
        <p:nvSpPr>
          <p:cNvPr id="6" name="Footer Placeholder 5">
            <a:extLst>
              <a:ext uri="{FF2B5EF4-FFF2-40B4-BE49-F238E27FC236}">
                <a16:creationId xmlns:a16="http://schemas.microsoft.com/office/drawing/2014/main" xmlns="" id="{B82F6B9A-8110-584E-C60E-04CB307035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F18F9F3A-828E-1AEC-0A06-B5FF7A7E1483}"/>
              </a:ext>
            </a:extLst>
          </p:cNvPr>
          <p:cNvSpPr>
            <a:spLocks noGrp="1"/>
          </p:cNvSpPr>
          <p:nvPr>
            <p:ph type="sldNum" sz="quarter" idx="12"/>
          </p:nvPr>
        </p:nvSpPr>
        <p:spPr/>
        <p:txBody>
          <a:bodyPr/>
          <a:lstStyle/>
          <a:p>
            <a:fld id="{CE4F65C5-38D1-429D-9E85-A099F957F0A1}" type="slidenum">
              <a:rPr lang="en-US" smtClean="0"/>
              <a:t>‹#›</a:t>
            </a:fld>
            <a:endParaRPr lang="en-US"/>
          </a:p>
        </p:txBody>
      </p:sp>
    </p:spTree>
    <p:extLst>
      <p:ext uri="{BB962C8B-B14F-4D97-AF65-F5344CB8AC3E}">
        <p14:creationId xmlns:p14="http://schemas.microsoft.com/office/powerpoint/2010/main" val="2093113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D64BB9-2D5A-6E2A-1F02-48A08DAB2C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93C87F2A-8A28-697D-E33A-E4201CBF85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CACD19C-E7DB-6E41-0A4C-2136C7C5D0C7}"/>
              </a:ext>
            </a:extLst>
          </p:cNvPr>
          <p:cNvSpPr>
            <a:spLocks noGrp="1"/>
          </p:cNvSpPr>
          <p:nvPr>
            <p:ph type="dt" sz="half" idx="10"/>
          </p:nvPr>
        </p:nvSpPr>
        <p:spPr/>
        <p:txBody>
          <a:bodyPr/>
          <a:lstStyle/>
          <a:p>
            <a:fld id="{CC00C6A0-2A92-4A7A-896F-92CC493FB859}" type="datetimeFigureOut">
              <a:rPr lang="en-US" smtClean="0"/>
              <a:t>8/3/2023</a:t>
            </a:fld>
            <a:endParaRPr lang="en-US"/>
          </a:p>
        </p:txBody>
      </p:sp>
      <p:sp>
        <p:nvSpPr>
          <p:cNvPr id="5" name="Footer Placeholder 4">
            <a:extLst>
              <a:ext uri="{FF2B5EF4-FFF2-40B4-BE49-F238E27FC236}">
                <a16:creationId xmlns:a16="http://schemas.microsoft.com/office/drawing/2014/main" xmlns="" id="{A932CFC7-31FA-646D-E593-9583A1883A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F8CEC76-042F-EB8D-158B-038CC74960C9}"/>
              </a:ext>
            </a:extLst>
          </p:cNvPr>
          <p:cNvSpPr>
            <a:spLocks noGrp="1"/>
          </p:cNvSpPr>
          <p:nvPr>
            <p:ph type="sldNum" sz="quarter" idx="12"/>
          </p:nvPr>
        </p:nvSpPr>
        <p:spPr/>
        <p:txBody>
          <a:bodyPr/>
          <a:lstStyle/>
          <a:p>
            <a:fld id="{CE4F65C5-38D1-429D-9E85-A099F957F0A1}" type="slidenum">
              <a:rPr lang="en-US" smtClean="0"/>
              <a:t>‹#›</a:t>
            </a:fld>
            <a:endParaRPr lang="en-US"/>
          </a:p>
        </p:txBody>
      </p:sp>
    </p:spTree>
    <p:extLst>
      <p:ext uri="{BB962C8B-B14F-4D97-AF65-F5344CB8AC3E}">
        <p14:creationId xmlns:p14="http://schemas.microsoft.com/office/powerpoint/2010/main" val="847962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0FB7BC4-4F81-A5AC-3F2A-93DD55FA24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1DAC1138-17A6-B8FF-9089-C087A489EE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B4CD206-51C5-B8F2-45C0-0E5140AE682D}"/>
              </a:ext>
            </a:extLst>
          </p:cNvPr>
          <p:cNvSpPr>
            <a:spLocks noGrp="1"/>
          </p:cNvSpPr>
          <p:nvPr>
            <p:ph type="dt" sz="half" idx="10"/>
          </p:nvPr>
        </p:nvSpPr>
        <p:spPr/>
        <p:txBody>
          <a:bodyPr/>
          <a:lstStyle/>
          <a:p>
            <a:fld id="{CC00C6A0-2A92-4A7A-896F-92CC493FB859}" type="datetimeFigureOut">
              <a:rPr lang="en-US" smtClean="0"/>
              <a:t>8/3/2023</a:t>
            </a:fld>
            <a:endParaRPr lang="en-US"/>
          </a:p>
        </p:txBody>
      </p:sp>
      <p:sp>
        <p:nvSpPr>
          <p:cNvPr id="5" name="Footer Placeholder 4">
            <a:extLst>
              <a:ext uri="{FF2B5EF4-FFF2-40B4-BE49-F238E27FC236}">
                <a16:creationId xmlns:a16="http://schemas.microsoft.com/office/drawing/2014/main" xmlns="" id="{BDBDC4D5-E103-90DC-9FC6-0D477E0054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097A5B7-B5A9-4BCA-E00E-26807C6367FB}"/>
              </a:ext>
            </a:extLst>
          </p:cNvPr>
          <p:cNvSpPr>
            <a:spLocks noGrp="1"/>
          </p:cNvSpPr>
          <p:nvPr>
            <p:ph type="sldNum" sz="quarter" idx="12"/>
          </p:nvPr>
        </p:nvSpPr>
        <p:spPr/>
        <p:txBody>
          <a:bodyPr/>
          <a:lstStyle/>
          <a:p>
            <a:fld id="{CE4F65C5-38D1-429D-9E85-A099F957F0A1}" type="slidenum">
              <a:rPr lang="en-US" smtClean="0"/>
              <a:t>‹#›</a:t>
            </a:fld>
            <a:endParaRPr lang="en-US"/>
          </a:p>
        </p:txBody>
      </p:sp>
    </p:spTree>
    <p:extLst>
      <p:ext uri="{BB962C8B-B14F-4D97-AF65-F5344CB8AC3E}">
        <p14:creationId xmlns:p14="http://schemas.microsoft.com/office/powerpoint/2010/main" val="628134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40B1022-AF71-3362-561D-A5F9BD9F25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A94498C7-F8C9-09D1-D796-AD4FA24825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C613E8C-DF92-D219-12E3-252D7496A5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00C6A0-2A92-4A7A-896F-92CC493FB859}" type="datetimeFigureOut">
              <a:rPr lang="en-US" smtClean="0"/>
              <a:t>8/3/2023</a:t>
            </a:fld>
            <a:endParaRPr lang="en-US"/>
          </a:p>
        </p:txBody>
      </p:sp>
      <p:sp>
        <p:nvSpPr>
          <p:cNvPr id="5" name="Footer Placeholder 4">
            <a:extLst>
              <a:ext uri="{FF2B5EF4-FFF2-40B4-BE49-F238E27FC236}">
                <a16:creationId xmlns:a16="http://schemas.microsoft.com/office/drawing/2014/main" xmlns="" id="{F03BFFD5-391D-0D52-23E1-64BA897F8E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264A18C2-7C75-7DD6-8CB7-D15906CD73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4F65C5-38D1-429D-9E85-A099F957F0A1}" type="slidenum">
              <a:rPr lang="en-US" smtClean="0"/>
              <a:t>‹#›</a:t>
            </a:fld>
            <a:endParaRPr lang="en-US"/>
          </a:p>
        </p:txBody>
      </p:sp>
    </p:spTree>
    <p:extLst>
      <p:ext uri="{BB962C8B-B14F-4D97-AF65-F5344CB8AC3E}">
        <p14:creationId xmlns:p14="http://schemas.microsoft.com/office/powerpoint/2010/main" val="1568975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911CA855-38F2-5F28-D301-349F9AE51927}"/>
              </a:ext>
            </a:extLst>
          </p:cNvPr>
          <p:cNvSpPr>
            <a:spLocks noGrp="1"/>
          </p:cNvSpPr>
          <p:nvPr>
            <p:ph type="body" sz="half" idx="2"/>
          </p:nvPr>
        </p:nvSpPr>
        <p:spPr>
          <a:xfrm>
            <a:off x="1260202" y="4879496"/>
            <a:ext cx="3932237" cy="989491"/>
          </a:xfrm>
        </p:spPr>
        <p:txBody>
          <a:bodyPr>
            <a:normAutofit/>
          </a:bodyPr>
          <a:lstStyle/>
          <a:p>
            <a:r>
              <a:rPr lang="en-US" sz="3200" b="1" i="1" dirty="0">
                <a:latin typeface="Times New Roman" panose="02020603050405020304" pitchFamily="18" charset="0"/>
                <a:cs typeface="Times New Roman" panose="02020603050405020304" pitchFamily="18" charset="0"/>
              </a:rPr>
              <a:t>Presented by </a:t>
            </a:r>
            <a:r>
              <a:rPr lang="en-US" sz="3200" b="1" dirty="0">
                <a:latin typeface="Times New Roman" panose="02020603050405020304" pitchFamily="18" charset="0"/>
                <a:cs typeface="Times New Roman" panose="02020603050405020304" pitchFamily="18" charset="0"/>
              </a:rPr>
              <a:t>Group 30</a:t>
            </a:r>
          </a:p>
        </p:txBody>
      </p:sp>
      <p:sp>
        <p:nvSpPr>
          <p:cNvPr id="7" name="Half Frame 6">
            <a:extLst>
              <a:ext uri="{FF2B5EF4-FFF2-40B4-BE49-F238E27FC236}">
                <a16:creationId xmlns:a16="http://schemas.microsoft.com/office/drawing/2014/main" xmlns="" id="{B7794254-1896-066D-AA14-0FCC835A779B}"/>
              </a:ext>
            </a:extLst>
          </p:cNvPr>
          <p:cNvSpPr/>
          <p:nvPr/>
        </p:nvSpPr>
        <p:spPr>
          <a:xfrm>
            <a:off x="0" y="-1"/>
            <a:ext cx="2646096" cy="6222776"/>
          </a:xfrm>
          <a:prstGeom prst="halfFram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extBox 1">
            <a:extLst>
              <a:ext uri="{FF2B5EF4-FFF2-40B4-BE49-F238E27FC236}">
                <a16:creationId xmlns:a16="http://schemas.microsoft.com/office/drawing/2014/main" xmlns="" id="{46055A57-A951-5EFE-4CCD-A9F391A9E10A}"/>
              </a:ext>
            </a:extLst>
          </p:cNvPr>
          <p:cNvSpPr txBox="1"/>
          <p:nvPr/>
        </p:nvSpPr>
        <p:spPr>
          <a:xfrm rot="10800000" flipV="1">
            <a:off x="10721947" y="6465089"/>
            <a:ext cx="299405" cy="400110"/>
          </a:xfrm>
          <a:prstGeom prst="rect">
            <a:avLst/>
          </a:prstGeom>
          <a:solidFill>
            <a:schemeClr val="accent6">
              <a:lumMod val="50000"/>
            </a:schemeClr>
          </a:solidFill>
        </p:spPr>
        <p:txBody>
          <a:bodyPr wrap="square" rtlCol="0">
            <a:spAutoFit/>
          </a:bodyPr>
          <a:lstStyle/>
          <a:p>
            <a:r>
              <a:rPr lang="en-US" sz="2000" dirty="0">
                <a:solidFill>
                  <a:schemeClr val="bg1"/>
                </a:solidFill>
                <a:latin typeface="Garamond" panose="02020404030301010803" pitchFamily="18" charset="0"/>
              </a:rPr>
              <a:t>1</a:t>
            </a:r>
            <a:endParaRPr lang="en-US" sz="2000" kern="1200" dirty="0">
              <a:solidFill>
                <a:schemeClr val="bg1"/>
              </a:solidFill>
              <a:latin typeface="Garamond" panose="02020404030301010803" pitchFamily="18" charset="0"/>
            </a:endParaRPr>
          </a:p>
        </p:txBody>
      </p:sp>
      <p:pic>
        <p:nvPicPr>
          <p:cNvPr id="15" name="Picture 14">
            <a:extLst>
              <a:ext uri="{FF2B5EF4-FFF2-40B4-BE49-F238E27FC236}">
                <a16:creationId xmlns:a16="http://schemas.microsoft.com/office/drawing/2014/main" xmlns="" id="{99EA10A2-0424-5ACA-9D79-4D26897DC3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1" y="952500"/>
            <a:ext cx="4633366" cy="491647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6" name="Rectangle 1">
            <a:extLst>
              <a:ext uri="{FF2B5EF4-FFF2-40B4-BE49-F238E27FC236}">
                <a16:creationId xmlns:a16="http://schemas.microsoft.com/office/drawing/2014/main" xmlns="" id="{DB2A493F-7BF3-90C3-FB87-B7C6782A5BB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Salinity Regulation In Marine Mammals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
            </a: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Rectangle 2">
            <a:extLst>
              <a:ext uri="{FF2B5EF4-FFF2-40B4-BE49-F238E27FC236}">
                <a16:creationId xmlns:a16="http://schemas.microsoft.com/office/drawing/2014/main" xmlns="" id="{64C361FF-BFF8-37AF-6D3C-29E89D6708B2}"/>
              </a:ext>
            </a:extLst>
          </p:cNvPr>
          <p:cNvSpPr>
            <a:spLocks noGrp="1" noChangeArrowheads="1"/>
          </p:cNvSpPr>
          <p:nvPr>
            <p:ph type="title"/>
          </p:nvPr>
        </p:nvSpPr>
        <p:spPr bwMode="auto">
          <a:xfrm>
            <a:off x="1125538" y="2140051"/>
            <a:ext cx="4822775"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Salinity Regulation In Marine </a:t>
            </a:r>
            <a:r>
              <a:rPr kumimoji="0" lang="en-US" altLang="en-US" sz="4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Mammals</a:t>
            </a:r>
            <a:r>
              <a:rPr kumimoji="0" lang="en-US" altLang="en-US" sz="1000" b="0" i="0" u="none" strike="noStrike" cap="none" normalizeH="0" baseline="0" dirty="0">
                <a:ln>
                  <a:noFill/>
                </a:ln>
                <a:solidFill>
                  <a:schemeClr val="tx1"/>
                </a:solidFill>
                <a:effectLst/>
                <a:latin typeface="Söhne"/>
              </a:rPr>
              <a:t/>
            </a:r>
            <a:br>
              <a:rPr kumimoji="0" lang="en-US" altLang="en-US" sz="1000" b="0" i="0" u="none" strike="noStrike" cap="none" normalizeH="0" baseline="0" dirty="0">
                <a:ln>
                  <a:noFill/>
                </a:ln>
                <a:solidFill>
                  <a:schemeClr val="tx1"/>
                </a:solidFill>
                <a:effectLst/>
                <a:latin typeface="Söh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095756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5D7074D2-97B2-0EB7-E655-7EC3E6D6346B}"/>
              </a:ext>
            </a:extLst>
          </p:cNvPr>
          <p:cNvSpPr>
            <a:spLocks noGrp="1"/>
          </p:cNvSpPr>
          <p:nvPr>
            <p:ph type="title"/>
          </p:nvPr>
        </p:nvSpPr>
        <p:spPr>
          <a:xfrm>
            <a:off x="1254266" y="2290047"/>
            <a:ext cx="3074973" cy="2411426"/>
          </a:xfrm>
        </p:spPr>
        <p:style>
          <a:lnRef idx="0">
            <a:scrgbClr r="0" g="0" b="0"/>
          </a:lnRef>
          <a:fillRef idx="1001">
            <a:schemeClr val="lt1"/>
          </a:fillRef>
          <a:effectRef idx="0">
            <a:scrgbClr r="0" g="0" b="0"/>
          </a:effectRef>
          <a:fontRef idx="major"/>
        </p:style>
        <p:txBody>
          <a:bodyPr/>
          <a:lstStyle/>
          <a:p>
            <a:r>
              <a:rPr lang="en-US" dirty="0"/>
              <a:t>OUTLINE</a:t>
            </a:r>
          </a:p>
        </p:txBody>
      </p:sp>
      <p:sp>
        <p:nvSpPr>
          <p:cNvPr id="6" name="Content Placeholder 5">
            <a:extLst>
              <a:ext uri="{FF2B5EF4-FFF2-40B4-BE49-F238E27FC236}">
                <a16:creationId xmlns:a16="http://schemas.microsoft.com/office/drawing/2014/main" xmlns="" id="{D06738E0-A863-0D64-7AE9-40802B96AC33}"/>
              </a:ext>
            </a:extLst>
          </p:cNvPr>
          <p:cNvSpPr>
            <a:spLocks noGrp="1"/>
          </p:cNvSpPr>
          <p:nvPr>
            <p:ph idx="1"/>
          </p:nvPr>
        </p:nvSpPr>
        <p:spPr>
          <a:xfrm>
            <a:off x="5454032" y="1068150"/>
            <a:ext cx="6247051" cy="5300282"/>
          </a:xfrm>
          <a:ln w="57150">
            <a:solidFill>
              <a:schemeClr val="accent6">
                <a:lumMod val="50000"/>
              </a:schemeClr>
            </a:solidFill>
          </a:ln>
        </p:spPr>
        <p:style>
          <a:lnRef idx="1">
            <a:schemeClr val="accent3"/>
          </a:lnRef>
          <a:fillRef idx="1001">
            <a:schemeClr val="lt1"/>
          </a:fillRef>
          <a:effectRef idx="1">
            <a:schemeClr val="accent3"/>
          </a:effectRef>
          <a:fontRef idx="minor">
            <a:schemeClr val="dk1"/>
          </a:fontRef>
        </p:style>
        <p:txBody>
          <a:bodyPr>
            <a:normAutofit/>
          </a:bodyPr>
          <a:lstStyle/>
          <a:p>
            <a:r>
              <a:rPr lang="en-US" sz="3600" dirty="0">
                <a:latin typeface="Times New Roman" panose="02020603050405020304" pitchFamily="18" charset="0"/>
                <a:cs typeface="Times New Roman" panose="02020603050405020304" pitchFamily="18" charset="0"/>
              </a:rPr>
              <a:t>Introduction</a:t>
            </a:r>
            <a:r>
              <a:rPr lang="en-US" sz="3200" dirty="0">
                <a:latin typeface="Garamond" panose="02020404030301010803" pitchFamily="18" charset="0"/>
              </a:rPr>
              <a:t>.</a:t>
            </a:r>
          </a:p>
          <a:p>
            <a:r>
              <a:rPr lang="en-US" sz="3200" dirty="0">
                <a:latin typeface="Garamond" panose="02020404030301010803" pitchFamily="18" charset="0"/>
              </a:rPr>
              <a:t>Impacts of salinity on mammals</a:t>
            </a:r>
          </a:p>
          <a:p>
            <a:r>
              <a:rPr lang="en-US" sz="3200" dirty="0">
                <a:latin typeface="Garamond" panose="02020404030301010803" pitchFamily="18" charset="0"/>
              </a:rPr>
              <a:t>Physiological Adaptations of mammals </a:t>
            </a:r>
          </a:p>
          <a:p>
            <a:r>
              <a:rPr lang="en-US" sz="3200" dirty="0">
                <a:latin typeface="Garamond" panose="02020404030301010803" pitchFamily="18" charset="0"/>
              </a:rPr>
              <a:t>Behavioral Adaptations of mammals</a:t>
            </a:r>
          </a:p>
          <a:p>
            <a:r>
              <a:rPr lang="en-US" sz="3200" dirty="0">
                <a:latin typeface="Garamond" panose="02020404030301010803" pitchFamily="18" charset="0"/>
              </a:rPr>
              <a:t>Structural Adaptations of mammals</a:t>
            </a:r>
          </a:p>
          <a:p>
            <a:r>
              <a:rPr lang="en-US" sz="3200" dirty="0">
                <a:latin typeface="Garamond" panose="02020404030301010803" pitchFamily="18" charset="0"/>
              </a:rPr>
              <a:t>Examples of Plants adapted to High salinity</a:t>
            </a:r>
          </a:p>
          <a:p>
            <a:r>
              <a:rPr lang="en-US" sz="3200" dirty="0">
                <a:latin typeface="Garamond" panose="02020404030301010803" pitchFamily="18" charset="0"/>
              </a:rPr>
              <a:t>Conclusion </a:t>
            </a:r>
          </a:p>
          <a:p>
            <a:endParaRPr lang="en-US" sz="3200" dirty="0"/>
          </a:p>
          <a:p>
            <a:endParaRPr lang="en-US" sz="3200" dirty="0"/>
          </a:p>
        </p:txBody>
      </p:sp>
      <p:sp>
        <p:nvSpPr>
          <p:cNvPr id="7" name="Rectangle 6">
            <a:extLst>
              <a:ext uri="{FF2B5EF4-FFF2-40B4-BE49-F238E27FC236}">
                <a16:creationId xmlns:a16="http://schemas.microsoft.com/office/drawing/2014/main" xmlns="" id="{A738B391-78F0-41BA-AD65-CA80636FE474}"/>
              </a:ext>
            </a:extLst>
          </p:cNvPr>
          <p:cNvSpPr/>
          <p:nvPr/>
        </p:nvSpPr>
        <p:spPr>
          <a:xfrm>
            <a:off x="89006" y="3876084"/>
            <a:ext cx="5365026" cy="64737"/>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C6684E80-ECFF-43D8-C346-D669C610C682}"/>
              </a:ext>
            </a:extLst>
          </p:cNvPr>
          <p:cNvSpPr/>
          <p:nvPr/>
        </p:nvSpPr>
        <p:spPr>
          <a:xfrm>
            <a:off x="11976212" y="1"/>
            <a:ext cx="121383" cy="106815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DEE41B3D-A8BB-A684-29D5-D3DB655CCADD}"/>
              </a:ext>
            </a:extLst>
          </p:cNvPr>
          <p:cNvSpPr/>
          <p:nvPr/>
        </p:nvSpPr>
        <p:spPr>
          <a:xfrm>
            <a:off x="11603980" y="0"/>
            <a:ext cx="121383" cy="106814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20341C13-14DC-8CD4-F715-CEEB42B664D4}"/>
              </a:ext>
            </a:extLst>
          </p:cNvPr>
          <p:cNvSpPr txBox="1"/>
          <p:nvPr/>
        </p:nvSpPr>
        <p:spPr>
          <a:xfrm rot="10800000" flipV="1">
            <a:off x="10721947" y="6465089"/>
            <a:ext cx="299405" cy="400110"/>
          </a:xfrm>
          <a:prstGeom prst="rect">
            <a:avLst/>
          </a:prstGeom>
          <a:solidFill>
            <a:schemeClr val="accent6">
              <a:lumMod val="50000"/>
            </a:schemeClr>
          </a:solidFill>
        </p:spPr>
        <p:txBody>
          <a:bodyPr wrap="square" rtlCol="0">
            <a:spAutoFit/>
          </a:bodyPr>
          <a:lstStyle/>
          <a:p>
            <a:r>
              <a:rPr lang="en-US" sz="2000" kern="1200" dirty="0">
                <a:solidFill>
                  <a:schemeClr val="bg1"/>
                </a:solidFill>
                <a:latin typeface="Garamond" panose="02020404030301010803" pitchFamily="18" charset="0"/>
              </a:rPr>
              <a:t>2</a:t>
            </a:r>
          </a:p>
        </p:txBody>
      </p:sp>
    </p:spTree>
    <p:extLst>
      <p:ext uri="{BB962C8B-B14F-4D97-AF65-F5344CB8AC3E}">
        <p14:creationId xmlns:p14="http://schemas.microsoft.com/office/powerpoint/2010/main" val="39711804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2EE5E2-23D8-5E8E-4101-50A14612880B}"/>
              </a:ext>
            </a:extLst>
          </p:cNvPr>
          <p:cNvSpPr>
            <a:spLocks noGrp="1"/>
          </p:cNvSpPr>
          <p:nvPr>
            <p:ph type="title"/>
          </p:nvPr>
        </p:nvSpPr>
        <p:spPr>
          <a:xfrm>
            <a:off x="838201" y="365125"/>
            <a:ext cx="5514048" cy="1325563"/>
          </a:xfrm>
        </p:spPr>
        <p:style>
          <a:lnRef idx="2">
            <a:schemeClr val="accent3"/>
          </a:lnRef>
          <a:fillRef idx="1">
            <a:schemeClr val="lt1"/>
          </a:fillRef>
          <a:effectRef idx="0">
            <a:schemeClr val="accent3"/>
          </a:effectRef>
          <a:fontRef idx="minor">
            <a:schemeClr val="dk1"/>
          </a:fontRef>
        </p:style>
        <p:txBody>
          <a:bodyPr/>
          <a:lstStyle/>
          <a:p>
            <a:r>
              <a:rPr lang="en-US" sz="4400" b="1" dirty="0">
                <a:latin typeface="Times New Roman" panose="02020603050405020304" pitchFamily="18" charset="0"/>
                <a:cs typeface="Times New Roman" panose="02020603050405020304" pitchFamily="18" charset="0"/>
              </a:rPr>
              <a:t>INTRODUCTION</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EC1A3BF-E401-AC94-A11A-9D002983B3E5}"/>
              </a:ext>
            </a:extLst>
          </p:cNvPr>
          <p:cNvSpPr>
            <a:spLocks noGrp="1"/>
          </p:cNvSpPr>
          <p:nvPr>
            <p:ph idx="1"/>
          </p:nvPr>
        </p:nvSpPr>
        <p:spPr>
          <a:xfrm>
            <a:off x="480767" y="1847088"/>
            <a:ext cx="10540585" cy="4101225"/>
          </a:xfrm>
        </p:spPr>
        <p:txBody>
          <a:bodyPr>
            <a:noAutofit/>
          </a:bodyPr>
          <a:lstStyle/>
          <a:p>
            <a:pPr algn="l">
              <a:buFont typeface="Arial" panose="020B0604020202020204" pitchFamily="34" charset="0"/>
              <a:buChar char="•"/>
            </a:pPr>
            <a:r>
              <a:rPr lang="en-US" sz="3200" b="0" i="0" dirty="0">
                <a:solidFill>
                  <a:srgbClr val="374151"/>
                </a:solidFill>
                <a:effectLst/>
                <a:latin typeface="Times New Roman" panose="02020603050405020304" pitchFamily="18" charset="0"/>
                <a:cs typeface="Times New Roman" panose="02020603050405020304" pitchFamily="18" charset="0"/>
              </a:rPr>
              <a:t>Salinity Regulation in Marine Mammals refers to the process by which these animals maintain an appropriate balance of salt and water in their bodies when living in varying marine environments.</a:t>
            </a:r>
          </a:p>
          <a:p>
            <a:pPr algn="l">
              <a:buFont typeface="Arial" panose="020B0604020202020204" pitchFamily="34" charset="0"/>
              <a:buChar char="•"/>
            </a:pPr>
            <a:r>
              <a:rPr lang="en-US" sz="3200" b="0" i="0" dirty="0">
                <a:solidFill>
                  <a:srgbClr val="374151"/>
                </a:solidFill>
                <a:effectLst/>
                <a:latin typeface="Times New Roman" panose="02020603050405020304" pitchFamily="18" charset="0"/>
                <a:cs typeface="Times New Roman" panose="02020603050405020304" pitchFamily="18" charset="0"/>
              </a:rPr>
              <a:t>Marine mammals face challenges in coping with the fluctuating salinity levels of oceans, seas, and other aquatic habitats. This process is crucial for their survival and overall well-being.</a:t>
            </a:r>
          </a:p>
          <a:p>
            <a:pPr marL="285750" indent="-285750">
              <a:buFont typeface="Arial" panose="020B0604020202020204" pitchFamily="34" charset="0"/>
              <a:buChar char="•"/>
            </a:pPr>
            <a:endParaRPr lang="en-US" sz="3200" dirty="0"/>
          </a:p>
          <a:p>
            <a:pPr marL="0" indent="0">
              <a:buNone/>
            </a:pPr>
            <a:endParaRPr lang="en-US" sz="3200" dirty="0"/>
          </a:p>
          <a:p>
            <a:endParaRPr lang="en-US" sz="3200" dirty="0"/>
          </a:p>
        </p:txBody>
      </p:sp>
      <p:sp>
        <p:nvSpPr>
          <p:cNvPr id="5" name="Rectangle: Rounded Corners 4">
            <a:extLst>
              <a:ext uri="{FF2B5EF4-FFF2-40B4-BE49-F238E27FC236}">
                <a16:creationId xmlns:a16="http://schemas.microsoft.com/office/drawing/2014/main" xmlns="" id="{C4007AAC-034A-9248-B68E-B37AF4DC96BC}"/>
              </a:ext>
            </a:extLst>
          </p:cNvPr>
          <p:cNvSpPr/>
          <p:nvPr/>
        </p:nvSpPr>
        <p:spPr>
          <a:xfrm rot="10800000">
            <a:off x="250853" y="6355082"/>
            <a:ext cx="11102946" cy="45719"/>
          </a:xfrm>
          <a:prstGeom prst="roundRect">
            <a:avLst>
              <a:gd name="adj" fmla="val 41094"/>
            </a:avLst>
          </a:prstGeom>
          <a:solidFill>
            <a:schemeClr val="accent6">
              <a:lumMod val="5000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xmlns="" id="{C4DBEFC7-4618-B207-640C-0FD9F0AFAA7E}"/>
              </a:ext>
            </a:extLst>
          </p:cNvPr>
          <p:cNvSpPr/>
          <p:nvPr/>
        </p:nvSpPr>
        <p:spPr>
          <a:xfrm>
            <a:off x="11976212" y="0"/>
            <a:ext cx="275130" cy="70400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xmlns="" id="{B240E2FD-6520-7A03-32B5-0392CB398DA9}"/>
              </a:ext>
            </a:extLst>
          </p:cNvPr>
          <p:cNvSpPr/>
          <p:nvPr/>
        </p:nvSpPr>
        <p:spPr>
          <a:xfrm>
            <a:off x="11595888" y="2"/>
            <a:ext cx="275130" cy="704005"/>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6ECD26AE-4E90-E480-0F9F-5443DB517855}"/>
              </a:ext>
            </a:extLst>
          </p:cNvPr>
          <p:cNvSpPr txBox="1"/>
          <p:nvPr/>
        </p:nvSpPr>
        <p:spPr>
          <a:xfrm rot="10800000" flipV="1">
            <a:off x="10721947" y="6465089"/>
            <a:ext cx="299405" cy="400110"/>
          </a:xfrm>
          <a:prstGeom prst="rect">
            <a:avLst/>
          </a:prstGeom>
          <a:solidFill>
            <a:schemeClr val="accent6">
              <a:lumMod val="50000"/>
            </a:schemeClr>
          </a:solidFill>
        </p:spPr>
        <p:txBody>
          <a:bodyPr wrap="square" rtlCol="0">
            <a:spAutoFit/>
          </a:bodyPr>
          <a:lstStyle/>
          <a:p>
            <a:r>
              <a:rPr lang="en-US" sz="2000" kern="1200" dirty="0">
                <a:solidFill>
                  <a:schemeClr val="bg1"/>
                </a:solidFill>
                <a:latin typeface="Garamond" panose="02020404030301010803" pitchFamily="18" charset="0"/>
              </a:rPr>
              <a:t>3</a:t>
            </a:r>
          </a:p>
        </p:txBody>
      </p:sp>
    </p:spTree>
    <p:extLst>
      <p:ext uri="{BB962C8B-B14F-4D97-AF65-F5344CB8AC3E}">
        <p14:creationId xmlns:p14="http://schemas.microsoft.com/office/powerpoint/2010/main" val="6470284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6AB4F2-B2E6-AECF-3968-861FFB9E8E75}"/>
              </a:ext>
            </a:extLst>
          </p:cNvPr>
          <p:cNvSpPr>
            <a:spLocks noGrp="1"/>
          </p:cNvSpPr>
          <p:nvPr>
            <p:ph type="title"/>
          </p:nvPr>
        </p:nvSpPr>
        <p:spPr/>
        <p:txBody>
          <a:bodyPr>
            <a:normAutofit/>
          </a:bodyPr>
          <a:lstStyle/>
          <a:p>
            <a:pPr algn="ctr"/>
            <a:r>
              <a:rPr lang="en-GB" sz="3600" b="1" i="0" dirty="0" smtClean="0">
                <a:solidFill>
                  <a:srgbClr val="202124"/>
                </a:solidFill>
                <a:effectLst/>
                <a:latin typeface="Times New Roman" panose="02020603050405020304" pitchFamily="18" charset="0"/>
                <a:cs typeface="Times New Roman" panose="02020603050405020304" pitchFamily="18" charset="0"/>
              </a:rPr>
              <a:t>CLASSIFICATION </a:t>
            </a:r>
            <a:r>
              <a:rPr lang="en-GB" sz="3600" b="1" i="0" dirty="0">
                <a:solidFill>
                  <a:srgbClr val="202124"/>
                </a:solidFill>
                <a:effectLst/>
                <a:latin typeface="Times New Roman" panose="02020603050405020304" pitchFamily="18" charset="0"/>
                <a:cs typeface="Times New Roman" panose="02020603050405020304" pitchFamily="18" charset="0"/>
              </a:rPr>
              <a:t>OF MARINE MAMMALS</a:t>
            </a:r>
            <a:endParaRPr lang="en-GB"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5C7A47C1-11D4-6772-3382-BF27D46E9D6E}"/>
              </a:ext>
            </a:extLst>
          </p:cNvPr>
          <p:cNvSpPr>
            <a:spLocks noGrp="1"/>
          </p:cNvSpPr>
          <p:nvPr>
            <p:ph idx="1"/>
          </p:nvPr>
        </p:nvSpPr>
        <p:spPr/>
        <p:txBody>
          <a:bodyPr>
            <a:normAutofit fontScale="92500" lnSpcReduction="10000"/>
          </a:bodyPr>
          <a:lstStyle/>
          <a:p>
            <a:pPr marL="0" indent="0">
              <a:buNone/>
            </a:pPr>
            <a:r>
              <a:rPr lang="en-GB" sz="3200" b="0" i="0" dirty="0">
                <a:solidFill>
                  <a:srgbClr val="202124"/>
                </a:solidFill>
                <a:effectLst/>
                <a:latin typeface="Times New Roman" panose="02020603050405020304" pitchFamily="18" charset="0"/>
                <a:cs typeface="Times New Roman" panose="02020603050405020304" pitchFamily="18" charset="0"/>
              </a:rPr>
              <a:t>Marine mammals are classified into four different taxonomic groups: </a:t>
            </a:r>
            <a:endParaRPr lang="en-GB" sz="3200" b="0" i="0" dirty="0" smtClean="0">
              <a:solidFill>
                <a:srgbClr val="202124"/>
              </a:solidFill>
              <a:effectLst/>
              <a:latin typeface="Times New Roman" panose="02020603050405020304" pitchFamily="18" charset="0"/>
              <a:cs typeface="Times New Roman" panose="02020603050405020304" pitchFamily="18" charset="0"/>
            </a:endParaRPr>
          </a:p>
          <a:p>
            <a:pPr marL="0" indent="0">
              <a:buNone/>
            </a:pPr>
            <a:endParaRPr lang="en-GB" sz="3200" b="0" i="0" dirty="0">
              <a:solidFill>
                <a:srgbClr val="202124"/>
              </a:solidFill>
              <a:effectLst/>
              <a:latin typeface="Times New Roman" panose="02020603050405020304" pitchFamily="18" charset="0"/>
              <a:cs typeface="Times New Roman" panose="02020603050405020304" pitchFamily="18" charset="0"/>
            </a:endParaRPr>
          </a:p>
          <a:p>
            <a:r>
              <a:rPr lang="en-GB" sz="3200" b="0" i="0" dirty="0">
                <a:solidFill>
                  <a:srgbClr val="040C28"/>
                </a:solidFill>
                <a:effectLst/>
                <a:latin typeface="Times New Roman" panose="02020603050405020304" pitchFamily="18" charset="0"/>
                <a:cs typeface="Times New Roman" panose="02020603050405020304" pitchFamily="18" charset="0"/>
              </a:rPr>
              <a:t>cetaceans (whales, dolphins, and porpoises)</a:t>
            </a:r>
          </a:p>
          <a:p>
            <a:r>
              <a:rPr lang="en-GB" sz="3200" b="0" i="0" dirty="0">
                <a:solidFill>
                  <a:srgbClr val="040C28"/>
                </a:solidFill>
                <a:effectLst/>
                <a:latin typeface="Times New Roman" panose="02020603050405020304" pitchFamily="18" charset="0"/>
                <a:cs typeface="Times New Roman" panose="02020603050405020304" pitchFamily="18" charset="0"/>
              </a:rPr>
              <a:t> pinnipeds (seals, sea lions, and walruses)</a:t>
            </a:r>
          </a:p>
          <a:p>
            <a:r>
              <a:rPr lang="en-GB" sz="3200" b="0" i="0" dirty="0">
                <a:solidFill>
                  <a:srgbClr val="040C28"/>
                </a:solidFill>
                <a:effectLst/>
                <a:latin typeface="Times New Roman" panose="02020603050405020304" pitchFamily="18" charset="0"/>
                <a:cs typeface="Times New Roman" panose="02020603050405020304" pitchFamily="18" charset="0"/>
              </a:rPr>
              <a:t> sirenians (manatees and dugongs)</a:t>
            </a:r>
          </a:p>
          <a:p>
            <a:r>
              <a:rPr lang="en-GB" sz="3200" b="0" i="0" dirty="0">
                <a:solidFill>
                  <a:srgbClr val="040C28"/>
                </a:solidFill>
                <a:effectLst/>
                <a:latin typeface="Times New Roman" panose="02020603050405020304" pitchFamily="18" charset="0"/>
                <a:cs typeface="Times New Roman" panose="02020603050405020304" pitchFamily="18" charset="0"/>
              </a:rPr>
              <a:t> and marine fissipeds (polar bears and sea otters</a:t>
            </a:r>
            <a:r>
              <a:rPr lang="en-GB" sz="3200" b="0" i="0" dirty="0" smtClean="0">
                <a:solidFill>
                  <a:srgbClr val="040C28"/>
                </a:solidFill>
                <a:effectLst/>
                <a:latin typeface="Times New Roman" panose="02020603050405020304" pitchFamily="18" charset="0"/>
                <a:cs typeface="Times New Roman" panose="02020603050405020304" pitchFamily="18" charset="0"/>
              </a:rPr>
              <a:t>)</a:t>
            </a:r>
            <a:r>
              <a:rPr lang="en-GB" sz="3200" b="0" i="0" dirty="0" smtClean="0">
                <a:solidFill>
                  <a:srgbClr val="202124"/>
                </a:solidFill>
                <a:effectLst/>
                <a:latin typeface="Times New Roman" panose="02020603050405020304" pitchFamily="18" charset="0"/>
                <a:cs typeface="Times New Roman" panose="02020603050405020304" pitchFamily="18" charset="0"/>
              </a:rPr>
              <a:t>.</a:t>
            </a:r>
          </a:p>
          <a:p>
            <a:pPr marL="0" indent="0">
              <a:buNone/>
            </a:pPr>
            <a:endParaRPr lang="en-GB" sz="3200" b="0" i="0" dirty="0" smtClean="0">
              <a:solidFill>
                <a:srgbClr val="202124"/>
              </a:solidFill>
              <a:effectLst/>
              <a:latin typeface="Times New Roman" panose="02020603050405020304" pitchFamily="18" charset="0"/>
              <a:cs typeface="Times New Roman" panose="02020603050405020304" pitchFamily="18" charset="0"/>
            </a:endParaRPr>
          </a:p>
          <a:p>
            <a:pPr marL="0" indent="0">
              <a:buNone/>
            </a:pPr>
            <a:r>
              <a:rPr lang="en-GB" sz="3200" dirty="0">
                <a:solidFill>
                  <a:srgbClr val="202124"/>
                </a:solidFill>
                <a:latin typeface="Times New Roman" panose="02020603050405020304" pitchFamily="18" charset="0"/>
                <a:cs typeface="Times New Roman" panose="02020603050405020304" pitchFamily="18" charset="0"/>
              </a:rPr>
              <a:t> </a:t>
            </a:r>
            <a:r>
              <a:rPr lang="en-GB" sz="3200" dirty="0" smtClean="0">
                <a:solidFill>
                  <a:srgbClr val="202124"/>
                </a:solidFill>
                <a:latin typeface="Times New Roman" panose="02020603050405020304" pitchFamily="18" charset="0"/>
                <a:cs typeface="Times New Roman" panose="02020603050405020304" pitchFamily="18" charset="0"/>
              </a:rPr>
              <a:t>                                                                                                 </a:t>
            </a:r>
            <a:endParaRPr lang="en-GB"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38933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45109CE1-4241-A329-47F2-6C9A5AE07373}"/>
              </a:ext>
            </a:extLst>
          </p:cNvPr>
          <p:cNvSpPr>
            <a:spLocks noGrp="1"/>
          </p:cNvSpPr>
          <p:nvPr>
            <p:ph type="title"/>
          </p:nvPr>
        </p:nvSpPr>
        <p:spPr>
          <a:xfrm>
            <a:off x="791496" y="332481"/>
            <a:ext cx="10515600" cy="1325563"/>
          </a:xfrm>
        </p:spPr>
        <p:txBody>
          <a:bodyPr>
            <a:normAutofit/>
          </a:bodyPr>
          <a:lstStyle/>
          <a:p>
            <a:r>
              <a:rPr lang="en-US" sz="3600" b="1" dirty="0">
                <a:latin typeface="Times New Roman" panose="02020603050405020304" pitchFamily="18" charset="0"/>
                <a:cs typeface="Times New Roman" panose="02020603050405020304" pitchFamily="18" charset="0"/>
              </a:rPr>
              <a:t>IMPACTS OF HIGH SALINITY ON MAMMALS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xmlns="" id="{458E6268-4C09-C8E9-063D-13D283BD6DB9}"/>
              </a:ext>
            </a:extLst>
          </p:cNvPr>
          <p:cNvSpPr>
            <a:spLocks noGrp="1"/>
          </p:cNvSpPr>
          <p:nvPr>
            <p:ph idx="1"/>
          </p:nvPr>
        </p:nvSpPr>
        <p:spPr>
          <a:xfrm>
            <a:off x="848032" y="1825625"/>
            <a:ext cx="10515600" cy="4351338"/>
          </a:xfrm>
        </p:spPr>
        <p:txBody>
          <a:bodyPr>
            <a:normAutofit fontScale="92500" lnSpcReduction="20000"/>
          </a:bodyPr>
          <a:lstStyle/>
          <a:p>
            <a:r>
              <a:rPr lang="en-US" sz="3600" b="0" i="0" dirty="0">
                <a:solidFill>
                  <a:srgbClr val="252525"/>
                </a:solidFill>
                <a:effectLst/>
                <a:latin typeface="Times New Roman" panose="02020603050405020304" pitchFamily="18" charset="0"/>
                <a:cs typeface="Times New Roman" panose="02020603050405020304" pitchFamily="18" charset="0"/>
              </a:rPr>
              <a:t>High salinity levels cause rapid water loss in mammals, causing dehydration through osmosis</a:t>
            </a:r>
            <a:r>
              <a:rPr lang="en-US" sz="3600" b="0" i="0" dirty="0" smtClean="0">
                <a:solidFill>
                  <a:srgbClr val="252525"/>
                </a:solidFill>
                <a:effectLst/>
                <a:latin typeface="Times New Roman" panose="02020603050405020304" pitchFamily="18" charset="0"/>
                <a:cs typeface="Times New Roman" panose="02020603050405020304" pitchFamily="18" charset="0"/>
              </a:rPr>
              <a:t>.</a:t>
            </a:r>
          </a:p>
          <a:p>
            <a:pPr marL="0" indent="0">
              <a:buNone/>
            </a:pPr>
            <a:r>
              <a:rPr lang="en-US" sz="3600" b="0" i="0" dirty="0" smtClean="0">
                <a:solidFill>
                  <a:srgbClr val="252525"/>
                </a:solidFill>
                <a:effectLst/>
                <a:latin typeface="Times New Roman" panose="02020603050405020304" pitchFamily="18" charset="0"/>
                <a:cs typeface="Times New Roman" panose="02020603050405020304" pitchFamily="18" charset="0"/>
              </a:rPr>
              <a:t>                                                                                                                                                            </a:t>
            </a:r>
            <a:endParaRPr lang="en-US" sz="3600" b="0" i="0" dirty="0">
              <a:solidFill>
                <a:srgbClr val="252525"/>
              </a:solidFill>
              <a:effectLst/>
              <a:latin typeface="Times New Roman" panose="02020603050405020304" pitchFamily="18" charset="0"/>
              <a:cs typeface="Times New Roman" panose="02020603050405020304" pitchFamily="18" charset="0"/>
            </a:endParaRPr>
          </a:p>
          <a:p>
            <a:r>
              <a:rPr lang="en-US" sz="3600" b="0" i="0" dirty="0">
                <a:solidFill>
                  <a:srgbClr val="252525"/>
                </a:solidFill>
                <a:effectLst/>
                <a:latin typeface="Times New Roman" panose="02020603050405020304" pitchFamily="18" charset="0"/>
                <a:cs typeface="Times New Roman" panose="02020603050405020304" pitchFamily="18" charset="0"/>
              </a:rPr>
              <a:t>High salinity may cause mammals to change behaviors, seek freshwater sources, or reduce activity. </a:t>
            </a:r>
            <a:endParaRPr lang="en-US" sz="3600" b="0" i="0" dirty="0" smtClean="0">
              <a:solidFill>
                <a:srgbClr val="252525"/>
              </a:solidFill>
              <a:effectLst/>
              <a:latin typeface="Times New Roman" panose="02020603050405020304" pitchFamily="18" charset="0"/>
              <a:cs typeface="Times New Roman" panose="02020603050405020304" pitchFamily="18" charset="0"/>
            </a:endParaRPr>
          </a:p>
          <a:p>
            <a:pPr marL="0" indent="0">
              <a:buNone/>
            </a:pPr>
            <a:endParaRPr lang="en-US" sz="3600" b="0" i="0" dirty="0">
              <a:solidFill>
                <a:srgbClr val="252525"/>
              </a:solidFill>
              <a:effectLst/>
              <a:latin typeface="Times New Roman" panose="02020603050405020304" pitchFamily="18" charset="0"/>
              <a:cs typeface="Times New Roman" panose="02020603050405020304" pitchFamily="18" charset="0"/>
            </a:endParaRPr>
          </a:p>
          <a:p>
            <a:r>
              <a:rPr lang="en-US" sz="3600" b="0" i="0" dirty="0">
                <a:solidFill>
                  <a:srgbClr val="252525"/>
                </a:solidFill>
                <a:effectLst/>
                <a:latin typeface="Times New Roman" panose="02020603050405020304" pitchFamily="18" charset="0"/>
                <a:cs typeface="Times New Roman" panose="02020603050405020304" pitchFamily="18" charset="0"/>
              </a:rPr>
              <a:t>Excessive salt intake disrupts electrolyte balance, affecting nerve and muscle function, affecting sodium and potassium levels. </a:t>
            </a:r>
            <a:r>
              <a:rPr lang="en-US" sz="3200" b="0" i="0" dirty="0">
                <a:solidFill>
                  <a:srgbClr val="252525"/>
                </a:solidFill>
                <a:effectLst/>
                <a:latin typeface="Open Sans" panose="020B0606030504020204" pitchFamily="34" charset="0"/>
              </a:rPr>
              <a:t>                                                                        </a:t>
            </a:r>
          </a:p>
          <a:p>
            <a:pPr marL="0" indent="0">
              <a:buNone/>
            </a:pPr>
            <a:r>
              <a:rPr lang="en-US" sz="2400" b="0" i="0" dirty="0">
                <a:solidFill>
                  <a:srgbClr val="252525"/>
                </a:solidFill>
                <a:effectLst/>
                <a:latin typeface="Open Sans" panose="020B0606030504020204" pitchFamily="34" charset="0"/>
              </a:rPr>
              <a:t>                                                                                                                           </a:t>
            </a:r>
          </a:p>
        </p:txBody>
      </p:sp>
      <p:sp>
        <p:nvSpPr>
          <p:cNvPr id="7" name="TextBox 6">
            <a:extLst>
              <a:ext uri="{FF2B5EF4-FFF2-40B4-BE49-F238E27FC236}">
                <a16:creationId xmlns:a16="http://schemas.microsoft.com/office/drawing/2014/main" xmlns="" id="{0366964A-8369-6E5D-4A80-80047A970004}"/>
              </a:ext>
            </a:extLst>
          </p:cNvPr>
          <p:cNvSpPr txBox="1"/>
          <p:nvPr/>
        </p:nvSpPr>
        <p:spPr>
          <a:xfrm>
            <a:off x="5640148" y="2973823"/>
            <a:ext cx="65" cy="276999"/>
          </a:xfrm>
          <a:prstGeom prst="rect">
            <a:avLst/>
          </a:prstGeom>
          <a:noFill/>
        </p:spPr>
        <p:txBody>
          <a:bodyPr wrap="none" lIns="0" tIns="0" rIns="0" bIns="0" rtlCol="0">
            <a:spAutoFit/>
          </a:bodyPr>
          <a:lstStyle/>
          <a:p>
            <a:endParaRPr lang="en-US" dirty="0"/>
          </a:p>
        </p:txBody>
      </p:sp>
      <p:sp>
        <p:nvSpPr>
          <p:cNvPr id="10" name="Rectangle: Rounded Corners 9">
            <a:extLst>
              <a:ext uri="{FF2B5EF4-FFF2-40B4-BE49-F238E27FC236}">
                <a16:creationId xmlns:a16="http://schemas.microsoft.com/office/drawing/2014/main" xmlns="" id="{666A1EE1-5AFC-01D1-0BAE-00CC27C4624F}"/>
              </a:ext>
            </a:extLst>
          </p:cNvPr>
          <p:cNvSpPr/>
          <p:nvPr/>
        </p:nvSpPr>
        <p:spPr>
          <a:xfrm flipV="1">
            <a:off x="356050" y="1540319"/>
            <a:ext cx="8253876" cy="45719"/>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xmlns="" id="{499DE18B-AE34-95BD-1E7D-9CF8A025E6DF}"/>
              </a:ext>
            </a:extLst>
          </p:cNvPr>
          <p:cNvSpPr/>
          <p:nvPr/>
        </p:nvSpPr>
        <p:spPr>
          <a:xfrm>
            <a:off x="11806280" y="0"/>
            <a:ext cx="385720" cy="106814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xmlns="" id="{C6BCF26D-3BD1-AA11-770C-250AC314FE7D}"/>
              </a:ext>
            </a:extLst>
          </p:cNvPr>
          <p:cNvSpPr/>
          <p:nvPr/>
        </p:nvSpPr>
        <p:spPr>
          <a:xfrm rot="10800000">
            <a:off x="11247926" y="-4"/>
            <a:ext cx="364144" cy="85775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xmlns="" id="{51FA8687-0276-1C96-83BE-FA3C74765F4F}"/>
              </a:ext>
            </a:extLst>
          </p:cNvPr>
          <p:cNvSpPr txBox="1"/>
          <p:nvPr/>
        </p:nvSpPr>
        <p:spPr>
          <a:xfrm rot="10800000" flipV="1">
            <a:off x="10721947" y="6465089"/>
            <a:ext cx="299405" cy="400110"/>
          </a:xfrm>
          <a:prstGeom prst="rect">
            <a:avLst/>
          </a:prstGeom>
          <a:solidFill>
            <a:schemeClr val="accent6">
              <a:lumMod val="50000"/>
            </a:schemeClr>
          </a:solidFill>
        </p:spPr>
        <p:txBody>
          <a:bodyPr wrap="square" rtlCol="0">
            <a:spAutoFit/>
          </a:bodyPr>
          <a:lstStyle/>
          <a:p>
            <a:r>
              <a:rPr lang="en-US" sz="2000" kern="1200" dirty="0">
                <a:solidFill>
                  <a:schemeClr val="bg1"/>
                </a:solidFill>
                <a:latin typeface="Garamond" panose="02020404030301010803" pitchFamily="18" charset="0"/>
              </a:rPr>
              <a:t>4</a:t>
            </a:r>
          </a:p>
        </p:txBody>
      </p:sp>
    </p:spTree>
    <p:extLst>
      <p:ext uri="{BB962C8B-B14F-4D97-AF65-F5344CB8AC3E}">
        <p14:creationId xmlns:p14="http://schemas.microsoft.com/office/powerpoint/2010/main" val="36286052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45109CE1-4241-A329-47F2-6C9A5AE07373}"/>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IMPACTS OF HIGH SALINITY ON MAMMALS</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CONT’D</a:t>
            </a:r>
          </a:p>
        </p:txBody>
      </p:sp>
      <p:sp>
        <p:nvSpPr>
          <p:cNvPr id="6" name="Text Placeholder 5">
            <a:extLst>
              <a:ext uri="{FF2B5EF4-FFF2-40B4-BE49-F238E27FC236}">
                <a16:creationId xmlns:a16="http://schemas.microsoft.com/office/drawing/2014/main" xmlns="" id="{458E6268-4C09-C8E9-063D-13D283BD6DB9}"/>
              </a:ext>
            </a:extLst>
          </p:cNvPr>
          <p:cNvSpPr>
            <a:spLocks noGrp="1"/>
          </p:cNvSpPr>
          <p:nvPr>
            <p:ph idx="1"/>
          </p:nvPr>
        </p:nvSpPr>
        <p:spPr/>
        <p:txBody>
          <a:bodyPr>
            <a:normAutofit/>
          </a:bodyPr>
          <a:lstStyle/>
          <a:p>
            <a:r>
              <a:rPr lang="en-US" sz="3600" b="0" i="0" dirty="0">
                <a:solidFill>
                  <a:srgbClr val="252525"/>
                </a:solidFill>
                <a:effectLst/>
                <a:latin typeface="Times New Roman" panose="02020603050405020304" pitchFamily="18" charset="0"/>
                <a:cs typeface="Times New Roman" panose="02020603050405020304" pitchFamily="18" charset="0"/>
              </a:rPr>
              <a:t>Mammals' kidneys regulate water and salt balance; high salinity strains them, impairing excretion and causing kidney dysfunction. </a:t>
            </a:r>
            <a:endParaRPr lang="en-US" sz="3600" b="0" i="0" dirty="0" smtClean="0">
              <a:solidFill>
                <a:srgbClr val="252525"/>
              </a:solidFill>
              <a:effectLst/>
              <a:latin typeface="Times New Roman" panose="02020603050405020304" pitchFamily="18" charset="0"/>
              <a:cs typeface="Times New Roman" panose="02020603050405020304" pitchFamily="18" charset="0"/>
            </a:endParaRPr>
          </a:p>
          <a:p>
            <a:pPr marL="0" indent="0">
              <a:buNone/>
            </a:pPr>
            <a:r>
              <a:rPr lang="en-US" sz="3600" b="0" i="0" dirty="0" smtClean="0">
                <a:solidFill>
                  <a:srgbClr val="252525"/>
                </a:solidFill>
                <a:effectLst/>
                <a:latin typeface="Times New Roman" panose="02020603050405020304" pitchFamily="18" charset="0"/>
                <a:cs typeface="Times New Roman" panose="02020603050405020304" pitchFamily="18" charset="0"/>
              </a:rPr>
              <a:t>                             </a:t>
            </a:r>
            <a:endParaRPr lang="en-US" sz="3600" b="0" i="0" dirty="0">
              <a:solidFill>
                <a:srgbClr val="252525"/>
              </a:solidFill>
              <a:effectLst/>
              <a:latin typeface="Times New Roman" panose="02020603050405020304" pitchFamily="18" charset="0"/>
              <a:cs typeface="Times New Roman" panose="02020603050405020304" pitchFamily="18" charset="0"/>
            </a:endParaRPr>
          </a:p>
          <a:p>
            <a:r>
              <a:rPr lang="en-US" sz="3600" b="0" i="0" dirty="0">
                <a:solidFill>
                  <a:srgbClr val="252525"/>
                </a:solidFill>
                <a:effectLst/>
                <a:latin typeface="Times New Roman" panose="02020603050405020304" pitchFamily="18" charset="0"/>
                <a:cs typeface="Times New Roman" panose="02020603050405020304" pitchFamily="18" charset="0"/>
              </a:rPr>
              <a:t>High salinity environments cause increased competition and aggression, leading to foraging.</a:t>
            </a:r>
            <a:endParaRPr lang="en-US" sz="3600" dirty="0">
              <a:latin typeface="Times New Roman" panose="02020603050405020304" pitchFamily="18" charset="0"/>
              <a:ea typeface="Gadugi" panose="020B0502040204020203"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xmlns="" id="{0366964A-8369-6E5D-4A80-80047A970004}"/>
              </a:ext>
            </a:extLst>
          </p:cNvPr>
          <p:cNvSpPr txBox="1"/>
          <p:nvPr/>
        </p:nvSpPr>
        <p:spPr>
          <a:xfrm>
            <a:off x="5640148" y="2973823"/>
            <a:ext cx="65" cy="276999"/>
          </a:xfrm>
          <a:prstGeom prst="rect">
            <a:avLst/>
          </a:prstGeom>
          <a:noFill/>
        </p:spPr>
        <p:txBody>
          <a:bodyPr wrap="none" lIns="0" tIns="0" rIns="0" bIns="0" rtlCol="0">
            <a:spAutoFit/>
          </a:bodyPr>
          <a:lstStyle/>
          <a:p>
            <a:endParaRPr lang="en-US" dirty="0"/>
          </a:p>
        </p:txBody>
      </p:sp>
      <p:sp>
        <p:nvSpPr>
          <p:cNvPr id="10" name="Rectangle: Rounded Corners 9">
            <a:extLst>
              <a:ext uri="{FF2B5EF4-FFF2-40B4-BE49-F238E27FC236}">
                <a16:creationId xmlns:a16="http://schemas.microsoft.com/office/drawing/2014/main" xmlns="" id="{666A1EE1-5AFC-01D1-0BAE-00CC27C4624F}"/>
              </a:ext>
            </a:extLst>
          </p:cNvPr>
          <p:cNvSpPr/>
          <p:nvPr/>
        </p:nvSpPr>
        <p:spPr>
          <a:xfrm flipV="1">
            <a:off x="356050" y="1540319"/>
            <a:ext cx="8253876" cy="45719"/>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xmlns="" id="{499DE18B-AE34-95BD-1E7D-9CF8A025E6DF}"/>
              </a:ext>
            </a:extLst>
          </p:cNvPr>
          <p:cNvSpPr/>
          <p:nvPr/>
        </p:nvSpPr>
        <p:spPr>
          <a:xfrm>
            <a:off x="11806280" y="0"/>
            <a:ext cx="385720" cy="106814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xmlns="" id="{C6BCF26D-3BD1-AA11-770C-250AC314FE7D}"/>
              </a:ext>
            </a:extLst>
          </p:cNvPr>
          <p:cNvSpPr/>
          <p:nvPr/>
        </p:nvSpPr>
        <p:spPr>
          <a:xfrm rot="10800000">
            <a:off x="11247926" y="-4"/>
            <a:ext cx="364144" cy="85775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xmlns="" id="{51FA8687-0276-1C96-83BE-FA3C74765F4F}"/>
              </a:ext>
            </a:extLst>
          </p:cNvPr>
          <p:cNvSpPr txBox="1"/>
          <p:nvPr/>
        </p:nvSpPr>
        <p:spPr>
          <a:xfrm rot="10800000" flipV="1">
            <a:off x="10721947" y="6465089"/>
            <a:ext cx="299405" cy="400110"/>
          </a:xfrm>
          <a:prstGeom prst="rect">
            <a:avLst/>
          </a:prstGeom>
          <a:solidFill>
            <a:schemeClr val="accent6">
              <a:lumMod val="50000"/>
            </a:schemeClr>
          </a:solidFill>
        </p:spPr>
        <p:txBody>
          <a:bodyPr wrap="square" rtlCol="0">
            <a:spAutoFit/>
          </a:bodyPr>
          <a:lstStyle/>
          <a:p>
            <a:r>
              <a:rPr lang="en-US" sz="2000" kern="1200" dirty="0">
                <a:solidFill>
                  <a:schemeClr val="bg1"/>
                </a:solidFill>
                <a:latin typeface="Garamond" panose="02020404030301010803" pitchFamily="18" charset="0"/>
              </a:rPr>
              <a:t>5</a:t>
            </a:r>
          </a:p>
        </p:txBody>
      </p:sp>
    </p:spTree>
    <p:extLst>
      <p:ext uri="{BB962C8B-B14F-4D97-AF65-F5344CB8AC3E}">
        <p14:creationId xmlns:p14="http://schemas.microsoft.com/office/powerpoint/2010/main" val="18812163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A150BF-5781-D492-8BD8-9DAC13C82C02}"/>
              </a:ext>
            </a:extLst>
          </p:cNvPr>
          <p:cNvSpPr>
            <a:spLocks noGrp="1"/>
          </p:cNvSpPr>
          <p:nvPr>
            <p:ph type="title"/>
          </p:nvPr>
        </p:nvSpPr>
        <p:spPr>
          <a:xfrm>
            <a:off x="125643" y="1367553"/>
            <a:ext cx="7913457" cy="1278543"/>
          </a:xfrm>
        </p:spPr>
        <p:txBody>
          <a:bodyPr>
            <a:noAutofit/>
          </a:bodyPr>
          <a:lstStyle/>
          <a:p>
            <a:r>
              <a:rPr lang="en-US" sz="3600" b="1" dirty="0">
                <a:effectLst/>
                <a:latin typeface="Garamond" panose="02020404030301010803" pitchFamily="18" charset="0"/>
                <a:ea typeface="Times New Roman" panose="02020603050405020304" pitchFamily="18" charset="0"/>
                <a:cs typeface="Times New Roman" panose="02020603050405020304" pitchFamily="18" charset="0"/>
              </a:rPr>
              <a:t>PHYSIOLOGICAL ADAPTATIONS</a:t>
            </a:r>
            <a:br>
              <a:rPr lang="en-US" sz="3600" b="1" dirty="0">
                <a:effectLst/>
                <a:latin typeface="Garamond" panose="02020404030301010803" pitchFamily="18" charset="0"/>
                <a:ea typeface="Times New Roman" panose="02020603050405020304" pitchFamily="18" charset="0"/>
                <a:cs typeface="Times New Roman" panose="02020603050405020304" pitchFamily="18" charset="0"/>
              </a:rPr>
            </a:br>
            <a:endParaRPr lang="en-US" sz="3600" b="1" dirty="0">
              <a:latin typeface="Garamond" panose="02020404030301010803" pitchFamily="18" charset="0"/>
            </a:endParaRPr>
          </a:p>
        </p:txBody>
      </p:sp>
      <p:sp>
        <p:nvSpPr>
          <p:cNvPr id="4" name="Text Placeholder 3">
            <a:extLst>
              <a:ext uri="{FF2B5EF4-FFF2-40B4-BE49-F238E27FC236}">
                <a16:creationId xmlns:a16="http://schemas.microsoft.com/office/drawing/2014/main" xmlns="" id="{96C054F6-BC1A-ADF1-80A6-144318A67F20}"/>
              </a:ext>
            </a:extLst>
          </p:cNvPr>
          <p:cNvSpPr>
            <a:spLocks noGrp="1"/>
          </p:cNvSpPr>
          <p:nvPr>
            <p:ph type="body" sz="half" idx="2"/>
          </p:nvPr>
        </p:nvSpPr>
        <p:spPr>
          <a:xfrm>
            <a:off x="291313" y="3010237"/>
            <a:ext cx="4677197" cy="3212538"/>
          </a:xfrm>
        </p:spPr>
        <p:txBody>
          <a:bodyPr>
            <a:normAutofit/>
          </a:bodyPr>
          <a:lstStyle/>
          <a:p>
            <a:pPr marL="571500" indent="-571500">
              <a:buFont typeface="Arial" panose="020B0604020202020204" pitchFamily="34" charset="0"/>
              <a:buChar char="•"/>
            </a:pPr>
            <a:r>
              <a:rPr lang="en-GB" sz="3200" i="0" dirty="0">
                <a:effectLst/>
                <a:latin typeface="Times New Roman" panose="02020603050405020304" pitchFamily="18" charset="0"/>
                <a:cs typeface="Times New Roman" panose="02020603050405020304" pitchFamily="18" charset="0"/>
              </a:rPr>
              <a:t>Efficient kidney function</a:t>
            </a:r>
            <a:r>
              <a:rPr lang="en-GB" sz="3200" b="1" i="0" dirty="0">
                <a:effectLst/>
                <a:latin typeface="Times New Roman" panose="02020603050405020304" pitchFamily="18" charset="0"/>
                <a:cs typeface="Times New Roman" panose="02020603050405020304" pitchFamily="18" charset="0"/>
              </a:rPr>
              <a:t> </a:t>
            </a:r>
          </a:p>
          <a:p>
            <a:pPr marL="571500" indent="-571500">
              <a:buFont typeface="Arial" panose="020B0604020202020204" pitchFamily="34" charset="0"/>
              <a:buChar char="•"/>
            </a:pPr>
            <a:r>
              <a:rPr lang="en-GB" sz="3200" i="0" dirty="0">
                <a:effectLst/>
                <a:latin typeface="Times New Roman" panose="02020603050405020304" pitchFamily="18" charset="0"/>
                <a:cs typeface="Times New Roman" panose="02020603050405020304" pitchFamily="18" charset="0"/>
              </a:rPr>
              <a:t>Salt glands                        </a:t>
            </a:r>
          </a:p>
          <a:p>
            <a:pPr marL="571500" indent="-571500">
              <a:buFont typeface="Arial" panose="020B0604020202020204" pitchFamily="34" charset="0"/>
              <a:buChar char="•"/>
            </a:pPr>
            <a:r>
              <a:rPr lang="en-GB" sz="3200" i="0" dirty="0">
                <a:effectLst/>
                <a:latin typeface="Times New Roman" panose="02020603050405020304" pitchFamily="18" charset="0"/>
                <a:cs typeface="Times New Roman" panose="02020603050405020304" pitchFamily="18" charset="0"/>
              </a:rPr>
              <a:t>Limited Sweat Glands</a:t>
            </a:r>
            <a:r>
              <a:rPr lang="en-US" sz="3200" b="1" i="0" dirty="0">
                <a:effectLst/>
                <a:latin typeface="Times New Roman" panose="02020603050405020304" pitchFamily="18" charset="0"/>
                <a:cs typeface="Times New Roman" panose="02020603050405020304" pitchFamily="18" charset="0"/>
              </a:rPr>
              <a:t> </a:t>
            </a:r>
          </a:p>
          <a:p>
            <a:pPr marL="571500" indent="-571500">
              <a:buFont typeface="Arial" panose="020B0604020202020204" pitchFamily="34" charset="0"/>
              <a:buChar char="•"/>
            </a:pPr>
            <a:r>
              <a:rPr lang="en-US" sz="3200" i="0" dirty="0">
                <a:effectLst/>
                <a:latin typeface="Times New Roman" panose="02020603050405020304" pitchFamily="18" charset="0"/>
                <a:cs typeface="Times New Roman" panose="02020603050405020304" pitchFamily="18" charset="0"/>
              </a:rPr>
              <a:t>Concentrated Saliva:</a:t>
            </a:r>
            <a:r>
              <a:rPr lang="en-US" sz="3200" i="0" dirty="0">
                <a:solidFill>
                  <a:srgbClr val="374151"/>
                </a:solidFill>
                <a:effectLst/>
                <a:latin typeface="Söhne"/>
              </a:rPr>
              <a:t> </a:t>
            </a:r>
            <a:endParaRPr lang="en-US" sz="3200" dirty="0"/>
          </a:p>
        </p:txBody>
      </p:sp>
      <p:sp>
        <p:nvSpPr>
          <p:cNvPr id="5" name="Rectangle: Rounded Corners 4">
            <a:extLst>
              <a:ext uri="{FF2B5EF4-FFF2-40B4-BE49-F238E27FC236}">
                <a16:creationId xmlns:a16="http://schemas.microsoft.com/office/drawing/2014/main" xmlns="" id="{FE118721-E7C0-2BB3-82A9-665306F064EB}"/>
              </a:ext>
            </a:extLst>
          </p:cNvPr>
          <p:cNvSpPr/>
          <p:nvPr/>
        </p:nvSpPr>
        <p:spPr>
          <a:xfrm>
            <a:off x="11960028" y="0"/>
            <a:ext cx="231972" cy="6858000"/>
          </a:xfrm>
          <a:prstGeom prst="roundRect">
            <a:avLst>
              <a:gd name="adj" fmla="val 0"/>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xmlns="" id="{DAEAAB1B-FA7C-B509-1418-1649304ACADA}"/>
              </a:ext>
            </a:extLst>
          </p:cNvPr>
          <p:cNvSpPr/>
          <p:nvPr/>
        </p:nvSpPr>
        <p:spPr>
          <a:xfrm>
            <a:off x="244305" y="2338351"/>
            <a:ext cx="4502199" cy="48862"/>
          </a:xfrm>
          <a:prstGeom prst="roundRect">
            <a:avLst>
              <a:gd name="adj" fmla="val 0"/>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xmlns="" id="{3B906A0A-F638-65BB-D687-9D5512A499C0}"/>
              </a:ext>
            </a:extLst>
          </p:cNvPr>
          <p:cNvSpPr/>
          <p:nvPr/>
        </p:nvSpPr>
        <p:spPr>
          <a:xfrm>
            <a:off x="10552015" y="3212538"/>
            <a:ext cx="1464658" cy="331774"/>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xmlns="" id="{E783E11E-A712-7F83-1A40-529112B2A4B1}"/>
              </a:ext>
            </a:extLst>
          </p:cNvPr>
          <p:cNvSpPr/>
          <p:nvPr/>
        </p:nvSpPr>
        <p:spPr>
          <a:xfrm>
            <a:off x="267037" y="679731"/>
            <a:ext cx="194209" cy="857756"/>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8E14BAE3-6771-25B9-9EDB-AAD325FBE591}"/>
              </a:ext>
            </a:extLst>
          </p:cNvPr>
          <p:cNvSpPr/>
          <p:nvPr/>
        </p:nvSpPr>
        <p:spPr>
          <a:xfrm>
            <a:off x="0" y="647363"/>
            <a:ext cx="218485" cy="99531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xmlns="" id="{120E9D2F-0410-C009-CFE6-D6A658631188}"/>
              </a:ext>
            </a:extLst>
          </p:cNvPr>
          <p:cNvSpPr txBox="1"/>
          <p:nvPr/>
        </p:nvSpPr>
        <p:spPr>
          <a:xfrm>
            <a:off x="6652237" y="5853443"/>
            <a:ext cx="3973190" cy="369332"/>
          </a:xfrm>
          <a:prstGeom prst="rect">
            <a:avLst/>
          </a:prstGeom>
          <a:noFill/>
        </p:spPr>
        <p:txBody>
          <a:bodyPr wrap="square" rtlCol="0">
            <a:spAutoFit/>
          </a:bodyPr>
          <a:lstStyle/>
          <a:p>
            <a:r>
              <a:rPr lang="en-US" dirty="0"/>
              <a:t>Fig.1 </a:t>
            </a:r>
            <a:r>
              <a:rPr lang="en-GB" b="0" i="0" dirty="0">
                <a:solidFill>
                  <a:srgbClr val="374151"/>
                </a:solidFill>
                <a:effectLst/>
                <a:latin typeface="Söhne"/>
              </a:rPr>
              <a:t>Sea Otter</a:t>
            </a:r>
            <a:endParaRPr lang="en-US" sz="1800" kern="1200" dirty="0">
              <a:solidFill>
                <a:schemeClr val="tx1"/>
              </a:solidFill>
              <a:latin typeface="+mn-lt"/>
              <a:ea typeface="+mn-ea"/>
              <a:cs typeface="+mn-cs"/>
            </a:endParaRPr>
          </a:p>
        </p:txBody>
      </p:sp>
      <p:sp>
        <p:nvSpPr>
          <p:cNvPr id="8" name="TextBox 7">
            <a:extLst>
              <a:ext uri="{FF2B5EF4-FFF2-40B4-BE49-F238E27FC236}">
                <a16:creationId xmlns:a16="http://schemas.microsoft.com/office/drawing/2014/main" xmlns="" id="{76C6D6D8-1847-F191-D91C-FBC0D829ABAE}"/>
              </a:ext>
            </a:extLst>
          </p:cNvPr>
          <p:cNvSpPr txBox="1"/>
          <p:nvPr/>
        </p:nvSpPr>
        <p:spPr>
          <a:xfrm rot="10800000" flipV="1">
            <a:off x="10721947" y="6465089"/>
            <a:ext cx="299405" cy="400110"/>
          </a:xfrm>
          <a:prstGeom prst="rect">
            <a:avLst/>
          </a:prstGeom>
          <a:solidFill>
            <a:schemeClr val="accent6">
              <a:lumMod val="50000"/>
            </a:schemeClr>
          </a:solidFill>
        </p:spPr>
        <p:txBody>
          <a:bodyPr wrap="square" rtlCol="0">
            <a:spAutoFit/>
          </a:bodyPr>
          <a:lstStyle/>
          <a:p>
            <a:r>
              <a:rPr lang="en-US" sz="2000" kern="1200" dirty="0">
                <a:solidFill>
                  <a:schemeClr val="bg1"/>
                </a:solidFill>
                <a:latin typeface="Garamond" panose="02020404030301010803" pitchFamily="18" charset="0"/>
              </a:rPr>
              <a:t>6</a:t>
            </a:r>
          </a:p>
        </p:txBody>
      </p:sp>
      <p:pic>
        <p:nvPicPr>
          <p:cNvPr id="15" name="Picture 14">
            <a:extLst>
              <a:ext uri="{FF2B5EF4-FFF2-40B4-BE49-F238E27FC236}">
                <a16:creationId xmlns:a16="http://schemas.microsoft.com/office/drawing/2014/main" xmlns="" id="{2C07357E-5963-0A52-4C3B-BAC2B93A12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8050" y="2646096"/>
            <a:ext cx="5238637" cy="3017652"/>
          </a:xfrm>
          <a:prstGeom prst="rect">
            <a:avLst/>
          </a:prstGeom>
          <a:ln>
            <a:noFill/>
          </a:ln>
          <a:effectLst>
            <a:softEdge rad="112500"/>
          </a:effectLst>
        </p:spPr>
      </p:pic>
    </p:spTree>
    <p:extLst>
      <p:ext uri="{BB962C8B-B14F-4D97-AF65-F5344CB8AC3E}">
        <p14:creationId xmlns:p14="http://schemas.microsoft.com/office/powerpoint/2010/main" val="1550775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74C48193-87E1-FCAA-CCB4-D2EA0A5A7DC4}"/>
              </a:ext>
            </a:extLst>
          </p:cNvPr>
          <p:cNvSpPr>
            <a:spLocks noGrp="1"/>
          </p:cNvSpPr>
          <p:nvPr>
            <p:ph type="title"/>
          </p:nvPr>
        </p:nvSpPr>
        <p:spPr>
          <a:xfrm>
            <a:off x="378543" y="1229989"/>
            <a:ext cx="7860582" cy="1011504"/>
          </a:xfrm>
        </p:spPr>
        <p:txBody>
          <a:bodyPr>
            <a:noAutofit/>
          </a:bodyPr>
          <a:lstStyle/>
          <a:p>
            <a:r>
              <a:rPr lang="en-US" b="1" dirty="0">
                <a:latin typeface="Garamond" panose="02020404030301010803" pitchFamily="18" charset="0"/>
              </a:rPr>
              <a:t>BEHAVIORAL ADAPTATIONS</a:t>
            </a:r>
            <a:endParaRPr lang="en-US" b="1" dirty="0"/>
          </a:p>
        </p:txBody>
      </p:sp>
      <p:sp>
        <p:nvSpPr>
          <p:cNvPr id="7" name="Text Placeholder 6">
            <a:extLst>
              <a:ext uri="{FF2B5EF4-FFF2-40B4-BE49-F238E27FC236}">
                <a16:creationId xmlns:a16="http://schemas.microsoft.com/office/drawing/2014/main" xmlns="" id="{8FE88404-4476-7096-C545-0B6E790FB92C}"/>
              </a:ext>
            </a:extLst>
          </p:cNvPr>
          <p:cNvSpPr>
            <a:spLocks noGrp="1"/>
          </p:cNvSpPr>
          <p:nvPr>
            <p:ph type="body" sz="half" idx="2"/>
          </p:nvPr>
        </p:nvSpPr>
        <p:spPr>
          <a:xfrm>
            <a:off x="210393" y="2945502"/>
            <a:ext cx="4741932" cy="3544311"/>
          </a:xfrm>
        </p:spPr>
        <p:txBody>
          <a:bodyPr>
            <a:noAutofit/>
          </a:bodyPr>
          <a:lstStyle/>
          <a:p>
            <a:pPr marL="457200" indent="-457200">
              <a:buFont typeface="Arial" panose="020B0604020202020204" pitchFamily="34" charset="0"/>
              <a:buChar char="•"/>
            </a:pPr>
            <a:r>
              <a:rPr lang="en-GB" sz="3200" i="0" dirty="0">
                <a:effectLst/>
                <a:latin typeface="Times New Roman" panose="02020603050405020304" pitchFamily="18" charset="0"/>
                <a:cs typeface="Times New Roman" panose="02020603050405020304" pitchFamily="18" charset="0"/>
              </a:rPr>
              <a:t>Seeking freshwater sources</a:t>
            </a:r>
            <a:endParaRPr 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GB" sz="3200" i="0" dirty="0">
                <a:effectLst/>
                <a:latin typeface="Times New Roman" panose="02020603050405020304" pitchFamily="18" charset="0"/>
                <a:cs typeface="Times New Roman" panose="02020603050405020304" pitchFamily="18" charset="0"/>
              </a:rPr>
              <a:t>Changing habitat</a:t>
            </a:r>
            <a:endParaRPr 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GB" sz="3200" i="0" dirty="0">
                <a:effectLst/>
                <a:latin typeface="Times New Roman" panose="02020603050405020304" pitchFamily="18" charset="0"/>
                <a:cs typeface="Times New Roman" panose="02020603050405020304" pitchFamily="18" charset="0"/>
              </a:rPr>
              <a:t>Obtaining water from prey</a:t>
            </a:r>
            <a:endParaRPr lang="en-US" sz="3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 </a:t>
            </a:r>
            <a:r>
              <a:rPr lang="en-US" sz="3200" i="0" dirty="0">
                <a:effectLst/>
                <a:latin typeface="Times New Roman" panose="02020603050405020304" pitchFamily="18" charset="0"/>
                <a:cs typeface="Times New Roman" panose="02020603050405020304" pitchFamily="18" charset="0"/>
              </a:rPr>
              <a:t>Conserving body heat and water during dives</a:t>
            </a:r>
            <a:endParaRPr lang="en-US" sz="32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xmlns="" id="{3205814D-7B2E-4CCC-6954-2181EB78B5E3}"/>
              </a:ext>
            </a:extLst>
          </p:cNvPr>
          <p:cNvSpPr/>
          <p:nvPr/>
        </p:nvSpPr>
        <p:spPr>
          <a:xfrm>
            <a:off x="0" y="647363"/>
            <a:ext cx="218485" cy="99531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xmlns="" id="{C4AAA108-9606-9010-A3EE-F11E85170C98}"/>
              </a:ext>
            </a:extLst>
          </p:cNvPr>
          <p:cNvSpPr/>
          <p:nvPr/>
        </p:nvSpPr>
        <p:spPr>
          <a:xfrm>
            <a:off x="267037" y="679731"/>
            <a:ext cx="194209" cy="857756"/>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xmlns="" id="{4A55165A-3392-1BFB-DD21-348CDF28403A}"/>
              </a:ext>
            </a:extLst>
          </p:cNvPr>
          <p:cNvSpPr/>
          <p:nvPr/>
        </p:nvSpPr>
        <p:spPr>
          <a:xfrm>
            <a:off x="11960028" y="0"/>
            <a:ext cx="231972" cy="6858000"/>
          </a:xfrm>
          <a:prstGeom prst="roundRect">
            <a:avLst>
              <a:gd name="adj" fmla="val 0"/>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xmlns="" id="{92890D0A-16CF-A174-407E-58AF0892E365}"/>
              </a:ext>
            </a:extLst>
          </p:cNvPr>
          <p:cNvSpPr/>
          <p:nvPr/>
        </p:nvSpPr>
        <p:spPr>
          <a:xfrm>
            <a:off x="10552015" y="3212538"/>
            <a:ext cx="1464658" cy="331774"/>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xmlns="" id="{0B3C84F1-C273-1E5E-2D97-3528A02E088A}"/>
              </a:ext>
            </a:extLst>
          </p:cNvPr>
          <p:cNvSpPr txBox="1"/>
          <p:nvPr/>
        </p:nvSpPr>
        <p:spPr>
          <a:xfrm>
            <a:off x="5882911" y="5664425"/>
            <a:ext cx="5162718" cy="369332"/>
          </a:xfrm>
          <a:prstGeom prst="rect">
            <a:avLst/>
          </a:prstGeom>
          <a:noFill/>
        </p:spPr>
        <p:txBody>
          <a:bodyPr wrap="square" rtlCol="0">
            <a:spAutoFit/>
          </a:bodyPr>
          <a:lstStyle/>
          <a:p>
            <a:r>
              <a:rPr lang="en-US" dirty="0"/>
              <a:t>Fig.2</a:t>
            </a:r>
            <a:endParaRPr lang="en-US" sz="1800" kern="1200" dirty="0">
              <a:solidFill>
                <a:schemeClr val="tx1"/>
              </a:solidFill>
              <a:latin typeface="+mn-lt"/>
              <a:ea typeface="+mn-ea"/>
              <a:cs typeface="+mn-cs"/>
            </a:endParaRPr>
          </a:p>
        </p:txBody>
      </p:sp>
      <p:sp>
        <p:nvSpPr>
          <p:cNvPr id="9" name="Rectangle: Rounded Corners 8">
            <a:extLst>
              <a:ext uri="{FF2B5EF4-FFF2-40B4-BE49-F238E27FC236}">
                <a16:creationId xmlns:a16="http://schemas.microsoft.com/office/drawing/2014/main" xmlns="" id="{734C8A75-7274-A5CE-DC7E-190F0F12A80B}"/>
              </a:ext>
            </a:extLst>
          </p:cNvPr>
          <p:cNvSpPr/>
          <p:nvPr/>
        </p:nvSpPr>
        <p:spPr>
          <a:xfrm>
            <a:off x="244305" y="2338351"/>
            <a:ext cx="4502199" cy="48862"/>
          </a:xfrm>
          <a:prstGeom prst="roundRect">
            <a:avLst>
              <a:gd name="adj" fmla="val 0"/>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xmlns="" id="{9E1228CA-82C8-50EA-F4F0-2601D5596B0D}"/>
              </a:ext>
            </a:extLst>
          </p:cNvPr>
          <p:cNvSpPr txBox="1"/>
          <p:nvPr/>
        </p:nvSpPr>
        <p:spPr>
          <a:xfrm rot="10800000" flipV="1">
            <a:off x="10721947" y="6465089"/>
            <a:ext cx="299405" cy="400110"/>
          </a:xfrm>
          <a:prstGeom prst="rect">
            <a:avLst/>
          </a:prstGeom>
          <a:solidFill>
            <a:schemeClr val="accent6">
              <a:lumMod val="50000"/>
            </a:schemeClr>
          </a:solidFill>
        </p:spPr>
        <p:txBody>
          <a:bodyPr wrap="square" rtlCol="0">
            <a:spAutoFit/>
          </a:bodyPr>
          <a:lstStyle/>
          <a:p>
            <a:r>
              <a:rPr lang="en-US" sz="2000" kern="1200" dirty="0">
                <a:solidFill>
                  <a:schemeClr val="bg1"/>
                </a:solidFill>
                <a:latin typeface="Garamond" panose="02020404030301010803" pitchFamily="18" charset="0"/>
              </a:rPr>
              <a:t>7</a:t>
            </a:r>
          </a:p>
        </p:txBody>
      </p:sp>
      <p:pic>
        <p:nvPicPr>
          <p:cNvPr id="12" name="Picture 11">
            <a:extLst>
              <a:ext uri="{FF2B5EF4-FFF2-40B4-BE49-F238E27FC236}">
                <a16:creationId xmlns:a16="http://schemas.microsoft.com/office/drawing/2014/main" xmlns="" id="{F45EBA3B-93D8-5D06-3388-A17ED74975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2355" y="2420448"/>
            <a:ext cx="5559592" cy="32439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125635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88D7D3-F566-FFEB-16B9-4984B4E6BB0A}"/>
              </a:ext>
            </a:extLst>
          </p:cNvPr>
          <p:cNvSpPr>
            <a:spLocks noGrp="1"/>
          </p:cNvSpPr>
          <p:nvPr>
            <p:ph type="title"/>
          </p:nvPr>
        </p:nvSpPr>
        <p:spPr>
          <a:xfrm>
            <a:off x="380326" y="1157161"/>
            <a:ext cx="5081798" cy="898216"/>
          </a:xfrm>
        </p:spPr>
        <p:txBody>
          <a:bodyPr>
            <a:normAutofit fontScale="90000"/>
          </a:bodyPr>
          <a:lstStyle/>
          <a:p>
            <a:r>
              <a:rPr lang="en-US" sz="3600" b="1" dirty="0">
                <a:latin typeface="Times New Roman" panose="02020603050405020304" pitchFamily="18" charset="0"/>
                <a:cs typeface="Times New Roman" panose="02020603050405020304" pitchFamily="18" charset="0"/>
              </a:rPr>
              <a:t>STRUCTURAL ADAPTATIONS </a:t>
            </a:r>
          </a:p>
        </p:txBody>
      </p:sp>
      <p:sp>
        <p:nvSpPr>
          <p:cNvPr id="4" name="Text Placeholder 3">
            <a:extLst>
              <a:ext uri="{FF2B5EF4-FFF2-40B4-BE49-F238E27FC236}">
                <a16:creationId xmlns:a16="http://schemas.microsoft.com/office/drawing/2014/main" xmlns="" id="{43024AD7-2969-C15B-FFB1-76C1D472824A}"/>
              </a:ext>
            </a:extLst>
          </p:cNvPr>
          <p:cNvSpPr>
            <a:spLocks noGrp="1"/>
          </p:cNvSpPr>
          <p:nvPr>
            <p:ph type="body" sz="half" idx="2"/>
          </p:nvPr>
        </p:nvSpPr>
        <p:spPr>
          <a:xfrm>
            <a:off x="580844" y="2621819"/>
            <a:ext cx="4996996" cy="3768821"/>
          </a:xfrm>
        </p:spPr>
        <p:txBody>
          <a:bodyPr>
            <a:normAutofit/>
          </a:bodyPr>
          <a:lstStyle/>
          <a:p>
            <a:pPr marL="342900" indent="-342900">
              <a:buFont typeface="Arial" panose="020B0604020202020204" pitchFamily="34" charset="0"/>
              <a:buChar char="•"/>
            </a:pPr>
            <a:r>
              <a:rPr lang="en-GB" sz="3600" dirty="0" smtClean="0">
                <a:latin typeface="Times New Roman" panose="02020603050405020304" pitchFamily="18" charset="0"/>
                <a:cs typeface="Times New Roman" panose="02020603050405020304" pitchFamily="18" charset="0"/>
              </a:rPr>
              <a:t>They posses specialized kidneys to produce concentrated urine to conserve water</a:t>
            </a:r>
            <a:r>
              <a:rPr lang="en-GB" sz="3600" i="0" dirty="0" smtClean="0">
                <a:effectLst/>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GB" sz="3600" dirty="0" smtClean="0">
                <a:latin typeface="Times New Roman" panose="02020603050405020304" pitchFamily="18" charset="0"/>
                <a:cs typeface="Times New Roman" panose="02020603050405020304" pitchFamily="18" charset="0"/>
              </a:rPr>
              <a:t>Low permeability of the skin to conserve water loss</a:t>
            </a:r>
            <a:r>
              <a:rPr lang="en-GB" sz="3600" i="0" dirty="0" smtClean="0">
                <a:effectLst/>
                <a:latin typeface="Times New Roman" panose="02020603050405020304" pitchFamily="18" charset="0"/>
                <a:cs typeface="Times New Roman" panose="02020603050405020304" pitchFamily="18" charset="0"/>
              </a:rPr>
              <a:t>              </a:t>
            </a:r>
            <a:endParaRPr lang="en-GB" sz="3600" i="0" dirty="0">
              <a:effectLst/>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xmlns="" id="{18EB247F-88C2-DB9C-947A-C391D40EB5F8}"/>
              </a:ext>
            </a:extLst>
          </p:cNvPr>
          <p:cNvSpPr/>
          <p:nvPr/>
        </p:nvSpPr>
        <p:spPr>
          <a:xfrm>
            <a:off x="12081408" y="0"/>
            <a:ext cx="110591" cy="6858000"/>
          </a:xfrm>
          <a:prstGeom prst="roundRect">
            <a:avLst>
              <a:gd name="adj" fmla="val 0"/>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4613DB5-79B9-515D-9CFA-B061C04138D6}"/>
              </a:ext>
            </a:extLst>
          </p:cNvPr>
          <p:cNvSpPr/>
          <p:nvPr/>
        </p:nvSpPr>
        <p:spPr>
          <a:xfrm rot="10800000">
            <a:off x="525975" y="2146745"/>
            <a:ext cx="4369705" cy="45719"/>
          </a:xfrm>
          <a:prstGeom prst="rect">
            <a:avLst/>
          </a:prstGeom>
          <a:solidFill>
            <a:schemeClr val="accent6">
              <a:lumMod val="5000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08C91EE9-E5E5-5E60-0D37-07197469B444}"/>
              </a:ext>
            </a:extLst>
          </p:cNvPr>
          <p:cNvSpPr/>
          <p:nvPr/>
        </p:nvSpPr>
        <p:spPr>
          <a:xfrm rot="5400000">
            <a:off x="7932214" y="2724992"/>
            <a:ext cx="93058" cy="8172957"/>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3310DC72-AA0E-5B19-9065-2591A7AB0BA5}"/>
              </a:ext>
            </a:extLst>
          </p:cNvPr>
          <p:cNvSpPr txBox="1"/>
          <p:nvPr/>
        </p:nvSpPr>
        <p:spPr>
          <a:xfrm>
            <a:off x="7573311" y="5945831"/>
            <a:ext cx="5599689" cy="369332"/>
          </a:xfrm>
          <a:prstGeom prst="rect">
            <a:avLst/>
          </a:prstGeom>
          <a:noFill/>
        </p:spPr>
        <p:txBody>
          <a:bodyPr wrap="square" rtlCol="0">
            <a:spAutoFit/>
          </a:bodyPr>
          <a:lstStyle/>
          <a:p>
            <a:r>
              <a:rPr lang="en-US" dirty="0"/>
              <a:t>Fig. 3 </a:t>
            </a:r>
            <a:endParaRPr lang="en-US" sz="1800" i="1" kern="1200" dirty="0">
              <a:solidFill>
                <a:schemeClr val="tx1"/>
              </a:solidFill>
              <a:latin typeface="+mn-lt"/>
              <a:ea typeface="+mn-ea"/>
              <a:cs typeface="+mn-cs"/>
            </a:endParaRPr>
          </a:p>
        </p:txBody>
      </p:sp>
      <p:sp>
        <p:nvSpPr>
          <p:cNvPr id="6" name="TextBox 5">
            <a:extLst>
              <a:ext uri="{FF2B5EF4-FFF2-40B4-BE49-F238E27FC236}">
                <a16:creationId xmlns:a16="http://schemas.microsoft.com/office/drawing/2014/main" xmlns="" id="{3F9F920F-E48A-3161-3450-8F9F89C81CA8}"/>
              </a:ext>
            </a:extLst>
          </p:cNvPr>
          <p:cNvSpPr txBox="1"/>
          <p:nvPr/>
        </p:nvSpPr>
        <p:spPr>
          <a:xfrm rot="10800000" flipV="1">
            <a:off x="10721947" y="6465089"/>
            <a:ext cx="299405" cy="400110"/>
          </a:xfrm>
          <a:prstGeom prst="rect">
            <a:avLst/>
          </a:prstGeom>
          <a:solidFill>
            <a:schemeClr val="accent6">
              <a:lumMod val="50000"/>
            </a:schemeClr>
          </a:solidFill>
        </p:spPr>
        <p:txBody>
          <a:bodyPr wrap="square" rtlCol="0">
            <a:spAutoFit/>
          </a:bodyPr>
          <a:lstStyle/>
          <a:p>
            <a:r>
              <a:rPr lang="en-US" sz="2000" kern="1200" dirty="0">
                <a:solidFill>
                  <a:schemeClr val="bg1"/>
                </a:solidFill>
                <a:latin typeface="Garamond" panose="02020404030301010803" pitchFamily="18" charset="0"/>
              </a:rPr>
              <a:t>8</a:t>
            </a:r>
          </a:p>
        </p:txBody>
      </p:sp>
      <p:pic>
        <p:nvPicPr>
          <p:cNvPr id="17" name="Picture 16">
            <a:extLst>
              <a:ext uri="{FF2B5EF4-FFF2-40B4-BE49-F238E27FC236}">
                <a16:creationId xmlns:a16="http://schemas.microsoft.com/office/drawing/2014/main" xmlns="" id="{65D75471-8C51-02FA-87C8-2A366C3DC3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3216" y="2192465"/>
            <a:ext cx="5301952" cy="3681408"/>
          </a:xfrm>
          <a:prstGeom prst="rect">
            <a:avLst/>
          </a:prstGeom>
        </p:spPr>
      </p:pic>
    </p:spTree>
    <p:extLst>
      <p:ext uri="{BB962C8B-B14F-4D97-AF65-F5344CB8AC3E}">
        <p14:creationId xmlns:p14="http://schemas.microsoft.com/office/powerpoint/2010/main" val="23843189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E06783-C97D-8BE1-237E-F2EF3AF646B1}"/>
              </a:ext>
            </a:extLst>
          </p:cNvPr>
          <p:cNvSpPr>
            <a:spLocks noGrp="1"/>
          </p:cNvSpPr>
          <p:nvPr>
            <p:ph type="title"/>
          </p:nvPr>
        </p:nvSpPr>
        <p:spPr>
          <a:xfrm>
            <a:off x="210393" y="457200"/>
            <a:ext cx="10511554" cy="651409"/>
          </a:xfrm>
        </p:spPr>
        <p:txBody>
          <a:bodyPr>
            <a:noAutofit/>
          </a:bodyPr>
          <a:lstStyle/>
          <a:p>
            <a:r>
              <a:rPr lang="en-US" sz="2800" b="1" dirty="0">
                <a:latin typeface="Garamond" panose="02020404030301010803" pitchFamily="18" charset="0"/>
              </a:rPr>
              <a:t>EXAMPLES OF MAMMALS  ADAPTED TO HIGH SALINITY IN MARINE</a:t>
            </a:r>
            <a:endParaRPr lang="en-US" sz="2800" b="1" dirty="0"/>
          </a:p>
        </p:txBody>
      </p:sp>
      <p:sp>
        <p:nvSpPr>
          <p:cNvPr id="5" name="Rectangle 4">
            <a:extLst>
              <a:ext uri="{FF2B5EF4-FFF2-40B4-BE49-F238E27FC236}">
                <a16:creationId xmlns:a16="http://schemas.microsoft.com/office/drawing/2014/main" xmlns="" id="{4B1A2CEF-F16E-F311-FD59-45597B89754A}"/>
              </a:ext>
            </a:extLst>
          </p:cNvPr>
          <p:cNvSpPr/>
          <p:nvPr/>
        </p:nvSpPr>
        <p:spPr>
          <a:xfrm flipV="1">
            <a:off x="210393" y="1143809"/>
            <a:ext cx="9046895" cy="4571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xmlns="" id="{2848C763-E5DD-DF0E-A1BD-E79CD3D22748}"/>
              </a:ext>
            </a:extLst>
          </p:cNvPr>
          <p:cNvSpPr txBox="1"/>
          <p:nvPr/>
        </p:nvSpPr>
        <p:spPr>
          <a:xfrm>
            <a:off x="7679341" y="5866728"/>
            <a:ext cx="2581359" cy="369332"/>
          </a:xfrm>
          <a:prstGeom prst="rect">
            <a:avLst/>
          </a:prstGeom>
          <a:noFill/>
        </p:spPr>
        <p:txBody>
          <a:bodyPr wrap="square" rtlCol="0">
            <a:spAutoFit/>
          </a:bodyPr>
          <a:lstStyle/>
          <a:p>
            <a:r>
              <a:rPr lang="en-US" dirty="0"/>
              <a:t>Fig.7 </a:t>
            </a:r>
            <a:r>
              <a:rPr lang="en-GB" b="0" i="0" dirty="0">
                <a:solidFill>
                  <a:srgbClr val="374151"/>
                </a:solidFill>
                <a:effectLst/>
                <a:latin typeface="Söhne"/>
              </a:rPr>
              <a:t>Humpback Whale</a:t>
            </a:r>
            <a:r>
              <a:rPr lang="en-US" dirty="0"/>
              <a:t> </a:t>
            </a:r>
            <a:endParaRPr lang="en-US" sz="1800" kern="1200" dirty="0">
              <a:solidFill>
                <a:schemeClr val="tx1"/>
              </a:solidFill>
              <a:latin typeface="+mn-lt"/>
              <a:ea typeface="+mn-ea"/>
              <a:cs typeface="+mn-cs"/>
            </a:endParaRPr>
          </a:p>
        </p:txBody>
      </p:sp>
      <p:sp>
        <p:nvSpPr>
          <p:cNvPr id="13" name="TextBox 12">
            <a:extLst>
              <a:ext uri="{FF2B5EF4-FFF2-40B4-BE49-F238E27FC236}">
                <a16:creationId xmlns:a16="http://schemas.microsoft.com/office/drawing/2014/main" xmlns="" id="{D2FDF726-B052-9E59-BFAE-4CEE09D3DEF4}"/>
              </a:ext>
            </a:extLst>
          </p:cNvPr>
          <p:cNvSpPr txBox="1"/>
          <p:nvPr/>
        </p:nvSpPr>
        <p:spPr>
          <a:xfrm>
            <a:off x="2702738" y="5793896"/>
            <a:ext cx="2225311" cy="369332"/>
          </a:xfrm>
          <a:prstGeom prst="rect">
            <a:avLst/>
          </a:prstGeom>
          <a:noFill/>
        </p:spPr>
        <p:txBody>
          <a:bodyPr wrap="square" rtlCol="0">
            <a:spAutoFit/>
          </a:bodyPr>
          <a:lstStyle/>
          <a:p>
            <a:r>
              <a:rPr lang="en-US" dirty="0"/>
              <a:t>Fig.6 </a:t>
            </a:r>
            <a:r>
              <a:rPr lang="en-GB" b="0" i="0" dirty="0">
                <a:solidFill>
                  <a:srgbClr val="374151"/>
                </a:solidFill>
                <a:effectLst/>
                <a:latin typeface="Söhne"/>
              </a:rPr>
              <a:t>pinnipeds </a:t>
            </a:r>
            <a:endParaRPr lang="en-US" sz="1800" kern="1200" dirty="0">
              <a:solidFill>
                <a:schemeClr val="tx1"/>
              </a:solidFill>
              <a:latin typeface="+mn-lt"/>
              <a:ea typeface="+mn-ea"/>
              <a:cs typeface="+mn-cs"/>
            </a:endParaRPr>
          </a:p>
        </p:txBody>
      </p:sp>
      <p:sp>
        <p:nvSpPr>
          <p:cNvPr id="9" name="Rectangle 8">
            <a:extLst>
              <a:ext uri="{FF2B5EF4-FFF2-40B4-BE49-F238E27FC236}">
                <a16:creationId xmlns:a16="http://schemas.microsoft.com/office/drawing/2014/main" xmlns="" id="{ED6486B5-FFE1-6980-3EFB-88D0DD642132}"/>
              </a:ext>
            </a:extLst>
          </p:cNvPr>
          <p:cNvSpPr/>
          <p:nvPr/>
        </p:nvSpPr>
        <p:spPr>
          <a:xfrm>
            <a:off x="0" y="5834358"/>
            <a:ext cx="412694" cy="1023642"/>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B4BCA247-A2DF-B9C1-45E0-DD3891188A48}"/>
              </a:ext>
            </a:extLst>
          </p:cNvPr>
          <p:cNvSpPr/>
          <p:nvPr/>
        </p:nvSpPr>
        <p:spPr>
          <a:xfrm>
            <a:off x="542167" y="6036657"/>
            <a:ext cx="323682" cy="821343"/>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ADF79F79-D3F0-7BBB-1D82-6FF9DE911014}"/>
              </a:ext>
            </a:extLst>
          </p:cNvPr>
          <p:cNvSpPr/>
          <p:nvPr/>
        </p:nvSpPr>
        <p:spPr>
          <a:xfrm rot="10800000">
            <a:off x="11247926" y="-4"/>
            <a:ext cx="364144" cy="85775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1EB6F512-E4B6-5194-7984-4B8F3F7F2257}"/>
              </a:ext>
            </a:extLst>
          </p:cNvPr>
          <p:cNvSpPr/>
          <p:nvPr/>
        </p:nvSpPr>
        <p:spPr>
          <a:xfrm>
            <a:off x="11806280" y="0"/>
            <a:ext cx="385720" cy="106814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xmlns="" id="{DFAC12C0-7760-458D-2B1E-24C9FAC442AE}"/>
              </a:ext>
            </a:extLst>
          </p:cNvPr>
          <p:cNvSpPr txBox="1"/>
          <p:nvPr/>
        </p:nvSpPr>
        <p:spPr>
          <a:xfrm rot="10800000" flipV="1">
            <a:off x="10721947" y="6465089"/>
            <a:ext cx="299405" cy="400110"/>
          </a:xfrm>
          <a:prstGeom prst="rect">
            <a:avLst/>
          </a:prstGeom>
          <a:solidFill>
            <a:schemeClr val="accent6">
              <a:lumMod val="50000"/>
            </a:schemeClr>
          </a:solidFill>
        </p:spPr>
        <p:txBody>
          <a:bodyPr wrap="square" rtlCol="0">
            <a:spAutoFit/>
          </a:bodyPr>
          <a:lstStyle/>
          <a:p>
            <a:r>
              <a:rPr lang="en-US" sz="2000" dirty="0">
                <a:solidFill>
                  <a:schemeClr val="bg1"/>
                </a:solidFill>
                <a:latin typeface="Garamond" panose="02020404030301010803" pitchFamily="18" charset="0"/>
              </a:rPr>
              <a:t>9</a:t>
            </a:r>
            <a:endParaRPr lang="en-US" sz="2000" kern="1200" dirty="0">
              <a:solidFill>
                <a:schemeClr val="bg1"/>
              </a:solidFill>
              <a:latin typeface="Garamond" panose="02020404030301010803" pitchFamily="18" charset="0"/>
            </a:endParaRPr>
          </a:p>
        </p:txBody>
      </p:sp>
      <p:pic>
        <p:nvPicPr>
          <p:cNvPr id="7" name="Picture 6">
            <a:extLst>
              <a:ext uri="{FF2B5EF4-FFF2-40B4-BE49-F238E27FC236}">
                <a16:creationId xmlns:a16="http://schemas.microsoft.com/office/drawing/2014/main" xmlns="" id="{02CC4BFE-45A8-43D8-1CB8-ECB3D730A0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849" y="2082092"/>
            <a:ext cx="4714875" cy="36308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a:extLst>
              <a:ext uri="{FF2B5EF4-FFF2-40B4-BE49-F238E27FC236}">
                <a16:creationId xmlns:a16="http://schemas.microsoft.com/office/drawing/2014/main" xmlns="" id="{DA645D7E-EF3D-9774-6078-E006545ED0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5516" y="2174423"/>
            <a:ext cx="5506554" cy="344622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2136377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00CAEFFA-D10A-C314-94B6-8E6CA07BB55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r>
              <a:rPr lang="en-US" b="1" dirty="0"/>
              <a:t> </a:t>
            </a:r>
          </a:p>
        </p:txBody>
      </p:sp>
      <p:sp>
        <p:nvSpPr>
          <p:cNvPr id="6" name="Content Placeholder 5">
            <a:extLst>
              <a:ext uri="{FF2B5EF4-FFF2-40B4-BE49-F238E27FC236}">
                <a16:creationId xmlns:a16="http://schemas.microsoft.com/office/drawing/2014/main" xmlns="" id="{4B1FF087-AC74-E70A-3100-A41CA184CB7E}"/>
              </a:ext>
            </a:extLst>
          </p:cNvPr>
          <p:cNvSpPr>
            <a:spLocks noGrp="1"/>
          </p:cNvSpPr>
          <p:nvPr>
            <p:ph idx="1"/>
          </p:nvPr>
        </p:nvSpPr>
        <p:spPr>
          <a:xfrm>
            <a:off x="590550" y="1599389"/>
            <a:ext cx="10515600" cy="4048758"/>
          </a:xfrm>
        </p:spPr>
        <p:txBody>
          <a:bodyPr>
            <a:normAutofit/>
          </a:bodyPr>
          <a:lstStyle/>
          <a:p>
            <a:pPr marL="0" marR="0">
              <a:lnSpc>
                <a:spcPct val="107000"/>
              </a:lnSpc>
              <a:spcBef>
                <a:spcPts val="0"/>
              </a:spcBef>
              <a:spcAft>
                <a:spcPts val="800"/>
              </a:spcAft>
            </a:pPr>
            <a:endParaRPr lang="en-US" dirty="0" smtClean="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None/>
            </a:pPr>
            <a:r>
              <a:rPr lang="en-US" dirty="0" smtClean="0">
                <a:effectLst/>
                <a:latin typeface="Times New Roman" panose="02020603050405020304" pitchFamily="18" charset="0"/>
                <a:ea typeface="Times New Roman" panose="02020603050405020304" pitchFamily="18" charset="0"/>
                <a:cs typeface="Times New Roman" panose="02020603050405020304" pitchFamily="18" charset="0"/>
              </a:rPr>
              <a:t>Marine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mammals' species-specific adaptations vary across various environments, affecting their wellbeing, reproduction, and ecological function. Understanding and protecting these adaptations is crucial for their survival, as human activities and climate change impact marine habitats. Appreciating and conserving these adaptations can contribute to sustainable cohabitation and conservation of marine animals' habitats.</a:t>
            </a:r>
            <a:endParaRPr lang="en-US"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xmlns="" id="{85A31A48-7628-DA18-30CB-E7237AF13A3F}"/>
              </a:ext>
            </a:extLst>
          </p:cNvPr>
          <p:cNvSpPr/>
          <p:nvPr/>
        </p:nvSpPr>
        <p:spPr>
          <a:xfrm>
            <a:off x="145657" y="1553670"/>
            <a:ext cx="6404845" cy="4571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L-Shape 3">
            <a:extLst>
              <a:ext uri="{FF2B5EF4-FFF2-40B4-BE49-F238E27FC236}">
                <a16:creationId xmlns:a16="http://schemas.microsoft.com/office/drawing/2014/main" xmlns="" id="{19EBACAB-7434-F1BB-4AB2-B38602781160}"/>
              </a:ext>
            </a:extLst>
          </p:cNvPr>
          <p:cNvSpPr/>
          <p:nvPr/>
        </p:nvSpPr>
        <p:spPr>
          <a:xfrm>
            <a:off x="-1" y="5029200"/>
            <a:ext cx="12065226" cy="780881"/>
          </a:xfrm>
          <a:prstGeom prst="corner">
            <a:avLst>
              <a:gd name="adj1" fmla="val 50000"/>
              <a:gd name="adj2" fmla="val 26705"/>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BB84C6AE-CA12-9EED-734F-0A443016A601}"/>
              </a:ext>
            </a:extLst>
          </p:cNvPr>
          <p:cNvSpPr txBox="1"/>
          <p:nvPr/>
        </p:nvSpPr>
        <p:spPr>
          <a:xfrm rot="10800000" flipV="1">
            <a:off x="10713851" y="6482234"/>
            <a:ext cx="501709" cy="400110"/>
          </a:xfrm>
          <a:prstGeom prst="rect">
            <a:avLst/>
          </a:prstGeom>
          <a:solidFill>
            <a:schemeClr val="accent6">
              <a:lumMod val="50000"/>
            </a:schemeClr>
          </a:solidFill>
        </p:spPr>
        <p:txBody>
          <a:bodyPr wrap="square" rtlCol="0">
            <a:spAutoFit/>
          </a:bodyPr>
          <a:lstStyle/>
          <a:p>
            <a:r>
              <a:rPr lang="en-US" sz="2000" dirty="0">
                <a:solidFill>
                  <a:schemeClr val="bg1"/>
                </a:solidFill>
                <a:latin typeface="Garamond" panose="02020404030301010803" pitchFamily="18" charset="0"/>
              </a:rPr>
              <a:t>10</a:t>
            </a:r>
            <a:endParaRPr lang="en-US" sz="2000" kern="1200" dirty="0">
              <a:solidFill>
                <a:schemeClr val="bg1"/>
              </a:solidFill>
              <a:latin typeface="Garamond" panose="02020404030301010803" pitchFamily="18" charset="0"/>
            </a:endParaRPr>
          </a:p>
        </p:txBody>
      </p:sp>
    </p:spTree>
    <p:extLst>
      <p:ext uri="{BB962C8B-B14F-4D97-AF65-F5344CB8AC3E}">
        <p14:creationId xmlns:p14="http://schemas.microsoft.com/office/powerpoint/2010/main" val="30752612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4B17A4-3AC9-3E36-B0DA-E9C4FB304A99}"/>
              </a:ext>
            </a:extLst>
          </p:cNvPr>
          <p:cNvSpPr>
            <a:spLocks noGrp="1"/>
          </p:cNvSpPr>
          <p:nvPr>
            <p:ph type="title"/>
          </p:nvPr>
        </p:nvSpPr>
        <p:spPr/>
        <p:txBody>
          <a:bodyPr/>
          <a:lstStyle/>
          <a:p>
            <a:r>
              <a:rPr lang="en-US" dirty="0">
                <a:latin typeface="Garamond" panose="02020404030301010803" pitchFamily="18" charset="0"/>
              </a:rPr>
              <a:t>References </a:t>
            </a:r>
          </a:p>
        </p:txBody>
      </p:sp>
      <p:sp>
        <p:nvSpPr>
          <p:cNvPr id="3" name="Content Placeholder 2">
            <a:extLst>
              <a:ext uri="{FF2B5EF4-FFF2-40B4-BE49-F238E27FC236}">
                <a16:creationId xmlns:a16="http://schemas.microsoft.com/office/drawing/2014/main" xmlns="" id="{52DF528D-5A79-D132-9EAC-252AC1D497BE}"/>
              </a:ext>
            </a:extLst>
          </p:cNvPr>
          <p:cNvSpPr>
            <a:spLocks noGrp="1"/>
          </p:cNvSpPr>
          <p:nvPr>
            <p:ph idx="1"/>
          </p:nvPr>
        </p:nvSpPr>
        <p:spPr/>
        <p:txBody>
          <a:bodyPr>
            <a:normAutofit fontScale="62500" lnSpcReduction="20000"/>
          </a:bodyPr>
          <a:lstStyle/>
          <a:p>
            <a:pPr marL="457200" marR="0" indent="-457200">
              <a:lnSpc>
                <a:spcPct val="115000"/>
              </a:lnSpc>
              <a:spcBef>
                <a:spcPts val="0"/>
              </a:spcBef>
              <a:spcAft>
                <a:spcPts val="1000"/>
              </a:spcAft>
              <a:buFont typeface="+mj-lt"/>
              <a:buAutoNum type="arabicPeriod"/>
            </a:pPr>
            <a:r>
              <a:rPr lang="en-US" sz="2200" b="0" i="0" dirty="0">
                <a:solidFill>
                  <a:srgbClr val="1C1D1E"/>
                </a:solidFill>
                <a:effectLst/>
                <a:latin typeface="Times New Roman" panose="02020603050405020304" pitchFamily="18" charset="0"/>
                <a:cs typeface="Times New Roman" panose="02020603050405020304" pitchFamily="18" charset="0"/>
              </a:rPr>
              <a:t>Adams, S.H. and Costa, D.P. (1993). Water conservation and protein metabolism in northern elephant seal pups during the postweaning fast. </a:t>
            </a:r>
            <a:r>
              <a:rPr lang="en-US" sz="2200" b="0" i="1" dirty="0">
                <a:solidFill>
                  <a:srgbClr val="1C1D1E"/>
                </a:solidFill>
                <a:effectLst/>
                <a:latin typeface="Times New Roman" panose="02020603050405020304" pitchFamily="18" charset="0"/>
                <a:cs typeface="Times New Roman" panose="02020603050405020304" pitchFamily="18" charset="0"/>
              </a:rPr>
              <a:t>Journal of Comparative Physiology B</a:t>
            </a:r>
            <a:r>
              <a:rPr lang="en-US" sz="2200" b="0" i="0" dirty="0">
                <a:solidFill>
                  <a:srgbClr val="1C1D1E"/>
                </a:solidFill>
                <a:effectLst/>
                <a:latin typeface="Times New Roman" panose="02020603050405020304" pitchFamily="18" charset="0"/>
                <a:cs typeface="Times New Roman" panose="02020603050405020304" pitchFamily="18" charset="0"/>
              </a:rPr>
              <a:t> </a:t>
            </a:r>
            <a:r>
              <a:rPr lang="en-US" sz="2200" b="1" i="0" dirty="0">
                <a:solidFill>
                  <a:srgbClr val="1C1D1E"/>
                </a:solidFill>
                <a:effectLst/>
                <a:latin typeface="Times New Roman" panose="02020603050405020304" pitchFamily="18" charset="0"/>
                <a:cs typeface="Times New Roman" panose="02020603050405020304" pitchFamily="18" charset="0"/>
              </a:rPr>
              <a:t>163</a:t>
            </a:r>
            <a:r>
              <a:rPr lang="en-US" sz="2200" b="0" i="0" dirty="0">
                <a:solidFill>
                  <a:srgbClr val="1C1D1E"/>
                </a:solidFill>
                <a:effectLst/>
                <a:latin typeface="Times New Roman" panose="02020603050405020304" pitchFamily="18" charset="0"/>
                <a:cs typeface="Times New Roman" panose="02020603050405020304" pitchFamily="18" charset="0"/>
              </a:rPr>
              <a:t>: 367– 373.</a:t>
            </a:r>
            <a:r>
              <a:rPr lang="en-US" sz="2900" dirty="0">
                <a:effectLst/>
                <a:latin typeface="Times New Roman" panose="02020603050405020304" pitchFamily="18" charset="0"/>
                <a:ea typeface="SimSun" panose="02010600030101010101" pitchFamily="2" charset="-122"/>
                <a:cs typeface="Times New Roman" panose="02020603050405020304" pitchFamily="18" charset="0"/>
              </a:rPr>
              <a:t>.</a:t>
            </a:r>
          </a:p>
          <a:p>
            <a:pPr marL="514350" indent="-514350">
              <a:buFont typeface="+mj-lt"/>
              <a:buAutoNum type="arabicPeriod"/>
            </a:pPr>
            <a:r>
              <a:rPr lang="en-GB" b="0" i="0" dirty="0" err="1">
                <a:solidFill>
                  <a:srgbClr val="374151"/>
                </a:solidFill>
                <a:effectLst/>
                <a:latin typeface="Times New Roman" panose="02020603050405020304" pitchFamily="18" charset="0"/>
                <a:cs typeface="Times New Roman" panose="02020603050405020304" pitchFamily="18" charset="0"/>
              </a:rPr>
              <a:t>Dierauf</a:t>
            </a:r>
            <a:r>
              <a:rPr lang="en-GB" b="0" i="0" dirty="0">
                <a:solidFill>
                  <a:srgbClr val="374151"/>
                </a:solidFill>
                <a:effectLst/>
                <a:latin typeface="Times New Roman" panose="02020603050405020304" pitchFamily="18" charset="0"/>
                <a:cs typeface="Times New Roman" panose="02020603050405020304" pitchFamily="18" charset="0"/>
              </a:rPr>
              <a:t>, L. A., &amp; Gulland, F. M. (Eds.). (2001). CRC Handbook of Marine Mammal Medicine (2nd ed.). CRC Press.</a:t>
            </a:r>
          </a:p>
          <a:p>
            <a:pPr marL="514350" indent="-514350">
              <a:buFont typeface="+mj-lt"/>
              <a:buAutoNum type="arabicPeriod"/>
            </a:pPr>
            <a:r>
              <a:rPr lang="en-GB" b="0" i="0" dirty="0" err="1">
                <a:solidFill>
                  <a:srgbClr val="374151"/>
                </a:solidFill>
                <a:effectLst/>
                <a:latin typeface="Times New Roman" panose="02020603050405020304" pitchFamily="18" charset="0"/>
                <a:cs typeface="Times New Roman" panose="02020603050405020304" pitchFamily="18" charset="0"/>
              </a:rPr>
              <a:t>Kooyman</a:t>
            </a:r>
            <a:r>
              <a:rPr lang="en-GB" b="0" i="0" dirty="0">
                <a:solidFill>
                  <a:srgbClr val="374151"/>
                </a:solidFill>
                <a:effectLst/>
                <a:latin typeface="Times New Roman" panose="02020603050405020304" pitchFamily="18" charset="0"/>
                <a:cs typeface="Times New Roman" panose="02020603050405020304" pitchFamily="18" charset="0"/>
              </a:rPr>
              <a:t>, G. L., &amp; </a:t>
            </a:r>
            <a:r>
              <a:rPr lang="en-GB" b="0" i="0" dirty="0" err="1">
                <a:solidFill>
                  <a:srgbClr val="374151"/>
                </a:solidFill>
                <a:effectLst/>
                <a:latin typeface="Times New Roman" panose="02020603050405020304" pitchFamily="18" charset="0"/>
                <a:cs typeface="Times New Roman" panose="02020603050405020304" pitchFamily="18" charset="0"/>
              </a:rPr>
              <a:t>Ponganis</a:t>
            </a:r>
            <a:r>
              <a:rPr lang="en-GB" b="0" i="0" dirty="0">
                <a:solidFill>
                  <a:srgbClr val="374151"/>
                </a:solidFill>
                <a:effectLst/>
                <a:latin typeface="Times New Roman" panose="02020603050405020304" pitchFamily="18" charset="0"/>
                <a:cs typeface="Times New Roman" panose="02020603050405020304" pitchFamily="18" charset="0"/>
              </a:rPr>
              <a:t>, P. J. (Eds.). (1998). The Physiological Ecology of Seals. Cambridge University Press.</a:t>
            </a:r>
          </a:p>
          <a:p>
            <a:pPr marL="514350" indent="-514350">
              <a:buFont typeface="+mj-lt"/>
              <a:buAutoNum type="arabicPeriod"/>
            </a:pPr>
            <a:r>
              <a:rPr lang="en-GB" b="0" i="0" dirty="0" err="1">
                <a:solidFill>
                  <a:srgbClr val="374151"/>
                </a:solidFill>
                <a:effectLst/>
                <a:latin typeface="Times New Roman" panose="02020603050405020304" pitchFamily="18" charset="0"/>
                <a:cs typeface="Times New Roman" panose="02020603050405020304" pitchFamily="18" charset="0"/>
              </a:rPr>
              <a:t>Castellini</a:t>
            </a:r>
            <a:r>
              <a:rPr lang="en-GB" b="0" i="0" dirty="0">
                <a:solidFill>
                  <a:srgbClr val="374151"/>
                </a:solidFill>
                <a:effectLst/>
                <a:latin typeface="Times New Roman" panose="02020603050405020304" pitchFamily="18" charset="0"/>
                <a:cs typeface="Times New Roman" panose="02020603050405020304" pitchFamily="18" charset="0"/>
              </a:rPr>
              <a:t>, M. A., &amp; Mellish, J. E. (2002). Marine mammal adaptations to polar and tropical environments. Polar Research, 21(1), 19-26.</a:t>
            </a:r>
          </a:p>
          <a:p>
            <a:pPr marL="514350" indent="-514350">
              <a:buFont typeface="+mj-lt"/>
              <a:buAutoNum type="arabicPeriod"/>
            </a:pPr>
            <a:r>
              <a:rPr lang="en-GB" b="0" i="0" dirty="0">
                <a:solidFill>
                  <a:srgbClr val="374151"/>
                </a:solidFill>
                <a:effectLst/>
                <a:latin typeface="Times New Roman" panose="02020603050405020304" pitchFamily="18" charset="0"/>
                <a:cs typeface="Times New Roman" panose="02020603050405020304" pitchFamily="18" charset="0"/>
              </a:rPr>
              <a:t>Gartner, H. V., &amp; Bedford, J. J. (2001). Water balance and renal function in marine and estuarine mammals. Journal of Comparative Physiology B, 171(5), 437-442.</a:t>
            </a:r>
          </a:p>
          <a:p>
            <a:pPr marL="514350" indent="-514350">
              <a:buFont typeface="+mj-lt"/>
              <a:buAutoNum type="arabicPeriod"/>
            </a:pPr>
            <a:r>
              <a:rPr lang="en-GB" b="0" i="0" dirty="0">
                <a:solidFill>
                  <a:srgbClr val="374151"/>
                </a:solidFill>
                <a:effectLst/>
                <a:latin typeface="Times New Roman" panose="02020603050405020304" pitchFamily="18" charset="0"/>
                <a:cs typeface="Times New Roman" panose="02020603050405020304" pitchFamily="18" charset="0"/>
              </a:rPr>
              <a:t>Ortiz, R. M. (2001). Osmoregulation in marine mammals. The Journal of Experimental Biology, 204(11), 1831-1844.</a:t>
            </a:r>
          </a:p>
          <a:p>
            <a:pPr marL="514350" indent="-514350">
              <a:buFont typeface="+mj-lt"/>
              <a:buAutoNum type="arabicPeriod"/>
            </a:pPr>
            <a:r>
              <a:rPr lang="en-GB" b="0" i="0" dirty="0" err="1">
                <a:solidFill>
                  <a:srgbClr val="374151"/>
                </a:solidFill>
                <a:effectLst/>
                <a:latin typeface="Times New Roman" panose="02020603050405020304" pitchFamily="18" charset="0"/>
                <a:cs typeface="Times New Roman" panose="02020603050405020304" pitchFamily="18" charset="0"/>
              </a:rPr>
              <a:t>Trillmich</a:t>
            </a:r>
            <a:r>
              <a:rPr lang="en-GB" b="0" i="0" dirty="0">
                <a:solidFill>
                  <a:srgbClr val="374151"/>
                </a:solidFill>
                <a:effectLst/>
                <a:latin typeface="Times New Roman" panose="02020603050405020304" pitchFamily="18" charset="0"/>
                <a:cs typeface="Times New Roman" panose="02020603050405020304" pitchFamily="18" charset="0"/>
              </a:rPr>
              <a:t>, F., &amp; Wolf, J. B. (2008). Parent-offspring and sibling conflict in Galápagos fur seals and sea lions. </a:t>
            </a:r>
            <a:r>
              <a:rPr lang="en-GB" b="0" i="0" dirty="0" err="1">
                <a:solidFill>
                  <a:srgbClr val="374151"/>
                </a:solidFill>
                <a:effectLst/>
                <a:latin typeface="Times New Roman" panose="02020603050405020304" pitchFamily="18" charset="0"/>
                <a:cs typeface="Times New Roman" panose="02020603050405020304" pitchFamily="18" charset="0"/>
              </a:rPr>
              <a:t>Behavioral</a:t>
            </a:r>
            <a:r>
              <a:rPr lang="en-GB" b="0" i="0" dirty="0">
                <a:solidFill>
                  <a:srgbClr val="374151"/>
                </a:solidFill>
                <a:effectLst/>
                <a:latin typeface="Times New Roman" panose="02020603050405020304" pitchFamily="18" charset="0"/>
                <a:cs typeface="Times New Roman" panose="02020603050405020304" pitchFamily="18" charset="0"/>
              </a:rPr>
              <a:t> Ecology and Sociobiology, 62(3), 363-375.</a:t>
            </a:r>
          </a:p>
          <a:p>
            <a:pPr marL="514350" indent="-514350">
              <a:buFont typeface="+mj-lt"/>
              <a:buAutoNum type="arabicPeriod"/>
            </a:pPr>
            <a:r>
              <a:rPr lang="en-GB" b="0" i="0" dirty="0">
                <a:solidFill>
                  <a:srgbClr val="374151"/>
                </a:solidFill>
                <a:effectLst/>
                <a:latin typeface="Times New Roman" panose="02020603050405020304" pitchFamily="18" charset="0"/>
                <a:cs typeface="Times New Roman" panose="02020603050405020304" pitchFamily="18" charset="0"/>
              </a:rPr>
              <a:t>Costa, D. P., &amp; Gentry, R. L. (1986). Effects of salinity on water flux, energy metabolism, and food consumption of sea otters. Journal of Comparative Physiology B, 156(1), 31-39.</a:t>
            </a:r>
          </a:p>
          <a:p>
            <a:pPr algn="l"/>
            <a:endParaRPr lang="en-GB" b="0" i="0" dirty="0">
              <a:solidFill>
                <a:srgbClr val="374151"/>
              </a:solidFill>
              <a:effectLst/>
              <a:latin typeface="Söhne"/>
            </a:endParaRPr>
          </a:p>
          <a:p>
            <a:endParaRPr lang="en-US" dirty="0">
              <a:latin typeface="Garamond" panose="02020404030301010803" pitchFamily="18" charset="0"/>
            </a:endParaRPr>
          </a:p>
        </p:txBody>
      </p:sp>
      <p:sp>
        <p:nvSpPr>
          <p:cNvPr id="4" name="Rectangle 3">
            <a:extLst>
              <a:ext uri="{FF2B5EF4-FFF2-40B4-BE49-F238E27FC236}">
                <a16:creationId xmlns:a16="http://schemas.microsoft.com/office/drawing/2014/main" xmlns="" id="{BCF76E7A-47D3-2CA8-325F-7A53BBA4B782}"/>
              </a:ext>
            </a:extLst>
          </p:cNvPr>
          <p:cNvSpPr/>
          <p:nvPr/>
        </p:nvSpPr>
        <p:spPr>
          <a:xfrm>
            <a:off x="145657" y="1553670"/>
            <a:ext cx="6404845" cy="4571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xmlns="" id="{D5C4AA37-E7AE-50F9-95A0-5634D362218A}"/>
              </a:ext>
            </a:extLst>
          </p:cNvPr>
          <p:cNvSpPr txBox="1"/>
          <p:nvPr/>
        </p:nvSpPr>
        <p:spPr>
          <a:xfrm rot="10800000" flipV="1">
            <a:off x="10713851" y="6482234"/>
            <a:ext cx="501709" cy="400110"/>
          </a:xfrm>
          <a:prstGeom prst="rect">
            <a:avLst/>
          </a:prstGeom>
          <a:solidFill>
            <a:schemeClr val="accent6">
              <a:lumMod val="50000"/>
            </a:schemeClr>
          </a:solidFill>
        </p:spPr>
        <p:txBody>
          <a:bodyPr wrap="square" rtlCol="0">
            <a:spAutoFit/>
          </a:bodyPr>
          <a:lstStyle/>
          <a:p>
            <a:r>
              <a:rPr lang="en-US" sz="2000" kern="1200" dirty="0">
                <a:solidFill>
                  <a:schemeClr val="bg1"/>
                </a:solidFill>
                <a:latin typeface="Garamond" panose="02020404030301010803" pitchFamily="18" charset="0"/>
              </a:rPr>
              <a:t>11</a:t>
            </a:r>
          </a:p>
        </p:txBody>
      </p:sp>
    </p:spTree>
    <p:extLst>
      <p:ext uri="{BB962C8B-B14F-4D97-AF65-F5344CB8AC3E}">
        <p14:creationId xmlns:p14="http://schemas.microsoft.com/office/powerpoint/2010/main" val="26677218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4B17A4-3AC9-3E36-B0DA-E9C4FB304A99}"/>
              </a:ext>
            </a:extLst>
          </p:cNvPr>
          <p:cNvSpPr>
            <a:spLocks noGrp="1"/>
          </p:cNvSpPr>
          <p:nvPr>
            <p:ph type="title"/>
          </p:nvPr>
        </p:nvSpPr>
        <p:spPr/>
        <p:txBody>
          <a:bodyPr/>
          <a:lstStyle/>
          <a:p>
            <a:r>
              <a:rPr lang="en-US" dirty="0">
                <a:latin typeface="Garamond" panose="02020404030301010803" pitchFamily="18" charset="0"/>
              </a:rPr>
              <a:t>GROUP MEMBERS </a:t>
            </a:r>
          </a:p>
        </p:txBody>
      </p:sp>
      <p:sp>
        <p:nvSpPr>
          <p:cNvPr id="3" name="Content Placeholder 2">
            <a:extLst>
              <a:ext uri="{FF2B5EF4-FFF2-40B4-BE49-F238E27FC236}">
                <a16:creationId xmlns:a16="http://schemas.microsoft.com/office/drawing/2014/main" xmlns="" id="{52DF528D-5A79-D132-9EAC-252AC1D497BE}"/>
              </a:ext>
            </a:extLst>
          </p:cNvPr>
          <p:cNvSpPr>
            <a:spLocks noGrp="1"/>
          </p:cNvSpPr>
          <p:nvPr>
            <p:ph idx="1"/>
          </p:nvPr>
        </p:nvSpPr>
        <p:spPr/>
        <p:txBody>
          <a:bodyPr>
            <a:normAutofit/>
          </a:bodyPr>
          <a:lstStyle/>
          <a:p>
            <a:r>
              <a:rPr lang="en-US" dirty="0">
                <a:latin typeface="Garamond" panose="02020404030301010803" pitchFamily="18" charset="0"/>
              </a:rPr>
              <a:t>ADDO LAWENCIA                  </a:t>
            </a:r>
            <a:r>
              <a:rPr lang="en-US" dirty="0" smtClean="0">
                <a:latin typeface="Garamond" panose="02020404030301010803" pitchFamily="18" charset="0"/>
              </a:rPr>
              <a:t>          9194519</a:t>
            </a:r>
            <a:endParaRPr lang="en-US" dirty="0">
              <a:latin typeface="Garamond" panose="02020404030301010803" pitchFamily="18" charset="0"/>
            </a:endParaRPr>
          </a:p>
          <a:p>
            <a:r>
              <a:rPr lang="en-US" dirty="0" smtClean="0">
                <a:latin typeface="Garamond" panose="02020404030301010803" pitchFamily="18" charset="0"/>
              </a:rPr>
              <a:t>ASARE DERRICK </a:t>
            </a:r>
            <a:r>
              <a:rPr lang="en-US" smtClean="0">
                <a:latin typeface="Garamond" panose="02020404030301010803" pitchFamily="18" charset="0"/>
              </a:rPr>
              <a:t>BAFFOUR           </a:t>
            </a:r>
            <a:r>
              <a:rPr lang="en-US" dirty="0">
                <a:latin typeface="Garamond" panose="02020404030301010803" pitchFamily="18" charset="0"/>
              </a:rPr>
              <a:t> </a:t>
            </a:r>
            <a:r>
              <a:rPr lang="en-US" smtClean="0">
                <a:latin typeface="Garamond" panose="02020404030301010803" pitchFamily="18" charset="0"/>
              </a:rPr>
              <a:t>9202319</a:t>
            </a:r>
            <a:endParaRPr lang="en-US" dirty="0">
              <a:latin typeface="Garamond" panose="02020404030301010803" pitchFamily="18" charset="0"/>
            </a:endParaRPr>
          </a:p>
          <a:p>
            <a:r>
              <a:rPr lang="en-US" dirty="0" smtClean="0">
                <a:latin typeface="Garamond" panose="02020404030301010803" pitchFamily="18" charset="0"/>
              </a:rPr>
              <a:t>AMOAH PRECIOUS NAA ODEY     9198719</a:t>
            </a:r>
          </a:p>
          <a:p>
            <a:r>
              <a:rPr lang="en-US" dirty="0" smtClean="0">
                <a:latin typeface="Garamond" panose="02020404030301010803" pitchFamily="18" charset="0"/>
              </a:rPr>
              <a:t>ACKUAKU EDINAM JESSICA          9194019</a:t>
            </a:r>
          </a:p>
          <a:p>
            <a:r>
              <a:rPr lang="en-US" dirty="0" smtClean="0">
                <a:latin typeface="Garamond" panose="02020404030301010803" pitchFamily="18" charset="0"/>
              </a:rPr>
              <a:t>AMOFA AUGESTINE KESSIE          9199019</a:t>
            </a:r>
          </a:p>
          <a:p>
            <a:r>
              <a:rPr lang="en-US" dirty="0" smtClean="0">
                <a:latin typeface="Garamond" panose="02020404030301010803" pitchFamily="18" charset="0"/>
              </a:rPr>
              <a:t>STEPHANIE ANITA HAGAN           9209119</a:t>
            </a:r>
            <a:endParaRPr lang="en-US" dirty="0">
              <a:latin typeface="Garamond" panose="02020404030301010803" pitchFamily="18" charset="0"/>
            </a:endParaRPr>
          </a:p>
          <a:p>
            <a:r>
              <a:rPr lang="en-US" dirty="0" smtClean="0">
                <a:latin typeface="Garamond" panose="02020404030301010803" pitchFamily="18" charset="0"/>
              </a:rPr>
              <a:t>OBIRI STEPHEN KWEKU                9214119</a:t>
            </a:r>
            <a:endParaRPr lang="en-US" dirty="0">
              <a:latin typeface="Garamond" panose="02020404030301010803" pitchFamily="18" charset="0"/>
            </a:endParaRPr>
          </a:p>
        </p:txBody>
      </p:sp>
      <p:sp>
        <p:nvSpPr>
          <p:cNvPr id="4" name="Rectangle 3">
            <a:extLst>
              <a:ext uri="{FF2B5EF4-FFF2-40B4-BE49-F238E27FC236}">
                <a16:creationId xmlns:a16="http://schemas.microsoft.com/office/drawing/2014/main" xmlns="" id="{BCF76E7A-47D3-2CA8-325F-7A53BBA4B782}"/>
              </a:ext>
            </a:extLst>
          </p:cNvPr>
          <p:cNvSpPr/>
          <p:nvPr/>
        </p:nvSpPr>
        <p:spPr>
          <a:xfrm>
            <a:off x="145657" y="1553670"/>
            <a:ext cx="6404845" cy="4571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xmlns="" id="{D5C4AA37-E7AE-50F9-95A0-5634D362218A}"/>
              </a:ext>
            </a:extLst>
          </p:cNvPr>
          <p:cNvSpPr txBox="1"/>
          <p:nvPr/>
        </p:nvSpPr>
        <p:spPr>
          <a:xfrm rot="10800000" flipV="1">
            <a:off x="10713851" y="6482234"/>
            <a:ext cx="501709" cy="400110"/>
          </a:xfrm>
          <a:prstGeom prst="rect">
            <a:avLst/>
          </a:prstGeom>
          <a:solidFill>
            <a:schemeClr val="accent6">
              <a:lumMod val="50000"/>
            </a:schemeClr>
          </a:solidFill>
        </p:spPr>
        <p:txBody>
          <a:bodyPr wrap="square" rtlCol="0">
            <a:spAutoFit/>
          </a:bodyPr>
          <a:lstStyle/>
          <a:p>
            <a:r>
              <a:rPr lang="en-US" sz="2000" kern="1200" dirty="0">
                <a:solidFill>
                  <a:schemeClr val="bg1"/>
                </a:solidFill>
                <a:latin typeface="Garamond" panose="02020404030301010803" pitchFamily="18" charset="0"/>
              </a:rPr>
              <a:t>12</a:t>
            </a:r>
          </a:p>
        </p:txBody>
      </p:sp>
    </p:spTree>
    <p:extLst>
      <p:ext uri="{BB962C8B-B14F-4D97-AF65-F5344CB8AC3E}">
        <p14:creationId xmlns:p14="http://schemas.microsoft.com/office/powerpoint/2010/main" val="6045331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F5684AEB-01EF-58A8-4CF9-6731D45D3262}"/>
              </a:ext>
            </a:extLst>
          </p:cNvPr>
          <p:cNvSpPr>
            <a:spLocks noGrp="1"/>
          </p:cNvSpPr>
          <p:nvPr>
            <p:ph type="title"/>
          </p:nvPr>
        </p:nvSpPr>
        <p:spPr>
          <a:xfrm>
            <a:off x="3318235" y="2073897"/>
            <a:ext cx="5128181" cy="2837468"/>
          </a:xfrm>
          <a:solidFill>
            <a:schemeClr val="bg1">
              <a:lumMod val="95000"/>
            </a:schemeClr>
          </a:solidFill>
        </p:spPr>
        <p:txBody>
          <a:bodyPr/>
          <a:lstStyle/>
          <a:p>
            <a:pPr algn="ctr"/>
            <a:r>
              <a:rPr lang="en-US" dirty="0">
                <a:solidFill>
                  <a:schemeClr val="accent6">
                    <a:lumMod val="50000"/>
                  </a:schemeClr>
                </a:solidFill>
                <a:latin typeface="Brush Script MT" panose="03060802040406070304" pitchFamily="66" charset="0"/>
              </a:rPr>
              <a:t>THANK YOU</a:t>
            </a:r>
          </a:p>
        </p:txBody>
      </p:sp>
      <p:sp>
        <p:nvSpPr>
          <p:cNvPr id="2" name="TextBox 1">
            <a:extLst>
              <a:ext uri="{FF2B5EF4-FFF2-40B4-BE49-F238E27FC236}">
                <a16:creationId xmlns:a16="http://schemas.microsoft.com/office/drawing/2014/main" xmlns="" id="{7BFE756B-A544-04AB-CF00-8C3EE5E84B39}"/>
              </a:ext>
            </a:extLst>
          </p:cNvPr>
          <p:cNvSpPr txBox="1"/>
          <p:nvPr/>
        </p:nvSpPr>
        <p:spPr>
          <a:xfrm rot="10800000" flipV="1">
            <a:off x="10713851" y="6482234"/>
            <a:ext cx="501709" cy="400110"/>
          </a:xfrm>
          <a:prstGeom prst="rect">
            <a:avLst/>
          </a:prstGeom>
          <a:solidFill>
            <a:schemeClr val="accent6">
              <a:lumMod val="50000"/>
            </a:schemeClr>
          </a:solidFill>
        </p:spPr>
        <p:txBody>
          <a:bodyPr wrap="square" rtlCol="0">
            <a:spAutoFit/>
          </a:bodyPr>
          <a:lstStyle/>
          <a:p>
            <a:r>
              <a:rPr lang="en-US" sz="2000" dirty="0">
                <a:solidFill>
                  <a:schemeClr val="bg1"/>
                </a:solidFill>
                <a:latin typeface="Garamond" panose="02020404030301010803" pitchFamily="18" charset="0"/>
              </a:rPr>
              <a:t>13</a:t>
            </a:r>
            <a:endParaRPr lang="en-US" sz="2000" kern="1200" dirty="0">
              <a:solidFill>
                <a:schemeClr val="bg1"/>
              </a:solidFill>
              <a:latin typeface="Garamond" panose="02020404030301010803" pitchFamily="18" charset="0"/>
            </a:endParaRPr>
          </a:p>
        </p:txBody>
      </p:sp>
    </p:spTree>
    <p:extLst>
      <p:ext uri="{BB962C8B-B14F-4D97-AF65-F5344CB8AC3E}">
        <p14:creationId xmlns:p14="http://schemas.microsoft.com/office/powerpoint/2010/main" val="38032113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1069</TotalTime>
  <Words>405</Words>
  <Application>Microsoft Office PowerPoint</Application>
  <PresentationFormat>Widescreen</PresentationFormat>
  <Paragraphs>89</Paragraphs>
  <Slides>14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SimSun</vt:lpstr>
      <vt:lpstr>Arial</vt:lpstr>
      <vt:lpstr>Brush Script MT</vt:lpstr>
      <vt:lpstr>Calibri</vt:lpstr>
      <vt:lpstr>Calibri Light</vt:lpstr>
      <vt:lpstr>Gadugi</vt:lpstr>
      <vt:lpstr>Garamond</vt:lpstr>
      <vt:lpstr>Open Sans</vt:lpstr>
      <vt:lpstr>Söhne</vt:lpstr>
      <vt:lpstr>Times New Roman</vt:lpstr>
      <vt:lpstr>Office Theme</vt:lpstr>
      <vt:lpstr>Salinity Regulation In Marine Mammals </vt:lpstr>
      <vt:lpstr>OUTLINE</vt:lpstr>
      <vt:lpstr>INTRODUCTION</vt:lpstr>
      <vt:lpstr>CLASSIFICATION OF MARINE MAMMALS</vt:lpstr>
      <vt:lpstr>IMPACTS OF HIGH SALINITY ON MAMMALS </vt:lpstr>
      <vt:lpstr>IMPACTS OF HIGH SALINITY ON MAMMALS CONT’D</vt:lpstr>
      <vt:lpstr>PHYSIOLOGICAL ADAPTATIONS </vt:lpstr>
      <vt:lpstr>BEHAVIORAL ADAPTATIONS</vt:lpstr>
      <vt:lpstr>STRUCTURAL ADAPTATIONS </vt:lpstr>
      <vt:lpstr>EXAMPLES OF MAMMALS  ADAPTED TO HIGH SALINITY IN MARINE</vt:lpstr>
      <vt:lpstr>CONCLUSION </vt:lpstr>
      <vt:lpstr>References </vt:lpstr>
      <vt:lpstr>GROUP MEMBERS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ADAPTATION OF PLANTS TO HIGH TEMPERATURE</dc:title>
  <dc:creator>HP EP 1000</dc:creator>
  <cp:lastModifiedBy>hp</cp:lastModifiedBy>
  <cp:revision>28</cp:revision>
  <dcterms:created xsi:type="dcterms:W3CDTF">2023-07-18T09:28:51Z</dcterms:created>
  <dcterms:modified xsi:type="dcterms:W3CDTF">2023-08-03T13:28:10Z</dcterms:modified>
</cp:coreProperties>
</file>