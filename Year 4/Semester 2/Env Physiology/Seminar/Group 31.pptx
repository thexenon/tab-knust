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5"/>
  </p:notesMasterIdLst>
  <p:sldIdLst>
    <p:sldId id="256" r:id="rId2"/>
    <p:sldId id="257" r:id="rId3"/>
    <p:sldId id="258" r:id="rId4"/>
    <p:sldId id="265" r:id="rId5"/>
    <p:sldId id="272" r:id="rId6"/>
    <p:sldId id="266" r:id="rId7"/>
    <p:sldId id="274" r:id="rId8"/>
    <p:sldId id="264" r:id="rId9"/>
    <p:sldId id="271" r:id="rId10"/>
    <p:sldId id="267" r:id="rId11"/>
    <p:sldId id="268" r:id="rId12"/>
    <p:sldId id="273"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4" d="100"/>
          <a:sy n="84" d="100"/>
        </p:scale>
        <p:origin x="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886B1F-F80A-497F-8075-C65D3611B62A}" type="datetimeFigureOut">
              <a:rPr lang="en-US" smtClean="0"/>
              <a:t>8/3/2023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070E27-CC64-4CBC-9D50-6D3D50112E2F}" type="slidenum">
              <a:rPr lang="en-US" smtClean="0"/>
              <a:t>‹#›</a:t>
            </a:fld>
            <a:endParaRPr lang="en-US"/>
          </a:p>
        </p:txBody>
      </p:sp>
    </p:spTree>
    <p:extLst>
      <p:ext uri="{BB962C8B-B14F-4D97-AF65-F5344CB8AC3E}">
        <p14:creationId xmlns:p14="http://schemas.microsoft.com/office/powerpoint/2010/main" val="4069320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E3B88689-1DC3-4E54-ACF6-D8DA9FCDBC0F}" type="datetime1">
              <a:rPr lang="en-US" smtClean="0"/>
              <a:t>8/3/2023</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A885FABB-4740-469D-9BAF-28A9DC90EE00}" type="slidenum">
              <a:rPr lang="en-US" smtClean="0"/>
              <a:t>‹#›</a:t>
            </a:fld>
            <a:endParaRPr lang="en-US"/>
          </a:p>
        </p:txBody>
      </p:sp>
    </p:spTree>
    <p:extLst>
      <p:ext uri="{BB962C8B-B14F-4D97-AF65-F5344CB8AC3E}">
        <p14:creationId xmlns:p14="http://schemas.microsoft.com/office/powerpoint/2010/main" val="3353533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B94593A-5964-43E2-B248-B893FC8E8EFE}" type="datetime1">
              <a:rPr lang="en-US" smtClean="0"/>
              <a:t>8/3/2023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A885FABB-4740-469D-9BAF-28A9DC90EE00}" type="slidenum">
              <a:rPr lang="en-US" smtClean="0"/>
              <a:t>‹#›</a:t>
            </a:fld>
            <a:endParaRPr lang="en-US"/>
          </a:p>
        </p:txBody>
      </p:sp>
    </p:spTree>
    <p:extLst>
      <p:ext uri="{BB962C8B-B14F-4D97-AF65-F5344CB8AC3E}">
        <p14:creationId xmlns:p14="http://schemas.microsoft.com/office/powerpoint/2010/main" val="2584469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009EA064-7ACB-4FA6-8771-1BD0098A68CD}" type="datetime1">
              <a:rPr lang="en-US" smtClean="0"/>
              <a:t>8/3/2023</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A885FABB-4740-469D-9BAF-28A9DC90EE00}" type="slidenum">
              <a:rPr lang="en-US" smtClean="0"/>
              <a:t>‹#›</a:t>
            </a:fld>
            <a:endParaRPr lang="en-US"/>
          </a:p>
        </p:txBody>
      </p:sp>
    </p:spTree>
    <p:extLst>
      <p:ext uri="{BB962C8B-B14F-4D97-AF65-F5344CB8AC3E}">
        <p14:creationId xmlns:p14="http://schemas.microsoft.com/office/powerpoint/2010/main" val="828549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0C02C9B-BC8E-4DBE-8E0C-DFACC8928980}" type="datetime1">
              <a:rPr lang="en-US" smtClean="0"/>
              <a:t>8/3/2023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85FABB-4740-469D-9BAF-28A9DC90EE00}" type="slidenum">
              <a:rPr lang="en-US" smtClean="0"/>
              <a:t>‹#›</a:t>
            </a:fld>
            <a:endParaRPr lang="en-US"/>
          </a:p>
        </p:txBody>
      </p:sp>
    </p:spTree>
    <p:extLst>
      <p:ext uri="{BB962C8B-B14F-4D97-AF65-F5344CB8AC3E}">
        <p14:creationId xmlns:p14="http://schemas.microsoft.com/office/powerpoint/2010/main" val="2784104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B3B4551-25DD-4192-812B-CD9258CD9D57}" type="datetime1">
              <a:rPr lang="en-US" smtClean="0"/>
              <a:t>8/3/2023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85FABB-4740-469D-9BAF-28A9DC90EE00}" type="slidenum">
              <a:rPr lang="en-US" smtClean="0"/>
              <a:t>‹#›</a:t>
            </a:fld>
            <a:endParaRPr lang="en-US"/>
          </a:p>
        </p:txBody>
      </p:sp>
    </p:spTree>
    <p:extLst>
      <p:ext uri="{BB962C8B-B14F-4D97-AF65-F5344CB8AC3E}">
        <p14:creationId xmlns:p14="http://schemas.microsoft.com/office/powerpoint/2010/main" val="1871971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3CA96D3-B42C-42BA-8D12-1430B508512F}" type="datetime1">
              <a:rPr lang="en-US" smtClean="0"/>
              <a:t>8/3/2023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85FABB-4740-469D-9BAF-28A9DC90EE00}" type="slidenum">
              <a:rPr lang="en-US" smtClean="0"/>
              <a:t>‹#›</a:t>
            </a:fld>
            <a:endParaRPr lang="en-US"/>
          </a:p>
        </p:txBody>
      </p:sp>
    </p:spTree>
    <p:extLst>
      <p:ext uri="{BB962C8B-B14F-4D97-AF65-F5344CB8AC3E}">
        <p14:creationId xmlns:p14="http://schemas.microsoft.com/office/powerpoint/2010/main" val="2586085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0607FC-49DD-43D0-B29C-1F247BE6ACBA}" type="datetime1">
              <a:rPr lang="en-US" smtClean="0"/>
              <a:t>8/3/2023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85FABB-4740-469D-9BAF-28A9DC90EE00}" type="slidenum">
              <a:rPr lang="en-US" smtClean="0"/>
              <a:t>‹#›</a:t>
            </a:fld>
            <a:endParaRPr lang="en-US"/>
          </a:p>
        </p:txBody>
      </p:sp>
    </p:spTree>
    <p:extLst>
      <p:ext uri="{BB962C8B-B14F-4D97-AF65-F5344CB8AC3E}">
        <p14:creationId xmlns:p14="http://schemas.microsoft.com/office/powerpoint/2010/main" val="1612470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6A81CEA-4BF6-47A9-ADFE-6766A8FB87FF}" type="datetime1">
              <a:rPr lang="en-US" smtClean="0"/>
              <a:t>8/3/2023</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A885FABB-4740-469D-9BAF-28A9DC90EE00}" type="slidenum">
              <a:rPr lang="en-US" smtClean="0"/>
              <a:t>‹#›</a:t>
            </a:fld>
            <a:endParaRPr lang="en-US"/>
          </a:p>
        </p:txBody>
      </p:sp>
    </p:spTree>
    <p:extLst>
      <p:ext uri="{BB962C8B-B14F-4D97-AF65-F5344CB8AC3E}">
        <p14:creationId xmlns:p14="http://schemas.microsoft.com/office/powerpoint/2010/main" val="1217598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72C4D92-8E0A-4843-B788-691E8D198234}" type="datetime1">
              <a:rPr lang="en-US" smtClean="0"/>
              <a:t>8/3/2023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85FABB-4740-469D-9BAF-28A9DC90EE00}" type="slidenum">
              <a:rPr lang="en-US" smtClean="0"/>
              <a:t>‹#›</a:t>
            </a:fld>
            <a:endParaRPr lang="en-US"/>
          </a:p>
        </p:txBody>
      </p:sp>
    </p:spTree>
    <p:extLst>
      <p:ext uri="{BB962C8B-B14F-4D97-AF65-F5344CB8AC3E}">
        <p14:creationId xmlns:p14="http://schemas.microsoft.com/office/powerpoint/2010/main" val="2128078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4126D7-FE05-49E3-829E-DD2BEF919312}" type="datetime1">
              <a:rPr lang="en-US" smtClean="0"/>
              <a:t>8/3/2023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85FABB-4740-469D-9BAF-28A9DC90EE00}" type="slidenum">
              <a:rPr lang="en-US" smtClean="0"/>
              <a:t>‹#›</a:t>
            </a:fld>
            <a:endParaRPr lang="en-US"/>
          </a:p>
        </p:txBody>
      </p:sp>
    </p:spTree>
    <p:extLst>
      <p:ext uri="{BB962C8B-B14F-4D97-AF65-F5344CB8AC3E}">
        <p14:creationId xmlns:p14="http://schemas.microsoft.com/office/powerpoint/2010/main" val="1494573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46752141-BE96-463A-8971-6182E8E97335}" type="datetime1">
              <a:rPr lang="en-US" smtClean="0"/>
              <a:t>8/3/2023</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A885FABB-4740-469D-9BAF-28A9DC90EE00}" type="slidenum">
              <a:rPr lang="en-US" smtClean="0"/>
              <a:t>‹#›</a:t>
            </a:fld>
            <a:endParaRPr lang="en-US"/>
          </a:p>
        </p:txBody>
      </p:sp>
    </p:spTree>
    <p:extLst>
      <p:ext uri="{BB962C8B-B14F-4D97-AF65-F5344CB8AC3E}">
        <p14:creationId xmlns:p14="http://schemas.microsoft.com/office/powerpoint/2010/main" val="1575064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F81E11-954F-4FA1-BF16-16C712759CF3}" type="datetime1">
              <a:rPr lang="en-US" smtClean="0"/>
              <a:t>8/3/2023</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A885FABB-4740-469D-9BAF-28A9DC90EE00}"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06050527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9760" y="989419"/>
            <a:ext cx="9144000" cy="2387600"/>
          </a:xfrm>
        </p:spPr>
        <p:txBody>
          <a:bodyPr>
            <a:normAutofit/>
          </a:bodyPr>
          <a:lstStyle/>
          <a:p>
            <a:r>
              <a:rPr lang="en-US" sz="4000" dirty="0" smtClean="0">
                <a:latin typeface="Times New Roman" panose="02020603050405020304" pitchFamily="18" charset="0"/>
                <a:cs typeface="Times New Roman" panose="02020603050405020304" pitchFamily="18" charset="0"/>
              </a:rPr>
              <a:t>DIVING BEHAVIOR AND PHYSIOLOGY OF LEATHERBACK TURTLE</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085141" y="4240024"/>
            <a:ext cx="10993546" cy="590321"/>
          </a:xfrm>
        </p:spPr>
        <p:txBody>
          <a:bodyPr>
            <a:normAutofit fontScale="25000" lnSpcReduction="20000"/>
          </a:bodyPr>
          <a:lstStyle/>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sz="8000" dirty="0" smtClean="0">
                <a:latin typeface="Times New Roman" panose="02020603050405020304" pitchFamily="18" charset="0"/>
                <a:cs typeface="Times New Roman" panose="02020603050405020304" pitchFamily="18" charset="0"/>
              </a:rPr>
              <a:t>GROUP 31</a:t>
            </a:r>
            <a:endParaRPr lang="en-US" sz="8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85FABB-4740-469D-9BAF-28A9DC90EE00}" type="slidenum">
              <a:rPr lang="en-US" smtClean="0"/>
              <a:t>1</a:t>
            </a:fld>
            <a:endParaRPr lang="en-US"/>
          </a:p>
        </p:txBody>
      </p:sp>
    </p:spTree>
    <p:extLst>
      <p:ext uri="{BB962C8B-B14F-4D97-AF65-F5344CB8AC3E}">
        <p14:creationId xmlns:p14="http://schemas.microsoft.com/office/powerpoint/2010/main" val="781574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anose="02020603050405020304" pitchFamily="18" charset="0"/>
                <a:cs typeface="Times New Roman" panose="02020603050405020304" pitchFamily="18" charset="0"/>
              </a:rPr>
              <a:t>OUTLINE</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O</a:t>
            </a:r>
            <a:r>
              <a:rPr lang="en-US" sz="2800" dirty="0" smtClean="0">
                <a:latin typeface="Times New Roman" panose="02020603050405020304" pitchFamily="18" charset="0"/>
                <a:cs typeface="Times New Roman" panose="02020603050405020304" pitchFamily="18" charset="0"/>
              </a:rPr>
              <a:t>verview of leatherback </a:t>
            </a:r>
            <a:r>
              <a:rPr lang="en-US" sz="2800" dirty="0" smtClean="0">
                <a:latin typeface="Times New Roman" panose="02020603050405020304" pitchFamily="18" charset="0"/>
                <a:cs typeface="Times New Roman" panose="02020603050405020304" pitchFamily="18" charset="0"/>
              </a:rPr>
              <a:t>turtle</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Diving </a:t>
            </a:r>
            <a:r>
              <a:rPr lang="en-US" sz="2800" dirty="0" smtClean="0">
                <a:latin typeface="Times New Roman" panose="02020603050405020304" pitchFamily="18" charset="0"/>
                <a:cs typeface="Times New Roman" panose="02020603050405020304" pitchFamily="18" charset="0"/>
              </a:rPr>
              <a:t>behavior of leatherback </a:t>
            </a:r>
            <a:r>
              <a:rPr lang="en-US" sz="2800" dirty="0" smtClean="0">
                <a:latin typeface="Times New Roman" panose="02020603050405020304" pitchFamily="18" charset="0"/>
                <a:cs typeface="Times New Roman" panose="02020603050405020304" pitchFamily="18" charset="0"/>
              </a:rPr>
              <a:t>turtle</a:t>
            </a:r>
          </a:p>
          <a:p>
            <a:pPr>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Physiology of the diving behavior</a:t>
            </a: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a:t>
            </a:r>
            <a:r>
              <a:rPr lang="en-US" sz="2800" dirty="0" smtClean="0">
                <a:latin typeface="Times New Roman" panose="02020603050405020304" pitchFamily="18" charset="0"/>
                <a:cs typeface="Times New Roman" panose="02020603050405020304" pitchFamily="18" charset="0"/>
              </a:rPr>
              <a:t>mportance of studying diving </a:t>
            </a:r>
            <a:r>
              <a:rPr lang="en-US" sz="2800" dirty="0" smtClean="0">
                <a:latin typeface="Times New Roman" panose="02020603050405020304" pitchFamily="18" charset="0"/>
                <a:cs typeface="Times New Roman" panose="02020603050405020304" pitchFamily="18" charset="0"/>
              </a:rPr>
              <a:t>behavior</a:t>
            </a:r>
            <a:endParaRPr lang="en-US" sz="2800"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85FABB-4740-469D-9BAF-28A9DC90EE00}" type="slidenum">
              <a:rPr lang="en-US" smtClean="0"/>
              <a:t>2</a:t>
            </a:fld>
            <a:endParaRPr lang="en-US"/>
          </a:p>
        </p:txBody>
      </p:sp>
    </p:spTree>
    <p:extLst>
      <p:ext uri="{BB962C8B-B14F-4D97-AF65-F5344CB8AC3E}">
        <p14:creationId xmlns:p14="http://schemas.microsoft.com/office/powerpoint/2010/main" val="1359358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anose="02020603050405020304" pitchFamily="18" charset="0"/>
                <a:cs typeface="Times New Roman" panose="02020603050405020304" pitchFamily="18" charset="0"/>
              </a:rPr>
              <a:t>OVERVIEW OF LEATHERBACK TURTLE </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noAutofit/>
          </a:bodyPr>
          <a:lstStyle/>
          <a:p>
            <a:pPr marL="0" indent="0">
              <a:buNone/>
            </a:pPr>
            <a:r>
              <a:rPr lang="en-US" sz="2800" dirty="0" smtClean="0">
                <a:latin typeface="Times New Roman" panose="02020603050405020304" pitchFamily="18" charset="0"/>
                <a:cs typeface="Times New Roman" panose="02020603050405020304" pitchFamily="18" charset="0"/>
              </a:rPr>
              <a:t>Leatherback sea turtle (</a:t>
            </a:r>
            <a:r>
              <a:rPr lang="en-US" sz="2800" i="1" dirty="0" err="1" smtClean="0">
                <a:latin typeface="Times New Roman" panose="02020603050405020304" pitchFamily="18" charset="0"/>
                <a:cs typeface="Times New Roman" panose="02020603050405020304" pitchFamily="18" charset="0"/>
              </a:rPr>
              <a:t>Dermochelys</a:t>
            </a:r>
            <a:r>
              <a:rPr lang="en-US" sz="2800" i="1" dirty="0" smtClean="0">
                <a:latin typeface="Times New Roman" panose="02020603050405020304" pitchFamily="18" charset="0"/>
                <a:cs typeface="Times New Roman" panose="02020603050405020304" pitchFamily="18" charset="0"/>
              </a:rPr>
              <a:t> </a:t>
            </a:r>
            <a:r>
              <a:rPr lang="en-US" sz="2800" i="1" dirty="0" err="1" smtClean="0">
                <a:latin typeface="Times New Roman" panose="02020603050405020304" pitchFamily="18" charset="0"/>
                <a:cs typeface="Times New Roman" panose="02020603050405020304" pitchFamily="18" charset="0"/>
              </a:rPr>
              <a:t>coriacea</a:t>
            </a:r>
            <a:r>
              <a:rPr lang="en-US" sz="2800" i="1" dirty="0" smtClean="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is the largest of all sea turtles.</a:t>
            </a: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They </a:t>
            </a:r>
            <a:r>
              <a:rPr lang="en-US" sz="2800" dirty="0" smtClean="0">
                <a:latin typeface="Times New Roman" panose="02020603050405020304" pitchFamily="18" charset="0"/>
                <a:cs typeface="Times New Roman" panose="02020603050405020304" pitchFamily="18" charset="0"/>
              </a:rPr>
              <a:t>make long-distance oceanic migrations across the globe.</a:t>
            </a:r>
          </a:p>
          <a:p>
            <a:r>
              <a:rPr lang="en-US" sz="2800" dirty="0" smtClean="0">
                <a:latin typeface="Times New Roman" panose="02020603050405020304" pitchFamily="18" charset="0"/>
                <a:cs typeface="Times New Roman" panose="02020603050405020304" pitchFamily="18" charset="0"/>
              </a:rPr>
              <a:t>Female leatherbacks</a:t>
            </a:r>
            <a:r>
              <a:rPr lang="en-US" sz="2800" dirty="0" smtClean="0">
                <a:latin typeface="Times New Roman" panose="02020603050405020304" pitchFamily="18" charset="0"/>
                <a:cs typeface="Times New Roman" panose="02020603050405020304" pitchFamily="18" charset="0"/>
              </a:rPr>
              <a:t> come to the shore to lay eggs. </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sz="half" idx="2"/>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pPr marL="0" indent="0">
              <a:buNone/>
            </a:pPr>
            <a:r>
              <a:rPr lang="en-US" dirty="0" smtClean="0">
                <a:latin typeface="Times New Roman" panose="02020603050405020304" pitchFamily="18" charset="0"/>
                <a:cs typeface="Times New Roman" panose="02020603050405020304" pitchFamily="18" charset="0"/>
              </a:rPr>
              <a:t>Fig.1 Leatherback turtle</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85FABB-4740-469D-9BAF-28A9DC90EE00}" type="slidenum">
              <a:rPr lang="en-US" smtClean="0"/>
              <a:t>3</a:t>
            </a:fld>
            <a:endParaRPr lang="en-US"/>
          </a:p>
        </p:txBody>
      </p:sp>
      <p:pic>
        <p:nvPicPr>
          <p:cNvPr id="5" name="Picture 4"/>
          <p:cNvPicPr>
            <a:picLocks noChangeAspect="1"/>
          </p:cNvPicPr>
          <p:nvPr/>
        </p:nvPicPr>
        <p:blipFill>
          <a:blip r:embed="rId2"/>
          <a:stretch>
            <a:fillRect/>
          </a:stretch>
        </p:blipFill>
        <p:spPr>
          <a:xfrm>
            <a:off x="6188417" y="2228003"/>
            <a:ext cx="5422392" cy="2979617"/>
          </a:xfrm>
          <a:prstGeom prst="rect">
            <a:avLst/>
          </a:prstGeom>
        </p:spPr>
      </p:pic>
    </p:spTree>
    <p:extLst>
      <p:ext uri="{BB962C8B-B14F-4D97-AF65-F5344CB8AC3E}">
        <p14:creationId xmlns:p14="http://schemas.microsoft.com/office/powerpoint/2010/main" val="1356735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anose="02020603050405020304" pitchFamily="18" charset="0"/>
                <a:cs typeface="Times New Roman" panose="02020603050405020304" pitchFamily="18" charset="0"/>
              </a:rPr>
              <a:t>DIVING BEHAVIOR OF LEATHERBACK SEA TURTLES</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2466473"/>
            <a:ext cx="10537874" cy="3947049"/>
          </a:xfrm>
        </p:spPr>
        <p:txBody>
          <a:bodyPr>
            <a:noAutofit/>
          </a:bodyPr>
          <a:lstStyle/>
          <a:p>
            <a:pPr marL="0" indent="0">
              <a:buNone/>
            </a:pPr>
            <a:r>
              <a:rPr lang="en-US" sz="2800" dirty="0" smtClean="0">
                <a:solidFill>
                  <a:srgbClr val="3D3D3D"/>
                </a:solidFill>
                <a:latin typeface="Times New Roman" panose="02020603050405020304" pitchFamily="18" charset="0"/>
                <a:cs typeface="Times New Roman" panose="02020603050405020304" pitchFamily="18" charset="0"/>
              </a:rPr>
              <a:t>Leatherbacks spend most of their time in the top 300 m of the water column in dives less than 20-30 minutes ( Nathan et al., 2015).</a:t>
            </a:r>
          </a:p>
          <a:p>
            <a:pPr marL="0" indent="0">
              <a:buNone/>
            </a:pPr>
            <a:r>
              <a:rPr lang="en-US" sz="2800" dirty="0" smtClean="0">
                <a:solidFill>
                  <a:srgbClr val="3D3D3D"/>
                </a:solidFill>
                <a:latin typeface="Times New Roman" panose="02020603050405020304" pitchFamily="18" charset="0"/>
                <a:cs typeface="Times New Roman" panose="02020603050405020304" pitchFamily="18" charset="0"/>
              </a:rPr>
              <a:t>They can also dive to depths of about 1 km and remain submerged for about 90 minutes between breaths (Nathan et al. 2015).</a:t>
            </a: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solidFill>
                <a:srgbClr val="3D3D3D"/>
              </a:solidFill>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85FABB-4740-469D-9BAF-28A9DC90EE00}" type="slidenum">
              <a:rPr lang="en-US" smtClean="0"/>
              <a:t>4</a:t>
            </a:fld>
            <a:endParaRPr lang="en-US"/>
          </a:p>
        </p:txBody>
      </p:sp>
    </p:spTree>
    <p:extLst>
      <p:ext uri="{BB962C8B-B14F-4D97-AF65-F5344CB8AC3E}">
        <p14:creationId xmlns:p14="http://schemas.microsoft.com/office/powerpoint/2010/main" val="309306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anose="02020603050405020304" pitchFamily="18" charset="0"/>
                <a:cs typeface="Times New Roman" panose="02020603050405020304" pitchFamily="18" charset="0"/>
              </a:rPr>
              <a:t>DIVING BEHAVIOR OF LEATHERBACK SEA TURTLES</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81193" y="2124740"/>
            <a:ext cx="11029615" cy="3678303"/>
          </a:xfrm>
        </p:spPr>
        <p:txBody>
          <a:bodyPr>
            <a:normAutofit/>
          </a:bodyPr>
          <a:lstStyle/>
          <a:p>
            <a:pPr marL="0" lvl="0" indent="0">
              <a:buClr>
                <a:srgbClr val="903163"/>
              </a:buClr>
              <a:buNone/>
            </a:pPr>
            <a:endParaRPr lang="en-US" sz="2800" dirty="0" smtClean="0">
              <a:solidFill>
                <a:srgbClr val="3D3D3D"/>
              </a:solidFill>
              <a:latin typeface="Times New Roman" panose="02020603050405020304" pitchFamily="18" charset="0"/>
              <a:cs typeface="Times New Roman" panose="02020603050405020304" pitchFamily="18" charset="0"/>
            </a:endParaRPr>
          </a:p>
          <a:p>
            <a:pPr lvl="0">
              <a:buClr>
                <a:srgbClr val="903163"/>
              </a:buClr>
            </a:pPr>
            <a:r>
              <a:rPr lang="en-US" sz="2800" dirty="0" smtClean="0">
                <a:solidFill>
                  <a:srgbClr val="3D3D3D"/>
                </a:solidFill>
                <a:latin typeface="Times New Roman" panose="02020603050405020304" pitchFamily="18" charset="0"/>
                <a:cs typeface="Times New Roman" panose="02020603050405020304" pitchFamily="18" charset="0"/>
              </a:rPr>
              <a:t>Why do they dive?</a:t>
            </a:r>
          </a:p>
          <a:p>
            <a:pPr lvl="0">
              <a:buClr>
                <a:srgbClr val="903163"/>
              </a:buClr>
            </a:pPr>
            <a:r>
              <a:rPr lang="en-US" sz="2800" dirty="0" smtClean="0">
                <a:solidFill>
                  <a:srgbClr val="3D3D3D"/>
                </a:solidFill>
                <a:latin typeface="Times New Roman" panose="02020603050405020304" pitchFamily="18" charset="0"/>
                <a:cs typeface="Times New Roman" panose="02020603050405020304" pitchFamily="18" charset="0"/>
              </a:rPr>
              <a:t>To avoid predators</a:t>
            </a:r>
          </a:p>
          <a:p>
            <a:pPr lvl="0">
              <a:buClr>
                <a:srgbClr val="903163"/>
              </a:buClr>
            </a:pPr>
            <a:r>
              <a:rPr lang="en-US" sz="2800" dirty="0" smtClean="0">
                <a:solidFill>
                  <a:srgbClr val="3D3D3D"/>
                </a:solidFill>
                <a:latin typeface="Times New Roman" panose="02020603050405020304" pitchFamily="18" charset="0"/>
                <a:cs typeface="Times New Roman" panose="02020603050405020304" pitchFamily="18" charset="0"/>
              </a:rPr>
              <a:t>Search for prey</a:t>
            </a:r>
          </a:p>
          <a:p>
            <a:pPr lvl="0">
              <a:buClr>
                <a:srgbClr val="903163"/>
              </a:buClr>
            </a:pPr>
            <a:r>
              <a:rPr lang="en-US" sz="2800" dirty="0" smtClean="0">
                <a:solidFill>
                  <a:srgbClr val="3D3D3D"/>
                </a:solidFill>
                <a:latin typeface="Times New Roman" panose="02020603050405020304" pitchFamily="18" charset="0"/>
                <a:cs typeface="Times New Roman" panose="02020603050405020304" pitchFamily="18" charset="0"/>
              </a:rPr>
              <a:t>Avoid heat in the tropics</a:t>
            </a:r>
            <a:endParaRPr lang="en-US" sz="2800" dirty="0">
              <a:solidFill>
                <a:srgbClr val="3D3D3D"/>
              </a:solidFill>
              <a:latin typeface="Times New Roman" panose="02020603050405020304" pitchFamily="18" charset="0"/>
              <a:cs typeface="Times New Roman" panose="02020603050405020304" pitchFamily="18" charset="0"/>
            </a:endParaRPr>
          </a:p>
          <a:p>
            <a:pPr lvl="0">
              <a:buClr>
                <a:srgbClr val="903163"/>
              </a:buClr>
            </a:pPr>
            <a:endParaRPr lang="en-US" sz="2800" dirty="0">
              <a:solidFill>
                <a:srgbClr val="3D3D3D"/>
              </a:solidFill>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85FABB-4740-469D-9BAF-28A9DC90EE00}" type="slidenum">
              <a:rPr lang="en-US" smtClean="0"/>
              <a:t>5</a:t>
            </a:fld>
            <a:endParaRPr lang="en-US"/>
          </a:p>
        </p:txBody>
      </p:sp>
    </p:spTree>
    <p:extLst>
      <p:ext uri="{BB962C8B-B14F-4D97-AF65-F5344CB8AC3E}">
        <p14:creationId xmlns:p14="http://schemas.microsoft.com/office/powerpoint/2010/main" val="3371837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latin typeface="Times New Roman" panose="02020603050405020304" pitchFamily="18" charset="0"/>
                <a:cs typeface="Times New Roman" panose="02020603050405020304" pitchFamily="18" charset="0"/>
              </a:rPr>
              <a:t>PHYSIOLOGY OF DIVING </a:t>
            </a:r>
            <a:r>
              <a:rPr lang="en-US" sz="3200" dirty="0" smtClean="0">
                <a:latin typeface="Times New Roman" panose="02020603050405020304" pitchFamily="18" charset="0"/>
                <a:cs typeface="Times New Roman" panose="02020603050405020304" pitchFamily="18" charset="0"/>
              </a:rPr>
              <a:t>BEHAVIOR OF LEATHERBACK TURTLES</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81192" y="2854264"/>
            <a:ext cx="11029615" cy="3678303"/>
          </a:xfrm>
        </p:spPr>
        <p:txBody>
          <a:bodyPr>
            <a:noAutofit/>
          </a:bodyPr>
          <a:lstStyle/>
          <a:p>
            <a:r>
              <a:rPr lang="en-US" sz="2800" dirty="0" smtClean="0">
                <a:latin typeface="Times New Roman" panose="02020603050405020304" pitchFamily="18" charset="0"/>
                <a:cs typeface="Times New Roman" panose="02020603050405020304" pitchFamily="18" charset="0"/>
              </a:rPr>
              <a:t>Aerobic metabolism</a:t>
            </a:r>
          </a:p>
          <a:p>
            <a:r>
              <a:rPr lang="en-US" sz="2800" dirty="0" smtClean="0">
                <a:latin typeface="Times New Roman" panose="02020603050405020304" pitchFamily="18" charset="0"/>
                <a:cs typeface="Times New Roman" panose="02020603050405020304" pitchFamily="18" charset="0"/>
              </a:rPr>
              <a:t>Increased lung tidal volume to facilitate rapid C02 unloading and O2 uptake at the surface.(Amanda et al., 1999).</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85FABB-4740-469D-9BAF-28A9DC90EE00}" type="slidenum">
              <a:rPr lang="en-US" smtClean="0"/>
              <a:t>6</a:t>
            </a:fld>
            <a:endParaRPr lang="en-US"/>
          </a:p>
        </p:txBody>
      </p:sp>
    </p:spTree>
    <p:extLst>
      <p:ext uri="{BB962C8B-B14F-4D97-AF65-F5344CB8AC3E}">
        <p14:creationId xmlns:p14="http://schemas.microsoft.com/office/powerpoint/2010/main" val="1840602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latin typeface="Times New Roman" panose="02020603050405020304" pitchFamily="18" charset="0"/>
                <a:cs typeface="Times New Roman" panose="02020603050405020304" pitchFamily="18" charset="0"/>
              </a:rPr>
              <a:t>PHYSIOLOGY OF DIVING BEHAVIOR OF LEATHERBACK TURTLES</a:t>
            </a:r>
            <a:endParaRPr lang="en-US" sz="3200" dirty="0"/>
          </a:p>
        </p:txBody>
      </p:sp>
      <p:sp>
        <p:nvSpPr>
          <p:cNvPr id="3" name="Content Placeholder 2"/>
          <p:cNvSpPr>
            <a:spLocks noGrp="1"/>
          </p:cNvSpPr>
          <p:nvPr>
            <p:ph idx="1"/>
          </p:nvPr>
        </p:nvSpPr>
        <p:spPr/>
        <p:txBody>
          <a:bodyPr>
            <a:noAutofit/>
          </a:bodyPr>
          <a:lstStyle/>
          <a:p>
            <a:pPr marL="0" indent="0">
              <a:buNone/>
            </a:pP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Variation in heart rate</a:t>
            </a:r>
          </a:p>
          <a:p>
            <a:r>
              <a:rPr lang="en-US" sz="2800" dirty="0" err="1" smtClean="0">
                <a:latin typeface="Times New Roman" panose="02020603050405020304" pitchFamily="18" charset="0"/>
                <a:cs typeface="Times New Roman" panose="02020603050405020304" pitchFamily="18" charset="0"/>
              </a:rPr>
              <a:t>Brachycardia</a:t>
            </a:r>
            <a:r>
              <a:rPr lang="en-US" sz="2800" dirty="0">
                <a:latin typeface="Times New Roman" panose="02020603050405020304" pitchFamily="18" charset="0"/>
                <a:cs typeface="Times New Roman" panose="02020603050405020304" pitchFamily="18" charset="0"/>
              </a:rPr>
              <a:t> (averagely 13 beats per minute</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facilitates survival during </a:t>
            </a:r>
            <a:r>
              <a:rPr lang="en-US" sz="2800" dirty="0" smtClean="0">
                <a:latin typeface="Times New Roman" panose="02020603050405020304" pitchFamily="18" charset="0"/>
                <a:cs typeface="Times New Roman" panose="02020603050405020304" pitchFamily="18" charset="0"/>
              </a:rPr>
              <a:t>diving.</a:t>
            </a:r>
          </a:p>
          <a:p>
            <a:r>
              <a:rPr lang="en-US" sz="2800" dirty="0" smtClean="0">
                <a:latin typeface="Times New Roman" panose="02020603050405020304" pitchFamily="18" charset="0"/>
                <a:cs typeface="Times New Roman" panose="02020603050405020304" pitchFamily="18" charset="0"/>
              </a:rPr>
              <a:t>Tachycardia </a:t>
            </a:r>
            <a:r>
              <a:rPr lang="en-US" sz="2800" dirty="0">
                <a:latin typeface="Times New Roman" panose="02020603050405020304" pitchFamily="18" charset="0"/>
                <a:cs typeface="Times New Roman" panose="02020603050405020304" pitchFamily="18" charset="0"/>
              </a:rPr>
              <a:t>(averagely 30 beats per minute) aids restoration of blood flow to tissues and flushing of metabolites that might have built up during diving allowing for efficient uptake of oxygen during resurfacing (Amanda et al., 1999).</a:t>
            </a:r>
          </a:p>
          <a:p>
            <a:pPr marL="0" indent="0">
              <a:buNone/>
            </a:pP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85FABB-4740-469D-9BAF-28A9DC90EE00}" type="slidenum">
              <a:rPr lang="en-US" smtClean="0"/>
              <a:t>7</a:t>
            </a:fld>
            <a:endParaRPr lang="en-US"/>
          </a:p>
        </p:txBody>
      </p:sp>
    </p:spTree>
    <p:extLst>
      <p:ext uri="{BB962C8B-B14F-4D97-AF65-F5344CB8AC3E}">
        <p14:creationId xmlns:p14="http://schemas.microsoft.com/office/powerpoint/2010/main" val="1194121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latin typeface="Times New Roman" panose="02020603050405020304" pitchFamily="18" charset="0"/>
                <a:cs typeface="Times New Roman" panose="02020603050405020304" pitchFamily="18" charset="0"/>
              </a:rPr>
              <a:t>PHYSIOLOGY OF DIVING BEHAVIOR OF LEATHERBACK TURTLES</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Thermoregulation through resurfacing</a:t>
            </a:r>
          </a:p>
          <a:p>
            <a:pPr>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High pressure tolerance</a:t>
            </a:r>
          </a:p>
          <a:p>
            <a:pPr>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Structural adaptations to aid physiological processes.</a:t>
            </a:r>
            <a:endParaRPr lang="en-US" sz="2800"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85FABB-4740-469D-9BAF-28A9DC90EE00}" type="slidenum">
              <a:rPr lang="en-US" smtClean="0"/>
              <a:t>8</a:t>
            </a:fld>
            <a:endParaRPr lang="en-US"/>
          </a:p>
        </p:txBody>
      </p:sp>
    </p:spTree>
    <p:extLst>
      <p:ext uri="{BB962C8B-B14F-4D97-AF65-F5344CB8AC3E}">
        <p14:creationId xmlns:p14="http://schemas.microsoft.com/office/powerpoint/2010/main" val="620782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latin typeface="Times New Roman" panose="02020603050405020304" pitchFamily="18" charset="0"/>
                <a:cs typeface="Times New Roman" panose="02020603050405020304" pitchFamily="18" charset="0"/>
              </a:rPr>
              <a:t>IMPORTANCE OF STUDYING DIVING BEHAVIORS</a:t>
            </a:r>
            <a:br>
              <a:rPr lang="en-US" sz="3200" dirty="0" smtClean="0">
                <a:latin typeface="Times New Roman" panose="02020603050405020304" pitchFamily="18" charset="0"/>
                <a:cs typeface="Times New Roman" panose="02020603050405020304" pitchFamily="18" charset="0"/>
              </a:rPr>
            </a:br>
            <a:r>
              <a:rPr lang="en-US" sz="3200" dirty="0" smtClean="0">
                <a:latin typeface="Times New Roman" panose="02020603050405020304" pitchFamily="18" charset="0"/>
                <a:cs typeface="Times New Roman" panose="02020603050405020304" pitchFamily="18" charset="0"/>
              </a:rPr>
              <a:t>CONTINUATION </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36884" y="1715956"/>
            <a:ext cx="11273923" cy="4720939"/>
          </a:xfrm>
        </p:spPr>
        <p:txBody>
          <a:bodyPr>
            <a:normAutofit/>
          </a:bodyPr>
          <a:lstStyle/>
          <a:p>
            <a:pPr>
              <a:buClr>
                <a:srgbClr val="903163"/>
              </a:buClr>
            </a:pPr>
            <a:r>
              <a:rPr lang="en-US" sz="2800" dirty="0">
                <a:latin typeface="Times New Roman" panose="02020603050405020304" pitchFamily="18" charset="0"/>
                <a:cs typeface="Times New Roman" panose="02020603050405020304" pitchFamily="18" charset="0"/>
              </a:rPr>
              <a:t>It provides crucial insights into ecological roles of marine animals and their interactions within marine </a:t>
            </a:r>
            <a:r>
              <a:rPr lang="en-US" sz="2800" dirty="0" smtClean="0">
                <a:latin typeface="Times New Roman" panose="02020603050405020304" pitchFamily="18" charset="0"/>
                <a:cs typeface="Times New Roman" panose="02020603050405020304" pitchFamily="18" charset="0"/>
              </a:rPr>
              <a:t>ecosystems</a:t>
            </a:r>
            <a:endParaRPr lang="en-US" sz="2800" dirty="0">
              <a:solidFill>
                <a:srgbClr val="3D3D3D"/>
              </a:solidFill>
              <a:latin typeface="Times New Roman" panose="02020603050405020304" pitchFamily="18" charset="0"/>
              <a:cs typeface="Times New Roman" panose="02020603050405020304" pitchFamily="18" charset="0"/>
            </a:endParaRPr>
          </a:p>
          <a:p>
            <a:pPr lvl="0">
              <a:buClr>
                <a:srgbClr val="903163"/>
              </a:buClr>
            </a:pPr>
            <a:r>
              <a:rPr lang="en-US" sz="2800" dirty="0">
                <a:solidFill>
                  <a:srgbClr val="3D3D3D"/>
                </a:solidFill>
                <a:latin typeface="Times New Roman" panose="02020603050405020304" pitchFamily="18" charset="0"/>
                <a:cs typeface="Times New Roman" panose="02020603050405020304" pitchFamily="18" charset="0"/>
              </a:rPr>
              <a:t>It contributes to our knowledge of marine physiology and animal health </a:t>
            </a:r>
          </a:p>
          <a:p>
            <a:endParaRPr 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85FABB-4740-469D-9BAF-28A9DC90EE00}" type="slidenum">
              <a:rPr lang="en-US" smtClean="0"/>
              <a:t>9</a:t>
            </a:fld>
            <a:endParaRPr lang="en-US"/>
          </a:p>
        </p:txBody>
      </p:sp>
    </p:spTree>
    <p:extLst>
      <p:ext uri="{BB962C8B-B14F-4D97-AF65-F5344CB8AC3E}">
        <p14:creationId xmlns:p14="http://schemas.microsoft.com/office/powerpoint/2010/main" val="3212735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anose="02020603050405020304" pitchFamily="18" charset="0"/>
                <a:cs typeface="Times New Roman" panose="02020603050405020304" pitchFamily="18" charset="0"/>
              </a:rPr>
              <a:t>CONCLUSION</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800" dirty="0" smtClean="0">
                <a:latin typeface="Times New Roman" panose="02020603050405020304" pitchFamily="18" charset="0"/>
                <a:cs typeface="Times New Roman" panose="02020603050405020304" pitchFamily="18" charset="0"/>
              </a:rPr>
              <a:t>The physiology of the diving behavior in leatherback sea turtles provides accurate insight into the various mechanisms that facilitate diving in marine organisms. Marine ecologists can harness this knowledge to improve upon the construction of various </a:t>
            </a:r>
            <a:r>
              <a:rPr lang="en-US" sz="2800" dirty="0" err="1" smtClean="0">
                <a:latin typeface="Times New Roman" panose="02020603050405020304" pitchFamily="18" charset="0"/>
                <a:cs typeface="Times New Roman" panose="02020603050405020304" pitchFamily="18" charset="0"/>
              </a:rPr>
              <a:t>equipments</a:t>
            </a:r>
            <a:r>
              <a:rPr lang="en-US" sz="2800" dirty="0" smtClean="0">
                <a:latin typeface="Times New Roman" panose="02020603050405020304" pitchFamily="18" charset="0"/>
                <a:cs typeface="Times New Roman" panose="02020603050405020304" pitchFamily="18" charset="0"/>
              </a:rPr>
              <a:t> for diving expeditions.</a:t>
            </a:r>
            <a:endParaRPr 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85FABB-4740-469D-9BAF-28A9DC90EE00}" type="slidenum">
              <a:rPr lang="en-US" smtClean="0"/>
              <a:t>10</a:t>
            </a:fld>
            <a:endParaRPr lang="en-US"/>
          </a:p>
        </p:txBody>
      </p:sp>
    </p:spTree>
    <p:extLst>
      <p:ext uri="{BB962C8B-B14F-4D97-AF65-F5344CB8AC3E}">
        <p14:creationId xmlns:p14="http://schemas.microsoft.com/office/powerpoint/2010/main" val="404575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anose="02020603050405020304" pitchFamily="18" charset="0"/>
                <a:cs typeface="Times New Roman" panose="02020603050405020304" pitchFamily="18" charset="0"/>
              </a:rPr>
              <a:t>REFERENCES</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dirty="0" err="1" smtClean="0">
                <a:latin typeface="Times New Roman" panose="02020603050405020304" pitchFamily="18" charset="0"/>
                <a:cs typeface="Times New Roman" panose="02020603050405020304" pitchFamily="18" charset="0"/>
              </a:rPr>
              <a:t>Ayaka</a:t>
            </a:r>
            <a:r>
              <a:rPr lang="en-US" sz="2000" dirty="0" smtClean="0">
                <a:latin typeface="Times New Roman" panose="02020603050405020304" pitchFamily="18" charset="0"/>
                <a:cs typeface="Times New Roman" panose="02020603050405020304" pitchFamily="18" charset="0"/>
              </a:rPr>
              <a:t> Asada, Scott A. Eckert, Frances P. </a:t>
            </a:r>
            <a:r>
              <a:rPr lang="en-US" sz="2000" dirty="0" err="1" smtClean="0">
                <a:latin typeface="Times New Roman" panose="02020603050405020304" pitchFamily="18" charset="0"/>
                <a:cs typeface="Times New Roman" panose="02020603050405020304" pitchFamily="18" charset="0"/>
              </a:rPr>
              <a:t>Gelwick</a:t>
            </a:r>
            <a:r>
              <a:rPr lang="en-US" sz="2000" dirty="0" smtClean="0">
                <a:latin typeface="Times New Roman" panose="02020603050405020304" pitchFamily="18" charset="0"/>
                <a:cs typeface="Times New Roman" panose="02020603050405020304" pitchFamily="18" charset="0"/>
              </a:rPr>
              <a:t>, William H. </a:t>
            </a:r>
            <a:r>
              <a:rPr lang="en-US" sz="2000" dirty="0" err="1" smtClean="0">
                <a:latin typeface="Times New Roman" panose="02020603050405020304" pitchFamily="18" charset="0"/>
                <a:cs typeface="Times New Roman" panose="02020603050405020304" pitchFamily="18" charset="0"/>
              </a:rPr>
              <a:t>Hagey</a:t>
            </a:r>
            <a:r>
              <a:rPr lang="en-US" sz="2000" dirty="0" smtClean="0">
                <a:latin typeface="Times New Roman" panose="02020603050405020304" pitchFamily="18" charset="0"/>
                <a:cs typeface="Times New Roman" panose="02020603050405020304" pitchFamily="18" charset="0"/>
              </a:rPr>
              <a:t>, Randall W. </a:t>
            </a:r>
            <a:r>
              <a:rPr lang="en-US" sz="2000" dirty="0" err="1" smtClean="0">
                <a:latin typeface="Times New Roman" panose="02020603050405020304" pitchFamily="18" charset="0"/>
                <a:cs typeface="Times New Roman" panose="02020603050405020304" pitchFamily="18" charset="0"/>
              </a:rPr>
              <a:t>Davis,Diving</a:t>
            </a:r>
            <a:r>
              <a:rPr lang="en-US" sz="2000" dirty="0" smtClean="0">
                <a:latin typeface="Times New Roman" panose="02020603050405020304" pitchFamily="18" charset="0"/>
                <a:cs typeface="Times New Roman" panose="02020603050405020304" pitchFamily="18" charset="0"/>
              </a:rPr>
              <a:t> behavior and energetic strategy of leatherback sea turtles during </a:t>
            </a:r>
            <a:r>
              <a:rPr lang="en-US" sz="2000" dirty="0" err="1" smtClean="0">
                <a:latin typeface="Times New Roman" panose="02020603050405020304" pitchFamily="18" charset="0"/>
                <a:cs typeface="Times New Roman" panose="02020603050405020304" pitchFamily="18" charset="0"/>
              </a:rPr>
              <a:t>internesting</a:t>
            </a:r>
            <a:r>
              <a:rPr lang="en-US" sz="2000" dirty="0" smtClean="0">
                <a:latin typeface="Times New Roman" panose="02020603050405020304" pitchFamily="18" charset="0"/>
                <a:cs typeface="Times New Roman" panose="02020603050405020304" pitchFamily="18" charset="0"/>
              </a:rPr>
              <a:t> intervals on St. Croix, U.S. Virgin Islands, Journal of Experimental Marine Biology and Ecology, Volume 550,2022.</a:t>
            </a:r>
          </a:p>
          <a:p>
            <a:r>
              <a:rPr lang="en-US" sz="2000" dirty="0" err="1">
                <a:latin typeface="Times New Roman" panose="02020603050405020304" pitchFamily="18" charset="0"/>
                <a:cs typeface="Times New Roman" panose="02020603050405020304" pitchFamily="18" charset="0"/>
              </a:rPr>
              <a:t>Paladino</a:t>
            </a:r>
            <a:r>
              <a:rPr lang="en-US" sz="2000" dirty="0">
                <a:latin typeface="Times New Roman" panose="02020603050405020304" pitchFamily="18" charset="0"/>
                <a:cs typeface="Times New Roman" panose="02020603050405020304" pitchFamily="18" charset="0"/>
              </a:rPr>
              <a:t> FV, O'Connor MP, </a:t>
            </a:r>
            <a:r>
              <a:rPr lang="en-US" sz="2000" dirty="0" err="1">
                <a:latin typeface="Times New Roman" panose="02020603050405020304" pitchFamily="18" charset="0"/>
                <a:cs typeface="Times New Roman" panose="02020603050405020304" pitchFamily="18" charset="0"/>
              </a:rPr>
              <a:t>Spotila</a:t>
            </a:r>
            <a:r>
              <a:rPr lang="en-US" sz="2000" dirty="0">
                <a:latin typeface="Times New Roman" panose="02020603050405020304" pitchFamily="18" charset="0"/>
                <a:cs typeface="Times New Roman" panose="02020603050405020304" pitchFamily="18" charset="0"/>
              </a:rPr>
              <a:t> JR (1990). "Metabolism of Leatherback Turtles, </a:t>
            </a:r>
            <a:r>
              <a:rPr lang="en-US" sz="2000" dirty="0" err="1">
                <a:latin typeface="Times New Roman" panose="02020603050405020304" pitchFamily="18" charset="0"/>
                <a:cs typeface="Times New Roman" panose="02020603050405020304" pitchFamily="18" charset="0"/>
              </a:rPr>
              <a:t>Gigantothermy</a:t>
            </a:r>
            <a:r>
              <a:rPr lang="en-US" sz="2000" dirty="0">
                <a:latin typeface="Times New Roman" panose="02020603050405020304" pitchFamily="18" charset="0"/>
                <a:cs typeface="Times New Roman" panose="02020603050405020304" pitchFamily="18" charset="0"/>
              </a:rPr>
              <a:t>, and Thermoregulation of Dinosaurs". </a:t>
            </a:r>
            <a:r>
              <a:rPr lang="en-US" sz="2000" i="1" dirty="0">
                <a:latin typeface="Times New Roman" panose="02020603050405020304" pitchFamily="18" charset="0"/>
                <a:cs typeface="Times New Roman" panose="02020603050405020304" pitchFamily="18" charset="0"/>
              </a:rPr>
              <a:t>Nature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344</a:t>
            </a:r>
            <a:r>
              <a:rPr lang="en-US" sz="2000" dirty="0">
                <a:latin typeface="Times New Roman" panose="02020603050405020304" pitchFamily="18" charset="0"/>
                <a:cs typeface="Times New Roman" panose="02020603050405020304" pitchFamily="18" charset="0"/>
              </a:rPr>
              <a:t> (6269): 858–860</a:t>
            </a:r>
            <a:r>
              <a:rPr lang="en-US" sz="2000" dirty="0" smtClean="0">
                <a:latin typeface="Times New Roman" panose="02020603050405020304" pitchFamily="18" charset="0"/>
                <a:cs typeface="Times New Roman" panose="02020603050405020304" pitchFamily="18" charset="0"/>
              </a:rPr>
              <a:t>.</a:t>
            </a:r>
          </a:p>
          <a:p>
            <a:r>
              <a:rPr lang="en-US" sz="2000" dirty="0" err="1">
                <a:latin typeface="Times New Roman" panose="02020603050405020304" pitchFamily="18" charset="0"/>
                <a:cs typeface="Times New Roman" panose="02020603050405020304" pitchFamily="18" charset="0"/>
              </a:rPr>
              <a:t>Penick</a:t>
            </a:r>
            <a:r>
              <a:rPr lang="en-US" sz="2000" dirty="0">
                <a:latin typeface="Times New Roman" panose="02020603050405020304" pitchFamily="18" charset="0"/>
                <a:cs typeface="Times New Roman" panose="02020603050405020304" pitchFamily="18" charset="0"/>
              </a:rPr>
              <a:t> DN, </a:t>
            </a:r>
            <a:r>
              <a:rPr lang="en-US" sz="2000" dirty="0" err="1">
                <a:latin typeface="Times New Roman" panose="02020603050405020304" pitchFamily="18" charset="0"/>
                <a:cs typeface="Times New Roman" panose="02020603050405020304" pitchFamily="18" charset="0"/>
              </a:rPr>
              <a:t>Spotila</a:t>
            </a:r>
            <a:r>
              <a:rPr lang="en-US" sz="2000" dirty="0">
                <a:latin typeface="Times New Roman" panose="02020603050405020304" pitchFamily="18" charset="0"/>
                <a:cs typeface="Times New Roman" panose="02020603050405020304" pitchFamily="18" charset="0"/>
              </a:rPr>
              <a:t> JR, O'Connor MP, </a:t>
            </a:r>
            <a:r>
              <a:rPr lang="en-US" sz="2000" dirty="0" err="1">
                <a:latin typeface="Times New Roman" panose="02020603050405020304" pitchFamily="18" charset="0"/>
                <a:cs typeface="Times New Roman" panose="02020603050405020304" pitchFamily="18" charset="0"/>
              </a:rPr>
              <a:t>Steyermark</a:t>
            </a:r>
            <a:r>
              <a:rPr lang="en-US" sz="2000" dirty="0">
                <a:latin typeface="Times New Roman" panose="02020603050405020304" pitchFamily="18" charset="0"/>
                <a:cs typeface="Times New Roman" panose="02020603050405020304" pitchFamily="18" charset="0"/>
              </a:rPr>
              <a:t> AC, George RH, </a:t>
            </a:r>
            <a:r>
              <a:rPr lang="en-US" sz="2000" dirty="0" err="1">
                <a:latin typeface="Times New Roman" panose="02020603050405020304" pitchFamily="18" charset="0"/>
                <a:cs typeface="Times New Roman" panose="02020603050405020304" pitchFamily="18" charset="0"/>
              </a:rPr>
              <a:t>Salice</a:t>
            </a:r>
            <a:r>
              <a:rPr lang="en-US" sz="2000" dirty="0">
                <a:latin typeface="Times New Roman" panose="02020603050405020304" pitchFamily="18" charset="0"/>
                <a:cs typeface="Times New Roman" panose="02020603050405020304" pitchFamily="18" charset="0"/>
              </a:rPr>
              <a:t> CJ, </a:t>
            </a:r>
            <a:r>
              <a:rPr lang="en-US" sz="2000" dirty="0" err="1">
                <a:latin typeface="Times New Roman" panose="02020603050405020304" pitchFamily="18" charset="0"/>
                <a:cs typeface="Times New Roman" panose="02020603050405020304" pitchFamily="18" charset="0"/>
              </a:rPr>
              <a:t>Paladino</a:t>
            </a:r>
            <a:r>
              <a:rPr lang="en-US" sz="2000" dirty="0">
                <a:latin typeface="Times New Roman" panose="02020603050405020304" pitchFamily="18" charset="0"/>
                <a:cs typeface="Times New Roman" panose="02020603050405020304" pitchFamily="18" charset="0"/>
              </a:rPr>
              <a:t> FV (1998). "Thermal Independence of Muscle Tissue Metabolism in the Leatherback Turtle, </a:t>
            </a:r>
            <a:r>
              <a:rPr lang="en-US" sz="2000" i="1" dirty="0" err="1">
                <a:latin typeface="Times New Roman" panose="02020603050405020304" pitchFamily="18" charset="0"/>
                <a:cs typeface="Times New Roman" panose="02020603050405020304" pitchFamily="18" charset="0"/>
              </a:rPr>
              <a:t>Dermochelys</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coriacea</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Comparative Biochemistry and Physiology A</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120</a:t>
            </a:r>
            <a:r>
              <a:rPr lang="en-US" sz="2000" dirty="0">
                <a:latin typeface="Times New Roman" panose="02020603050405020304" pitchFamily="18" charset="0"/>
                <a:cs typeface="Times New Roman" panose="02020603050405020304" pitchFamily="18" charset="0"/>
              </a:rPr>
              <a:t> (3): 399–403</a:t>
            </a:r>
            <a:r>
              <a:rPr lang="en-US" sz="2000" dirty="0" smtClean="0">
                <a:latin typeface="Times New Roman" panose="02020603050405020304" pitchFamily="18" charset="0"/>
                <a:cs typeface="Times New Roman" panose="02020603050405020304" pitchFamily="18" charset="0"/>
              </a:rPr>
              <a:t>.</a:t>
            </a:r>
          </a:p>
          <a:p>
            <a:r>
              <a:rPr lang="en-US" sz="2000" dirty="0" err="1">
                <a:latin typeface="Times New Roman" panose="02020603050405020304" pitchFamily="18" charset="0"/>
                <a:cs typeface="Times New Roman" panose="02020603050405020304" pitchFamily="18" charset="0"/>
              </a:rPr>
              <a:t>Bjorndal</a:t>
            </a:r>
            <a:r>
              <a:rPr lang="en-US" sz="2000" dirty="0">
                <a:latin typeface="Times New Roman" panose="02020603050405020304" pitchFamily="18" charset="0"/>
                <a:cs typeface="Times New Roman" panose="02020603050405020304" pitchFamily="18" charset="0"/>
              </a:rPr>
              <a:t>, K.A. et al., 1997. Foraging Ecology and Nutrition of Sea Turtles. In The Biology of Sea Turtles by Peter L. Lutz and John A. </a:t>
            </a:r>
            <a:r>
              <a:rPr lang="en-US" sz="2000" dirty="0" err="1">
                <a:latin typeface="Times New Roman" panose="02020603050405020304" pitchFamily="18" charset="0"/>
                <a:cs typeface="Times New Roman" panose="02020603050405020304" pitchFamily="18" charset="0"/>
              </a:rPr>
              <a:t>Musick</a:t>
            </a:r>
            <a:r>
              <a:rPr lang="en-US" sz="2000" dirty="0">
                <a:latin typeface="Times New Roman" panose="02020603050405020304" pitchFamily="18" charset="0"/>
                <a:cs typeface="Times New Roman" panose="02020603050405020304" pitchFamily="18" charset="0"/>
              </a:rPr>
              <a:t>. 218-220.</a:t>
            </a:r>
          </a:p>
        </p:txBody>
      </p:sp>
      <p:sp>
        <p:nvSpPr>
          <p:cNvPr id="4" name="Slide Number Placeholder 3"/>
          <p:cNvSpPr>
            <a:spLocks noGrp="1"/>
          </p:cNvSpPr>
          <p:nvPr>
            <p:ph type="sldNum" sz="quarter" idx="12"/>
          </p:nvPr>
        </p:nvSpPr>
        <p:spPr/>
        <p:txBody>
          <a:bodyPr/>
          <a:lstStyle/>
          <a:p>
            <a:fld id="{A885FABB-4740-469D-9BAF-28A9DC90EE00}" type="slidenum">
              <a:rPr lang="en-US" smtClean="0"/>
              <a:t>11</a:t>
            </a:fld>
            <a:endParaRPr lang="en-US"/>
          </a:p>
        </p:txBody>
      </p:sp>
    </p:spTree>
    <p:extLst>
      <p:ext uri="{BB962C8B-B14F-4D97-AF65-F5344CB8AC3E}">
        <p14:creationId xmlns:p14="http://schemas.microsoft.com/office/powerpoint/2010/main" val="2612544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anose="02020603050405020304" pitchFamily="18" charset="0"/>
                <a:cs typeface="Times New Roman" panose="02020603050405020304" pitchFamily="18" charset="0"/>
              </a:rPr>
              <a:t>REFERENCES</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800" dirty="0" smtClean="0">
                <a:latin typeface="Times New Roman" panose="02020603050405020304" pitchFamily="18" charset="0"/>
                <a:cs typeface="Times New Roman" panose="02020603050405020304" pitchFamily="18" charset="0"/>
              </a:rPr>
              <a:t>Nathan J. Robinson, Frank V </a:t>
            </a:r>
            <a:r>
              <a:rPr lang="en-US" sz="2800" dirty="0" err="1" smtClean="0">
                <a:latin typeface="Times New Roman" panose="02020603050405020304" pitchFamily="18" charset="0"/>
                <a:cs typeface="Times New Roman" panose="02020603050405020304" pitchFamily="18" charset="0"/>
              </a:rPr>
              <a:t>Paladino</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(2015). Diving behavior and physiology of the leatherback sea turtle. </a:t>
            </a:r>
            <a:r>
              <a:rPr lang="en-US" sz="2800" i="1" dirty="0" smtClean="0">
                <a:latin typeface="Times New Roman" panose="02020603050405020304" pitchFamily="18" charset="0"/>
                <a:cs typeface="Times New Roman" panose="02020603050405020304" pitchFamily="18" charset="0"/>
              </a:rPr>
              <a:t>The leatherback sea turtle, 21-31.</a:t>
            </a:r>
          </a:p>
          <a:p>
            <a:r>
              <a:rPr lang="en-US" sz="2800" dirty="0" smtClean="0">
                <a:latin typeface="Times New Roman" panose="02020603050405020304" pitchFamily="18" charset="0"/>
                <a:cs typeface="Times New Roman" panose="02020603050405020304" pitchFamily="18" charset="0"/>
              </a:rPr>
              <a:t>Amanda L. </a:t>
            </a:r>
            <a:r>
              <a:rPr lang="en-US" sz="2800" dirty="0" err="1" smtClean="0">
                <a:latin typeface="Times New Roman" panose="02020603050405020304" pitchFamily="18" charset="0"/>
                <a:cs typeface="Times New Roman" panose="02020603050405020304" pitchFamily="18" charset="0"/>
              </a:rPr>
              <a:t>Southwood</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et al. (1999). Heart rates and diving behavior of leatherback sea turtles in the Eastern Pacific Ocean. </a:t>
            </a:r>
            <a:r>
              <a:rPr lang="en-US" sz="2800" i="1" dirty="0" smtClean="0">
                <a:latin typeface="Times New Roman" panose="02020603050405020304" pitchFamily="18" charset="0"/>
                <a:cs typeface="Times New Roman" panose="02020603050405020304" pitchFamily="18" charset="0"/>
              </a:rPr>
              <a:t>The Journal of Experimental biology, 202, 1115-1125.</a:t>
            </a:r>
            <a:endParaRPr lang="en-US" sz="2800" dirty="0" smtClean="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85FABB-4740-469D-9BAF-28A9DC90EE00}" type="slidenum">
              <a:rPr lang="en-US" smtClean="0"/>
              <a:t>12</a:t>
            </a:fld>
            <a:endParaRPr lang="en-US"/>
          </a:p>
        </p:txBody>
      </p:sp>
    </p:spTree>
    <p:extLst>
      <p:ext uri="{BB962C8B-B14F-4D97-AF65-F5344CB8AC3E}">
        <p14:creationId xmlns:p14="http://schemas.microsoft.com/office/powerpoint/2010/main" val="4153398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885FABB-4740-469D-9BAF-28A9DC90EE00}" type="slidenum">
              <a:rPr lang="en-US" smtClean="0"/>
              <a:t>13</a:t>
            </a:fld>
            <a:endParaRPr lang="en-US"/>
          </a:p>
        </p:txBody>
      </p:sp>
      <p:pic>
        <p:nvPicPr>
          <p:cNvPr id="4" name="Picture 3"/>
          <p:cNvPicPr>
            <a:picLocks noChangeAspect="1"/>
          </p:cNvPicPr>
          <p:nvPr/>
        </p:nvPicPr>
        <p:blipFill>
          <a:blip r:embed="rId2"/>
          <a:stretch>
            <a:fillRect/>
          </a:stretch>
        </p:blipFill>
        <p:spPr>
          <a:xfrm>
            <a:off x="1957461" y="1055077"/>
            <a:ext cx="8689724" cy="4884420"/>
          </a:xfrm>
          <a:prstGeom prst="rect">
            <a:avLst/>
          </a:prstGeom>
        </p:spPr>
      </p:pic>
    </p:spTree>
    <p:extLst>
      <p:ext uri="{BB962C8B-B14F-4D97-AF65-F5344CB8AC3E}">
        <p14:creationId xmlns:p14="http://schemas.microsoft.com/office/powerpoint/2010/main" val="41205524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294</TotalTime>
  <Words>499</Words>
  <Application>Microsoft Office PowerPoint</Application>
  <PresentationFormat>Widescreen</PresentationFormat>
  <Paragraphs>70</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Gill Sans MT</vt:lpstr>
      <vt:lpstr>Times New Roman</vt:lpstr>
      <vt:lpstr>Wingdings</vt:lpstr>
      <vt:lpstr>Wingdings 2</vt:lpstr>
      <vt:lpstr>Dividend</vt:lpstr>
      <vt:lpstr>DIVING BEHAVIOR AND PHYSIOLOGY OF LEATHERBACK TURTLE</vt:lpstr>
      <vt:lpstr>OUTLINE</vt:lpstr>
      <vt:lpstr>OVERVIEW OF LEATHERBACK TURTLE </vt:lpstr>
      <vt:lpstr>DIVING BEHAVIOR OF LEATHERBACK SEA TURTLES</vt:lpstr>
      <vt:lpstr>DIVING BEHAVIOR OF LEATHERBACK SEA TURTLES</vt:lpstr>
      <vt:lpstr>PHYSIOLOGY OF DIVING BEHAVIOR OF LEATHERBACK TURTLES</vt:lpstr>
      <vt:lpstr>PHYSIOLOGY OF DIVING BEHAVIOR OF LEATHERBACK TURTLES</vt:lpstr>
      <vt:lpstr>PHYSIOLOGY OF DIVING BEHAVIOR OF LEATHERBACK TURTLES</vt:lpstr>
      <vt:lpstr>IMPORTANCE OF STUDYING DIVING BEHAVIORS CONTINUATION </vt:lpstr>
      <vt:lpstr>CONCLUSION</vt:lpstr>
      <vt:lpstr>REFERENCES</vt:lpstr>
      <vt:lpstr>REFERENCES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DIVING BEHAVIOR AND PHYSIOLOGY OF LEATHERBACK TURTLE</dc:title>
  <dc:creator>ivy azantinlow</dc:creator>
  <cp:lastModifiedBy>Microsoft account</cp:lastModifiedBy>
  <cp:revision>31</cp:revision>
  <dcterms:created xsi:type="dcterms:W3CDTF">2023-08-02T16:57:01Z</dcterms:created>
  <dcterms:modified xsi:type="dcterms:W3CDTF">2023-08-03T20:19:04Z</dcterms:modified>
</cp:coreProperties>
</file>