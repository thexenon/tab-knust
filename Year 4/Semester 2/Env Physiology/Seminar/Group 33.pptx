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4" r:id="rId5"/>
    <p:sldId id="265" r:id="rId6"/>
    <p:sldId id="266" r:id="rId7"/>
    <p:sldId id="267" r:id="rId8"/>
    <p:sldId id="268" r:id="rId9"/>
    <p:sldId id="269" r:id="rId10"/>
    <p:sldId id="270" r:id="rId11"/>
    <p:sldId id="271" r:id="rId12"/>
    <p:sldId id="27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8/3/2023</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8/3/2023</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8/3/2023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8/3/2023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8/3/2023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8/3/2023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8/3/2023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8/3/2023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8/3/2023</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57503-B9B2-1A27-B28B-6C31ED8B17DC}"/>
              </a:ext>
            </a:extLst>
          </p:cNvPr>
          <p:cNvSpPr>
            <a:spLocks noGrp="1"/>
          </p:cNvSpPr>
          <p:nvPr>
            <p:ph type="ctrTitle"/>
          </p:nvPr>
        </p:nvSpPr>
        <p:spPr>
          <a:xfrm>
            <a:off x="1915127" y="1330774"/>
            <a:ext cx="8361229" cy="2098226"/>
          </a:xfrm>
        </p:spPr>
        <p:txBody>
          <a:bodyPr/>
          <a:lstStyle/>
          <a:p>
            <a:r>
              <a:rPr lang="en-US" sz="3600" b="1" dirty="0">
                <a:latin typeface="Times New Roman" panose="02020603050405020304" pitchFamily="18" charset="0"/>
                <a:cs typeface="Times New Roman" panose="02020603050405020304" pitchFamily="18" charset="0"/>
              </a:rPr>
              <a:t>MAMMALIAN PHYSIOLOGICAL RESPONSES TO GRAVITATIONAL FIELDS</a:t>
            </a:r>
          </a:p>
        </p:txBody>
      </p:sp>
      <p:sp>
        <p:nvSpPr>
          <p:cNvPr id="3" name="Subtitle 2">
            <a:extLst>
              <a:ext uri="{FF2B5EF4-FFF2-40B4-BE49-F238E27FC236}">
                <a16:creationId xmlns:a16="http://schemas.microsoft.com/office/drawing/2014/main" id="{EFBD1E49-33F3-6370-4342-A7D9657D7C97}"/>
              </a:ext>
            </a:extLst>
          </p:cNvPr>
          <p:cNvSpPr>
            <a:spLocks noGrp="1"/>
          </p:cNvSpPr>
          <p:nvPr>
            <p:ph type="subTitle" idx="1"/>
          </p:nvPr>
        </p:nvSpPr>
        <p:spPr>
          <a:xfrm>
            <a:off x="2679904" y="3784000"/>
            <a:ext cx="6831673" cy="1086237"/>
          </a:xfrm>
        </p:spPr>
        <p:txBody>
          <a:bodyPr>
            <a:normAutofit/>
          </a:bodyPr>
          <a:lstStyle/>
          <a:p>
            <a:r>
              <a:rPr lang="en-US" sz="2800" b="1" dirty="0">
                <a:latin typeface="Times New Roman" panose="02020603050405020304" pitchFamily="18" charset="0"/>
                <a:cs typeface="Times New Roman" panose="02020603050405020304" pitchFamily="18" charset="0"/>
              </a:rPr>
              <a:t>GROUP 33</a:t>
            </a:r>
          </a:p>
        </p:txBody>
      </p:sp>
    </p:spTree>
    <p:extLst>
      <p:ext uri="{BB962C8B-B14F-4D97-AF65-F5344CB8AC3E}">
        <p14:creationId xmlns:p14="http://schemas.microsoft.com/office/powerpoint/2010/main" val="2231443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5FD45-FA83-9C8F-708D-32A949BDB814}"/>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AD867499-2F9F-AB26-EB40-F6838093D4B7}"/>
              </a:ext>
            </a:extLst>
          </p:cNvPr>
          <p:cNvSpPr>
            <a:spLocks noGrp="1"/>
          </p:cNvSpPr>
          <p:nvPr>
            <p:ph idx="1"/>
          </p:nvPr>
        </p:nvSpPr>
        <p:spPr>
          <a:xfrm>
            <a:off x="1371600" y="1530626"/>
            <a:ext cx="9601200" cy="3581400"/>
          </a:xfrm>
        </p:spPr>
        <p:txBody>
          <a:bodyPr>
            <a:normAutofit/>
          </a:bodyPr>
          <a:lstStyle/>
          <a:p>
            <a:r>
              <a:rPr lang="en-US" sz="2400" dirty="0">
                <a:latin typeface="Times New Roman" panose="02020603050405020304" pitchFamily="18" charset="0"/>
                <a:cs typeface="Times New Roman" panose="02020603050405020304" pitchFamily="18" charset="0"/>
              </a:rPr>
              <a:t>What are gravitational fields</a:t>
            </a:r>
          </a:p>
          <a:p>
            <a:r>
              <a:rPr lang="en-US" sz="2400" dirty="0">
                <a:latin typeface="Times New Roman" panose="02020603050405020304" pitchFamily="18" charset="0"/>
                <a:cs typeface="Times New Roman" panose="02020603050405020304" pitchFamily="18" charset="0"/>
              </a:rPr>
              <a:t>What are mammalian physiological responses</a:t>
            </a:r>
          </a:p>
          <a:p>
            <a:r>
              <a:rPr lang="en-US" sz="2400" dirty="0">
                <a:latin typeface="Times New Roman" panose="02020603050405020304" pitchFamily="18" charset="0"/>
                <a:cs typeface="Times New Roman" panose="02020603050405020304" pitchFamily="18" charset="0"/>
              </a:rPr>
              <a:t>Effects of gravitational fields on mammals and their responses</a:t>
            </a:r>
          </a:p>
          <a:p>
            <a:r>
              <a:rPr lang="en-US" sz="2400" dirty="0">
                <a:latin typeface="Times New Roman" panose="02020603050405020304" pitchFamily="18" charset="0"/>
                <a:cs typeface="Times New Roman" panose="02020603050405020304" pitchFamily="18" charset="0"/>
              </a:rPr>
              <a:t>Significance of mammalian physiological responses to gravitational fields</a:t>
            </a:r>
          </a:p>
          <a:p>
            <a:r>
              <a:rPr lang="en-US" sz="24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760184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INTRODUCTION: GRAVITATIONAL FIELDS</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Gravitational fields are the invisible areas around an object where its gravity affects other objects within the field.</a:t>
            </a:r>
          </a:p>
          <a:p>
            <a:r>
              <a:rPr lang="en-US" sz="2400" dirty="0">
                <a:latin typeface="Times New Roman" panose="02020603050405020304" pitchFamily="18" charset="0"/>
                <a:cs typeface="Times New Roman" panose="02020603050405020304" pitchFamily="18" charset="0"/>
              </a:rPr>
              <a:t>They are the forces responsible for the attraction of two bodies toward each other.</a:t>
            </a:r>
          </a:p>
          <a:p>
            <a:r>
              <a:rPr lang="en-US" sz="2400" dirty="0">
                <a:latin typeface="Times New Roman" panose="02020603050405020304" pitchFamily="18" charset="0"/>
                <a:cs typeface="Times New Roman" panose="02020603050405020304" pitchFamily="18" charset="0"/>
              </a:rPr>
              <a:t>Gravitational fields are also responsible for the motion of planets, moons, and other celestial bodies.</a:t>
            </a:r>
          </a:p>
          <a:p>
            <a:r>
              <a:rPr lang="en-US" sz="2400" dirty="0">
                <a:latin typeface="Times New Roman" panose="02020603050405020304" pitchFamily="18" charset="0"/>
                <a:cs typeface="Times New Roman" panose="02020603050405020304" pitchFamily="18" charset="0"/>
              </a:rPr>
              <a:t>The impact of a gravitational field depends on the mass of the object creating it and the distance from that object.</a:t>
            </a:r>
          </a:p>
        </p:txBody>
      </p:sp>
    </p:spTree>
    <p:extLst>
      <p:ext uri="{BB962C8B-B14F-4D97-AF65-F5344CB8AC3E}">
        <p14:creationId xmlns:p14="http://schemas.microsoft.com/office/powerpoint/2010/main" val="700061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INTRODUCTION: PHYSIOLOGICAL RESPONSES</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Physiological responses are the changes in the body’s normal function in response to a stimulus.</a:t>
            </a:r>
          </a:p>
          <a:p>
            <a:r>
              <a:rPr lang="en-US" sz="2400" dirty="0">
                <a:latin typeface="Times New Roman" panose="02020603050405020304" pitchFamily="18" charset="0"/>
                <a:cs typeface="Times New Roman" panose="02020603050405020304" pitchFamily="18" charset="0"/>
              </a:rPr>
              <a:t>These responses are usually automatic and are triggered by factors such as stress, exercise, or changes in the environment.</a:t>
            </a:r>
          </a:p>
          <a:p>
            <a:r>
              <a:rPr lang="en-US" sz="2400" dirty="0">
                <a:latin typeface="Times New Roman" panose="02020603050405020304" pitchFamily="18" charset="0"/>
                <a:cs typeface="Times New Roman" panose="02020603050405020304" pitchFamily="18" charset="0"/>
              </a:rPr>
              <a:t>Responses may include changes in heart rate, blood pressure, and hormone levels among several others.</a:t>
            </a:r>
          </a:p>
          <a:p>
            <a:r>
              <a:rPr lang="en-US" sz="2400" dirty="0">
                <a:latin typeface="Times New Roman" panose="02020603050405020304" pitchFamily="18" charset="0"/>
                <a:cs typeface="Times New Roman" panose="02020603050405020304" pitchFamily="18" charset="0"/>
              </a:rPr>
              <a:t>Mammals, being terrestrial animals, have adapted to the constant influence of gravity on their bodies. </a:t>
            </a:r>
          </a:p>
        </p:txBody>
      </p:sp>
    </p:spTree>
    <p:extLst>
      <p:ext uri="{BB962C8B-B14F-4D97-AF65-F5344CB8AC3E}">
        <p14:creationId xmlns:p14="http://schemas.microsoft.com/office/powerpoint/2010/main" val="407198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MAMMALS AND GRAVITATIONAL FIELDS.</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a:effectLst/>
        </p:spPr>
        <p:txBody>
          <a:bodyPr>
            <a:normAutofit lnSpcReduction="10000"/>
          </a:bodyPr>
          <a:lstStyle/>
          <a:p>
            <a:r>
              <a:rPr lang="en-US" sz="2400" dirty="0">
                <a:latin typeface="Times New Roman" panose="02020603050405020304" pitchFamily="18" charset="0"/>
                <a:cs typeface="Times New Roman" panose="02020603050405020304" pitchFamily="18" charset="0"/>
              </a:rPr>
              <a:t>Mammals being terrestrial animals, have evolved to adapt to the constant influence of gravity on their bodies.</a:t>
            </a:r>
          </a:p>
          <a:p>
            <a:r>
              <a:rPr lang="en-US" sz="2400" dirty="0">
                <a:latin typeface="Times New Roman" panose="02020603050405020304" pitchFamily="18" charset="0"/>
                <a:cs typeface="Times New Roman" panose="02020603050405020304" pitchFamily="18" charset="0"/>
              </a:rPr>
              <a:t>Some systems involved in the mammalian response to gravity include</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Musculoskeletal system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Circulatory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Respiratory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Vestibular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Reproductive system</a:t>
            </a:r>
          </a:p>
        </p:txBody>
      </p:sp>
    </p:spTree>
    <p:extLst>
      <p:ext uri="{BB962C8B-B14F-4D97-AF65-F5344CB8AC3E}">
        <p14:creationId xmlns:p14="http://schemas.microsoft.com/office/powerpoint/2010/main" val="3654955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MUSCULOSKELETAL SYSTEM</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a:xfrm>
            <a:off x="1371600" y="1745973"/>
            <a:ext cx="5864087" cy="4426225"/>
          </a:xfrm>
          <a:effectLst/>
        </p:spPr>
        <p:txBody>
          <a:bodyPr>
            <a:normAutofit/>
          </a:bodyPr>
          <a:lstStyle/>
          <a:p>
            <a:r>
              <a:rPr lang="en-US" sz="2400" dirty="0">
                <a:latin typeface="Times New Roman" panose="02020603050405020304" pitchFamily="18" charset="0"/>
                <a:cs typeface="Times New Roman" panose="02020603050405020304" pitchFamily="18" charset="0"/>
              </a:rPr>
              <a:t>Mammals have developed specific skeletal and muscular structures to support their bodies against gravity.</a:t>
            </a:r>
          </a:p>
          <a:p>
            <a:r>
              <a:rPr lang="en-US" sz="2400" dirty="0">
                <a:latin typeface="Times New Roman" panose="02020603050405020304" pitchFamily="18" charset="0"/>
                <a:cs typeface="Times New Roman" panose="02020603050405020304" pitchFamily="18" charset="0"/>
              </a:rPr>
              <a:t>The spine also plays a crucial role in maintaining an upright posture while the limbs help in locomotion and movement.</a:t>
            </a:r>
          </a:p>
          <a:p>
            <a:r>
              <a:rPr lang="en-US" sz="2400" dirty="0">
                <a:latin typeface="Times New Roman" panose="02020603050405020304" pitchFamily="18" charset="0"/>
                <a:cs typeface="Times New Roman" panose="02020603050405020304" pitchFamily="18" charset="0"/>
              </a:rPr>
              <a:t>Another impact of gravity on the musculoskeletal system is variation in bone density and strength. Bone density loss may happen due to microgravity.</a:t>
            </a:r>
          </a:p>
        </p:txBody>
      </p:sp>
      <p:pic>
        <p:nvPicPr>
          <p:cNvPr id="5" name="Picture 4">
            <a:extLst>
              <a:ext uri="{FF2B5EF4-FFF2-40B4-BE49-F238E27FC236}">
                <a16:creationId xmlns:a16="http://schemas.microsoft.com/office/drawing/2014/main" id="{926EFEE6-C284-E4E2-2176-385F3A121938}"/>
              </a:ext>
            </a:extLst>
          </p:cNvPr>
          <p:cNvPicPr>
            <a:picLocks noChangeAspect="1"/>
          </p:cNvPicPr>
          <p:nvPr/>
        </p:nvPicPr>
        <p:blipFill>
          <a:blip r:embed="rId2"/>
          <a:stretch>
            <a:fillRect/>
          </a:stretch>
        </p:blipFill>
        <p:spPr>
          <a:xfrm>
            <a:off x="7440695" y="1745974"/>
            <a:ext cx="3854505" cy="4426226"/>
          </a:xfrm>
          <a:prstGeom prst="rect">
            <a:avLst/>
          </a:prstGeom>
        </p:spPr>
      </p:pic>
    </p:spTree>
    <p:extLst>
      <p:ext uri="{BB962C8B-B14F-4D97-AF65-F5344CB8AC3E}">
        <p14:creationId xmlns:p14="http://schemas.microsoft.com/office/powerpoint/2010/main" val="2715274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CIRCULATORY SYSTEM</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a:effectLst/>
        </p:spPr>
        <p:txBody>
          <a:bodyPr>
            <a:normAutofit/>
          </a:bodyPr>
          <a:lstStyle/>
          <a:p>
            <a:r>
              <a:rPr lang="en-US" sz="2400" dirty="0">
                <a:latin typeface="Times New Roman" panose="02020603050405020304" pitchFamily="18" charset="0"/>
                <a:cs typeface="Times New Roman" panose="02020603050405020304" pitchFamily="18" charset="0"/>
              </a:rPr>
              <a:t>Gravity influences blood circulation in mammals by causing blood to pool into the lower extremities when standing up which can reduce blood flow to the heart and brain.</a:t>
            </a:r>
          </a:p>
          <a:p>
            <a:r>
              <a:rPr lang="en-US" sz="2400" dirty="0">
                <a:latin typeface="Times New Roman" panose="02020603050405020304" pitchFamily="18" charset="0"/>
                <a:cs typeface="Times New Roman" panose="02020603050405020304" pitchFamily="18" charset="0"/>
              </a:rPr>
              <a:t>In response to this, mammals have strong hearts to pump against the force of gravity and constrict the blood vessels in order to send blood to the vital organs.</a:t>
            </a:r>
          </a:p>
        </p:txBody>
      </p:sp>
    </p:spTree>
    <p:extLst>
      <p:ext uri="{BB962C8B-B14F-4D97-AF65-F5344CB8AC3E}">
        <p14:creationId xmlns:p14="http://schemas.microsoft.com/office/powerpoint/2010/main" val="178429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a:latin typeface="Times New Roman" panose="02020603050405020304" pitchFamily="18" charset="0"/>
                <a:cs typeface="Times New Roman" panose="02020603050405020304" pitchFamily="18" charset="0"/>
              </a:rPr>
              <a:t>RESPIRATORY SYSTEM</a:t>
            </a: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a:effectLst/>
        </p:spPr>
        <p:txBody>
          <a:bodyPr>
            <a:normAutofit/>
          </a:bodyPr>
          <a:lstStyle/>
          <a:p>
            <a:r>
              <a:rPr lang="en-US" sz="2400" dirty="0">
                <a:latin typeface="Times New Roman" panose="02020603050405020304" pitchFamily="18" charset="0"/>
                <a:cs typeface="Times New Roman" panose="02020603050405020304" pitchFamily="18" charset="0"/>
              </a:rPr>
              <a:t>Gravity influences blood circulation in mammals by changing the lung function.</a:t>
            </a:r>
          </a:p>
          <a:p>
            <a:r>
              <a:rPr lang="en-US" sz="2400" dirty="0">
                <a:latin typeface="Times New Roman" panose="02020603050405020304" pitchFamily="18" charset="0"/>
                <a:cs typeface="Times New Roman" panose="02020603050405020304" pitchFamily="18" charset="0"/>
              </a:rPr>
              <a:t> Blood flow to the lower extremities causes reduced blood flow to the lungs which decreases oxygen uptake.</a:t>
            </a:r>
          </a:p>
          <a:p>
            <a:r>
              <a:rPr lang="en-US" sz="2400" dirty="0">
                <a:latin typeface="Times New Roman" panose="02020603050405020304" pitchFamily="18" charset="0"/>
                <a:cs typeface="Times New Roman" panose="02020603050405020304" pitchFamily="18" charset="0"/>
              </a:rPr>
              <a:t>In response to this, the mammalian body increases breathing rate to increase oxygen uptake and remove carbon dioxide.</a:t>
            </a:r>
          </a:p>
        </p:txBody>
      </p:sp>
    </p:spTree>
    <p:extLst>
      <p:ext uri="{BB962C8B-B14F-4D97-AF65-F5344CB8AC3E}">
        <p14:creationId xmlns:p14="http://schemas.microsoft.com/office/powerpoint/2010/main" val="733762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VESTIBULAR SYSTEM</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a:effectLst/>
        </p:spPr>
        <p:txBody>
          <a:bodyPr>
            <a:normAutofit/>
          </a:bodyPr>
          <a:lstStyle/>
          <a:p>
            <a:r>
              <a:rPr lang="en-US" sz="2400" dirty="0">
                <a:latin typeface="Times New Roman" panose="02020603050405020304" pitchFamily="18" charset="0"/>
                <a:cs typeface="Times New Roman" panose="02020603050405020304" pitchFamily="18" charset="0"/>
              </a:rPr>
              <a:t>The vestibular system is responsible for detecting changes in head position and movement, and it works in conjunction with other sensory systems, such as vision and proprioception, to help the body maintain balance. </a:t>
            </a:r>
          </a:p>
          <a:p>
            <a:r>
              <a:rPr lang="en-US" sz="2400" dirty="0">
                <a:latin typeface="Times New Roman" panose="02020603050405020304" pitchFamily="18" charset="0"/>
                <a:cs typeface="Times New Roman" panose="02020603050405020304" pitchFamily="18" charset="0"/>
              </a:rPr>
              <a:t> Gravity provides a constant downward force that helps the vestibular system detect changes in head position and movement.</a:t>
            </a:r>
          </a:p>
          <a:p>
            <a:r>
              <a:rPr lang="en-US" sz="2400" dirty="0">
                <a:latin typeface="Times New Roman" panose="02020603050405020304" pitchFamily="18" charset="0"/>
                <a:cs typeface="Times New Roman" panose="02020603050405020304" pitchFamily="18" charset="0"/>
              </a:rPr>
              <a:t>Organisms compensate for the effects of gravity on the vestibular system by widening their stance to maintain balance or adjust their head position to help the system detect changes in the environment.</a:t>
            </a:r>
          </a:p>
        </p:txBody>
      </p:sp>
    </p:spTree>
    <p:extLst>
      <p:ext uri="{BB962C8B-B14F-4D97-AF65-F5344CB8AC3E}">
        <p14:creationId xmlns:p14="http://schemas.microsoft.com/office/powerpoint/2010/main" val="3645574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REPRODUCTIVE SYSTEM</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a:effectLst/>
        </p:spPr>
        <p:txBody>
          <a:bodyPr>
            <a:normAutofit/>
          </a:bodyPr>
          <a:lstStyle/>
          <a:p>
            <a:r>
              <a:rPr lang="en-US" sz="2400" dirty="0">
                <a:latin typeface="Times New Roman" panose="02020603050405020304" pitchFamily="18" charset="0"/>
                <a:cs typeface="Times New Roman" panose="02020603050405020304" pitchFamily="18" charset="0"/>
              </a:rPr>
              <a:t>Gravity can influence mammalian reproduction but with minimal impact.</a:t>
            </a:r>
          </a:p>
          <a:p>
            <a:r>
              <a:rPr lang="en-US" sz="2400" dirty="0">
                <a:latin typeface="Times New Roman" panose="02020603050405020304" pitchFamily="18" charset="0"/>
                <a:cs typeface="Times New Roman" panose="02020603050405020304" pitchFamily="18" charset="0"/>
              </a:rPr>
              <a:t>Microgravity can have negative impacts on processes like embryo development and fetal positioning.</a:t>
            </a:r>
          </a:p>
          <a:p>
            <a:r>
              <a:rPr lang="en-US" sz="2400" dirty="0">
                <a:latin typeface="Times New Roman" panose="02020603050405020304" pitchFamily="18" charset="0"/>
                <a:cs typeface="Times New Roman" panose="02020603050405020304" pitchFamily="18" charset="0"/>
              </a:rPr>
              <a:t>It is important to state that the effects of gravity on the reproductive system are not well understood.</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0416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a:xfrm>
            <a:off x="1371600" y="1928191"/>
            <a:ext cx="9601200" cy="3581400"/>
          </a:xfrm>
          <a:effectLst/>
        </p:spPr>
        <p:txBody>
          <a:bodyPr>
            <a:normAutofit/>
          </a:bodyPr>
          <a:lstStyle/>
          <a:p>
            <a:r>
              <a:rPr lang="en-US" sz="2400" dirty="0">
                <a:latin typeface="Times New Roman" panose="02020603050405020304" pitchFamily="18" charset="0"/>
                <a:cs typeface="Times New Roman" panose="02020603050405020304" pitchFamily="18" charset="0"/>
              </a:rPr>
              <a:t>Mammalian physiological responses to gravitational fields vary depending on the strength and direction of the gravitational force. </a:t>
            </a:r>
          </a:p>
          <a:p>
            <a:r>
              <a:rPr lang="en-US" sz="2400" dirty="0">
                <a:latin typeface="Times New Roman" panose="02020603050405020304" pitchFamily="18" charset="0"/>
                <a:cs typeface="Times New Roman" panose="02020603050405020304" pitchFamily="18" charset="0"/>
              </a:rPr>
              <a:t>It's important to note that these responses can vary among different mammalian species, and long-term exposure to altered gravitational conditions, such as in space, can induce more profound and complex physiological changes.</a:t>
            </a:r>
          </a:p>
        </p:txBody>
      </p:sp>
    </p:spTree>
    <p:extLst>
      <p:ext uri="{BB962C8B-B14F-4D97-AF65-F5344CB8AC3E}">
        <p14:creationId xmlns:p14="http://schemas.microsoft.com/office/powerpoint/2010/main" val="1902795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1F3F5-7FF1-F9FC-E3E0-BE22135CA83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3BDC8C6-0F8D-2E64-2D7E-BADF3316FE1A}"/>
              </a:ext>
            </a:extLst>
          </p:cNvPr>
          <p:cNvSpPr>
            <a:spLocks noGrp="1"/>
          </p:cNvSpPr>
          <p:nvPr>
            <p:ph idx="1"/>
          </p:nvPr>
        </p:nvSpPr>
        <p:spPr>
          <a:xfrm>
            <a:off x="1371600" y="1530626"/>
            <a:ext cx="9601200" cy="3581400"/>
          </a:xfrm>
          <a:effectLst/>
        </p:spPr>
        <p:txBody>
          <a:bodyPr>
            <a:noAutofit/>
          </a:bodyPr>
          <a:lstStyle/>
          <a:p>
            <a:pPr algn="just"/>
            <a:r>
              <a:rPr lang="en-US" dirty="0">
                <a:latin typeface="Times New Roman" panose="02020603050405020304" pitchFamily="18" charset="0"/>
                <a:cs typeface="Times New Roman" panose="02020603050405020304" pitchFamily="18" charset="0"/>
              </a:rPr>
              <a:t> NASA - National Aeronautics and Space Administration. (https://www.nasa.gov/)</a:t>
            </a:r>
          </a:p>
          <a:p>
            <a:pPr algn="just"/>
            <a:r>
              <a:rPr lang="en-US" dirty="0">
                <a:latin typeface="Times New Roman" panose="02020603050405020304" pitchFamily="18" charset="0"/>
                <a:cs typeface="Times New Roman" panose="02020603050405020304" pitchFamily="18" charset="0"/>
              </a:rPr>
              <a:t> The Journal of Gravitational Physiology. ( http://www.gravityjournal.org/)</a:t>
            </a:r>
          </a:p>
          <a:p>
            <a:pPr algn="just"/>
            <a:r>
              <a:rPr lang="en-US" dirty="0">
                <a:latin typeface="Times New Roman" panose="02020603050405020304" pitchFamily="18" charset="0"/>
                <a:cs typeface="Times New Roman" panose="02020603050405020304" pitchFamily="18" charset="0"/>
              </a:rPr>
              <a:t> International Journal of Molecular Sciences - Special Issue on Gravitational Biology.  https://www.mdpi.com/journal/ijms/special_issues/gravitational_biology</a:t>
            </a:r>
          </a:p>
          <a:p>
            <a:pPr algn="just"/>
            <a:r>
              <a:rPr lang="en-US" dirty="0">
                <a:latin typeface="Times New Roman" panose="02020603050405020304" pitchFamily="18" charset="0"/>
                <a:cs typeface="Times New Roman" panose="02020603050405020304" pitchFamily="18" charset="0"/>
              </a:rPr>
              <a:t> Journal of Applied Physiology. https://journals.physiology.org/journal/jappl</a:t>
            </a:r>
          </a:p>
          <a:p>
            <a:pPr algn="just"/>
            <a:r>
              <a:rPr lang="en-US" dirty="0">
                <a:latin typeface="Times New Roman" panose="02020603050405020304" pitchFamily="18" charset="0"/>
                <a:cs typeface="Times New Roman" panose="02020603050405020304" pitchFamily="18" charset="0"/>
              </a:rPr>
              <a:t> Annual Review of Physiology. https://www.annualreviews.org/journal/physiol</a:t>
            </a:r>
          </a:p>
          <a:p>
            <a:pPr algn="just"/>
            <a:r>
              <a:rPr lang="en-US" dirty="0">
                <a:latin typeface="Times New Roman" panose="02020603050405020304" pitchFamily="18" charset="0"/>
                <a:cs typeface="Times New Roman" panose="02020603050405020304" pitchFamily="18" charset="0"/>
              </a:rPr>
              <a:t> Frontiers in Physiology - Section: Comparative Physiology.  https://www.frontiersin.org/journals/physiology/sections/comparative-physiology</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Herscheid</a:t>
            </a:r>
            <a:r>
              <a:rPr lang="en-US" dirty="0">
                <a:latin typeface="Times New Roman" panose="02020603050405020304" pitchFamily="18" charset="0"/>
                <a:cs typeface="Times New Roman" panose="02020603050405020304" pitchFamily="18" charset="0"/>
              </a:rPr>
              <a:t>, J. F. W., &amp; </a:t>
            </a:r>
            <a:r>
              <a:rPr lang="en-US" dirty="0" err="1">
                <a:latin typeface="Times New Roman" panose="02020603050405020304" pitchFamily="18" charset="0"/>
                <a:cs typeface="Times New Roman" panose="02020603050405020304" pitchFamily="18" charset="0"/>
              </a:rPr>
              <a:t>Baisch</a:t>
            </a:r>
            <a:r>
              <a:rPr lang="en-US" dirty="0">
                <a:latin typeface="Times New Roman" panose="02020603050405020304" pitchFamily="18" charset="0"/>
                <a:cs typeface="Times New Roman" panose="02020603050405020304" pitchFamily="18" charset="0"/>
              </a:rPr>
              <a:t>, V. A. F. (2010). Gravitational Biology II: Biological Effects of and Responses to Gravity (Advances in Space Biology and Medicine).</a:t>
            </a:r>
          </a:p>
          <a:p>
            <a:pPr algn="just"/>
            <a:r>
              <a:rPr lang="en-US" dirty="0">
                <a:latin typeface="Times New Roman" panose="02020603050405020304" pitchFamily="18" charset="0"/>
                <a:cs typeface="Times New Roman" panose="02020603050405020304" pitchFamily="18" charset="0"/>
              </a:rPr>
              <a:t> Haber, H. (1961). Gravitational Physiology.</a:t>
            </a:r>
          </a:p>
        </p:txBody>
      </p:sp>
    </p:spTree>
    <p:extLst>
      <p:ext uri="{BB962C8B-B14F-4D97-AF65-F5344CB8AC3E}">
        <p14:creationId xmlns:p14="http://schemas.microsoft.com/office/powerpoint/2010/main" val="136571004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{48D870AE-F2A2-41C6-B845-0060A43D449D}tf10001105</Template>
  <TotalTime>158</TotalTime>
  <Words>788</Words>
  <Application>Microsoft Office PowerPoint</Application>
  <PresentationFormat>Widescreen</PresentationFormat>
  <Paragraphs>57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Franklin Gothic Book</vt:lpstr>
      <vt:lpstr>Times New Roman</vt:lpstr>
      <vt:lpstr>Wingdings</vt:lpstr>
      <vt:lpstr>Crop</vt:lpstr>
      <vt:lpstr>MAMMALIAN PHYSIOLOGICAL RESPONSES TO GRAVITATIONAL FIELDS</vt:lpstr>
      <vt:lpstr>OUTLINE</vt:lpstr>
      <vt:lpstr>INTRODUCTION: GRAVITATIONAL FIELDS</vt:lpstr>
      <vt:lpstr>INTRODUCTION: PHYSIOLOGICAL RESPONSES</vt:lpstr>
      <vt:lpstr>MAMMALS AND GRAVITATIONAL FIELDS.</vt:lpstr>
      <vt:lpstr>MUSCULOSKELETAL SYSTEM</vt:lpstr>
      <vt:lpstr>CIRCULATORY SYSTEM</vt:lpstr>
      <vt:lpstr>RESPIRATORY SYSTEM</vt:lpstr>
      <vt:lpstr>VESTIBULAR SYSTEM</vt:lpstr>
      <vt:lpstr>REPRODUCTIVE SYSTEM</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MAMMALIAN PHYSIOLOGICAL RESPONSES TO GRAVITATIONAL FIELDS</dc:title>
  <dc:creator>gwoode497@gmail.com</dc:creator>
  <cp:lastModifiedBy>gwoode497@gmail.com</cp:lastModifiedBy>
  <cp:revision>6</cp:revision>
  <dcterms:created xsi:type="dcterms:W3CDTF">2023-08-02T08:19:34Z</dcterms:created>
  <dcterms:modified xsi:type="dcterms:W3CDTF">2023-08-03T11:38:08Z</dcterms:modified>
</cp:coreProperties>
</file>