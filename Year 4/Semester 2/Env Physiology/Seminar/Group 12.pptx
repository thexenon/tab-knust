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6"/>
  </p:notesMasterIdLst>
  <p:sldIdLst>
    <p:sldId id="256" r:id="rId2"/>
    <p:sldId id="265" r:id="rId3"/>
    <p:sldId id="258" r:id="rId4"/>
    <p:sldId id="259" r:id="rId5"/>
    <p:sldId id="260" r:id="rId6"/>
    <p:sldId id="267" r:id="rId7"/>
    <p:sldId id="262" r:id="rId8"/>
    <p:sldId id="263" r:id="rId9"/>
    <p:sldId id="264" r:id="rId10"/>
    <p:sldId id="266" r:id="rId11"/>
    <p:sldId id="268" r:id="rId12"/>
    <p:sldId id="271"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72" d="100"/>
          <a:sy n="72" d="100"/>
        </p:scale>
        <p:origin x="57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838A52-4FCE-4D60-8EE1-E496626D4BA1}" type="datetimeFigureOut">
              <a:rPr lang="en-US" smtClean="0"/>
              <a:t>7/26/2023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09762-0DC9-4A40-A1C9-A82AFACDC67E}" type="slidenum">
              <a:rPr lang="en-US" smtClean="0"/>
              <a:t>‹#›</a:t>
            </a:fld>
            <a:endParaRPr lang="en-US"/>
          </a:p>
        </p:txBody>
      </p:sp>
    </p:spTree>
    <p:extLst>
      <p:ext uri="{BB962C8B-B14F-4D97-AF65-F5344CB8AC3E}">
        <p14:creationId xmlns:p14="http://schemas.microsoft.com/office/powerpoint/2010/main" val="623920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19EA4CD-E8B6-4C1C-B076-0DFB9FC8C054}" type="datetime1">
              <a:rPr lang="en-US" smtClean="0"/>
              <a:t>7/26/2023</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80679E-7122-4A1D-9E9C-B9F09B7B4DC7}" type="datetime1">
              <a:rPr lang="en-US" smtClean="0"/>
              <a:t>7/26/2023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78B729-BA7F-44D1-92AD-67CB389AB935}" type="datetime1">
              <a:rPr lang="en-US" smtClean="0"/>
              <a:t>7/26/2023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8695D6-185E-477C-9C3B-080A65958FCF}" type="datetime1">
              <a:rPr lang="en-US" smtClean="0"/>
              <a:t>7/26/2023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73A017-F764-45E1-9E4E-345BF027DFDD}" type="datetime1">
              <a:rPr lang="en-US" smtClean="0"/>
              <a:t>7/26/2023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38FFC4-5FBF-49A1-9630-627AE85B5074}" type="datetime1">
              <a:rPr lang="en-US" smtClean="0"/>
              <a:t>7/26/2023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7076D3-D2B1-4759-81E7-60931BE79A30}" type="datetime1">
              <a:rPr lang="en-US" smtClean="0"/>
              <a:t>7/26/2023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F077BA-9403-4C25-BF74-E2D1BE3DF150}" type="datetime1">
              <a:rPr lang="en-US" smtClean="0"/>
              <a:t>7/26/2023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A2C9F0-BFF4-43DB-8ADC-608557D3486C}" type="datetime1">
              <a:rPr lang="en-US" smtClean="0"/>
              <a:t>7/26/2023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CF6E73-4EFE-461C-BD29-E6CE0809AC4E}" type="datetime1">
              <a:rPr lang="en-US" smtClean="0"/>
              <a:t>7/26/2023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471379-66B6-46DA-850A-574043073A64}" type="datetime1">
              <a:rPr lang="en-US" smtClean="0"/>
              <a:t>7/26/2023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9FB0B279-DED6-4FBD-8125-7CCA15BE880A}" type="datetime1">
              <a:rPr lang="en-US" smtClean="0"/>
              <a:t>7/26/2023</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allthingsfoxes.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235FB-822E-48B6-819F-CDE14B4A383D}"/>
              </a:ext>
            </a:extLst>
          </p:cNvPr>
          <p:cNvSpPr>
            <a:spLocks noGrp="1"/>
          </p:cNvSpPr>
          <p:nvPr>
            <p:ph type="ctrTitle"/>
          </p:nvPr>
        </p:nvSpPr>
        <p:spPr>
          <a:xfrm>
            <a:off x="1261872" y="758952"/>
            <a:ext cx="9418320" cy="1928589"/>
          </a:xfrm>
        </p:spPr>
        <p:txBody>
          <a:bodyPr>
            <a:normAutofit/>
          </a:bodyPr>
          <a:lstStyle/>
          <a:p>
            <a:r>
              <a:rPr lang="en-US" sz="4000" dirty="0">
                <a:latin typeface="Times New Roman" panose="02020603050405020304" pitchFamily="18" charset="0"/>
                <a:cs typeface="Times New Roman" panose="02020603050405020304" pitchFamily="18" charset="0"/>
              </a:rPr>
              <a:t>ADAPTATIONS OF THE ARCTIC FOX (</a:t>
            </a:r>
            <a:r>
              <a:rPr lang="en-US" sz="4000" i="1" dirty="0">
                <a:latin typeface="Times New Roman" panose="02020603050405020304" pitchFamily="18" charset="0"/>
                <a:cs typeface="Times New Roman" panose="02020603050405020304" pitchFamily="18" charset="0"/>
              </a:rPr>
              <a:t>Vulpes lagopus</a:t>
            </a:r>
            <a:r>
              <a:rPr lang="en-US" sz="4000" dirty="0">
                <a:latin typeface="Times New Roman" panose="02020603050405020304" pitchFamily="18" charset="0"/>
                <a:cs typeface="Times New Roman" panose="02020603050405020304" pitchFamily="18" charset="0"/>
              </a:rPr>
              <a:t>) TO THE POLAR  WINTER</a:t>
            </a:r>
          </a:p>
        </p:txBody>
      </p:sp>
      <p:sp>
        <p:nvSpPr>
          <p:cNvPr id="3" name="Subtitle 2">
            <a:extLst>
              <a:ext uri="{FF2B5EF4-FFF2-40B4-BE49-F238E27FC236}">
                <a16:creationId xmlns:a16="http://schemas.microsoft.com/office/drawing/2014/main" id="{8094530A-936A-4938-B3A0-B6F95C5D90C5}"/>
              </a:ext>
            </a:extLst>
          </p:cNvPr>
          <p:cNvSpPr>
            <a:spLocks noGrp="1"/>
          </p:cNvSpPr>
          <p:nvPr>
            <p:ph type="subTitle" idx="1"/>
          </p:nvPr>
        </p:nvSpPr>
        <p:spPr>
          <a:xfrm>
            <a:off x="1166456" y="4170460"/>
            <a:ext cx="9418320" cy="1120631"/>
          </a:xfrm>
        </p:spPr>
        <p:txBody>
          <a:bodyPr>
            <a:normAutofit/>
          </a:bodyPr>
          <a:lstStyle/>
          <a:p>
            <a:r>
              <a:rPr lang="en-US" sz="3600" dirty="0">
                <a:latin typeface="Times New Roman" panose="02020603050405020304" pitchFamily="18" charset="0"/>
                <a:cs typeface="Times New Roman" panose="02020603050405020304" pitchFamily="18" charset="0"/>
              </a:rPr>
              <a:t>GROUP 12</a:t>
            </a:r>
          </a:p>
        </p:txBody>
      </p:sp>
      <p:sp>
        <p:nvSpPr>
          <p:cNvPr id="12" name="Slide Number Placeholder 11">
            <a:extLst>
              <a:ext uri="{FF2B5EF4-FFF2-40B4-BE49-F238E27FC236}">
                <a16:creationId xmlns:a16="http://schemas.microsoft.com/office/drawing/2014/main" id="{1F78DA39-DEE5-42A5-B2C4-45576EBAAC01}"/>
              </a:ext>
            </a:extLst>
          </p:cNvPr>
          <p:cNvSpPr>
            <a:spLocks noGrp="1"/>
          </p:cNvSpPr>
          <p:nvPr>
            <p:ph type="sldNum" sz="quarter" idx="12"/>
          </p:nvPr>
        </p:nvSpPr>
        <p:spPr/>
        <p:txBody>
          <a:bodyPr>
            <a:normAutofit lnSpcReduction="10000"/>
          </a:bodyPr>
          <a:lstStyle/>
          <a:p>
            <a:fld id="{4FAB73BC-B049-4115-A692-8D63A059BFB8}" type="slidenum">
              <a:rPr lang="en-US" smtClean="0"/>
              <a:pPr/>
              <a:t>1</a:t>
            </a:fld>
            <a:endParaRPr lang="en-US" dirty="0"/>
          </a:p>
        </p:txBody>
      </p:sp>
    </p:spTree>
    <p:extLst>
      <p:ext uri="{BB962C8B-B14F-4D97-AF65-F5344CB8AC3E}">
        <p14:creationId xmlns:p14="http://schemas.microsoft.com/office/powerpoint/2010/main" val="1165063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AFE6A-B709-4108-AFBD-89BD883810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10A104-35F4-4304-A040-672A0965B48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0E0E040-C192-4CE1-AACD-88F889FD9A48}"/>
              </a:ext>
            </a:extLst>
          </p:cNvPr>
          <p:cNvPicPr>
            <a:picLocks noChangeAspect="1"/>
          </p:cNvPicPr>
          <p:nvPr/>
        </p:nvPicPr>
        <p:blipFill>
          <a:blip r:embed="rId2"/>
          <a:stretch>
            <a:fillRect/>
          </a:stretch>
        </p:blipFill>
        <p:spPr>
          <a:xfrm>
            <a:off x="0" y="0"/>
            <a:ext cx="12191999" cy="6858000"/>
          </a:xfrm>
          <a:prstGeom prst="rect">
            <a:avLst/>
          </a:prstGeom>
        </p:spPr>
      </p:pic>
      <p:sp>
        <p:nvSpPr>
          <p:cNvPr id="6" name="Slide Number Placeholder 5">
            <a:extLst>
              <a:ext uri="{FF2B5EF4-FFF2-40B4-BE49-F238E27FC236}">
                <a16:creationId xmlns:a16="http://schemas.microsoft.com/office/drawing/2014/main" id="{5629F61B-C8B7-406A-A238-876F4D8C0762}"/>
              </a:ext>
            </a:extLst>
          </p:cNvPr>
          <p:cNvSpPr>
            <a:spLocks noGrp="1"/>
          </p:cNvSpPr>
          <p:nvPr>
            <p:ph type="sldNum" sz="quarter" idx="12"/>
          </p:nvPr>
        </p:nvSpPr>
        <p:spPr/>
        <p:txBody>
          <a:bodyPr>
            <a:normAutofit lnSpcReduction="10000"/>
          </a:bodyPr>
          <a:lstStyle/>
          <a:p>
            <a:fld id="{4FAB73BC-B049-4115-A692-8D63A059BFB8}" type="slidenum">
              <a:rPr lang="en-US" smtClean="0"/>
              <a:t>2</a:t>
            </a:fld>
            <a:endParaRPr lang="en-US" dirty="0"/>
          </a:p>
        </p:txBody>
      </p:sp>
    </p:spTree>
    <p:extLst>
      <p:ext uri="{BB962C8B-B14F-4D97-AF65-F5344CB8AC3E}">
        <p14:creationId xmlns:p14="http://schemas.microsoft.com/office/powerpoint/2010/main" val="2432837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5F846-2F4A-4477-A587-5C6B13F03CE4}"/>
              </a:ext>
            </a:extLst>
          </p:cNvPr>
          <p:cNvSpPr>
            <a:spLocks noGrp="1"/>
          </p:cNvSpPr>
          <p:nvPr>
            <p:ph type="title"/>
          </p:nvPr>
        </p:nvSpPr>
        <p:spPr>
          <a:xfrm>
            <a:off x="1261872" y="365760"/>
            <a:ext cx="9692640" cy="803082"/>
          </a:xfrm>
        </p:spPr>
        <p:txBody>
          <a:bodyPr/>
          <a:lstStyle/>
          <a:p>
            <a:r>
              <a:rPr lang="en-US"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C75F7E53-185D-4151-B5EA-9A4EC68E0A78}"/>
              </a:ext>
            </a:extLst>
          </p:cNvPr>
          <p:cNvSpPr>
            <a:spLocks noGrp="1"/>
          </p:cNvSpPr>
          <p:nvPr>
            <p:ph idx="1"/>
          </p:nvPr>
        </p:nvSpPr>
        <p:spPr>
          <a:xfrm>
            <a:off x="1261872" y="1455938"/>
            <a:ext cx="8595360" cy="4724199"/>
          </a:xfrm>
        </p:spPr>
        <p:txBody>
          <a:bodyPr>
            <a:norm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INTRODUCTION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STRUCTURAL CHARACTERISTICS</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BEHAVIOURAL ADAPTATION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PHYSIOLOGICAL ADAPTATION</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ADAPTATION TO FOOD SCARCITY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CONCLUSION</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REFERNCES </a:t>
            </a:r>
          </a:p>
        </p:txBody>
      </p:sp>
      <p:sp>
        <p:nvSpPr>
          <p:cNvPr id="4" name="Slide Number Placeholder 3">
            <a:extLst>
              <a:ext uri="{FF2B5EF4-FFF2-40B4-BE49-F238E27FC236}">
                <a16:creationId xmlns:a16="http://schemas.microsoft.com/office/drawing/2014/main" id="{12346D08-F476-4038-A205-9FF67667455D}"/>
              </a:ext>
            </a:extLst>
          </p:cNvPr>
          <p:cNvSpPr>
            <a:spLocks noGrp="1"/>
          </p:cNvSpPr>
          <p:nvPr>
            <p:ph type="sldNum" sz="quarter" idx="12"/>
          </p:nvPr>
        </p:nvSpPr>
        <p:spPr/>
        <p:txBody>
          <a:bodyPr>
            <a:normAutofit lnSpcReduction="10000"/>
          </a:bodyPr>
          <a:lstStyle/>
          <a:p>
            <a:fld id="{4FAB73BC-B049-4115-A692-8D63A059BFB8}" type="slidenum">
              <a:rPr lang="en-US" smtClean="0"/>
              <a:t>3</a:t>
            </a:fld>
            <a:endParaRPr lang="en-US" dirty="0"/>
          </a:p>
        </p:txBody>
      </p:sp>
    </p:spTree>
    <p:extLst>
      <p:ext uri="{BB962C8B-B14F-4D97-AF65-F5344CB8AC3E}">
        <p14:creationId xmlns:p14="http://schemas.microsoft.com/office/powerpoint/2010/main" val="1561563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4C179-75AA-4E15-AF2A-9D9B8A4FF657}"/>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INTRODUCTION</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BBEE8D4-2E40-4D53-9B49-8FA2167789BA}"/>
              </a:ext>
            </a:extLst>
          </p:cNvPr>
          <p:cNvSpPr>
            <a:spLocks noGrp="1"/>
          </p:cNvSpPr>
          <p:nvPr>
            <p:ph idx="1"/>
          </p:nvPr>
        </p:nvSpPr>
        <p:spPr>
          <a:xfrm>
            <a:off x="1261872" y="1251752"/>
            <a:ext cx="8595360" cy="4928386"/>
          </a:xfrm>
        </p:spPr>
        <p:txBody>
          <a:bodyPr>
            <a:normAutofit fontScale="92500" lnSpcReduction="10000"/>
          </a:bodyPr>
          <a:lstStyle/>
          <a:p>
            <a:r>
              <a:rPr lang="en-US" sz="28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The arctic fox (</a:t>
            </a:r>
            <a:r>
              <a:rPr lang="en-US" sz="3200" i="1" dirty="0">
                <a:latin typeface="Times New Roman" panose="02020603050405020304" pitchFamily="18" charset="0"/>
                <a:cs typeface="Times New Roman" panose="02020603050405020304" pitchFamily="18" charset="0"/>
              </a:rPr>
              <a:t>Vulpes lagopus</a:t>
            </a:r>
            <a:r>
              <a:rPr lang="en-US" sz="3200" dirty="0">
                <a:latin typeface="Times New Roman" panose="02020603050405020304" pitchFamily="18" charset="0"/>
                <a:cs typeface="Times New Roman" panose="02020603050405020304" pitchFamily="18" charset="0"/>
              </a:rPr>
              <a:t>) is a small mammal found throughout the arctic tundra of Eurasia and North America.</a:t>
            </a:r>
          </a:p>
          <a:p>
            <a:pPr marL="0" indent="0">
              <a:buNone/>
            </a:pPr>
            <a:endParaRPr lang="en-US" sz="3200" dirty="0">
              <a:latin typeface="Times New Roman" panose="02020603050405020304" pitchFamily="18" charset="0"/>
              <a:cs typeface="Times New Roman" panose="02020603050405020304" pitchFamily="18" charset="0"/>
            </a:endParaRPr>
          </a:p>
          <a:p>
            <a:pPr algn="l"/>
            <a:r>
              <a:rPr lang="en-US" sz="3200" dirty="0">
                <a:latin typeface="Times New Roman" panose="02020603050405020304" pitchFamily="18" charset="0"/>
                <a:cs typeface="Times New Roman" panose="02020603050405020304" pitchFamily="18" charset="0"/>
              </a:rPr>
              <a:t> </a:t>
            </a:r>
            <a:r>
              <a:rPr lang="en-US" sz="3200" b="0" i="0" u="none" strike="noStrike" baseline="0" dirty="0">
                <a:latin typeface="Times New Roman" panose="02020603050405020304" pitchFamily="18" charset="0"/>
              </a:rPr>
              <a:t>The winter climate is characterized by low temperatures, snow fall, frequent strong winds and darkness during part of the winter</a:t>
            </a:r>
          </a:p>
          <a:p>
            <a:pPr marL="0" indent="0" algn="l">
              <a:buNone/>
            </a:pPr>
            <a:endParaRPr lang="en-US" sz="3200" dirty="0">
              <a:latin typeface="Times New Roman" panose="02020603050405020304" pitchFamily="18" charset="0"/>
              <a:cs typeface="Times New Roman" panose="02020603050405020304" pitchFamily="18" charset="0"/>
            </a:endParaRPr>
          </a:p>
          <a:p>
            <a:pPr algn="l"/>
            <a:r>
              <a:rPr lang="en-US" sz="3200" dirty="0">
                <a:latin typeface="Times New Roman" panose="02020603050405020304" pitchFamily="18" charset="0"/>
                <a:cs typeface="Times New Roman" panose="02020603050405020304" pitchFamily="18" charset="0"/>
              </a:rPr>
              <a:t> </a:t>
            </a:r>
            <a:r>
              <a:rPr lang="en-US" sz="3200" b="0" i="0" u="none" strike="noStrike" baseline="0" dirty="0">
                <a:latin typeface="Times New Roman" panose="02020603050405020304" pitchFamily="18" charset="0"/>
              </a:rPr>
              <a:t>Despite these seemingly inhospitable conditions, arctic foxes live and reproduce successfully</a:t>
            </a:r>
            <a:r>
              <a:rPr lang="en-US" sz="2800" b="0" i="0" u="none" strike="noStrike" baseline="0" dirty="0">
                <a:latin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61D2FBF-369B-4015-927A-66840C1C6D58}"/>
              </a:ext>
            </a:extLst>
          </p:cNvPr>
          <p:cNvSpPr>
            <a:spLocks noGrp="1"/>
          </p:cNvSpPr>
          <p:nvPr>
            <p:ph type="sldNum" sz="quarter" idx="12"/>
          </p:nvPr>
        </p:nvSpPr>
        <p:spPr/>
        <p:txBody>
          <a:bodyPr>
            <a:normAutofit lnSpcReduction="10000"/>
          </a:bodyPr>
          <a:lstStyle/>
          <a:p>
            <a:fld id="{4FAB73BC-B049-4115-A692-8D63A059BFB8}" type="slidenum">
              <a:rPr lang="en-US" smtClean="0"/>
              <a:t>4</a:t>
            </a:fld>
            <a:endParaRPr lang="en-US" dirty="0"/>
          </a:p>
        </p:txBody>
      </p:sp>
    </p:spTree>
    <p:extLst>
      <p:ext uri="{BB962C8B-B14F-4D97-AF65-F5344CB8AC3E}">
        <p14:creationId xmlns:p14="http://schemas.microsoft.com/office/powerpoint/2010/main" val="1432427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98042-FEA3-4C53-9607-7412AD549375}"/>
              </a:ext>
            </a:extLst>
          </p:cNvPr>
          <p:cNvSpPr>
            <a:spLocks noGrp="1"/>
          </p:cNvSpPr>
          <p:nvPr>
            <p:ph type="title"/>
          </p:nvPr>
        </p:nvSpPr>
        <p:spPr>
          <a:xfrm>
            <a:off x="1261872" y="365760"/>
            <a:ext cx="9692640" cy="814970"/>
          </a:xfrm>
        </p:spPr>
        <p:txBody>
          <a:bodyPr>
            <a:normAutofit/>
          </a:bodyPr>
          <a:lstStyle/>
          <a:p>
            <a:r>
              <a:rPr lang="en-US" sz="3600" dirty="0">
                <a:latin typeface="Times New Roman" panose="02020603050405020304" pitchFamily="18" charset="0"/>
                <a:cs typeface="Times New Roman" panose="02020603050405020304" pitchFamily="18" charset="0"/>
              </a:rPr>
              <a:t>STRUCTURAL CHARACTERISTICS</a:t>
            </a:r>
          </a:p>
        </p:txBody>
      </p:sp>
      <p:sp>
        <p:nvSpPr>
          <p:cNvPr id="3" name="Content Placeholder 2">
            <a:extLst>
              <a:ext uri="{FF2B5EF4-FFF2-40B4-BE49-F238E27FC236}">
                <a16:creationId xmlns:a16="http://schemas.microsoft.com/office/drawing/2014/main" id="{3CEE99E4-3915-480A-BC77-74D8F70F2C31}"/>
              </a:ext>
            </a:extLst>
          </p:cNvPr>
          <p:cNvSpPr>
            <a:spLocks noGrp="1"/>
          </p:cNvSpPr>
          <p:nvPr>
            <p:ph idx="1"/>
          </p:nvPr>
        </p:nvSpPr>
        <p:spPr>
          <a:xfrm>
            <a:off x="1102074" y="1322773"/>
            <a:ext cx="8595360" cy="4786343"/>
          </a:xfrm>
        </p:spPr>
        <p:txBody>
          <a:bodyPr>
            <a:normAutofit/>
          </a:bodyPr>
          <a:lstStyle/>
          <a:p>
            <a:pPr>
              <a:buFont typeface="Wingdings" panose="05000000000000000000" pitchFamily="2" charset="2"/>
              <a:buChar char="ü"/>
            </a:pPr>
            <a:r>
              <a:rPr lang="en-US" sz="3200" dirty="0"/>
              <a:t> </a:t>
            </a:r>
            <a:r>
              <a:rPr lang="en-US" sz="3200" dirty="0">
                <a:latin typeface="Times New Roman" panose="02020603050405020304" pitchFamily="18" charset="0"/>
                <a:cs typeface="Times New Roman" panose="02020603050405020304" pitchFamily="18" charset="0"/>
              </a:rPr>
              <a:t>Relatively small </a:t>
            </a:r>
          </a:p>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 Short legs</a:t>
            </a:r>
          </a:p>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 Short muzzle</a:t>
            </a:r>
          </a:p>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 Small, round ears</a:t>
            </a:r>
          </a:p>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 Thick fur </a:t>
            </a:r>
          </a:p>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 Fur covered footpads</a:t>
            </a:r>
          </a:p>
          <a:p>
            <a:pPr>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 Thick tail</a:t>
            </a:r>
          </a:p>
        </p:txBody>
      </p:sp>
      <p:sp>
        <p:nvSpPr>
          <p:cNvPr id="4" name="Slide Number Placeholder 3">
            <a:extLst>
              <a:ext uri="{FF2B5EF4-FFF2-40B4-BE49-F238E27FC236}">
                <a16:creationId xmlns:a16="http://schemas.microsoft.com/office/drawing/2014/main" id="{707959E8-3169-4B88-A93E-0DE0B67AC4C9}"/>
              </a:ext>
            </a:extLst>
          </p:cNvPr>
          <p:cNvSpPr>
            <a:spLocks noGrp="1"/>
          </p:cNvSpPr>
          <p:nvPr>
            <p:ph type="sldNum" sz="quarter" idx="12"/>
          </p:nvPr>
        </p:nvSpPr>
        <p:spPr/>
        <p:txBody>
          <a:bodyPr>
            <a:normAutofit lnSpcReduction="10000"/>
          </a:bodyPr>
          <a:lstStyle/>
          <a:p>
            <a:fld id="{4FAB73BC-B049-4115-A692-8D63A059BFB8}" type="slidenum">
              <a:rPr lang="en-US" smtClean="0"/>
              <a:t>5</a:t>
            </a:fld>
            <a:endParaRPr lang="en-US" dirty="0"/>
          </a:p>
        </p:txBody>
      </p:sp>
    </p:spTree>
    <p:extLst>
      <p:ext uri="{BB962C8B-B14F-4D97-AF65-F5344CB8AC3E}">
        <p14:creationId xmlns:p14="http://schemas.microsoft.com/office/powerpoint/2010/main" val="2940092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695F8-5E34-4625-A9A1-1FF9785DFE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A52B15-C692-461E-8093-BE4D9C4E149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088E5A4-DD46-4E5B-9F64-72CAFAC49CB4}"/>
              </a:ext>
            </a:extLst>
          </p:cNvPr>
          <p:cNvPicPr>
            <a:picLocks noChangeAspect="1"/>
          </p:cNvPicPr>
          <p:nvPr/>
        </p:nvPicPr>
        <p:blipFill>
          <a:blip r:embed="rId2"/>
          <a:stretch>
            <a:fillRect/>
          </a:stretch>
        </p:blipFill>
        <p:spPr>
          <a:xfrm>
            <a:off x="0" y="0"/>
            <a:ext cx="11336784" cy="6933459"/>
          </a:xfrm>
          <a:prstGeom prst="rect">
            <a:avLst/>
          </a:prstGeom>
        </p:spPr>
      </p:pic>
      <p:sp>
        <p:nvSpPr>
          <p:cNvPr id="6" name="Slide Number Placeholder 5">
            <a:extLst>
              <a:ext uri="{FF2B5EF4-FFF2-40B4-BE49-F238E27FC236}">
                <a16:creationId xmlns:a16="http://schemas.microsoft.com/office/drawing/2014/main" id="{07698A15-2B20-46D3-810C-F16A88D394AE}"/>
              </a:ext>
            </a:extLst>
          </p:cNvPr>
          <p:cNvSpPr>
            <a:spLocks noGrp="1"/>
          </p:cNvSpPr>
          <p:nvPr>
            <p:ph type="sldNum" sz="quarter" idx="12"/>
          </p:nvPr>
        </p:nvSpPr>
        <p:spPr/>
        <p:txBody>
          <a:bodyPr>
            <a:normAutofit lnSpcReduction="10000"/>
          </a:bodyPr>
          <a:lstStyle/>
          <a:p>
            <a:fld id="{4FAB73BC-B049-4115-A692-8D63A059BFB8}" type="slidenum">
              <a:rPr lang="en-US" smtClean="0"/>
              <a:t>6</a:t>
            </a:fld>
            <a:endParaRPr lang="en-US" dirty="0"/>
          </a:p>
        </p:txBody>
      </p:sp>
    </p:spTree>
    <p:extLst>
      <p:ext uri="{BB962C8B-B14F-4D97-AF65-F5344CB8AC3E}">
        <p14:creationId xmlns:p14="http://schemas.microsoft.com/office/powerpoint/2010/main" val="740746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1F4FE-699A-424B-8FB3-3263D32C323E}"/>
              </a:ext>
            </a:extLst>
          </p:cNvPr>
          <p:cNvSpPr>
            <a:spLocks noGrp="1"/>
          </p:cNvSpPr>
          <p:nvPr>
            <p:ph type="title"/>
          </p:nvPr>
        </p:nvSpPr>
        <p:spPr>
          <a:xfrm>
            <a:off x="1261872" y="365760"/>
            <a:ext cx="9692640" cy="513129"/>
          </a:xfrm>
        </p:spPr>
        <p:txBody>
          <a:bodyPr>
            <a:normAutofit fontScale="90000"/>
          </a:bodyPr>
          <a:lstStyle/>
          <a:p>
            <a:r>
              <a:rPr lang="en-US" sz="3600" dirty="0">
                <a:latin typeface="Times New Roman" panose="02020603050405020304" pitchFamily="18" charset="0"/>
                <a:cs typeface="Times New Roman" panose="02020603050405020304" pitchFamily="18" charset="0"/>
              </a:rPr>
              <a:t>BEHAVIOURAL ADAPTATIONS</a:t>
            </a:r>
          </a:p>
        </p:txBody>
      </p:sp>
      <p:sp>
        <p:nvSpPr>
          <p:cNvPr id="3" name="Content Placeholder 2">
            <a:extLst>
              <a:ext uri="{FF2B5EF4-FFF2-40B4-BE49-F238E27FC236}">
                <a16:creationId xmlns:a16="http://schemas.microsoft.com/office/drawing/2014/main" id="{DB8A9D73-963B-466A-AED1-149956D9122F}"/>
              </a:ext>
            </a:extLst>
          </p:cNvPr>
          <p:cNvSpPr>
            <a:spLocks noGrp="1"/>
          </p:cNvSpPr>
          <p:nvPr>
            <p:ph idx="1"/>
          </p:nvPr>
        </p:nvSpPr>
        <p:spPr>
          <a:xfrm>
            <a:off x="1261872" y="1642368"/>
            <a:ext cx="8595360" cy="4537769"/>
          </a:xfrm>
        </p:spPr>
        <p:txBody>
          <a:bodyPr>
            <a:normAutofit/>
          </a:bodyPr>
          <a:lstStyle/>
          <a:p>
            <a:pPr>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Solitary </a:t>
            </a:r>
            <a:r>
              <a:rPr lang="en-US" sz="3200" dirty="0" err="1">
                <a:latin typeface="Times New Roman" panose="02020603050405020304" pitchFamily="18" charset="0"/>
                <a:cs typeface="Times New Roman" panose="02020603050405020304" pitchFamily="18" charset="0"/>
              </a:rPr>
              <a:t>Behaviour</a:t>
            </a:r>
            <a:endParaRPr lang="en-US" sz="3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Family Group Formation</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Denning </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Vocal Communication</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Color change camouflage</a:t>
            </a:r>
          </a:p>
          <a:p>
            <a:pPr marL="0" indent="0">
              <a:buNone/>
            </a:pPr>
            <a:endParaRPr lang="en-US" sz="3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51C281F-E10E-41AC-9E85-58DA7572110F}"/>
              </a:ext>
            </a:extLst>
          </p:cNvPr>
          <p:cNvSpPr>
            <a:spLocks noGrp="1"/>
          </p:cNvSpPr>
          <p:nvPr>
            <p:ph type="sldNum" sz="quarter" idx="12"/>
          </p:nvPr>
        </p:nvSpPr>
        <p:spPr/>
        <p:txBody>
          <a:bodyPr>
            <a:normAutofit lnSpcReduction="10000"/>
          </a:bodyPr>
          <a:lstStyle/>
          <a:p>
            <a:fld id="{4FAB73BC-B049-4115-A692-8D63A059BFB8}" type="slidenum">
              <a:rPr lang="en-US" smtClean="0"/>
              <a:t>7</a:t>
            </a:fld>
            <a:endParaRPr lang="en-US" dirty="0"/>
          </a:p>
        </p:txBody>
      </p:sp>
    </p:spTree>
    <p:extLst>
      <p:ext uri="{BB962C8B-B14F-4D97-AF65-F5344CB8AC3E}">
        <p14:creationId xmlns:p14="http://schemas.microsoft.com/office/powerpoint/2010/main" val="824831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E592D-2B46-49EA-9F72-A3F78C24FA57}"/>
              </a:ext>
            </a:extLst>
          </p:cNvPr>
          <p:cNvSpPr>
            <a:spLocks noGrp="1"/>
          </p:cNvSpPr>
          <p:nvPr>
            <p:ph type="title"/>
          </p:nvPr>
        </p:nvSpPr>
        <p:spPr>
          <a:xfrm>
            <a:off x="1261872" y="365760"/>
            <a:ext cx="9692640" cy="814970"/>
          </a:xfrm>
        </p:spPr>
        <p:txBody>
          <a:bodyPr>
            <a:normAutofit/>
          </a:bodyPr>
          <a:lstStyle/>
          <a:p>
            <a:r>
              <a:rPr lang="en-US" sz="3600" dirty="0">
                <a:latin typeface="Times New Roman" panose="02020603050405020304" pitchFamily="18" charset="0"/>
                <a:cs typeface="Times New Roman" panose="02020603050405020304" pitchFamily="18" charset="0"/>
              </a:rPr>
              <a:t>PHYSIOLOGICAL ADAPTATIONS </a:t>
            </a:r>
          </a:p>
        </p:txBody>
      </p:sp>
      <p:sp>
        <p:nvSpPr>
          <p:cNvPr id="3" name="Content Placeholder 2">
            <a:extLst>
              <a:ext uri="{FF2B5EF4-FFF2-40B4-BE49-F238E27FC236}">
                <a16:creationId xmlns:a16="http://schemas.microsoft.com/office/drawing/2014/main" id="{1E8F0CA2-E8BD-40D2-892D-1D21282156C6}"/>
              </a:ext>
            </a:extLst>
          </p:cNvPr>
          <p:cNvSpPr>
            <a:spLocks noGrp="1"/>
          </p:cNvSpPr>
          <p:nvPr>
            <p:ph idx="1"/>
          </p:nvPr>
        </p:nvSpPr>
        <p:spPr>
          <a:xfrm>
            <a:off x="1261872" y="1890944"/>
            <a:ext cx="8595360" cy="4289194"/>
          </a:xfrm>
        </p:spPr>
        <p:txBody>
          <a:bodyPr>
            <a:normAutofit/>
          </a:bodyPr>
          <a:lstStyle/>
          <a:p>
            <a:pPr>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Insulating fur </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Counter-current heat exchange system</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Reduced surface area-to-volume ratio</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Lowered metabolic rate </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Gestation delay</a:t>
            </a:r>
          </a:p>
        </p:txBody>
      </p:sp>
      <p:sp>
        <p:nvSpPr>
          <p:cNvPr id="4" name="Slide Number Placeholder 3">
            <a:extLst>
              <a:ext uri="{FF2B5EF4-FFF2-40B4-BE49-F238E27FC236}">
                <a16:creationId xmlns:a16="http://schemas.microsoft.com/office/drawing/2014/main" id="{6735D07F-6DB6-4981-9D5B-02AE194734AD}"/>
              </a:ext>
            </a:extLst>
          </p:cNvPr>
          <p:cNvSpPr>
            <a:spLocks noGrp="1"/>
          </p:cNvSpPr>
          <p:nvPr>
            <p:ph type="sldNum" sz="quarter" idx="12"/>
          </p:nvPr>
        </p:nvSpPr>
        <p:spPr/>
        <p:txBody>
          <a:bodyPr>
            <a:normAutofit lnSpcReduction="10000"/>
          </a:bodyPr>
          <a:lstStyle/>
          <a:p>
            <a:fld id="{4FAB73BC-B049-4115-A692-8D63A059BFB8}" type="slidenum">
              <a:rPr lang="en-US" smtClean="0"/>
              <a:t>8</a:t>
            </a:fld>
            <a:endParaRPr lang="en-US" dirty="0"/>
          </a:p>
        </p:txBody>
      </p:sp>
    </p:spTree>
    <p:extLst>
      <p:ext uri="{BB962C8B-B14F-4D97-AF65-F5344CB8AC3E}">
        <p14:creationId xmlns:p14="http://schemas.microsoft.com/office/powerpoint/2010/main" val="442258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EC9ED-B7C8-4EFB-8A70-C0ECFB7486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0494E3-41EC-43B3-A408-B02509507057}"/>
              </a:ext>
            </a:extLst>
          </p:cNvPr>
          <p:cNvSpPr>
            <a:spLocks noGrp="1"/>
          </p:cNvSpPr>
          <p:nvPr>
            <p:ph idx="1"/>
          </p:nvPr>
        </p:nvSpPr>
        <p:spPr>
          <a:xfrm>
            <a:off x="1261872" y="1828800"/>
            <a:ext cx="8595360" cy="4776186"/>
          </a:xfrm>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Fig. 2 Fox curls up to minimize heat loss</a:t>
            </a:r>
          </a:p>
        </p:txBody>
      </p:sp>
      <p:pic>
        <p:nvPicPr>
          <p:cNvPr id="5" name="Picture 4">
            <a:extLst>
              <a:ext uri="{FF2B5EF4-FFF2-40B4-BE49-F238E27FC236}">
                <a16:creationId xmlns:a16="http://schemas.microsoft.com/office/drawing/2014/main" id="{748EEDDB-A4AE-45AE-A1B9-1993E555F917}"/>
              </a:ext>
            </a:extLst>
          </p:cNvPr>
          <p:cNvPicPr>
            <a:picLocks noChangeAspect="1"/>
          </p:cNvPicPr>
          <p:nvPr/>
        </p:nvPicPr>
        <p:blipFill>
          <a:blip r:embed="rId2"/>
          <a:stretch>
            <a:fillRect/>
          </a:stretch>
        </p:blipFill>
        <p:spPr>
          <a:xfrm>
            <a:off x="0" y="-1"/>
            <a:ext cx="11301274" cy="6019061"/>
          </a:xfrm>
          <a:prstGeom prst="rect">
            <a:avLst/>
          </a:prstGeom>
        </p:spPr>
      </p:pic>
      <p:sp>
        <p:nvSpPr>
          <p:cNvPr id="6" name="Slide Number Placeholder 5">
            <a:extLst>
              <a:ext uri="{FF2B5EF4-FFF2-40B4-BE49-F238E27FC236}">
                <a16:creationId xmlns:a16="http://schemas.microsoft.com/office/drawing/2014/main" id="{90A09ADB-DD55-40C6-A73D-D5B8E4BFBDD9}"/>
              </a:ext>
            </a:extLst>
          </p:cNvPr>
          <p:cNvSpPr>
            <a:spLocks noGrp="1"/>
          </p:cNvSpPr>
          <p:nvPr>
            <p:ph type="sldNum" sz="quarter" idx="12"/>
          </p:nvPr>
        </p:nvSpPr>
        <p:spPr/>
        <p:txBody>
          <a:bodyPr>
            <a:normAutofit lnSpcReduction="10000"/>
          </a:bodyPr>
          <a:lstStyle/>
          <a:p>
            <a:fld id="{4FAB73BC-B049-4115-A692-8D63A059BFB8}" type="slidenum">
              <a:rPr lang="en-US" smtClean="0"/>
              <a:t>9</a:t>
            </a:fld>
            <a:endParaRPr lang="en-US" dirty="0"/>
          </a:p>
        </p:txBody>
      </p:sp>
    </p:spTree>
    <p:extLst>
      <p:ext uri="{BB962C8B-B14F-4D97-AF65-F5344CB8AC3E}">
        <p14:creationId xmlns:p14="http://schemas.microsoft.com/office/powerpoint/2010/main" val="526769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68292-AF22-48B9-9A63-BC534B43A8D0}"/>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ADAPTATION TO FOOD SCARCITY</a:t>
            </a:r>
          </a:p>
        </p:txBody>
      </p:sp>
      <p:sp>
        <p:nvSpPr>
          <p:cNvPr id="3" name="Content Placeholder 2">
            <a:extLst>
              <a:ext uri="{FF2B5EF4-FFF2-40B4-BE49-F238E27FC236}">
                <a16:creationId xmlns:a16="http://schemas.microsoft.com/office/drawing/2014/main" id="{F19EE351-694B-49F6-834A-EE7654ED0031}"/>
              </a:ext>
            </a:extLst>
          </p:cNvPr>
          <p:cNvSpPr>
            <a:spLocks noGrp="1"/>
          </p:cNvSpPr>
          <p:nvPr>
            <p:ph idx="1"/>
          </p:nvPr>
        </p:nvSpPr>
        <p:spPr>
          <a:xfrm>
            <a:off x="1261872" y="2317072"/>
            <a:ext cx="8595360" cy="3863065"/>
          </a:xfrm>
        </p:spPr>
        <p:txBody>
          <a:bodyPr>
            <a:normAutofit/>
          </a:bodyPr>
          <a:lstStyle/>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Food caching </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Nomadic </a:t>
            </a:r>
            <a:r>
              <a:rPr lang="en-US" sz="3200" dirty="0" err="1">
                <a:latin typeface="Times New Roman" panose="02020603050405020304" pitchFamily="18" charset="0"/>
                <a:cs typeface="Times New Roman" panose="02020603050405020304" pitchFamily="18" charset="0"/>
              </a:rPr>
              <a:t>behaviour</a:t>
            </a:r>
            <a:r>
              <a:rPr lang="en-US" sz="32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Changing diet with seasons</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Seasonal migration</a:t>
            </a:r>
          </a:p>
          <a:p>
            <a:pPr>
              <a:buFont typeface="Wingdings" panose="05000000000000000000" pitchFamily="2" charset="2"/>
              <a:buChar char="q"/>
            </a:pPr>
            <a:r>
              <a:rPr lang="en-US" sz="3200" dirty="0">
                <a:latin typeface="Times New Roman" panose="02020603050405020304" pitchFamily="18" charset="0"/>
                <a:cs typeface="Times New Roman" panose="02020603050405020304" pitchFamily="18" charset="0"/>
              </a:rPr>
              <a:t> Scavenging </a:t>
            </a:r>
          </a:p>
        </p:txBody>
      </p:sp>
      <p:sp>
        <p:nvSpPr>
          <p:cNvPr id="4" name="Slide Number Placeholder 3">
            <a:extLst>
              <a:ext uri="{FF2B5EF4-FFF2-40B4-BE49-F238E27FC236}">
                <a16:creationId xmlns:a16="http://schemas.microsoft.com/office/drawing/2014/main" id="{E2CE74F9-C43B-4BE2-96B6-90BBD12E7F48}"/>
              </a:ext>
            </a:extLst>
          </p:cNvPr>
          <p:cNvSpPr>
            <a:spLocks noGrp="1"/>
          </p:cNvSpPr>
          <p:nvPr>
            <p:ph type="sldNum" sz="quarter" idx="12"/>
          </p:nvPr>
        </p:nvSpPr>
        <p:spPr/>
        <p:txBody>
          <a:bodyPr>
            <a:normAutofit lnSpcReduction="10000"/>
          </a:bodyPr>
          <a:lstStyle/>
          <a:p>
            <a:fld id="{4FAB73BC-B049-4115-A692-8D63A059BFB8}" type="slidenum">
              <a:rPr lang="en-US" smtClean="0"/>
              <a:t>10</a:t>
            </a:fld>
            <a:endParaRPr lang="en-US" dirty="0"/>
          </a:p>
        </p:txBody>
      </p:sp>
    </p:spTree>
    <p:extLst>
      <p:ext uri="{BB962C8B-B14F-4D97-AF65-F5344CB8AC3E}">
        <p14:creationId xmlns:p14="http://schemas.microsoft.com/office/powerpoint/2010/main" val="3841808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90DCF-EA98-4E76-8006-E971231661B3}"/>
              </a:ext>
            </a:extLst>
          </p:cNvPr>
          <p:cNvSpPr>
            <a:spLocks noGrp="1"/>
          </p:cNvSpPr>
          <p:nvPr>
            <p:ph type="title"/>
          </p:nvPr>
        </p:nvSpPr>
        <p:spPr>
          <a:xfrm>
            <a:off x="1261872" y="365760"/>
            <a:ext cx="9692640" cy="1134566"/>
          </a:xfrm>
        </p:spPr>
        <p:txBody>
          <a:bodyPr>
            <a:normAutofit/>
          </a:bodyPr>
          <a:lstStyle/>
          <a:p>
            <a:r>
              <a:rPr lang="en-US" sz="36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A25C0CA-B923-4C62-A2E5-1AE785D83A85}"/>
              </a:ext>
            </a:extLst>
          </p:cNvPr>
          <p:cNvSpPr>
            <a:spLocks noGrp="1"/>
          </p:cNvSpPr>
          <p:nvPr>
            <p:ph idx="1"/>
          </p:nvPr>
        </p:nvSpPr>
        <p:spPr>
          <a:xfrm>
            <a:off x="530087" y="1828800"/>
            <a:ext cx="10058400" cy="4351337"/>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These adaptations collectively equip the Arctic fox with tools necessary to endure the extreme conductions of the polar regions  and ensure their survival in one of the most challenging environments in the world.</a:t>
            </a:r>
          </a:p>
          <a:p>
            <a:pPr marL="0" indent="0">
              <a:buNone/>
            </a:pPr>
            <a:r>
              <a:rPr lang="en-US" sz="3200" dirty="0">
                <a:latin typeface="Times New Roman" panose="02020603050405020304" pitchFamily="18" charset="0"/>
                <a:cs typeface="Times New Roman" panose="02020603050405020304" pitchFamily="18" charset="0"/>
              </a:rPr>
              <a:t> However climate change and human activities pose increasing threat to their habitat and survival.</a:t>
            </a:r>
          </a:p>
        </p:txBody>
      </p:sp>
      <p:sp>
        <p:nvSpPr>
          <p:cNvPr id="4" name="Slide Number Placeholder 3">
            <a:extLst>
              <a:ext uri="{FF2B5EF4-FFF2-40B4-BE49-F238E27FC236}">
                <a16:creationId xmlns:a16="http://schemas.microsoft.com/office/drawing/2014/main" id="{FCB872F3-E315-4B1A-AF49-2604B3D06CC7}"/>
              </a:ext>
            </a:extLst>
          </p:cNvPr>
          <p:cNvSpPr>
            <a:spLocks noGrp="1"/>
          </p:cNvSpPr>
          <p:nvPr>
            <p:ph type="sldNum" sz="quarter" idx="12"/>
          </p:nvPr>
        </p:nvSpPr>
        <p:spPr/>
        <p:txBody>
          <a:bodyPr>
            <a:normAutofit lnSpcReduction="10000"/>
          </a:bodyPr>
          <a:lstStyle/>
          <a:p>
            <a:fld id="{4FAB73BC-B049-4115-A692-8D63A059BFB8}" type="slidenum">
              <a:rPr lang="en-US" smtClean="0"/>
              <a:t>11</a:t>
            </a:fld>
            <a:endParaRPr lang="en-US" dirty="0"/>
          </a:p>
        </p:txBody>
      </p:sp>
    </p:spTree>
    <p:extLst>
      <p:ext uri="{BB962C8B-B14F-4D97-AF65-F5344CB8AC3E}">
        <p14:creationId xmlns:p14="http://schemas.microsoft.com/office/powerpoint/2010/main" val="3381233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7D8FA-2C8C-4514-9B52-765B389323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650293D4-1648-43B4-BDFE-B7431630AEDC}"/>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Pal </a:t>
            </a:r>
            <a:r>
              <a:rPr lang="en-US" sz="2800" dirty="0" err="1">
                <a:latin typeface="Times New Roman" panose="02020603050405020304" pitchFamily="18" charset="0"/>
                <a:cs typeface="Times New Roman" panose="02020603050405020304" pitchFamily="18" charset="0"/>
              </a:rPr>
              <a:t>Prestrud</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Adaptations by the Arctic Fox to</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the</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Polar Winter</a:t>
            </a:r>
            <a:r>
              <a:rPr lang="en-US" sz="2800" dirty="0">
                <a:latin typeface="Times New Roman" panose="02020603050405020304" pitchFamily="18" charset="0"/>
                <a:cs typeface="Times New Roman" panose="02020603050405020304" pitchFamily="18" charset="0"/>
              </a:rPr>
              <a:t>,Vol.44, No. 2 (June 1991).</a:t>
            </a:r>
          </a:p>
          <a:p>
            <a:pPr marL="0" indent="0">
              <a:buNone/>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Anders. A, Pall. H &amp; Magnus. T</a:t>
            </a:r>
            <a:r>
              <a:rPr lang="en-US" sz="2800" i="1" dirty="0">
                <a:latin typeface="Times New Roman" panose="02020603050405020304" pitchFamily="18" charset="0"/>
                <a:cs typeface="Times New Roman" panose="02020603050405020304" pitchFamily="18" charset="0"/>
              </a:rPr>
              <a:t>, “ Consequences of resource predictability in the Arctic Fox” </a:t>
            </a:r>
            <a:r>
              <a:rPr lang="en-US" sz="2800" dirty="0">
                <a:latin typeface="Times New Roman" panose="02020603050405020304" pitchFamily="18" charset="0"/>
                <a:cs typeface="Times New Roman" panose="02020603050405020304" pitchFamily="18" charset="0"/>
              </a:rPr>
              <a:t>Chapter 8 (2004).</a:t>
            </a:r>
          </a:p>
          <a:p>
            <a:pPr marL="0" indent="0">
              <a:buNone/>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hlinkClick r:id="rId2"/>
              </a:rPr>
              <a:t>https://allthingsfoxes.com</a:t>
            </a:r>
            <a:r>
              <a:rPr lang="en-US" sz="2800" dirty="0">
                <a:latin typeface="Times New Roman" panose="02020603050405020304" pitchFamily="18" charset="0"/>
                <a:cs typeface="Times New Roman" panose="02020603050405020304" pitchFamily="18" charset="0"/>
              </a:rPr>
              <a:t> arctic fox.</a:t>
            </a:r>
          </a:p>
        </p:txBody>
      </p:sp>
      <p:sp>
        <p:nvSpPr>
          <p:cNvPr id="4" name="Slide Number Placeholder 3">
            <a:extLst>
              <a:ext uri="{FF2B5EF4-FFF2-40B4-BE49-F238E27FC236}">
                <a16:creationId xmlns:a16="http://schemas.microsoft.com/office/drawing/2014/main" id="{AA199986-9AC6-466A-8313-C3B368544C3C}"/>
              </a:ext>
            </a:extLst>
          </p:cNvPr>
          <p:cNvSpPr>
            <a:spLocks noGrp="1"/>
          </p:cNvSpPr>
          <p:nvPr>
            <p:ph type="sldNum" sz="quarter" idx="12"/>
          </p:nvPr>
        </p:nvSpPr>
        <p:spPr/>
        <p:txBody>
          <a:bodyPr>
            <a:normAutofit lnSpcReduction="10000"/>
          </a:bodyPr>
          <a:lstStyle/>
          <a:p>
            <a:fld id="{4FAB73BC-B049-4115-A692-8D63A059BFB8}" type="slidenum">
              <a:rPr lang="en-US" smtClean="0"/>
              <a:t>12</a:t>
            </a:fld>
            <a:endParaRPr lang="en-US" dirty="0"/>
          </a:p>
        </p:txBody>
      </p:sp>
    </p:spTree>
    <p:extLst>
      <p:ext uri="{BB962C8B-B14F-4D97-AF65-F5344CB8AC3E}">
        <p14:creationId xmlns:p14="http://schemas.microsoft.com/office/powerpoint/2010/main" val="3863779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3CE5-7F7C-497C-91A3-ADAEA978CB9E}"/>
              </a:ext>
            </a:extLst>
          </p:cNvPr>
          <p:cNvSpPr>
            <a:spLocks noGrp="1"/>
          </p:cNvSpPr>
          <p:nvPr>
            <p:ph type="title"/>
          </p:nvPr>
        </p:nvSpPr>
        <p:spPr>
          <a:xfrm>
            <a:off x="1261872" y="365760"/>
            <a:ext cx="9692640" cy="1019157"/>
          </a:xfrm>
        </p:spPr>
        <p:txBody>
          <a:bodyPr>
            <a:normAutofit/>
          </a:bodyPr>
          <a:lstStyle/>
          <a:p>
            <a:r>
              <a:rPr lang="en-US" sz="3600" dirty="0">
                <a:latin typeface="Times New Roman" panose="02020603050405020304" pitchFamily="18" charset="0"/>
                <a:cs typeface="Times New Roman" panose="02020603050405020304" pitchFamily="18" charset="0"/>
              </a:rPr>
              <a:t>GROUP MEMBERS</a:t>
            </a:r>
          </a:p>
        </p:txBody>
      </p:sp>
      <p:sp>
        <p:nvSpPr>
          <p:cNvPr id="3" name="Content Placeholder 2">
            <a:extLst>
              <a:ext uri="{FF2B5EF4-FFF2-40B4-BE49-F238E27FC236}">
                <a16:creationId xmlns:a16="http://schemas.microsoft.com/office/drawing/2014/main" id="{170A5886-253F-4433-9478-4D4E3ACA3D5D}"/>
              </a:ext>
            </a:extLst>
          </p:cNvPr>
          <p:cNvSpPr>
            <a:spLocks noGrp="1"/>
          </p:cNvSpPr>
          <p:nvPr>
            <p:ph idx="1"/>
          </p:nvPr>
        </p:nvSpPr>
        <p:spPr>
          <a:xfrm>
            <a:off x="1261872" y="1926454"/>
            <a:ext cx="8595360" cy="4253683"/>
          </a:xfrm>
        </p:spPr>
        <p:txBody>
          <a:bodyPr>
            <a:normAutofit/>
          </a:bodyPr>
          <a:lstStyle/>
          <a:p>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QUASHIE ANABEL</a:t>
            </a:r>
          </a:p>
          <a:p>
            <a:r>
              <a:rPr lang="en-US" sz="2800" dirty="0">
                <a:latin typeface="Times New Roman" panose="02020603050405020304" pitchFamily="18" charset="0"/>
                <a:cs typeface="Times New Roman" panose="02020603050405020304" pitchFamily="18" charset="0"/>
              </a:rPr>
              <a:t>BANGYA LOIS MBAMAH</a:t>
            </a:r>
          </a:p>
          <a:p>
            <a:r>
              <a:rPr lang="en-US" sz="2800" dirty="0">
                <a:latin typeface="Times New Roman" panose="02020603050405020304" pitchFamily="18" charset="0"/>
                <a:cs typeface="Times New Roman" panose="02020603050405020304" pitchFamily="18" charset="0"/>
              </a:rPr>
              <a:t>MENSAH GLORIA NAA</a:t>
            </a:r>
          </a:p>
          <a:p>
            <a:r>
              <a:rPr lang="en-US" sz="2800" dirty="0">
                <a:latin typeface="Times New Roman" panose="02020603050405020304" pitchFamily="18" charset="0"/>
                <a:cs typeface="Times New Roman" panose="02020603050405020304" pitchFamily="18" charset="0"/>
              </a:rPr>
              <a:t> BOATENG PORTIA</a:t>
            </a:r>
          </a:p>
          <a:p>
            <a:r>
              <a:rPr lang="en-US" sz="2800" dirty="0">
                <a:latin typeface="Times New Roman" panose="02020603050405020304" pitchFamily="18" charset="0"/>
                <a:cs typeface="Times New Roman" panose="02020603050405020304" pitchFamily="18" charset="0"/>
              </a:rPr>
              <a:t> INUSAH ABDUL-BASIT</a:t>
            </a:r>
          </a:p>
          <a:p>
            <a:r>
              <a:rPr lang="en-US" sz="2800" dirty="0">
                <a:latin typeface="Times New Roman" panose="02020603050405020304" pitchFamily="18" charset="0"/>
                <a:cs typeface="Times New Roman" panose="02020603050405020304" pitchFamily="18" charset="0"/>
              </a:rPr>
              <a:t> OWUSU-YEBOAH DANIEL</a:t>
            </a:r>
          </a:p>
          <a:p>
            <a:r>
              <a:rPr lang="en-US" sz="2800">
                <a:latin typeface="Times New Roman" panose="02020603050405020304" pitchFamily="18" charset="0"/>
                <a:cs typeface="Times New Roman" panose="02020603050405020304" pitchFamily="18" charset="0"/>
              </a:rPr>
              <a:t> HUKPORTIE </a:t>
            </a:r>
            <a:r>
              <a:rPr lang="en-US" sz="2800" dirty="0">
                <a:latin typeface="Times New Roman" panose="02020603050405020304" pitchFamily="18" charset="0"/>
                <a:cs typeface="Times New Roman" panose="02020603050405020304" pitchFamily="18" charset="0"/>
              </a:rPr>
              <a:t>VINCENT MENSAH </a:t>
            </a:r>
          </a:p>
        </p:txBody>
      </p:sp>
      <p:sp>
        <p:nvSpPr>
          <p:cNvPr id="4" name="Slide Number Placeholder 3">
            <a:extLst>
              <a:ext uri="{FF2B5EF4-FFF2-40B4-BE49-F238E27FC236}">
                <a16:creationId xmlns:a16="http://schemas.microsoft.com/office/drawing/2014/main" id="{EBEA7569-E5BA-4D4D-AB45-6734889D0E0C}"/>
              </a:ext>
            </a:extLst>
          </p:cNvPr>
          <p:cNvSpPr>
            <a:spLocks noGrp="1"/>
          </p:cNvSpPr>
          <p:nvPr>
            <p:ph type="sldNum" sz="quarter" idx="12"/>
          </p:nvPr>
        </p:nvSpPr>
        <p:spPr/>
        <p:txBody>
          <a:bodyPr>
            <a:normAutofit lnSpcReduction="10000"/>
          </a:bodyPr>
          <a:lstStyle/>
          <a:p>
            <a:fld id="{4FAB73BC-B049-4115-A692-8D63A059BFB8}" type="slidenum">
              <a:rPr lang="en-US" smtClean="0"/>
              <a:t>13</a:t>
            </a:fld>
            <a:endParaRPr lang="en-US" dirty="0"/>
          </a:p>
        </p:txBody>
      </p:sp>
    </p:spTree>
    <p:extLst>
      <p:ext uri="{BB962C8B-B14F-4D97-AF65-F5344CB8AC3E}">
        <p14:creationId xmlns:p14="http://schemas.microsoft.com/office/powerpoint/2010/main" val="2054528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45934-CCBC-4A11-B6B4-F3A3211F34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BDCA4E-9E1D-43D0-A17D-4623EF86224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D3C913B-0138-4DBF-BDD1-61DD22D34D6A}"/>
              </a:ext>
            </a:extLst>
          </p:cNvPr>
          <p:cNvPicPr>
            <a:picLocks noChangeAspect="1"/>
          </p:cNvPicPr>
          <p:nvPr/>
        </p:nvPicPr>
        <p:blipFill>
          <a:blip r:embed="rId2"/>
          <a:stretch>
            <a:fillRect/>
          </a:stretch>
        </p:blipFill>
        <p:spPr>
          <a:xfrm>
            <a:off x="0" y="0"/>
            <a:ext cx="11301274" cy="6858000"/>
          </a:xfrm>
          <a:prstGeom prst="rect">
            <a:avLst/>
          </a:prstGeom>
        </p:spPr>
      </p:pic>
      <p:sp>
        <p:nvSpPr>
          <p:cNvPr id="6" name="Slide Number Placeholder 5">
            <a:extLst>
              <a:ext uri="{FF2B5EF4-FFF2-40B4-BE49-F238E27FC236}">
                <a16:creationId xmlns:a16="http://schemas.microsoft.com/office/drawing/2014/main" id="{4C4571AB-AF17-4537-9DC9-A04E510B2AB7}"/>
              </a:ext>
            </a:extLst>
          </p:cNvPr>
          <p:cNvSpPr>
            <a:spLocks noGrp="1"/>
          </p:cNvSpPr>
          <p:nvPr>
            <p:ph type="sldNum" sz="quarter" idx="12"/>
          </p:nvPr>
        </p:nvSpPr>
        <p:spPr/>
        <p:txBody>
          <a:bodyPr>
            <a:normAutofit lnSpcReduction="10000"/>
          </a:bodyPr>
          <a:lstStyle/>
          <a:p>
            <a:fld id="{4FAB73BC-B049-4115-A692-8D63A059BFB8}" type="slidenum">
              <a:rPr lang="en-US" smtClean="0"/>
              <a:t>14</a:t>
            </a:fld>
            <a:endParaRPr lang="en-US" dirty="0"/>
          </a:p>
        </p:txBody>
      </p:sp>
    </p:spTree>
    <p:extLst>
      <p:ext uri="{BB962C8B-B14F-4D97-AF65-F5344CB8AC3E}">
        <p14:creationId xmlns:p14="http://schemas.microsoft.com/office/powerpoint/2010/main" val="396089941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213</TotalTime>
  <Words>342</Words>
  <Application>Microsoft Office PowerPoint</Application>
  <PresentationFormat>Widescreen</PresentationFormat>
  <Paragraphs>83</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Century Schoolbook</vt:lpstr>
      <vt:lpstr>Times New Roman</vt:lpstr>
      <vt:lpstr>Wingdings</vt:lpstr>
      <vt:lpstr>Wingdings 2</vt:lpstr>
      <vt:lpstr>View</vt:lpstr>
      <vt:lpstr>ADAPTATIONS OF THE ARCTIC FOX (Vulpes lagopus) TO THE POLAR  WINTER</vt:lpstr>
      <vt:lpstr>PowerPoint Presentation</vt:lpstr>
      <vt:lpstr>OUTLINE</vt:lpstr>
      <vt:lpstr>INTRODUCTION </vt:lpstr>
      <vt:lpstr>STRUCTURAL CHARACTERISTICS</vt:lpstr>
      <vt:lpstr>PowerPoint Presentation</vt:lpstr>
      <vt:lpstr>BEHAVIOURAL ADAPTATIONS</vt:lpstr>
      <vt:lpstr>PHYSIOLOGICAL ADAPTATIONS </vt:lpstr>
      <vt:lpstr>PowerPoint Presentation</vt:lpstr>
      <vt:lpstr>ADAPTATION TO FOOD SCARCITY</vt:lpstr>
      <vt:lpstr>CONCLUSION</vt:lpstr>
      <vt:lpstr>REFERENCES</vt:lpstr>
      <vt:lpstr>GROUP MEMBERS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ADAPTATIONS OF THE ARCTIC FOX TO THE POLAR WINTER</dc:title>
  <dc:creator>Vincent</dc:creator>
  <cp:lastModifiedBy>Tracy Owusu</cp:lastModifiedBy>
  <cp:revision>19</cp:revision>
  <dcterms:created xsi:type="dcterms:W3CDTF">2023-07-23T12:23:45Z</dcterms:created>
  <dcterms:modified xsi:type="dcterms:W3CDTF">2023-07-26T07:23:00Z</dcterms:modified>
</cp:coreProperties>
</file>