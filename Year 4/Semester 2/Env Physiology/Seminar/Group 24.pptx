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5" autoAdjust="0"/>
    <p:restoredTop sz="94660"/>
  </p:normalViewPr>
  <p:slideViewPr>
    <p:cSldViewPr snapToGrid="0">
      <p:cViewPr varScale="1">
        <p:scale>
          <a:sx n="98" d="100"/>
          <a:sy n="98" d="100"/>
        </p:scale>
        <p:origin x="11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075066-475C-4881-9FB0-6CF4EA7F267F}" type="datetimeFigureOut">
              <a:rPr lang="en-US" smtClean="0"/>
              <a:t>8/2/2023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C6020-62FB-4F2F-94A0-2DDDEE498D06}" type="slidenum">
              <a:rPr lang="en-US" smtClean="0"/>
              <a:t>‹#›</a:t>
            </a:fld>
            <a:endParaRPr lang="en-US"/>
          </a:p>
        </p:txBody>
      </p:sp>
    </p:spTree>
    <p:extLst>
      <p:ext uri="{BB962C8B-B14F-4D97-AF65-F5344CB8AC3E}">
        <p14:creationId xmlns:p14="http://schemas.microsoft.com/office/powerpoint/2010/main" val="1455666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86C09B5-DB03-4AA3-9638-DA0F4E175680}" type="datetime1">
              <a:rPr lang="en-US" smtClean="0"/>
              <a:t>8/2/2023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3907393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0360C9-38C3-4397-8209-EC46838F5FB5}" type="datetime1">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403261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1CF405-215C-43E7-80FB-2B5632BCD972}" type="datetime1">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728231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D19230-BE66-4D54-8673-E886199AEF66}" type="datetime1">
              <a:rPr lang="en-US" smtClean="0"/>
              <a:t>8/2/2023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4282528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FBBE44-B47B-48A2-905A-8E3BA6F64A19}" type="datetime1">
              <a:rPr lang="en-US" smtClean="0"/>
              <a:t>8/2/2023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902988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C708DB-F618-4A35-9F30-2166430010F7}" type="datetime1">
              <a:rPr lang="en-US" smtClean="0"/>
              <a:t>8/2/2023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151112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28BD6A-F656-4C0D-8073-0E437D8463AE}" type="datetime1">
              <a:rPr lang="en-US" smtClean="0"/>
              <a:t>8/2/2023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2466689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E817FE-6CFD-4E2C-8DFC-6D53066532B6}" type="datetime1">
              <a:rPr lang="en-US" smtClean="0"/>
              <a:t>8/2/2023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1464919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CF93A6-0D51-4401-A37E-D8E2FA94F30E}" type="datetime1">
              <a:rPr lang="en-US" smtClean="0"/>
              <a:t>8/2/2023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2525401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C1CF47-D8A4-4786-BE19-250F69353385}" type="datetime1">
              <a:rPr lang="en-US" smtClean="0"/>
              <a:t>8/2/2023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1392855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BD4F66C-3D52-465E-9971-1A06520ECD02}" type="datetime1">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3415564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3A0B6EF-E42A-424B-B285-A43A9F38447F}" type="datetime1">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4112149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FD687-34FE-4A70-A375-A4B293002485}" type="datetime1">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1995382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C7A2306-FC25-4106-8341-3B90A24AD8E6}" type="datetime1">
              <a:rPr lang="en-US" smtClean="0"/>
              <a:t>8/2/2023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30101304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345C4B5-D6D2-4B6A-AE65-999A7950A925}" type="datetime1">
              <a:rPr lang="en-US" smtClean="0"/>
              <a:t>8/2/2023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10050451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933A5BA-D8C5-49F6-BC3A-C947631FEFE6}" type="datetime1">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42191322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FADAE17-72B2-44C8-B342-AAE9DFE950F4}" type="datetime1">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D880172-00A2-44C6-8510-EDC97D2BC073}" type="slidenum">
              <a:rPr lang="en-US" smtClean="0"/>
              <a:t>‹#›</a:t>
            </a:fld>
            <a:endParaRPr lang="en-US"/>
          </a:p>
        </p:txBody>
      </p:sp>
    </p:spTree>
    <p:extLst>
      <p:ext uri="{BB962C8B-B14F-4D97-AF65-F5344CB8AC3E}">
        <p14:creationId xmlns:p14="http://schemas.microsoft.com/office/powerpoint/2010/main" val="3102563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D7F7E4D-A065-4477-9C7C-7C1BF740AE9A}" type="datetime1">
              <a:rPr lang="en-US" smtClean="0"/>
              <a:t>8/2/2023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D880172-00A2-44C6-8510-EDC97D2BC073}" type="slidenum">
              <a:rPr lang="en-US" smtClean="0"/>
              <a:t>‹#›</a:t>
            </a:fld>
            <a:endParaRPr lang="en-US"/>
          </a:p>
        </p:txBody>
      </p:sp>
    </p:spTree>
    <p:extLst>
      <p:ext uri="{BB962C8B-B14F-4D97-AF65-F5344CB8AC3E}">
        <p14:creationId xmlns:p14="http://schemas.microsoft.com/office/powerpoint/2010/main" val="22395155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B8364-CFDB-D957-0032-41F750726B5C}"/>
              </a:ext>
            </a:extLst>
          </p:cNvPr>
          <p:cNvSpPr>
            <a:spLocks noGrp="1"/>
          </p:cNvSpPr>
          <p:nvPr>
            <p:ph type="ctrTitle"/>
          </p:nvPr>
        </p:nvSpPr>
        <p:spPr>
          <a:xfrm>
            <a:off x="1507067" y="2052536"/>
            <a:ext cx="7766936" cy="1998300"/>
          </a:xfrm>
        </p:spPr>
        <p:txBody>
          <a:bodyPr/>
          <a:lstStyle/>
          <a:p>
            <a:r>
              <a:rPr lang="en-US" dirty="0"/>
              <a:t>THE EFFECTS OF NOISE POLLUTION ON ANIMALS</a:t>
            </a:r>
          </a:p>
        </p:txBody>
      </p:sp>
      <p:sp>
        <p:nvSpPr>
          <p:cNvPr id="3" name="Subtitle 2">
            <a:extLst>
              <a:ext uri="{FF2B5EF4-FFF2-40B4-BE49-F238E27FC236}">
                <a16:creationId xmlns:a16="http://schemas.microsoft.com/office/drawing/2014/main" id="{50534112-B5DC-55C7-A359-8F17574777C5}"/>
              </a:ext>
            </a:extLst>
          </p:cNvPr>
          <p:cNvSpPr>
            <a:spLocks noGrp="1"/>
          </p:cNvSpPr>
          <p:nvPr>
            <p:ph type="subTitle" idx="1"/>
          </p:nvPr>
        </p:nvSpPr>
        <p:spPr/>
        <p:txBody>
          <a:bodyPr/>
          <a:lstStyle/>
          <a:p>
            <a:r>
              <a:rPr lang="en-US" b="1" dirty="0"/>
              <a:t>ENVIRONMENTAL PHYSIOLOGY GROUP 24</a:t>
            </a:r>
          </a:p>
          <a:p>
            <a:endParaRPr lang="en-US" dirty="0"/>
          </a:p>
        </p:txBody>
      </p:sp>
      <p:sp>
        <p:nvSpPr>
          <p:cNvPr id="4" name="Slide Number Placeholder 3">
            <a:extLst>
              <a:ext uri="{FF2B5EF4-FFF2-40B4-BE49-F238E27FC236}">
                <a16:creationId xmlns:a16="http://schemas.microsoft.com/office/drawing/2014/main" id="{1213E5F7-0B58-E6B5-769C-EFB2BA80FA9A}"/>
              </a:ext>
            </a:extLst>
          </p:cNvPr>
          <p:cNvSpPr>
            <a:spLocks noGrp="1"/>
          </p:cNvSpPr>
          <p:nvPr>
            <p:ph type="sldNum" sz="quarter" idx="12"/>
          </p:nvPr>
        </p:nvSpPr>
        <p:spPr/>
        <p:txBody>
          <a:bodyPr/>
          <a:lstStyle/>
          <a:p>
            <a:fld id="{CD880172-00A2-44C6-8510-EDC97D2BC073}" type="slidenum">
              <a:rPr lang="en-US" smtClean="0"/>
              <a:t>1</a:t>
            </a:fld>
            <a:endParaRPr lang="en-US"/>
          </a:p>
        </p:txBody>
      </p:sp>
    </p:spTree>
    <p:extLst>
      <p:ext uri="{BB962C8B-B14F-4D97-AF65-F5344CB8AC3E}">
        <p14:creationId xmlns:p14="http://schemas.microsoft.com/office/powerpoint/2010/main" val="470896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FE1BA-6C6E-0D10-94E6-604878001422}"/>
              </a:ext>
            </a:extLst>
          </p:cNvPr>
          <p:cNvSpPr>
            <a:spLocks noGrp="1"/>
          </p:cNvSpPr>
          <p:nvPr>
            <p:ph type="title"/>
          </p:nvPr>
        </p:nvSpPr>
        <p:spPr/>
        <p:txBody>
          <a:bodyPr/>
          <a:lstStyle/>
          <a:p>
            <a:r>
              <a:rPr lang="en-US" dirty="0">
                <a:latin typeface="Garamond" panose="02020404030301010803" pitchFamily="18" charset="0"/>
              </a:rPr>
              <a:t>OUTLINE…</a:t>
            </a:r>
          </a:p>
        </p:txBody>
      </p:sp>
      <p:sp>
        <p:nvSpPr>
          <p:cNvPr id="3" name="Content Placeholder 2">
            <a:extLst>
              <a:ext uri="{FF2B5EF4-FFF2-40B4-BE49-F238E27FC236}">
                <a16:creationId xmlns:a16="http://schemas.microsoft.com/office/drawing/2014/main" id="{76AC05A6-E53C-FC4B-1B23-EAFABC2C4217}"/>
              </a:ext>
            </a:extLst>
          </p:cNvPr>
          <p:cNvSpPr>
            <a:spLocks noGrp="1"/>
          </p:cNvSpPr>
          <p:nvPr>
            <p:ph idx="1"/>
          </p:nvPr>
        </p:nvSpPr>
        <p:spPr/>
        <p:txBody>
          <a:bodyPr/>
          <a:lstStyle/>
          <a:p>
            <a:r>
              <a:rPr lang="en-US" sz="3200" b="1" dirty="0">
                <a:latin typeface="Garamond" panose="02020404030301010803" pitchFamily="18" charset="0"/>
              </a:rPr>
              <a:t>INTRODUCTION</a:t>
            </a:r>
          </a:p>
          <a:p>
            <a:r>
              <a:rPr lang="en-US" sz="3200" b="1" dirty="0">
                <a:latin typeface="Garamond" panose="02020404030301010803" pitchFamily="18" charset="0"/>
              </a:rPr>
              <a:t>EFFECTS OF NOISE ON ANIMAL BEHAVIOUR</a:t>
            </a:r>
          </a:p>
          <a:p>
            <a:r>
              <a:rPr lang="en-US" sz="3200" b="1" dirty="0">
                <a:latin typeface="Garamond" panose="02020404030301010803" pitchFamily="18" charset="0"/>
              </a:rPr>
              <a:t>EFFECTS OF NOISE ON ANIMAL PHYSIOLOGY</a:t>
            </a:r>
          </a:p>
          <a:p>
            <a:r>
              <a:rPr lang="en-US" sz="3200" b="1" dirty="0">
                <a:latin typeface="Garamond" panose="02020404030301010803" pitchFamily="18" charset="0"/>
              </a:rPr>
              <a:t>CONCLUSION</a:t>
            </a:r>
          </a:p>
          <a:p>
            <a:endParaRPr lang="en-US" dirty="0"/>
          </a:p>
        </p:txBody>
      </p:sp>
      <p:sp>
        <p:nvSpPr>
          <p:cNvPr id="4" name="Slide Number Placeholder 3">
            <a:extLst>
              <a:ext uri="{FF2B5EF4-FFF2-40B4-BE49-F238E27FC236}">
                <a16:creationId xmlns:a16="http://schemas.microsoft.com/office/drawing/2014/main" id="{6F5C3FC4-EEAE-4EBC-7429-7930B3A35FDA}"/>
              </a:ext>
            </a:extLst>
          </p:cNvPr>
          <p:cNvSpPr>
            <a:spLocks noGrp="1"/>
          </p:cNvSpPr>
          <p:nvPr>
            <p:ph type="sldNum" sz="quarter" idx="12"/>
          </p:nvPr>
        </p:nvSpPr>
        <p:spPr/>
        <p:txBody>
          <a:bodyPr/>
          <a:lstStyle/>
          <a:p>
            <a:fld id="{CD880172-00A2-44C6-8510-EDC97D2BC073}" type="slidenum">
              <a:rPr lang="en-US" smtClean="0"/>
              <a:t>2</a:t>
            </a:fld>
            <a:endParaRPr lang="en-US"/>
          </a:p>
        </p:txBody>
      </p:sp>
    </p:spTree>
    <p:extLst>
      <p:ext uri="{BB962C8B-B14F-4D97-AF65-F5344CB8AC3E}">
        <p14:creationId xmlns:p14="http://schemas.microsoft.com/office/powerpoint/2010/main" val="47721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8474B-D6B0-2AE8-29A9-72BC32DD6A26}"/>
              </a:ext>
            </a:extLst>
          </p:cNvPr>
          <p:cNvSpPr>
            <a:spLocks noGrp="1"/>
          </p:cNvSpPr>
          <p:nvPr>
            <p:ph type="title"/>
          </p:nvPr>
        </p:nvSpPr>
        <p:spPr/>
        <p:txBody>
          <a:bodyPr/>
          <a:lstStyle/>
          <a:p>
            <a:r>
              <a:rPr lang="en-US" dirty="0">
                <a:latin typeface="Garamond" panose="02020404030301010803" pitchFamily="18" charset="0"/>
              </a:rPr>
              <a:t>INTRODUCTION…</a:t>
            </a:r>
          </a:p>
        </p:txBody>
      </p:sp>
      <p:sp>
        <p:nvSpPr>
          <p:cNvPr id="3" name="Content Placeholder 2">
            <a:extLst>
              <a:ext uri="{FF2B5EF4-FFF2-40B4-BE49-F238E27FC236}">
                <a16:creationId xmlns:a16="http://schemas.microsoft.com/office/drawing/2014/main" id="{17E64C73-0665-549E-6413-C36CF1433CF1}"/>
              </a:ext>
            </a:extLst>
          </p:cNvPr>
          <p:cNvSpPr>
            <a:spLocks noGrp="1"/>
          </p:cNvSpPr>
          <p:nvPr>
            <p:ph idx="1"/>
          </p:nvPr>
        </p:nvSpPr>
        <p:spPr/>
        <p:txBody>
          <a:bodyPr>
            <a:normAutofit lnSpcReduction="10000"/>
          </a:bodyPr>
          <a:lstStyle/>
          <a:p>
            <a:r>
              <a:rPr lang="en-US" sz="2400" b="1" dirty="0">
                <a:latin typeface="Garamond" panose="02020404030301010803" pitchFamily="18" charset="0"/>
              </a:rPr>
              <a:t>Noise is ubiquitous in all animal habitats. (</a:t>
            </a:r>
            <a:r>
              <a:rPr lang="en-US" sz="2400" b="1" dirty="0" err="1">
                <a:latin typeface="Garamond" panose="02020404030301010803" pitchFamily="18" charset="0"/>
              </a:rPr>
              <a:t>Brumm</a:t>
            </a:r>
            <a:r>
              <a:rPr lang="en-US" sz="2400" b="1" dirty="0">
                <a:latin typeface="Garamond" panose="02020404030301010803" pitchFamily="18" charset="0"/>
              </a:rPr>
              <a:t> and </a:t>
            </a:r>
            <a:r>
              <a:rPr lang="en-US" sz="2400" b="1" dirty="0" err="1">
                <a:latin typeface="Garamond" panose="02020404030301010803" pitchFamily="18" charset="0"/>
              </a:rPr>
              <a:t>Slabbekoorn</a:t>
            </a:r>
            <a:r>
              <a:rPr lang="en-US" sz="2400" b="1" dirty="0">
                <a:latin typeface="Garamond" panose="02020404030301010803" pitchFamily="18" charset="0"/>
              </a:rPr>
              <a:t>)</a:t>
            </a:r>
          </a:p>
          <a:p>
            <a:r>
              <a:rPr lang="en-US" sz="2400" b="1" dirty="0">
                <a:latin typeface="Garamond" panose="02020404030301010803" pitchFamily="18" charset="0"/>
              </a:rPr>
              <a:t>From </a:t>
            </a:r>
            <a:r>
              <a:rPr lang="en-US" sz="2400" b="1" dirty="0" err="1">
                <a:latin typeface="Garamond" panose="02020404030301010803" pitchFamily="18" charset="0"/>
              </a:rPr>
              <a:t>geophysical,biological</a:t>
            </a:r>
            <a:r>
              <a:rPr lang="en-US" sz="2400" b="1" dirty="0">
                <a:latin typeface="Garamond" panose="02020404030301010803" pitchFamily="18" charset="0"/>
              </a:rPr>
              <a:t>, and anthropogenic sources/sounds.</a:t>
            </a:r>
          </a:p>
          <a:p>
            <a:r>
              <a:rPr lang="en-US" sz="2400" b="1" dirty="0">
                <a:latin typeface="Garamond" panose="02020404030301010803" pitchFamily="18" charset="0"/>
              </a:rPr>
              <a:t>these sounds are termed as noise because they are ;</a:t>
            </a:r>
          </a:p>
          <a:p>
            <a:pPr lvl="1" algn="just">
              <a:buFont typeface="Arial" panose="020B0604020202020204" pitchFamily="34" charset="0"/>
              <a:buChar char="•"/>
            </a:pPr>
            <a:r>
              <a:rPr lang="en-US" sz="2400" b="1" dirty="0">
                <a:latin typeface="Garamond" panose="02020404030301010803" pitchFamily="18" charset="0"/>
              </a:rPr>
              <a:t>  unwanted,</a:t>
            </a:r>
          </a:p>
          <a:p>
            <a:pPr lvl="1" algn="just">
              <a:buFont typeface="Arial" panose="020B0604020202020204" pitchFamily="34" charset="0"/>
              <a:buChar char="•"/>
            </a:pPr>
            <a:r>
              <a:rPr lang="en-US" sz="2400" b="1" dirty="0">
                <a:latin typeface="Garamond" panose="02020404030301010803" pitchFamily="18" charset="0"/>
              </a:rPr>
              <a:t>unpleasant,</a:t>
            </a:r>
          </a:p>
          <a:p>
            <a:pPr lvl="1" algn="just">
              <a:buFont typeface="Arial" panose="020B0604020202020204" pitchFamily="34" charset="0"/>
              <a:buChar char="•"/>
            </a:pPr>
            <a:r>
              <a:rPr lang="en-US" sz="2400" b="1" dirty="0">
                <a:latin typeface="Garamond" panose="02020404030301010803" pitchFamily="18" charset="0"/>
              </a:rPr>
              <a:t>interfere with function.</a:t>
            </a:r>
          </a:p>
        </p:txBody>
      </p:sp>
      <p:sp>
        <p:nvSpPr>
          <p:cNvPr id="4" name="Slide Number Placeholder 3">
            <a:extLst>
              <a:ext uri="{FF2B5EF4-FFF2-40B4-BE49-F238E27FC236}">
                <a16:creationId xmlns:a16="http://schemas.microsoft.com/office/drawing/2014/main" id="{B12B990C-157E-DF5E-5F02-FA6348DFB67F}"/>
              </a:ext>
            </a:extLst>
          </p:cNvPr>
          <p:cNvSpPr>
            <a:spLocks noGrp="1"/>
          </p:cNvSpPr>
          <p:nvPr>
            <p:ph type="sldNum" sz="quarter" idx="12"/>
          </p:nvPr>
        </p:nvSpPr>
        <p:spPr/>
        <p:txBody>
          <a:bodyPr/>
          <a:lstStyle/>
          <a:p>
            <a:fld id="{CD880172-00A2-44C6-8510-EDC97D2BC073}" type="slidenum">
              <a:rPr lang="en-US" smtClean="0"/>
              <a:t>3</a:t>
            </a:fld>
            <a:endParaRPr lang="en-US"/>
          </a:p>
        </p:txBody>
      </p:sp>
    </p:spTree>
    <p:extLst>
      <p:ext uri="{BB962C8B-B14F-4D97-AF65-F5344CB8AC3E}">
        <p14:creationId xmlns:p14="http://schemas.microsoft.com/office/powerpoint/2010/main" val="530998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47D60-0AD0-7379-5FFD-A34F795A777D}"/>
              </a:ext>
            </a:extLst>
          </p:cNvPr>
          <p:cNvSpPr>
            <a:spLocks noGrp="1"/>
          </p:cNvSpPr>
          <p:nvPr>
            <p:ph type="title"/>
          </p:nvPr>
        </p:nvSpPr>
        <p:spPr/>
        <p:txBody>
          <a:bodyPr/>
          <a:lstStyle/>
          <a:p>
            <a:r>
              <a:rPr lang="en-US" dirty="0">
                <a:latin typeface="Garamond" panose="02020404030301010803" pitchFamily="18" charset="0"/>
              </a:rPr>
              <a:t>INTRODUCTION CONTINUED…</a:t>
            </a:r>
          </a:p>
        </p:txBody>
      </p:sp>
      <p:sp>
        <p:nvSpPr>
          <p:cNvPr id="3" name="Content Placeholder 2">
            <a:extLst>
              <a:ext uri="{FF2B5EF4-FFF2-40B4-BE49-F238E27FC236}">
                <a16:creationId xmlns:a16="http://schemas.microsoft.com/office/drawing/2014/main" id="{6006DC06-440E-11C7-6515-E1AEA6241745}"/>
              </a:ext>
            </a:extLst>
          </p:cNvPr>
          <p:cNvSpPr>
            <a:spLocks noGrp="1"/>
          </p:cNvSpPr>
          <p:nvPr>
            <p:ph idx="1"/>
          </p:nvPr>
        </p:nvSpPr>
        <p:spPr/>
        <p:txBody>
          <a:bodyPr>
            <a:normAutofit lnSpcReduction="10000"/>
          </a:bodyPr>
          <a:lstStyle/>
          <a:p>
            <a:pPr marL="0" indent="0">
              <a:buNone/>
            </a:pPr>
            <a:r>
              <a:rPr lang="en-US" sz="2400" b="1" dirty="0">
                <a:latin typeface="Garamond" panose="02020404030301010803" pitchFamily="18" charset="0"/>
              </a:rPr>
              <a:t>Adaptation is mostly </a:t>
            </a:r>
            <a:r>
              <a:rPr lang="en-US" sz="2400" b="1" dirty="0" err="1">
                <a:latin typeface="Garamond" panose="02020404030301010803" pitchFamily="18" charset="0"/>
              </a:rPr>
              <a:t>behavioural</a:t>
            </a:r>
            <a:r>
              <a:rPr lang="en-US" sz="2400" b="1" dirty="0">
                <a:latin typeface="Garamond" panose="02020404030301010803" pitchFamily="18" charset="0"/>
              </a:rPr>
              <a:t> through</a:t>
            </a:r>
          </a:p>
          <a:p>
            <a:r>
              <a:rPr lang="en-US" sz="2400" b="1" dirty="0">
                <a:latin typeface="Garamond" panose="02020404030301010803" pitchFamily="18" charset="0"/>
              </a:rPr>
              <a:t>Avoidance through temporal and spatial changes of activities</a:t>
            </a:r>
          </a:p>
          <a:p>
            <a:pPr algn="l"/>
            <a:r>
              <a:rPr lang="en-US" sz="2400" b="1" dirty="0">
                <a:latin typeface="Garamond" panose="02020404030301010803" pitchFamily="18" charset="0"/>
              </a:rPr>
              <a:t>Habituation</a:t>
            </a:r>
          </a:p>
          <a:p>
            <a:pPr lvl="1">
              <a:buFont typeface="Arial" panose="020B0604020202020204" pitchFamily="34" charset="0"/>
              <a:buChar char="•"/>
            </a:pPr>
            <a:r>
              <a:rPr lang="en-US" sz="2400" b="1" dirty="0">
                <a:latin typeface="Garamond" panose="02020404030301010803" pitchFamily="18" charset="0"/>
              </a:rPr>
              <a:t>traffic volume has no effect on white-footed mice and eastern chipmunks (McGregor et. al., 2008)</a:t>
            </a:r>
          </a:p>
          <a:p>
            <a:pPr lvl="1">
              <a:buFont typeface="Arial" panose="020B0604020202020204" pitchFamily="34" charset="0"/>
              <a:buChar char="•"/>
            </a:pPr>
            <a:r>
              <a:rPr lang="en-US" sz="2400" b="1" dirty="0">
                <a:latin typeface="Garamond" panose="02020404030301010803" pitchFamily="18" charset="0"/>
              </a:rPr>
              <a:t>repeated exposure of shore crabs to ship noise showed no changes in metabolism ( Whale et.al., 2013)</a:t>
            </a:r>
          </a:p>
          <a:p>
            <a:r>
              <a:rPr lang="en-US" sz="2400" b="1" dirty="0">
                <a:latin typeface="Garamond" panose="02020404030301010803" pitchFamily="18" charset="0"/>
              </a:rPr>
              <a:t>Regeneration and self-healing of damaged tissues</a:t>
            </a:r>
          </a:p>
          <a:p>
            <a:endParaRPr lang="en-US" dirty="0"/>
          </a:p>
        </p:txBody>
      </p:sp>
      <p:sp>
        <p:nvSpPr>
          <p:cNvPr id="4" name="Slide Number Placeholder 3">
            <a:extLst>
              <a:ext uri="{FF2B5EF4-FFF2-40B4-BE49-F238E27FC236}">
                <a16:creationId xmlns:a16="http://schemas.microsoft.com/office/drawing/2014/main" id="{EC9FE459-2469-E585-33AA-6D8A13F4B1FC}"/>
              </a:ext>
            </a:extLst>
          </p:cNvPr>
          <p:cNvSpPr>
            <a:spLocks noGrp="1"/>
          </p:cNvSpPr>
          <p:nvPr>
            <p:ph type="sldNum" sz="quarter" idx="12"/>
          </p:nvPr>
        </p:nvSpPr>
        <p:spPr/>
        <p:txBody>
          <a:bodyPr/>
          <a:lstStyle/>
          <a:p>
            <a:fld id="{CD880172-00A2-44C6-8510-EDC97D2BC073}" type="slidenum">
              <a:rPr lang="en-US" smtClean="0"/>
              <a:t>4</a:t>
            </a:fld>
            <a:endParaRPr lang="en-US"/>
          </a:p>
        </p:txBody>
      </p:sp>
    </p:spTree>
    <p:extLst>
      <p:ext uri="{BB962C8B-B14F-4D97-AF65-F5344CB8AC3E}">
        <p14:creationId xmlns:p14="http://schemas.microsoft.com/office/powerpoint/2010/main" val="3169299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5FFF1-E64F-0359-D84F-84CA6DA1CD00}"/>
              </a:ext>
            </a:extLst>
          </p:cNvPr>
          <p:cNvSpPr>
            <a:spLocks noGrp="1"/>
          </p:cNvSpPr>
          <p:nvPr>
            <p:ph type="title"/>
          </p:nvPr>
        </p:nvSpPr>
        <p:spPr/>
        <p:txBody>
          <a:bodyPr/>
          <a:lstStyle/>
          <a:p>
            <a:r>
              <a:rPr lang="en-US" dirty="0">
                <a:latin typeface="Garamond" panose="02020404030301010803" pitchFamily="18" charset="0"/>
              </a:rPr>
              <a:t>EFFECTS OF NOISE ON ANIMAL BEHAVIOUR…</a:t>
            </a:r>
          </a:p>
        </p:txBody>
      </p:sp>
      <p:sp>
        <p:nvSpPr>
          <p:cNvPr id="3" name="Content Placeholder 2">
            <a:extLst>
              <a:ext uri="{FF2B5EF4-FFF2-40B4-BE49-F238E27FC236}">
                <a16:creationId xmlns:a16="http://schemas.microsoft.com/office/drawing/2014/main" id="{6D770795-C8AE-95DD-D080-97699AF0CC67}"/>
              </a:ext>
            </a:extLst>
          </p:cNvPr>
          <p:cNvSpPr>
            <a:spLocks noGrp="1"/>
          </p:cNvSpPr>
          <p:nvPr>
            <p:ph idx="1"/>
          </p:nvPr>
        </p:nvSpPr>
        <p:spPr/>
        <p:txBody>
          <a:bodyPr>
            <a:normAutofit fontScale="92500"/>
          </a:bodyPr>
          <a:lstStyle/>
          <a:p>
            <a:r>
              <a:rPr lang="en-US" sz="2800" b="1" dirty="0">
                <a:latin typeface="Garamond" panose="02020404030301010803" pitchFamily="18" charset="0"/>
              </a:rPr>
              <a:t>Interference with prey-predator relation</a:t>
            </a:r>
          </a:p>
          <a:p>
            <a:pPr lvl="1">
              <a:buFont typeface="Arial" panose="020B0604020202020204" pitchFamily="34" charset="0"/>
              <a:buChar char="•"/>
            </a:pPr>
            <a:r>
              <a:rPr lang="en-US" sz="2800" b="1" dirty="0">
                <a:latin typeface="Garamond" panose="02020404030301010803" pitchFamily="18" charset="0"/>
              </a:rPr>
              <a:t>Increased vigilance in chaffinches (Quinn et. al., 2006)</a:t>
            </a:r>
          </a:p>
          <a:p>
            <a:pPr lvl="1">
              <a:buFont typeface="Arial" panose="020B0604020202020204" pitchFamily="34" charset="0"/>
              <a:buChar char="•"/>
            </a:pPr>
            <a:r>
              <a:rPr lang="en-US" sz="2800" b="1" dirty="0">
                <a:latin typeface="Garamond" panose="02020404030301010803" pitchFamily="18" charset="0"/>
              </a:rPr>
              <a:t>increased consumption of prey fishes by predator fishes (Simpson et. tal.,2016)</a:t>
            </a:r>
          </a:p>
          <a:p>
            <a:r>
              <a:rPr lang="en-US" sz="2800" b="1" dirty="0">
                <a:latin typeface="Garamond" panose="02020404030301010803" pitchFamily="18" charset="0"/>
              </a:rPr>
              <a:t>Alteration in movement</a:t>
            </a:r>
          </a:p>
          <a:p>
            <a:pPr lvl="1">
              <a:buFont typeface="Arial" panose="020B0604020202020204" pitchFamily="34" charset="0"/>
              <a:buChar char="•"/>
            </a:pPr>
            <a:r>
              <a:rPr lang="en-US" sz="2800" b="1" dirty="0">
                <a:latin typeface="Garamond" panose="02020404030301010803" pitchFamily="18" charset="0"/>
              </a:rPr>
              <a:t>rerouting by gray whales around noise (</a:t>
            </a:r>
            <a:r>
              <a:rPr lang="en-US" sz="2800" b="1" dirty="0" err="1">
                <a:latin typeface="Garamond" panose="02020404030301010803" pitchFamily="18" charset="0"/>
              </a:rPr>
              <a:t>Malme</a:t>
            </a:r>
            <a:r>
              <a:rPr lang="en-US" sz="2800" b="1" dirty="0">
                <a:latin typeface="Garamond" panose="02020404030301010803" pitchFamily="18" charset="0"/>
              </a:rPr>
              <a:t> et. at., 1984)</a:t>
            </a:r>
          </a:p>
          <a:p>
            <a:endParaRPr lang="en-US" dirty="0"/>
          </a:p>
        </p:txBody>
      </p:sp>
      <p:sp>
        <p:nvSpPr>
          <p:cNvPr id="4" name="Slide Number Placeholder 3">
            <a:extLst>
              <a:ext uri="{FF2B5EF4-FFF2-40B4-BE49-F238E27FC236}">
                <a16:creationId xmlns:a16="http://schemas.microsoft.com/office/drawing/2014/main" id="{DEA909C7-15E1-38F8-6C05-0898B273EE0E}"/>
              </a:ext>
            </a:extLst>
          </p:cNvPr>
          <p:cNvSpPr>
            <a:spLocks noGrp="1"/>
          </p:cNvSpPr>
          <p:nvPr>
            <p:ph type="sldNum" sz="quarter" idx="12"/>
          </p:nvPr>
        </p:nvSpPr>
        <p:spPr/>
        <p:txBody>
          <a:bodyPr/>
          <a:lstStyle/>
          <a:p>
            <a:fld id="{CD880172-00A2-44C6-8510-EDC97D2BC073}" type="slidenum">
              <a:rPr lang="en-US" smtClean="0"/>
              <a:t>5</a:t>
            </a:fld>
            <a:endParaRPr lang="en-US" dirty="0"/>
          </a:p>
        </p:txBody>
      </p:sp>
    </p:spTree>
    <p:extLst>
      <p:ext uri="{BB962C8B-B14F-4D97-AF65-F5344CB8AC3E}">
        <p14:creationId xmlns:p14="http://schemas.microsoft.com/office/powerpoint/2010/main" val="1401174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81A18-D51E-4417-6ECA-1131AB7B27BC}"/>
              </a:ext>
            </a:extLst>
          </p:cNvPr>
          <p:cNvSpPr>
            <a:spLocks noGrp="1"/>
          </p:cNvSpPr>
          <p:nvPr>
            <p:ph type="title"/>
          </p:nvPr>
        </p:nvSpPr>
        <p:spPr/>
        <p:txBody>
          <a:bodyPr/>
          <a:lstStyle/>
          <a:p>
            <a:r>
              <a:rPr lang="en-US" b="1" dirty="0">
                <a:latin typeface="Garamond" panose="02020404030301010803" pitchFamily="18" charset="0"/>
              </a:rPr>
              <a:t>EFFECTS CONTINUED…</a:t>
            </a:r>
          </a:p>
        </p:txBody>
      </p:sp>
      <p:sp>
        <p:nvSpPr>
          <p:cNvPr id="3" name="Content Placeholder 2">
            <a:extLst>
              <a:ext uri="{FF2B5EF4-FFF2-40B4-BE49-F238E27FC236}">
                <a16:creationId xmlns:a16="http://schemas.microsoft.com/office/drawing/2014/main" id="{3BE6B5B9-9AF9-32A0-EE35-7508748BA5E2}"/>
              </a:ext>
            </a:extLst>
          </p:cNvPr>
          <p:cNvSpPr>
            <a:spLocks noGrp="1"/>
          </p:cNvSpPr>
          <p:nvPr>
            <p:ph idx="1"/>
          </p:nvPr>
        </p:nvSpPr>
        <p:spPr/>
        <p:txBody>
          <a:bodyPr>
            <a:normAutofit fontScale="92500"/>
          </a:bodyPr>
          <a:lstStyle/>
          <a:p>
            <a:r>
              <a:rPr lang="en-US" sz="2800" b="1" dirty="0">
                <a:latin typeface="Garamond" panose="02020404030301010803" pitchFamily="18" charset="0"/>
                <a:sym typeface="+mn-ea"/>
              </a:rPr>
              <a:t>Changes in acoustic signaling</a:t>
            </a:r>
          </a:p>
          <a:p>
            <a:pPr lvl="1">
              <a:buFont typeface="Arial" panose="020B0604020202020204" pitchFamily="34" charset="0"/>
              <a:buChar char="•"/>
            </a:pPr>
            <a:r>
              <a:rPr lang="en-US" sz="2800" b="1" dirty="0">
                <a:latin typeface="Garamond" panose="02020404030301010803" pitchFamily="18" charset="0"/>
                <a:sym typeface="+mn-ea"/>
              </a:rPr>
              <a:t>Lombard effects in frog (</a:t>
            </a:r>
            <a:r>
              <a:rPr lang="en-US" sz="2800" b="1" dirty="0" err="1">
                <a:latin typeface="Garamond" panose="02020404030301010803" pitchFamily="18" charset="0"/>
                <a:sym typeface="+mn-ea"/>
              </a:rPr>
              <a:t>Halfwerk</a:t>
            </a:r>
            <a:r>
              <a:rPr lang="en-US" sz="2800" b="1" dirty="0">
                <a:latin typeface="Garamond" panose="02020404030301010803" pitchFamily="18" charset="0"/>
                <a:sym typeface="+mn-ea"/>
              </a:rPr>
              <a:t> et. at., 2016) birds (</a:t>
            </a:r>
            <a:r>
              <a:rPr lang="en-US" sz="2800" b="1" dirty="0" err="1">
                <a:latin typeface="Garamond" panose="02020404030301010803" pitchFamily="18" charset="0"/>
                <a:sym typeface="+mn-ea"/>
              </a:rPr>
              <a:t>Brumm</a:t>
            </a:r>
            <a:r>
              <a:rPr lang="en-US" sz="2800" b="1" dirty="0">
                <a:latin typeface="Garamond" panose="02020404030301010803" pitchFamily="18" charset="0"/>
                <a:sym typeface="+mn-ea"/>
              </a:rPr>
              <a:t> and </a:t>
            </a:r>
            <a:r>
              <a:rPr lang="en-US" sz="2800" b="1" dirty="0" err="1">
                <a:latin typeface="Garamond" panose="02020404030301010803" pitchFamily="18" charset="0"/>
                <a:sym typeface="+mn-ea"/>
              </a:rPr>
              <a:t>Slabbekoorn</a:t>
            </a:r>
            <a:r>
              <a:rPr lang="en-US" sz="2800" b="1" dirty="0">
                <a:latin typeface="Garamond" panose="02020404030301010803" pitchFamily="18" charset="0"/>
                <a:sym typeface="+mn-ea"/>
              </a:rPr>
              <a:t>)</a:t>
            </a:r>
          </a:p>
          <a:p>
            <a:pPr lvl="1">
              <a:buFont typeface="Arial" panose="020B0604020202020204" pitchFamily="34" charset="0"/>
              <a:buChar char="•"/>
            </a:pPr>
            <a:r>
              <a:rPr lang="en-US" sz="2800" b="1" dirty="0">
                <a:latin typeface="Garamond" panose="02020404030301010803" pitchFamily="18" charset="0"/>
              </a:rPr>
              <a:t>temporal changes </a:t>
            </a:r>
            <a:r>
              <a:rPr lang="en-US" sz="2800" b="1" dirty="0" err="1">
                <a:latin typeface="Garamond" panose="02020404030301010803" pitchFamily="18" charset="0"/>
              </a:rPr>
              <a:t>eg.</a:t>
            </a:r>
            <a:r>
              <a:rPr lang="en-US" sz="2800" b="1" dirty="0">
                <a:latin typeface="Garamond" panose="02020404030301010803" pitchFamily="18" charset="0"/>
              </a:rPr>
              <a:t> chaffinches sang earlier in the day</a:t>
            </a:r>
          </a:p>
          <a:p>
            <a:r>
              <a:rPr lang="en-US" sz="2800" b="1" dirty="0">
                <a:latin typeface="Garamond" panose="02020404030301010803" pitchFamily="18" charset="0"/>
              </a:rPr>
              <a:t>Alteration in foraging </a:t>
            </a:r>
            <a:r>
              <a:rPr lang="en-US" sz="2800" b="1" dirty="0" err="1">
                <a:latin typeface="Garamond" panose="02020404030301010803" pitchFamily="18" charset="0"/>
              </a:rPr>
              <a:t>activitiees</a:t>
            </a:r>
            <a:endParaRPr lang="en-US" sz="2800" b="1" dirty="0">
              <a:latin typeface="Garamond" panose="02020404030301010803" pitchFamily="18" charset="0"/>
            </a:endParaRPr>
          </a:p>
          <a:p>
            <a:pPr lvl="1">
              <a:buFont typeface="Arial" panose="020B0604020202020204" pitchFamily="34" charset="0"/>
              <a:buChar char="•"/>
            </a:pPr>
            <a:r>
              <a:rPr lang="en-US" sz="2800" b="1" dirty="0">
                <a:latin typeface="Garamond" panose="02020404030301010803" pitchFamily="18" charset="0"/>
              </a:rPr>
              <a:t>reduced perking activities of chaffinches </a:t>
            </a:r>
            <a:r>
              <a:rPr lang="en-US" sz="2800" b="1" dirty="0">
                <a:latin typeface="Garamond" panose="02020404030301010803" pitchFamily="18" charset="0"/>
                <a:sym typeface="+mn-ea"/>
              </a:rPr>
              <a:t>(Quinn et. al., 2006)</a:t>
            </a:r>
            <a:endParaRPr lang="en-US" sz="2800" b="1" dirty="0">
              <a:latin typeface="Garamond" panose="02020404030301010803" pitchFamily="18" charset="0"/>
            </a:endParaRPr>
          </a:p>
          <a:p>
            <a:pPr lvl="1">
              <a:buFont typeface="Arial" panose="020B0604020202020204" pitchFamily="34" charset="0"/>
              <a:buChar char="•"/>
            </a:pPr>
            <a:endParaRPr lang="en-US" sz="2800" dirty="0">
              <a:latin typeface="Garamond" panose="02020404030301010803" pitchFamily="18" charset="0"/>
            </a:endParaRPr>
          </a:p>
          <a:p>
            <a:endParaRPr lang="en-US" dirty="0"/>
          </a:p>
        </p:txBody>
      </p:sp>
      <p:sp>
        <p:nvSpPr>
          <p:cNvPr id="4" name="Slide Number Placeholder 3">
            <a:extLst>
              <a:ext uri="{FF2B5EF4-FFF2-40B4-BE49-F238E27FC236}">
                <a16:creationId xmlns:a16="http://schemas.microsoft.com/office/drawing/2014/main" id="{89C10AE6-1E2B-D67E-4F43-AE34ADE3F36A}"/>
              </a:ext>
            </a:extLst>
          </p:cNvPr>
          <p:cNvSpPr>
            <a:spLocks noGrp="1"/>
          </p:cNvSpPr>
          <p:nvPr>
            <p:ph type="sldNum" sz="quarter" idx="12"/>
          </p:nvPr>
        </p:nvSpPr>
        <p:spPr/>
        <p:txBody>
          <a:bodyPr/>
          <a:lstStyle/>
          <a:p>
            <a:fld id="{CD880172-00A2-44C6-8510-EDC97D2BC073}" type="slidenum">
              <a:rPr lang="en-US" smtClean="0"/>
              <a:t>6</a:t>
            </a:fld>
            <a:endParaRPr lang="en-US"/>
          </a:p>
        </p:txBody>
      </p:sp>
    </p:spTree>
    <p:extLst>
      <p:ext uri="{BB962C8B-B14F-4D97-AF65-F5344CB8AC3E}">
        <p14:creationId xmlns:p14="http://schemas.microsoft.com/office/powerpoint/2010/main" val="3278030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909CC-0428-3C79-2AFA-51C025B87A19}"/>
              </a:ext>
            </a:extLst>
          </p:cNvPr>
          <p:cNvSpPr>
            <a:spLocks noGrp="1"/>
          </p:cNvSpPr>
          <p:nvPr>
            <p:ph type="title"/>
          </p:nvPr>
        </p:nvSpPr>
        <p:spPr/>
        <p:txBody>
          <a:bodyPr/>
          <a:lstStyle/>
          <a:p>
            <a:r>
              <a:rPr lang="en-US" b="1" dirty="0">
                <a:latin typeface="Garamond" panose="02020404030301010803" pitchFamily="18" charset="0"/>
              </a:rPr>
              <a:t>EFFECTS OF NOISE ON ANIMAL PHYSIOLOGY...</a:t>
            </a:r>
          </a:p>
        </p:txBody>
      </p:sp>
      <p:sp>
        <p:nvSpPr>
          <p:cNvPr id="3" name="Content Placeholder 2">
            <a:extLst>
              <a:ext uri="{FF2B5EF4-FFF2-40B4-BE49-F238E27FC236}">
                <a16:creationId xmlns:a16="http://schemas.microsoft.com/office/drawing/2014/main" id="{1F08B7E3-D71B-BA25-924E-37CFC373018A}"/>
              </a:ext>
            </a:extLst>
          </p:cNvPr>
          <p:cNvSpPr>
            <a:spLocks noGrp="1"/>
          </p:cNvSpPr>
          <p:nvPr>
            <p:ph idx="1"/>
          </p:nvPr>
        </p:nvSpPr>
        <p:spPr/>
        <p:txBody>
          <a:bodyPr>
            <a:normAutofit fontScale="92500" lnSpcReduction="20000"/>
          </a:bodyPr>
          <a:lstStyle/>
          <a:p>
            <a:r>
              <a:rPr lang="en-US" sz="2400" b="1" dirty="0">
                <a:latin typeface="Garamond" panose="02020404030301010803" pitchFamily="18" charset="0"/>
              </a:rPr>
              <a:t>Disruption of hormonal balance</a:t>
            </a:r>
          </a:p>
          <a:p>
            <a:pPr lvl="1">
              <a:buFont typeface="Arial" panose="020B0604020202020204" pitchFamily="34" charset="0"/>
              <a:buChar char="•"/>
            </a:pPr>
            <a:r>
              <a:rPr lang="en-US" sz="2400" b="1" dirty="0">
                <a:latin typeface="Garamond" panose="02020404030301010803" pitchFamily="18" charset="0"/>
              </a:rPr>
              <a:t>testosterone decreased in male rats exposed to noise (</a:t>
            </a:r>
            <a:r>
              <a:rPr lang="en-US" sz="2400" b="1" dirty="0" err="1">
                <a:latin typeface="Garamond" panose="02020404030301010803" pitchFamily="18" charset="0"/>
              </a:rPr>
              <a:t>Ruffoli</a:t>
            </a:r>
            <a:r>
              <a:rPr lang="en-US" sz="2400" b="1" dirty="0">
                <a:latin typeface="Garamond" panose="02020404030301010803" pitchFamily="18" charset="0"/>
              </a:rPr>
              <a:t> et. </a:t>
            </a:r>
            <a:r>
              <a:rPr lang="en-US" sz="2400" b="1" dirty="0" err="1">
                <a:latin typeface="Garamond" panose="02020404030301010803" pitchFamily="18" charset="0"/>
              </a:rPr>
              <a:t>tal</a:t>
            </a:r>
            <a:r>
              <a:rPr lang="en-US" sz="2400" b="1" dirty="0">
                <a:latin typeface="Garamond" panose="02020404030301010803" pitchFamily="18" charset="0"/>
              </a:rPr>
              <a:t>., 2006)</a:t>
            </a:r>
          </a:p>
          <a:p>
            <a:pPr lvl="1">
              <a:buFont typeface="Arial" panose="020B0604020202020204" pitchFamily="34" charset="0"/>
              <a:buChar char="•"/>
            </a:pPr>
            <a:r>
              <a:rPr lang="en-US" sz="2400" b="1" dirty="0">
                <a:latin typeface="Garamond" panose="02020404030301010803" pitchFamily="18" charset="0"/>
              </a:rPr>
              <a:t>elevated levels of glucocorticoid enzymes in wolves and elks (Creel et. </a:t>
            </a:r>
            <a:r>
              <a:rPr lang="en-US" sz="2400" b="1" dirty="0" err="1">
                <a:latin typeface="Garamond" panose="02020404030301010803" pitchFamily="18" charset="0"/>
              </a:rPr>
              <a:t>tal</a:t>
            </a:r>
            <a:r>
              <a:rPr lang="en-US" sz="2400" b="1" dirty="0">
                <a:latin typeface="Garamond" panose="02020404030301010803" pitchFamily="18" charset="0"/>
              </a:rPr>
              <a:t>., 2002)</a:t>
            </a:r>
          </a:p>
          <a:p>
            <a:r>
              <a:rPr lang="en-US" sz="2400" b="1" dirty="0">
                <a:latin typeface="Garamond" panose="02020404030301010803" pitchFamily="18" charset="0"/>
              </a:rPr>
              <a:t>Disruption in electrolyte regulation</a:t>
            </a:r>
          </a:p>
          <a:p>
            <a:pPr lvl="1">
              <a:buFont typeface="Arial" panose="020B0604020202020204" pitchFamily="34" charset="0"/>
              <a:buChar char="•"/>
            </a:pPr>
            <a:r>
              <a:rPr lang="en-US" sz="2400" b="1" dirty="0">
                <a:latin typeface="Garamond" panose="02020404030301010803" pitchFamily="18" charset="0"/>
              </a:rPr>
              <a:t>detrimental changes in cellular levels of calcium (</a:t>
            </a:r>
            <a:r>
              <a:rPr lang="en-US" sz="2400" b="1" dirty="0" err="1">
                <a:latin typeface="Garamond" panose="02020404030301010803" pitchFamily="18" charset="0"/>
              </a:rPr>
              <a:t>Gesi</a:t>
            </a:r>
            <a:r>
              <a:rPr lang="en-US" sz="2400" b="1" dirty="0">
                <a:latin typeface="Garamond" panose="02020404030301010803" pitchFamily="18" charset="0"/>
              </a:rPr>
              <a:t> et. </a:t>
            </a:r>
            <a:r>
              <a:rPr lang="en-US" sz="2400" b="1" dirty="0" err="1">
                <a:latin typeface="Garamond" panose="02020404030301010803" pitchFamily="18" charset="0"/>
              </a:rPr>
              <a:t>tal</a:t>
            </a:r>
            <a:r>
              <a:rPr lang="en-US" sz="2400" b="1" dirty="0">
                <a:latin typeface="Garamond" panose="02020404030301010803" pitchFamily="18" charset="0"/>
              </a:rPr>
              <a:t>., 2002)</a:t>
            </a:r>
          </a:p>
          <a:p>
            <a:r>
              <a:rPr lang="en-US" sz="2400" b="1" dirty="0">
                <a:latin typeface="Garamond" panose="02020404030301010803" pitchFamily="18" charset="0"/>
              </a:rPr>
              <a:t>Threshold shifts</a:t>
            </a:r>
          </a:p>
          <a:p>
            <a:endParaRPr lang="en-US" dirty="0"/>
          </a:p>
        </p:txBody>
      </p:sp>
      <p:sp>
        <p:nvSpPr>
          <p:cNvPr id="4" name="Slide Number Placeholder 3">
            <a:extLst>
              <a:ext uri="{FF2B5EF4-FFF2-40B4-BE49-F238E27FC236}">
                <a16:creationId xmlns:a16="http://schemas.microsoft.com/office/drawing/2014/main" id="{806AC36D-2C60-C54B-DC4F-28825E12ED7A}"/>
              </a:ext>
            </a:extLst>
          </p:cNvPr>
          <p:cNvSpPr>
            <a:spLocks noGrp="1"/>
          </p:cNvSpPr>
          <p:nvPr>
            <p:ph type="sldNum" sz="quarter" idx="12"/>
          </p:nvPr>
        </p:nvSpPr>
        <p:spPr/>
        <p:txBody>
          <a:bodyPr/>
          <a:lstStyle/>
          <a:p>
            <a:fld id="{CD880172-00A2-44C6-8510-EDC97D2BC073}" type="slidenum">
              <a:rPr lang="en-US" smtClean="0"/>
              <a:t>7</a:t>
            </a:fld>
            <a:endParaRPr lang="en-US"/>
          </a:p>
        </p:txBody>
      </p:sp>
    </p:spTree>
    <p:extLst>
      <p:ext uri="{BB962C8B-B14F-4D97-AF65-F5344CB8AC3E}">
        <p14:creationId xmlns:p14="http://schemas.microsoft.com/office/powerpoint/2010/main" val="2885820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FB241-ACD7-AB8C-E5BD-97744169A739}"/>
              </a:ext>
            </a:extLst>
          </p:cNvPr>
          <p:cNvSpPr>
            <a:spLocks noGrp="1"/>
          </p:cNvSpPr>
          <p:nvPr>
            <p:ph type="title"/>
          </p:nvPr>
        </p:nvSpPr>
        <p:spPr>
          <a:xfrm>
            <a:off x="677334" y="706877"/>
            <a:ext cx="8596668" cy="1320800"/>
          </a:xfrm>
        </p:spPr>
        <p:txBody>
          <a:bodyPr/>
          <a:lstStyle/>
          <a:p>
            <a:r>
              <a:rPr lang="en-US" b="1" dirty="0">
                <a:latin typeface="Garamond" panose="02020404030301010803" pitchFamily="18" charset="0"/>
              </a:rPr>
              <a:t>EFFECTS CONTINUED…</a:t>
            </a:r>
          </a:p>
        </p:txBody>
      </p:sp>
      <p:sp>
        <p:nvSpPr>
          <p:cNvPr id="3" name="Content Placeholder 2">
            <a:extLst>
              <a:ext uri="{FF2B5EF4-FFF2-40B4-BE49-F238E27FC236}">
                <a16:creationId xmlns:a16="http://schemas.microsoft.com/office/drawing/2014/main" id="{9AEB075B-46E8-EE8C-6C8B-3F5D9CB4C6B2}"/>
              </a:ext>
            </a:extLst>
          </p:cNvPr>
          <p:cNvSpPr>
            <a:spLocks noGrp="1"/>
          </p:cNvSpPr>
          <p:nvPr>
            <p:ph idx="1"/>
          </p:nvPr>
        </p:nvSpPr>
        <p:spPr/>
        <p:txBody>
          <a:bodyPr/>
          <a:lstStyle/>
          <a:p>
            <a:r>
              <a:rPr lang="en-US" sz="2400" b="1" dirty="0">
                <a:latin typeface="Garamond" panose="02020404030301010803" pitchFamily="18" charset="0"/>
              </a:rPr>
              <a:t>Impaired immunity</a:t>
            </a:r>
          </a:p>
          <a:p>
            <a:pPr lvl="1">
              <a:buFont typeface="Arial" panose="020B0604020202020204" pitchFamily="34" charset="0"/>
              <a:buChar char="•"/>
            </a:pPr>
            <a:r>
              <a:rPr lang="en-US" sz="2400" b="1" dirty="0">
                <a:latin typeface="Garamond" panose="02020404030301010803" pitchFamily="18" charset="0"/>
              </a:rPr>
              <a:t>pregnant mice exposed to 85-95 dB alarm bells had pups with lower serum IgG levels. (</a:t>
            </a:r>
            <a:r>
              <a:rPr lang="en-US" sz="2400" b="1" dirty="0" err="1">
                <a:latin typeface="Garamond" panose="02020404030301010803" pitchFamily="18" charset="0"/>
              </a:rPr>
              <a:t>Sobrian</a:t>
            </a:r>
            <a:r>
              <a:rPr lang="en-US" sz="2400" b="1" dirty="0">
                <a:latin typeface="Garamond" panose="02020404030301010803" pitchFamily="18" charset="0"/>
              </a:rPr>
              <a:t> et. al., 1997)</a:t>
            </a:r>
          </a:p>
          <a:p>
            <a:r>
              <a:rPr lang="en-US" sz="2400" b="1" dirty="0">
                <a:latin typeface="Garamond" panose="02020404030301010803" pitchFamily="18" charset="0"/>
              </a:rPr>
              <a:t>Noise induced hearing loss</a:t>
            </a:r>
          </a:p>
          <a:p>
            <a:pPr lvl="1">
              <a:buFont typeface="Arial" panose="020B0604020202020204" pitchFamily="34" charset="0"/>
              <a:buChar char="•"/>
            </a:pPr>
            <a:r>
              <a:rPr lang="en-US" sz="2400" b="1" dirty="0">
                <a:latin typeface="Garamond" panose="02020404030301010803" pitchFamily="18" charset="0"/>
              </a:rPr>
              <a:t>usually due to injury to tissues and hearing organs (deemed as the effect on anatomy)</a:t>
            </a:r>
          </a:p>
          <a:p>
            <a:endParaRPr lang="en-US" dirty="0"/>
          </a:p>
        </p:txBody>
      </p:sp>
      <p:sp>
        <p:nvSpPr>
          <p:cNvPr id="4" name="Slide Number Placeholder 3">
            <a:extLst>
              <a:ext uri="{FF2B5EF4-FFF2-40B4-BE49-F238E27FC236}">
                <a16:creationId xmlns:a16="http://schemas.microsoft.com/office/drawing/2014/main" id="{341402BF-6810-8A03-D31D-F4648FE88F47}"/>
              </a:ext>
            </a:extLst>
          </p:cNvPr>
          <p:cNvSpPr>
            <a:spLocks noGrp="1"/>
          </p:cNvSpPr>
          <p:nvPr>
            <p:ph type="sldNum" sz="quarter" idx="12"/>
          </p:nvPr>
        </p:nvSpPr>
        <p:spPr/>
        <p:txBody>
          <a:bodyPr/>
          <a:lstStyle/>
          <a:p>
            <a:fld id="{CD880172-00A2-44C6-8510-EDC97D2BC073}" type="slidenum">
              <a:rPr lang="en-US" smtClean="0"/>
              <a:t>8</a:t>
            </a:fld>
            <a:endParaRPr lang="en-US"/>
          </a:p>
        </p:txBody>
      </p:sp>
    </p:spTree>
    <p:extLst>
      <p:ext uri="{BB962C8B-B14F-4D97-AF65-F5344CB8AC3E}">
        <p14:creationId xmlns:p14="http://schemas.microsoft.com/office/powerpoint/2010/main" val="2215353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7A0BB-C5EE-26DE-9202-2B4FA4DE91B3}"/>
              </a:ext>
            </a:extLst>
          </p:cNvPr>
          <p:cNvSpPr>
            <a:spLocks noGrp="1"/>
          </p:cNvSpPr>
          <p:nvPr>
            <p:ph type="title"/>
          </p:nvPr>
        </p:nvSpPr>
        <p:spPr/>
        <p:txBody>
          <a:bodyPr/>
          <a:lstStyle/>
          <a:p>
            <a:r>
              <a:rPr lang="en-US" b="1" dirty="0">
                <a:latin typeface="Garamond" panose="02020404030301010803" pitchFamily="18" charset="0"/>
              </a:rPr>
              <a:t>CONCLUSION…</a:t>
            </a:r>
          </a:p>
        </p:txBody>
      </p:sp>
      <p:sp>
        <p:nvSpPr>
          <p:cNvPr id="3" name="Content Placeholder 2">
            <a:extLst>
              <a:ext uri="{FF2B5EF4-FFF2-40B4-BE49-F238E27FC236}">
                <a16:creationId xmlns:a16="http://schemas.microsoft.com/office/drawing/2014/main" id="{2B5874E6-E119-51A0-DB37-7A8E2EE7BC3D}"/>
              </a:ext>
            </a:extLst>
          </p:cNvPr>
          <p:cNvSpPr>
            <a:spLocks noGrp="1"/>
          </p:cNvSpPr>
          <p:nvPr>
            <p:ph idx="1"/>
          </p:nvPr>
        </p:nvSpPr>
        <p:spPr/>
        <p:txBody>
          <a:bodyPr>
            <a:normAutofit lnSpcReduction="10000"/>
          </a:bodyPr>
          <a:lstStyle/>
          <a:p>
            <a:r>
              <a:rPr lang="en-US" sz="2400" b="1" dirty="0">
                <a:latin typeface="Garamond" panose="02020404030301010803" pitchFamily="18" charset="0"/>
              </a:rPr>
              <a:t>Anthropogenic noises has devastating effects on animals and these effects on individual animals can escalate to the population level, ultimately affecting species-richness and biodiversity.</a:t>
            </a:r>
          </a:p>
          <a:p>
            <a:r>
              <a:rPr lang="en-US" sz="2400" b="1" dirty="0">
                <a:latin typeface="Garamond" panose="02020404030301010803" pitchFamily="18" charset="0"/>
              </a:rPr>
              <a:t>There is the potential to mitigate any negative impacts of anthropogenic noise by modifying the noise source characteristics and operation schedules, finding alternative means to obtain operational goals of the noise source, and protecting critical habitats</a:t>
            </a:r>
          </a:p>
          <a:p>
            <a:endParaRPr lang="en-US" dirty="0"/>
          </a:p>
        </p:txBody>
      </p:sp>
      <p:sp>
        <p:nvSpPr>
          <p:cNvPr id="4" name="Slide Number Placeholder 3">
            <a:extLst>
              <a:ext uri="{FF2B5EF4-FFF2-40B4-BE49-F238E27FC236}">
                <a16:creationId xmlns:a16="http://schemas.microsoft.com/office/drawing/2014/main" id="{B95BEE97-22A4-4618-ACA8-DC263747697E}"/>
              </a:ext>
            </a:extLst>
          </p:cNvPr>
          <p:cNvSpPr>
            <a:spLocks noGrp="1"/>
          </p:cNvSpPr>
          <p:nvPr>
            <p:ph type="sldNum" sz="quarter" idx="12"/>
          </p:nvPr>
        </p:nvSpPr>
        <p:spPr/>
        <p:txBody>
          <a:bodyPr/>
          <a:lstStyle/>
          <a:p>
            <a:fld id="{CD880172-00A2-44C6-8510-EDC97D2BC073}" type="slidenum">
              <a:rPr lang="en-US" smtClean="0"/>
              <a:t>9</a:t>
            </a:fld>
            <a:endParaRPr lang="en-US"/>
          </a:p>
        </p:txBody>
      </p:sp>
    </p:spTree>
    <p:extLst>
      <p:ext uri="{BB962C8B-B14F-4D97-AF65-F5344CB8AC3E}">
        <p14:creationId xmlns:p14="http://schemas.microsoft.com/office/powerpoint/2010/main" val="938198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B42E9-C0DA-DB68-B044-844A768052AB}"/>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699E37D8-D357-35D7-DBF7-EBA8A4694D50}"/>
              </a:ext>
            </a:extLst>
          </p:cNvPr>
          <p:cNvSpPr>
            <a:spLocks noGrp="1"/>
          </p:cNvSpPr>
          <p:nvPr>
            <p:ph idx="1"/>
          </p:nvPr>
        </p:nvSpPr>
        <p:spPr/>
        <p:txBody>
          <a:bodyPr>
            <a:normAutofit fontScale="62500" lnSpcReduction="20000"/>
          </a:bodyPr>
          <a:lstStyle/>
          <a:p>
            <a:r>
              <a:rPr lang="en-US" sz="1800" b="1" dirty="0" err="1"/>
              <a:t>Brumm</a:t>
            </a:r>
            <a:r>
              <a:rPr lang="en-US" sz="1800" b="1" dirty="0"/>
              <a:t> H, </a:t>
            </a:r>
            <a:r>
              <a:rPr lang="en-US" sz="1800" b="1" dirty="0" err="1"/>
              <a:t>Slabbekoorn</a:t>
            </a:r>
            <a:r>
              <a:rPr lang="en-US" sz="1800" b="1" dirty="0"/>
              <a:t> H (2005) Acoustic communication in noise. In: Advances in the study of behavior, vol 35. Academic Press, New York, pp 151–209. https:// doi.org/10.1016/S0065-3454(05)35004-2</a:t>
            </a:r>
          </a:p>
          <a:p>
            <a:r>
              <a:rPr lang="en-US" sz="1800" b="1" dirty="0"/>
              <a:t>McGregor RL, Bender DJ, </a:t>
            </a:r>
            <a:r>
              <a:rPr lang="en-US" sz="1800" b="1" dirty="0" err="1"/>
              <a:t>Fahrig</a:t>
            </a:r>
            <a:r>
              <a:rPr lang="en-US" sz="1800" b="1" dirty="0"/>
              <a:t> L (2008) Do small mammals avoid roads because of the traffic? J Appl </a:t>
            </a:r>
            <a:r>
              <a:rPr lang="en-US" sz="1800" b="1" dirty="0" err="1"/>
              <a:t>Ecol</a:t>
            </a:r>
            <a:r>
              <a:rPr lang="en-US" sz="1800" b="1" dirty="0"/>
              <a:t> 45(1):117–123.https://doi.org/10.1111/j. 1365-2664.2007.01403.x</a:t>
            </a:r>
          </a:p>
          <a:p>
            <a:r>
              <a:rPr lang="en-US" sz="1800" b="1" dirty="0"/>
              <a:t>Wale MA, Simpson SD, Radford AN (2013b) </a:t>
            </a:r>
            <a:r>
              <a:rPr lang="en-US" sz="1800" b="1" dirty="0" err="1"/>
              <a:t>Sizedependent</a:t>
            </a:r>
            <a:r>
              <a:rPr lang="en-US" sz="1800" b="1" dirty="0"/>
              <a:t> physiological responses of shore crabs to single and repeated playback of ship noise. Biol Lett 9(2):20121194. https://doi.org/10.1098/rsbl.2012.1194</a:t>
            </a:r>
          </a:p>
          <a:p>
            <a:r>
              <a:rPr lang="en-US" sz="1800" b="1" dirty="0"/>
              <a:t>Quinn JL, Whittingham MJ, Butler SJ, Cresswell W (2006) Noise, predation risk compensation and vigilance in the chaffinch Fringilla coelebs. J Avian Biol 37(6):601–608. https://doi.org/10.1111/j.2006. 0908-8857.03781.x</a:t>
            </a:r>
          </a:p>
          <a:p>
            <a:r>
              <a:rPr lang="en-US" sz="1800" b="1" dirty="0"/>
              <a:t>Simpson SD, Radford AN, </a:t>
            </a:r>
            <a:r>
              <a:rPr lang="en-US" sz="1800" b="1" dirty="0" err="1"/>
              <a:t>Nedelec</a:t>
            </a:r>
            <a:r>
              <a:rPr lang="en-US" sz="1800" b="1" dirty="0"/>
              <a:t> SL, Ferrari MCO, </a:t>
            </a:r>
            <a:r>
              <a:rPr lang="en-US" sz="1800" b="1" dirty="0" err="1"/>
              <a:t>Chivers</a:t>
            </a:r>
            <a:r>
              <a:rPr lang="en-US" sz="1800" b="1" dirty="0"/>
              <a:t> DP, McCormick MI, </a:t>
            </a:r>
            <a:r>
              <a:rPr lang="en-US" sz="1800" b="1" dirty="0" err="1"/>
              <a:t>Meekan</a:t>
            </a:r>
            <a:r>
              <a:rPr lang="en-US" sz="1800" b="1" dirty="0"/>
              <a:t> MG (2016) Anthropogenic noise increases fish mortality by predation. Nat </a:t>
            </a:r>
            <a:r>
              <a:rPr lang="en-US" sz="1800" b="1" dirty="0" err="1"/>
              <a:t>Commun</a:t>
            </a:r>
            <a:r>
              <a:rPr lang="en-US" sz="1800" b="1" dirty="0"/>
              <a:t> 7:10544. https://doi.org/10.1038/ ncomms10544</a:t>
            </a:r>
          </a:p>
          <a:p>
            <a:r>
              <a:rPr lang="en-US" sz="1800" b="1" dirty="0" err="1"/>
              <a:t>Malme</a:t>
            </a:r>
            <a:r>
              <a:rPr lang="en-US" sz="1800" b="1" dirty="0"/>
              <a:t> CI, Miles PR, Clark CW, Tyack P, Bird JE (1984) Investigations of the potential effects of underwater noise from petroleum industry activities on migrating gray whale behavior. Phase II: January 1984 migration. (trans: Minerals Management Service </a:t>
            </a:r>
            <a:r>
              <a:rPr lang="en-US" sz="1800" b="1" dirty="0" err="1"/>
              <a:t>USDotI</a:t>
            </a:r>
            <a:r>
              <a:rPr lang="en-US" sz="1800" b="1" dirty="0"/>
              <a:t>, Washington, DC.). Bolt Beranek and Newman Inc., Anchorage, AK</a:t>
            </a:r>
          </a:p>
          <a:p>
            <a:endParaRPr lang="en-US" dirty="0"/>
          </a:p>
        </p:txBody>
      </p:sp>
      <p:sp>
        <p:nvSpPr>
          <p:cNvPr id="4" name="Slide Number Placeholder 3">
            <a:extLst>
              <a:ext uri="{FF2B5EF4-FFF2-40B4-BE49-F238E27FC236}">
                <a16:creationId xmlns:a16="http://schemas.microsoft.com/office/drawing/2014/main" id="{ECD88678-A857-CFBE-AAE9-21518D023BF7}"/>
              </a:ext>
            </a:extLst>
          </p:cNvPr>
          <p:cNvSpPr>
            <a:spLocks noGrp="1"/>
          </p:cNvSpPr>
          <p:nvPr>
            <p:ph type="sldNum" sz="quarter" idx="12"/>
          </p:nvPr>
        </p:nvSpPr>
        <p:spPr/>
        <p:txBody>
          <a:bodyPr/>
          <a:lstStyle/>
          <a:p>
            <a:fld id="{CD880172-00A2-44C6-8510-EDC97D2BC073}" type="slidenum">
              <a:rPr lang="en-US" smtClean="0"/>
              <a:t>10</a:t>
            </a:fld>
            <a:endParaRPr lang="en-US"/>
          </a:p>
        </p:txBody>
      </p:sp>
    </p:spTree>
    <p:extLst>
      <p:ext uri="{BB962C8B-B14F-4D97-AF65-F5344CB8AC3E}">
        <p14:creationId xmlns:p14="http://schemas.microsoft.com/office/powerpoint/2010/main" val="3687074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82A03-B840-388B-3187-0CB0A58F029C}"/>
              </a:ext>
            </a:extLst>
          </p:cNvPr>
          <p:cNvSpPr>
            <a:spLocks noGrp="1"/>
          </p:cNvSpPr>
          <p:nvPr>
            <p:ph type="title"/>
          </p:nvPr>
        </p:nvSpPr>
        <p:spPr/>
        <p:txBody>
          <a:bodyPr/>
          <a:lstStyle/>
          <a:p>
            <a:r>
              <a:rPr lang="en-US" dirty="0"/>
              <a:t>REFERENCES CONTINUED…</a:t>
            </a:r>
          </a:p>
        </p:txBody>
      </p:sp>
      <p:sp>
        <p:nvSpPr>
          <p:cNvPr id="3" name="Content Placeholder 2">
            <a:extLst>
              <a:ext uri="{FF2B5EF4-FFF2-40B4-BE49-F238E27FC236}">
                <a16:creationId xmlns:a16="http://schemas.microsoft.com/office/drawing/2014/main" id="{5E5F1951-50AB-4DBE-8A58-D71E78760FF1}"/>
              </a:ext>
            </a:extLst>
          </p:cNvPr>
          <p:cNvSpPr>
            <a:spLocks noGrp="1"/>
          </p:cNvSpPr>
          <p:nvPr>
            <p:ph idx="1"/>
          </p:nvPr>
        </p:nvSpPr>
        <p:spPr/>
        <p:txBody>
          <a:bodyPr>
            <a:normAutofit fontScale="62500" lnSpcReduction="20000"/>
          </a:bodyPr>
          <a:lstStyle/>
          <a:p>
            <a:r>
              <a:rPr lang="en-US" b="1" dirty="0" err="1"/>
              <a:t>Halfwerk</a:t>
            </a:r>
            <a:r>
              <a:rPr lang="en-US" b="1" dirty="0"/>
              <a:t> W, Lea AM, Guerra MA, Page RA, Ryan MJ (2016) Vocal responses to noise reveal the presence of the Lombard effect in a frog. </a:t>
            </a:r>
            <a:r>
              <a:rPr lang="en-US" b="1" dirty="0" err="1"/>
              <a:t>Behav</a:t>
            </a:r>
            <a:r>
              <a:rPr lang="en-US" b="1" dirty="0"/>
              <a:t> </a:t>
            </a:r>
            <a:r>
              <a:rPr lang="en-US" b="1" dirty="0" err="1"/>
              <a:t>Ecol</a:t>
            </a:r>
            <a:r>
              <a:rPr lang="en-US" b="1" dirty="0"/>
              <a:t> 27(2): 669–676. https://doi.org/10.1093/beheco/arv204</a:t>
            </a:r>
          </a:p>
          <a:p>
            <a:r>
              <a:rPr lang="en-US" b="1" dirty="0" err="1"/>
              <a:t>Slabbekoorn</a:t>
            </a:r>
            <a:r>
              <a:rPr lang="en-US" b="1" dirty="0"/>
              <a:t> H, Peet M (2003) Ecology: birds sing at a higher pitch in urban noise. Nature 424(6946): 267–267. https://doi.org/10.1038/424267a</a:t>
            </a:r>
          </a:p>
          <a:p>
            <a:r>
              <a:rPr lang="en-US" b="1" dirty="0" err="1"/>
              <a:t>Ruffoli</a:t>
            </a:r>
            <a:r>
              <a:rPr lang="en-US" b="1" dirty="0"/>
              <a:t> R, Carpi A, </a:t>
            </a:r>
            <a:r>
              <a:rPr lang="en-US" b="1" dirty="0" err="1"/>
              <a:t>Giambelluca</a:t>
            </a:r>
            <a:r>
              <a:rPr lang="en-US" b="1" dirty="0"/>
              <a:t> MA, Grasso L, </a:t>
            </a:r>
            <a:r>
              <a:rPr lang="en-US" b="1" dirty="0" err="1"/>
              <a:t>Scavuzzo</a:t>
            </a:r>
            <a:r>
              <a:rPr lang="en-US" b="1" dirty="0"/>
              <a:t> MC, </a:t>
            </a:r>
            <a:r>
              <a:rPr lang="en-US" b="1" dirty="0" err="1"/>
              <a:t>Giannessi</a:t>
            </a:r>
            <a:r>
              <a:rPr lang="en-US" b="1" dirty="0"/>
              <a:t> FF (2006) Diazepam administration prevents testosterone decrease and lipofuscin accumulation in testis of mouse exposed to chronic noise stress. </a:t>
            </a:r>
            <a:r>
              <a:rPr lang="en-US" b="1" dirty="0" err="1"/>
              <a:t>Andrologia</a:t>
            </a:r>
            <a:r>
              <a:rPr lang="en-US" b="1" dirty="0"/>
              <a:t> 38(5):159–165. https://doi.org/10. 1111/j.1439-0272.2006.00732.x</a:t>
            </a:r>
          </a:p>
          <a:p>
            <a:r>
              <a:rPr lang="en-US" b="1" dirty="0"/>
              <a:t>Creel S, Fox JE, Hardy A, Sands J, </a:t>
            </a:r>
            <a:r>
              <a:rPr lang="en-US" b="1" dirty="0" err="1"/>
              <a:t>Garrott</a:t>
            </a:r>
            <a:r>
              <a:rPr lang="en-US" b="1" dirty="0"/>
              <a:t> B, Peterson RO (2002) Snowmobile activity and glucocorticoid stress responses in wolves and elk. </a:t>
            </a:r>
            <a:r>
              <a:rPr lang="en-US" b="1" dirty="0" err="1"/>
              <a:t>Conserv</a:t>
            </a:r>
            <a:r>
              <a:rPr lang="en-US" b="1" dirty="0"/>
              <a:t> Biol 16(3): 809–814. https://doi.org/10.1046/j.1523-1739.2002. 00554.x</a:t>
            </a:r>
          </a:p>
          <a:p>
            <a:r>
              <a:rPr lang="en-US" b="1" dirty="0" err="1"/>
              <a:t>Gesi</a:t>
            </a:r>
            <a:r>
              <a:rPr lang="en-US" b="1" dirty="0"/>
              <a:t> M, </a:t>
            </a:r>
            <a:r>
              <a:rPr lang="en-US" b="1" dirty="0" err="1"/>
              <a:t>Fornai</a:t>
            </a:r>
            <a:r>
              <a:rPr lang="en-US" b="1" dirty="0"/>
              <a:t> F, </a:t>
            </a:r>
            <a:r>
              <a:rPr lang="en-US" b="1" dirty="0" err="1"/>
              <a:t>Lenzi</a:t>
            </a:r>
            <a:r>
              <a:rPr lang="en-US" b="1" dirty="0"/>
              <a:t> P, </a:t>
            </a:r>
            <a:r>
              <a:rPr lang="en-US" b="1" dirty="0" err="1"/>
              <a:t>Ferrucci</a:t>
            </a:r>
            <a:r>
              <a:rPr lang="en-US" b="1" dirty="0"/>
              <a:t> M, </a:t>
            </a:r>
            <a:r>
              <a:rPr lang="en-US" b="1" dirty="0" err="1"/>
              <a:t>Soldani</a:t>
            </a:r>
            <a:r>
              <a:rPr lang="en-US" b="1" dirty="0"/>
              <a:t> P, </a:t>
            </a:r>
            <a:r>
              <a:rPr lang="en-US" b="1" dirty="0" err="1"/>
              <a:t>Ruffoli</a:t>
            </a:r>
            <a:r>
              <a:rPr lang="en-US" b="1" dirty="0"/>
              <a:t> R, Paparelli A (2002) Morphological alterations induced by loud noise in the myocardium: the role of benzodiazepine receptors. </a:t>
            </a:r>
            <a:r>
              <a:rPr lang="en-US" b="1" dirty="0" err="1"/>
              <a:t>Microsc</a:t>
            </a:r>
            <a:r>
              <a:rPr lang="en-US" b="1" dirty="0"/>
              <a:t> Res Tech 59(2):136–146. https://doi.org/10.1002/jemt. 10186</a:t>
            </a:r>
          </a:p>
          <a:p>
            <a:r>
              <a:rPr lang="en-US" b="1" dirty="0" err="1"/>
              <a:t>Sobrian</a:t>
            </a:r>
            <a:r>
              <a:rPr lang="en-US" b="1" dirty="0"/>
              <a:t> SK, Vaughn VT, Ashe WK, Markovic B, Djuric V, Jankovic BD (1997) Gestational exposure to loud noise alters the development and postnatal responsiveness of humoral and cellular components of the immune system in offspring. Environ Res 73(1):227–241. https://doi.org/10.1006/enrs.1997. 3734</a:t>
            </a:r>
          </a:p>
          <a:p>
            <a:endParaRPr lang="en-US" dirty="0"/>
          </a:p>
        </p:txBody>
      </p:sp>
      <p:sp>
        <p:nvSpPr>
          <p:cNvPr id="4" name="Slide Number Placeholder 3">
            <a:extLst>
              <a:ext uri="{FF2B5EF4-FFF2-40B4-BE49-F238E27FC236}">
                <a16:creationId xmlns:a16="http://schemas.microsoft.com/office/drawing/2014/main" id="{0F412D7C-7981-B556-40C6-F423B1F48DBC}"/>
              </a:ext>
            </a:extLst>
          </p:cNvPr>
          <p:cNvSpPr>
            <a:spLocks noGrp="1"/>
          </p:cNvSpPr>
          <p:nvPr>
            <p:ph type="sldNum" sz="quarter" idx="12"/>
          </p:nvPr>
        </p:nvSpPr>
        <p:spPr/>
        <p:txBody>
          <a:bodyPr/>
          <a:lstStyle/>
          <a:p>
            <a:fld id="{CD880172-00A2-44C6-8510-EDC97D2BC073}" type="slidenum">
              <a:rPr lang="en-US" smtClean="0"/>
              <a:t>11</a:t>
            </a:fld>
            <a:endParaRPr lang="en-US"/>
          </a:p>
        </p:txBody>
      </p:sp>
    </p:spTree>
    <p:extLst>
      <p:ext uri="{BB962C8B-B14F-4D97-AF65-F5344CB8AC3E}">
        <p14:creationId xmlns:p14="http://schemas.microsoft.com/office/powerpoint/2010/main" val="2590858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B0BA4-2FE0-CC3C-FAEA-B656AD2F64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4C3D01-8247-41BC-70C9-E4F1DAD6A19C}"/>
              </a:ext>
            </a:extLst>
          </p:cNvPr>
          <p:cNvSpPr>
            <a:spLocks noGrp="1"/>
          </p:cNvSpPr>
          <p:nvPr>
            <p:ph idx="1"/>
          </p:nvPr>
        </p:nvSpPr>
        <p:spPr/>
        <p:txBody>
          <a:bodyPr>
            <a:normAutofit/>
          </a:bodyPr>
          <a:lstStyle/>
          <a:p>
            <a:pPr marL="0" indent="0" algn="ctr">
              <a:buNone/>
            </a:pPr>
            <a:r>
              <a:rPr lang="en-US" sz="4800" b="1" dirty="0">
                <a:latin typeface="Garamond" panose="02020404030301010803" pitchFamily="18" charset="0"/>
              </a:rPr>
              <a:t>THANK YOU!!</a:t>
            </a:r>
          </a:p>
        </p:txBody>
      </p:sp>
      <p:sp>
        <p:nvSpPr>
          <p:cNvPr id="4" name="Slide Number Placeholder 3">
            <a:extLst>
              <a:ext uri="{FF2B5EF4-FFF2-40B4-BE49-F238E27FC236}">
                <a16:creationId xmlns:a16="http://schemas.microsoft.com/office/drawing/2014/main" id="{355296DF-280A-CF88-C59B-2C6C410D4F5E}"/>
              </a:ext>
            </a:extLst>
          </p:cNvPr>
          <p:cNvSpPr>
            <a:spLocks noGrp="1"/>
          </p:cNvSpPr>
          <p:nvPr>
            <p:ph type="sldNum" sz="quarter" idx="12"/>
          </p:nvPr>
        </p:nvSpPr>
        <p:spPr/>
        <p:txBody>
          <a:bodyPr/>
          <a:lstStyle/>
          <a:p>
            <a:fld id="{CD880172-00A2-44C6-8510-EDC97D2BC073}" type="slidenum">
              <a:rPr lang="en-US" smtClean="0"/>
              <a:t>12</a:t>
            </a:fld>
            <a:endParaRPr lang="en-US"/>
          </a:p>
        </p:txBody>
      </p:sp>
    </p:spTree>
    <p:extLst>
      <p:ext uri="{BB962C8B-B14F-4D97-AF65-F5344CB8AC3E}">
        <p14:creationId xmlns:p14="http://schemas.microsoft.com/office/powerpoint/2010/main" val="67475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36D16-DD85-360D-27FD-836DCD752016}"/>
              </a:ext>
            </a:extLst>
          </p:cNvPr>
          <p:cNvSpPr>
            <a:spLocks noGrp="1"/>
          </p:cNvSpPr>
          <p:nvPr>
            <p:ph type="title"/>
          </p:nvPr>
        </p:nvSpPr>
        <p:spPr/>
        <p:txBody>
          <a:bodyPr/>
          <a:lstStyle/>
          <a:p>
            <a:r>
              <a:rPr lang="en-US" b="1" dirty="0"/>
              <a:t>GROUP MEMBERS…</a:t>
            </a:r>
          </a:p>
        </p:txBody>
      </p:sp>
      <p:sp>
        <p:nvSpPr>
          <p:cNvPr id="3" name="Content Placeholder 2">
            <a:extLst>
              <a:ext uri="{FF2B5EF4-FFF2-40B4-BE49-F238E27FC236}">
                <a16:creationId xmlns:a16="http://schemas.microsoft.com/office/drawing/2014/main" id="{B2721190-D5F3-BFB1-BF4D-DB3EC10857CC}"/>
              </a:ext>
            </a:extLst>
          </p:cNvPr>
          <p:cNvSpPr>
            <a:spLocks noGrp="1"/>
          </p:cNvSpPr>
          <p:nvPr>
            <p:ph idx="1"/>
          </p:nvPr>
        </p:nvSpPr>
        <p:spPr/>
        <p:txBody>
          <a:bodyPr/>
          <a:lstStyle/>
          <a:p>
            <a:r>
              <a:rPr lang="en-US" b="1" dirty="0"/>
              <a:t>HUDU ASIATU</a:t>
            </a:r>
          </a:p>
          <a:p>
            <a:r>
              <a:rPr lang="en-US" b="1" dirty="0"/>
              <a:t>TEYE GRACE</a:t>
            </a:r>
          </a:p>
          <a:p>
            <a:r>
              <a:rPr lang="en-US" b="1" dirty="0"/>
              <a:t>AVUKOR ALBERTA SHERRY</a:t>
            </a:r>
          </a:p>
          <a:p>
            <a:r>
              <a:rPr lang="en-US" b="1" dirty="0"/>
              <a:t>OPOKU KWARTENG DAVID</a:t>
            </a:r>
          </a:p>
          <a:p>
            <a:r>
              <a:rPr lang="en-US" b="1" dirty="0"/>
              <a:t>ADJEI DANIEL</a:t>
            </a:r>
          </a:p>
          <a:p>
            <a:r>
              <a:rPr lang="en-US" b="1" dirty="0"/>
              <a:t>NYANTAKYI DANIEL SARFO</a:t>
            </a:r>
          </a:p>
          <a:p>
            <a:r>
              <a:rPr lang="en-US" b="1" dirty="0"/>
              <a:t>TAWIAH ANTIPAS KWAKU-ADDO</a:t>
            </a:r>
          </a:p>
        </p:txBody>
      </p:sp>
      <p:sp>
        <p:nvSpPr>
          <p:cNvPr id="4" name="Slide Number Placeholder 3">
            <a:extLst>
              <a:ext uri="{FF2B5EF4-FFF2-40B4-BE49-F238E27FC236}">
                <a16:creationId xmlns:a16="http://schemas.microsoft.com/office/drawing/2014/main" id="{3CC0C3A8-D567-60CB-4424-5C418B031BE5}"/>
              </a:ext>
            </a:extLst>
          </p:cNvPr>
          <p:cNvSpPr>
            <a:spLocks noGrp="1"/>
          </p:cNvSpPr>
          <p:nvPr>
            <p:ph type="sldNum" sz="quarter" idx="12"/>
          </p:nvPr>
        </p:nvSpPr>
        <p:spPr/>
        <p:txBody>
          <a:bodyPr/>
          <a:lstStyle/>
          <a:p>
            <a:fld id="{CD880172-00A2-44C6-8510-EDC97D2BC073}" type="slidenum">
              <a:rPr lang="en-US" smtClean="0"/>
              <a:t>13</a:t>
            </a:fld>
            <a:endParaRPr lang="en-US"/>
          </a:p>
        </p:txBody>
      </p:sp>
    </p:spTree>
    <p:extLst>
      <p:ext uri="{BB962C8B-B14F-4D97-AF65-F5344CB8AC3E}">
        <p14:creationId xmlns:p14="http://schemas.microsoft.com/office/powerpoint/2010/main" val="19253571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51</TotalTime>
  <Words>1059</Words>
  <Application>Microsoft Office PowerPoint</Application>
  <PresentationFormat>Widescreen</PresentationFormat>
  <Paragraphs>84</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Century Gothic</vt:lpstr>
      <vt:lpstr>Garamond</vt:lpstr>
      <vt:lpstr>Wingdings 3</vt:lpstr>
      <vt:lpstr>Ion Boardroom</vt:lpstr>
      <vt:lpstr>THE EFFECTS OF NOISE POLLUTION ON ANIMALS</vt:lpstr>
      <vt:lpstr>OUTLINE…</vt:lpstr>
      <vt:lpstr>INTRODUCTION…</vt:lpstr>
      <vt:lpstr>INTRODUCTION CONTINUED…</vt:lpstr>
      <vt:lpstr>EFFECTS OF NOISE ON ANIMAL BEHAVIOUR…</vt:lpstr>
      <vt:lpstr>EFFECTS CONTINUED…</vt:lpstr>
      <vt:lpstr>EFFECTS OF NOISE ON ANIMAL PHYSIOLOGY...</vt:lpstr>
      <vt:lpstr>EFFECTS CONTINUED…</vt:lpstr>
      <vt:lpstr>CONCLUSION…</vt:lpstr>
      <vt:lpstr>REFERENCES…</vt:lpstr>
      <vt:lpstr>REFERENCES CONTINUED…</vt:lpstr>
      <vt:lpstr>PowerPoint Presentation</vt:lpstr>
      <vt:lpstr>GROUP MEMBERS…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EFFECTS OF NOISE POLLUTION ON ANIMALS</dc:title>
  <dc:creator>Daniel Sarfo</dc:creator>
  <cp:lastModifiedBy>Daniel Sarfo</cp:lastModifiedBy>
  <cp:revision>4</cp:revision>
  <dcterms:created xsi:type="dcterms:W3CDTF">2023-08-02T06:23:50Z</dcterms:created>
  <dcterms:modified xsi:type="dcterms:W3CDTF">2023-08-02T07:28:04Z</dcterms:modified>
</cp:coreProperties>
</file>