
<file path=[Content_Types].xml><?xml version="1.0" encoding="utf-8"?>
<Types xmlns="http://schemas.openxmlformats.org/package/2006/content-types">
  <Default Extension="jfif"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5"/>
  </p:notesMasterIdLst>
  <p:sldIdLst>
    <p:sldId id="256" r:id="rId2"/>
    <p:sldId id="257" r:id="rId3"/>
    <p:sldId id="258" r:id="rId4"/>
    <p:sldId id="259" r:id="rId5"/>
    <p:sldId id="264" r:id="rId6"/>
    <p:sldId id="260" r:id="rId7"/>
    <p:sldId id="261" r:id="rId8"/>
    <p:sldId id="263" r:id="rId9"/>
    <p:sldId id="262" r:id="rId10"/>
    <p:sldId id="265" r:id="rId11"/>
    <p:sldId id="268"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uodias" initials="e" lastIdx="1" clrIdx="0">
    <p:extLst>
      <p:ext uri="{19B8F6BF-5375-455C-9EA6-DF929625EA0E}">
        <p15:presenceInfo xmlns:p15="http://schemas.microsoft.com/office/powerpoint/2012/main" userId="0dd1d12c702f5c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5695" autoAdjust="0"/>
  </p:normalViewPr>
  <p:slideViewPr>
    <p:cSldViewPr snapToGrid="0">
      <p:cViewPr varScale="1">
        <p:scale>
          <a:sx n="63" d="100"/>
          <a:sy n="63" d="100"/>
        </p:scale>
        <p:origin x="102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commentAuthors" Target="commentAuthors.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B0853C-82C6-4895-A0E9-6567B3C015F9}" type="datetimeFigureOut">
              <a:rPr lang="en-US" smtClean="0"/>
              <a:t>7/20/2023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04A40-517A-41EB-BB8C-F076B44D4379}" type="slidenum">
              <a:rPr lang="en-US" smtClean="0"/>
              <a:t>‹#›</a:t>
            </a:fld>
            <a:endParaRPr lang="en-US"/>
          </a:p>
        </p:txBody>
      </p:sp>
    </p:spTree>
    <p:extLst>
      <p:ext uri="{BB962C8B-B14F-4D97-AF65-F5344CB8AC3E}">
        <p14:creationId xmlns:p14="http://schemas.microsoft.com/office/powerpoint/2010/main" val="2365403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904A40-517A-41EB-BB8C-F076B44D4379}" type="slidenum">
              <a:rPr lang="en-US" smtClean="0"/>
              <a:t>1</a:t>
            </a:fld>
            <a:endParaRPr lang="en-US"/>
          </a:p>
        </p:txBody>
      </p:sp>
    </p:spTree>
    <p:extLst>
      <p:ext uri="{BB962C8B-B14F-4D97-AF65-F5344CB8AC3E}">
        <p14:creationId xmlns:p14="http://schemas.microsoft.com/office/powerpoint/2010/main" val="3330981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88144660-6793-4E07-BB5F-35588E520ADC}" type="datetime1">
              <a:rPr lang="en-US" smtClean="0"/>
              <a:t>7/20/2023</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3527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F516F2E0-762A-43CD-99EE-5BB259F7D767}" type="datetime1">
              <a:rPr lang="en-US" smtClean="0"/>
              <a:t>7/20/2023</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216133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5D53BAC4-9D8A-4AA4-B20B-282D02C2C7F4}" type="datetime1">
              <a:rPr lang="en-US" smtClean="0"/>
              <a:t>7/20/2023</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039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25D32601-30BF-460B-A85C-9921BD678E1D}" type="datetime1">
              <a:rPr lang="en-US" smtClean="0"/>
              <a:t>7/20/2023</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434511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2D31AB5E-5F70-4EB3-86C7-568179436388}" type="datetime1">
              <a:rPr lang="en-US" smtClean="0"/>
              <a:t>7/20/2023</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197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395C6C4E-26BD-45C8-B80E-B1BC72E88346}" type="datetime1">
              <a:rPr lang="en-US" smtClean="0"/>
              <a:t>7/20/2023</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818724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926802B-AC71-4A7A-BFE6-18582615A544}" type="datetime1">
              <a:rPr lang="en-US" smtClean="0"/>
              <a:t>7/20/2023</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21427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A0790B9F-A7E7-4194-8FA8-43F5A544C5F3}" type="datetime1">
              <a:rPr lang="en-US" smtClean="0"/>
              <a:t>7/20/2023</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053845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7E65100C-C166-420C-BC0B-6E2ECF146275}" type="datetime1">
              <a:rPr lang="en-US" smtClean="0"/>
              <a:t>7/20/2023</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40195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50E3E5E5-E29A-4B11-82CA-8D526872D7C4}" type="datetime1">
              <a:rPr lang="en-US" smtClean="0"/>
              <a:t>7/20/2023</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09388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201CA762-5030-40EB-B84C-849354DE938D}" type="datetime1">
              <a:rPr lang="en-US" smtClean="0"/>
              <a:t>7/20/2023</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888149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36AA0199-B6DC-4B96-9375-1E09AB2E576B}" type="datetime1">
              <a:rPr lang="en-US" smtClean="0"/>
              <a:t>7/20/2023</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102829605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hdr="0" ftr="0" dt="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image" Target="../media/image2.jfif" /><Relationship Id="rId1" Type="http://schemas.openxmlformats.org/officeDocument/2006/relationships/slideLayout" Target="../slideLayouts/slideLayout2.xml" /><Relationship Id="rId5" Type="http://schemas.openxmlformats.org/officeDocument/2006/relationships/image" Target="../media/image5.jfif" /><Relationship Id="rId4" Type="http://schemas.openxmlformats.org/officeDocument/2006/relationships/image" Target="../media/image4.jfif"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020E3F7-4AD6-A7DD-B6C6-9EB868E528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11" name="Freeform: Shape 10">
            <a:extLst>
              <a:ext uri="{FF2B5EF4-FFF2-40B4-BE49-F238E27FC236}">
                <a16:creationId xmlns:a16="http://schemas.microsoft.com/office/drawing/2014/main" id="{3F0586C3-A19F-D214-ABDE-30AD5B666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17342" y="125034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gradFill>
            <a:gsLst>
              <a:gs pos="0">
                <a:schemeClr val="accent1">
                  <a:lumMod val="60000"/>
                  <a:lumOff val="40000"/>
                  <a:alpha val="20000"/>
                </a:schemeClr>
              </a:gs>
              <a:gs pos="7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A13D5EA-F549-414C-94AD-E1B2FE22B36F}"/>
              </a:ext>
            </a:extLst>
          </p:cNvPr>
          <p:cNvSpPr>
            <a:spLocks noGrp="1"/>
          </p:cNvSpPr>
          <p:nvPr>
            <p:ph type="ctrTitle"/>
          </p:nvPr>
        </p:nvSpPr>
        <p:spPr>
          <a:xfrm>
            <a:off x="3343275" y="1250342"/>
            <a:ext cx="5524500" cy="2788258"/>
          </a:xfrm>
        </p:spPr>
        <p:txBody>
          <a:bodyPr anchor="b">
            <a:normAutofit/>
          </a:bodyPr>
          <a:lstStyle/>
          <a:p>
            <a:pPr algn="ctr">
              <a:lnSpc>
                <a:spcPct val="150000"/>
              </a:lnSpc>
            </a:pPr>
            <a:r>
              <a:rPr lang="en-US" sz="3200" dirty="0" err="1">
                <a:latin typeface="Algerian" panose="04020705040A02060702" pitchFamily="82" charset="0"/>
              </a:rPr>
              <a:t>Endothermism</a:t>
            </a:r>
            <a:br>
              <a:rPr lang="en-US" dirty="0">
                <a:latin typeface="Algerian" panose="04020705040A02060702" pitchFamily="82" charset="0"/>
              </a:rPr>
            </a:br>
            <a:r>
              <a:rPr lang="en-US" dirty="0">
                <a:latin typeface="Algerian" panose="04020705040A02060702" pitchFamily="82" charset="0"/>
              </a:rPr>
              <a:t>in </a:t>
            </a:r>
            <a:br>
              <a:rPr lang="en-US" dirty="0">
                <a:latin typeface="Algerian" panose="04020705040A02060702" pitchFamily="82" charset="0"/>
              </a:rPr>
            </a:br>
            <a:r>
              <a:rPr lang="en-US" dirty="0">
                <a:latin typeface="Algerian" panose="04020705040A02060702" pitchFamily="82" charset="0"/>
              </a:rPr>
              <a:t>fishes </a:t>
            </a:r>
          </a:p>
        </p:txBody>
      </p:sp>
      <p:sp>
        <p:nvSpPr>
          <p:cNvPr id="3" name="Subtitle 2">
            <a:extLst>
              <a:ext uri="{FF2B5EF4-FFF2-40B4-BE49-F238E27FC236}">
                <a16:creationId xmlns:a16="http://schemas.microsoft.com/office/drawing/2014/main" id="{35162449-3FB9-4752-BE86-5346BDB032DE}"/>
              </a:ext>
            </a:extLst>
          </p:cNvPr>
          <p:cNvSpPr>
            <a:spLocks noGrp="1"/>
          </p:cNvSpPr>
          <p:nvPr>
            <p:ph type="subTitle" idx="1"/>
          </p:nvPr>
        </p:nvSpPr>
        <p:spPr>
          <a:xfrm>
            <a:off x="3467099" y="4249360"/>
            <a:ext cx="5210175" cy="1039582"/>
          </a:xfrm>
        </p:spPr>
        <p:txBody>
          <a:bodyPr>
            <a:normAutofit fontScale="85000" lnSpcReduction="20000"/>
          </a:bodyPr>
          <a:lstStyle/>
          <a:p>
            <a:pPr algn="ctr"/>
            <a:r>
              <a:rPr lang="en-US" sz="3200" b="1" dirty="0">
                <a:latin typeface="Eras Demi ITC" panose="020B0805030504020804" pitchFamily="34" charset="0"/>
              </a:rPr>
              <a:t>GROUP</a:t>
            </a:r>
            <a:r>
              <a:rPr lang="en-US" b="1" dirty="0">
                <a:latin typeface="Eras Demi ITC" panose="020B0805030504020804" pitchFamily="34" charset="0"/>
              </a:rPr>
              <a:t> </a:t>
            </a:r>
            <a:r>
              <a:rPr lang="en-US" sz="3200" b="1" dirty="0">
                <a:latin typeface="Eras Demi ITC" panose="020B0805030504020804" pitchFamily="34" charset="0"/>
              </a:rPr>
              <a:t>FOUR(4)</a:t>
            </a:r>
          </a:p>
          <a:p>
            <a:pPr algn="ctr"/>
            <a:r>
              <a:rPr lang="en-US" sz="2800" b="1" dirty="0">
                <a:latin typeface="Eras Demi ITC" panose="020B0805030504020804" pitchFamily="34" charset="0"/>
              </a:rPr>
              <a:t>BIOL 454</a:t>
            </a:r>
          </a:p>
        </p:txBody>
      </p:sp>
      <p:cxnSp>
        <p:nvCxnSpPr>
          <p:cNvPr id="13" name="Straight Connector 12">
            <a:extLst>
              <a:ext uri="{FF2B5EF4-FFF2-40B4-BE49-F238E27FC236}">
                <a16:creationId xmlns:a16="http://schemas.microsoft.com/office/drawing/2014/main" id="{414C5C93-B9E9-4392-ADCF-ABF21209DD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0423" y="395468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A0289F9E-9962-4B7B-BA18-A15907CCC6BF}" type="slidenum">
              <a:rPr lang="en-US" smtClean="0"/>
              <a:t>1</a:t>
            </a:fld>
            <a:endParaRPr lang="en-US"/>
          </a:p>
        </p:txBody>
      </p:sp>
    </p:spTree>
    <p:extLst>
      <p:ext uri="{BB962C8B-B14F-4D97-AF65-F5344CB8AC3E}">
        <p14:creationId xmlns:p14="http://schemas.microsoft.com/office/powerpoint/2010/main" val="3721390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25C4-E08C-4E4E-A2BF-8CBE9A91A8C1}"/>
              </a:ext>
            </a:extLst>
          </p:cNvPr>
          <p:cNvSpPr>
            <a:spLocks noGrp="1"/>
          </p:cNvSpPr>
          <p:nvPr>
            <p:ph type="title"/>
          </p:nvPr>
        </p:nvSpPr>
        <p:spPr>
          <a:xfrm>
            <a:off x="952500" y="371476"/>
            <a:ext cx="10287000" cy="642076"/>
          </a:xfrm>
        </p:spPr>
        <p:txBody>
          <a:bodyPr>
            <a:normAutofit/>
          </a:bodyPr>
          <a:lstStyle/>
          <a:p>
            <a:pPr>
              <a:lnSpc>
                <a:spcPct val="100000"/>
              </a:lnSpc>
            </a:pPr>
            <a:r>
              <a:rPr lang="en-US" sz="3200" spc="0" dirty="0"/>
              <a:t>outline</a:t>
            </a:r>
          </a:p>
        </p:txBody>
      </p:sp>
      <p:sp>
        <p:nvSpPr>
          <p:cNvPr id="3" name="Content Placeholder 2">
            <a:extLst>
              <a:ext uri="{FF2B5EF4-FFF2-40B4-BE49-F238E27FC236}">
                <a16:creationId xmlns:a16="http://schemas.microsoft.com/office/drawing/2014/main" id="{17A92504-5EB6-4DEB-A2EF-0CCB53DD4CD8}"/>
              </a:ext>
            </a:extLst>
          </p:cNvPr>
          <p:cNvSpPr>
            <a:spLocks noGrp="1"/>
          </p:cNvSpPr>
          <p:nvPr>
            <p:ph idx="1"/>
          </p:nvPr>
        </p:nvSpPr>
        <p:spPr>
          <a:xfrm>
            <a:off x="952500" y="925417"/>
            <a:ext cx="10287000" cy="5799234"/>
          </a:xfrm>
        </p:spPr>
        <p:txBody>
          <a:bodyPr>
            <a:normAutofit lnSpcReduction="10000"/>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DEFINITON  AND EVOLUTION OF ENDOTHERMY IN FISHES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EXAMPLES OF ENDOTHERMIC FISHES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CHARACTERISTICS OF ENDOTHERMIC FISHES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MECHANISMS OF HEAT PRODUCTION AND TEMPERATURE REGULATION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BENEFITS OF ENDOTHERMISM IN FISHES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CHALLENGES AND LIMITATIONS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NAMES AND INDEX NUMBERS</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0289F9E-9962-4B7B-BA18-A15907CCC6BF}" type="slidenum">
              <a:rPr lang="en-US" smtClean="0"/>
              <a:t>2</a:t>
            </a:fld>
            <a:endParaRPr lang="en-US"/>
          </a:p>
        </p:txBody>
      </p:sp>
    </p:spTree>
    <p:extLst>
      <p:ext uri="{BB962C8B-B14F-4D97-AF65-F5344CB8AC3E}">
        <p14:creationId xmlns:p14="http://schemas.microsoft.com/office/powerpoint/2010/main" val="3550953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4415D-3056-43C6-8770-32FF8F9CE4D1}"/>
              </a:ext>
            </a:extLst>
          </p:cNvPr>
          <p:cNvSpPr>
            <a:spLocks noGrp="1"/>
          </p:cNvSpPr>
          <p:nvPr>
            <p:ph type="title"/>
          </p:nvPr>
        </p:nvSpPr>
        <p:spPr>
          <a:xfrm>
            <a:off x="952500" y="757239"/>
            <a:ext cx="10287000" cy="619870"/>
          </a:xfrm>
        </p:spPr>
        <p:txBody>
          <a:bodyPr>
            <a:normAutofit fontScale="90000"/>
          </a:bodyPr>
          <a:lstStyle/>
          <a:p>
            <a:r>
              <a:rPr lang="en-US" sz="3200" spc="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23DD37E-739A-4718-850C-2C603063E3CC}"/>
              </a:ext>
            </a:extLst>
          </p:cNvPr>
          <p:cNvSpPr>
            <a:spLocks noGrp="1"/>
          </p:cNvSpPr>
          <p:nvPr>
            <p:ph idx="1"/>
          </p:nvPr>
        </p:nvSpPr>
        <p:spPr>
          <a:xfrm>
            <a:off x="952500" y="1575412"/>
            <a:ext cx="10174536" cy="4601551"/>
          </a:xfrm>
        </p:spPr>
        <p:txBody>
          <a:bodyPr>
            <a:noAutofit/>
          </a:bodyPr>
          <a:lstStyle/>
          <a:p>
            <a:pPr marL="0" indent="0">
              <a:buNone/>
            </a:pPr>
            <a:r>
              <a:rPr lang="en-US" sz="2800" dirty="0">
                <a:latin typeface="Times New Roman" panose="02020603050405020304" pitchFamily="18" charset="0"/>
                <a:cs typeface="Times New Roman" panose="02020603050405020304" pitchFamily="18" charset="0"/>
              </a:rPr>
              <a:t>Endothermy is the ability of an organism to maintain relatively constant and elevated body temperature independent of the surrounding environment. It is mostly associated with birds and mammals.</a:t>
            </a:r>
          </a:p>
          <a:p>
            <a:pPr marL="0" indent="0">
              <a:buNone/>
            </a:pPr>
            <a:r>
              <a:rPr lang="en-US" sz="2800" dirty="0">
                <a:latin typeface="Times New Roman" panose="02020603050405020304" pitchFamily="18" charset="0"/>
                <a:cs typeface="Times New Roman" panose="02020603050405020304" pitchFamily="18" charset="0"/>
              </a:rPr>
              <a:t>Most fishes are ectotherms which means they regulate their body temperature dependent on their surrounding environment but a few fishes exhibit endothermy and they are known as </a:t>
            </a:r>
            <a:r>
              <a:rPr lang="en-US" sz="2800" b="1" dirty="0">
                <a:latin typeface="Times New Roman" panose="02020603050405020304" pitchFamily="18" charset="0"/>
                <a:cs typeface="Times New Roman" panose="02020603050405020304" pitchFamily="18" charset="0"/>
              </a:rPr>
              <a:t>endothermic fishes.</a:t>
            </a:r>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0289F9E-9962-4B7B-BA18-A15907CCC6BF}" type="slidenum">
              <a:rPr lang="en-US" smtClean="0"/>
              <a:t>3</a:t>
            </a:fld>
            <a:endParaRPr lang="en-US"/>
          </a:p>
        </p:txBody>
      </p:sp>
    </p:spTree>
    <p:extLst>
      <p:ext uri="{BB962C8B-B14F-4D97-AF65-F5344CB8AC3E}">
        <p14:creationId xmlns:p14="http://schemas.microsoft.com/office/powerpoint/2010/main" val="3491326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CDA5E-BAB9-4E07-83F1-ADD08E89C323}"/>
              </a:ext>
            </a:extLst>
          </p:cNvPr>
          <p:cNvSpPr>
            <a:spLocks noGrp="1"/>
          </p:cNvSpPr>
          <p:nvPr>
            <p:ph type="title"/>
          </p:nvPr>
        </p:nvSpPr>
        <p:spPr/>
        <p:txBody>
          <a:bodyPr>
            <a:normAutofit fontScale="90000"/>
          </a:bodyPr>
          <a:lstStyle/>
          <a:p>
            <a:r>
              <a:rPr lang="en-US" sz="3200" spc="0" dirty="0">
                <a:latin typeface="Times New Roman" panose="02020603050405020304" pitchFamily="18" charset="0"/>
                <a:cs typeface="Times New Roman" panose="02020603050405020304" pitchFamily="18" charset="0"/>
              </a:rPr>
              <a:t>Definition and evolution of </a:t>
            </a:r>
            <a:r>
              <a:rPr lang="en-US" sz="3200" spc="0" dirty="0" err="1">
                <a:latin typeface="Times New Roman" panose="02020603050405020304" pitchFamily="18" charset="0"/>
                <a:cs typeface="Times New Roman" panose="02020603050405020304" pitchFamily="18" charset="0"/>
              </a:rPr>
              <a:t>endothermISM</a:t>
            </a:r>
            <a:r>
              <a:rPr lang="en-US" sz="3200" spc="0" dirty="0">
                <a:latin typeface="Times New Roman" panose="02020603050405020304" pitchFamily="18" charset="0"/>
                <a:cs typeface="Times New Roman" panose="02020603050405020304" pitchFamily="18" charset="0"/>
              </a:rPr>
              <a:t> In fishes</a:t>
            </a:r>
          </a:p>
        </p:txBody>
      </p:sp>
      <p:sp>
        <p:nvSpPr>
          <p:cNvPr id="3" name="Content Placeholder 2">
            <a:extLst>
              <a:ext uri="{FF2B5EF4-FFF2-40B4-BE49-F238E27FC236}">
                <a16:creationId xmlns:a16="http://schemas.microsoft.com/office/drawing/2014/main" id="{CC1A277E-6496-40C6-AC90-5A107315DF67}"/>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Endothermy in fishes is relatively rare but it has evolved in several lineages. Mackerels, tunas and  billfishes (suborder </a:t>
            </a:r>
            <a:r>
              <a:rPr lang="en-US" sz="2400" dirty="0" err="1">
                <a:latin typeface="Times New Roman" panose="02020603050405020304" pitchFamily="18" charset="0"/>
                <a:cs typeface="Times New Roman" panose="02020603050405020304" pitchFamily="18" charset="0"/>
              </a:rPr>
              <a:t>scomboidei</a:t>
            </a:r>
            <a:r>
              <a:rPr lang="en-US" sz="2400" dirty="0">
                <a:latin typeface="Times New Roman" panose="02020603050405020304" pitchFamily="18" charset="0"/>
                <a:cs typeface="Times New Roman" panose="02020603050405020304" pitchFamily="18" charset="0"/>
              </a:rPr>
              <a:t> and Teleostei) provide an ideal context to examine the evolution of endothermy. </a:t>
            </a:r>
          </a:p>
          <a:p>
            <a:pPr marL="0" indent="0">
              <a:buNone/>
            </a:pPr>
            <a:r>
              <a:rPr lang="en-US" sz="2400" dirty="0">
                <a:latin typeface="Times New Roman" panose="02020603050405020304" pitchFamily="18" charset="0"/>
                <a:cs typeface="Times New Roman" panose="02020603050405020304" pitchFamily="18" charset="0"/>
              </a:rPr>
              <a:t>Two major hypotheses were made about the selective forces which  led to the evolution of endothermy in fishes. These hypotheses are;</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Thermal niche expansion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Enhancement of aerobic swimming performance</a:t>
            </a:r>
          </a:p>
        </p:txBody>
      </p:sp>
      <p:sp>
        <p:nvSpPr>
          <p:cNvPr id="4" name="Slide Number Placeholder 3"/>
          <p:cNvSpPr>
            <a:spLocks noGrp="1"/>
          </p:cNvSpPr>
          <p:nvPr>
            <p:ph type="sldNum" sz="quarter" idx="12"/>
          </p:nvPr>
        </p:nvSpPr>
        <p:spPr/>
        <p:txBody>
          <a:bodyPr/>
          <a:lstStyle/>
          <a:p>
            <a:fld id="{A0289F9E-9962-4B7B-BA18-A15907CCC6BF}" type="slidenum">
              <a:rPr lang="en-US" smtClean="0"/>
              <a:t>4</a:t>
            </a:fld>
            <a:endParaRPr lang="en-US"/>
          </a:p>
        </p:txBody>
      </p:sp>
    </p:spTree>
    <p:extLst>
      <p:ext uri="{BB962C8B-B14F-4D97-AF65-F5344CB8AC3E}">
        <p14:creationId xmlns:p14="http://schemas.microsoft.com/office/powerpoint/2010/main" val="3268573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46CAC-1AF7-4449-AAB5-47232A3D971D}"/>
              </a:ext>
            </a:extLst>
          </p:cNvPr>
          <p:cNvSpPr>
            <a:spLocks noGrp="1"/>
          </p:cNvSpPr>
          <p:nvPr>
            <p:ph type="title"/>
          </p:nvPr>
        </p:nvSpPr>
        <p:spPr/>
        <p:txBody>
          <a:bodyPr>
            <a:normAutofit/>
          </a:bodyPr>
          <a:lstStyle/>
          <a:p>
            <a:r>
              <a:rPr lang="en-US" sz="3200" spc="0" dirty="0">
                <a:latin typeface="Times New Roman" panose="02020603050405020304" pitchFamily="18" charset="0"/>
                <a:cs typeface="Times New Roman" panose="02020603050405020304" pitchFamily="18" charset="0"/>
              </a:rPr>
              <a:t>Examples of endothermic fishes</a:t>
            </a:r>
          </a:p>
        </p:txBody>
      </p:sp>
      <p:sp>
        <p:nvSpPr>
          <p:cNvPr id="3" name="Content Placeholder 2">
            <a:extLst>
              <a:ext uri="{FF2B5EF4-FFF2-40B4-BE49-F238E27FC236}">
                <a16:creationId xmlns:a16="http://schemas.microsoft.com/office/drawing/2014/main" id="{63C796BF-A1B9-401B-8511-0CE716D91D1E}"/>
              </a:ext>
            </a:extLst>
          </p:cNvPr>
          <p:cNvSpPr>
            <a:spLocks noGrp="1"/>
          </p:cNvSpPr>
          <p:nvPr>
            <p:ph idx="1"/>
          </p:nvPr>
        </p:nvSpPr>
        <p:spPr/>
        <p:txBody>
          <a:bodyPr/>
          <a:lstStyle/>
          <a:p>
            <a:pPr marL="0" indent="0">
              <a:buNone/>
            </a:pPr>
            <a:r>
              <a:rPr lang="en-US" dirty="0"/>
              <a:t> </a:t>
            </a:r>
            <a:r>
              <a:rPr lang="en-US" sz="2800" dirty="0">
                <a:latin typeface="Times New Roman" panose="02020603050405020304" pitchFamily="18" charset="0"/>
                <a:cs typeface="Times New Roman" panose="02020603050405020304" pitchFamily="18" charset="0"/>
              </a:rPr>
              <a:t>Some examples are; bluefin tuna, yellowfin tuna, mackerels, bonitos, great white shark, mako shark, etc.</a:t>
            </a:r>
            <a:endParaRPr lang="en-US" sz="2800" dirty="0"/>
          </a:p>
        </p:txBody>
      </p:sp>
      <p:pic>
        <p:nvPicPr>
          <p:cNvPr id="5" name="Picture 4">
            <a:extLst>
              <a:ext uri="{FF2B5EF4-FFF2-40B4-BE49-F238E27FC236}">
                <a16:creationId xmlns:a16="http://schemas.microsoft.com/office/drawing/2014/main" id="{0FCB157C-767B-4B53-8B27-7CE2986D3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14687"/>
            <a:ext cx="2843213" cy="2486520"/>
          </a:xfrm>
          <a:prstGeom prst="rect">
            <a:avLst/>
          </a:prstGeom>
        </p:spPr>
      </p:pic>
      <p:pic>
        <p:nvPicPr>
          <p:cNvPr id="11" name="Picture 10">
            <a:extLst>
              <a:ext uri="{FF2B5EF4-FFF2-40B4-BE49-F238E27FC236}">
                <a16:creationId xmlns:a16="http://schemas.microsoft.com/office/drawing/2014/main" id="{E1C5F5AD-BDFC-4F07-8279-479BA6B19F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9465" y="3829947"/>
            <a:ext cx="3272843" cy="1899743"/>
          </a:xfrm>
          <a:prstGeom prst="rect">
            <a:avLst/>
          </a:prstGeom>
        </p:spPr>
      </p:pic>
      <p:pic>
        <p:nvPicPr>
          <p:cNvPr id="28" name="Picture 27">
            <a:extLst>
              <a:ext uri="{FF2B5EF4-FFF2-40B4-BE49-F238E27FC236}">
                <a16:creationId xmlns:a16="http://schemas.microsoft.com/office/drawing/2014/main" id="{00DA2039-A1C1-4EA1-ADBC-A12D392659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8561" y="3829947"/>
            <a:ext cx="3159921" cy="2004725"/>
          </a:xfrm>
          <a:prstGeom prst="rect">
            <a:avLst/>
          </a:prstGeom>
        </p:spPr>
      </p:pic>
      <p:pic>
        <p:nvPicPr>
          <p:cNvPr id="30" name="Picture 29">
            <a:extLst>
              <a:ext uri="{FF2B5EF4-FFF2-40B4-BE49-F238E27FC236}">
                <a16:creationId xmlns:a16="http://schemas.microsoft.com/office/drawing/2014/main" id="{DE268371-0493-40A0-BAE2-B37E3C4619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39141" y="3829947"/>
            <a:ext cx="2464106" cy="2004725"/>
          </a:xfrm>
          <a:prstGeom prst="rect">
            <a:avLst/>
          </a:prstGeom>
        </p:spPr>
      </p:pic>
      <p:sp>
        <p:nvSpPr>
          <p:cNvPr id="4" name="Slide Number Placeholder 3"/>
          <p:cNvSpPr>
            <a:spLocks noGrp="1"/>
          </p:cNvSpPr>
          <p:nvPr>
            <p:ph type="sldNum" sz="quarter" idx="12"/>
          </p:nvPr>
        </p:nvSpPr>
        <p:spPr/>
        <p:txBody>
          <a:bodyPr/>
          <a:lstStyle/>
          <a:p>
            <a:fld id="{A0289F9E-9962-4B7B-BA18-A15907CCC6BF}" type="slidenum">
              <a:rPr lang="en-US" smtClean="0"/>
              <a:t>5</a:t>
            </a:fld>
            <a:endParaRPr lang="en-US"/>
          </a:p>
        </p:txBody>
      </p:sp>
    </p:spTree>
    <p:extLst>
      <p:ext uri="{BB962C8B-B14F-4D97-AF65-F5344CB8AC3E}">
        <p14:creationId xmlns:p14="http://schemas.microsoft.com/office/powerpoint/2010/main" val="1434477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80C19-B2B6-44F2-A136-A55B8BED1EE9}"/>
              </a:ext>
            </a:extLst>
          </p:cNvPr>
          <p:cNvSpPr>
            <a:spLocks noGrp="1"/>
          </p:cNvSpPr>
          <p:nvPr>
            <p:ph type="title"/>
          </p:nvPr>
        </p:nvSpPr>
        <p:spPr>
          <a:xfrm>
            <a:off x="638175" y="323851"/>
            <a:ext cx="10287000" cy="1104900"/>
          </a:xfrm>
        </p:spPr>
        <p:txBody>
          <a:bodyPr>
            <a:normAutofit fontScale="90000"/>
          </a:bodyPr>
          <a:lstStyle/>
          <a:p>
            <a:pPr marL="228600" lvl="0" indent="-228600">
              <a:spcBef>
                <a:spcPts val="1000"/>
              </a:spcBef>
            </a:pPr>
            <a:r>
              <a:rPr lang="en-US" sz="3200" cap="none" spc="0" dirty="0">
                <a:solidFill>
                  <a:srgbClr val="000000"/>
                </a:solidFill>
                <a:latin typeface="Times New Roman" panose="02020603050405020304" pitchFamily="18" charset="0"/>
                <a:ea typeface="+mn-ea"/>
                <a:cs typeface="Times New Roman" panose="02020603050405020304" pitchFamily="18" charset="0"/>
              </a:rPr>
              <a:t>CHARACTERISTICS OF ENDOTHERMIC FISHES</a:t>
            </a:r>
            <a:br>
              <a:rPr lang="en-US" sz="2000" b="0" cap="none" spc="0" dirty="0">
                <a:solidFill>
                  <a:srgbClr val="000000"/>
                </a:solidFill>
                <a:latin typeface="Times New Roman" panose="02020603050405020304" pitchFamily="18" charset="0"/>
                <a:ea typeface="+mn-ea"/>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362D23-1EBD-4F88-A5F6-D146239B73FC}"/>
              </a:ext>
            </a:extLst>
          </p:cNvPr>
          <p:cNvSpPr>
            <a:spLocks noGrp="1"/>
          </p:cNvSpPr>
          <p:nvPr>
            <p:ph idx="1"/>
          </p:nvPr>
        </p:nvSpPr>
        <p:spPr>
          <a:xfrm>
            <a:off x="952500" y="1590675"/>
            <a:ext cx="10287000" cy="4586287"/>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Endothermic fishes possess different characteristics that differentiate them from ectothermic fishes. Some characteristics are;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High metabolic rate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High oxygen consumption</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Rete mirabile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Enhanced sensory receptors</a:t>
            </a:r>
          </a:p>
        </p:txBody>
      </p:sp>
      <p:sp>
        <p:nvSpPr>
          <p:cNvPr id="4" name="Slide Number Placeholder 3"/>
          <p:cNvSpPr>
            <a:spLocks noGrp="1"/>
          </p:cNvSpPr>
          <p:nvPr>
            <p:ph type="sldNum" sz="quarter" idx="12"/>
          </p:nvPr>
        </p:nvSpPr>
        <p:spPr/>
        <p:txBody>
          <a:bodyPr/>
          <a:lstStyle/>
          <a:p>
            <a:fld id="{A0289F9E-9962-4B7B-BA18-A15907CCC6BF}" type="slidenum">
              <a:rPr lang="en-US" smtClean="0"/>
              <a:t>6</a:t>
            </a:fld>
            <a:endParaRPr lang="en-US"/>
          </a:p>
        </p:txBody>
      </p:sp>
    </p:spTree>
    <p:extLst>
      <p:ext uri="{BB962C8B-B14F-4D97-AF65-F5344CB8AC3E}">
        <p14:creationId xmlns:p14="http://schemas.microsoft.com/office/powerpoint/2010/main" val="3639085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1C81-E3DC-4CDF-9F27-12739E550217}"/>
              </a:ext>
            </a:extLst>
          </p:cNvPr>
          <p:cNvSpPr>
            <a:spLocks noGrp="1"/>
          </p:cNvSpPr>
          <p:nvPr>
            <p:ph type="title"/>
          </p:nvPr>
        </p:nvSpPr>
        <p:spPr>
          <a:xfrm>
            <a:off x="550843" y="0"/>
            <a:ext cx="10393383" cy="1542362"/>
          </a:xfrm>
        </p:spPr>
        <p:txBody>
          <a:bodyPr>
            <a:normAutofit fontScale="90000"/>
          </a:bodyPr>
          <a:lstStyle/>
          <a:p>
            <a:pPr marL="228600" lvl="0" indent="-228600" algn="ctr">
              <a:spcBef>
                <a:spcPts val="1000"/>
              </a:spcBef>
            </a:pPr>
            <a:r>
              <a:rPr lang="en-US" sz="3200" cap="none" spc="0" dirty="0">
                <a:solidFill>
                  <a:srgbClr val="000000"/>
                </a:solidFill>
                <a:latin typeface="Times New Roman" panose="02020603050405020304" pitchFamily="18" charset="0"/>
                <a:ea typeface="+mn-ea"/>
                <a:cs typeface="Times New Roman" panose="02020603050405020304" pitchFamily="18" charset="0"/>
              </a:rPr>
              <a:t>MECHANISMS OF HEAT PRODUCTION AND TEMPERATURE REGULATION</a:t>
            </a:r>
            <a:br>
              <a:rPr lang="en-US" sz="2000" b="0" cap="none" spc="0" dirty="0">
                <a:solidFill>
                  <a:srgbClr val="000000"/>
                </a:solidFill>
                <a:latin typeface="Times New Roman" panose="02020603050405020304" pitchFamily="18" charset="0"/>
                <a:ea typeface="+mn-ea"/>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9A69D9-8AF1-4AE2-B3FC-B07522A180E1}"/>
              </a:ext>
            </a:extLst>
          </p:cNvPr>
          <p:cNvSpPr>
            <a:spLocks noGrp="1"/>
          </p:cNvSpPr>
          <p:nvPr>
            <p:ph idx="1"/>
          </p:nvPr>
        </p:nvSpPr>
        <p:spPr>
          <a:xfrm>
            <a:off x="657225" y="1674564"/>
            <a:ext cx="10287000" cy="4850060"/>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Endothermic fishes generate and maintain their body heat internally. They have certain mechanisms that support their active lifestyle and aid in survival on wide range of environment. Some mechanisms are;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Muscular activity</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Vascular heat exchangers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Insulation</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Regional heterothermy</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0289F9E-9962-4B7B-BA18-A15907CCC6BF}" type="slidenum">
              <a:rPr lang="en-US" smtClean="0"/>
              <a:t>7</a:t>
            </a:fld>
            <a:endParaRPr lang="en-US"/>
          </a:p>
        </p:txBody>
      </p:sp>
    </p:spTree>
    <p:extLst>
      <p:ext uri="{BB962C8B-B14F-4D97-AF65-F5344CB8AC3E}">
        <p14:creationId xmlns:p14="http://schemas.microsoft.com/office/powerpoint/2010/main" val="1580574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3392E-183B-46D6-8FA1-E5F02EA3E674}"/>
              </a:ext>
            </a:extLst>
          </p:cNvPr>
          <p:cNvSpPr>
            <a:spLocks noGrp="1"/>
          </p:cNvSpPr>
          <p:nvPr>
            <p:ph type="title"/>
          </p:nvPr>
        </p:nvSpPr>
        <p:spPr/>
        <p:txBody>
          <a:bodyPr>
            <a:normAutofit/>
          </a:bodyPr>
          <a:lstStyle/>
          <a:p>
            <a:r>
              <a:rPr lang="en-US" sz="3200" spc="0" dirty="0">
                <a:latin typeface="Times New Roman" panose="02020603050405020304" pitchFamily="18" charset="0"/>
                <a:cs typeface="Times New Roman" panose="02020603050405020304" pitchFamily="18" charset="0"/>
              </a:rPr>
              <a:t>CHALLENGES AND LIMITATIONS</a:t>
            </a:r>
          </a:p>
        </p:txBody>
      </p:sp>
      <p:sp>
        <p:nvSpPr>
          <p:cNvPr id="3" name="Content Placeholder 2">
            <a:extLst>
              <a:ext uri="{FF2B5EF4-FFF2-40B4-BE49-F238E27FC236}">
                <a16:creationId xmlns:a16="http://schemas.microsoft.com/office/drawing/2014/main" id="{48CEB76F-CE98-4C77-B9D5-9F963B6DF9E0}"/>
              </a:ext>
            </a:extLst>
          </p:cNvPr>
          <p:cNvSpPr>
            <a:spLocks noGrp="1"/>
          </p:cNvSpPr>
          <p:nvPr>
            <p:ph idx="1"/>
          </p:nvPr>
        </p:nvSpPr>
        <p:spPr/>
        <p:txBody>
          <a:bodyPr>
            <a:normAutofit/>
          </a:bodyPr>
          <a:lstStyle/>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High oxygen consumption </a:t>
            </a:r>
          </a:p>
          <a:p>
            <a:pPr marL="0" indent="0">
              <a:buNone/>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Increased feeding habit or vulnerability to food scarcity</a:t>
            </a:r>
          </a:p>
        </p:txBody>
      </p:sp>
      <p:sp>
        <p:nvSpPr>
          <p:cNvPr id="4" name="Slide Number Placeholder 3"/>
          <p:cNvSpPr>
            <a:spLocks noGrp="1"/>
          </p:cNvSpPr>
          <p:nvPr>
            <p:ph type="sldNum" sz="quarter" idx="12"/>
          </p:nvPr>
        </p:nvSpPr>
        <p:spPr/>
        <p:txBody>
          <a:bodyPr/>
          <a:lstStyle/>
          <a:p>
            <a:fld id="{A0289F9E-9962-4B7B-BA18-A15907CCC6BF}" type="slidenum">
              <a:rPr lang="en-US" smtClean="0"/>
              <a:t>8</a:t>
            </a:fld>
            <a:endParaRPr lang="en-US"/>
          </a:p>
        </p:txBody>
      </p:sp>
    </p:spTree>
    <p:extLst>
      <p:ext uri="{BB962C8B-B14F-4D97-AF65-F5344CB8AC3E}">
        <p14:creationId xmlns:p14="http://schemas.microsoft.com/office/powerpoint/2010/main" val="3935029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56FEE-452B-46FB-A039-D085D45F6896}"/>
              </a:ext>
            </a:extLst>
          </p:cNvPr>
          <p:cNvSpPr>
            <a:spLocks noGrp="1"/>
          </p:cNvSpPr>
          <p:nvPr>
            <p:ph type="title"/>
          </p:nvPr>
        </p:nvSpPr>
        <p:spPr/>
        <p:txBody>
          <a:bodyPr>
            <a:normAutofit fontScale="90000"/>
          </a:bodyPr>
          <a:lstStyle/>
          <a:p>
            <a:pPr marL="228600" lvl="0" indent="-228600">
              <a:spcBef>
                <a:spcPts val="1000"/>
              </a:spcBef>
            </a:pPr>
            <a:r>
              <a:rPr lang="en-US" sz="3200" cap="none" spc="0" dirty="0">
                <a:solidFill>
                  <a:srgbClr val="000000"/>
                </a:solidFill>
                <a:latin typeface="Times New Roman" panose="02020603050405020304" pitchFamily="18" charset="0"/>
                <a:ea typeface="+mn-ea"/>
                <a:cs typeface="Times New Roman" panose="02020603050405020304" pitchFamily="18" charset="0"/>
              </a:rPr>
              <a:t>ADVANTAGES OF ENDOMITHERISM IN FISHES</a:t>
            </a:r>
            <a:br>
              <a:rPr lang="en-US" sz="2000" b="0" cap="none" spc="0" dirty="0">
                <a:solidFill>
                  <a:srgbClr val="000000"/>
                </a:solidFill>
                <a:latin typeface="Times New Roman" panose="02020603050405020304" pitchFamily="18" charset="0"/>
                <a:ea typeface="+mn-ea"/>
                <a:cs typeface="Times New Roman" panose="02020603050405020304" pitchFamily="18" charset="0"/>
              </a:rPr>
            </a:br>
            <a:endParaRPr lang="en-US" sz="3200" dirty="0"/>
          </a:p>
        </p:txBody>
      </p:sp>
      <p:sp>
        <p:nvSpPr>
          <p:cNvPr id="3" name="Content Placeholder 2">
            <a:extLst>
              <a:ext uri="{FF2B5EF4-FFF2-40B4-BE49-F238E27FC236}">
                <a16:creationId xmlns:a16="http://schemas.microsoft.com/office/drawing/2014/main" id="{D5DD91A8-E64C-494C-B581-99BDF0691DBB}"/>
              </a:ext>
            </a:extLst>
          </p:cNvPr>
          <p:cNvSpPr>
            <a:spLocks noGrp="1"/>
          </p:cNvSpPr>
          <p:nvPr>
            <p:ph idx="1"/>
          </p:nvPr>
        </p:nvSpPr>
        <p:spPr>
          <a:xfrm>
            <a:off x="500809" y="1790237"/>
            <a:ext cx="10868598" cy="4169888"/>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Endothermy in fishes provide several advantages that contribute to their survival and ecological success. Here are some advantages;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Enhanced swimming performance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Competitive advantage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Extended range and habitat flexibility</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Increased sensory abilities</a:t>
            </a:r>
          </a:p>
        </p:txBody>
      </p:sp>
      <p:sp>
        <p:nvSpPr>
          <p:cNvPr id="4" name="Slide Number Placeholder 3"/>
          <p:cNvSpPr>
            <a:spLocks noGrp="1"/>
          </p:cNvSpPr>
          <p:nvPr>
            <p:ph type="sldNum" sz="quarter" idx="12"/>
          </p:nvPr>
        </p:nvSpPr>
        <p:spPr/>
        <p:txBody>
          <a:bodyPr/>
          <a:lstStyle/>
          <a:p>
            <a:fld id="{A0289F9E-9962-4B7B-BA18-A15907CCC6BF}" type="slidenum">
              <a:rPr lang="en-US" smtClean="0"/>
              <a:t>9</a:t>
            </a:fld>
            <a:endParaRPr lang="en-US"/>
          </a:p>
        </p:txBody>
      </p:sp>
    </p:spTree>
    <p:extLst>
      <p:ext uri="{BB962C8B-B14F-4D97-AF65-F5344CB8AC3E}">
        <p14:creationId xmlns:p14="http://schemas.microsoft.com/office/powerpoint/2010/main" val="2732597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01892-5BA6-45D7-B9E5-CC19DA0B2431}"/>
              </a:ext>
            </a:extLst>
          </p:cNvPr>
          <p:cNvSpPr>
            <a:spLocks noGrp="1"/>
          </p:cNvSpPr>
          <p:nvPr>
            <p:ph type="title"/>
          </p:nvPr>
        </p:nvSpPr>
        <p:spPr/>
        <p:txBody>
          <a:bodyPr>
            <a:normAutofit/>
          </a:bodyPr>
          <a:lstStyle/>
          <a:p>
            <a:r>
              <a:rPr lang="en-US" sz="3200" spc="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AA11130-4546-46EF-ACBF-556ED6B670D7}"/>
              </a:ext>
            </a:extLst>
          </p:cNvPr>
          <p:cNvSpPr>
            <a:spLocks noGrp="1"/>
          </p:cNvSpPr>
          <p:nvPr>
            <p:ph idx="1"/>
          </p:nvPr>
        </p:nvSpPr>
        <p:spPr>
          <a:xfrm>
            <a:off x="390638" y="2131761"/>
            <a:ext cx="11155039" cy="3969001"/>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It is important to note that although some fishes exhibit characteristics of endothermy, their level of endothermy is not comparable to that of birds or mammals. The mechanism they possess allow for regional or partial endothermy which allow them to maintain slightly elevated body temperature in specific areas of their body.</a:t>
            </a:r>
          </a:p>
        </p:txBody>
      </p:sp>
      <p:sp>
        <p:nvSpPr>
          <p:cNvPr id="4" name="Slide Number Placeholder 3"/>
          <p:cNvSpPr>
            <a:spLocks noGrp="1"/>
          </p:cNvSpPr>
          <p:nvPr>
            <p:ph type="sldNum" sz="quarter" idx="12"/>
          </p:nvPr>
        </p:nvSpPr>
        <p:spPr/>
        <p:txBody>
          <a:bodyPr/>
          <a:lstStyle/>
          <a:p>
            <a:fld id="{A0289F9E-9962-4B7B-BA18-A15907CCC6BF}" type="slidenum">
              <a:rPr lang="en-US" smtClean="0"/>
              <a:t>10</a:t>
            </a:fld>
            <a:endParaRPr lang="en-US"/>
          </a:p>
        </p:txBody>
      </p:sp>
    </p:spTree>
    <p:extLst>
      <p:ext uri="{BB962C8B-B14F-4D97-AF65-F5344CB8AC3E}">
        <p14:creationId xmlns:p14="http://schemas.microsoft.com/office/powerpoint/2010/main" val="1192574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B31EB-BAB7-4638-8235-B9FD1829B834}"/>
              </a:ext>
            </a:extLst>
          </p:cNvPr>
          <p:cNvSpPr>
            <a:spLocks noGrp="1"/>
          </p:cNvSpPr>
          <p:nvPr>
            <p:ph type="title"/>
          </p:nvPr>
        </p:nvSpPr>
        <p:spPr/>
        <p:txBody>
          <a:bodyPr>
            <a:normAutofit/>
          </a:bodyPr>
          <a:lstStyle/>
          <a:p>
            <a:r>
              <a:rPr lang="en-US" sz="3200" spc="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6654036-F101-4F92-9CBA-C8439D4AF5A1}"/>
              </a:ext>
            </a:extLst>
          </p:cNvPr>
          <p:cNvSpPr>
            <a:spLocks noGrp="1"/>
          </p:cNvSpPr>
          <p:nvPr>
            <p:ph idx="1"/>
          </p:nvPr>
        </p:nvSpPr>
        <p:spPr>
          <a:xfrm>
            <a:off x="952500" y="2285997"/>
            <a:ext cx="10912666" cy="4070736"/>
          </a:xfrm>
        </p:spPr>
        <p:txBody>
          <a:bodyPr>
            <a:normAutofit/>
          </a:bodyPr>
          <a:lstStyle/>
          <a:p>
            <a:pPr marL="0" indent="0">
              <a:buNone/>
            </a:pPr>
            <a:r>
              <a:rPr lang="en-US" sz="2800" i="1" dirty="0">
                <a:latin typeface="Times New Roman" panose="02020603050405020304" pitchFamily="18" charset="0"/>
                <a:cs typeface="Times New Roman" panose="02020603050405020304" pitchFamily="18" charset="0"/>
              </a:rPr>
              <a:t>“Fish physiology” series (various volumes) edited by William s. Hoar, David J. Randall, and Anthony P. Farrell</a:t>
            </a:r>
          </a:p>
          <a:p>
            <a:pPr marL="0" indent="0">
              <a:buNone/>
            </a:pPr>
            <a:r>
              <a:rPr lang="en-US" sz="2800" i="1" dirty="0">
                <a:latin typeface="Times New Roman" panose="02020603050405020304" pitchFamily="18" charset="0"/>
                <a:cs typeface="Times New Roman" panose="02020603050405020304" pitchFamily="18" charset="0"/>
              </a:rPr>
              <a:t>“The Physiology of Fishes” by David H. Evans. “Physiology of Elasmobranch Fishes” edited by Robert E. </a:t>
            </a:r>
            <a:r>
              <a:rPr lang="en-US" sz="2800" i="1" dirty="0" err="1">
                <a:latin typeface="Times New Roman" panose="02020603050405020304" pitchFamily="18" charset="0"/>
                <a:cs typeface="Times New Roman" panose="02020603050405020304" pitchFamily="18" charset="0"/>
              </a:rPr>
              <a:t>Shadwick</a:t>
            </a:r>
            <a:r>
              <a:rPr lang="en-US" sz="2800" i="1" dirty="0">
                <a:latin typeface="Times New Roman" panose="02020603050405020304" pitchFamily="18" charset="0"/>
                <a:cs typeface="Times New Roman" panose="02020603050405020304" pitchFamily="18" charset="0"/>
              </a:rPr>
              <a:t>, Anthony P. Farrell and Colin J. </a:t>
            </a:r>
            <a:r>
              <a:rPr lang="en-US" sz="2800" i="1" dirty="0" err="1">
                <a:latin typeface="Times New Roman" panose="02020603050405020304" pitchFamily="18" charset="0"/>
                <a:cs typeface="Times New Roman" panose="02020603050405020304" pitchFamily="18" charset="0"/>
              </a:rPr>
              <a:t>Brauner</a:t>
            </a:r>
            <a:r>
              <a:rPr lang="en-US" sz="2800" i="1" dirty="0">
                <a:latin typeface="Times New Roman" panose="02020603050405020304" pitchFamily="18" charset="0"/>
                <a:cs typeface="Times New Roman" panose="02020603050405020304" pitchFamily="18" charset="0"/>
              </a:rPr>
              <a:t>.</a:t>
            </a:r>
          </a:p>
          <a:p>
            <a:pPr marL="0" indent="0">
              <a:buNone/>
            </a:pPr>
            <a:r>
              <a:rPr lang="en-US" sz="2800" i="1" dirty="0">
                <a:latin typeface="Times New Roman" panose="02020603050405020304" pitchFamily="18" charset="0"/>
                <a:cs typeface="Times New Roman" panose="02020603050405020304" pitchFamily="18" charset="0"/>
              </a:rPr>
              <a:t>Research Papers from reputable scientific journals such as journal of Fish Biology, Journal of Comparative Physiology B and Fish and Fisheries.</a:t>
            </a:r>
          </a:p>
        </p:txBody>
      </p:sp>
      <p:sp>
        <p:nvSpPr>
          <p:cNvPr id="4" name="Slide Number Placeholder 3"/>
          <p:cNvSpPr>
            <a:spLocks noGrp="1"/>
          </p:cNvSpPr>
          <p:nvPr>
            <p:ph type="sldNum" sz="quarter" idx="12"/>
          </p:nvPr>
        </p:nvSpPr>
        <p:spPr/>
        <p:txBody>
          <a:bodyPr/>
          <a:lstStyle/>
          <a:p>
            <a:fld id="{A0289F9E-9962-4B7B-BA18-A15907CCC6BF}" type="slidenum">
              <a:rPr lang="en-US" smtClean="0"/>
              <a:t>11</a:t>
            </a:fld>
            <a:endParaRPr lang="en-US"/>
          </a:p>
        </p:txBody>
      </p:sp>
    </p:spTree>
    <p:extLst>
      <p:ext uri="{BB962C8B-B14F-4D97-AF65-F5344CB8AC3E}">
        <p14:creationId xmlns:p14="http://schemas.microsoft.com/office/powerpoint/2010/main" val="2822527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C5CF-3FF0-4208-B5EA-4ABA0D79D068}"/>
              </a:ext>
            </a:extLst>
          </p:cNvPr>
          <p:cNvSpPr>
            <a:spLocks noGrp="1"/>
          </p:cNvSpPr>
          <p:nvPr>
            <p:ph type="title"/>
          </p:nvPr>
        </p:nvSpPr>
        <p:spPr/>
        <p:txBody>
          <a:bodyPr>
            <a:normAutofit fontScale="90000"/>
          </a:bodyPr>
          <a:lstStyle/>
          <a:p>
            <a:pPr marL="228600" lvl="0" indent="-228600">
              <a:spcBef>
                <a:spcPts val="1000"/>
              </a:spcBef>
            </a:pPr>
            <a:r>
              <a:rPr lang="en-US" sz="3200" cap="none" spc="0" dirty="0">
                <a:solidFill>
                  <a:srgbClr val="000000"/>
                </a:solidFill>
                <a:latin typeface="Times New Roman" panose="02020603050405020304" pitchFamily="18" charset="0"/>
                <a:ea typeface="+mn-ea"/>
                <a:cs typeface="Times New Roman" panose="02020603050405020304" pitchFamily="18" charset="0"/>
              </a:rPr>
              <a:t>NAMES AND INDEX NUMBERS</a:t>
            </a:r>
            <a:br>
              <a:rPr lang="en-US" sz="2000" b="0" cap="none" spc="0" dirty="0">
                <a:solidFill>
                  <a:srgbClr val="000000"/>
                </a:solidFill>
                <a:latin typeface="Times New Roman" panose="02020603050405020304" pitchFamily="18" charset="0"/>
                <a:ea typeface="+mn-ea"/>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578BDF-68B9-43B8-AEDD-FFC16E1D1591}"/>
              </a:ext>
            </a:extLst>
          </p:cNvPr>
          <p:cNvSpPr>
            <a:spLocks noGrp="1"/>
          </p:cNvSpPr>
          <p:nvPr>
            <p:ph idx="1"/>
          </p:nvPr>
        </p:nvSpPr>
        <p:spPr/>
        <p:txBody>
          <a:bodyPr>
            <a:normAutofit lnSpcReduction="10000"/>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AGBOTTAH PATAND EUODIAS – 9197019</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ADUTWUMWAA GYAPONG WENDY –  9196219</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SARPONG EWURABENA SEFAH – 9218919</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ASAMOAH AFUA- 9201819</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DUSHIE ELIOENAI DZIDUDU – 9207319</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OPOKU KELVIN MENSAH – 9215219</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AMOH GODFRED – 9199219</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0289F9E-9962-4B7B-BA18-A15907CCC6BF}" type="slidenum">
              <a:rPr lang="en-US" smtClean="0"/>
              <a:t>12</a:t>
            </a:fld>
            <a:endParaRPr lang="en-US"/>
          </a:p>
        </p:txBody>
      </p:sp>
    </p:spTree>
    <p:extLst>
      <p:ext uri="{BB962C8B-B14F-4D97-AF65-F5344CB8AC3E}">
        <p14:creationId xmlns:p14="http://schemas.microsoft.com/office/powerpoint/2010/main" val="342766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5B20F-CAE1-461F-9A63-AA61674649A3}"/>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46FA26EB-02AE-4F5C-BCBD-13B9C5F63F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8000"/>
          </a:xfrm>
        </p:spPr>
      </p:pic>
      <p:sp>
        <p:nvSpPr>
          <p:cNvPr id="3" name="Slide Number Placeholder 2"/>
          <p:cNvSpPr>
            <a:spLocks noGrp="1"/>
          </p:cNvSpPr>
          <p:nvPr>
            <p:ph type="sldNum" sz="quarter" idx="12"/>
          </p:nvPr>
        </p:nvSpPr>
        <p:spPr/>
        <p:txBody>
          <a:bodyPr/>
          <a:lstStyle/>
          <a:p>
            <a:fld id="{A0289F9E-9962-4B7B-BA18-A15907CCC6BF}" type="slidenum">
              <a:rPr lang="en-US" smtClean="0"/>
              <a:t>13</a:t>
            </a:fld>
            <a:endParaRPr lang="en-US"/>
          </a:p>
        </p:txBody>
      </p:sp>
    </p:spTree>
    <p:extLst>
      <p:ext uri="{BB962C8B-B14F-4D97-AF65-F5344CB8AC3E}">
        <p14:creationId xmlns:p14="http://schemas.microsoft.com/office/powerpoint/2010/main" val="3160209150"/>
      </p:ext>
    </p:extLst>
  </p:cSld>
  <p:clrMapOvr>
    <a:masterClrMapping/>
  </p:clrMapOvr>
</p:sld>
</file>

<file path=ppt/theme/theme1.xml><?xml version="1.0" encoding="utf-8"?>
<a:theme xmlns:a="http://schemas.openxmlformats.org/drawingml/2006/main" name="AfterglowVTI">
  <a:themeElements>
    <a:clrScheme name="AnalogousFromRegularSeed_2SEEDS">
      <a:dk1>
        <a:srgbClr val="000000"/>
      </a:dk1>
      <a:lt1>
        <a:srgbClr val="FFFFFF"/>
      </a:lt1>
      <a:dk2>
        <a:srgbClr val="3D2229"/>
      </a:dk2>
      <a:lt2>
        <a:srgbClr val="E2E5E8"/>
      </a:lt2>
      <a:accent1>
        <a:srgbClr val="D56A17"/>
      </a:accent1>
      <a:accent2>
        <a:srgbClr val="E72D29"/>
      </a:accent2>
      <a:accent3>
        <a:srgbClr val="B8A221"/>
      </a:accent3>
      <a:accent4>
        <a:srgbClr val="14B4A3"/>
      </a:accent4>
      <a:accent5>
        <a:srgbClr val="29ADE7"/>
      </a:accent5>
      <a:accent6>
        <a:srgbClr val="174CD5"/>
      </a:accent6>
      <a:hlink>
        <a:srgbClr val="3F87BF"/>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1408</TotalTime>
  <Words>528</Words>
  <Application>Microsoft Office PowerPoint</Application>
  <PresentationFormat>Widescreen</PresentationFormat>
  <Paragraphs>74</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AfterglowVTI</vt:lpstr>
      <vt:lpstr>Endothermism in  fishes </vt:lpstr>
      <vt:lpstr>outline</vt:lpstr>
      <vt:lpstr>INTRODUCTION</vt:lpstr>
      <vt:lpstr>Definition and evolution of endothermISM In fishes</vt:lpstr>
      <vt:lpstr>Examples of endothermic fishes</vt:lpstr>
      <vt:lpstr>CHARACTERISTICS OF ENDOTHERMIC FISHES </vt:lpstr>
      <vt:lpstr>MECHANISMS OF HEAT PRODUCTION AND TEMPERATURE REGULATION </vt:lpstr>
      <vt:lpstr>CHALLENGES AND LIMITATIONS</vt:lpstr>
      <vt:lpstr>ADVANTAGES OF ENDOMITHERISM IN FISHES </vt:lpstr>
      <vt:lpstr>conclusion</vt:lpstr>
      <vt:lpstr>REFERENCES</vt:lpstr>
      <vt:lpstr>NAMES AND INDEX NUMBERS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Endothermism in  fishes </dc:title>
  <dc:creator>euodias</dc:creator>
  <cp:lastModifiedBy>Kelvin Opoku Mensah</cp:lastModifiedBy>
  <cp:revision>24</cp:revision>
  <dcterms:created xsi:type="dcterms:W3CDTF">2023-07-19T07:27:13Z</dcterms:created>
  <dcterms:modified xsi:type="dcterms:W3CDTF">2023-07-20T13:24:10Z</dcterms:modified>
</cp:coreProperties>
</file>