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9" r:id="rId5"/>
    <p:sldId id="265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70" r:id="rId14"/>
    <p:sldId id="269" r:id="rId15"/>
    <p:sldId id="258" r:id="rId16"/>
    <p:sldId id="271" r:id="rId17"/>
    <p:sldId id="268" r:id="rId1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BADE"/>
    <a:srgbClr val="36355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19" autoAdjust="0"/>
    <p:restoredTop sz="94618" autoAdjust="0"/>
  </p:normalViewPr>
  <p:slideViewPr>
    <p:cSldViewPr>
      <p:cViewPr varScale="1">
        <p:scale>
          <a:sx n="78" d="100"/>
          <a:sy n="78" d="100"/>
        </p:scale>
        <p:origin x="142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553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55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5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55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2C6A5-14AB-491C-B2F6-7FB67DE618F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E79893-0448-4C23-8A11-87229ADBA03F}" type="slidenum">
              <a:rPr lang="en-US"/>
              <a:pPr/>
              <a:t>1</a:t>
            </a:fld>
            <a:endParaRPr lang="en-US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3E7627-F0AD-498A-9A4F-F75F09024189}" type="slidenum">
              <a:rPr lang="en-US"/>
              <a:pPr/>
              <a:t>2</a:t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D73443-FAF6-4B0A-B728-D4C9241E74E2}" type="slidenum">
              <a:rPr lang="en-US"/>
              <a:pPr/>
              <a:t>14</a:t>
            </a:fld>
            <a:endParaRPr lang="en-US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8175" y="3860800"/>
            <a:ext cx="5327650" cy="7508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8175" y="4581525"/>
            <a:ext cx="5327650" cy="503238"/>
          </a:xfrm>
        </p:spPr>
        <p:txBody>
          <a:bodyPr/>
          <a:lstStyle>
            <a:lvl1pPr marL="0" indent="0">
              <a:buFontTx/>
              <a:buNone/>
              <a:defRPr sz="2400" b="1"/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68313" y="1989138"/>
            <a:ext cx="4027487" cy="4175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9138"/>
            <a:ext cx="4027488" cy="4175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05588" y="476250"/>
            <a:ext cx="2070100" cy="5688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95288" y="476250"/>
            <a:ext cx="6057900" cy="5688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D4FF6-F66C-4D1E-B0F3-B3331779F97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C2B15-3D0A-406A-B5A9-3279110A293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EC015-86DC-42DF-9959-9D678FE960C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979613" y="1600200"/>
            <a:ext cx="3276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408613" y="1600200"/>
            <a:ext cx="327818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0CB1D-1AB3-42F5-AAF3-6783AD1F001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01D52-57F4-4FC1-B268-0AB6FC9DF9C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1F280-0B41-4707-965E-790C936B726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C3E51-2F69-4891-B8DA-EEDAAAC1E17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D1EE1C-689B-484B-8888-DBBBF79B4E7D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75D70-7E62-4383-B35E-AA70D84D45CD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678094-E284-43A3-B369-A2D570AA9CB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010400" y="274638"/>
            <a:ext cx="1676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979613" y="274638"/>
            <a:ext cx="4878387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AFDBF-02A4-4A51-96D2-013124D319F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476250"/>
            <a:ext cx="60483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8207375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0"/>
            <a:r>
              <a:rPr lang="ru-RU"/>
              <a:t>Third level</a:t>
            </a:r>
          </a:p>
          <a:p>
            <a:pPr lvl="1"/>
            <a:r>
              <a:rPr lang="ru-RU"/>
              <a:t>Fourth level</a:t>
            </a:r>
          </a:p>
          <a:p>
            <a:pPr lvl="2"/>
            <a:r>
              <a:rPr lang="ru-RU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bg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74638"/>
            <a:ext cx="67071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79613" y="1600200"/>
            <a:ext cx="670718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361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361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3614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BF47675-0335-47AE-946B-EBED08240881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9592" y="5517232"/>
            <a:ext cx="7992888" cy="720056"/>
          </a:xfrm>
          <a:noFill/>
        </p:spPr>
        <p:txBody>
          <a:bodyPr/>
          <a:lstStyle/>
          <a:p>
            <a:pPr algn="ctr"/>
            <a:r>
              <a:rPr lang="en-GB" dirty="0">
                <a:solidFill>
                  <a:srgbClr val="002060"/>
                </a:solidFill>
                <a:latin typeface="Tahoma" charset="0"/>
              </a:rPr>
              <a:t>BUOYANCY,DIVING AND PHYSIOLOGICAL RESPONSES TO PROLONGED DIVES</a:t>
            </a:r>
            <a:endParaRPr lang="uk-UA" dirty="0">
              <a:solidFill>
                <a:srgbClr val="002060"/>
              </a:solidFill>
              <a:latin typeface="Tahoma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55776" y="6381328"/>
            <a:ext cx="3382962" cy="288032"/>
          </a:xfrm>
        </p:spPr>
        <p:txBody>
          <a:bodyPr/>
          <a:lstStyle/>
          <a:p>
            <a:pPr algn="ctr">
              <a:lnSpc>
                <a:spcPct val="50000"/>
              </a:lnSpc>
            </a:pPr>
            <a:r>
              <a:rPr lang="en-GB" dirty="0">
                <a:solidFill>
                  <a:srgbClr val="000000"/>
                </a:solidFill>
              </a:rPr>
              <a:t>           GROUP 28</a:t>
            </a:r>
            <a:endParaRPr lang="en-GB" sz="1800" dirty="0">
              <a:solidFill>
                <a:srgbClr val="000000"/>
              </a:solidFill>
            </a:endParaRPr>
          </a:p>
          <a:p>
            <a:pPr algn="ctr">
              <a:lnSpc>
                <a:spcPct val="50000"/>
              </a:lnSpc>
            </a:pPr>
            <a:r>
              <a:rPr lang="en-GB" sz="2800" dirty="0">
                <a:solidFill>
                  <a:srgbClr val="000000"/>
                </a:solidFill>
              </a:rPr>
              <a:t>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916113"/>
            <a:ext cx="6337300" cy="620712"/>
          </a:xfrm>
        </p:spPr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Tahoma" charset="0"/>
              </a:rPr>
              <a:t>CONTENTS</a:t>
            </a:r>
            <a:endParaRPr lang="uk-UA" sz="3600" b="1" dirty="0">
              <a:solidFill>
                <a:srgbClr val="002060"/>
              </a:solidFill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536825"/>
            <a:ext cx="8066087" cy="3916363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Introduction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Definition of Buoyancy and Diving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Organ Systems Involved In Physiological Responses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300" dirty="0">
              <a:solidFill>
                <a:srgbClr val="000000"/>
              </a:solidFill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Physiological Responses To Prolonged Dives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Importance Of Physiological Responses To Prolonged Dives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Importance Of Buoyancy In Diving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Conclusion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300" dirty="0">
                <a:solidFill>
                  <a:srgbClr val="000000"/>
                </a:solidFill>
                <a:ea typeface="굴림" charset="-127"/>
              </a:rPr>
              <a:t>References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300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  <a:t>                                         </a:t>
            </a:r>
            <a:r>
              <a:rPr lang="en-US" altLang="ko-KR" sz="2000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  <a:t>2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ko-KR" sz="2000" dirty="0">
              <a:solidFill>
                <a:srgbClr val="000000"/>
              </a:solidFill>
              <a:latin typeface="Verdana" pitchFamily="34" charset="0"/>
              <a:ea typeface="굴림" charset="-127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ko-KR" sz="2000" dirty="0">
              <a:solidFill>
                <a:srgbClr val="000000"/>
              </a:solidFill>
              <a:latin typeface="Verdana" pitchFamily="34" charset="0"/>
              <a:ea typeface="굴림" charset="-127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ko-KR" sz="2000" dirty="0">
              <a:solidFill>
                <a:srgbClr val="000000"/>
              </a:solidFill>
              <a:latin typeface="Verdana" pitchFamily="34" charset="0"/>
              <a:ea typeface="굴림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916832"/>
            <a:ext cx="6048375" cy="648072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</a:rPr>
              <a:t>INTRODUCTION</a:t>
            </a:r>
            <a:r>
              <a:rPr lang="en-GB" dirty="0"/>
              <a:t>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1" y="2564904"/>
            <a:ext cx="8640960" cy="39604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Series of physiological changes that takes place in mammals in response to water submersion is known as a dive reflex.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This reflex aid in the conservation of oxygen in mammals by initiating several specific physiologic changes during aquatic immersion.(Smith </a:t>
            </a:r>
            <a:r>
              <a:rPr lang="en-GB" i="1" dirty="0">
                <a:solidFill>
                  <a:schemeClr val="bg2"/>
                </a:solidFill>
              </a:rPr>
              <a:t>et al., </a:t>
            </a:r>
            <a:r>
              <a:rPr lang="en-GB" dirty="0">
                <a:solidFill>
                  <a:schemeClr val="bg2"/>
                </a:solidFill>
              </a:rPr>
              <a:t>2012)</a:t>
            </a: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 3   </a:t>
            </a:r>
          </a:p>
        </p:txBody>
      </p:sp>
    </p:spTree>
    <p:extLst>
      <p:ext uri="{BB962C8B-B14F-4D97-AF65-F5344CB8AC3E}">
        <p14:creationId xmlns:p14="http://schemas.microsoft.com/office/powerpoint/2010/main" val="273617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492896"/>
            <a:ext cx="8207375" cy="417646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The dive reflex was first described by Edmund </a:t>
            </a:r>
            <a:r>
              <a:rPr lang="en-GB" dirty="0" err="1">
                <a:solidFill>
                  <a:schemeClr val="bg2"/>
                </a:solidFill>
              </a:rPr>
              <a:t>Goodwyn</a:t>
            </a:r>
            <a:r>
              <a:rPr lang="en-GB" dirty="0">
                <a:solidFill>
                  <a:schemeClr val="bg2"/>
                </a:solidFill>
              </a:rPr>
              <a:t> in 1786.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Three main physiological changes occurs in a diving reflex; bradycardia, </a:t>
            </a:r>
            <a:r>
              <a:rPr lang="en-GB" dirty="0" err="1">
                <a:solidFill>
                  <a:schemeClr val="bg2"/>
                </a:solidFill>
              </a:rPr>
              <a:t>apnea</a:t>
            </a:r>
            <a:r>
              <a:rPr lang="en-GB" dirty="0">
                <a:solidFill>
                  <a:schemeClr val="bg2"/>
                </a:solidFill>
              </a:rPr>
              <a:t> and increased peripheral vascular resistance.</a:t>
            </a:r>
          </a:p>
          <a:p>
            <a:pPr marL="0" indent="0">
              <a:buNone/>
            </a:pPr>
            <a:r>
              <a:rPr lang="en-GB" dirty="0">
                <a:solidFill>
                  <a:schemeClr val="bg2"/>
                </a:solidFill>
              </a:rPr>
              <a:t>                                                      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4                             </a:t>
            </a:r>
            <a:r>
              <a:rPr lang="en-GB" sz="2000" dirty="0">
                <a:solidFill>
                  <a:srgbClr val="002060"/>
                </a:solidFill>
              </a:rPr>
              <a:t>Fig. 1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288" y="1772816"/>
            <a:ext cx="6048375" cy="720080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</a:rPr>
              <a:t>INTRODUCTION CONT’D</a:t>
            </a: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437112"/>
            <a:ext cx="2879552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6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1" y="1628800"/>
            <a:ext cx="2808311" cy="648072"/>
          </a:xfrm>
        </p:spPr>
        <p:txBody>
          <a:bodyPr/>
          <a:lstStyle/>
          <a:p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BUOYANCY</a:t>
            </a:r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1" y="2276872"/>
            <a:ext cx="8424168" cy="432048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Buoyancy is the tendency of a body to float or rise in a fluid when the body is submerged in the fluid.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When a body is less dense than the fluid, it experiences a buoyant force greater than its weight, thereby making the body float.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5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60" y="4581128"/>
            <a:ext cx="5084544" cy="2182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5543D0-2F82-45C3-B1AD-ED0CC05C8286}"/>
              </a:ext>
            </a:extLst>
          </p:cNvPr>
          <p:cNvSpPr txBox="1"/>
          <p:nvPr/>
        </p:nvSpPr>
        <p:spPr>
          <a:xfrm>
            <a:off x="7641369" y="5877272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Fig. 2</a:t>
            </a:r>
          </a:p>
        </p:txBody>
      </p:sp>
    </p:spTree>
    <p:extLst>
      <p:ext uri="{BB962C8B-B14F-4D97-AF65-F5344CB8AC3E}">
        <p14:creationId xmlns:p14="http://schemas.microsoft.com/office/powerpoint/2010/main" val="307145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00808"/>
            <a:ext cx="2160488" cy="504056"/>
          </a:xfrm>
        </p:spPr>
        <p:txBody>
          <a:bodyPr/>
          <a:lstStyle/>
          <a:p>
            <a:r>
              <a:rPr lang="en-US" altLang="ko-KR" b="1" dirty="0">
                <a:solidFill>
                  <a:srgbClr val="00B0F0"/>
                </a:solidFill>
                <a:latin typeface="Verdana" pitchFamily="34" charset="0"/>
                <a:ea typeface="굴림" charset="-127"/>
              </a:rPr>
              <a:t> </a:t>
            </a:r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DIVING</a:t>
            </a:r>
            <a:r>
              <a:rPr lang="en-US" altLang="ko-KR" b="1" dirty="0">
                <a:solidFill>
                  <a:srgbClr val="00B0F0"/>
                </a:solidFill>
                <a:latin typeface="Verdana" pitchFamily="34" charset="0"/>
                <a:ea typeface="굴림" charset="-127"/>
              </a:rPr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48880"/>
            <a:ext cx="8207375" cy="43924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Diving is the act of entering and moving through water head foremost, typically to interact with the environment beneath water surface.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                                            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      </a:t>
            </a:r>
            <a:r>
              <a:rPr lang="en-US" sz="2000" dirty="0">
                <a:solidFill>
                  <a:srgbClr val="002060"/>
                </a:solidFill>
              </a:rPr>
              <a:t>Fig. 3                                              Fig. 4                          </a:t>
            </a:r>
            <a:r>
              <a:rPr lang="en-US" dirty="0">
                <a:solidFill>
                  <a:srgbClr val="002060"/>
                </a:solidFill>
              </a:rPr>
              <a:t> 6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                6</a:t>
            </a: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789040"/>
            <a:ext cx="3168352" cy="25922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789040"/>
            <a:ext cx="309634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44824"/>
            <a:ext cx="4680519" cy="648072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TYPES OF DIVING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9" y="2348880"/>
            <a:ext cx="8712968" cy="432048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                                                                                       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>
                <a:solidFill>
                  <a:srgbClr val="002060"/>
                </a:solidFill>
              </a:rPr>
              <a:t>Scuba diving         Snorkelling        Free diving      Deep-sea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                                                            </a:t>
            </a:r>
            <a:r>
              <a:rPr lang="en-GB" sz="2400" dirty="0">
                <a:solidFill>
                  <a:srgbClr val="002060"/>
                </a:solidFill>
              </a:rPr>
              <a:t>diving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                                     </a:t>
            </a:r>
            <a:r>
              <a:rPr lang="en-GB" dirty="0">
                <a:solidFill>
                  <a:srgbClr val="002060"/>
                </a:solidFill>
              </a:rPr>
              <a:t>7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2476500"/>
            <a:ext cx="2015455" cy="190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3" y="2476500"/>
            <a:ext cx="2160241" cy="190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1" y="2476500"/>
            <a:ext cx="2016225" cy="1905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3" y="2476500"/>
            <a:ext cx="1944217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0CC350-8E0E-4082-B578-E1AC69936949}"/>
              </a:ext>
            </a:extLst>
          </p:cNvPr>
          <p:cNvSpPr txBox="1"/>
          <p:nvPr/>
        </p:nvSpPr>
        <p:spPr>
          <a:xfrm>
            <a:off x="4267079" y="5589240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Fig. 5</a:t>
            </a:r>
          </a:p>
        </p:txBody>
      </p:sp>
    </p:spTree>
    <p:extLst>
      <p:ext uri="{BB962C8B-B14F-4D97-AF65-F5344CB8AC3E}">
        <p14:creationId xmlns:p14="http://schemas.microsoft.com/office/powerpoint/2010/main" val="42941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1988840"/>
            <a:ext cx="8784976" cy="792088"/>
          </a:xfrm>
        </p:spPr>
        <p:txBody>
          <a:bodyPr/>
          <a:lstStyle/>
          <a:p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ORGAN SYSTEMS INVOLVED IN PHYSIOLOGICAL RESPONSES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924944"/>
            <a:ext cx="8207375" cy="37444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060"/>
                </a:solidFill>
              </a:rPr>
              <a:t>Nervous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060"/>
                </a:solidFill>
              </a:rPr>
              <a:t>Pulmonary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2060"/>
                </a:solidFill>
              </a:rPr>
              <a:t>Cardiovascular system       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             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  8</a:t>
            </a:r>
            <a:r>
              <a:rPr lang="en-GB" dirty="0"/>
              <a:t>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418" y="2780928"/>
            <a:ext cx="3672408" cy="3240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052A97-E185-4429-A5E6-197D4D69F844}"/>
              </a:ext>
            </a:extLst>
          </p:cNvPr>
          <p:cNvSpPr txBox="1"/>
          <p:nvPr/>
        </p:nvSpPr>
        <p:spPr>
          <a:xfrm>
            <a:off x="7020272" y="6160658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Fig. 6</a:t>
            </a:r>
          </a:p>
        </p:txBody>
      </p:sp>
    </p:spTree>
    <p:extLst>
      <p:ext uri="{BB962C8B-B14F-4D97-AF65-F5344CB8AC3E}">
        <p14:creationId xmlns:p14="http://schemas.microsoft.com/office/powerpoint/2010/main" val="16983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812" y="2204864"/>
            <a:ext cx="6048375" cy="508000"/>
          </a:xfrm>
        </p:spPr>
        <p:txBody>
          <a:bodyPr/>
          <a:lstStyle/>
          <a:p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r>
              <a:rPr lang="en-US" altLang="ko-KR" sz="2800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PHYSIOLOGICAL RESPONSES TO PROLONGED DIVES</a:t>
            </a:r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996953"/>
            <a:ext cx="8207375" cy="3600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During prolonged dives, the bodies of both animals and humans must adapt to the challenges of reduced oxygen and increased pressure under water.</a:t>
            </a: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    9</a:t>
            </a:r>
          </a:p>
        </p:txBody>
      </p:sp>
    </p:spTree>
    <p:extLst>
      <p:ext uri="{BB962C8B-B14F-4D97-AF65-F5344CB8AC3E}">
        <p14:creationId xmlns:p14="http://schemas.microsoft.com/office/powerpoint/2010/main" val="157654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916832"/>
            <a:ext cx="7705104" cy="720080"/>
          </a:xfrm>
        </p:spPr>
        <p:txBody>
          <a:bodyPr/>
          <a:lstStyle/>
          <a:p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PHYSIOLOGICAL RESPONSES TO PROLONGED DIVES CONT’D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780928"/>
            <a:ext cx="8207375" cy="3888432"/>
          </a:xfrm>
        </p:spPr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In marine mammals such as whales and seals, physiological responses include;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Bradycardia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Reduced peripheral blood 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Decreased blood volume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Myoglobin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Enhanced lung collapse and enhanced oxygen storage in the tissues                                       </a:t>
            </a:r>
            <a:r>
              <a:rPr lang="en-GB" dirty="0">
                <a:solidFill>
                  <a:srgbClr val="002060"/>
                </a:solidFill>
              </a:rPr>
              <a:t>10</a:t>
            </a: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69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988840"/>
            <a:ext cx="8209160" cy="864096"/>
          </a:xfrm>
        </p:spPr>
        <p:txBody>
          <a:bodyPr/>
          <a:lstStyle/>
          <a:p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PHYSIOLOGICAL RESPONSES TO PROLONGED DIVES CONT’D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996952"/>
            <a:ext cx="8207375" cy="3600400"/>
          </a:xfrm>
        </p:spPr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In humans, </a:t>
            </a:r>
            <a:r>
              <a:rPr lang="en-US" dirty="0">
                <a:solidFill>
                  <a:schemeClr val="bg2"/>
                </a:solidFill>
              </a:rPr>
              <a:t>the physiological responses the body goes through </a:t>
            </a:r>
            <a:r>
              <a:rPr lang="en-GB" dirty="0">
                <a:solidFill>
                  <a:schemeClr val="bg2"/>
                </a:solidFill>
              </a:rPr>
              <a:t>during prolonged diving</a:t>
            </a:r>
            <a:r>
              <a:rPr lang="en-US" dirty="0">
                <a:solidFill>
                  <a:schemeClr val="bg2"/>
                </a:solidFill>
              </a:rPr>
              <a:t> are;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Lung compression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Peripheral vasoconstriction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Hypoxia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Bradycardia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Blood redistribution.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              11</a:t>
            </a:r>
            <a:endParaRPr lang="en-GB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C907B-D170-44C4-848E-F555C83CDB69}"/>
              </a:ext>
            </a:extLst>
          </p:cNvPr>
          <p:cNvSpPr txBox="1"/>
          <p:nvPr/>
        </p:nvSpPr>
        <p:spPr>
          <a:xfrm>
            <a:off x="6372200" y="6165304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Marabotti</a:t>
            </a:r>
            <a:r>
              <a:rPr lang="en-US" dirty="0"/>
              <a:t> </a:t>
            </a:r>
            <a:r>
              <a:rPr lang="en-US" i="1" dirty="0"/>
              <a:t>et al., </a:t>
            </a:r>
            <a:r>
              <a:rPr lang="en-US" dirty="0"/>
              <a:t>2008</a:t>
            </a:r>
          </a:p>
        </p:txBody>
      </p:sp>
    </p:spTree>
    <p:extLst>
      <p:ext uri="{BB962C8B-B14F-4D97-AF65-F5344CB8AC3E}">
        <p14:creationId xmlns:p14="http://schemas.microsoft.com/office/powerpoint/2010/main" val="359808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844824"/>
            <a:ext cx="8497192" cy="792088"/>
          </a:xfrm>
        </p:spPr>
        <p:txBody>
          <a:bodyPr/>
          <a:lstStyle/>
          <a:p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r>
              <a:rPr lang="en-US" altLang="ko-KR" b="1" dirty="0">
                <a:solidFill>
                  <a:srgbClr val="002060"/>
                </a:solidFill>
                <a:latin typeface="Verdana" pitchFamily="34" charset="0"/>
                <a:ea typeface="굴림" charset="-127"/>
              </a:rPr>
              <a:t>IMPORTANCE OF PHYSIOLOGICAL RESPONSES TO PROLONGED DIVES </a:t>
            </a:r>
            <a:br>
              <a:rPr lang="en-US" altLang="ko-KR" dirty="0">
                <a:solidFill>
                  <a:srgbClr val="000000"/>
                </a:solidFill>
                <a:latin typeface="Verdana" pitchFamily="34" charset="0"/>
                <a:ea typeface="굴림" charset="-127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708920"/>
            <a:ext cx="8207375" cy="3816424"/>
          </a:xfrm>
        </p:spPr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Physiological responses are of utmost importance for both marine mammals and human divers by;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Ensuring the survival of organisms under water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Conserving oxygen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Enabling mammals to stay underneath water for extended times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Minimizing decompression risks</a:t>
            </a: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 12</a:t>
            </a:r>
          </a:p>
        </p:txBody>
      </p:sp>
    </p:spTree>
    <p:extLst>
      <p:ext uri="{BB962C8B-B14F-4D97-AF65-F5344CB8AC3E}">
        <p14:creationId xmlns:p14="http://schemas.microsoft.com/office/powerpoint/2010/main" val="290409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988840"/>
            <a:ext cx="8497192" cy="720080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</a:rPr>
              <a:t>IMPORTANCE OF BUOYANCY IN DIVING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924944"/>
            <a:ext cx="8207375" cy="35283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Buoyancy allows divers to control their descent and ascent in water column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It helps conserve energy in divers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It allow the diver to maintain an appropriate depth</a:t>
            </a:r>
          </a:p>
          <a:p>
            <a:pPr marL="0" indent="0">
              <a:buNone/>
            </a:pPr>
            <a:endParaRPr lang="en-GB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  13</a:t>
            </a:r>
          </a:p>
        </p:txBody>
      </p:sp>
    </p:spTree>
    <p:extLst>
      <p:ext uri="{BB962C8B-B14F-4D97-AF65-F5344CB8AC3E}">
        <p14:creationId xmlns:p14="http://schemas.microsoft.com/office/powerpoint/2010/main" val="287826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8175" y="909639"/>
            <a:ext cx="7056438" cy="547169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Buoyancy, diving and the physiological responses to prolonged dives demonstrate the incredible diversity and ingenuity of life in aquatic environments  and human exploration beneath the waves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988840"/>
            <a:ext cx="6048375" cy="792088"/>
          </a:xfrm>
        </p:spPr>
        <p:txBody>
          <a:bodyPr/>
          <a:lstStyle/>
          <a:p>
            <a:r>
              <a:rPr lang="en-GB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2780928"/>
            <a:ext cx="8207375" cy="37444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Smith G., </a:t>
            </a:r>
            <a:r>
              <a:rPr lang="en-GB" dirty="0" err="1">
                <a:solidFill>
                  <a:schemeClr val="bg2"/>
                </a:solidFill>
              </a:rPr>
              <a:t>Morgans</a:t>
            </a:r>
            <a:r>
              <a:rPr lang="en-GB" dirty="0">
                <a:solidFill>
                  <a:schemeClr val="bg2"/>
                </a:solidFill>
              </a:rPr>
              <a:t> A., Taylor and Cameron. Use of the human dive reflex for the management of the supraventricular tachycardia, a review of literature. </a:t>
            </a:r>
            <a:r>
              <a:rPr lang="en-GB" i="1" dirty="0" err="1">
                <a:solidFill>
                  <a:schemeClr val="bg2"/>
                </a:solidFill>
              </a:rPr>
              <a:t>Emerg</a:t>
            </a:r>
            <a:r>
              <a:rPr lang="en-GB" i="1" dirty="0">
                <a:solidFill>
                  <a:schemeClr val="bg2"/>
                </a:solidFill>
              </a:rPr>
              <a:t> Med J</a:t>
            </a:r>
            <a:r>
              <a:rPr lang="en-GB" dirty="0">
                <a:solidFill>
                  <a:schemeClr val="bg2"/>
                </a:solidFill>
              </a:rPr>
              <a:t>. 2012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/>
                </a:solidFill>
              </a:rPr>
              <a:t> </a:t>
            </a:r>
            <a:r>
              <a:rPr lang="en-GB" dirty="0" err="1">
                <a:solidFill>
                  <a:schemeClr val="bg2"/>
                </a:solidFill>
              </a:rPr>
              <a:t>Marabotti</a:t>
            </a:r>
            <a:r>
              <a:rPr lang="en-GB" dirty="0">
                <a:solidFill>
                  <a:schemeClr val="bg2"/>
                </a:solidFill>
              </a:rPr>
              <a:t> c., </a:t>
            </a:r>
            <a:r>
              <a:rPr lang="en-GB" dirty="0" err="1">
                <a:solidFill>
                  <a:schemeClr val="bg2"/>
                </a:solidFill>
              </a:rPr>
              <a:t>Belardinelli</a:t>
            </a:r>
            <a:r>
              <a:rPr lang="en-GB" dirty="0">
                <a:solidFill>
                  <a:schemeClr val="bg2"/>
                </a:solidFill>
              </a:rPr>
              <a:t> A., </a:t>
            </a:r>
            <a:r>
              <a:rPr lang="en-GB" dirty="0" err="1">
                <a:solidFill>
                  <a:schemeClr val="bg2"/>
                </a:solidFill>
              </a:rPr>
              <a:t>L’Abbate</a:t>
            </a:r>
            <a:r>
              <a:rPr lang="en-GB" dirty="0">
                <a:solidFill>
                  <a:schemeClr val="bg2"/>
                </a:solidFill>
              </a:rPr>
              <a:t> A., </a:t>
            </a:r>
            <a:r>
              <a:rPr lang="en-GB" dirty="0" err="1">
                <a:solidFill>
                  <a:schemeClr val="bg2"/>
                </a:solidFill>
              </a:rPr>
              <a:t>Scalzini</a:t>
            </a:r>
            <a:r>
              <a:rPr lang="en-GB" dirty="0">
                <a:solidFill>
                  <a:schemeClr val="bg2"/>
                </a:solidFill>
              </a:rPr>
              <a:t> A. Cardiac function </a:t>
            </a:r>
            <a:r>
              <a:rPr lang="en-GB" dirty="0" err="1">
                <a:solidFill>
                  <a:schemeClr val="bg2"/>
                </a:solidFill>
              </a:rPr>
              <a:t>durin</a:t>
            </a:r>
            <a:r>
              <a:rPr lang="en-GB" dirty="0">
                <a:solidFill>
                  <a:schemeClr val="bg2"/>
                </a:solidFill>
              </a:rPr>
              <a:t> breath-hold diving in humans. Undersea </a:t>
            </a:r>
            <a:r>
              <a:rPr lang="en-GB" dirty="0" err="1">
                <a:solidFill>
                  <a:schemeClr val="bg2"/>
                </a:solidFill>
              </a:rPr>
              <a:t>Hyperb</a:t>
            </a:r>
            <a:r>
              <a:rPr lang="en-GB" dirty="0">
                <a:solidFill>
                  <a:schemeClr val="bg2"/>
                </a:solidFill>
              </a:rPr>
              <a:t> Med. 2008. 35(2)  38-90</a:t>
            </a:r>
          </a:p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                                   15</a:t>
            </a:r>
          </a:p>
        </p:txBody>
      </p:sp>
    </p:spTree>
    <p:extLst>
      <p:ext uri="{BB962C8B-B14F-4D97-AF65-F5344CB8AC3E}">
        <p14:creationId xmlns:p14="http://schemas.microsoft.com/office/powerpoint/2010/main" val="420826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" y="2348880"/>
            <a:ext cx="692827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32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5">
      <a:dk1>
        <a:srgbClr val="4D4D4D"/>
      </a:dk1>
      <a:lt1>
        <a:srgbClr val="FFFFFF"/>
      </a:lt1>
      <a:dk2>
        <a:srgbClr val="4D4D4D"/>
      </a:dk2>
      <a:lt2>
        <a:srgbClr val="1F1111"/>
      </a:lt2>
      <a:accent1>
        <a:srgbClr val="393939"/>
      </a:accent1>
      <a:accent2>
        <a:srgbClr val="727272"/>
      </a:accent2>
      <a:accent3>
        <a:srgbClr val="FFFFFF"/>
      </a:accent3>
      <a:accent4>
        <a:srgbClr val="404040"/>
      </a:accent4>
      <a:accent5>
        <a:srgbClr val="AEAEAE"/>
      </a:accent5>
      <a:accent6>
        <a:srgbClr val="676767"/>
      </a:accent6>
      <a:hlink>
        <a:srgbClr val="D42424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11163C"/>
        </a:lt2>
        <a:accent1>
          <a:srgbClr val="212B53"/>
        </a:accent1>
        <a:accent2>
          <a:srgbClr val="364481"/>
        </a:accent2>
        <a:accent3>
          <a:srgbClr val="FFFFFF"/>
        </a:accent3>
        <a:accent4>
          <a:srgbClr val="404040"/>
        </a:accent4>
        <a:accent5>
          <a:srgbClr val="ABACB3"/>
        </a:accent5>
        <a:accent6>
          <a:srgbClr val="303D74"/>
        </a:accent6>
        <a:hlink>
          <a:srgbClr val="3E498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4D4D4D"/>
        </a:dk2>
        <a:lt2>
          <a:srgbClr val="0D254C"/>
        </a:lt2>
        <a:accent1>
          <a:srgbClr val="254B83"/>
        </a:accent1>
        <a:accent2>
          <a:srgbClr val="406DAA"/>
        </a:accent2>
        <a:accent3>
          <a:srgbClr val="FFFFFF"/>
        </a:accent3>
        <a:accent4>
          <a:srgbClr val="404040"/>
        </a:accent4>
        <a:accent5>
          <a:srgbClr val="ACB1C1"/>
        </a:accent5>
        <a:accent6>
          <a:srgbClr val="39629A"/>
        </a:accent6>
        <a:hlink>
          <a:srgbClr val="3267B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363B45"/>
        </a:lt2>
        <a:accent1>
          <a:srgbClr val="A99D9B"/>
        </a:accent1>
        <a:accent2>
          <a:srgbClr val="565A66"/>
        </a:accent2>
        <a:accent3>
          <a:srgbClr val="FFFFFF"/>
        </a:accent3>
        <a:accent4>
          <a:srgbClr val="404040"/>
        </a:accent4>
        <a:accent5>
          <a:srgbClr val="D1CCCB"/>
        </a:accent5>
        <a:accent6>
          <a:srgbClr val="4D515C"/>
        </a:accent6>
        <a:hlink>
          <a:srgbClr val="92715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B26920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D5B9AB"/>
        </a:accent5>
        <a:accent6>
          <a:srgbClr val="64727F"/>
        </a:accent6>
        <a:hlink>
          <a:srgbClr val="EEC72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9BB6EE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CBD7F5"/>
        </a:accent5>
        <a:accent6>
          <a:srgbClr val="64727F"/>
        </a:accent6>
        <a:hlink>
          <a:srgbClr val="84AAF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40494F"/>
        </a:lt2>
        <a:accent1>
          <a:srgbClr val="6D7D8A"/>
        </a:accent1>
        <a:accent2>
          <a:srgbClr val="A7A7A7"/>
        </a:accent2>
        <a:accent3>
          <a:srgbClr val="FFFFFF"/>
        </a:accent3>
        <a:accent4>
          <a:srgbClr val="404040"/>
        </a:accent4>
        <a:accent5>
          <a:srgbClr val="BABFC4"/>
        </a:accent5>
        <a:accent6>
          <a:srgbClr val="979797"/>
        </a:accent6>
        <a:hlink>
          <a:srgbClr val="7F7F7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4D4D4D"/>
        </a:dk2>
        <a:lt2>
          <a:srgbClr val="454D52"/>
        </a:lt2>
        <a:accent1>
          <a:srgbClr val="7D8B97"/>
        </a:accent1>
        <a:accent2>
          <a:srgbClr val="CBCBCB"/>
        </a:accent2>
        <a:accent3>
          <a:srgbClr val="FFFFFF"/>
        </a:accent3>
        <a:accent4>
          <a:srgbClr val="404040"/>
        </a:accent4>
        <a:accent5>
          <a:srgbClr val="BFC4C9"/>
        </a:accent5>
        <a:accent6>
          <a:srgbClr val="B8B8B8"/>
        </a:accent6>
        <a:hlink>
          <a:srgbClr val="5158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4D4D4D"/>
        </a:dk2>
        <a:lt2>
          <a:srgbClr val="393939"/>
        </a:lt2>
        <a:accent1>
          <a:srgbClr val="858585"/>
        </a:accent1>
        <a:accent2>
          <a:srgbClr val="939393"/>
        </a:accent2>
        <a:accent3>
          <a:srgbClr val="FFFFFF"/>
        </a:accent3>
        <a:accent4>
          <a:srgbClr val="404040"/>
        </a:accent4>
        <a:accent5>
          <a:srgbClr val="C2C2C2"/>
        </a:accent5>
        <a:accent6>
          <a:srgbClr val="858585"/>
        </a:accent6>
        <a:hlink>
          <a:srgbClr val="6969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4D4D4D"/>
        </a:dk2>
        <a:lt2>
          <a:srgbClr val="4F5056"/>
        </a:lt2>
        <a:accent1>
          <a:srgbClr val="7E7F8E"/>
        </a:accent1>
        <a:accent2>
          <a:srgbClr val="C0C1C5"/>
        </a:accent2>
        <a:accent3>
          <a:srgbClr val="FFFFFF"/>
        </a:accent3>
        <a:accent4>
          <a:srgbClr val="404040"/>
        </a:accent4>
        <a:accent5>
          <a:srgbClr val="C0C0C6"/>
        </a:accent5>
        <a:accent6>
          <a:srgbClr val="AEAFB2"/>
        </a:accent6>
        <a:hlink>
          <a:srgbClr val="ACAFB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4D4D4D"/>
        </a:dk2>
        <a:lt2>
          <a:srgbClr val="85978F"/>
        </a:lt2>
        <a:accent1>
          <a:srgbClr val="9DA499"/>
        </a:accent1>
        <a:accent2>
          <a:srgbClr val="A5B9BA"/>
        </a:accent2>
        <a:accent3>
          <a:srgbClr val="FFFFFF"/>
        </a:accent3>
        <a:accent4>
          <a:srgbClr val="404040"/>
        </a:accent4>
        <a:accent5>
          <a:srgbClr val="CCCFCA"/>
        </a:accent5>
        <a:accent6>
          <a:srgbClr val="95A7A8"/>
        </a:accent6>
        <a:hlink>
          <a:srgbClr val="ABB4A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4D4D4D"/>
        </a:dk2>
        <a:lt2>
          <a:srgbClr val="484847"/>
        </a:lt2>
        <a:accent1>
          <a:srgbClr val="7C7C74"/>
        </a:accent1>
        <a:accent2>
          <a:srgbClr val="AFB2AA"/>
        </a:accent2>
        <a:accent3>
          <a:srgbClr val="FFFFFF"/>
        </a:accent3>
        <a:accent4>
          <a:srgbClr val="404040"/>
        </a:accent4>
        <a:accent5>
          <a:srgbClr val="BFBFBC"/>
        </a:accent5>
        <a:accent6>
          <a:srgbClr val="9EA19A"/>
        </a:accent6>
        <a:hlink>
          <a:srgbClr val="D4D2C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4D4D4D"/>
        </a:dk2>
        <a:lt2>
          <a:srgbClr val="18191C"/>
        </a:lt2>
        <a:accent1>
          <a:srgbClr val="1F2229"/>
        </a:accent1>
        <a:accent2>
          <a:srgbClr val="3B4A61"/>
        </a:accent2>
        <a:accent3>
          <a:srgbClr val="FFFFFF"/>
        </a:accent3>
        <a:accent4>
          <a:srgbClr val="404040"/>
        </a:accent4>
        <a:accent5>
          <a:srgbClr val="ABABAC"/>
        </a:accent5>
        <a:accent6>
          <a:srgbClr val="354257"/>
        </a:accent6>
        <a:hlink>
          <a:srgbClr val="718CA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4D4D4D"/>
        </a:dk2>
        <a:lt2>
          <a:srgbClr val="3E3B55"/>
        </a:lt2>
        <a:accent1>
          <a:srgbClr val="8D8DC2"/>
        </a:accent1>
        <a:accent2>
          <a:srgbClr val="777777"/>
        </a:accent2>
        <a:accent3>
          <a:srgbClr val="FFFFFF"/>
        </a:accent3>
        <a:accent4>
          <a:srgbClr val="404040"/>
        </a:accent4>
        <a:accent5>
          <a:srgbClr val="C5C5DD"/>
        </a:accent5>
        <a:accent6>
          <a:srgbClr val="6B6B6B"/>
        </a:accent6>
        <a:hlink>
          <a:srgbClr val="C0C0C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4">
        <a:dk1>
          <a:srgbClr val="4D4D4D"/>
        </a:dk1>
        <a:lt1>
          <a:srgbClr val="FFFFFF"/>
        </a:lt1>
        <a:dk2>
          <a:srgbClr val="4D4D4D"/>
        </a:dk2>
        <a:lt2>
          <a:srgbClr val="26231E"/>
        </a:lt2>
        <a:accent1>
          <a:srgbClr val="D69F8C"/>
        </a:accent1>
        <a:accent2>
          <a:srgbClr val="AD8D82"/>
        </a:accent2>
        <a:accent3>
          <a:srgbClr val="FFFFFF"/>
        </a:accent3>
        <a:accent4>
          <a:srgbClr val="404040"/>
        </a:accent4>
        <a:accent5>
          <a:srgbClr val="E8CDC5"/>
        </a:accent5>
        <a:accent6>
          <a:srgbClr val="9C7F75"/>
        </a:accent6>
        <a:hlink>
          <a:srgbClr val="676068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5">
        <a:dk1>
          <a:srgbClr val="4D4D4D"/>
        </a:dk1>
        <a:lt1>
          <a:srgbClr val="FFFFFF"/>
        </a:lt1>
        <a:dk2>
          <a:srgbClr val="4D4D4D"/>
        </a:dk2>
        <a:lt2>
          <a:srgbClr val="1F1111"/>
        </a:lt2>
        <a:accent1>
          <a:srgbClr val="393939"/>
        </a:accent1>
        <a:accent2>
          <a:srgbClr val="727272"/>
        </a:accent2>
        <a:accent3>
          <a:srgbClr val="FFFFFF"/>
        </a:accent3>
        <a:accent4>
          <a:srgbClr val="404040"/>
        </a:accent4>
        <a:accent5>
          <a:srgbClr val="AEAEAE"/>
        </a:accent5>
        <a:accent6>
          <a:srgbClr val="676767"/>
        </a:accent6>
        <a:hlink>
          <a:srgbClr val="D4242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</TotalTime>
  <Words>540</Words>
  <Application>Microsoft Office PowerPoint</Application>
  <PresentationFormat>On-screen Show (4:3)</PresentationFormat>
  <Paragraphs>118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굴림</vt:lpstr>
      <vt:lpstr>Arial</vt:lpstr>
      <vt:lpstr>Tahoma</vt:lpstr>
      <vt:lpstr>Verdana</vt:lpstr>
      <vt:lpstr>Wingdings</vt:lpstr>
      <vt:lpstr>template</vt:lpstr>
      <vt:lpstr>Custom Design</vt:lpstr>
      <vt:lpstr>BUOYANCY,DIVING AND PHYSIOLOGICAL RESPONSES TO PROLONGED DIVES</vt:lpstr>
      <vt:lpstr>CONTENTS</vt:lpstr>
      <vt:lpstr>INTRODUCTIONTR</vt:lpstr>
      <vt:lpstr>INTRODUCTION CONT’D</vt:lpstr>
      <vt:lpstr> BUOYANCY </vt:lpstr>
      <vt:lpstr> DIVING </vt:lpstr>
      <vt:lpstr>TYPES OF DIVING</vt:lpstr>
      <vt:lpstr>ORGAN SYSTEMS INVOLVED IN PHYSIOLOGICAL RESPONSES</vt:lpstr>
      <vt:lpstr> PHYSIOLOGICAL RESPONSES TO PROLONGED DIVES </vt:lpstr>
      <vt:lpstr>PHYSIOLOGICAL RESPONSES TO PROLONGED DIVES CONT’D</vt:lpstr>
      <vt:lpstr>PHYSIOLOGICAL RESPONSES TO PROLONGED DIVES CONT’D</vt:lpstr>
      <vt:lpstr> IMPORTANCE OF PHYSIOLOGICAL RESPONSES TO PROLONGED DIVES  </vt:lpstr>
      <vt:lpstr>IMPORTANCE OF BUOYANCY IN DIVING</vt:lpstr>
      <vt:lpstr>CONCLUSION</vt:lpstr>
      <vt:lpstr>REFERENCES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Maurice .</cp:lastModifiedBy>
  <cp:revision>137</cp:revision>
  <dcterms:created xsi:type="dcterms:W3CDTF">2006-06-13T13:38:55Z</dcterms:created>
  <dcterms:modified xsi:type="dcterms:W3CDTF">2023-08-02T05:59:39Z</dcterms:modified>
</cp:coreProperties>
</file>