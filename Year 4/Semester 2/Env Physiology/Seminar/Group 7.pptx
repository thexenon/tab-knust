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8" r:id="rId7"/>
    <p:sldId id="264" r:id="rId8"/>
    <p:sldId id="266" r:id="rId9"/>
    <p:sldId id="267" r:id="rId10"/>
    <p:sldId id="265"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7/20/23</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7/20/23</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7/20/23</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who.int/globalchange/publications/heat-and-health/en/%20/t%20_blank%2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4E137-4BA1-2253-BE53-CD3BBE33D0A8}"/>
              </a:ext>
            </a:extLst>
          </p:cNvPr>
          <p:cNvSpPr>
            <a:spLocks noGrp="1"/>
          </p:cNvSpPr>
          <p:nvPr>
            <p:ph type="ctrTitle"/>
          </p:nvPr>
        </p:nvSpPr>
        <p:spPr/>
        <p:txBody>
          <a:bodyPr>
            <a:normAutofit fontScale="90000"/>
          </a:bodyPr>
          <a:lstStyle/>
          <a:p>
            <a:r>
              <a:rPr lang="en-US" sz="8000" dirty="0"/>
              <a:t>Cause and effect of heat waves on man</a:t>
            </a:r>
            <a:endParaRPr lang="en-GH" sz="8000" dirty="0"/>
          </a:p>
        </p:txBody>
      </p:sp>
      <p:sp>
        <p:nvSpPr>
          <p:cNvPr id="3" name="Subtitle 2">
            <a:extLst>
              <a:ext uri="{FF2B5EF4-FFF2-40B4-BE49-F238E27FC236}">
                <a16:creationId xmlns:a16="http://schemas.microsoft.com/office/drawing/2014/main" id="{5CD797AB-F3F9-121C-C7AA-4463CDE4AD18}"/>
              </a:ext>
            </a:extLst>
          </p:cNvPr>
          <p:cNvSpPr>
            <a:spLocks noGrp="1"/>
          </p:cNvSpPr>
          <p:nvPr>
            <p:ph type="subTitle" idx="1"/>
          </p:nvPr>
        </p:nvSpPr>
        <p:spPr/>
        <p:txBody>
          <a:bodyPr>
            <a:noAutofit/>
          </a:bodyPr>
          <a:lstStyle/>
          <a:p>
            <a:r>
              <a:rPr lang="en-US" sz="3800" dirty="0"/>
              <a:t>A PRESENTATION BY GROUP SEVEN(7)</a:t>
            </a:r>
            <a:endParaRPr lang="en-GH" sz="3800" dirty="0"/>
          </a:p>
        </p:txBody>
      </p:sp>
    </p:spTree>
    <p:extLst>
      <p:ext uri="{BB962C8B-B14F-4D97-AF65-F5344CB8AC3E}">
        <p14:creationId xmlns:p14="http://schemas.microsoft.com/office/powerpoint/2010/main" val="2358738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D7C2E-7E9E-5103-315B-C6B781AA4F8E}"/>
              </a:ext>
            </a:extLst>
          </p:cNvPr>
          <p:cNvSpPr>
            <a:spLocks noGrp="1"/>
          </p:cNvSpPr>
          <p:nvPr>
            <p:ph type="title"/>
          </p:nvPr>
        </p:nvSpPr>
        <p:spPr/>
        <p:txBody>
          <a:bodyPr>
            <a:normAutofit/>
          </a:bodyPr>
          <a:lstStyle/>
          <a:p>
            <a:r>
              <a:rPr lang="en-US" sz="4000" b="1" dirty="0"/>
              <a:t>OUTLINE</a:t>
            </a:r>
            <a:endParaRPr lang="en-GH" sz="4000" b="1" dirty="0"/>
          </a:p>
        </p:txBody>
      </p:sp>
      <p:sp>
        <p:nvSpPr>
          <p:cNvPr id="3" name="Content Placeholder 2">
            <a:extLst>
              <a:ext uri="{FF2B5EF4-FFF2-40B4-BE49-F238E27FC236}">
                <a16:creationId xmlns:a16="http://schemas.microsoft.com/office/drawing/2014/main" id="{A31E398F-9909-052A-9621-670E3327F1FA}"/>
              </a:ext>
            </a:extLst>
          </p:cNvPr>
          <p:cNvSpPr>
            <a:spLocks noGrp="1"/>
          </p:cNvSpPr>
          <p:nvPr>
            <p:ph idx="1"/>
          </p:nvPr>
        </p:nvSpPr>
        <p:spPr/>
        <p:txBody>
          <a:bodyPr>
            <a:noAutofit/>
          </a:bodyPr>
          <a:lstStyle/>
          <a:p>
            <a:r>
              <a:rPr lang="en-US" sz="3000" dirty="0"/>
              <a:t>Introduction</a:t>
            </a:r>
          </a:p>
          <a:p>
            <a:r>
              <a:rPr lang="en-US" sz="3000" dirty="0"/>
              <a:t>Causes of Heat Waves</a:t>
            </a:r>
          </a:p>
          <a:p>
            <a:r>
              <a:rPr lang="en-US" sz="3000" dirty="0"/>
              <a:t>Effect of Heat Waves</a:t>
            </a:r>
          </a:p>
          <a:p>
            <a:r>
              <a:rPr lang="en-US" sz="3000" dirty="0"/>
              <a:t>Physiological response of organisms to heatwaves</a:t>
            </a:r>
          </a:p>
          <a:p>
            <a:r>
              <a:rPr lang="en-US" sz="3000" dirty="0"/>
              <a:t>Reducing The Impact Of Heat Waves</a:t>
            </a:r>
          </a:p>
          <a:p>
            <a:r>
              <a:rPr lang="en-US" sz="3000" dirty="0"/>
              <a:t>Conclusion</a:t>
            </a:r>
          </a:p>
          <a:p>
            <a:r>
              <a:rPr lang="en-US" sz="3000" dirty="0"/>
              <a:t>References </a:t>
            </a:r>
            <a:endParaRPr lang="en-GH" sz="3000" dirty="0"/>
          </a:p>
        </p:txBody>
      </p:sp>
    </p:spTree>
    <p:extLst>
      <p:ext uri="{BB962C8B-B14F-4D97-AF65-F5344CB8AC3E}">
        <p14:creationId xmlns:p14="http://schemas.microsoft.com/office/powerpoint/2010/main" val="2916075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285B9-115F-A60B-302E-EBD247829308}"/>
              </a:ext>
            </a:extLst>
          </p:cNvPr>
          <p:cNvSpPr>
            <a:spLocks noGrp="1"/>
          </p:cNvSpPr>
          <p:nvPr>
            <p:ph type="title"/>
          </p:nvPr>
        </p:nvSpPr>
        <p:spPr/>
        <p:txBody>
          <a:bodyPr>
            <a:normAutofit/>
          </a:bodyPr>
          <a:lstStyle/>
          <a:p>
            <a:r>
              <a:rPr lang="en-US" sz="4000" b="1" dirty="0"/>
              <a:t>Introduction</a:t>
            </a:r>
            <a:endParaRPr lang="en-GH" sz="4000" b="1" dirty="0"/>
          </a:p>
        </p:txBody>
      </p:sp>
      <p:sp>
        <p:nvSpPr>
          <p:cNvPr id="3" name="Content Placeholder 2">
            <a:extLst>
              <a:ext uri="{FF2B5EF4-FFF2-40B4-BE49-F238E27FC236}">
                <a16:creationId xmlns:a16="http://schemas.microsoft.com/office/drawing/2014/main" id="{7523FB77-9889-651E-A465-B375442A8765}"/>
              </a:ext>
            </a:extLst>
          </p:cNvPr>
          <p:cNvSpPr>
            <a:spLocks noGrp="1"/>
          </p:cNvSpPr>
          <p:nvPr>
            <p:ph idx="1"/>
          </p:nvPr>
        </p:nvSpPr>
        <p:spPr/>
        <p:txBody>
          <a:bodyPr>
            <a:noAutofit/>
          </a:bodyPr>
          <a:lstStyle/>
          <a:p>
            <a:r>
              <a:rPr lang="en-GB" sz="3500" b="0" i="0" u="none" strike="noStrike" dirty="0">
                <a:solidFill>
                  <a:srgbClr val="000000"/>
                </a:solidFill>
                <a:effectLst/>
                <a:latin typeface="-webkit-standard"/>
              </a:rPr>
              <a:t>A heat wave, or extreme heat, is a period of abnormally hot weather</a:t>
            </a:r>
            <a:r>
              <a:rPr lang="en-US" sz="3500" b="0" i="0" u="none" strike="noStrike" dirty="0">
                <a:solidFill>
                  <a:srgbClr val="000000"/>
                </a:solidFill>
                <a:effectLst/>
                <a:latin typeface="-webkit-standard"/>
              </a:rPr>
              <a:t>,</a:t>
            </a:r>
            <a:r>
              <a:rPr lang="en-GB" sz="3500" b="0" i="0" u="none" strike="noStrike" dirty="0">
                <a:solidFill>
                  <a:srgbClr val="000000"/>
                </a:solidFill>
                <a:effectLst/>
                <a:latin typeface="-webkit-standard"/>
              </a:rPr>
              <a:t> often accompanied by high humidity, especially in oceanic climate countries.</a:t>
            </a:r>
            <a:endParaRPr lang="en-US" sz="3500" b="0" i="0" u="none" strike="noStrike" dirty="0">
              <a:solidFill>
                <a:srgbClr val="000000"/>
              </a:solidFill>
              <a:effectLst/>
              <a:latin typeface="-webkit-standard"/>
            </a:endParaRPr>
          </a:p>
          <a:p>
            <a:r>
              <a:rPr lang="en-US" sz="3500" dirty="0">
                <a:solidFill>
                  <a:srgbClr val="000000"/>
                </a:solidFill>
                <a:latin typeface="-webkit-standard"/>
              </a:rPr>
              <a:t>An in</a:t>
            </a:r>
            <a:r>
              <a:rPr lang="en-US" sz="3500" b="0" i="0" u="none" strike="noStrike" dirty="0">
                <a:solidFill>
                  <a:srgbClr val="000000"/>
                </a:solidFill>
                <a:effectLst/>
                <a:latin typeface="-webkit-standard"/>
              </a:rPr>
              <a:t>crease in average maximum temperature by 5°C or more for more than 5 consecutive days can be termed as a heat wave.</a:t>
            </a:r>
            <a:endParaRPr lang="en-GH" sz="3500" dirty="0"/>
          </a:p>
        </p:txBody>
      </p:sp>
    </p:spTree>
    <p:extLst>
      <p:ext uri="{BB962C8B-B14F-4D97-AF65-F5344CB8AC3E}">
        <p14:creationId xmlns:p14="http://schemas.microsoft.com/office/powerpoint/2010/main" val="1620167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8E11-DD26-DB2B-485F-9CCDBFF05E73}"/>
              </a:ext>
            </a:extLst>
          </p:cNvPr>
          <p:cNvSpPr>
            <a:spLocks noGrp="1"/>
          </p:cNvSpPr>
          <p:nvPr>
            <p:ph type="title"/>
          </p:nvPr>
        </p:nvSpPr>
        <p:spPr/>
        <p:txBody>
          <a:bodyPr>
            <a:normAutofit/>
          </a:bodyPr>
          <a:lstStyle/>
          <a:p>
            <a:r>
              <a:rPr lang="en-US" sz="4000" b="1" dirty="0"/>
              <a:t>Introduction</a:t>
            </a:r>
            <a:endParaRPr lang="en-GH" sz="4000" dirty="0"/>
          </a:p>
        </p:txBody>
      </p:sp>
      <p:sp>
        <p:nvSpPr>
          <p:cNvPr id="3" name="Content Placeholder 2">
            <a:extLst>
              <a:ext uri="{FF2B5EF4-FFF2-40B4-BE49-F238E27FC236}">
                <a16:creationId xmlns:a16="http://schemas.microsoft.com/office/drawing/2014/main" id="{AB3BA606-55CE-E854-D384-2FEE386CFEAB}"/>
              </a:ext>
            </a:extLst>
          </p:cNvPr>
          <p:cNvSpPr>
            <a:spLocks noGrp="1"/>
          </p:cNvSpPr>
          <p:nvPr>
            <p:ph idx="1"/>
          </p:nvPr>
        </p:nvSpPr>
        <p:spPr/>
        <p:txBody>
          <a:bodyPr>
            <a:normAutofit/>
          </a:bodyPr>
          <a:lstStyle/>
          <a:p>
            <a:pPr marL="0" indent="0">
              <a:buNone/>
            </a:pPr>
            <a:r>
              <a:rPr lang="en-GB" sz="3500" b="0" i="0" u="none" strike="noStrike" dirty="0">
                <a:solidFill>
                  <a:srgbClr val="000000"/>
                </a:solidFill>
                <a:effectLst/>
                <a:latin typeface="-webkit-standard"/>
              </a:rPr>
              <a:t>Temperatures that people from a hotter climate consider normal can be called a heat wave in a cooler area if they are outside the normal climate pattern</a:t>
            </a:r>
            <a:r>
              <a:rPr lang="en-US" sz="3500" b="0" i="0" u="none" strike="noStrike" dirty="0">
                <a:solidFill>
                  <a:srgbClr val="000000"/>
                </a:solidFill>
                <a:effectLst/>
                <a:latin typeface="-webkit-standard"/>
              </a:rPr>
              <a:t>. On going global warming has increased the frequency, duration and intensity of heat waves.</a:t>
            </a:r>
            <a:endParaRPr lang="en-US" sz="3500" dirty="0"/>
          </a:p>
        </p:txBody>
      </p:sp>
    </p:spTree>
    <p:extLst>
      <p:ext uri="{BB962C8B-B14F-4D97-AF65-F5344CB8AC3E}">
        <p14:creationId xmlns:p14="http://schemas.microsoft.com/office/powerpoint/2010/main" val="2774583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43453-8ADE-8AD9-95C5-8A19920812B3}"/>
              </a:ext>
            </a:extLst>
          </p:cNvPr>
          <p:cNvSpPr>
            <a:spLocks noGrp="1"/>
          </p:cNvSpPr>
          <p:nvPr>
            <p:ph type="title"/>
          </p:nvPr>
        </p:nvSpPr>
        <p:spPr/>
        <p:txBody>
          <a:bodyPr/>
          <a:lstStyle/>
          <a:p>
            <a:r>
              <a:rPr lang="en-US" b="1" dirty="0"/>
              <a:t>Causes of heatwaves</a:t>
            </a:r>
            <a:endParaRPr lang="en-GH" b="1" dirty="0"/>
          </a:p>
        </p:txBody>
      </p:sp>
      <p:sp>
        <p:nvSpPr>
          <p:cNvPr id="3" name="Content Placeholder 2">
            <a:extLst>
              <a:ext uri="{FF2B5EF4-FFF2-40B4-BE49-F238E27FC236}">
                <a16:creationId xmlns:a16="http://schemas.microsoft.com/office/drawing/2014/main" id="{913DB634-BF0B-E731-D2DB-8AF58F21FB6D}"/>
              </a:ext>
            </a:extLst>
          </p:cNvPr>
          <p:cNvSpPr>
            <a:spLocks noGrp="1"/>
          </p:cNvSpPr>
          <p:nvPr>
            <p:ph idx="1"/>
          </p:nvPr>
        </p:nvSpPr>
        <p:spPr/>
        <p:txBody>
          <a:bodyPr>
            <a:normAutofit fontScale="92500" lnSpcReduction="20000"/>
          </a:bodyPr>
          <a:lstStyle/>
          <a:p>
            <a:r>
              <a:rPr lang="en-GB" sz="3800" b="0" i="0" u="none" strike="noStrike" dirty="0">
                <a:solidFill>
                  <a:srgbClr val="000000"/>
                </a:solidFill>
                <a:effectLst/>
              </a:rPr>
              <a:t>Climate change</a:t>
            </a:r>
          </a:p>
          <a:p>
            <a:r>
              <a:rPr lang="en-GB" sz="3800" b="0" i="0" u="none" strike="noStrike" dirty="0">
                <a:solidFill>
                  <a:srgbClr val="000000"/>
                </a:solidFill>
                <a:effectLst/>
              </a:rPr>
              <a:t>Geography and topography</a:t>
            </a:r>
          </a:p>
          <a:p>
            <a:r>
              <a:rPr lang="en-GB" sz="3800" b="0" i="0" u="none" strike="noStrike" dirty="0">
                <a:solidFill>
                  <a:srgbClr val="000000"/>
                </a:solidFill>
                <a:effectLst/>
              </a:rPr>
              <a:t>Drought and dry conditions</a:t>
            </a:r>
          </a:p>
          <a:p>
            <a:r>
              <a:rPr lang="en-GB" sz="3800" b="0" i="0" u="none" strike="noStrike" dirty="0">
                <a:solidFill>
                  <a:srgbClr val="000000"/>
                </a:solidFill>
                <a:effectLst/>
              </a:rPr>
              <a:t>Lack of cloud cover</a:t>
            </a:r>
          </a:p>
          <a:p>
            <a:r>
              <a:rPr lang="en-GB" sz="3800" b="0" i="0" u="none" strike="noStrike" dirty="0">
                <a:solidFill>
                  <a:srgbClr val="000000"/>
                </a:solidFill>
                <a:effectLst/>
              </a:rPr>
              <a:t>High pressure systems</a:t>
            </a:r>
          </a:p>
          <a:p>
            <a:endParaRPr lang="en-GH" dirty="0"/>
          </a:p>
        </p:txBody>
      </p:sp>
    </p:spTree>
    <p:extLst>
      <p:ext uri="{BB962C8B-B14F-4D97-AF65-F5344CB8AC3E}">
        <p14:creationId xmlns:p14="http://schemas.microsoft.com/office/powerpoint/2010/main" val="166021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3ACD-9368-A4BA-33B5-472D934F9EE2}"/>
              </a:ext>
            </a:extLst>
          </p:cNvPr>
          <p:cNvSpPr>
            <a:spLocks noGrp="1"/>
          </p:cNvSpPr>
          <p:nvPr>
            <p:ph type="title"/>
          </p:nvPr>
        </p:nvSpPr>
        <p:spPr/>
        <p:txBody>
          <a:bodyPr>
            <a:normAutofit fontScale="90000"/>
          </a:bodyPr>
          <a:lstStyle/>
          <a:p>
            <a:r>
              <a:rPr lang="en-US" sz="4000" b="1" dirty="0"/>
              <a:t>Effects of heatwaves on organisms </a:t>
            </a:r>
            <a:endParaRPr lang="en-GH" sz="4000" b="1" dirty="0"/>
          </a:p>
        </p:txBody>
      </p:sp>
      <p:sp>
        <p:nvSpPr>
          <p:cNvPr id="3" name="Content Placeholder 2">
            <a:extLst>
              <a:ext uri="{FF2B5EF4-FFF2-40B4-BE49-F238E27FC236}">
                <a16:creationId xmlns:a16="http://schemas.microsoft.com/office/drawing/2014/main" id="{57E54800-6906-E4E5-4832-AA5EC6548F10}"/>
              </a:ext>
            </a:extLst>
          </p:cNvPr>
          <p:cNvSpPr>
            <a:spLocks noGrp="1"/>
          </p:cNvSpPr>
          <p:nvPr>
            <p:ph idx="1"/>
          </p:nvPr>
        </p:nvSpPr>
        <p:spPr/>
        <p:txBody>
          <a:bodyPr>
            <a:noAutofit/>
          </a:bodyPr>
          <a:lstStyle/>
          <a:p>
            <a:r>
              <a:rPr lang="en-US" sz="3500" b="1" dirty="0">
                <a:solidFill>
                  <a:srgbClr val="121212"/>
                </a:solidFill>
              </a:rPr>
              <a:t> </a:t>
            </a:r>
            <a:r>
              <a:rPr lang="en-US" sz="3500" dirty="0">
                <a:solidFill>
                  <a:srgbClr val="121212"/>
                </a:solidFill>
              </a:rPr>
              <a:t>Decrease food intake </a:t>
            </a:r>
          </a:p>
          <a:p>
            <a:r>
              <a:rPr lang="en-US" sz="3500" dirty="0">
                <a:solidFill>
                  <a:srgbClr val="121212"/>
                </a:solidFill>
              </a:rPr>
              <a:t>Decrease in growth rate</a:t>
            </a:r>
          </a:p>
          <a:p>
            <a:r>
              <a:rPr lang="en-US" sz="3500" dirty="0">
                <a:solidFill>
                  <a:srgbClr val="121212"/>
                </a:solidFill>
              </a:rPr>
              <a:t>Decreased Immune Function </a:t>
            </a:r>
          </a:p>
          <a:p>
            <a:r>
              <a:rPr lang="en-US" sz="3500" dirty="0">
                <a:solidFill>
                  <a:srgbClr val="121212"/>
                </a:solidFill>
              </a:rPr>
              <a:t>Increased risk of pathological infections</a:t>
            </a:r>
          </a:p>
        </p:txBody>
      </p:sp>
    </p:spTree>
    <p:extLst>
      <p:ext uri="{BB962C8B-B14F-4D97-AF65-F5344CB8AC3E}">
        <p14:creationId xmlns:p14="http://schemas.microsoft.com/office/powerpoint/2010/main" val="12347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3ACD-9368-A4BA-33B5-472D934F9EE2}"/>
              </a:ext>
            </a:extLst>
          </p:cNvPr>
          <p:cNvSpPr>
            <a:spLocks noGrp="1"/>
          </p:cNvSpPr>
          <p:nvPr>
            <p:ph type="title"/>
          </p:nvPr>
        </p:nvSpPr>
        <p:spPr/>
        <p:txBody>
          <a:bodyPr>
            <a:normAutofit fontScale="90000"/>
          </a:bodyPr>
          <a:lstStyle/>
          <a:p>
            <a:r>
              <a:rPr lang="en-US" sz="4000" b="1" dirty="0"/>
              <a:t>Effects of heatwaves on human health </a:t>
            </a:r>
            <a:endParaRPr lang="en-GH" sz="4000" b="1" dirty="0"/>
          </a:p>
        </p:txBody>
      </p:sp>
      <p:sp>
        <p:nvSpPr>
          <p:cNvPr id="3" name="Content Placeholder 2">
            <a:extLst>
              <a:ext uri="{FF2B5EF4-FFF2-40B4-BE49-F238E27FC236}">
                <a16:creationId xmlns:a16="http://schemas.microsoft.com/office/drawing/2014/main" id="{57E54800-6906-E4E5-4832-AA5EC6548F10}"/>
              </a:ext>
            </a:extLst>
          </p:cNvPr>
          <p:cNvSpPr>
            <a:spLocks noGrp="1"/>
          </p:cNvSpPr>
          <p:nvPr>
            <p:ph idx="1"/>
          </p:nvPr>
        </p:nvSpPr>
        <p:spPr/>
        <p:txBody>
          <a:bodyPr>
            <a:noAutofit/>
          </a:bodyPr>
          <a:lstStyle/>
          <a:p>
            <a:r>
              <a:rPr lang="en-US" sz="3500" b="1" dirty="0">
                <a:solidFill>
                  <a:srgbClr val="121212"/>
                </a:solidFill>
              </a:rPr>
              <a:t> </a:t>
            </a:r>
            <a:r>
              <a:rPr lang="en-US" sz="3500" dirty="0">
                <a:solidFill>
                  <a:srgbClr val="121212"/>
                </a:solidFill>
              </a:rPr>
              <a:t>Mortality </a:t>
            </a:r>
          </a:p>
          <a:p>
            <a:r>
              <a:rPr lang="en-US" sz="3500" dirty="0">
                <a:solidFill>
                  <a:srgbClr val="121212"/>
                </a:solidFill>
              </a:rPr>
              <a:t>Cardiovascular and respiratory issues</a:t>
            </a:r>
          </a:p>
          <a:p>
            <a:r>
              <a:rPr lang="en-US" sz="3500" b="0" i="0" u="none" strike="noStrike" dirty="0">
                <a:solidFill>
                  <a:srgbClr val="121212"/>
                </a:solidFill>
                <a:effectLst/>
              </a:rPr>
              <a:t>Complications with pregnancy </a:t>
            </a:r>
          </a:p>
          <a:p>
            <a:r>
              <a:rPr lang="en-US" sz="3500" dirty="0">
                <a:solidFill>
                  <a:srgbClr val="121212"/>
                </a:solidFill>
              </a:rPr>
              <a:t>Chronic kidney disease </a:t>
            </a:r>
          </a:p>
          <a:p>
            <a:r>
              <a:rPr lang="en-US" sz="3500" b="0" i="0" u="none" strike="noStrike" dirty="0">
                <a:solidFill>
                  <a:srgbClr val="121212"/>
                </a:solidFill>
                <a:effectLst/>
              </a:rPr>
              <a:t>Heat stroke </a:t>
            </a:r>
            <a:r>
              <a:rPr lang="en-US" sz="3500" b="0" i="0" u="none" strike="noStrike">
                <a:solidFill>
                  <a:srgbClr val="121212"/>
                </a:solidFill>
                <a:effectLst/>
              </a:rPr>
              <a:t>and hyperthermia </a:t>
            </a:r>
            <a:endParaRPr lang="en-US" sz="3500" b="0" i="0" u="none" strike="noStrike" dirty="0">
              <a:solidFill>
                <a:srgbClr val="121212"/>
              </a:solidFill>
              <a:effectLst/>
            </a:endParaRPr>
          </a:p>
        </p:txBody>
      </p:sp>
    </p:spTree>
    <p:extLst>
      <p:ext uri="{BB962C8B-B14F-4D97-AF65-F5344CB8AC3E}">
        <p14:creationId xmlns:p14="http://schemas.microsoft.com/office/powerpoint/2010/main" val="889787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3ACD-9368-A4BA-33B5-472D934F9EE2}"/>
              </a:ext>
            </a:extLst>
          </p:cNvPr>
          <p:cNvSpPr>
            <a:spLocks noGrp="1"/>
          </p:cNvSpPr>
          <p:nvPr>
            <p:ph type="title"/>
          </p:nvPr>
        </p:nvSpPr>
        <p:spPr/>
        <p:txBody>
          <a:bodyPr>
            <a:normAutofit fontScale="90000"/>
          </a:bodyPr>
          <a:lstStyle/>
          <a:p>
            <a:r>
              <a:rPr lang="en-US" sz="4000" b="1" dirty="0"/>
              <a:t>Effects of heatwaves On The Environment</a:t>
            </a:r>
            <a:endParaRPr lang="en-GH" sz="4000" b="1" dirty="0"/>
          </a:p>
        </p:txBody>
      </p:sp>
      <p:sp>
        <p:nvSpPr>
          <p:cNvPr id="3" name="Content Placeholder 2">
            <a:extLst>
              <a:ext uri="{FF2B5EF4-FFF2-40B4-BE49-F238E27FC236}">
                <a16:creationId xmlns:a16="http://schemas.microsoft.com/office/drawing/2014/main" id="{57E54800-6906-E4E5-4832-AA5EC6548F10}"/>
              </a:ext>
            </a:extLst>
          </p:cNvPr>
          <p:cNvSpPr>
            <a:spLocks noGrp="1"/>
          </p:cNvSpPr>
          <p:nvPr>
            <p:ph idx="1"/>
          </p:nvPr>
        </p:nvSpPr>
        <p:spPr/>
        <p:txBody>
          <a:bodyPr>
            <a:noAutofit/>
          </a:bodyPr>
          <a:lstStyle/>
          <a:p>
            <a:r>
              <a:rPr lang="en-US" sz="3500" dirty="0">
                <a:solidFill>
                  <a:srgbClr val="121212"/>
                </a:solidFill>
                <a:latin typeface="Times New Roman" panose="02020603050405020304" pitchFamily="18" charset="0"/>
              </a:rPr>
              <a:t>Infrastructural damage</a:t>
            </a:r>
          </a:p>
          <a:p>
            <a:r>
              <a:rPr lang="en-US" sz="3500" i="0" u="none" strike="noStrike" dirty="0">
                <a:solidFill>
                  <a:srgbClr val="121212"/>
                </a:solidFill>
                <a:effectLst/>
                <a:latin typeface="Times New Roman" panose="02020603050405020304" pitchFamily="18" charset="0"/>
              </a:rPr>
              <a:t>Bush fires</a:t>
            </a:r>
          </a:p>
          <a:p>
            <a:r>
              <a:rPr lang="en-US" sz="3500" i="0" u="none" strike="noStrike" dirty="0">
                <a:solidFill>
                  <a:srgbClr val="121212"/>
                </a:solidFill>
                <a:effectLst/>
                <a:latin typeface="Times New Roman" panose="02020603050405020304" pitchFamily="18" charset="0"/>
              </a:rPr>
              <a:t>Drought </a:t>
            </a:r>
          </a:p>
          <a:p>
            <a:r>
              <a:rPr lang="en-US" sz="3500" dirty="0">
                <a:solidFill>
                  <a:srgbClr val="121212"/>
                </a:solidFill>
                <a:latin typeface="Times New Roman" panose="02020603050405020304" pitchFamily="18" charset="0"/>
              </a:rPr>
              <a:t>Heat stress</a:t>
            </a:r>
            <a:endParaRPr lang="en-US" sz="3500" i="0" u="none" strike="noStrike" dirty="0">
              <a:solidFill>
                <a:srgbClr val="121212"/>
              </a:solidFill>
              <a:effectLst/>
              <a:latin typeface="Times New Roman" panose="02020603050405020304" pitchFamily="18" charset="0"/>
            </a:endParaRPr>
          </a:p>
        </p:txBody>
      </p:sp>
    </p:spTree>
    <p:extLst>
      <p:ext uri="{BB962C8B-B14F-4D97-AF65-F5344CB8AC3E}">
        <p14:creationId xmlns:p14="http://schemas.microsoft.com/office/powerpoint/2010/main" val="3226931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63CB6-5ACB-C352-7521-B18CB9EF7E19}"/>
              </a:ext>
            </a:extLst>
          </p:cNvPr>
          <p:cNvSpPr>
            <a:spLocks noGrp="1"/>
          </p:cNvSpPr>
          <p:nvPr>
            <p:ph type="title"/>
          </p:nvPr>
        </p:nvSpPr>
        <p:spPr/>
        <p:txBody>
          <a:bodyPr>
            <a:noAutofit/>
          </a:bodyPr>
          <a:lstStyle/>
          <a:p>
            <a:r>
              <a:rPr lang="en-US" sz="4000" b="1" dirty="0"/>
              <a:t>Physiological response of organisms to heatwaves</a:t>
            </a:r>
            <a:endParaRPr lang="en-GH" sz="4000" b="1" dirty="0"/>
          </a:p>
        </p:txBody>
      </p:sp>
      <p:sp>
        <p:nvSpPr>
          <p:cNvPr id="3" name="Content Placeholder 2">
            <a:extLst>
              <a:ext uri="{FF2B5EF4-FFF2-40B4-BE49-F238E27FC236}">
                <a16:creationId xmlns:a16="http://schemas.microsoft.com/office/drawing/2014/main" id="{CDF4112D-356C-FCAF-29F3-FFF4CFB763BF}"/>
              </a:ext>
            </a:extLst>
          </p:cNvPr>
          <p:cNvSpPr>
            <a:spLocks noGrp="1"/>
          </p:cNvSpPr>
          <p:nvPr>
            <p:ph idx="1"/>
          </p:nvPr>
        </p:nvSpPr>
        <p:spPr/>
        <p:txBody>
          <a:bodyPr>
            <a:noAutofit/>
          </a:bodyPr>
          <a:lstStyle/>
          <a:p>
            <a:r>
              <a:rPr lang="en-US" sz="3500" dirty="0"/>
              <a:t>Periphery vasodilation to increase thermal conductance.</a:t>
            </a:r>
          </a:p>
          <a:p>
            <a:r>
              <a:rPr lang="en-US" sz="3500" dirty="0"/>
              <a:t>Secretion of sweat for evaporative cooling.</a:t>
            </a:r>
          </a:p>
          <a:p>
            <a:r>
              <a:rPr lang="en-US" sz="3500" dirty="0"/>
              <a:t>Increase in rate of respiration to aid in acid base balance during heat exposure.</a:t>
            </a:r>
            <a:endParaRPr lang="en-GH" sz="3500" dirty="0"/>
          </a:p>
        </p:txBody>
      </p:sp>
    </p:spTree>
    <p:extLst>
      <p:ext uri="{BB962C8B-B14F-4D97-AF65-F5344CB8AC3E}">
        <p14:creationId xmlns:p14="http://schemas.microsoft.com/office/powerpoint/2010/main" val="295366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5858-E2D4-13A3-B262-7195175F31D1}"/>
              </a:ext>
            </a:extLst>
          </p:cNvPr>
          <p:cNvSpPr>
            <a:spLocks noGrp="1"/>
          </p:cNvSpPr>
          <p:nvPr>
            <p:ph type="title"/>
          </p:nvPr>
        </p:nvSpPr>
        <p:spPr/>
        <p:txBody>
          <a:bodyPr>
            <a:noAutofit/>
          </a:bodyPr>
          <a:lstStyle/>
          <a:p>
            <a:r>
              <a:rPr lang="en-US" sz="4000" b="1" dirty="0"/>
              <a:t>Reducing the impact of heatwaves</a:t>
            </a:r>
            <a:endParaRPr lang="en-GH" sz="4000" b="1" dirty="0"/>
          </a:p>
        </p:txBody>
      </p:sp>
      <p:sp>
        <p:nvSpPr>
          <p:cNvPr id="3" name="Content Placeholder 2">
            <a:extLst>
              <a:ext uri="{FF2B5EF4-FFF2-40B4-BE49-F238E27FC236}">
                <a16:creationId xmlns:a16="http://schemas.microsoft.com/office/drawing/2014/main" id="{B4CA36A8-CDCC-869C-8D7D-E8730958B6F4}"/>
              </a:ext>
            </a:extLst>
          </p:cNvPr>
          <p:cNvSpPr>
            <a:spLocks noGrp="1"/>
          </p:cNvSpPr>
          <p:nvPr>
            <p:ph idx="1"/>
          </p:nvPr>
        </p:nvSpPr>
        <p:spPr/>
        <p:txBody>
          <a:bodyPr>
            <a:normAutofit/>
          </a:bodyPr>
          <a:lstStyle/>
          <a:p>
            <a:r>
              <a:rPr lang="en-GB" sz="3500" b="0" i="0" u="none" strike="noStrike" dirty="0">
                <a:solidFill>
                  <a:srgbClr val="121212"/>
                </a:solidFill>
                <a:effectLst/>
              </a:rPr>
              <a:t>Increase shade around </a:t>
            </a:r>
            <a:r>
              <a:rPr lang="en-US" sz="3500" b="0" i="0" u="none" strike="noStrike" dirty="0">
                <a:solidFill>
                  <a:srgbClr val="121212"/>
                </a:solidFill>
                <a:effectLst/>
              </a:rPr>
              <a:t>the house</a:t>
            </a:r>
          </a:p>
          <a:p>
            <a:r>
              <a:rPr lang="en-GB" sz="3500" b="0" i="0" u="none" strike="noStrike" dirty="0">
                <a:solidFill>
                  <a:srgbClr val="121212"/>
                </a:solidFill>
                <a:effectLst/>
              </a:rPr>
              <a:t>Install green roofs</a:t>
            </a:r>
            <a:endParaRPr lang="en-US" sz="3500" b="0" i="0" u="none" strike="noStrike" dirty="0">
              <a:solidFill>
                <a:srgbClr val="121212"/>
              </a:solidFill>
              <a:effectLst/>
            </a:endParaRPr>
          </a:p>
          <a:p>
            <a:r>
              <a:rPr lang="en-GB" sz="3500" b="0" i="0" u="none" strike="noStrike" dirty="0">
                <a:solidFill>
                  <a:srgbClr val="121212"/>
                </a:solidFill>
                <a:effectLst/>
              </a:rPr>
              <a:t>Install cool roofs</a:t>
            </a:r>
            <a:endParaRPr lang="en-US" sz="3500" b="0" i="0" u="none" strike="noStrike" dirty="0">
              <a:solidFill>
                <a:srgbClr val="121212"/>
              </a:solidFill>
              <a:effectLst/>
            </a:endParaRPr>
          </a:p>
          <a:p>
            <a:r>
              <a:rPr lang="en-GB" sz="3500" b="0" i="0" u="none" strike="noStrike" dirty="0">
                <a:solidFill>
                  <a:srgbClr val="121212"/>
                </a:solidFill>
                <a:effectLst/>
              </a:rPr>
              <a:t>Use energy-efficient appliances and equipment</a:t>
            </a:r>
            <a:endParaRPr lang="en-US" sz="3500" b="0" i="0" u="none" strike="noStrike" dirty="0">
              <a:solidFill>
                <a:srgbClr val="121212"/>
              </a:solidFill>
              <a:effectLst/>
            </a:endParaRPr>
          </a:p>
          <a:p>
            <a:endParaRPr lang="en-GH" sz="3500" dirty="0"/>
          </a:p>
        </p:txBody>
      </p:sp>
    </p:spTree>
    <p:extLst>
      <p:ext uri="{BB962C8B-B14F-4D97-AF65-F5344CB8AC3E}">
        <p14:creationId xmlns:p14="http://schemas.microsoft.com/office/powerpoint/2010/main" val="3796978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4326A-7F5F-19D3-74A5-4D218E882B33}"/>
              </a:ext>
            </a:extLst>
          </p:cNvPr>
          <p:cNvSpPr>
            <a:spLocks noGrp="1"/>
          </p:cNvSpPr>
          <p:nvPr>
            <p:ph type="title"/>
          </p:nvPr>
        </p:nvSpPr>
        <p:spPr/>
        <p:txBody>
          <a:bodyPr/>
          <a:lstStyle/>
          <a:p>
            <a:r>
              <a:rPr lang="en-US" sz="4000" b="1" dirty="0"/>
              <a:t>Conclusion</a:t>
            </a:r>
            <a:r>
              <a:rPr lang="en-US" b="1" dirty="0"/>
              <a:t> </a:t>
            </a:r>
            <a:endParaRPr lang="en-GH" b="1" dirty="0"/>
          </a:p>
        </p:txBody>
      </p:sp>
      <p:sp>
        <p:nvSpPr>
          <p:cNvPr id="3" name="Content Placeholder 2">
            <a:extLst>
              <a:ext uri="{FF2B5EF4-FFF2-40B4-BE49-F238E27FC236}">
                <a16:creationId xmlns:a16="http://schemas.microsoft.com/office/drawing/2014/main" id="{13DBABDF-D057-C044-01E6-0EBD3C6A850D}"/>
              </a:ext>
            </a:extLst>
          </p:cNvPr>
          <p:cNvSpPr>
            <a:spLocks noGrp="1"/>
          </p:cNvSpPr>
          <p:nvPr>
            <p:ph idx="1"/>
          </p:nvPr>
        </p:nvSpPr>
        <p:spPr/>
        <p:txBody>
          <a:bodyPr>
            <a:noAutofit/>
          </a:bodyPr>
          <a:lstStyle/>
          <a:p>
            <a:pPr marL="0" indent="0">
              <a:buNone/>
            </a:pPr>
            <a:r>
              <a:rPr lang="en-GB" sz="3300" b="0" i="0" u="none" strike="noStrike" dirty="0">
                <a:solidFill>
                  <a:srgbClr val="000000"/>
                </a:solidFill>
                <a:effectLst/>
              </a:rPr>
              <a:t>To cope with heatwaves and maintain homeostasis during extreme heat, it is essential to stay hydrated, avoid prolonged exposure to heat, seek cooler environments, and use cooling measures like fans or air conditioning when possible.</a:t>
            </a:r>
          </a:p>
          <a:p>
            <a:pPr marL="0" indent="0">
              <a:buNone/>
            </a:pPr>
            <a:endParaRPr lang="en-GH" sz="3300" dirty="0"/>
          </a:p>
        </p:txBody>
      </p:sp>
    </p:spTree>
    <p:extLst>
      <p:ext uri="{BB962C8B-B14F-4D97-AF65-F5344CB8AC3E}">
        <p14:creationId xmlns:p14="http://schemas.microsoft.com/office/powerpoint/2010/main" val="1175697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F64C4-7B8D-8722-C497-D4D3C813F051}"/>
              </a:ext>
            </a:extLst>
          </p:cNvPr>
          <p:cNvSpPr>
            <a:spLocks noGrp="1"/>
          </p:cNvSpPr>
          <p:nvPr>
            <p:ph type="title"/>
          </p:nvPr>
        </p:nvSpPr>
        <p:spPr/>
        <p:txBody>
          <a:bodyPr>
            <a:normAutofit/>
          </a:bodyPr>
          <a:lstStyle/>
          <a:p>
            <a:r>
              <a:rPr lang="en-US" sz="4000" b="1" dirty="0"/>
              <a:t>References </a:t>
            </a:r>
            <a:endParaRPr lang="en-GH" sz="4000" b="1" dirty="0"/>
          </a:p>
        </p:txBody>
      </p:sp>
      <p:sp>
        <p:nvSpPr>
          <p:cNvPr id="3" name="Content Placeholder 2">
            <a:extLst>
              <a:ext uri="{FF2B5EF4-FFF2-40B4-BE49-F238E27FC236}">
                <a16:creationId xmlns:a16="http://schemas.microsoft.com/office/drawing/2014/main" id="{791A5A81-1EC2-27DD-F5EA-5D411ED65EB5}"/>
              </a:ext>
            </a:extLst>
          </p:cNvPr>
          <p:cNvSpPr>
            <a:spLocks noGrp="1"/>
          </p:cNvSpPr>
          <p:nvPr>
            <p:ph idx="1"/>
          </p:nvPr>
        </p:nvSpPr>
        <p:spPr/>
        <p:txBody>
          <a:bodyPr>
            <a:noAutofit/>
          </a:bodyPr>
          <a:lstStyle/>
          <a:p>
            <a:r>
              <a:rPr lang="en-GB" sz="2400" b="0" i="0" u="none" strike="noStrike" dirty="0" err="1">
                <a:solidFill>
                  <a:srgbClr val="000000"/>
                </a:solidFill>
                <a:effectLst/>
                <a:latin typeface="-webkit-standard"/>
              </a:rPr>
              <a:t>Stolwijk</a:t>
            </a:r>
            <a:r>
              <a:rPr lang="en-GB" sz="2400" b="0" i="0" u="none" strike="noStrike" dirty="0">
                <a:solidFill>
                  <a:srgbClr val="000000"/>
                </a:solidFill>
                <a:effectLst/>
                <a:latin typeface="-webkit-standard"/>
              </a:rPr>
              <a:t> JA. Responses to the thermal environment. Fed Proc. 1977 </a:t>
            </a:r>
            <a:r>
              <a:rPr lang="en-GB" sz="2400" b="0" i="0" u="none" strike="noStrike" dirty="0" err="1">
                <a:solidFill>
                  <a:srgbClr val="000000"/>
                </a:solidFill>
                <a:effectLst/>
                <a:latin typeface="-webkit-standard"/>
              </a:rPr>
              <a:t>Apr;36</a:t>
            </a:r>
            <a:r>
              <a:rPr lang="en-GB" sz="2400" b="0" i="0" u="none" strike="noStrike" dirty="0">
                <a:solidFill>
                  <a:srgbClr val="000000"/>
                </a:solidFill>
                <a:effectLst/>
                <a:latin typeface="-webkit-standard"/>
              </a:rPr>
              <a:t>(5):1655-8. PMID: 844610.</a:t>
            </a:r>
            <a:endParaRPr lang="en-US" sz="2400" b="0" i="0" u="none" strike="noStrike" dirty="0">
              <a:solidFill>
                <a:srgbClr val="000000"/>
              </a:solidFill>
              <a:effectLst/>
              <a:latin typeface="-webkit-standard"/>
            </a:endParaRPr>
          </a:p>
          <a:p>
            <a:r>
              <a:rPr lang="en-GB" sz="2400" b="0" i="1" u="none" strike="noStrike" dirty="0">
                <a:solidFill>
                  <a:srgbClr val="121212"/>
                </a:solidFill>
                <a:effectLst/>
                <a:latin typeface="Times New Roman" panose="02020603050405020304" pitchFamily="18" charset="0"/>
              </a:rPr>
              <a:t>What you can do to reduce heat islands | US EPA</a:t>
            </a:r>
            <a:r>
              <a:rPr lang="en-GB" sz="2400" b="0" i="0" u="none" strike="noStrike" dirty="0">
                <a:solidFill>
                  <a:srgbClr val="121212"/>
                </a:solidFill>
                <a:effectLst/>
                <a:latin typeface="Times New Roman" panose="02020603050405020304" pitchFamily="18" charset="0"/>
              </a:rPr>
              <a:t>. (2023, July 10). US EPA. https://</a:t>
            </a:r>
            <a:r>
              <a:rPr lang="en-GB" sz="2400" b="0" i="0" u="none" strike="noStrike" dirty="0" err="1">
                <a:solidFill>
                  <a:srgbClr val="121212"/>
                </a:solidFill>
                <a:effectLst/>
                <a:latin typeface="Times New Roman" panose="02020603050405020304" pitchFamily="18" charset="0"/>
              </a:rPr>
              <a:t>www.epa.gov</a:t>
            </a:r>
            <a:r>
              <a:rPr lang="en-GB" sz="2400" b="0" i="0" u="none" strike="noStrike" dirty="0">
                <a:solidFill>
                  <a:srgbClr val="121212"/>
                </a:solidFill>
                <a:effectLst/>
                <a:latin typeface="Times New Roman" panose="02020603050405020304" pitchFamily="18" charset="0"/>
              </a:rPr>
              <a:t>/</a:t>
            </a:r>
            <a:r>
              <a:rPr lang="en-GB" sz="2400" b="0" i="0" u="none" strike="noStrike" dirty="0" err="1">
                <a:solidFill>
                  <a:srgbClr val="121212"/>
                </a:solidFill>
                <a:effectLst/>
                <a:latin typeface="Times New Roman" panose="02020603050405020304" pitchFamily="18" charset="0"/>
              </a:rPr>
              <a:t>heatislands</a:t>
            </a:r>
            <a:r>
              <a:rPr lang="en-GB" sz="2400" b="0" i="0" u="none" strike="noStrike" dirty="0">
                <a:solidFill>
                  <a:srgbClr val="121212"/>
                </a:solidFill>
                <a:effectLst/>
                <a:latin typeface="Times New Roman" panose="02020603050405020304" pitchFamily="18" charset="0"/>
              </a:rPr>
              <a:t>/what-you-can-do-reduce-heat-islands</a:t>
            </a:r>
            <a:r>
              <a:rPr lang="en-GB" sz="2400" b="0" i="0" u="none" strike="noStrike" dirty="0">
                <a:solidFill>
                  <a:srgbClr val="000000"/>
                </a:solidFill>
                <a:effectLst/>
                <a:latin typeface="-webkit-standard"/>
              </a:rPr>
              <a:t> </a:t>
            </a:r>
          </a:p>
          <a:p>
            <a:r>
              <a:rPr lang="en-GB" sz="2400" b="0" i="0" u="none" strike="noStrike" dirty="0">
                <a:solidFill>
                  <a:srgbClr val="000000"/>
                </a:solidFill>
                <a:effectLst/>
                <a:latin typeface="-webkit-standard"/>
              </a:rPr>
              <a:t> </a:t>
            </a:r>
            <a:r>
              <a:rPr lang="en-GB" sz="2400" b="0" i="0" u="none" strike="noStrike" dirty="0">
                <a:solidFill>
                  <a:srgbClr val="000000"/>
                </a:solidFill>
                <a:effectLst/>
                <a:latin typeface="Times New Roman" panose="02020603050405020304" pitchFamily="18" charset="0"/>
              </a:rPr>
              <a:t>World Health Organization, Information and public health advice: heat and health, online, available: </a:t>
            </a:r>
            <a:r>
              <a:rPr lang="en-GB" sz="2400" b="0" i="0" u="none" strike="noStrike" dirty="0">
                <a:solidFill>
                  <a:srgbClr val="0B0080"/>
                </a:solidFill>
                <a:effectLst/>
                <a:latin typeface="Times New Roman" panose="02020603050405020304" pitchFamily="18" charset="0"/>
                <a:hlinkClick r:id="rId2"/>
              </a:rPr>
              <a:t>https://www.who.int/</a:t>
            </a:r>
            <a:r>
              <a:rPr lang="en-GB" sz="2400" b="0" i="0" u="none" strike="noStrike" dirty="0" err="1">
                <a:solidFill>
                  <a:srgbClr val="0B0080"/>
                </a:solidFill>
                <a:effectLst/>
                <a:latin typeface="Times New Roman" panose="02020603050405020304" pitchFamily="18" charset="0"/>
                <a:hlinkClick r:id="rId2"/>
              </a:rPr>
              <a:t>globalchange</a:t>
            </a:r>
            <a:r>
              <a:rPr lang="en-GB" sz="2400" b="0" i="0" u="none" strike="noStrike" dirty="0">
                <a:solidFill>
                  <a:srgbClr val="0B0080"/>
                </a:solidFill>
                <a:effectLst/>
                <a:latin typeface="Times New Roman" panose="02020603050405020304" pitchFamily="18" charset="0"/>
                <a:hlinkClick r:id="rId2"/>
              </a:rPr>
              <a:t>/publications/heat-and-health/en/</a:t>
            </a:r>
            <a:r>
              <a:rPr lang="en-GB" sz="2400" b="0" i="0" u="none" strike="noStrike" dirty="0">
                <a:solidFill>
                  <a:srgbClr val="000000"/>
                </a:solidFill>
                <a:effectLst/>
                <a:latin typeface="Times New Roman" panose="02020603050405020304" pitchFamily="18" charset="0"/>
              </a:rPr>
              <a:t>accessed April 13th, 2020.</a:t>
            </a:r>
            <a:endParaRPr lang="en-GB" sz="2400" b="0" i="0" u="none" strike="noStrike" dirty="0">
              <a:solidFill>
                <a:srgbClr val="000000"/>
              </a:solidFill>
              <a:effectLst/>
              <a:latin typeface="-webkit-standard"/>
            </a:endParaRPr>
          </a:p>
          <a:p>
            <a:endParaRPr lang="en-GH" sz="2400" dirty="0"/>
          </a:p>
        </p:txBody>
      </p:sp>
    </p:spTree>
    <p:extLst>
      <p:ext uri="{BB962C8B-B14F-4D97-AF65-F5344CB8AC3E}">
        <p14:creationId xmlns:p14="http://schemas.microsoft.com/office/powerpoint/2010/main" val="362320770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Gallery</vt:lpstr>
      <vt:lpstr>Cause and effect of heat waves on man</vt:lpstr>
      <vt:lpstr>OUTLINE</vt:lpstr>
      <vt:lpstr>Introduction</vt:lpstr>
      <vt:lpstr>Introduction</vt:lpstr>
      <vt:lpstr>Causes of heatwaves</vt:lpstr>
      <vt:lpstr>Effects of heatwaves on organisms </vt:lpstr>
      <vt:lpstr>Effects of heatwaves on human health </vt:lpstr>
      <vt:lpstr>Effects of heatwaves On The Environment</vt:lpstr>
      <vt:lpstr>Physiological response of organisms to heatwaves</vt:lpstr>
      <vt:lpstr>Reducing the impact of heatwaves</vt:lpstr>
      <vt:lpstr>Conclusion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Cause and effect of heat waves on man</dc:title>
  <dc:creator>Godson Ansah</dc:creator>
  <cp:lastModifiedBy>Godson Ansah</cp:lastModifiedBy>
  <cp:revision>2</cp:revision>
  <dcterms:created xsi:type="dcterms:W3CDTF">2023-07-19T23:27:33Z</dcterms:created>
  <dcterms:modified xsi:type="dcterms:W3CDTF">2023-07-20T13:22:04Z</dcterms:modified>
</cp:coreProperties>
</file>