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503" r:id="rId2"/>
    <p:sldId id="472" r:id="rId3"/>
    <p:sldId id="504" r:id="rId4"/>
    <p:sldId id="505" r:id="rId5"/>
    <p:sldId id="506" r:id="rId6"/>
    <p:sldId id="516" r:id="rId7"/>
    <p:sldId id="507" r:id="rId8"/>
    <p:sldId id="508" r:id="rId9"/>
    <p:sldId id="509" r:id="rId10"/>
    <p:sldId id="518" r:id="rId11"/>
    <p:sldId id="511" r:id="rId12"/>
    <p:sldId id="520" r:id="rId13"/>
    <p:sldId id="521" r:id="rId14"/>
    <p:sldId id="522" r:id="rId15"/>
    <p:sldId id="523" r:id="rId16"/>
    <p:sldId id="524" r:id="rId17"/>
    <p:sldId id="52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8DF"/>
    <a:srgbClr val="F6C702"/>
    <a:srgbClr val="00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1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62" y="32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070D9-CE4C-4523-84E5-2BCC360EF90C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DD320-4E3A-4CB5-A0BC-F8EFFE6E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 /><Relationship Id="rId7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hyperlink" Target="https://www.facebook.com/knust.Ghana/" TargetMode="External" /><Relationship Id="rId5" Type="http://schemas.openxmlformats.org/officeDocument/2006/relationships/image" Target="../media/image2.jpg" /><Relationship Id="rId4" Type="http://schemas.openxmlformats.org/officeDocument/2006/relationships/hyperlink" Target="https://twitter.com/_knust_" TargetMode="Externa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075A-9D75-2B48-9A54-E569C7FF800C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12192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13360" y="241270"/>
              <a:ext cx="251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0123" y="68970"/>
              <a:ext cx="563237" cy="71680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0" y="1096019"/>
            <a:ext cx="10363200" cy="25417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914400" y="4666761"/>
            <a:ext cx="10363200" cy="159933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pPr algn="l"/>
            <a:endParaRPr lang="en-US" b="1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E489-CF82-AC41-8AC7-E64A8729DB92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71235"/>
            <a:ext cx="12191997" cy="586764"/>
            <a:chOff x="0" y="6271235"/>
            <a:chExt cx="9144000" cy="586764"/>
          </a:xfrm>
        </p:grpSpPr>
        <p:sp>
          <p:nvSpPr>
            <p:cNvPr id="8" name="Rectangle 7"/>
            <p:cNvSpPr/>
            <p:nvPr/>
          </p:nvSpPr>
          <p:spPr>
            <a:xfrm>
              <a:off x="0" y="6668022"/>
              <a:ext cx="9144000" cy="18997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271235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6489" y="6299719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8027214" y="6314438"/>
              <a:ext cx="1091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0538" y="6320348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7070" y="6308011"/>
              <a:ext cx="292217" cy="292217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3D96D2C-39D2-D146-949D-A56FF12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95127"/>
            <a:ext cx="11198086" cy="59269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8A6806-0C47-8F41-8CB1-123A74FCD28F}"/>
              </a:ext>
            </a:extLst>
          </p:cNvPr>
          <p:cNvCxnSpPr/>
          <p:nvPr userDrawn="1"/>
        </p:nvCxnSpPr>
        <p:spPr>
          <a:xfrm>
            <a:off x="1" y="924340"/>
            <a:ext cx="12207161" cy="0"/>
          </a:xfrm>
          <a:prstGeom prst="line">
            <a:avLst/>
          </a:prstGeom>
          <a:ln w="12700">
            <a:solidFill>
              <a:srgbClr val="00800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14474AE-41FC-854B-B962-6E0C929C5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2088"/>
            <a:ext cx="11198085" cy="51758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708" y="6278605"/>
            <a:ext cx="855784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fld id="{F4801FD5-11B4-DE43-ACA2-E85EEB9A6F9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5A64-44E2-AA44-BF0A-0A6EBB813A36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03D-75E3-FC4C-ABF8-DBE5552AD690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1834-423E-B246-A5D3-FE019AB1BCCC}" type="datetime1">
              <a:rPr lang="en-US" smtClean="0"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7CF7D-DEA7-4646-BF5A-8F86F47F55E0}" type="datetime1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EB0E7-5ABD-4248-BC89-2EF7B115D306}" type="datetime1">
              <a:rPr lang="en-US" smtClean="0"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25B47-57AB-1847-9A5E-9D0228DA2CF8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DC83-A974-8647-80C3-F692755FAEC3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B6AA-36AB-384C-89F5-D0AA3660A4E6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0C56-AED7-E349-A367-C56B569B58DD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52A24-3BDA-B749-BE6C-6289322D5558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8BB98A86-CDAD-8742-BF6D-81E5129D4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6164" y="4173380"/>
            <a:ext cx="4196503" cy="156441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Group </a:t>
            </a:r>
            <a:r>
              <a:rPr lang="en-GB" b="1" dirty="0">
                <a:solidFill>
                  <a:schemeClr val="tx1"/>
                </a:solidFill>
              </a:rPr>
              <a:t>27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1EFB1F-8D7C-2F44-8B60-6C24E97F6990}"/>
              </a:ext>
            </a:extLst>
          </p:cNvPr>
          <p:cNvSpPr txBox="1">
            <a:spLocks/>
          </p:cNvSpPr>
          <p:nvPr/>
        </p:nvSpPr>
        <p:spPr>
          <a:xfrm>
            <a:off x="2022442" y="5220146"/>
            <a:ext cx="8067605" cy="942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670482C-E2C1-E933-30D9-57A440857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781" y="1120210"/>
            <a:ext cx="10363200" cy="2357171"/>
          </a:xfrm>
        </p:spPr>
        <p:txBody>
          <a:bodyPr/>
          <a:lstStyle/>
          <a:p>
            <a:r>
              <a:rPr lang="en-GB" b="1" dirty="0"/>
              <a:t>PHYSIOLOGICAL RESPONSE AND EFFECTS OF HIGH ALTITUDE ON HUMANS </a:t>
            </a:r>
          </a:p>
        </p:txBody>
      </p:sp>
    </p:spTree>
    <p:extLst>
      <p:ext uri="{BB962C8B-B14F-4D97-AF65-F5344CB8AC3E}">
        <p14:creationId xmlns:p14="http://schemas.microsoft.com/office/powerpoint/2010/main" val="288887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1187-138B-B74D-8689-8AC58615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Outline of Presentation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924B8-FF7D-6649-A6E3-828075C4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845235-1DC7-1A44-A970-D7FBEF7C70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Introduction</a:t>
            </a:r>
            <a:endParaRPr lang="en-US" sz="3200" dirty="0"/>
          </a:p>
          <a:p>
            <a:r>
              <a:rPr lang="en-GB" sz="3200" dirty="0"/>
              <a:t>Physiological Response To High Altitudes.</a:t>
            </a:r>
          </a:p>
          <a:p>
            <a:r>
              <a:rPr lang="en-GB" sz="3200" dirty="0"/>
              <a:t>Effects on Humans.</a:t>
            </a:r>
            <a:endParaRPr lang="en-US" sz="3200" dirty="0"/>
          </a:p>
          <a:p>
            <a:r>
              <a:rPr lang="en-GB" sz="3200" dirty="0"/>
              <a:t>Advantages and Disadvantages Of living in High Altitudes </a:t>
            </a:r>
          </a:p>
          <a:p>
            <a:r>
              <a:rPr lang="en-GB" sz="3200" dirty="0"/>
              <a:t>Human Activities at High Altitudes.</a:t>
            </a:r>
            <a:endParaRPr lang="en-US" sz="3200" dirty="0"/>
          </a:p>
          <a:p>
            <a:r>
              <a:rPr lang="en-US" sz="3200" dirty="0"/>
              <a:t>Conclusion</a:t>
            </a:r>
          </a:p>
          <a:p>
            <a:endParaRPr lang="en-US" sz="3200" dirty="0"/>
          </a:p>
          <a:p>
            <a:endParaRPr lang="en-US" sz="3200" dirty="0"/>
          </a:p>
          <a:p>
            <a:endParaRPr lang="x-none" sz="3200" dirty="0"/>
          </a:p>
        </p:txBody>
      </p:sp>
    </p:spTree>
    <p:extLst>
      <p:ext uri="{BB962C8B-B14F-4D97-AF65-F5344CB8AC3E}">
        <p14:creationId xmlns:p14="http://schemas.microsoft.com/office/powerpoint/2010/main" val="193200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A77C-D457-F44B-B96F-4706B7AA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C90A-CABA-3542-A156-A15372BD68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altitude are elevations lying above 2400 meters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(8000 feet) above sea level.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most high-altitude 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 on earth</a:t>
            </a: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Mount Everest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the Himalayan Mountain Range.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0" i="0" dirty="0">
                <a:solidFill>
                  <a:srgbClr val="37415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GB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E0270-7EB9-AE47-9B2D-ADF2DAC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3F632F3-8D77-24DE-C558-C8B62B62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14" y="1546587"/>
            <a:ext cx="5619999" cy="463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6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4270"/>
            <a:ext cx="11198086" cy="592690"/>
          </a:xfrm>
        </p:spPr>
        <p:txBody>
          <a:bodyPr/>
          <a:lstStyle/>
          <a:p>
            <a:r>
              <a:rPr lang="en-GB" b="1" dirty="0"/>
              <a:t>Physiological Responses to High Altitude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708" y="954869"/>
            <a:ext cx="11720977" cy="51758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GB" sz="3200" dirty="0"/>
              <a:t>1.  </a:t>
            </a:r>
            <a:r>
              <a:rPr lang="en-US" sz="3200" dirty="0"/>
              <a:t>Hypoxia and Reduced Oxygen</a:t>
            </a:r>
            <a:r>
              <a:rPr lang="en-GB" sz="3200" dirty="0"/>
              <a:t> Levels</a:t>
            </a:r>
          </a:p>
          <a:p>
            <a:pPr marL="0" indent="0">
              <a:buNone/>
            </a:pPr>
            <a:r>
              <a:rPr lang="en-US" sz="3200" dirty="0"/>
              <a:t>At higher elevations, the partial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pressure of oxygen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 in the atmosphere decreases, leading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 to hypoxia.</a:t>
            </a:r>
            <a:r>
              <a:rPr lang="en-GB" sz="3200" dirty="0"/>
              <a:t> </a:t>
            </a:r>
            <a:r>
              <a:rPr lang="en-US" sz="3200" dirty="0"/>
              <a:t>Hypoxia affects the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oxygen saturation in the </a:t>
            </a:r>
            <a:r>
              <a:rPr lang="en-GB" sz="3200" dirty="0"/>
              <a:t> </a:t>
            </a:r>
            <a:r>
              <a:rPr lang="en-US" sz="3200" dirty="0"/>
              <a:t>blood, resulting in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lower oxygen availability to body tissues.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BB35A91-54A7-8D48-4CE1-BF5119DDB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5" y="954869"/>
            <a:ext cx="4934857" cy="517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1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14270"/>
            <a:ext cx="11198086" cy="592690"/>
          </a:xfrm>
        </p:spPr>
        <p:txBody>
          <a:bodyPr/>
          <a:lstStyle/>
          <a:p>
            <a:r>
              <a:rPr lang="en-GB" b="1" dirty="0"/>
              <a:t>Physiological Responses to High Altitude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002088"/>
            <a:ext cx="10518018" cy="5175827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 </a:t>
            </a:r>
            <a:r>
              <a:rPr lang="en-US" dirty="0"/>
              <a:t>Increased Breathing and Heart Rate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To compensate for the reduced oxygen, the body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 increases the rate of breathing and heart rate.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US" dirty="0"/>
              <a:t>This helps in delivering more oxygen to tissues 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and maintaining adequate blood circulation.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144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B58A-7954-7CA5-1F70-42112B54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00" y="-169357"/>
            <a:ext cx="11198086" cy="592690"/>
          </a:xfrm>
        </p:spPr>
        <p:txBody>
          <a:bodyPr/>
          <a:lstStyle/>
          <a:p>
            <a:r>
              <a:rPr lang="en-GB" b="1" dirty="0"/>
              <a:t>Physiological Responses to High Altitude </a:t>
            </a:r>
            <a:br>
              <a:rPr lang="en-US" b="1" dirty="0"/>
            </a:b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21B8-17C7-15C3-2412-6A5203A71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314" y="1103046"/>
            <a:ext cx="11384898" cy="53316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200" dirty="0"/>
              <a:t>3. Production of Erythropoietin and Increased.</a:t>
            </a:r>
          </a:p>
          <a:p>
            <a:pPr marL="0" indent="0">
              <a:buNone/>
            </a:pPr>
            <a:r>
              <a:rPr lang="en-GB" sz="3200" dirty="0"/>
              <a:t> Red Blood Cell Count.</a:t>
            </a:r>
          </a:p>
          <a:p>
            <a:pPr marL="0" indent="0">
              <a:buNone/>
            </a:pPr>
            <a:r>
              <a:rPr lang="en-GB" sz="3200" dirty="0"/>
              <a:t> Hypoxia triggers the release of erythropoietin, </a:t>
            </a:r>
          </a:p>
          <a:p>
            <a:pPr marL="0" indent="0">
              <a:buNone/>
            </a:pPr>
            <a:r>
              <a:rPr lang="en-GB" sz="3200" dirty="0"/>
              <a:t> a hormone </a:t>
            </a:r>
          </a:p>
          <a:p>
            <a:pPr marL="0" indent="0">
              <a:buNone/>
            </a:pPr>
            <a:r>
              <a:rPr lang="en-GB" sz="3200" dirty="0"/>
              <a:t> that stimulates the bone marrow to produce</a:t>
            </a:r>
          </a:p>
          <a:p>
            <a:pPr marL="0" indent="0">
              <a:buNone/>
            </a:pPr>
            <a:r>
              <a:rPr lang="en-GB" sz="3200"/>
              <a:t> more </a:t>
            </a:r>
            <a:r>
              <a:rPr lang="en-GB" sz="3200" dirty="0"/>
              <a:t>red blood cells. Increased red blood cell count </a:t>
            </a:r>
          </a:p>
          <a:p>
            <a:pPr marL="0" indent="0">
              <a:buNone/>
            </a:pPr>
            <a:r>
              <a:rPr lang="en-GB" sz="3200" dirty="0"/>
              <a:t>enhances oxygen-carrying capacity, aiding in adaptation to higher altitudes.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2463B-E11B-C48C-5267-ABD34FB3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60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4270"/>
            <a:ext cx="11198086" cy="592690"/>
          </a:xfrm>
        </p:spPr>
        <p:txBody>
          <a:bodyPr/>
          <a:lstStyle/>
          <a:p>
            <a:r>
              <a:rPr lang="en-US" sz="3200" b="1" dirty="0"/>
              <a:t>Acute Effects on Humans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BCAC7-305E-714A-6880-9C25364DA9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GB" sz="3200" dirty="0"/>
              <a:t>The effects of high altitude on humans are mostly </a:t>
            </a:r>
          </a:p>
          <a:p>
            <a:pPr marL="0" indent="0">
              <a:buNone/>
            </a:pPr>
            <a:r>
              <a:rPr lang="en-GB" sz="3200" dirty="0"/>
              <a:t>the consequences of reduced Partial pressure </a:t>
            </a:r>
          </a:p>
          <a:p>
            <a:pPr marL="0" indent="0">
              <a:buNone/>
            </a:pPr>
            <a:r>
              <a:rPr lang="en-GB" sz="3200" dirty="0"/>
              <a:t>of oxygen in the atmosphere. The oxygen saturation </a:t>
            </a:r>
          </a:p>
          <a:p>
            <a:pPr marL="0" indent="0">
              <a:buNone/>
            </a:pPr>
            <a:r>
              <a:rPr lang="en-GB" sz="3200" dirty="0"/>
              <a:t>of haemoglobin determines the content of oxygen in the blood.</a:t>
            </a:r>
          </a:p>
          <a:p>
            <a:pPr marL="0" indent="0">
              <a:buNone/>
            </a:pPr>
            <a:r>
              <a:rPr lang="en-GB" sz="3200" dirty="0"/>
              <a:t>After the human body reaches around 2100 metres (6900 </a:t>
            </a:r>
            <a:r>
              <a:rPr lang="en-GB" sz="3200" dirty="0" err="1"/>
              <a:t>ft</a:t>
            </a:r>
            <a:r>
              <a:rPr lang="en-GB" sz="3200" dirty="0"/>
              <a:t>)</a:t>
            </a:r>
          </a:p>
          <a:p>
            <a:pPr marL="0" indent="0">
              <a:buNone/>
            </a:pPr>
            <a:r>
              <a:rPr lang="en-GB" sz="3200" dirty="0"/>
              <a:t>above sea level, the saturation of </a:t>
            </a:r>
            <a:r>
              <a:rPr lang="en-GB" sz="3200" dirty="0" err="1"/>
              <a:t>oxyhaemoglobin</a:t>
            </a:r>
            <a:r>
              <a:rPr lang="en-GB" sz="3200" dirty="0"/>
              <a:t> begins </a:t>
            </a:r>
          </a:p>
          <a:p>
            <a:pPr marL="0" indent="0">
              <a:buNone/>
            </a:pPr>
            <a:r>
              <a:rPr lang="en-GB" sz="3200" dirty="0"/>
              <a:t>To decrease rapidly.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34492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4270"/>
            <a:ext cx="11198086" cy="592690"/>
          </a:xfrm>
        </p:spPr>
        <p:txBody>
          <a:bodyPr/>
          <a:lstStyle/>
          <a:p>
            <a:r>
              <a:rPr lang="en-US" sz="3600" b="1" dirty="0"/>
              <a:t>Acute Effects on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GB" sz="3200" dirty="0"/>
              <a:t>1. </a:t>
            </a:r>
            <a:r>
              <a:rPr lang="en-US" sz="3200" dirty="0"/>
              <a:t>Acute Mountain Sickness (AMS)</a:t>
            </a:r>
            <a:endParaRPr lang="en-GB" sz="3200" dirty="0"/>
          </a:p>
          <a:p>
            <a:pPr marL="0" indent="0">
              <a:buNone/>
            </a:pPr>
            <a:r>
              <a:rPr lang="en-GB" sz="3200" dirty="0"/>
              <a:t> </a:t>
            </a:r>
            <a:r>
              <a:rPr lang="en-US" sz="3200" dirty="0"/>
              <a:t>AMS is a common condition experienced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 by individuals rapidly ascending to high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 altitudes</a:t>
            </a:r>
            <a:r>
              <a:rPr lang="en-GB" sz="3200" dirty="0"/>
              <a:t>.</a:t>
            </a:r>
          </a:p>
          <a:p>
            <a:pPr marL="0" indent="0">
              <a:buNone/>
            </a:pPr>
            <a:r>
              <a:rPr lang="en-GB" sz="3200" dirty="0"/>
              <a:t> </a:t>
            </a:r>
            <a:r>
              <a:rPr lang="en-US" sz="3200" dirty="0"/>
              <a:t>Symptoms include headache, nausea,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dizziness,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fatigue, and difficulty sleeping</a:t>
            </a:r>
            <a:r>
              <a:rPr lang="en-GB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Gradual acclimatization and staying hydrated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can help prevent and alleviate 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8D65554-5BEF-0AA1-86D3-B992D1A05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952" y="1124856"/>
            <a:ext cx="4618341" cy="487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84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5984F-AC81-844C-E8BC-B406418D9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54614"/>
            <a:ext cx="11198085" cy="517582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GB" sz="3200" dirty="0"/>
              <a:t>2. </a:t>
            </a:r>
            <a:r>
              <a:rPr lang="en-US" sz="3200" dirty="0"/>
              <a:t>High Altitude Pulmonary Edema (HAPE)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HAPE is a severe condition involving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 fluid accumulation in the lungs due to increased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pulmonary artery pressure</a:t>
            </a:r>
            <a:r>
              <a:rPr lang="en-GB" sz="3200" dirty="0"/>
              <a:t>.</a:t>
            </a:r>
          </a:p>
          <a:p>
            <a:pPr marL="0" indent="0">
              <a:buNone/>
            </a:pPr>
            <a:r>
              <a:rPr lang="en-GB" sz="3200" dirty="0"/>
              <a:t> </a:t>
            </a:r>
            <a:r>
              <a:rPr lang="en-US" sz="3200" dirty="0"/>
              <a:t>Symptoms include shortness of breath,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cough with pink or frothy sputum, and weakness</a:t>
            </a:r>
            <a:r>
              <a:rPr lang="en-GB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Immediate descent and medical attention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 are essential for HAPE treatment.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BA810EE-65BB-3459-E45E-0BF2E0C69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14313"/>
            <a:ext cx="11198225" cy="5921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Garamond" panose="02020404030301010803" pitchFamily="18" charset="0"/>
                <a:ea typeface="+mj-ea"/>
                <a:cs typeface="+mj-cs"/>
              </a:defRPr>
            </a:lvl1pPr>
          </a:lstStyle>
          <a:p>
            <a:r>
              <a:rPr lang="en-US" sz="3600" b="1" dirty="0"/>
              <a:t>Acute Effects on Humans</a:t>
            </a:r>
          </a:p>
        </p:txBody>
      </p:sp>
    </p:spTree>
    <p:extLst>
      <p:ext uri="{BB962C8B-B14F-4D97-AF65-F5344CB8AC3E}">
        <p14:creationId xmlns:p14="http://schemas.microsoft.com/office/powerpoint/2010/main" val="25296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E337F-2A48-F055-8B9F-D789F207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6E50-1A80-4FCF-BFA0-D9754116A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945297"/>
            <a:ext cx="11198085" cy="51758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Effects of high altitude on the cardiovascular system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Increased heart rate and blood pressure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Decreased cardiac output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Risk of arrhythmias and heart failure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Effects of high altitude on the respiratory system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Increased respiratory rate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Decreased arterial oxygen saturation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Risk of pulmonary hypertension and respiratory failure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Effects of high altitude on the nervous system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Cognitive impairment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Headaches and dizziness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Risk of seizures and coma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785268D-0C54-FC28-A142-19A590EA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14270"/>
            <a:ext cx="11198086" cy="592690"/>
          </a:xfrm>
        </p:spPr>
        <p:txBody>
          <a:bodyPr/>
          <a:lstStyle/>
          <a:p>
            <a:r>
              <a:rPr lang="en-GB" b="1" dirty="0"/>
              <a:t>Effects Of High Altitude on Humans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943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EB587-7C66-28C0-841D-044F9178F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945297"/>
            <a:ext cx="11198085" cy="517582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3600" b="1" dirty="0"/>
              <a:t>Acclimatization Process</a:t>
            </a:r>
            <a:r>
              <a:rPr lang="en-GB" sz="3600" b="1" dirty="0"/>
              <a:t>.</a:t>
            </a:r>
          </a:p>
          <a:p>
            <a:pPr marL="0" indent="0">
              <a:buNone/>
            </a:pPr>
            <a:r>
              <a:rPr lang="en-US" sz="3600" dirty="0"/>
              <a:t>Acclimatization is the body's gradual adjustment</a:t>
            </a:r>
            <a:endParaRPr lang="en-GB" sz="3600" dirty="0"/>
          </a:p>
          <a:p>
            <a:pPr marL="0" indent="0">
              <a:buNone/>
            </a:pPr>
            <a:r>
              <a:rPr lang="en-US" sz="3600" dirty="0"/>
              <a:t> to higher altitudes over time.</a:t>
            </a:r>
            <a:endParaRPr lang="en-GB" sz="3600" dirty="0"/>
          </a:p>
          <a:p>
            <a:pPr marL="0" indent="0">
              <a:buNone/>
            </a:pPr>
            <a:r>
              <a:rPr lang="en-US" sz="3600" dirty="0"/>
              <a:t> </a:t>
            </a:r>
            <a:r>
              <a:rPr lang="en-GB" sz="3600" dirty="0"/>
              <a:t>It </a:t>
            </a:r>
            <a:r>
              <a:rPr lang="en-US" sz="3600" dirty="0"/>
              <a:t>involves physiological changes that improve oxygen utilization, such as increased ventilation and improved capillary density.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BAB216-4782-C695-4271-73AAB83A9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95126"/>
            <a:ext cx="11198086" cy="592690"/>
          </a:xfrm>
        </p:spPr>
        <p:txBody>
          <a:bodyPr/>
          <a:lstStyle/>
          <a:p>
            <a:r>
              <a:rPr lang="en-GB" b="1" dirty="0"/>
              <a:t>Effects of High Altitude on Humans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6164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E0A7-36F2-8486-7B84-FA22BFA1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 of  living in high altitudes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BCC87-3A8E-4D82-F94A-1E07955A2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945297"/>
            <a:ext cx="11198085" cy="5175827"/>
          </a:xfrm>
        </p:spPr>
        <p:txBody>
          <a:bodyPr/>
          <a:lstStyle/>
          <a:p>
            <a:pPr marL="0" indent="0">
              <a:buNone/>
            </a:pPr>
            <a:r>
              <a:rPr lang="en-GB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0"/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living at high altitudes </a:t>
            </a: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 a higher red blood cell count 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helps them carry more oxygen in their blood. 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can be an  advantage for athletes </a:t>
            </a:r>
            <a:r>
              <a:rPr lang="en-GB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compete at high altitude like cross country skiers and long distance runners.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 living in high altitudes are less likely to develop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certain health conditions like heart disease or stroke. 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0A8F1-5B99-66E4-75FA-AC0B136B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2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FE58-1DA0-A9F4-B26B-21EBC1FB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4270"/>
            <a:ext cx="11198086" cy="592690"/>
          </a:xfrm>
        </p:spPr>
        <p:txBody>
          <a:bodyPr/>
          <a:lstStyle/>
          <a:p>
            <a:r>
              <a:rPr lang="en-US" sz="4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 of living in high altitudes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4AC63-05DF-6064-175C-9F045E975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54869"/>
            <a:ext cx="11198085" cy="5175827"/>
          </a:xfrm>
        </p:spPr>
        <p:txBody>
          <a:bodyPr/>
          <a:lstStyle/>
          <a:p>
            <a:pPr marL="0" indent="0">
              <a:buNone/>
            </a:pPr>
            <a:r>
              <a:rPr lang="en-GB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lvl="0"/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Extreme weather conditions such as cold temperatures and strong winds 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Air here is very thin and dry which can cause breathing difficulties and dehydration .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E2039-2E09-3E64-15C0-A82729E8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936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90EC-7F9C-E796-AE8B-2C3C42C0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Human Activities at High Altitudes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70915-1722-7B4A-C256-3DEC923D3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002088"/>
            <a:ext cx="11198085" cy="5175827"/>
          </a:xfrm>
        </p:spPr>
        <p:txBody>
          <a:bodyPr>
            <a:normAutofit/>
          </a:bodyPr>
          <a:lstStyle/>
          <a:p>
            <a:r>
              <a:rPr lang="en-US" sz="3200" dirty="0"/>
              <a:t> Mountaineering and Climbing</a:t>
            </a:r>
            <a:r>
              <a:rPr lang="en-GB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Mountaineers face challenges due to reduced </a:t>
            </a:r>
            <a:endParaRPr lang="en-GB" sz="3200" dirty="0"/>
          </a:p>
          <a:p>
            <a:pPr marL="0" indent="0">
              <a:buNone/>
            </a:pPr>
            <a:r>
              <a:rPr lang="en-US" sz="3200" dirty="0"/>
              <a:t>oxygen levels, extreme weather conditions, and unpredictable terrain</a:t>
            </a:r>
            <a:r>
              <a:rPr lang="en-GB" sz="3200" dirty="0"/>
              <a:t>.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Aviation and Pilot Considerations. </a:t>
            </a:r>
          </a:p>
          <a:p>
            <a:pPr marL="0" indent="0">
              <a:buNone/>
            </a:pPr>
            <a:r>
              <a:rPr lang="en-GB" sz="3200" dirty="0"/>
              <a:t>Pilots flying at high altitudes must be aware of hypoxia risks and use supplemental oxygen when necessary.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Impact on Athletes and Sports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1529C-0417-31BB-FF34-AE678951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FBD5-9C2A-5530-BF0E-A8F45EDE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7B6CB-498D-266B-9DE2-4AD2555D4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945297"/>
            <a:ext cx="11198085" cy="5175827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sz="3600" dirty="0"/>
              <a:t>Understanding high altitude's effects on humans is vital. Proper acclimatization and preparation help mitigate risks and enhance experiences in these challenging environments.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35B53-BED6-2BD5-4C6E-9023037C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135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EA1C-B6B5-E255-0010-51425F4C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6D793-4FBE-01B3-1F22-EFF8725F44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GB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Young, Andrew J; Reeves, John T. 2002.</a:t>
            </a:r>
          </a:p>
          <a:p>
            <a:pPr lvl="0"/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Huey, Raymond B,; </a:t>
            </a:r>
            <a:r>
              <a:rPr lang="en-GB" sz="3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Eguskitza</a:t>
            </a:r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Xavier,(2</a:t>
            </a:r>
            <a:r>
              <a:rPr lang="en-GB" sz="3200" baseline="30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GB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July 2001)</a:t>
            </a:r>
          </a:p>
          <a:p>
            <a:pPr lvl="0"/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Roach, R. C., Hackett, P. H., &amp; </a:t>
            </a:r>
            <a:r>
              <a:rPr lang="en-US" sz="32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Oelz</a:t>
            </a: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O. (1993). Lake Louise AMS scoring consensus committee. The Lake Louise acute mountain sickness scoring system. In Sutton JR, Houston CS, Coates G (Eds.), Hypoxia and Mountain Medicine (pp. 272-274). Burlington, VT: Queen City Printers.</a:t>
            </a: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2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Bärtsch</a:t>
            </a: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P., &amp; Gibbs, J. S. (2007). Effect of altitude on the heart and the lungs. Circulation, 116(19), 2191-2202.</a:t>
            </a:r>
          </a:p>
          <a:p>
            <a:pPr marL="0" indent="0">
              <a:buNone/>
            </a:pPr>
            <a:endParaRPr lang="en-GB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F0C87-C59E-21E9-4E3D-BF845E16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1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274C-2D9A-CC01-37C3-04431991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Group Members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5A1C2-A750-3539-8D5A-14A073CDEF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Adjei</a:t>
            </a:r>
            <a:r>
              <a:rPr lang="en-US" dirty="0"/>
              <a:t> De-graft  9195119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Damoah</a:t>
            </a:r>
            <a:r>
              <a:rPr lang="en-US" dirty="0"/>
              <a:t> Grace 9206319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3: </a:t>
            </a:r>
            <a:r>
              <a:rPr lang="en-US" dirty="0" err="1"/>
              <a:t>Aidoo</a:t>
            </a:r>
            <a:r>
              <a:rPr lang="en-US" dirty="0"/>
              <a:t> </a:t>
            </a:r>
            <a:r>
              <a:rPr lang="en-US" dirty="0" err="1"/>
              <a:t>Newlove</a:t>
            </a:r>
            <a:r>
              <a:rPr lang="en-US" dirty="0"/>
              <a:t> 9197719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Kwofie</a:t>
            </a:r>
            <a:r>
              <a:rPr lang="en-US" dirty="0"/>
              <a:t> </a:t>
            </a:r>
            <a:r>
              <a:rPr lang="en-US" dirty="0" err="1"/>
              <a:t>Emmanuella</a:t>
            </a:r>
            <a:r>
              <a:rPr lang="en-US" dirty="0"/>
              <a:t> 9211719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dirty="0" err="1"/>
              <a:t>Amanin</a:t>
            </a:r>
            <a:r>
              <a:rPr lang="en-US" dirty="0"/>
              <a:t> </a:t>
            </a:r>
            <a:r>
              <a:rPr lang="en-US" dirty="0" err="1"/>
              <a:t>Kwarteng</a:t>
            </a:r>
            <a:r>
              <a:rPr lang="en-US" dirty="0"/>
              <a:t> </a:t>
            </a:r>
            <a:r>
              <a:rPr lang="en-US" dirty="0" err="1"/>
              <a:t>Abena</a:t>
            </a:r>
            <a:r>
              <a:rPr lang="en-US" dirty="0"/>
              <a:t> </a:t>
            </a:r>
            <a:r>
              <a:rPr lang="en-US" dirty="0" err="1"/>
              <a:t>Safowaa</a:t>
            </a:r>
            <a:r>
              <a:rPr lang="en-GB" dirty="0"/>
              <a:t> 9198319</a:t>
            </a:r>
          </a:p>
          <a:p>
            <a:pPr marL="0" indent="0">
              <a:buNone/>
            </a:pPr>
            <a:r>
              <a:rPr lang="en-GB" dirty="0"/>
              <a:t>6. Kelvin </a:t>
            </a:r>
            <a:r>
              <a:rPr lang="en-GB" dirty="0" err="1"/>
              <a:t>Oduro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A2E3D-C440-6B2F-E0CA-8351DE7D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30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30547</TotalTime>
  <Words>1118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PHYSIOLOGICAL RESPONSE AND EFFECTS OF HIGH ALTITUDE ON HUMANS </vt:lpstr>
      <vt:lpstr>Outline of Presentation</vt:lpstr>
      <vt:lpstr>Introduction </vt:lpstr>
      <vt:lpstr>Physiological Responses to High Altitude  </vt:lpstr>
      <vt:lpstr>Physiological Responses to High Altitude  </vt:lpstr>
      <vt:lpstr>Physiological Responses to High Altitude  </vt:lpstr>
      <vt:lpstr>Acute Effects on Humans</vt:lpstr>
      <vt:lpstr>Acute Effects on Humans</vt:lpstr>
      <vt:lpstr>Acute Effects on Humans</vt:lpstr>
      <vt:lpstr>Effects Of High Altitude on Humans</vt:lpstr>
      <vt:lpstr>Effects of High Altitude on Humans </vt:lpstr>
      <vt:lpstr>Advantages of  living in high altitudes</vt:lpstr>
      <vt:lpstr>Disadvantages of living in high altitudes </vt:lpstr>
      <vt:lpstr>Human Activities at High Altitudes</vt:lpstr>
      <vt:lpstr>CONCLUSION </vt:lpstr>
      <vt:lpstr>PowerPoint Presentation</vt:lpstr>
      <vt:lpstr>Group Members </vt:lpstr>
    </vt:vector>
  </TitlesOfParts>
  <Company>UPK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Unknown User</cp:lastModifiedBy>
  <cp:revision>182</cp:revision>
  <dcterms:created xsi:type="dcterms:W3CDTF">2016-11-07T15:28:41Z</dcterms:created>
  <dcterms:modified xsi:type="dcterms:W3CDTF">2023-08-02T08:40:39Z</dcterms:modified>
</cp:coreProperties>
</file>