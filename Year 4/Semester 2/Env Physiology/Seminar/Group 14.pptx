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67" r:id="rId6"/>
    <p:sldId id="259" r:id="rId7"/>
    <p:sldId id="270" r:id="rId8"/>
    <p:sldId id="260" r:id="rId9"/>
    <p:sldId id="261" r:id="rId10"/>
    <p:sldId id="271" r:id="rId11"/>
    <p:sldId id="269" r:id="rId12"/>
    <p:sldId id="265" r:id="rId13"/>
    <p:sldId id="266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-96" y="-2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Rectangle 2"/>
          <p:cNvSpPr>
            <a14:cpLocks xmlns:a14="http://schemas.microsoft.com/office/drawing/2010/main"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24" name="Rectangle 3"/>
          <p:cNvSpPr>
            <a14:cpLocks xmlns:a14="http://schemas.microsoft.com/office/drawing/2010/main"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25" name="Rectangle 4"/>
          <p:cNvSpPr>
            <a14:cpLocks xmlns:a14="http://schemas.microsoft.com/office/drawing/2010/main" noGrp="1" noRot="1" noChangeAspect="1" noChangeArrowheads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726" name="Rectangle 5"/>
          <p:cNvSpPr>
            <a14:cpLocks xmlns:a14="http://schemas.microsoft.com/office/drawing/2010/main"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048727" name="Rectangle 6"/>
          <p:cNvSpPr>
            <a14:cpLocks xmlns:a14="http://schemas.microsoft.com/office/drawing/2010/main"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28" name="Rectangle 7"/>
          <p:cNvSpPr>
            <a14:cpLocks xmlns:a14="http://schemas.microsoft.com/office/drawing/2010/main"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14:cpLocks xmlns:a14="http://schemas.microsoft.com/office/drawing/2010/main"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2" name="Subtitle 2"/>
          <p:cNvSpPr>
            <a14:cpLocks xmlns:a14="http://schemas.microsoft.com/office/drawing/2010/main"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583" name="Date Placeholder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1048584" name="Footer Placeholder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85" name="Slide Number Placeholder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91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92" name="Date Placeholder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1048593" name="Footer Placeholder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94" name="Slide Number Placeholder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62" name="Text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63" name="Date Placeholder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1048664" name="Footer Placeholder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65" name="Slide Number Placeholder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7" name="Content Placeholder 2"/>
          <p:cNvSpPr>
            <a14:cpLocks xmlns:a14="http://schemas.microsoft.com/office/drawing/2010/main"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98" name="Content Placeholder 3"/>
          <p:cNvSpPr>
            <a14:cpLocks xmlns:a14="http://schemas.microsoft.com/office/drawing/2010/main"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99" name="Date Placeholder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1048700" name="Footer Placeholder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01" name="Slide Number Placeholder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67" name="Text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68" name="Content Placeholder 3"/>
          <p:cNvSpPr>
            <a14:cpLocks xmlns:a14="http://schemas.microsoft.com/office/drawing/2010/main"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69" name="Text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70" name="Content Placeholder 5"/>
          <p:cNvSpPr>
            <a14:cpLocks xmlns:a14="http://schemas.microsoft.com/office/drawing/2010/main"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71" name="Date Placeholder 6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1048672" name="Footer Placeholder 7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73" name="Slide Number Placeholder 8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29" name="Date Placeholder 2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1048630" name="Footer Placeholder 3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31" name="Slide Number Placeholder 4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Date Placeholder 1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1048675" name="Footer Placeholder 2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76" name="Slide Number Placeholder 3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13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14" name="Text Placeholder 3"/>
          <p:cNvSpPr>
            <a14:cpLocks xmlns:a14="http://schemas.microsoft.com/office/drawing/2010/main"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715" name="Date Placeholder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1048716" name="Footer Placeholder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17" name="Slide Number Placeholder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43" name="Picture Placeholder 2"/>
          <p:cNvSpPr>
            <a14:cpLocks xmlns:a14="http://schemas.microsoft.com/office/drawing/2010/main"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44" name="Text Placeholder 3"/>
          <p:cNvSpPr>
            <a14:cpLocks xmlns:a14="http://schemas.microsoft.com/office/drawing/2010/main"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45" name="Date Placeholder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1048646" name="Footer Placeholder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47" name="Slide Number Placeholder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1" name="Picture Placeholder 2"/>
          <p:cNvSpPr>
            <a14:cpLocks xmlns:a14="http://schemas.microsoft.com/office/drawing/2010/main"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92" name="Text Placeholder 3"/>
          <p:cNvSpPr>
            <a14:cpLocks xmlns:a14="http://schemas.microsoft.com/office/drawing/2010/main"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93" name="Date Placeholder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1048694" name="Footer Placeholder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95" name="Slide Number Placeholder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38" name="Text Placeholder 3"/>
          <p:cNvSpPr>
            <a14:cpLocks xmlns:a14="http://schemas.microsoft.com/office/drawing/2010/main"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39" name="Date Placeholder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1048640" name="Footer Placeholder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41" name="Slide Number Placeholder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83" name="Text Placeholder 3"/>
          <p:cNvSpPr>
            <a14:cpLocks xmlns:a14="http://schemas.microsoft.com/office/drawing/2010/main"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84" name="Text Placeholder 3"/>
          <p:cNvSpPr>
            <a14:cpLocks xmlns:a14="http://schemas.microsoft.com/office/drawing/2010/main"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85" name="Date Placeholder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1048686" name="Footer Placeholder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87" name="Slide Number Placeholder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sp>
        <p:nvSpPr>
          <p:cNvPr id="1048688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048689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33" name="Text Placeholder 3"/>
          <p:cNvSpPr>
            <a14:cpLocks xmlns:a14="http://schemas.microsoft.com/office/drawing/2010/main"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34" name="Date Placeholder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1048635" name="Footer Placeholder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36" name="Slide Number Placeholder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03" name="Text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704" name="Text Placeholder 3"/>
          <p:cNvSpPr>
            <a14:cpLocks xmlns:a14="http://schemas.microsoft.com/office/drawing/2010/main"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705" name="Text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706" name="Text Placeholder 3"/>
          <p:cNvSpPr>
            <a14:cpLocks xmlns:a14="http://schemas.microsoft.com/office/drawing/2010/main"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707" name="Text Placeholder 4"/>
          <p:cNvSpPr>
            <a14:cpLocks xmlns:a14="http://schemas.microsoft.com/office/drawing/2010/main"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708" name="Text Placeholder 3"/>
          <p:cNvSpPr>
            <a14:cpLocks xmlns:a14="http://schemas.microsoft.com/office/drawing/2010/main"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709" name="Date Placeholder 2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1048710" name="Footer Placeholder 3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11" name="Slide Number Placeholder 4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49" name="Text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50" name="Picture Placeholder 2"/>
          <p:cNvSpPr>
            <a14:cpLocks xmlns:a14="http://schemas.microsoft.com/office/drawing/2010/main"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51" name="Text Placeholder 3"/>
          <p:cNvSpPr>
            <a14:cpLocks xmlns:a14="http://schemas.microsoft.com/office/drawing/2010/main"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52" name="Text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53" name="Picture Placeholder 2"/>
          <p:cNvSpPr>
            <a14:cpLocks xmlns:a14="http://schemas.microsoft.com/office/drawing/2010/main"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54" name="Text Placeholder 3"/>
          <p:cNvSpPr>
            <a14:cpLocks xmlns:a14="http://schemas.microsoft.com/office/drawing/2010/main"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55" name="Text Placeholder 4"/>
          <p:cNvSpPr>
            <a14:cpLocks xmlns:a14="http://schemas.microsoft.com/office/drawing/2010/main"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56" name="Picture Placeholder 2"/>
          <p:cNvSpPr>
            <a14:cpLocks xmlns:a14="http://schemas.microsoft.com/office/drawing/2010/main"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57" name="Text Placeholder 3"/>
          <p:cNvSpPr>
            <a14:cpLocks xmlns:a14="http://schemas.microsoft.com/office/drawing/2010/main"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48658" name="Date Placeholder 2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1048659" name="Footer Placeholder 3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60" name="Slide Number Placeholder 4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Title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19" name="Vertical Text Placeholder 2"/>
          <p:cNvSpPr>
            <a14:cpLocks xmlns:a14="http://schemas.microsoft.com/office/drawing/2010/main"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20" name="Date Placeholder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1048721" name="Footer Placeholder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22" name="Slide Number Placeholder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Vertical Title 1"/>
          <p:cNvSpPr>
            <a14:cpLocks xmlns:a14="http://schemas.microsoft.com/office/drawing/2010/main"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78" name="Vertical Text Placeholder 2"/>
          <p:cNvSpPr>
            <a14:cpLocks xmlns:a14="http://schemas.microsoft.com/office/drawing/2010/main"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79" name="Date Placeholder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1048680" name="Footer Placeholder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81" name="Slide Number Placeholder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77" name="Text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78" name="Date Placeholder 3"/>
          <p:cNvSpPr>
            <a14:cpLocks xmlns:a14="http://schemas.microsoft.com/office/drawing/2010/main"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1048579" name="Footer Placeholder 4"/>
          <p:cNvSpPr>
            <a14:cpLocks xmlns:a14="http://schemas.microsoft.com/office/drawing/2010/main"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48580" name="Slide Number Placeholder 5"/>
          <p:cNvSpPr>
            <a14:cpLocks xmlns:a14="http://schemas.microsoft.com/office/drawing/2010/main"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586" name="TextBox 6"/>
          <p:cNvSpPr txBox="1"/>
          <p:nvPr/>
        </p:nvSpPr>
        <p:spPr>
          <a:xfrm>
            <a:off x="0" y="0"/>
            <a:ext cx="12192000" cy="35814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48587" name="Title 1"/>
          <p:cNvSpPr>
            <a14:cpLocks xmlns:a14="http://schemas.microsoft.com/office/drawing/2010/main" noGrp="1"/>
          </p:cNvSpPr>
          <p:nvPr>
            <p:ph type="ctrTitle"/>
          </p:nvPr>
        </p:nvSpPr>
        <p:spPr>
          <a:xfrm>
            <a:off x="1595269" y="2137750"/>
            <a:ext cx="9001462" cy="2033860"/>
          </a:xfrm>
        </p:spPr>
        <p:txBody>
          <a:bodyPr>
            <a:normAutofit/>
          </a:bodyPr>
          <a:lstStyle/>
          <a:p>
            <a:r>
              <a:rPr lang="en-US" sz="60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Fasting Energetics of </a:t>
            </a:r>
            <a:r>
              <a:rPr lang="en-US" sz="6000" dirty="0" smtClean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Seal </a:t>
            </a:r>
            <a:r>
              <a:rPr lang="en-US" sz="60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Pups</a:t>
            </a:r>
            <a:endParaRPr lang="en-US" sz="6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588" name="TextBox 7"/>
          <p:cNvSpPr txBox="1"/>
          <p:nvPr/>
        </p:nvSpPr>
        <p:spPr>
          <a:xfrm>
            <a:off x="9679577" y="5917475"/>
            <a:ext cx="2116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GROUP 14</a:t>
            </a:r>
            <a:endParaRPr lang="en-US" sz="2800" dirty="0"/>
          </a:p>
        </p:txBody>
      </p:sp>
      <p:sp>
        <p:nvSpPr>
          <p:cNvPr id="1048589" name="TextBox 2"/>
          <p:cNvSpPr txBox="1"/>
          <p:nvPr/>
        </p:nvSpPr>
        <p:spPr>
          <a:xfrm>
            <a:off x="11795758" y="6440695"/>
            <a:ext cx="43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924445" y="255111"/>
            <a:ext cx="10353761" cy="1326321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Outline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596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913793" y="1359363"/>
            <a:ext cx="10353762" cy="36951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Energy Acquisition in Seal Pups</a:t>
            </a: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r>
              <a:rPr lang="en-US" sz="2800" dirty="0" smtClean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Fasting </a:t>
            </a:r>
            <a:r>
              <a:rPr lang="en-US" sz="28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Periods in Seal Pups</a:t>
            </a: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r>
              <a:rPr lang="en-US" sz="28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Adaptations</a:t>
            </a: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r>
              <a:rPr lang="en-US" sz="28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Environmental Factors Affecting Fasting</a:t>
            </a: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r>
              <a:rPr lang="en-US" sz="28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Importance of Fasting Energetics</a:t>
            </a: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r>
              <a:rPr lang="en-US" sz="2800" dirty="0">
                <a:effectLst/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597" name="TextBox 3"/>
          <p:cNvSpPr txBox="1"/>
          <p:nvPr/>
        </p:nvSpPr>
        <p:spPr>
          <a:xfrm>
            <a:off x="11795758" y="6440695"/>
            <a:ext cx="43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919119" y="178527"/>
            <a:ext cx="10353761" cy="95794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599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430469" y="839755"/>
            <a:ext cx="5569115" cy="613954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 smtClean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This </a:t>
            </a:r>
            <a:r>
              <a:rPr lang="en-US" sz="28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presentation explores the fascinating topic of fasting energetics in sea pups and its significance for their survival and </a:t>
            </a:r>
            <a:r>
              <a:rPr lang="en-US" sz="2800" dirty="0" smtClean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development.</a:t>
            </a:r>
            <a:endParaRPr lang="en-US" sz="2800" dirty="0" smtClean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Seal pups, including seals and sea lions, are the young offspring of marine mammals</a:t>
            </a:r>
            <a:r>
              <a:rPr lang="en-US" sz="2800" dirty="0" smtClean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endParaRPr lang="en-US" sz="2800" dirty="0" smtClean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They are found in polar, temperate and tropical regions or seas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dirty="0" smtClean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1048600" name="TextBox 5"/>
          <p:cNvSpPr txBox="1"/>
          <p:nvPr/>
        </p:nvSpPr>
        <p:spPr>
          <a:xfrm>
            <a:off x="5760236" y="6025553"/>
            <a:ext cx="3984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1: A young seal pup</a:t>
            </a:r>
            <a:endParaRPr lang="en-US" dirty="0"/>
          </a:p>
        </p:txBody>
      </p:sp>
      <p:pic>
        <p:nvPicPr>
          <p:cNvPr id="2097153" name="Picture 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760236" y="1349050"/>
            <a:ext cx="6219396" cy="4463922"/>
          </a:xfrm>
          <a:prstGeom prst="rect">
            <a:avLst/>
          </a:prstGeom>
        </p:spPr>
      </p:pic>
      <p:sp>
        <p:nvSpPr>
          <p:cNvPr id="1048601" name="TextBox 6"/>
          <p:cNvSpPr txBox="1"/>
          <p:nvPr/>
        </p:nvSpPr>
        <p:spPr>
          <a:xfrm>
            <a:off x="11795758" y="6440695"/>
            <a:ext cx="43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373224" y="1446245"/>
            <a:ext cx="11262049" cy="5159827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Fasting energetics in seal pups refer to the physiological, structural and behavioural adaptation they undergo during period of not consuming food and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water.</a:t>
            </a:r>
            <a:endParaRPr lang="en-GB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solidFill>
                <a:prstClr val="white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prstClr val="white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Fasting </a:t>
            </a:r>
            <a:r>
              <a:rPr lang="en-US" sz="2800" dirty="0">
                <a:solidFill>
                  <a:prstClr val="white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periods </a:t>
            </a:r>
            <a:r>
              <a:rPr lang="en-US" sz="2800" dirty="0" smtClean="0">
                <a:solidFill>
                  <a:prstClr val="white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occur during </a:t>
            </a:r>
            <a:r>
              <a:rPr lang="en-US" sz="2800" dirty="0">
                <a:solidFill>
                  <a:prstClr val="white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the weaning process and may occur due to environmental factors like food scarcity or maternal foraging trips</a:t>
            </a:r>
            <a:endParaRPr lang="en-US" sz="2800" dirty="0">
              <a:solidFill>
                <a:prstClr val="white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endParaRPr lang="en-US" sz="2800" dirty="0">
              <a:solidFill>
                <a:prstClr val="white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GB" sz="2800" dirty="0">
                <a:solidFill>
                  <a:prstClr val="white"/>
                </a:solidFill>
                <a:latin typeface="Times New Roman" pitchFamily="18" charset="0"/>
                <a:cs typeface="Times New Roman" pitchFamily="18" charset="0"/>
              </a:rPr>
              <a:t>The fasting last from two weeks to 9-12 weeks</a:t>
            </a:r>
            <a:endParaRPr lang="en-GB" sz="2800" dirty="0">
              <a:solidFill>
                <a:prstClr val="white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919119" y="160411"/>
            <a:ext cx="10353761" cy="905691"/>
          </a:xfrm>
        </p:spPr>
        <p:txBody>
          <a:bodyPr>
            <a:normAutofit/>
          </a:bodyPr>
          <a:lstStyle/>
          <a:p>
            <a:r>
              <a:rPr lang="en-US" sz="36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Energy Acquisition in Sea</a:t>
            </a:r>
            <a:r>
              <a:rPr lang="en-AU" altLang="en-US" sz="36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lang="en-US" sz="36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Pups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03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234526" y="1338943"/>
            <a:ext cx="5649206" cy="5172892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In the early stages of life, seal pups primarily rely on their mothers' milk as a source of energy and essential nutrients.</a:t>
            </a: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The high-fat content of the milk ensures that the pups receive the energy required for growth and thermoregulation in cold marine environments.</a:t>
            </a: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04" name="TextBox 6"/>
          <p:cNvSpPr txBox="1"/>
          <p:nvPr/>
        </p:nvSpPr>
        <p:spPr>
          <a:xfrm>
            <a:off x="5721047" y="6327169"/>
            <a:ext cx="3984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1:A young seal pup</a:t>
            </a:r>
            <a:endParaRPr lang="en-US" dirty="0"/>
          </a:p>
        </p:txBody>
      </p:sp>
      <p:sp>
        <p:nvSpPr>
          <p:cNvPr id="1048605" name="TextBox 7"/>
          <p:cNvSpPr txBox="1"/>
          <p:nvPr/>
        </p:nvSpPr>
        <p:spPr>
          <a:xfrm>
            <a:off x="11795758" y="6440695"/>
            <a:ext cx="43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endParaRPr lang="zh-CN" altLang="en-US"/>
          </a:p>
        </p:txBody>
      </p:sp>
      <p:pic>
        <p:nvPicPr>
          <p:cNvPr id="209715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1047" y="1140135"/>
            <a:ext cx="6292287" cy="5002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913794" y="418012"/>
            <a:ext cx="10353761" cy="1005839"/>
          </a:xfrm>
        </p:spPr>
        <p:txBody>
          <a:bodyPr>
            <a:normAutofit/>
          </a:bodyPr>
          <a:lstStyle/>
          <a:p>
            <a:r>
              <a:rPr lang="en-US" sz="3600" dirty="0" smtClean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Physiological </a:t>
            </a:r>
            <a:r>
              <a:rPr lang="en-US" sz="36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Adaptations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15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919119" y="1717240"/>
            <a:ext cx="10353762" cy="4343925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 smtClean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Seal pups undergo ketosis to burn fat for energy instead of glucose. </a:t>
            </a: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Metabolic adjustments </a:t>
            </a:r>
            <a:r>
              <a:rPr lang="en-US" sz="2800" dirty="0" smtClean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help </a:t>
            </a:r>
            <a:r>
              <a:rPr lang="en-US" sz="28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them cope with limited energy availability.</a:t>
            </a: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 smtClean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They reduce water lose by concentrating urine and reabsorbing water from intestine during fasting.</a:t>
            </a: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1048616" name="TextBox 3"/>
          <p:cNvSpPr txBox="1"/>
          <p:nvPr/>
        </p:nvSpPr>
        <p:spPr>
          <a:xfrm>
            <a:off x="11795758" y="6440695"/>
            <a:ext cx="43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913794" y="679268"/>
            <a:ext cx="10353761" cy="7750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STRUCTURAL ADAPTATION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07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913794" y="2096063"/>
            <a:ext cx="10544197" cy="4529297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 smtClean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Soft lanugo coat for retaining body heat during the fasting</a:t>
            </a: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 smtClean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Reduced growth rate </a:t>
            </a:r>
            <a:endParaRPr lang="en-US" sz="2800" dirty="0" smtClean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dirty="0" smtClean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Thick layer of blubber reserves for insulation and source of stored fat for </a:t>
            </a:r>
            <a:r>
              <a:rPr lang="en-US" sz="2800" dirty="0" smtClean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energy.</a:t>
            </a: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1048608" name="TextBox 3"/>
          <p:cNvSpPr txBox="1"/>
          <p:nvPr/>
        </p:nvSpPr>
        <p:spPr>
          <a:xfrm>
            <a:off x="11795758" y="6440695"/>
            <a:ext cx="43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134380" y="1582049"/>
            <a:ext cx="5796160" cy="5042787"/>
          </a:xfrm>
        </p:spPr>
        <p:txBody>
          <a:bodyPr>
            <a:normAutofit fontScale="96429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 smtClean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Seal pups reduce physical activity during fasting.</a:t>
            </a: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 smtClean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Seal </a:t>
            </a:r>
            <a:r>
              <a:rPr lang="en-US" sz="28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pups may huddle together in groups during fasting to reduce heat loss</a:t>
            </a:r>
            <a:r>
              <a:rPr lang="en-US" sz="2800" dirty="0" smtClean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endParaRPr lang="en-US" sz="2800" dirty="0" smtClean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Seal pups develop patience and endurance during fasting</a:t>
            </a: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1048611" name="TextBox 3"/>
          <p:cNvSpPr txBox="1"/>
          <p:nvPr/>
        </p:nvSpPr>
        <p:spPr>
          <a:xfrm>
            <a:off x="11795758" y="6440695"/>
            <a:ext cx="43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  <a:endParaRPr lang="zh-CN" altLang="en-US"/>
          </a:p>
        </p:txBody>
      </p:sp>
      <p:sp>
        <p:nvSpPr>
          <p:cNvPr id="1048612" name="Title 1"/>
          <p:cNvSpPr txBox="1"/>
          <p:nvPr/>
        </p:nvSpPr>
        <p:spPr>
          <a:xfrm>
            <a:off x="1031360" y="114864"/>
            <a:ext cx="10353761" cy="7358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Behavioral adaptations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9715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374485"/>
            <a:ext cx="5796160" cy="4717686"/>
          </a:xfrm>
          <a:prstGeom prst="rect">
            <a:avLst/>
          </a:prstGeom>
        </p:spPr>
      </p:pic>
      <p:sp>
        <p:nvSpPr>
          <p:cNvPr id="1048613" name="TextBox 7"/>
          <p:cNvSpPr txBox="1"/>
          <p:nvPr/>
        </p:nvSpPr>
        <p:spPr>
          <a:xfrm>
            <a:off x="6108698" y="6246586"/>
            <a:ext cx="3984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1:Adult seal pups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913796" y="609600"/>
            <a:ext cx="10072068" cy="1326321"/>
          </a:xfrm>
        </p:spPr>
        <p:txBody>
          <a:bodyPr>
            <a:normAutofit/>
          </a:bodyPr>
          <a:lstStyle/>
          <a:p>
            <a:r>
              <a:rPr lang="en-US" sz="36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Environmental Factors Affecting Fasting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18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913794" y="2226692"/>
            <a:ext cx="10422899" cy="4214003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Environmental factors, such as food availability and climate variations, significantly impact fasting energetics in sea pups.</a:t>
            </a: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 smtClean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Overfishing </a:t>
            </a:r>
            <a:r>
              <a:rPr lang="en-US" sz="28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can disrupt the natural prey populations, affecting the timing and duration of fasting periods</a:t>
            </a:r>
            <a:r>
              <a:rPr lang="en-US" sz="2800" dirty="0" smtClean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endParaRPr lang="en-US" sz="2800" dirty="0" smtClean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 smtClean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Predation</a:t>
            </a:r>
            <a:endParaRPr lang="en-US" sz="2800" dirty="0" smtClean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1048619" name="TextBox 3"/>
          <p:cNvSpPr txBox="1"/>
          <p:nvPr/>
        </p:nvSpPr>
        <p:spPr>
          <a:xfrm>
            <a:off x="11795758" y="6440695"/>
            <a:ext cx="43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913795" y="609600"/>
            <a:ext cx="10353761" cy="931817"/>
          </a:xfrm>
        </p:spPr>
        <p:txBody>
          <a:bodyPr>
            <a:normAutofit/>
          </a:bodyPr>
          <a:lstStyle/>
          <a:p>
            <a:r>
              <a:rPr lang="en-US" sz="36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Importance of Fasting Energetics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21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 smtClean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The </a:t>
            </a:r>
            <a:r>
              <a:rPr lang="en-US" sz="28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adaptation of sea pups to fasting helps them develop necessary skills for independence and self-sufficiency.</a:t>
            </a: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1048622" name="TextBox 3"/>
          <p:cNvSpPr txBox="1"/>
          <p:nvPr/>
        </p:nvSpPr>
        <p:spPr>
          <a:xfrm>
            <a:off x="11795758" y="6440695"/>
            <a:ext cx="43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913795" y="609601"/>
            <a:ext cx="10353761" cy="735874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24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913795" y="1860933"/>
            <a:ext cx="10353762" cy="3695136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Understanding the fasting energetics of seal pups is essential for marine mammal conservation efforts.</a:t>
            </a: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Protecting their habitats, ensuring food availability, and minimizing human disturbances are vital for their survival.</a:t>
            </a:r>
            <a:endParaRPr lang="en-US" sz="2800" dirty="0"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1048625" name="TextBox 3"/>
          <p:cNvSpPr txBox="1"/>
          <p:nvPr/>
        </p:nvSpPr>
        <p:spPr>
          <a:xfrm>
            <a:off x="11795758" y="6440695"/>
            <a:ext cx="431072" cy="624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919119" y="204651"/>
            <a:ext cx="10353761" cy="862149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27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919119" y="1110645"/>
            <a:ext cx="10353762" cy="36951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Ortiz, C. L., Costa, D., &amp; Le Boeuf, B. J. (1978). Water and energy flux in elephant seal pups fasting under natural conditions. Physiological Zoology, 51(2), 166-178.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Sara J. Iverson, Heather N. Koopman, Encyclopedia of Marine Mammals (Third Edition), 2018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Michael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Castellini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Encyclopedia of Marine Mammals (Second Edition), 2009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Custom</PresentationFormat>
  <Paragraphs>75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Times New Roman</vt:lpstr>
      <vt:lpstr>Calibri</vt:lpstr>
      <vt:lpstr>Rockwell</vt:lpstr>
      <vt:lpstr>Bookman Old Style</vt:lpstr>
      <vt:lpstr>Damask</vt:lpstr>
      <vt:lpstr>Fasting Energetics of Seal Pups</vt:lpstr>
      <vt:lpstr>Outline</vt:lpstr>
      <vt:lpstr>INTRODUCTION</vt:lpstr>
      <vt:lpstr>INTRODUCTION</vt:lpstr>
      <vt:lpstr>Energy Acquisition in Sea Pups</vt:lpstr>
      <vt:lpstr>Physiological Adaptations</vt:lpstr>
      <vt:lpstr>STRUCTURAL ADAPTATION</vt:lpstr>
      <vt:lpstr>PowerPoint 演示文稿</vt:lpstr>
      <vt:lpstr>Environmental Factors Affecting Fasting</vt:lpstr>
      <vt:lpstr>Importance of Fasting Energetics</vt:lpstr>
      <vt:lpstr>CONCLUSION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Fasting Energetics of Sea Pups</dc:title>
  <dc:creator>Aniagyei Odame Ebenezer</dc:creator>
  <cp:lastModifiedBy>iPhone</cp:lastModifiedBy>
  <cp:revision>6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edcb1972ccb14dff94f81acd9e2a3f92</vt:lpwstr>
  </property>
  <property fmtid="{D5CDD505-2E9C-101B-9397-08002B2CF9AE}" pid="3" name="KSOProductBuildVer">
    <vt:lpwstr>3081-11.24.7</vt:lpwstr>
  </property>
</Properties>
</file>