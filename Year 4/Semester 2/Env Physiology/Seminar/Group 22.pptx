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71" r:id="rId3"/>
    <p:sldId id="272" r:id="rId5"/>
    <p:sldId id="273" r:id="rId6"/>
    <p:sldId id="274" r:id="rId7"/>
    <p:sldId id="275" r:id="rId8"/>
    <p:sldId id="276" r:id="rId9"/>
    <p:sldId id="277" r:id="rId10"/>
    <p:sldId id="284" r:id="rId11"/>
    <p:sldId id="278" r:id="rId12"/>
    <p:sldId id="279" r:id="rId13"/>
    <p:sldId id="280" r:id="rId14"/>
    <p:sldId id="281" r:id="rId15"/>
    <p:sldId id="282" r:id="rId16"/>
    <p:sldId id="283" r:id="rId17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94660"/>
  </p:normalViewPr>
  <p:slideViewPr>
    <p:cSldViewPr snapToGrid="0">
      <p:cViewPr varScale="1">
        <p:scale>
          <a:sx n="80" d="100"/>
          <a:sy n="80" d="100"/>
        </p:scale>
        <p:origin x="25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18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E3A4F9-686E-4B76-BBAD-DFEEA5C8715C}" type="datetimeFigureOut">
              <a:rPr lang="en-US" smtClean="0"/>
            </a:fld>
            <a:endParaRPr lang="en-US"/>
          </a:p>
        </p:txBody>
      </p:sp>
      <p:sp>
        <p:nvSpPr>
          <p:cNvPr id="104881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>
            <a:endParaRPr lang="en-US"/>
          </a:p>
        </p:txBody>
      </p:sp>
      <p:sp>
        <p:nvSpPr>
          <p:cNvPr id="104882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2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2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E0CAE3-9D06-4BD9-B624-C4D09131575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2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sp>
        <p:nvSpPr>
          <p:cNvPr id="104872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A7E0CAE3-9D06-4BD9-B624-C4D09131575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8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47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</a:gradFill>
        </p:grpSpPr>
        <p:sp>
          <p:nvSpPr>
            <p:cNvPr id="1048658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048659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60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61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048662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63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64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65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66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67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68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69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70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71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72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73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74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75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76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77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78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79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80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81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82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83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84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85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86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048687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88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89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90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91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92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93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94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95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96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97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698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048699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700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701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702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703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704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705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706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707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708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709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710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8711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104871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71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04871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p>
            <a:fld id="{325C85AB-0C52-4658-BC8F-C93CF25DAFFB}" type="datetime1">
              <a:rPr lang="en-US" smtClean="0"/>
            </a:fld>
            <a:endParaRPr lang="en-US" dirty="0"/>
          </a:p>
        </p:txBody>
      </p:sp>
      <p:sp>
        <p:nvSpPr>
          <p:cNvPr id="10487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p>
            <a:endParaRPr lang="en-US" dirty="0"/>
          </a:p>
        </p:txBody>
      </p:sp>
      <p:sp>
        <p:nvSpPr>
          <p:cNvPr id="10487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61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62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DDD4AD9-50B0-40FE-91F1-1831E684370B}" type="datetime1">
              <a:rPr lang="en-US" smtClean="0"/>
            </a:fld>
            <a:endParaRPr lang="en-US" dirty="0"/>
          </a:p>
        </p:txBody>
      </p:sp>
      <p:sp>
        <p:nvSpPr>
          <p:cNvPr id="104862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9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770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04877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721E519-3BFB-4F61-A7A9-BECFF27109DF}" type="datetime1">
              <a:rPr lang="en-US" smtClean="0"/>
            </a:fld>
            <a:endParaRPr lang="en-US" dirty="0"/>
          </a:p>
        </p:txBody>
      </p:sp>
      <p:sp>
        <p:nvSpPr>
          <p:cNvPr id="104877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77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727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728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7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1E0EC55-DE43-4C82-8583-B6CC8EA903E2}" type="datetime1">
              <a:rPr lang="en-US" smtClean="0"/>
            </a:fld>
            <a:endParaRPr lang="en-US" dirty="0"/>
          </a:p>
        </p:txBody>
      </p:sp>
      <p:sp>
        <p:nvSpPr>
          <p:cNvPr id="10487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7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644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048645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64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048647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64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FD1B02B-EE92-4DDC-8FB5-7CAE7565B97C}" type="datetime1">
              <a:rPr lang="en-US" smtClean="0"/>
            </a:fld>
            <a:endParaRPr lang="en-US" dirty="0"/>
          </a:p>
        </p:txBody>
      </p:sp>
      <p:sp>
        <p:nvSpPr>
          <p:cNvPr id="104864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5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7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3FB51F2-FCE8-4B98-8715-B7A55DD4BD8A}" type="datetime1">
              <a:rPr lang="en-US" smtClean="0"/>
            </a:fld>
            <a:endParaRPr lang="en-US" dirty="0"/>
          </a:p>
        </p:txBody>
      </p:sp>
      <p:sp>
        <p:nvSpPr>
          <p:cNvPr id="10487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7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72DFA77-A58A-49B4-831E-7E40E5A106D9}" type="datetime1">
              <a:rPr lang="en-US" smtClean="0"/>
            </a:fld>
            <a:endParaRPr lang="en-US" dirty="0"/>
          </a:p>
        </p:txBody>
      </p:sp>
      <p:sp>
        <p:nvSpPr>
          <p:cNvPr id="104877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77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6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807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80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04880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63AE3F1-3535-4E74-8542-56AA3E9D8DA6}" type="datetime1">
              <a:rPr lang="en-US" smtClean="0"/>
            </a:fld>
            <a:endParaRPr lang="en-US" dirty="0"/>
          </a:p>
        </p:txBody>
      </p:sp>
      <p:sp>
        <p:nvSpPr>
          <p:cNvPr id="10488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8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629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04863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04863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228524E-2689-4F95-B049-59F82328C5E7}" type="datetime1">
              <a:rPr lang="en-US" smtClean="0"/>
            </a:fld>
            <a:endParaRPr lang="en-US" dirty="0"/>
          </a:p>
        </p:txBody>
      </p:sp>
      <p:sp>
        <p:nvSpPr>
          <p:cNvPr id="104863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3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0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791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048792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04879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A02DFAE-D52E-4D88-B36F-1170B4BEB54F}" type="datetime1">
              <a:rPr lang="en-US" smtClean="0"/>
            </a:fld>
            <a:endParaRPr lang="en-US" dirty="0"/>
          </a:p>
        </p:txBody>
      </p:sp>
      <p:sp>
        <p:nvSpPr>
          <p:cNvPr id="104879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79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752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04875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42DC05D-6B05-4224-B18E-FAD3AAD7241A}" type="datetime1">
              <a:rPr lang="en-US" smtClean="0"/>
            </a:fld>
            <a:endParaRPr lang="en-US" dirty="0"/>
          </a:p>
        </p:txBody>
      </p:sp>
      <p:sp>
        <p:nvSpPr>
          <p:cNvPr id="104875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75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783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04878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04878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4F86C89-7337-42D0-A44B-585A55473DF0}" type="datetime1">
              <a:rPr lang="en-US" smtClean="0"/>
            </a:fld>
            <a:endParaRPr lang="en-US" dirty="0"/>
          </a:p>
        </p:txBody>
      </p:sp>
      <p:sp>
        <p:nvSpPr>
          <p:cNvPr id="104878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78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dirty="0"/>
            </a:fld>
            <a:endParaRPr lang="en-US" dirty="0"/>
          </a:p>
        </p:txBody>
      </p:sp>
      <p:sp>
        <p:nvSpPr>
          <p:cNvPr id="1048788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048789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6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747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0487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4FDF3B0-B947-4E38-B730-0F53B8D4EA0B}" type="datetime1">
              <a:rPr lang="en-US" smtClean="0"/>
            </a:fld>
            <a:endParaRPr lang="en-US" dirty="0"/>
          </a:p>
        </p:txBody>
      </p:sp>
      <p:sp>
        <p:nvSpPr>
          <p:cNvPr id="104874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75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6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79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04879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04879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04880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04880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04880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04880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E5280E0-5AB6-47A8-9729-F32B1C52B1FA}" type="datetime1">
              <a:rPr lang="en-US" smtClean="0"/>
            </a:fld>
            <a:endParaRPr lang="en-US" dirty="0"/>
          </a:p>
        </p:txBody>
      </p:sp>
      <p:sp>
        <p:nvSpPr>
          <p:cNvPr id="104880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80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757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048758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048759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04876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04876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048762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048763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048764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048765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04876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97B58B4-AEF5-4310-8553-9450A64539F2}" type="datetime1">
              <a:rPr lang="en-US" smtClean="0"/>
            </a:fld>
            <a:endParaRPr lang="en-US" dirty="0"/>
          </a:p>
        </p:txBody>
      </p:sp>
      <p:sp>
        <p:nvSpPr>
          <p:cNvPr id="104876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76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81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81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5696D5-84A2-40BF-A475-1E55C2DD67CF}" type="datetime1">
              <a:rPr lang="en-US" smtClean="0"/>
            </a:fld>
            <a:endParaRPr lang="en-US" dirty="0"/>
          </a:p>
        </p:txBody>
      </p:sp>
      <p:sp>
        <p:nvSpPr>
          <p:cNvPr id="104881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81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7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77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77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0270409-D7CD-4950-9167-DA8F990F41C1}" type="datetime1">
              <a:rPr lang="en-US" smtClean="0"/>
            </a:fld>
            <a:endParaRPr lang="en-US" dirty="0"/>
          </a:p>
        </p:txBody>
      </p:sp>
      <p:sp>
        <p:nvSpPr>
          <p:cNvPr id="104878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78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8">
            <a:alphaModFix amt="30000"/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13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4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</a:gradFill>
          </p:grpSpPr>
          <p:sp>
            <p:nvSpPr>
              <p:cNvPr id="1048576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</p:sp>
          <p:sp>
            <p:nvSpPr>
              <p:cNvPr id="1048577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78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79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80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81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82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83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84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85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86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87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</a:ln>
            </p:spPr>
          </p:sp>
          <p:sp>
            <p:nvSpPr>
              <p:cNvPr id="1048588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89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90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91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92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</p:sp>
          <p:sp>
            <p:nvSpPr>
              <p:cNvPr id="1048593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94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95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96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97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98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599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00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01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02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</p:grpSp>
        <p:grpSp>
          <p:nvGrpSpPr>
            <p:cNvPr id="15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</a:gradFill>
          </p:grpSpPr>
          <p:sp>
            <p:nvSpPr>
              <p:cNvPr id="1048603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04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05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06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07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08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09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10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11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12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13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endParaRPr lang="en-US" dirty="0"/>
          </a:p>
        </p:txBody>
      </p:sp>
      <p:sp>
        <p:nvSpPr>
          <p:cNvPr id="1048614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615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9CD7A9-4021-4646-B280-1D6392F068F4}" type="datetime1">
              <a:rPr lang="en-US" smtClean="0"/>
            </a:fld>
            <a:endParaRPr lang="en-US" dirty="0"/>
          </a:p>
        </p:txBody>
      </p:sp>
      <p:sp>
        <p:nvSpPr>
          <p:cNvPr id="104861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Title 1"/>
          <p:cNvSpPr>
            <a:spLocks noGrp="1"/>
          </p:cNvSpPr>
          <p:nvPr>
            <p:ph type="ctrTitle"/>
          </p:nvPr>
        </p:nvSpPr>
        <p:spPr>
          <a:xfrm>
            <a:off x="2057400" y="700405"/>
            <a:ext cx="8610600" cy="4349750"/>
          </a:xfrm>
        </p:spPr>
        <p:txBody>
          <a:bodyPr>
            <a:noAutofit/>
          </a:bodyPr>
          <a:p>
            <a:r>
              <a:rPr lang="en-US" sz="7200" dirty="0" smtClean="0"/>
              <a:t>PHYSIOLOGY OF HIBERNATION, AESTIVATION AND DIAPAUSE</a:t>
            </a:r>
            <a:endParaRPr lang="en-US" sz="7200" dirty="0" smtClean="0"/>
          </a:p>
        </p:txBody>
      </p:sp>
      <p:sp>
        <p:nvSpPr>
          <p:cNvPr id="1048718" name="Subtitle 2"/>
          <p:cNvSpPr>
            <a:spLocks noGrp="1"/>
          </p:cNvSpPr>
          <p:nvPr>
            <p:ph type="subTitle" idx="1"/>
          </p:nvPr>
        </p:nvSpPr>
        <p:spPr>
          <a:xfrm>
            <a:off x="2178050" y="4930775"/>
            <a:ext cx="6724650" cy="1323340"/>
          </a:xfrm>
        </p:spPr>
        <p:txBody>
          <a:bodyPr>
            <a:normAutofit/>
          </a:bodyPr>
          <a:p>
            <a:r>
              <a:rPr lang="en-US" sz="3600" dirty="0" smtClean="0"/>
              <a:t>GROUP 22</a:t>
            </a:r>
            <a:endParaRPr lang="en-US" sz="3600" dirty="0" smtClean="0"/>
          </a:p>
        </p:txBody>
      </p:sp>
      <p:sp>
        <p:nvSpPr>
          <p:cNvPr id="104871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Title 1"/>
          <p:cNvSpPr>
            <a:spLocks noGrp="1"/>
          </p:cNvSpPr>
          <p:nvPr>
            <p:ph type="title"/>
          </p:nvPr>
        </p:nvSpPr>
        <p:spPr>
          <a:xfrm>
            <a:off x="1141730" y="618490"/>
            <a:ext cx="7899400" cy="1478280"/>
          </a:xfrm>
        </p:spPr>
        <p:txBody>
          <a:bodyPr/>
          <a:p>
            <a:r>
              <a:rPr lang="en-US" sz="4800" dirty="0" smtClean="0"/>
              <a:t>PRESENTATION OUTLINE</a:t>
            </a:r>
            <a:endParaRPr lang="en-US" sz="4800" dirty="0"/>
          </a:p>
        </p:txBody>
      </p:sp>
      <p:sp>
        <p:nvSpPr>
          <p:cNvPr id="1048656" name="Content Placeholder 2"/>
          <p:cNvSpPr>
            <a:spLocks noGrp="1"/>
          </p:cNvSpPr>
          <p:nvPr>
            <p:ph idx="1"/>
          </p:nvPr>
        </p:nvSpPr>
        <p:spPr>
          <a:xfrm>
            <a:off x="1050925" y="1811655"/>
            <a:ext cx="7778750" cy="4608830"/>
          </a:xfrm>
        </p:spPr>
        <p:txBody>
          <a:bodyPr/>
          <a:p>
            <a:r>
              <a:rPr lang="en-US" sz="3200" dirty="0" smtClean="0"/>
              <a:t>INTRODUCTION</a:t>
            </a:r>
            <a:endParaRPr lang="en-US" sz="3200" dirty="0" smtClean="0"/>
          </a:p>
          <a:p>
            <a:r>
              <a:rPr lang="en-US" sz="3200" dirty="0" smtClean="0"/>
              <a:t>PHYSIOLOGY OF HIBERNATION</a:t>
            </a:r>
            <a:endParaRPr lang="en-US" sz="3200" dirty="0" smtClean="0"/>
          </a:p>
          <a:p>
            <a:r>
              <a:rPr lang="en-US" sz="3200" dirty="0" smtClean="0"/>
              <a:t>STAGES </a:t>
            </a:r>
            <a:r>
              <a:rPr lang="en-US" sz="3200" dirty="0" smtClean="0"/>
              <a:t>OF HIBERNATION</a:t>
            </a:r>
            <a:endParaRPr lang="en-US" sz="3200" dirty="0" smtClean="0"/>
          </a:p>
          <a:p>
            <a:r>
              <a:rPr lang="en-US" sz="3200" dirty="0" smtClean="0"/>
              <a:t>PHYSIOLOGY OF AESTIVATION</a:t>
            </a:r>
            <a:endParaRPr lang="en-US" sz="3200" dirty="0" smtClean="0"/>
          </a:p>
          <a:p>
            <a:r>
              <a:rPr lang="en-US" sz="3200" dirty="0" smtClean="0"/>
              <a:t>PHYSIOLOGY OF DIAPAUSE</a:t>
            </a:r>
            <a:endParaRPr lang="en-US" sz="3200" dirty="0" smtClean="0"/>
          </a:p>
          <a:p>
            <a:r>
              <a:rPr lang="en-US" sz="3200" dirty="0" smtClean="0"/>
              <a:t>CONCLUSION</a:t>
            </a:r>
            <a:endParaRPr lang="en-US" sz="3200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104865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title"/>
          </p:nvPr>
        </p:nvSpPr>
        <p:spPr>
          <a:xfrm>
            <a:off x="1141095" y="179705"/>
            <a:ext cx="6526530" cy="1478280"/>
          </a:xfrm>
        </p:spPr>
        <p:txBody>
          <a:bodyPr/>
          <a:p>
            <a:r>
              <a:rPr lang="en-US" sz="4800" u="sng" dirty="0" smtClean="0"/>
              <a:t>INTRODUCTION</a:t>
            </a:r>
            <a:endParaRPr lang="en-US" sz="4800" u="sng" dirty="0"/>
          </a:p>
        </p:txBody>
      </p:sp>
      <p:sp>
        <p:nvSpPr>
          <p:cNvPr id="1048641" name="Content Placeholder 2"/>
          <p:cNvSpPr>
            <a:spLocks noGrp="1"/>
          </p:cNvSpPr>
          <p:nvPr>
            <p:ph idx="1"/>
          </p:nvPr>
        </p:nvSpPr>
        <p:spPr>
          <a:xfrm>
            <a:off x="944880" y="1099820"/>
            <a:ext cx="9906000" cy="4944745"/>
          </a:xfrm>
        </p:spPr>
        <p:txBody>
          <a:bodyPr>
            <a:noAutofit/>
          </a:bodyPr>
          <a:p>
            <a:r>
              <a:rPr lang="en-US" sz="3200" dirty="0" smtClean="0"/>
              <a:t>Hibernation  is a state or period of reduced metabolic activity and lowered temperature adapted by certain animals to adverse winter conditions.</a:t>
            </a:r>
            <a:endParaRPr lang="en-US" sz="3200" dirty="0" smtClean="0"/>
          </a:p>
          <a:p>
            <a:r>
              <a:rPr lang="en-US" sz="3200" dirty="0" smtClean="0"/>
              <a:t>Aestivation is a state of inactivity and a lowered metabolic rate in response to high temperatures and arid conditions by an organism.</a:t>
            </a:r>
            <a:endParaRPr lang="en-US" sz="3200" dirty="0" smtClean="0"/>
          </a:p>
          <a:p>
            <a:r>
              <a:rPr lang="en-US" sz="3200" dirty="0" smtClean="0"/>
              <a:t>Diapause is the delay in development in the life of an organism due to adverse environmental conditions.</a:t>
            </a:r>
            <a:endParaRPr lang="en-US" sz="3200" dirty="0" smtClean="0"/>
          </a:p>
        </p:txBody>
      </p:sp>
      <p:sp>
        <p:nvSpPr>
          <p:cNvPr id="104864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Grp="1"/>
          </p:cNvSpPr>
          <p:nvPr>
            <p:ph type="title"/>
          </p:nvPr>
        </p:nvSpPr>
        <p:spPr>
          <a:xfrm>
            <a:off x="1141095" y="353060"/>
            <a:ext cx="5934710" cy="1029970"/>
          </a:xfrm>
        </p:spPr>
        <p:txBody>
          <a:bodyPr/>
          <a:p>
            <a:r>
              <a:rPr lang="en-US" sz="4800" u="sng" dirty="0" smtClean="0"/>
              <a:t>Hibernation</a:t>
            </a:r>
            <a:endParaRPr lang="en-US" sz="4800" u="sng" dirty="0"/>
          </a:p>
        </p:txBody>
      </p:sp>
      <p:sp>
        <p:nvSpPr>
          <p:cNvPr id="1048635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880" y="1248410"/>
            <a:ext cx="6688455" cy="5337175"/>
          </a:xfrm>
        </p:spPr>
        <p:txBody>
          <a:bodyPr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Reduced metabolic rate</a:t>
            </a:r>
            <a:endParaRPr lang="en-US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Fat storage and utilization</a:t>
            </a:r>
            <a:endParaRPr lang="en-US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Cold induced diuresis</a:t>
            </a:r>
            <a:endParaRPr lang="en-US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 Low body temperature </a:t>
            </a:r>
            <a:endParaRPr lang="en-US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It is common among higher animals</a:t>
            </a:r>
            <a:endParaRPr lang="en-US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It is mostly seen in mammals such as bats, hedgehogs and ground </a:t>
            </a:r>
            <a:r>
              <a:rPr lang="en-US" sz="3415" dirty="0" smtClean="0"/>
              <a:t>squirrels.</a:t>
            </a:r>
            <a:endParaRPr lang="en-US" sz="3415" dirty="0" smtClean="0"/>
          </a:p>
          <a:p>
            <a:endParaRPr lang="en-US" sz="3200" dirty="0"/>
          </a:p>
        </p:txBody>
      </p:sp>
      <p:pic>
        <p:nvPicPr>
          <p:cNvPr id="2097154" name="Picture Placeholder 8"/>
          <p:cNvPicPr>
            <a:picLocks noGrp="1" noChangeAspect="1"/>
          </p:cNvPicPr>
          <p:nvPr>
            <p:ph type="pic" idx="1"/>
          </p:nvPr>
        </p:nvPicPr>
        <p:blipFill>
          <a:blip r:embed="rId1"/>
          <a:srcRect l="26538" r="26538"/>
          <a:stretch>
            <a:fillRect/>
          </a:stretch>
        </p:blipFill>
        <p:spPr>
          <a:xfrm>
            <a:off x="7543165" y="745490"/>
            <a:ext cx="3666490" cy="4835525"/>
          </a:xfrm>
        </p:spPr>
      </p:pic>
      <p:sp>
        <p:nvSpPr>
          <p:cNvPr id="1048636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4800" dirty="0" smtClean="0"/>
              <a:t>STAGES OF HIBERNATION</a:t>
            </a:r>
            <a:endParaRPr lang="en-US" sz="4800" dirty="0"/>
          </a:p>
        </p:txBody>
      </p:sp>
      <p:sp>
        <p:nvSpPr>
          <p:cNvPr id="1048624" name="Content Placeholder 2"/>
          <p:cNvSpPr>
            <a:spLocks noGrp="1"/>
          </p:cNvSpPr>
          <p:nvPr>
            <p:ph idx="1"/>
          </p:nvPr>
        </p:nvSpPr>
        <p:spPr>
          <a:xfrm>
            <a:off x="1141095" y="2249170"/>
            <a:ext cx="7069455" cy="2787650"/>
          </a:xfrm>
        </p:spPr>
        <p:txBody>
          <a:bodyPr/>
          <a:p>
            <a:r>
              <a:rPr lang="en-US" sz="3200" dirty="0" smtClean="0"/>
              <a:t>Preparing for hibernation</a:t>
            </a:r>
            <a:endParaRPr lang="en-US" sz="3200" dirty="0" smtClean="0"/>
          </a:p>
          <a:p>
            <a:r>
              <a:rPr lang="en-US" sz="3200" dirty="0" smtClean="0"/>
              <a:t>Going into hibernation</a:t>
            </a:r>
            <a:endParaRPr lang="en-US" sz="3200" dirty="0" smtClean="0"/>
          </a:p>
          <a:p>
            <a:r>
              <a:rPr lang="en-US" sz="3200" dirty="0" smtClean="0"/>
              <a:t>Arousal period</a:t>
            </a:r>
            <a:endParaRPr lang="en-US" sz="3200" dirty="0"/>
          </a:p>
        </p:txBody>
      </p:sp>
      <p:sp>
        <p:nvSpPr>
          <p:cNvPr id="104862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le 1"/>
          <p:cNvSpPr>
            <a:spLocks noGrp="1"/>
          </p:cNvSpPr>
          <p:nvPr>
            <p:ph type="title"/>
          </p:nvPr>
        </p:nvSpPr>
        <p:spPr>
          <a:xfrm>
            <a:off x="1141413" y="452264"/>
            <a:ext cx="9905998" cy="1478570"/>
          </a:xfrm>
        </p:spPr>
        <p:txBody>
          <a:bodyPr/>
          <a:p>
            <a:r>
              <a:rPr lang="en-US" sz="4800" dirty="0" smtClean="0"/>
              <a:t>EXAMPLES OF ORGANISMS AND THEIR HIBERNATION PERIOD</a:t>
            </a:r>
            <a:endParaRPr lang="en-US" sz="4800" dirty="0"/>
          </a:p>
        </p:txBody>
      </p:sp>
      <p:pic>
        <p:nvPicPr>
          <p:cNvPr id="2097153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14500" y="1942465"/>
            <a:ext cx="8012430" cy="4305935"/>
          </a:xfrm>
        </p:spPr>
      </p:pic>
      <p:sp>
        <p:nvSpPr>
          <p:cNvPr id="1048627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itle 1"/>
          <p:cNvSpPr>
            <a:spLocks noGrp="1"/>
          </p:cNvSpPr>
          <p:nvPr>
            <p:ph type="title"/>
          </p:nvPr>
        </p:nvSpPr>
        <p:spPr>
          <a:xfrm>
            <a:off x="1199938" y="456936"/>
            <a:ext cx="6090269" cy="637309"/>
          </a:xfrm>
        </p:spPr>
        <p:txBody>
          <a:bodyPr>
            <a:noAutofit/>
          </a:bodyPr>
          <a:p>
            <a:r>
              <a:rPr lang="en-US" sz="4800" dirty="0" smtClean="0"/>
              <a:t>AESTIVATION</a:t>
            </a:r>
            <a:endParaRPr lang="en-US" sz="4800" dirty="0" smtClean="0"/>
          </a:p>
        </p:txBody>
      </p:sp>
      <p:sp>
        <p:nvSpPr>
          <p:cNvPr id="1048638" name="Text Placeholder 3"/>
          <p:cNvSpPr>
            <a:spLocks noGrp="1"/>
          </p:cNvSpPr>
          <p:nvPr>
            <p:ph type="body" sz="half" idx="2"/>
          </p:nvPr>
        </p:nvSpPr>
        <p:spPr>
          <a:xfrm>
            <a:off x="766445" y="852170"/>
            <a:ext cx="6734810" cy="5153660"/>
          </a:xfrm>
        </p:spPr>
        <p:txBody>
          <a:bodyPr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Reduced metabolic rate</a:t>
            </a:r>
            <a:endParaRPr lang="en-US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Lowered body temperatures</a:t>
            </a:r>
            <a:endParaRPr lang="en-US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Water conservation</a:t>
            </a:r>
            <a:endParaRPr lang="en-US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Fat storage</a:t>
            </a:r>
            <a:endParaRPr lang="en-US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Occurs mostly during summer</a:t>
            </a:r>
            <a:endParaRPr lang="en-US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Organisms </a:t>
            </a:r>
            <a:r>
              <a:rPr lang="en-US" sz="3200" dirty="0" smtClean="0"/>
              <a:t>look for a moist, cool and shady place to sleep</a:t>
            </a:r>
            <a:endParaRPr lang="en-US" sz="3200" dirty="0"/>
          </a:p>
        </p:txBody>
      </p:sp>
      <p:pic>
        <p:nvPicPr>
          <p:cNvPr id="2097155" name="Picture Placeholder 6"/>
          <p:cNvPicPr>
            <a:picLocks noGrp="1" noChangeAspect="1"/>
          </p:cNvPicPr>
          <p:nvPr>
            <p:ph type="pic" idx="1"/>
          </p:nvPr>
        </p:nvPicPr>
        <p:blipFill>
          <a:blip r:embed="rId1"/>
          <a:srcRect l="23460" r="23460"/>
          <a:stretch>
            <a:fillRect/>
          </a:stretch>
        </p:blipFill>
        <p:spPr>
          <a:xfrm>
            <a:off x="7380721" y="633351"/>
            <a:ext cx="3666690" cy="5181599"/>
          </a:xfrm>
        </p:spPr>
      </p:pic>
      <p:sp>
        <p:nvSpPr>
          <p:cNvPr id="1048639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095" y="791210"/>
            <a:ext cx="6055360" cy="990600"/>
          </a:xfrm>
        </p:spPr>
        <p:txBody>
          <a:bodyPr/>
          <a:p>
            <a:r>
              <a:rPr lang="en-US" sz="4800" dirty="0" smtClean="0">
                <a:sym typeface="+mn-ea"/>
              </a:rPr>
              <a:t>AESTIVATION CONT’D</a:t>
            </a:r>
            <a:endParaRPr lang="en-US" sz="480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095" y="1902460"/>
            <a:ext cx="8846820" cy="3511550"/>
          </a:xfrm>
        </p:spPr>
        <p:txBody>
          <a:bodyPr>
            <a:normAutofit lnSpcReduction="10000"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>
                <a:sym typeface="+mn-ea"/>
              </a:rPr>
              <a:t>It prevents excessive water loss and internal body damage due to high temperatures</a:t>
            </a:r>
            <a:endParaRPr lang="en-US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>
                <a:sym typeface="+mn-ea"/>
              </a:rPr>
              <a:t>It takes place in cold blooded animals like snails, earthworms and frogs</a:t>
            </a:r>
            <a:endParaRPr lang="en-US" sz="3200" dirty="0"/>
          </a:p>
          <a:p>
            <a:endParaRPr lang="en-US" sz="32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>
          <a:xfrm>
            <a:off x="1503045" y="241935"/>
            <a:ext cx="5563870" cy="1221105"/>
          </a:xfrm>
        </p:spPr>
        <p:txBody>
          <a:bodyPr/>
          <a:p>
            <a:r>
              <a:rPr lang="en-US" sz="4800" dirty="0" smtClean="0"/>
              <a:t>EXAMPLES</a:t>
            </a:r>
            <a:endParaRPr lang="en-US" sz="4800" dirty="0"/>
          </a:p>
        </p:txBody>
      </p:sp>
      <p:sp>
        <p:nvSpPr>
          <p:cNvPr id="1048652" name="Text Placeholder 2"/>
          <p:cNvSpPr>
            <a:spLocks noGrp="1"/>
          </p:cNvSpPr>
          <p:nvPr>
            <p:ph type="body" idx="1"/>
          </p:nvPr>
        </p:nvSpPr>
        <p:spPr>
          <a:xfrm>
            <a:off x="6056630" y="1668780"/>
            <a:ext cx="5334635" cy="823595"/>
          </a:xfrm>
        </p:spPr>
        <p:txBody>
          <a:bodyPr>
            <a:noAutofit/>
          </a:bodyPr>
          <a:p>
            <a:r>
              <a:rPr lang="en-US" sz="3200" dirty="0" smtClean="0"/>
              <a:t>Aestivation of crocodile</a:t>
            </a:r>
            <a:endParaRPr lang="en-US" sz="3200" dirty="0" smtClean="0"/>
          </a:p>
        </p:txBody>
      </p:sp>
      <p:pic>
        <p:nvPicPr>
          <p:cNvPr id="2097156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502886" y="2777490"/>
            <a:ext cx="3810000" cy="2667000"/>
          </a:xfrm>
        </p:spPr>
      </p:pic>
      <p:sp>
        <p:nvSpPr>
          <p:cNvPr id="104865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95070" y="1668780"/>
            <a:ext cx="4531995" cy="1108710"/>
          </a:xfrm>
        </p:spPr>
        <p:txBody>
          <a:bodyPr>
            <a:noAutofit/>
          </a:bodyPr>
          <a:p>
            <a:r>
              <a:rPr lang="en-US" sz="3200" dirty="0" smtClean="0"/>
              <a:t>Aestivation of desert tortoise</a:t>
            </a:r>
            <a:endParaRPr lang="en-US" sz="3200" dirty="0" smtClean="0"/>
          </a:p>
        </p:txBody>
      </p:sp>
      <p:pic>
        <p:nvPicPr>
          <p:cNvPr id="2097157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598761" y="2750502"/>
            <a:ext cx="3810000" cy="2695575"/>
          </a:xfrm>
        </p:spPr>
      </p:pic>
      <p:sp>
        <p:nvSpPr>
          <p:cNvPr id="104865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3" name="Title 1"/>
          <p:cNvSpPr>
            <a:spLocks noGrp="1"/>
          </p:cNvSpPr>
          <p:nvPr>
            <p:ph type="title"/>
          </p:nvPr>
        </p:nvSpPr>
        <p:spPr>
          <a:xfrm>
            <a:off x="1141412" y="53437"/>
            <a:ext cx="9905998" cy="1478570"/>
          </a:xfrm>
        </p:spPr>
        <p:txBody>
          <a:bodyPr/>
          <a:p>
            <a:r>
              <a:rPr lang="en-US" sz="4800" dirty="0" smtClean="0"/>
              <a:t>DIAPAUSE</a:t>
            </a:r>
            <a:endParaRPr lang="en-US" sz="4800" dirty="0"/>
          </a:p>
        </p:txBody>
      </p:sp>
      <p:sp>
        <p:nvSpPr>
          <p:cNvPr id="1048724" name="Content Placeholder 2"/>
          <p:cNvSpPr>
            <a:spLocks noGrp="1"/>
          </p:cNvSpPr>
          <p:nvPr>
            <p:ph idx="1"/>
          </p:nvPr>
        </p:nvSpPr>
        <p:spPr>
          <a:xfrm>
            <a:off x="1141095" y="1217295"/>
            <a:ext cx="9906000" cy="5121275"/>
          </a:xfrm>
        </p:spPr>
        <p:txBody>
          <a:bodyPr>
            <a:noAutofit/>
          </a:bodyPr>
          <a:p>
            <a:r>
              <a:rPr lang="en-US" sz="3200" dirty="0" smtClean="0"/>
              <a:t>Developmental arrest</a:t>
            </a:r>
            <a:endParaRPr lang="en-US" sz="3200" dirty="0" smtClean="0"/>
          </a:p>
          <a:p>
            <a:r>
              <a:rPr lang="en-US" sz="3200" dirty="0" smtClean="0"/>
              <a:t>Metabolic suppression</a:t>
            </a:r>
            <a:endParaRPr lang="en-US" sz="3200" dirty="0" smtClean="0"/>
          </a:p>
          <a:p>
            <a:r>
              <a:rPr lang="en-US" sz="3200" dirty="0" smtClean="0"/>
              <a:t>Changes in hormone levels</a:t>
            </a:r>
            <a:endParaRPr lang="en-US" sz="3200" dirty="0" smtClean="0"/>
          </a:p>
          <a:p>
            <a:r>
              <a:rPr lang="en-US" sz="3200" dirty="0" smtClean="0"/>
              <a:t>Tolerance to environmental stressors</a:t>
            </a:r>
            <a:endParaRPr lang="en-US" sz="3200" dirty="0" smtClean="0"/>
          </a:p>
          <a:p>
            <a:r>
              <a:rPr lang="en-US" sz="3200" dirty="0" smtClean="0"/>
              <a:t>Anti-desiccation mechanisms</a:t>
            </a:r>
            <a:endParaRPr lang="en-US" sz="3200" dirty="0" smtClean="0"/>
          </a:p>
          <a:p>
            <a:r>
              <a:rPr lang="en-US" sz="3200" dirty="0" smtClean="0"/>
              <a:t>Examples of insects that undergo diapause include flesh fly, southwestern corn borer etc.</a:t>
            </a:r>
            <a:endParaRPr lang="en-US" sz="3200" dirty="0" smtClean="0"/>
          </a:p>
        </p:txBody>
      </p:sp>
      <p:sp>
        <p:nvSpPr>
          <p:cNvPr id="104872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Title 1"/>
          <p:cNvSpPr>
            <a:spLocks noGrp="1"/>
          </p:cNvSpPr>
          <p:nvPr>
            <p:ph type="title"/>
          </p:nvPr>
        </p:nvSpPr>
        <p:spPr>
          <a:xfrm>
            <a:off x="1730375" y="437515"/>
            <a:ext cx="8276590" cy="1478280"/>
          </a:xfrm>
        </p:spPr>
        <p:txBody>
          <a:bodyPr/>
          <a:p>
            <a:r>
              <a:rPr lang="en-US" sz="4800" dirty="0" smtClean="0"/>
              <a:t>EXAMPLES OF ORGANISMS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2097159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2056606" y="2877344"/>
            <a:ext cx="3048000" cy="2286000"/>
          </a:xfrm>
        </p:spPr>
      </p:pic>
      <p:pic>
        <p:nvPicPr>
          <p:cNvPr id="2097160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92185" y="2877344"/>
            <a:ext cx="3435246" cy="2286000"/>
          </a:xfrm>
        </p:spPr>
      </p:pic>
      <p:sp>
        <p:nvSpPr>
          <p:cNvPr id="104873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</a:fld>
            <a:endParaRPr lang="en-US" dirty="0"/>
          </a:p>
        </p:txBody>
      </p:sp>
      <p:sp>
        <p:nvSpPr>
          <p:cNvPr id="2" name="Text Box 1"/>
          <p:cNvSpPr txBox="1"/>
          <p:nvPr/>
        </p:nvSpPr>
        <p:spPr>
          <a:xfrm>
            <a:off x="1730375" y="1696085"/>
            <a:ext cx="371856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/>
              <a:t>Cotton bollworm</a:t>
            </a:r>
            <a:endParaRPr lang="en-US" sz="3200"/>
          </a:p>
          <a:p>
            <a:pPr indent="0">
              <a:buFont typeface="Arial" panose="020B0604020202020204" pitchFamily="34" charset="0"/>
              <a:buNone/>
            </a:pPr>
            <a:r>
              <a:rPr lang="en-US" sz="3200"/>
              <a:t>(</a:t>
            </a:r>
            <a:r>
              <a:rPr lang="en-US" sz="3200" i="1"/>
              <a:t>Helicoverpa amiga)</a:t>
            </a:r>
            <a:endParaRPr lang="en-US" sz="3200"/>
          </a:p>
        </p:txBody>
      </p:sp>
      <p:sp>
        <p:nvSpPr>
          <p:cNvPr id="3" name="Text Box 2"/>
          <p:cNvSpPr txBox="1"/>
          <p:nvPr/>
        </p:nvSpPr>
        <p:spPr>
          <a:xfrm>
            <a:off x="6421755" y="1696085"/>
            <a:ext cx="5273040" cy="107632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/>
              <a:t>Evergreen Bagworm </a:t>
            </a:r>
            <a:endParaRPr lang="en-US" sz="3200"/>
          </a:p>
          <a:p>
            <a:pPr indent="0">
              <a:buFont typeface="Arial" panose="020B0604020202020204" pitchFamily="34" charset="0"/>
              <a:buNone/>
            </a:pPr>
            <a:r>
              <a:rPr lang="en-US" sz="3200" i="1"/>
              <a:t>(Thyridopteryx ephemeraefomis)</a:t>
            </a:r>
            <a:endParaRPr lang="en-US" sz="3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Title 1"/>
          <p:cNvSpPr>
            <a:spLocks noGrp="1"/>
          </p:cNvSpPr>
          <p:nvPr>
            <p:ph type="title"/>
          </p:nvPr>
        </p:nvSpPr>
        <p:spPr>
          <a:xfrm>
            <a:off x="1383348" y="557558"/>
            <a:ext cx="9905998" cy="1478570"/>
          </a:xfrm>
        </p:spPr>
        <p:txBody>
          <a:bodyPr/>
          <a:p>
            <a:r>
              <a:rPr lang="en-US" sz="4800" dirty="0" smtClean="0"/>
              <a:t>CONCLUSION</a:t>
            </a:r>
            <a:endParaRPr lang="en-US" sz="4800" dirty="0"/>
          </a:p>
        </p:txBody>
      </p:sp>
      <p:sp>
        <p:nvSpPr>
          <p:cNvPr id="1048735" name="Content Placeholder 2"/>
          <p:cNvSpPr>
            <a:spLocks noGrp="1"/>
          </p:cNvSpPr>
          <p:nvPr>
            <p:ph idx="1"/>
          </p:nvPr>
        </p:nvSpPr>
        <p:spPr>
          <a:xfrm>
            <a:off x="1141412" y="1842452"/>
            <a:ext cx="9905999" cy="3541714"/>
          </a:xfrm>
        </p:spPr>
        <p:txBody>
          <a:bodyPr/>
          <a:p>
            <a:r>
              <a:rPr lang="en-US" sz="3200" dirty="0" smtClean="0"/>
              <a:t>Hibernation, aestivation and diapause are adaptive mechanisms some organisms undergo to survive in harsh environmental conditions. They undergo this adaptive mechanisms to maintain their internal heat, to conserve energy and to p</a:t>
            </a:r>
            <a:r>
              <a:rPr lang="en-US" sz="3200" dirty="0" smtClean="0"/>
              <a:t>re</a:t>
            </a:r>
            <a:r>
              <a:rPr lang="en-US" sz="3200" dirty="0" smtClean="0"/>
              <a:t>ve</a:t>
            </a:r>
            <a:r>
              <a:rPr lang="en-US" sz="3200" dirty="0" smtClean="0"/>
              <a:t>nt</a:t>
            </a:r>
            <a:r>
              <a:rPr lang="en-US" sz="3200" dirty="0" smtClean="0"/>
              <a:t> internal damage.</a:t>
            </a:r>
            <a:endParaRPr lang="en-US" sz="3200" dirty="0"/>
          </a:p>
        </p:txBody>
      </p:sp>
      <p:sp>
        <p:nvSpPr>
          <p:cNvPr id="104873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7" name="Title 1"/>
          <p:cNvSpPr>
            <a:spLocks noGrp="1"/>
          </p:cNvSpPr>
          <p:nvPr>
            <p:ph type="title"/>
          </p:nvPr>
        </p:nvSpPr>
        <p:spPr>
          <a:xfrm flipV="1">
            <a:off x="1163781" y="617517"/>
            <a:ext cx="9764877" cy="357261"/>
          </a:xfrm>
        </p:spPr>
        <p:txBody>
          <a:bodyPr>
            <a:normAutofit fontScale="90000"/>
          </a:bodyPr>
          <a:p>
            <a:br>
              <a:rPr lang="en-US" dirty="0" smtClean="0"/>
            </a:br>
            <a:endParaRPr lang="en-US" dirty="0"/>
          </a:p>
        </p:txBody>
      </p:sp>
      <p:sp>
        <p:nvSpPr>
          <p:cNvPr id="1048738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</a:fld>
            <a:endParaRPr lang="en-US" dirty="0"/>
          </a:p>
        </p:txBody>
      </p:sp>
      <p:sp>
        <p:nvSpPr>
          <p:cNvPr id="1" name="Content Placeholder 0"/>
          <p:cNvSpPr/>
          <p:nvPr>
            <p:ph idx="1"/>
          </p:nvPr>
        </p:nvSpPr>
        <p:spPr>
          <a:xfrm>
            <a:off x="2059305" y="2134870"/>
            <a:ext cx="8503920" cy="258826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sz="12000"/>
              <a:t>THANK YOU</a:t>
            </a:r>
            <a:endParaRPr lang="en-US" sz="1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Title 1"/>
          <p:cNvSpPr>
            <a:spLocks noGrp="1"/>
          </p:cNvSpPr>
          <p:nvPr>
            <p:ph type="title"/>
          </p:nvPr>
        </p:nvSpPr>
        <p:spPr>
          <a:xfrm>
            <a:off x="1376998" y="769648"/>
            <a:ext cx="9905998" cy="1478570"/>
          </a:xfrm>
        </p:spPr>
        <p:txBody>
          <a:bodyPr/>
          <a:p>
            <a:r>
              <a:rPr lang="en-US" sz="4800" dirty="0" smtClean="0"/>
              <a:t>REFERENCES</a:t>
            </a:r>
            <a:endParaRPr lang="en-US" sz="4800" dirty="0"/>
          </a:p>
        </p:txBody>
      </p:sp>
      <p:sp>
        <p:nvSpPr>
          <p:cNvPr id="1048740" name="Content Placeholder 2"/>
          <p:cNvSpPr>
            <a:spLocks noGrp="1"/>
          </p:cNvSpPr>
          <p:nvPr>
            <p:ph idx="1"/>
          </p:nvPr>
        </p:nvSpPr>
        <p:spPr>
          <a:xfrm>
            <a:off x="1377538" y="2097087"/>
            <a:ext cx="9237364" cy="4020844"/>
          </a:xfrm>
        </p:spPr>
        <p:txBody>
          <a:bodyPr/>
          <a:p>
            <a:r>
              <a:rPr lang="en-US" sz="2800" dirty="0"/>
              <a:t>https://www.britannica.com/science/hibernation</a:t>
            </a:r>
            <a:endParaRPr lang="en-US" sz="2800" dirty="0"/>
          </a:p>
          <a:p>
            <a:r>
              <a:rPr lang="en-US" sz="2800" dirty="0"/>
              <a:t>https://www.sciencedirect.com/topics/agricultural-and-biological-sciences/aestivation</a:t>
            </a:r>
            <a:endParaRPr lang="en-US" sz="2800" dirty="0"/>
          </a:p>
          <a:p>
            <a:r>
              <a:rPr lang="en-US" sz="2800" dirty="0"/>
              <a:t>https://www.google.com/amp/s/www.geeksforgeeks.org/difference-between-aestivation-and-hibernation/amp/</a:t>
            </a:r>
            <a:endParaRPr lang="en-US" sz="2800" dirty="0"/>
          </a:p>
        </p:txBody>
      </p:sp>
      <p:sp>
        <p:nvSpPr>
          <p:cNvPr id="104874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2194</Words>
  <Application>WPS Presentation</Application>
  <PresentationFormat/>
  <Paragraphs>119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SimSun</vt:lpstr>
      <vt:lpstr>Wingdings</vt:lpstr>
      <vt:lpstr>Trebuchet MS</vt:lpstr>
      <vt:lpstr>Tw Cen MT</vt:lpstr>
      <vt:lpstr>Microsoft YaHei</vt:lpstr>
      <vt:lpstr>Arial Unicode MS</vt:lpstr>
      <vt:lpstr>Calibri</vt:lpstr>
      <vt:lpstr>Circuit</vt:lpstr>
      <vt:lpstr>PHYSIOLOGY OF HIBERNATION, AESTIVATION AND DIAPAUSE</vt:lpstr>
      <vt:lpstr>PRESENTATION OUTLINE</vt:lpstr>
      <vt:lpstr>INTRODUCTION</vt:lpstr>
      <vt:lpstr>Hibernation</vt:lpstr>
      <vt:lpstr>STAGES OF HIBERNATION</vt:lpstr>
      <vt:lpstr>EXAMPLES OF ORGANISMS AND THEIR HIBERNATION PERIOD</vt:lpstr>
      <vt:lpstr>AESTIVATION</vt:lpstr>
      <vt:lpstr>PowerPoint 演示文稿</vt:lpstr>
      <vt:lpstr>EXAMPLES</vt:lpstr>
      <vt:lpstr>DIAPAUSE</vt:lpstr>
      <vt:lpstr>EXAMPLES OF ORGANISMS </vt:lpstr>
      <vt:lpstr>CONCLUSION</vt:lpstr>
      <vt:lpstr> </vt:lpstr>
      <vt:lpstr>REFERENCES</vt:lpstr>
    </vt:vector>
  </TitlesOfParts>
  <Company>Grizli777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PHYSIOLOGY OF HIBERNATION, AESTIVATION AND DIAPAUSE</dc:title>
  <dc:creator>OLIVIA INCOOM</dc:creator>
  <cp:lastModifiedBy>ANGMOR</cp:lastModifiedBy>
  <cp:revision>1</cp:revision>
  <dcterms:created xsi:type="dcterms:W3CDTF">2023-08-02T01:14:16Z</dcterms:created>
  <dcterms:modified xsi:type="dcterms:W3CDTF">2023-08-02T01:14:16Z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806012255AA8456086D49E95ACAF227E</vt:lpwstr>
  </property>
  <property fmtid="{D5CDD505-2E9C-101B-9397-08002B2CF9AE}" pid="3" name="KSOProductBuildVer">
    <vt:lpwstr>1033-11.2.0.11537</vt:lpwstr>
  </property>
</Properties>
</file>