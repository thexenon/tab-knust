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0" r:id="rId6"/>
    <p:sldId id="272" r:id="rId7"/>
    <p:sldId id="260" r:id="rId8"/>
    <p:sldId id="261" r:id="rId9"/>
    <p:sldId id="262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ila Abrokwa" userId="fec38199d5a93fef" providerId="LiveId" clId="{D20B1D1C-9B5C-4B5B-8ADC-0C3FA7138F80}"/>
    <pc:docChg chg="custSel modSld">
      <pc:chgData name="Sheila Abrokwa" userId="fec38199d5a93fef" providerId="LiveId" clId="{D20B1D1C-9B5C-4B5B-8ADC-0C3FA7138F80}" dt="2023-07-16T17:33:22.306" v="32" actId="20577"/>
      <pc:docMkLst>
        <pc:docMk/>
      </pc:docMkLst>
      <pc:sldChg chg="modSp mod">
        <pc:chgData name="Sheila Abrokwa" userId="fec38199d5a93fef" providerId="LiveId" clId="{D20B1D1C-9B5C-4B5B-8ADC-0C3FA7138F80}" dt="2023-07-16T17:33:22.306" v="32" actId="20577"/>
        <pc:sldMkLst>
          <pc:docMk/>
          <pc:sldMk cId="3536842628" sldId="268"/>
        </pc:sldMkLst>
        <pc:spChg chg="mod">
          <ac:chgData name="Sheila Abrokwa" userId="fec38199d5a93fef" providerId="LiveId" clId="{D20B1D1C-9B5C-4B5B-8ADC-0C3FA7138F80}" dt="2023-07-16T17:33:22.306" v="32" actId="20577"/>
          <ac:spMkLst>
            <pc:docMk/>
            <pc:sldMk cId="3536842628" sldId="268"/>
            <ac:spMk id="3" creationId="{669618CE-06C1-4864-812C-F48D4914BAF6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45CD2F-FD98-4A4E-A337-A169BBC351AF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27F0222-0E98-4673-9125-4211A075E44C}">
      <dgm:prSet/>
      <dgm:spPr/>
      <dgm:t>
        <a:bodyPr/>
        <a:lstStyle/>
        <a:p>
          <a:r>
            <a:rPr lang="en-GB" dirty="0">
              <a:latin typeface="Times New Roman" panose="02020603050405020304" pitchFamily="18" charset="0"/>
              <a:cs typeface="Times New Roman" panose="02020603050405020304" pitchFamily="18" charset="0"/>
            </a:rPr>
            <a:t>Policymakers must be aware of these trends and ideologies to help countries understand the risks and opportunities at various decision points in natural resource governance. 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4D25500-34D0-47B0-BB12-88B9DB90AC04}" type="parTrans" cxnId="{C2346AF1-D95B-453D-85AC-AD6CE9FA0173}">
      <dgm:prSet/>
      <dgm:spPr/>
      <dgm:t>
        <a:bodyPr/>
        <a:lstStyle/>
        <a:p>
          <a:endParaRPr lang="en-US"/>
        </a:p>
      </dgm:t>
    </dgm:pt>
    <dgm:pt modelId="{639740C7-EDB2-453D-AF38-04FCE083AA23}" type="sibTrans" cxnId="{C2346AF1-D95B-453D-85AC-AD6CE9FA0173}">
      <dgm:prSet/>
      <dgm:spPr/>
      <dgm:t>
        <a:bodyPr/>
        <a:lstStyle/>
        <a:p>
          <a:endParaRPr lang="en-US"/>
        </a:p>
      </dgm:t>
    </dgm:pt>
    <dgm:pt modelId="{24205A89-0093-4A88-8A3F-960960A2DC7B}">
      <dgm:prSet/>
      <dgm:spPr/>
      <dgm:t>
        <a:bodyPr/>
        <a:lstStyle/>
        <a:p>
          <a:r>
            <a:rPr lang="en-GB" dirty="0">
              <a:latin typeface="Times New Roman" panose="02020603050405020304" pitchFamily="18" charset="0"/>
              <a:cs typeface="Times New Roman" panose="02020603050405020304" pitchFamily="18" charset="0"/>
            </a:rPr>
            <a:t>Policies should include greater transparency, stabilization and savings funds, diversification of the economy and alternative tax system.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28FF2C-4025-480F-A24D-6DFD6DF14AA1}" type="parTrans" cxnId="{C87F8524-C379-49E9-9E69-B57911ACA640}">
      <dgm:prSet/>
      <dgm:spPr/>
      <dgm:t>
        <a:bodyPr/>
        <a:lstStyle/>
        <a:p>
          <a:endParaRPr lang="en-US"/>
        </a:p>
      </dgm:t>
    </dgm:pt>
    <dgm:pt modelId="{622874DF-CAC4-4162-9C0A-14902C6CA0E2}" type="sibTrans" cxnId="{C87F8524-C379-49E9-9E69-B57911ACA640}">
      <dgm:prSet/>
      <dgm:spPr/>
      <dgm:t>
        <a:bodyPr/>
        <a:lstStyle/>
        <a:p>
          <a:endParaRPr lang="en-US"/>
        </a:p>
      </dgm:t>
    </dgm:pt>
    <dgm:pt modelId="{1203C245-B945-4366-9A0E-3676A7E530A5}" type="pres">
      <dgm:prSet presAssocID="{1445CD2F-FD98-4A4E-A337-A169BBC351A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3F3C0EA-5F60-43C4-B55C-05DA1D425FD7}" type="pres">
      <dgm:prSet presAssocID="{B27F0222-0E98-4673-9125-4211A075E44C}" presName="hierRoot1" presStyleCnt="0"/>
      <dgm:spPr/>
    </dgm:pt>
    <dgm:pt modelId="{7F7C505A-73FF-4977-9A3F-2C26EB72EA8B}" type="pres">
      <dgm:prSet presAssocID="{B27F0222-0E98-4673-9125-4211A075E44C}" presName="composite" presStyleCnt="0"/>
      <dgm:spPr/>
    </dgm:pt>
    <dgm:pt modelId="{BFCBECD2-6CBA-4770-A139-E7B50E6AED18}" type="pres">
      <dgm:prSet presAssocID="{B27F0222-0E98-4673-9125-4211A075E44C}" presName="background" presStyleLbl="node0" presStyleIdx="0" presStyleCnt="2"/>
      <dgm:spPr/>
    </dgm:pt>
    <dgm:pt modelId="{E0C64000-BD33-4AB0-A64F-D21CA9A7DE71}" type="pres">
      <dgm:prSet presAssocID="{B27F0222-0E98-4673-9125-4211A075E44C}" presName="text" presStyleLbl="fgAcc0" presStyleIdx="0" presStyleCnt="2">
        <dgm:presLayoutVars>
          <dgm:chPref val="3"/>
        </dgm:presLayoutVars>
      </dgm:prSet>
      <dgm:spPr/>
    </dgm:pt>
    <dgm:pt modelId="{D9D910FF-2F6F-4D4E-9B41-33F705708116}" type="pres">
      <dgm:prSet presAssocID="{B27F0222-0E98-4673-9125-4211A075E44C}" presName="hierChild2" presStyleCnt="0"/>
      <dgm:spPr/>
    </dgm:pt>
    <dgm:pt modelId="{670208C6-9C1F-40C9-8D4D-1EE4F193BB49}" type="pres">
      <dgm:prSet presAssocID="{24205A89-0093-4A88-8A3F-960960A2DC7B}" presName="hierRoot1" presStyleCnt="0"/>
      <dgm:spPr/>
    </dgm:pt>
    <dgm:pt modelId="{E5983466-D697-48A7-84AE-9BDC4EE86EE4}" type="pres">
      <dgm:prSet presAssocID="{24205A89-0093-4A88-8A3F-960960A2DC7B}" presName="composite" presStyleCnt="0"/>
      <dgm:spPr/>
    </dgm:pt>
    <dgm:pt modelId="{A523B7CF-D73D-4470-B74E-602CFDCED2E2}" type="pres">
      <dgm:prSet presAssocID="{24205A89-0093-4A88-8A3F-960960A2DC7B}" presName="background" presStyleLbl="node0" presStyleIdx="1" presStyleCnt="2"/>
      <dgm:spPr/>
    </dgm:pt>
    <dgm:pt modelId="{B03F4F96-4A01-41F4-B8C7-43D2C325CCFC}" type="pres">
      <dgm:prSet presAssocID="{24205A89-0093-4A88-8A3F-960960A2DC7B}" presName="text" presStyleLbl="fgAcc0" presStyleIdx="1" presStyleCnt="2">
        <dgm:presLayoutVars>
          <dgm:chPref val="3"/>
        </dgm:presLayoutVars>
      </dgm:prSet>
      <dgm:spPr/>
    </dgm:pt>
    <dgm:pt modelId="{C36B91FD-917D-4F52-BFE1-99FB500B8090}" type="pres">
      <dgm:prSet presAssocID="{24205A89-0093-4A88-8A3F-960960A2DC7B}" presName="hierChild2" presStyleCnt="0"/>
      <dgm:spPr/>
    </dgm:pt>
  </dgm:ptLst>
  <dgm:cxnLst>
    <dgm:cxn modelId="{4B83831D-26C9-49AE-AA06-32083028B517}" type="presOf" srcId="{1445CD2F-FD98-4A4E-A337-A169BBC351AF}" destId="{1203C245-B945-4366-9A0E-3676A7E530A5}" srcOrd="0" destOrd="0" presId="urn:microsoft.com/office/officeart/2005/8/layout/hierarchy1"/>
    <dgm:cxn modelId="{C87F8524-C379-49E9-9E69-B57911ACA640}" srcId="{1445CD2F-FD98-4A4E-A337-A169BBC351AF}" destId="{24205A89-0093-4A88-8A3F-960960A2DC7B}" srcOrd="1" destOrd="0" parTransId="{2828FF2C-4025-480F-A24D-6DFD6DF14AA1}" sibTransId="{622874DF-CAC4-4162-9C0A-14902C6CA0E2}"/>
    <dgm:cxn modelId="{233A8F2F-8EE1-424D-8B09-9CC41F90FA01}" type="presOf" srcId="{B27F0222-0E98-4673-9125-4211A075E44C}" destId="{E0C64000-BD33-4AB0-A64F-D21CA9A7DE71}" srcOrd="0" destOrd="0" presId="urn:microsoft.com/office/officeart/2005/8/layout/hierarchy1"/>
    <dgm:cxn modelId="{450022A5-E245-4786-BDBC-E77DBD33F181}" type="presOf" srcId="{24205A89-0093-4A88-8A3F-960960A2DC7B}" destId="{B03F4F96-4A01-41F4-B8C7-43D2C325CCFC}" srcOrd="0" destOrd="0" presId="urn:microsoft.com/office/officeart/2005/8/layout/hierarchy1"/>
    <dgm:cxn modelId="{C2346AF1-D95B-453D-85AC-AD6CE9FA0173}" srcId="{1445CD2F-FD98-4A4E-A337-A169BBC351AF}" destId="{B27F0222-0E98-4673-9125-4211A075E44C}" srcOrd="0" destOrd="0" parTransId="{E4D25500-34D0-47B0-BB12-88B9DB90AC04}" sibTransId="{639740C7-EDB2-453D-AF38-04FCE083AA23}"/>
    <dgm:cxn modelId="{E7DA921F-B456-4A58-9526-05C8146123B3}" type="presParOf" srcId="{1203C245-B945-4366-9A0E-3676A7E530A5}" destId="{43F3C0EA-5F60-43C4-B55C-05DA1D425FD7}" srcOrd="0" destOrd="0" presId="urn:microsoft.com/office/officeart/2005/8/layout/hierarchy1"/>
    <dgm:cxn modelId="{C09BAC08-4A98-4D4E-A169-8522029D117D}" type="presParOf" srcId="{43F3C0EA-5F60-43C4-B55C-05DA1D425FD7}" destId="{7F7C505A-73FF-4977-9A3F-2C26EB72EA8B}" srcOrd="0" destOrd="0" presId="urn:microsoft.com/office/officeart/2005/8/layout/hierarchy1"/>
    <dgm:cxn modelId="{58C27347-CBEB-4585-A28E-67613930325D}" type="presParOf" srcId="{7F7C505A-73FF-4977-9A3F-2C26EB72EA8B}" destId="{BFCBECD2-6CBA-4770-A139-E7B50E6AED18}" srcOrd="0" destOrd="0" presId="urn:microsoft.com/office/officeart/2005/8/layout/hierarchy1"/>
    <dgm:cxn modelId="{4CDD97AB-6790-4B1F-96FA-16405C73FF16}" type="presParOf" srcId="{7F7C505A-73FF-4977-9A3F-2C26EB72EA8B}" destId="{E0C64000-BD33-4AB0-A64F-D21CA9A7DE71}" srcOrd="1" destOrd="0" presId="urn:microsoft.com/office/officeart/2005/8/layout/hierarchy1"/>
    <dgm:cxn modelId="{9301DC48-B182-4C67-83FC-A46C80DA6AB7}" type="presParOf" srcId="{43F3C0EA-5F60-43C4-B55C-05DA1D425FD7}" destId="{D9D910FF-2F6F-4D4E-9B41-33F705708116}" srcOrd="1" destOrd="0" presId="urn:microsoft.com/office/officeart/2005/8/layout/hierarchy1"/>
    <dgm:cxn modelId="{289D73AC-48DC-418B-813D-607F5F085F74}" type="presParOf" srcId="{1203C245-B945-4366-9A0E-3676A7E530A5}" destId="{670208C6-9C1F-40C9-8D4D-1EE4F193BB49}" srcOrd="1" destOrd="0" presId="urn:microsoft.com/office/officeart/2005/8/layout/hierarchy1"/>
    <dgm:cxn modelId="{71B21530-5B54-4E10-9BB1-6F95C6EDC642}" type="presParOf" srcId="{670208C6-9C1F-40C9-8D4D-1EE4F193BB49}" destId="{E5983466-D697-48A7-84AE-9BDC4EE86EE4}" srcOrd="0" destOrd="0" presId="urn:microsoft.com/office/officeart/2005/8/layout/hierarchy1"/>
    <dgm:cxn modelId="{F3FFF181-4187-4916-A1CE-2E9DE2962A6F}" type="presParOf" srcId="{E5983466-D697-48A7-84AE-9BDC4EE86EE4}" destId="{A523B7CF-D73D-4470-B74E-602CFDCED2E2}" srcOrd="0" destOrd="0" presId="urn:microsoft.com/office/officeart/2005/8/layout/hierarchy1"/>
    <dgm:cxn modelId="{4176498F-53F4-4300-8A05-B1AB4215FE80}" type="presParOf" srcId="{E5983466-D697-48A7-84AE-9BDC4EE86EE4}" destId="{B03F4F96-4A01-41F4-B8C7-43D2C325CCFC}" srcOrd="1" destOrd="0" presId="urn:microsoft.com/office/officeart/2005/8/layout/hierarchy1"/>
    <dgm:cxn modelId="{4DD8BF54-FF36-4D2A-A186-FE70B49A2C7D}" type="presParOf" srcId="{670208C6-9C1F-40C9-8D4D-1EE4F193BB49}" destId="{C36B91FD-917D-4F52-BFE1-99FB500B809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CBECD2-6CBA-4770-A139-E7B50E6AED18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C64000-BD33-4AB0-A64F-D21CA9A7DE71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Policymakers must be aware of these trends and ideologies to help countries understand the risks and opportunities at various decision points in natural resource governance. </a:t>
          </a:r>
          <a:endParaRPr 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08661" y="692298"/>
        <a:ext cx="4508047" cy="2799040"/>
      </dsp:txXfrm>
    </dsp:sp>
    <dsp:sp modelId="{A523B7CF-D73D-4470-B74E-602CFDCED2E2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3F4F96-4A01-41F4-B8C7-43D2C325CCFC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Policies should include greater transparency, stabilization and savings funds, diversification of the economy and alternative tax system.</a:t>
          </a:r>
          <a:endParaRPr 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331365" y="692298"/>
        <a:ext cx="4508047" cy="2799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EC9A1-DF31-4C42-B22F-183CACEB88C1}" type="datetimeFigureOut">
              <a:rPr lang="en-GB" smtClean="0"/>
              <a:t>16/07/2023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E9EE9-8A03-45A5-B043-9B82794505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4106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C9D2B-598B-480C-920F-BB0206CF5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1B24AF-7D2A-448A-8F98-5E05FE88C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450B9-B722-4475-A29C-EF82D48EB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24FB-C93D-4E84-980B-829C4B1F8FAD}" type="datetime1">
              <a:rPr lang="en-GB" smtClean="0"/>
              <a:t>16/07/2023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6FF46-B45D-439C-8215-B8081B84F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580F1-5D1A-4150-96EC-F98D0407B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BCA-A50F-46FA-B588-C95311C74F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17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7DBC2-22F5-47CC-ABB7-4FAC3E03B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2E9D6-94CB-4D4F-AE89-2AB1F62D7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7DC81-8510-40E0-9752-6D695B010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4C255-1ABC-431D-86DD-CC5B659C2677}" type="datetime1">
              <a:rPr lang="en-GB" smtClean="0"/>
              <a:t>16/07/2023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9FC5F-BB9B-4549-9098-27FFD2C59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6F058-6C24-4E01-97DF-445E07084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BCA-A50F-46FA-B588-C95311C74F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5297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55AD5-24A5-446F-92B9-FE0428F53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6B1156-6799-4779-A0C5-19FB439B1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D425E-1A6F-4267-9883-EDEE081F0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75BBF-DDC9-4245-A8F4-9D50CA9FBAB6}" type="datetime1">
              <a:rPr lang="en-GB" smtClean="0"/>
              <a:t>16/07/2023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C9D12-C785-4A7D-8B4E-D1614AD9C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917F7-F3B0-43FE-971F-6D9B74D21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BCA-A50F-46FA-B588-C95311C74F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6166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3F3D-EB38-4574-98E7-41CB48412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75872-79B5-4025-B523-BC0986A388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6E3D4-2E32-4E09-BA3A-2594678AB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2EEA1-626D-4861-82EC-EC6D65B9D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9AAEF-AF73-432F-AFCF-3A7481A45893}" type="datetime1">
              <a:rPr lang="en-GB" smtClean="0"/>
              <a:t>16/07/2023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124F7-B4AE-4809-A7A7-DEFDC5088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A2A8A-47F2-4D98-887F-65FDD8A07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BCA-A50F-46FA-B588-C95311C74F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5277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5DBB6-9AC7-406C-8490-FD9626313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5F004-6491-40BB-B367-E8BA4370E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85AAB-9351-4208-BF9D-3ECB152D9A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EE7AFD-844A-481F-8EC3-ED40896B61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BBFD1F-2769-4D66-959A-F443CA6EE6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3A0CB-0400-4E1B-BD5E-498ECA35C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BF73-FC71-4CB4-A7EA-90BE3FCAED25}" type="datetime1">
              <a:rPr lang="en-GB" smtClean="0"/>
              <a:t>16/07/2023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572DE8-0E97-439E-8946-D5B2501C7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F389C-65B1-4A1D-A0C3-C616CC123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BCA-A50F-46FA-B588-C95311C74F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9606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C7479-094D-4710-BDAB-F234AE8D2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B1E351-7D8F-416E-BBD9-A6B9C2557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BAF3-8086-4C56-AECA-14C9B422FF38}" type="datetime1">
              <a:rPr lang="en-GB" smtClean="0"/>
              <a:t>16/07/2023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4AE0C-1F62-43B0-9B56-7E6487104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EBE80-AA60-4F79-BAB5-4EA90BB6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BCA-A50F-46FA-B588-C95311C74F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1756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525552-EAC3-4EE5-A722-266AD77E7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32744-55E9-40BA-908D-ED600ED404CE}" type="datetime1">
              <a:rPr lang="en-GB" smtClean="0"/>
              <a:t>16/07/2023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FB1374-5A1F-45BD-B4B7-6C6C589FC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B630F-E1A6-4A13-B0B9-B09508D6D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BCA-A50F-46FA-B588-C95311C74F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70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1C3AA-B05D-410C-B77B-A0C75D33A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470BD-7473-4019-AC93-FCFB03D93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550DA-82FC-4537-9411-36029281EC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38070-6AAF-4C93-B9BD-FA6781F43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150C8-35CF-482D-8CB4-2C664992866F}" type="datetime1">
              <a:rPr lang="en-GB" smtClean="0"/>
              <a:t>16/07/2023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693C2-7A75-415D-8E15-20F3D7E2F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EF1CE-809A-42B0-97DA-DEF852921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BCA-A50F-46FA-B588-C95311C74F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359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E03A9-ECED-4FBE-B611-1BBADAA19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771873-62D3-426D-AF57-D199603D9F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1EEB7F-7CE9-4E0F-98E3-DD712966D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365D7-8A4D-45D4-B79F-C9B7E3C83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7F913-0956-4B65-BA3E-250CBF247C99}" type="datetime1">
              <a:rPr lang="en-GB" smtClean="0"/>
              <a:t>16/07/2023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123701-6C3B-4A5B-A3C5-56E6B35D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4A044-9089-4D27-9C07-C7B610B21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BCA-A50F-46FA-B588-C95311C74F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0634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80B7F-F95A-4FFD-90E1-B4B3CDD82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CD86A9-E42B-4D5B-8406-FDB1A2BFF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53B11-A7D9-41E1-B5E7-73E4A7EDA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F0BD-C46D-40E0-8791-557DC869697F}" type="datetime1">
              <a:rPr lang="en-GB" smtClean="0"/>
              <a:t>16/07/2023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63D26-69D6-4253-A470-81FDDC04C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70F60-C5F2-4BE5-A642-A979CF953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BCA-A50F-46FA-B588-C95311C74F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1425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6965E4-05C0-4662-9FF1-AE49CEBB06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AD7E57-CCEE-4077-B4F5-EB42B38FF4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0A7B9-0953-45F7-8753-7E9202B16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858E4-D018-4DA6-88CE-4CAE7866798C}" type="datetime1">
              <a:rPr lang="en-GB" smtClean="0"/>
              <a:t>16/07/2023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DEB4D-D28E-465D-9498-83C0AABC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5A41B-CA65-4409-8F11-31E8EEFD0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BCA-A50F-46FA-B588-C95311C74F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532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253FCB-68DC-4C2F-BC0B-6046CE886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2E51E-53FD-48A2-91A4-39163FF5A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39181-AD36-43E3-89C1-AAA7FDDDAD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E5EF7-FC07-4321-9EAF-89252CA477E4}" type="datetime1">
              <a:rPr lang="en-GB" smtClean="0"/>
              <a:t>16/07/2023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FA3A1-2D31-4333-AA1B-36AABBF6E3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137F2-B20B-46FE-AD8C-8D380DCFD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CEBCA-A50F-46FA-B588-C95311C74F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3784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E42565C-E3CC-4EF0-8093-88FCC788A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8027347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BA3152-54D7-47AF-9041-9AABC86E3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9620" y="1471351"/>
            <a:ext cx="7108911" cy="4016621"/>
          </a:xfrm>
        </p:spPr>
        <p:txBody>
          <a:bodyPr anchor="ctr">
            <a:normAutofit/>
          </a:bodyPr>
          <a:lstStyle/>
          <a:p>
            <a:pPr algn="l"/>
            <a:r>
              <a:rPr lang="en-GB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NATURAL RESOURCE CURSE AND HUMAN DEPENDENCE ON BIODIVERSITY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1D9D67-7101-4AAD-86C3-EC34928DB8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3178" y="1845264"/>
            <a:ext cx="3000907" cy="3268794"/>
          </a:xfrm>
        </p:spPr>
        <p:txBody>
          <a:bodyPr anchor="ctr">
            <a:normAutofit/>
          </a:bodyPr>
          <a:lstStyle/>
          <a:p>
            <a:pPr algn="l"/>
            <a:r>
              <a:rPr lang="en-GB" sz="2200">
                <a:latin typeface="Times New Roman" panose="02020603050405020304" pitchFamily="18" charset="0"/>
                <a:cs typeface="Times New Roman" panose="02020603050405020304" pitchFamily="18" charset="0"/>
              </a:rPr>
              <a:t>GROUP 9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F6F87-19E1-4045-9133-04C806A38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BCA-A50F-46FA-B588-C95311C74F9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523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1CC2C-F49E-4F0E-BDA4-5CC008C46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680" y="619854"/>
            <a:ext cx="9849751" cy="1349671"/>
          </a:xfrm>
        </p:spPr>
        <p:txBody>
          <a:bodyPr anchor="b">
            <a:normAutofit/>
          </a:bodyPr>
          <a:lstStyle/>
          <a:p>
            <a:r>
              <a:rPr lang="en-GB" sz="4600">
                <a:latin typeface="Times New Roman" panose="02020603050405020304" pitchFamily="18" charset="0"/>
                <a:cs typeface="Times New Roman" panose="02020603050405020304" pitchFamily="18" charset="0"/>
              </a:rPr>
              <a:t>THE NATURAL RESOURCE CURSE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947E1-B0BD-4C2A-8D84-1C11D5BF6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021" y="2025894"/>
            <a:ext cx="9849751" cy="3032168"/>
          </a:xfrm>
        </p:spPr>
        <p:txBody>
          <a:bodyPr anchor="ctr">
            <a:norm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resource curse (the paradox of plenty) refers to the failure of many resource-rich countries such as Nigeria and Zambia to benefit fully from their natural resource wealth, and for their governments to respond effectively to public welfare needs.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phenomenon mainly occurs when a country begins to focus all of its production means on a single industry, such as mining or oil production, and neglects investment in other major sectors.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81DCA-63C5-44CB-B94B-C1C42D557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BCA-A50F-46FA-B588-C95311C74F9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8984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882750-3AA1-4B5A-A15D-D5FC7CF11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CONTRIBUTORS TO THE NATURAL RESOURCE CURSE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863CA-6C4B-4DD0-8C79-BBF4E8F91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6380"/>
            <a:ext cx="9941319" cy="336328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CONTRIBUTORS:</a:t>
            </a:r>
          </a:p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Volatility of commodity prices</a:t>
            </a:r>
          </a:p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mismanagement</a:t>
            </a:r>
          </a:p>
          <a:p>
            <a:pPr marL="0" indent="0"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3A56F04-270B-4BC1-A329-7B31A6190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5035" y="3044629"/>
            <a:ext cx="5838507" cy="325112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7071C-2096-4FF6-B7E2-B849A0033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BCA-A50F-46FA-B588-C95311C74F9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0379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6E7627-F1D0-471E-A2B9-7A3F84535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CONTRIBUTORS TO THE NATURAL RESOURCE CURSE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0857F-89A5-4C78-9D1A-0EA4A621E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Dutch disease phenomenon;</a:t>
            </a:r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171D71-1F13-4F94-B1D6-ED8A70862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318" y="2197217"/>
            <a:ext cx="7390448" cy="331839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DF87FE-6509-49FC-909B-E279E5949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BCA-A50F-46FA-B588-C95311C74F9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7981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7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7" name="Group 8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6" name="Rectangle 8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933C1E-D606-AC14-71A2-01EE23E89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 dirty="0">
                <a:latin typeface="Times New Roman"/>
                <a:cs typeface="Times New Roman"/>
              </a:rPr>
              <a:t>CONTRIBUTORS TO THE NATURAL RESOURCE CURSE</a:t>
            </a:r>
          </a:p>
          <a:p>
            <a:endParaRPr lang="en-GB" sz="4800" dirty="0">
              <a:cs typeface="Calibri Light"/>
            </a:endParaRPr>
          </a:p>
        </p:txBody>
      </p:sp>
      <p:sp>
        <p:nvSpPr>
          <p:cNvPr id="74" name="Content Placeholder 28">
            <a:extLst>
              <a:ext uri="{FF2B5EF4-FFF2-40B4-BE49-F238E27FC236}">
                <a16:creationId xmlns:a16="http://schemas.microsoft.com/office/drawing/2014/main" id="{D8F9FB74-8DEC-6E99-0DF5-75E372D2D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5" y="2356404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POLITICAL CONTRIBUTORS:</a:t>
            </a:r>
          </a:p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Rent seeking</a:t>
            </a:r>
          </a:p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Corruption and weak institutions</a:t>
            </a:r>
          </a:p>
          <a:p>
            <a:pPr marL="0" indent="0"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8F422BF-3A1A-470D-B11E-C1308BC2B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334" y="2696268"/>
            <a:ext cx="4052278" cy="20571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655A32-28F9-4CB9-9714-34318A7D4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271" y="4788401"/>
            <a:ext cx="2957690" cy="166491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A2D915-FA97-4199-8911-96E6945F6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BCA-A50F-46FA-B588-C95311C74F9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096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760F0-ACDB-4412-A5E8-7AEBAFA52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OF THE RESOURCE CURSE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751A4-4033-4549-8288-BC995380D2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ANGOLA                                                       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81E4B9-20D3-4981-94D8-8A05E0BDD49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SAUDI ARABIA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74E6B9-54CC-4566-9CE8-A88FFF152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467769"/>
            <a:ext cx="4744571" cy="34354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62FBA1-D5FD-405A-87FE-6BD18F2E3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467769"/>
            <a:ext cx="4052047" cy="360441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AAB165-0728-4AD3-87EE-9F429C9ED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BCA-A50F-46FA-B588-C95311C74F9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4449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7AF1B-3B5A-4893-BF24-DE9E48A5A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FEASIBLE SOLUTIONS TO MITIGATE THE CURSE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60D61726-1ACA-927B-6E69-15EA5FED8D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721467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BA4EE7-493E-49C8-910D-25BD1A7AD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BCA-A50F-46FA-B588-C95311C74F9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4102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314C07-8996-498C-9A05-87AD187D4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GB" sz="33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HUMAN DEPENDENCE ON BIODIVERSITY?</a:t>
            </a:r>
          </a:p>
        </p:txBody>
      </p:sp>
      <p:pic>
        <p:nvPicPr>
          <p:cNvPr id="25" name="Graphic 6" descr="Sustainability">
            <a:extLst>
              <a:ext uri="{FF2B5EF4-FFF2-40B4-BE49-F238E27FC236}">
                <a16:creationId xmlns:a16="http://schemas.microsoft.com/office/drawing/2014/main" id="{2AA58815-AC62-ACFD-DDA3-9612A11115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63201-31B7-425A-AA96-D052827BB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GB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Biodiversity forms the web of life that we depend on for so many things such as food, water, medicine, a stable climate, economic growth, among others. We also enjoy other services when the land and ocean absorb more than half of all carbon emissions</a:t>
            </a:r>
            <a:r>
              <a:rPr lang="en-GB" sz="2400" dirty="0">
                <a:solidFill>
                  <a:schemeClr val="tx2"/>
                </a:solidFill>
              </a:rPr>
              <a:t>. </a:t>
            </a:r>
          </a:p>
        </p:txBody>
      </p:sp>
      <p:grpSp>
        <p:nvGrpSpPr>
          <p:cNvPr id="26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D9BCC-993B-4FD2-A532-99CF1A95B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BCA-A50F-46FA-B588-C95311C74F9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2309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3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44A844-023B-4432-A7A7-0DD8B8A7E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MANIFESTATIONS OF HUMAN DEPENDENCE ON BIODIVERSITY</a:t>
            </a:r>
          </a:p>
        </p:txBody>
      </p:sp>
      <p:sp>
        <p:nvSpPr>
          <p:cNvPr id="4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ontent Placeholder 36">
            <a:extLst>
              <a:ext uri="{FF2B5EF4-FFF2-40B4-BE49-F238E27FC236}">
                <a16:creationId xmlns:a16="http://schemas.microsoft.com/office/drawing/2014/main" id="{76E18851-D057-653E-0988-BBFF3535E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endParaRPr lang="en-US" sz="220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4C51C58-ED61-4E83-82AB-116E4F9CE0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38" r="7399" b="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863229-E7AC-41C4-B5C8-AA7DB4028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BCA-A50F-46FA-B588-C95311C74F9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0142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3E4CBDBB-4FBD-4B9E-BD01-054A81D43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1">
            <a:extLst>
              <a:ext uri="{FF2B5EF4-FFF2-40B4-BE49-F238E27FC236}">
                <a16:creationId xmlns:a16="http://schemas.microsoft.com/office/drawing/2014/main" id="{B01A6F03-171F-40B2-8B2C-A061B8924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21" name="Rectangle 13">
            <a:extLst>
              <a:ext uri="{FF2B5EF4-FFF2-40B4-BE49-F238E27FC236}">
                <a16:creationId xmlns:a16="http://schemas.microsoft.com/office/drawing/2014/main" id="{72C4834C-B602-4125-8264-BD0D55A58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15">
            <a:extLst>
              <a:ext uri="{FF2B5EF4-FFF2-40B4-BE49-F238E27FC236}">
                <a16:creationId xmlns:a16="http://schemas.microsoft.com/office/drawing/2014/main" id="{53172EE5-132F-4DD4-8855-4DBBD9C34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5844" y="1110000"/>
            <a:ext cx="10195740" cy="4629235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FEB162-8755-4423-9812-7DD6E1DC4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0275" y="455706"/>
            <a:ext cx="8188026" cy="2044650"/>
          </a:xfrm>
        </p:spPr>
        <p:txBody>
          <a:bodyPr anchor="b">
            <a:normAutofit/>
          </a:bodyPr>
          <a:lstStyle/>
          <a:p>
            <a:pPr algn="ctr"/>
            <a:r>
              <a:rPr lang="en-GB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IMPLICATIONS OF THIS 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FCE9C-437B-416C-BB50-408F9CA5B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7292" y="2653667"/>
            <a:ext cx="8192843" cy="2057046"/>
          </a:xfrm>
        </p:spPr>
        <p:txBody>
          <a:bodyPr anchor="t">
            <a:noAutofit/>
          </a:bodyPr>
          <a:lstStyle/>
          <a:p>
            <a:pPr algn="ctr"/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humans utilise biodiversity, they can promote processes such as fruit and seed dispersal, developing genetic variants of organisms and implementing conservation measures which improve biodiversity.</a:t>
            </a:r>
          </a:p>
          <a:p>
            <a:pPr marL="0" indent="0" algn="ctr">
              <a:buNone/>
            </a:pPr>
            <a:endParaRPr lang="en-GB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Adversely, over-exploitation of the provisions of biodiversity cause pollution, habitat destruction and fragmentation, climate change and skyrocketing rates of species extinction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7D98F-8B8F-414F-84E6-46294A110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BCA-A50F-46FA-B588-C95311C74F9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8950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3A91BE-4263-488E-B846-54DC76E61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5717D4-33C9-419C-8D9C-17C707967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E152F22-1707-453C-8C48-6B5CDD242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5FA67A-56F6-4164-8E1F-8D6AFD3F0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286593"/>
            <a:ext cx="12192000" cy="4280925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187B7B-A714-4EFC-A98B-3D55114B1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965" y="1671570"/>
            <a:ext cx="9801854" cy="1667188"/>
          </a:xfrm>
        </p:spPr>
        <p:txBody>
          <a:bodyPr anchor="b">
            <a:normAutofit/>
          </a:bodyPr>
          <a:lstStyle/>
          <a:p>
            <a:pPr algn="ctr"/>
            <a:r>
              <a:rPr lang="en-GB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72D4D-D6EF-44DA-B1F8-32E548D5D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966" y="3510473"/>
            <a:ext cx="9801854" cy="1742564"/>
          </a:xfrm>
        </p:spPr>
        <p:txBody>
          <a:bodyPr anchor="t">
            <a:normAutofit/>
          </a:bodyPr>
          <a:lstStyle/>
          <a:p>
            <a:pPr algn="ct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conclusion, the preservation and longevity of the biodiverse environment lies in the hands of mankind. Man must do his part to prudently exploit his resources and protect his support system</a:t>
            </a:r>
            <a:r>
              <a:rPr lang="en-GB" sz="18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F0A78-BEBB-442E-99CC-FA12A2B0E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BCA-A50F-46FA-B588-C95311C74F99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5671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6B8197-1A43-4E03-8BF2-C1AB1408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559" y="2600058"/>
            <a:ext cx="4805996" cy="32380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kern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884B1455-A021-A6C9-E290-662B508059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85EFFC-0943-4A55-B2BF-D3E8A18E8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BCA-A50F-46FA-B588-C95311C74F99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9233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D3054-294C-4DF4-AA27-7D0AD7AA8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96EC7-51D9-404A-8637-65A8B13E6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Resource Charter (2nd edition, 2014), available at: http://www.resourcegovernance.org/ sites.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Bauer, Andrew, and Juan Carlos Quiroz , Resource Governance in the Handbook of Global Energy Policy (ed. Andreas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Goldthau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Wiley-Blackwell, 2013).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Humphreys, M., et al, Introduction in “Escaping the Resource Curse” (Columbia University Press, 2007). </a:t>
            </a:r>
          </a:p>
          <a:p>
            <a:pPr marL="0" indent="0">
              <a:buNone/>
            </a:pPr>
            <a:endParaRPr lang="en-GB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BCA77-2915-49F8-9847-8B6BE9A07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BCA-A50F-46FA-B588-C95311C74F99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9144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00928-A73E-4485-9ED6-9AA969D35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 AND INDEX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618CE-06C1-4864-812C-F48D4914B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Sheila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Abrokwa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- 9193719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Kofi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Abrefah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Besea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- 9193619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Gyasi Kwabena- 9208719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Esther Frimpong- 9216519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Desmond Sarpong- 9216319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Asante Roland Owusu- 9202019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Alfred Yaw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Mireku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- 9212719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Audrey Afia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Abrafi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Appiah- 9200919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Randy Owusu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Adansi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- 9216819</a:t>
            </a:r>
          </a:p>
          <a:p>
            <a:pPr marL="0" indent="0">
              <a:buNone/>
            </a:pPr>
            <a:endParaRPr lang="en-GB" dirty="0">
              <a:cs typeface="Calibri"/>
            </a:endParaRPr>
          </a:p>
          <a:p>
            <a:endParaRPr lang="en-GB" dirty="0">
              <a:cs typeface="Calibri"/>
            </a:endParaRPr>
          </a:p>
          <a:p>
            <a:endParaRPr lang="en-GB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85FD7-12E9-44F2-841C-AB2C3F205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BCA-A50F-46FA-B588-C95311C74F99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6842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1539</TotalTime>
  <Words>480</Words>
  <Application>Microsoft Office PowerPoint</Application>
  <PresentationFormat>Widescreen</PresentationFormat>
  <Paragraphs>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THE NATURAL RESOURCE CURSE AND HUMAN DEPENDENCE ON BIODIVERSITY</vt:lpstr>
      <vt:lpstr>THE NATURAL RESOURCE CURSE</vt:lpstr>
      <vt:lpstr>CONTRIBUTORS TO THE NATURAL RESOURCE CURSE</vt:lpstr>
      <vt:lpstr>CONTRIBUTORS TO THE NATURAL RESOURCE CURSE</vt:lpstr>
      <vt:lpstr>CONTRIBUTORS TO THE NATURAL RESOURCE CURSE </vt:lpstr>
      <vt:lpstr>CASE STUDY OF THE RESOURCE CURSE</vt:lpstr>
      <vt:lpstr>FEASIBLE SOLUTIONS TO MITIGATE THE CURSE</vt:lpstr>
      <vt:lpstr>WHAT IS HUMAN DEPENDENCE ON BIODIVERSITY?</vt:lpstr>
      <vt:lpstr>MANIFESTATIONS OF HUMAN DEPENDENCE ON BIODIVERSITY</vt:lpstr>
      <vt:lpstr>IMPLICATIONS OF THIS DEPENDENCE</vt:lpstr>
      <vt:lpstr>SUMMARY</vt:lpstr>
      <vt:lpstr>THANK YOU</vt:lpstr>
      <vt:lpstr>REFERENCES</vt:lpstr>
      <vt:lpstr>GROUP MEMBERS AND INDEX NUMBERS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NATURAL RESOURCE CURSE AND HUMAN DEPENDENCE ON BIODIVERSITY</dc:title>
  <dc:creator>Sheila Abrokwa</dc:creator>
  <cp:lastModifiedBy>Sheila Abrokwa</cp:lastModifiedBy>
  <cp:revision>147</cp:revision>
  <dcterms:created xsi:type="dcterms:W3CDTF">2023-06-18T20:54:07Z</dcterms:created>
  <dcterms:modified xsi:type="dcterms:W3CDTF">2023-07-16T17:34:15Z</dcterms:modified>
</cp:coreProperties>
</file>