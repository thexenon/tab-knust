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9"/>
  </p:notesMasterIdLst>
  <p:sldIdLst>
    <p:sldId id="503" r:id="rId2"/>
    <p:sldId id="472" r:id="rId3"/>
    <p:sldId id="504" r:id="rId4"/>
    <p:sldId id="505" r:id="rId5"/>
    <p:sldId id="506" r:id="rId6"/>
    <p:sldId id="516" r:id="rId7"/>
    <p:sldId id="507" r:id="rId8"/>
    <p:sldId id="508" r:id="rId9"/>
    <p:sldId id="509" r:id="rId10"/>
    <p:sldId id="510" r:id="rId11"/>
    <p:sldId id="518" r:id="rId12"/>
    <p:sldId id="511" r:id="rId13"/>
    <p:sldId id="512" r:id="rId14"/>
    <p:sldId id="515" r:id="rId15"/>
    <p:sldId id="519" r:id="rId16"/>
    <p:sldId id="517" r:id="rId17"/>
    <p:sldId id="52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98DF"/>
    <a:srgbClr val="F6C702"/>
    <a:srgbClr val="00800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61" autoAdjust="0"/>
    <p:restoredTop sz="94660"/>
  </p:normalViewPr>
  <p:slideViewPr>
    <p:cSldViewPr snapToGrid="0" snapToObjects="1">
      <p:cViewPr varScale="1">
        <p:scale>
          <a:sx n="41" d="100"/>
          <a:sy n="41" d="100"/>
        </p:scale>
        <p:origin x="62" y="326"/>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C070D9-CE4C-4523-84E5-2BCC360EF90C}" type="datetimeFigureOut">
              <a:rPr lang="en-US" smtClean="0"/>
              <a:t>7/12/2023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DD320-4E3A-4CB5-A0BC-F8EFFE6E1B53}" type="slidenum">
              <a:rPr lang="en-US" smtClean="0"/>
              <a:t>‹#›</a:t>
            </a:fld>
            <a:endParaRPr lang="en-US"/>
          </a:p>
        </p:txBody>
      </p:sp>
    </p:spTree>
    <p:extLst>
      <p:ext uri="{BB962C8B-B14F-4D97-AF65-F5344CB8AC3E}">
        <p14:creationId xmlns:p14="http://schemas.microsoft.com/office/powerpoint/2010/main" val="562064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2.jp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F4F075A-9D75-2B48-9A54-E569C7FF800C}" type="datetime1">
              <a:rPr lang="en-US" smtClean="0"/>
              <a:t>7/12/2023</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12192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TextBox 8"/>
            <p:cNvSpPr txBox="1"/>
            <p:nvPr/>
          </p:nvSpPr>
          <p:spPr>
            <a:xfrm>
              <a:off x="6413360" y="241270"/>
              <a:ext cx="2519624"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0123" y="68970"/>
              <a:ext cx="563237" cy="716809"/>
            </a:xfrm>
            <a:prstGeom prst="rect">
              <a:avLst/>
            </a:prstGeom>
          </p:spPr>
        </p:pic>
      </p:grpSp>
      <p:sp>
        <p:nvSpPr>
          <p:cNvPr id="11" name="Title 1"/>
          <p:cNvSpPr>
            <a:spLocks noGrp="1"/>
          </p:cNvSpPr>
          <p:nvPr>
            <p:ph type="ctrTitle"/>
          </p:nvPr>
        </p:nvSpPr>
        <p:spPr>
          <a:xfrm>
            <a:off x="914400" y="1096019"/>
            <a:ext cx="10363200" cy="2541745"/>
          </a:xfrm>
          <a:prstGeom prst="rect">
            <a:avLst/>
          </a:prstGeom>
        </p:spPr>
        <p:txBody>
          <a:bodyPr>
            <a:normAutofit/>
          </a:bodyPr>
          <a:lstStyle>
            <a:lvl1pPr>
              <a:defRPr>
                <a:latin typeface="Garamond" panose="02020404030301010803" pitchFamily="18" charset="0"/>
              </a:defRPr>
            </a:lvl1pPr>
          </a:lstStyle>
          <a:p>
            <a:pPr algn="l"/>
            <a:r>
              <a:rPr lang="en-US" dirty="0">
                <a:latin typeface="Helvetica"/>
                <a:cs typeface="Helvetica"/>
              </a:rPr>
              <a:t>Title</a:t>
            </a:r>
          </a:p>
        </p:txBody>
      </p:sp>
      <p:sp>
        <p:nvSpPr>
          <p:cNvPr id="12" name="Subtitle 2"/>
          <p:cNvSpPr>
            <a:spLocks noGrp="1"/>
          </p:cNvSpPr>
          <p:nvPr>
            <p:ph type="subTitle" idx="1"/>
          </p:nvPr>
        </p:nvSpPr>
        <p:spPr>
          <a:xfrm>
            <a:off x="914400" y="4666761"/>
            <a:ext cx="10363200" cy="1599330"/>
          </a:xfrm>
        </p:spPr>
        <p:txBody>
          <a:bodyPr>
            <a:normAutofit/>
          </a:bodyPr>
          <a:lstStyle>
            <a:lvl1pPr marL="0" indent="0" algn="ctr">
              <a:buNone/>
              <a:defRPr>
                <a:solidFill>
                  <a:schemeClr val="bg1">
                    <a:lumMod val="50000"/>
                  </a:schemeClr>
                </a:solidFill>
                <a:latin typeface="Garamond" panose="02020404030301010803" pitchFamily="18" charset="0"/>
              </a:defRPr>
            </a:lvl1pPr>
          </a:lstStyle>
          <a:p>
            <a:pPr algn="l"/>
            <a:endParaRPr lang="en-US" b="1" dirty="0">
              <a:solidFill>
                <a:schemeClr val="tx1"/>
              </a:solidFill>
              <a:latin typeface="Helvetica"/>
              <a:cs typeface="Helvetica"/>
            </a:endParaRP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3C9E489-CF82-AC41-8AC7-E64A8729DB92}" type="datetime1">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grpSp>
        <p:nvGrpSpPr>
          <p:cNvPr id="7" name="Group 6"/>
          <p:cNvGrpSpPr/>
          <p:nvPr userDrawn="1"/>
        </p:nvGrpSpPr>
        <p:grpSpPr>
          <a:xfrm>
            <a:off x="0" y="6271235"/>
            <a:ext cx="12191997" cy="586764"/>
            <a:chOff x="0" y="6271235"/>
            <a:chExt cx="9144000" cy="586764"/>
          </a:xfrm>
        </p:grpSpPr>
        <p:sp>
          <p:nvSpPr>
            <p:cNvPr id="8" name="Rectangle 7"/>
            <p:cNvSpPr/>
            <p:nvPr/>
          </p:nvSpPr>
          <p:spPr>
            <a:xfrm>
              <a:off x="0" y="6668022"/>
              <a:ext cx="9144000" cy="189977"/>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9" name="Rectangle 8"/>
            <p:cNvSpPr/>
            <p:nvPr/>
          </p:nvSpPr>
          <p:spPr>
            <a:xfrm>
              <a:off x="0" y="6271235"/>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6489" y="6299719"/>
              <a:ext cx="205238" cy="283189"/>
            </a:xfrm>
            <a:prstGeom prst="rect">
              <a:avLst/>
            </a:prstGeom>
          </p:spPr>
        </p:pic>
        <p:sp>
          <p:nvSpPr>
            <p:cNvPr id="11" name="TextBox 10">
              <a:hlinkClick r:id="rId3"/>
            </p:cNvPr>
            <p:cNvSpPr txBox="1"/>
            <p:nvPr/>
          </p:nvSpPr>
          <p:spPr>
            <a:xfrm>
              <a:off x="8027214" y="6314438"/>
              <a:ext cx="1091658" cy="276999"/>
            </a:xfrm>
            <a:prstGeom prst="rect">
              <a:avLst/>
            </a:prstGeom>
            <a:noFill/>
          </p:spPr>
          <p:txBody>
            <a:bodyPr wrap="square" rtlCol="0">
              <a:spAutoFit/>
            </a:bodyPr>
            <a:lstStyle/>
            <a:p>
              <a:r>
                <a:rPr lang="en-US" sz="1200" dirty="0">
                  <a:solidFill>
                    <a:schemeClr val="bg1"/>
                  </a:solidFill>
                  <a:latin typeface="Helvetica"/>
                  <a:cs typeface="Helvetica"/>
                </a:rPr>
                <a:t>www.knust.edu.gh</a:t>
              </a: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50538" y="6320348"/>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87070" y="6308011"/>
              <a:ext cx="292217" cy="292217"/>
            </a:xfrm>
            <a:prstGeom prst="rect">
              <a:avLst/>
            </a:prstGeom>
          </p:spPr>
        </p:pic>
      </p:grpSp>
      <p:sp>
        <p:nvSpPr>
          <p:cNvPr id="16" name="Title 1">
            <a:extLst>
              <a:ext uri="{FF2B5EF4-FFF2-40B4-BE49-F238E27FC236}">
                <a16:creationId xmlns:a16="http://schemas.microsoft.com/office/drawing/2014/main" id="{33D96D2C-39D2-D146-949D-A56FF129CBA3}"/>
              </a:ext>
            </a:extLst>
          </p:cNvPr>
          <p:cNvSpPr>
            <a:spLocks noGrp="1"/>
          </p:cNvSpPr>
          <p:nvPr>
            <p:ph type="title"/>
          </p:nvPr>
        </p:nvSpPr>
        <p:spPr>
          <a:xfrm>
            <a:off x="609601" y="195127"/>
            <a:ext cx="11198086" cy="592690"/>
          </a:xfrm>
          <a:prstGeom prst="rect">
            <a:avLst/>
          </a:prstGeom>
        </p:spPr>
        <p:txBody>
          <a:bodyPr/>
          <a:lstStyle>
            <a:lvl1pPr>
              <a:defRPr sz="4000">
                <a:latin typeface="Garamond" panose="02020404030301010803" pitchFamily="18" charset="0"/>
              </a:defRPr>
            </a:lvl1pPr>
          </a:lstStyle>
          <a:p>
            <a:r>
              <a:rPr lang="en-US"/>
              <a:t>Click to edit Master title style</a:t>
            </a:r>
          </a:p>
        </p:txBody>
      </p:sp>
      <p:cxnSp>
        <p:nvCxnSpPr>
          <p:cNvPr id="3" name="Straight Connector 2">
            <a:extLst>
              <a:ext uri="{FF2B5EF4-FFF2-40B4-BE49-F238E27FC236}">
                <a16:creationId xmlns:a16="http://schemas.microsoft.com/office/drawing/2014/main" id="{0F8A6806-0C47-8F41-8CB1-123A74FCD28F}"/>
              </a:ext>
            </a:extLst>
          </p:cNvPr>
          <p:cNvCxnSpPr/>
          <p:nvPr userDrawn="1"/>
        </p:nvCxnSpPr>
        <p:spPr>
          <a:xfrm>
            <a:off x="1" y="924340"/>
            <a:ext cx="12207161" cy="0"/>
          </a:xfrm>
          <a:prstGeom prst="line">
            <a:avLst/>
          </a:prstGeom>
          <a:ln w="12700">
            <a:solidFill>
              <a:srgbClr val="008001"/>
            </a:solidFill>
          </a:ln>
        </p:spPr>
        <p:style>
          <a:lnRef idx="1">
            <a:schemeClr val="accent3"/>
          </a:lnRef>
          <a:fillRef idx="0">
            <a:schemeClr val="accent3"/>
          </a:fillRef>
          <a:effectRef idx="0">
            <a:schemeClr val="accent3"/>
          </a:effectRef>
          <a:fontRef idx="minor">
            <a:schemeClr val="tx1"/>
          </a:fontRef>
        </p:style>
      </p:cxnSp>
      <p:sp>
        <p:nvSpPr>
          <p:cNvPr id="17" name="Content Placeholder 2">
            <a:extLst>
              <a:ext uri="{FF2B5EF4-FFF2-40B4-BE49-F238E27FC236}">
                <a16:creationId xmlns:a16="http://schemas.microsoft.com/office/drawing/2014/main" id="{B14474AE-41FC-854B-B962-6E0C929C52C0}"/>
              </a:ext>
            </a:extLst>
          </p:cNvPr>
          <p:cNvSpPr>
            <a:spLocks noGrp="1"/>
          </p:cNvSpPr>
          <p:nvPr>
            <p:ph sz="half" idx="1"/>
          </p:nvPr>
        </p:nvSpPr>
        <p:spPr>
          <a:xfrm>
            <a:off x="609600" y="1002088"/>
            <a:ext cx="11198085" cy="517582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708" y="6278605"/>
            <a:ext cx="855784" cy="365125"/>
          </a:xfrm>
        </p:spPr>
        <p:txBody>
          <a:bodyPr/>
          <a:lstStyle>
            <a:lvl1pPr>
              <a:defRPr sz="2400" b="1">
                <a:solidFill>
                  <a:schemeClr val="bg1"/>
                </a:solidFill>
                <a:latin typeface="Garamond" panose="02020404030301010803" pitchFamily="18" charset="0"/>
              </a:defRPr>
            </a:lvl1pPr>
          </a:lstStyle>
          <a:p>
            <a:fld id="{F4801FD5-11B4-DE43-ACA2-E85EEB9A6F9C}" type="slidenum">
              <a:rPr lang="en-US" smtClean="0"/>
              <a:pPr/>
              <a:t>‹#›</a:t>
            </a:fld>
            <a:endParaRPr lang="en-US" dirty="0"/>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atin typeface="Garamond" panose="02020404030301010803"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845A64-44E2-AA44-BF0A-0A6EBB813A36}" type="datetime1">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A303D-75E3-FC4C-ABF8-DBE5552AD690}" type="datetime1">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B4B1834-423E-B246-A5D3-FE019AB1BCCC}" type="datetime1">
              <a:rPr lang="en-US" smtClean="0"/>
              <a:t>7/12/2023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2587CF7D-DEA7-4646-BF5A-8F86F47F55E0}" type="datetime1">
              <a:rPr lang="en-US" smtClean="0"/>
              <a:t>7/12/2023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6EB0E7-5ABD-4248-BC89-2EF7B115D306}" type="datetime1">
              <a:rPr lang="en-US" smtClean="0"/>
              <a:t>7/12/2023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125B47-57AB-1847-9A5E-9D0228DA2CF8}" type="datetime1">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10DC83-A974-8647-80C3-F692755FAEC3}" type="datetime1">
              <a:rPr lang="en-US" smtClean="0"/>
              <a:t>7/12/2023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84B6AA-36AB-384C-89F5-D0AA3660A4E6}" type="datetime1">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3A0C56-AED7-E349-A367-C56B569B58DD}" type="datetime1">
              <a:rPr lang="en-US" smtClean="0"/>
              <a:t>7/12/2023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C52A24-3BDA-B749-BE6C-6289322D5558}" type="datetime1">
              <a:rPr lang="en-US" smtClean="0"/>
              <a:t>7/12/2023</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alpha val="14000"/>
          </a:schemeClr>
        </a:solidFill>
        <a:effectLst/>
      </p:bgPr>
    </p:bg>
    <p:spTree>
      <p:nvGrpSpPr>
        <p:cNvPr id="1" name=""/>
        <p:cNvGrpSpPr/>
        <p:nvPr/>
      </p:nvGrpSpPr>
      <p:grpSpPr>
        <a:xfrm>
          <a:off x="0" y="0"/>
          <a:ext cx="0" cy="0"/>
          <a:chOff x="0" y="0"/>
          <a:chExt cx="0" cy="0"/>
        </a:xfrm>
      </p:grpSpPr>
      <p:sp>
        <p:nvSpPr>
          <p:cNvPr id="9" name="Subtitle 2">
            <a:extLst>
              <a:ext uri="{FF2B5EF4-FFF2-40B4-BE49-F238E27FC236}">
                <a16:creationId xmlns:a16="http://schemas.microsoft.com/office/drawing/2014/main" id="{8BB98A86-CDAD-8742-BF6D-81E5129D4B73}"/>
              </a:ext>
            </a:extLst>
          </p:cNvPr>
          <p:cNvSpPr>
            <a:spLocks noGrp="1"/>
          </p:cNvSpPr>
          <p:nvPr>
            <p:ph type="subTitle" idx="1"/>
          </p:nvPr>
        </p:nvSpPr>
        <p:spPr>
          <a:xfrm>
            <a:off x="4016164" y="6380293"/>
            <a:ext cx="8471293" cy="459275"/>
          </a:xfrm>
        </p:spPr>
        <p:txBody>
          <a:bodyPr>
            <a:normAutofit fontScale="92500" lnSpcReduction="10000"/>
          </a:bodyPr>
          <a:lstStyle/>
          <a:p>
            <a:pPr algn="ctr"/>
            <a:r>
              <a:rPr lang="en-US" sz="2800" b="1" dirty="0">
                <a:solidFill>
                  <a:schemeClr val="tx1"/>
                </a:solidFill>
              </a:rPr>
              <a:t>Group 15 </a:t>
            </a:r>
          </a:p>
        </p:txBody>
      </p:sp>
      <p:sp>
        <p:nvSpPr>
          <p:cNvPr id="10" name="Text Placeholder 3">
            <a:extLst>
              <a:ext uri="{FF2B5EF4-FFF2-40B4-BE49-F238E27FC236}">
                <a16:creationId xmlns:a16="http://schemas.microsoft.com/office/drawing/2014/main" id="{E81EFB1F-8D7C-2F44-8B60-6C24E97F6990}"/>
              </a:ext>
            </a:extLst>
          </p:cNvPr>
          <p:cNvSpPr txBox="1">
            <a:spLocks/>
          </p:cNvSpPr>
          <p:nvPr/>
        </p:nvSpPr>
        <p:spPr>
          <a:xfrm>
            <a:off x="2022442" y="5220146"/>
            <a:ext cx="8067605" cy="942906"/>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en-US" sz="2400" dirty="0">
              <a:solidFill>
                <a:schemeClr val="tx1"/>
              </a:solidFill>
              <a:latin typeface="Garamond" panose="02020404030301010803" pitchFamily="18" charset="0"/>
            </a:endParaRPr>
          </a:p>
        </p:txBody>
      </p:sp>
      <p:pic>
        <p:nvPicPr>
          <p:cNvPr id="6" name="Picture 5">
            <a:extLst>
              <a:ext uri="{FF2B5EF4-FFF2-40B4-BE49-F238E27FC236}">
                <a16:creationId xmlns:a16="http://schemas.microsoft.com/office/drawing/2014/main" id="{12F35E3E-736A-F0EA-EC0C-F55AB0541588}"/>
              </a:ext>
            </a:extLst>
          </p:cNvPr>
          <p:cNvPicPr>
            <a:picLocks noChangeAspect="1"/>
          </p:cNvPicPr>
          <p:nvPr/>
        </p:nvPicPr>
        <p:blipFill>
          <a:blip r:embed="rId2">
            <a:alphaModFix amt="66000"/>
          </a:blip>
          <a:stretch>
            <a:fillRect/>
          </a:stretch>
        </p:blipFill>
        <p:spPr>
          <a:xfrm>
            <a:off x="884786" y="1118991"/>
            <a:ext cx="10422427" cy="4767566"/>
          </a:xfrm>
          <a:prstGeom prst="rect">
            <a:avLst/>
          </a:prstGeom>
          <a:effectLst>
            <a:reflection stA="25000" endPos="65000" dist="50800" dir="5400000" sy="-100000" algn="bl" rotWithShape="0"/>
          </a:effectLst>
        </p:spPr>
      </p:pic>
      <p:sp>
        <p:nvSpPr>
          <p:cNvPr id="11" name="Title 10">
            <a:extLst>
              <a:ext uri="{FF2B5EF4-FFF2-40B4-BE49-F238E27FC236}">
                <a16:creationId xmlns:a16="http://schemas.microsoft.com/office/drawing/2014/main" id="{F670482C-E2C1-E933-30D9-57A440857C42}"/>
              </a:ext>
            </a:extLst>
          </p:cNvPr>
          <p:cNvSpPr>
            <a:spLocks noGrp="1"/>
          </p:cNvSpPr>
          <p:nvPr>
            <p:ph type="ctrTitle"/>
          </p:nvPr>
        </p:nvSpPr>
        <p:spPr/>
        <p:txBody>
          <a:bodyPr/>
          <a:lstStyle/>
          <a:p>
            <a:r>
              <a:rPr lang="en-US" dirty="0"/>
              <a:t>THE GREEN REVOLUTION: A CURSE OR BLESSING TO BIODIVERSITY ?</a:t>
            </a:r>
            <a:endParaRPr lang="en-GB" dirty="0"/>
          </a:p>
        </p:txBody>
      </p:sp>
    </p:spTree>
    <p:extLst>
      <p:ext uri="{BB962C8B-B14F-4D97-AF65-F5344CB8AC3E}">
        <p14:creationId xmlns:p14="http://schemas.microsoft.com/office/powerpoint/2010/main" val="2888871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B1187-138B-B74D-8689-8AC58615CCF9}"/>
              </a:ext>
            </a:extLst>
          </p:cNvPr>
          <p:cNvSpPr>
            <a:spLocks noGrp="1"/>
          </p:cNvSpPr>
          <p:nvPr>
            <p:ph type="title"/>
          </p:nvPr>
        </p:nvSpPr>
        <p:spPr/>
        <p:txBody>
          <a:bodyPr>
            <a:normAutofit fontScale="90000"/>
          </a:bodyPr>
          <a:lstStyle/>
          <a:p>
            <a:r>
              <a:rPr lang="en-US" b="1" dirty="0"/>
              <a:t>Outline of Presentation</a:t>
            </a:r>
          </a:p>
        </p:txBody>
      </p:sp>
      <p:sp>
        <p:nvSpPr>
          <p:cNvPr id="3" name="Slide Number Placeholder 2">
            <a:extLst>
              <a:ext uri="{FF2B5EF4-FFF2-40B4-BE49-F238E27FC236}">
                <a16:creationId xmlns:a16="http://schemas.microsoft.com/office/drawing/2014/main" id="{669924B8-FF7D-6649-A6E3-828075C4B5D3}"/>
              </a:ext>
            </a:extLst>
          </p:cNvPr>
          <p:cNvSpPr>
            <a:spLocks noGrp="1"/>
          </p:cNvSpPr>
          <p:nvPr>
            <p:ph type="sldNum" sz="quarter" idx="12"/>
          </p:nvPr>
        </p:nvSpPr>
        <p:spPr/>
        <p:txBody>
          <a:bodyPr/>
          <a:lstStyle/>
          <a:p>
            <a:fld id="{F4801FD5-11B4-DE43-ACA2-E85EEB9A6F9C}" type="slidenum">
              <a:rPr lang="en-US" smtClean="0"/>
              <a:pPr/>
              <a:t>2</a:t>
            </a:fld>
            <a:endParaRPr lang="en-US" dirty="0"/>
          </a:p>
        </p:txBody>
      </p:sp>
      <p:sp>
        <p:nvSpPr>
          <p:cNvPr id="5" name="Content Placeholder 4">
            <a:extLst>
              <a:ext uri="{FF2B5EF4-FFF2-40B4-BE49-F238E27FC236}">
                <a16:creationId xmlns:a16="http://schemas.microsoft.com/office/drawing/2014/main" id="{F5845235-1DC7-1A44-A970-D7FBEF7C70DD}"/>
              </a:ext>
            </a:extLst>
          </p:cNvPr>
          <p:cNvSpPr>
            <a:spLocks noGrp="1"/>
          </p:cNvSpPr>
          <p:nvPr>
            <p:ph sz="half" idx="1"/>
          </p:nvPr>
        </p:nvSpPr>
        <p:spPr/>
        <p:txBody>
          <a:bodyPr/>
          <a:lstStyle/>
          <a:p>
            <a:r>
              <a:rPr lang="en-US" dirty="0"/>
              <a:t>Introduction</a:t>
            </a:r>
          </a:p>
          <a:p>
            <a:r>
              <a:rPr lang="en-US" dirty="0"/>
              <a:t>Overview of green revolution</a:t>
            </a:r>
          </a:p>
          <a:p>
            <a:r>
              <a:rPr lang="en-US" dirty="0"/>
              <a:t>Positive Impacts on biodiversity</a:t>
            </a:r>
          </a:p>
          <a:p>
            <a:r>
              <a:rPr lang="en-US" dirty="0"/>
              <a:t>Negative impacts of the Green Revolution on biodiversity</a:t>
            </a:r>
          </a:p>
          <a:p>
            <a:r>
              <a:rPr lang="en-US" dirty="0"/>
              <a:t>Balancing the green revolution and biodiversity</a:t>
            </a:r>
          </a:p>
          <a:p>
            <a:r>
              <a:rPr lang="en-US" dirty="0"/>
              <a:t>A case study</a:t>
            </a:r>
          </a:p>
          <a:p>
            <a:r>
              <a:rPr lang="en-US" dirty="0"/>
              <a:t>Mitigation strategies </a:t>
            </a:r>
          </a:p>
          <a:p>
            <a:r>
              <a:rPr lang="en-US" dirty="0"/>
              <a:t>Conclusion</a:t>
            </a:r>
          </a:p>
          <a:p>
            <a:endParaRPr lang="en-US" dirty="0"/>
          </a:p>
          <a:p>
            <a:endParaRPr lang="en-US" dirty="0"/>
          </a:p>
          <a:p>
            <a:endParaRPr lang="x-none" dirty="0"/>
          </a:p>
        </p:txBody>
      </p:sp>
    </p:spTree>
    <p:extLst>
      <p:ext uri="{BB962C8B-B14F-4D97-AF65-F5344CB8AC3E}">
        <p14:creationId xmlns:p14="http://schemas.microsoft.com/office/powerpoint/2010/main" val="1932009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7A77C-D457-F44B-B96F-4706B7AA92E0}"/>
              </a:ext>
            </a:extLst>
          </p:cNvPr>
          <p:cNvSpPr>
            <a:spLocks noGrp="1"/>
          </p:cNvSpPr>
          <p:nvPr>
            <p:ph type="title"/>
          </p:nvPr>
        </p:nvSpPr>
        <p:spPr/>
        <p:txBody>
          <a:bodyPr/>
          <a:lstStyle/>
          <a:p>
            <a:r>
              <a:rPr lang="en-US" dirty="0"/>
              <a:t>Introduction</a:t>
            </a:r>
            <a:br>
              <a:rPr lang="en-US" dirty="0"/>
            </a:br>
            <a:endParaRPr lang="x-none" dirty="0"/>
          </a:p>
        </p:txBody>
      </p:sp>
      <p:sp>
        <p:nvSpPr>
          <p:cNvPr id="3" name="Content Placeholder 2">
            <a:extLst>
              <a:ext uri="{FF2B5EF4-FFF2-40B4-BE49-F238E27FC236}">
                <a16:creationId xmlns:a16="http://schemas.microsoft.com/office/drawing/2014/main" id="{BE41C90A-CABA-3542-A156-A15372BD6820}"/>
              </a:ext>
            </a:extLst>
          </p:cNvPr>
          <p:cNvSpPr>
            <a:spLocks noGrp="1"/>
          </p:cNvSpPr>
          <p:nvPr>
            <p:ph sz="half" idx="1"/>
          </p:nvPr>
        </p:nvSpPr>
        <p:spPr/>
        <p:txBody>
          <a:bodyPr>
            <a:normAutofit fontScale="85000" lnSpcReduction="10000"/>
          </a:bodyPr>
          <a:lstStyle/>
          <a:p>
            <a:r>
              <a:rPr lang="en-US" dirty="0"/>
              <a:t>The green revolution is a period of rapid  technological advancements in agriculture that began in the mid 20th century.</a:t>
            </a:r>
          </a:p>
          <a:p>
            <a:endParaRPr lang="en-US" dirty="0"/>
          </a:p>
          <a:p>
            <a:r>
              <a:rPr lang="en-US" dirty="0"/>
              <a:t>It is also a period of intensive agricultural practices aiming to increase crop yields through the use of high - yielding varieties, mechanization and agro chemical inputs.</a:t>
            </a:r>
          </a:p>
          <a:p>
            <a:endParaRPr lang="en-US" dirty="0"/>
          </a:p>
          <a:p>
            <a:pPr marL="0" indent="0">
              <a:buNone/>
            </a:pPr>
            <a:r>
              <a:rPr lang="en-US" dirty="0"/>
              <a:t>The primary goals of the green revolution</a:t>
            </a:r>
          </a:p>
          <a:p>
            <a:pPr marL="0" indent="0">
              <a:buNone/>
            </a:pPr>
            <a:r>
              <a:rPr lang="en-US" dirty="0"/>
              <a:t>1. Increase food production </a:t>
            </a:r>
          </a:p>
          <a:p>
            <a:pPr marL="0" indent="0">
              <a:buNone/>
            </a:pPr>
            <a:r>
              <a:rPr lang="en-US" dirty="0"/>
              <a:t>2. Improve crop varieties </a:t>
            </a:r>
          </a:p>
          <a:p>
            <a:pPr marL="0" indent="0">
              <a:buNone/>
            </a:pPr>
            <a:r>
              <a:rPr lang="en-US" dirty="0"/>
              <a:t>3. Poverty reduction. </a:t>
            </a:r>
          </a:p>
          <a:p>
            <a:pPr marL="0" indent="0">
              <a:buNone/>
            </a:pPr>
            <a:endParaRPr lang="en-US" dirty="0"/>
          </a:p>
          <a:p>
            <a:pPr marL="0" indent="0">
              <a:buNone/>
            </a:pPr>
            <a:r>
              <a:rPr lang="en-US" dirty="0"/>
              <a:t>So we ask the question; Has the green revolution been a blessing or a curse to biodiversity?</a:t>
            </a:r>
          </a:p>
          <a:p>
            <a:endParaRPr lang="x-none" dirty="0"/>
          </a:p>
        </p:txBody>
      </p:sp>
      <p:sp>
        <p:nvSpPr>
          <p:cNvPr id="4" name="Slide Number Placeholder 3">
            <a:extLst>
              <a:ext uri="{FF2B5EF4-FFF2-40B4-BE49-F238E27FC236}">
                <a16:creationId xmlns:a16="http://schemas.microsoft.com/office/drawing/2014/main" id="{EB1E0270-7EB9-AE47-9B2D-ADF2DAC7B5C1}"/>
              </a:ext>
            </a:extLst>
          </p:cNvPr>
          <p:cNvSpPr>
            <a:spLocks noGrp="1"/>
          </p:cNvSpPr>
          <p:nvPr>
            <p:ph type="sldNum" sz="quarter" idx="12"/>
          </p:nvPr>
        </p:nvSpPr>
        <p:spPr/>
        <p:txBody>
          <a:bodyPr/>
          <a:lstStyle/>
          <a:p>
            <a:fld id="{F4801FD5-11B4-DE43-ACA2-E85EEB9A6F9C}" type="slidenum">
              <a:rPr lang="en-US" smtClean="0"/>
              <a:pPr/>
              <a:t>3</a:t>
            </a:fld>
            <a:endParaRPr lang="en-US" dirty="0"/>
          </a:p>
        </p:txBody>
      </p:sp>
      <p:pic>
        <p:nvPicPr>
          <p:cNvPr id="6" name="Picture 5">
            <a:extLst>
              <a:ext uri="{FF2B5EF4-FFF2-40B4-BE49-F238E27FC236}">
                <a16:creationId xmlns:a16="http://schemas.microsoft.com/office/drawing/2014/main" id="{88EC1243-6257-B688-0CE0-4C4F965D5393}"/>
              </a:ext>
            </a:extLst>
          </p:cNvPr>
          <p:cNvPicPr>
            <a:picLocks noChangeAspect="1"/>
          </p:cNvPicPr>
          <p:nvPr/>
        </p:nvPicPr>
        <p:blipFill>
          <a:blip r:embed="rId2"/>
          <a:stretch>
            <a:fillRect/>
          </a:stretch>
        </p:blipFill>
        <p:spPr>
          <a:xfrm>
            <a:off x="9052560" y="2902630"/>
            <a:ext cx="2230120" cy="2230120"/>
          </a:xfrm>
          <a:prstGeom prst="rect">
            <a:avLst/>
          </a:prstGeom>
        </p:spPr>
      </p:pic>
      <p:pic>
        <p:nvPicPr>
          <p:cNvPr id="8" name="Picture 7">
            <a:extLst>
              <a:ext uri="{FF2B5EF4-FFF2-40B4-BE49-F238E27FC236}">
                <a16:creationId xmlns:a16="http://schemas.microsoft.com/office/drawing/2014/main" id="{1A254A9A-512E-733C-B5C9-59576DFCD17B}"/>
              </a:ext>
            </a:extLst>
          </p:cNvPr>
          <p:cNvPicPr>
            <a:picLocks noChangeAspect="1"/>
          </p:cNvPicPr>
          <p:nvPr/>
        </p:nvPicPr>
        <p:blipFill>
          <a:blip r:embed="rId3"/>
          <a:stretch>
            <a:fillRect/>
          </a:stretch>
        </p:blipFill>
        <p:spPr>
          <a:xfrm>
            <a:off x="6414290" y="3246120"/>
            <a:ext cx="2437237" cy="1756500"/>
          </a:xfrm>
          <a:prstGeom prst="rect">
            <a:avLst/>
          </a:prstGeom>
        </p:spPr>
      </p:pic>
    </p:spTree>
    <p:extLst>
      <p:ext uri="{BB962C8B-B14F-4D97-AF65-F5344CB8AC3E}">
        <p14:creationId xmlns:p14="http://schemas.microsoft.com/office/powerpoint/2010/main" val="4150762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Positive Impacts on Biodiversity</a:t>
            </a:r>
            <a:br>
              <a:rPr lang="en-US" dirty="0"/>
            </a:br>
            <a:endParaRPr lang="en-US" dirty="0"/>
          </a:p>
        </p:txBody>
      </p:sp>
      <p:sp>
        <p:nvSpPr>
          <p:cNvPr id="3" name="Content Placeholder 2"/>
          <p:cNvSpPr>
            <a:spLocks noGrp="1"/>
          </p:cNvSpPr>
          <p:nvPr>
            <p:ph sz="half" idx="1"/>
          </p:nvPr>
        </p:nvSpPr>
        <p:spPr/>
        <p:txBody>
          <a:bodyPr/>
          <a:lstStyle/>
          <a:p>
            <a:pPr marL="0" indent="0">
              <a:buNone/>
            </a:pPr>
            <a:r>
              <a:rPr lang="en-US" b="1" dirty="0"/>
              <a:t>Increased agricultural productivity</a:t>
            </a:r>
            <a:endParaRPr lang="en-US" dirty="0"/>
          </a:p>
          <a:p>
            <a:pPr marL="0" indent="0">
              <a:buNone/>
            </a:pPr>
            <a:r>
              <a:rPr lang="en-US" dirty="0"/>
              <a:t>The Green Revolution, utilizing high-yielding crop varieties and modern farming techniques, increased food production, met growing demand, and reduced ecosystem pressure, preserving biodiversity indirectly.</a:t>
            </a:r>
          </a:p>
          <a:p>
            <a:pPr marL="0" indent="0">
              <a:buNone/>
            </a:pPr>
            <a:endParaRPr lang="en-US" dirty="0"/>
          </a:p>
          <a:p>
            <a:pPr marL="0" indent="0">
              <a:buNone/>
            </a:pPr>
            <a:r>
              <a:rPr lang="en-US" b="1" dirty="0"/>
              <a:t>Conservation of natural habitats</a:t>
            </a:r>
          </a:p>
          <a:p>
            <a:pPr marL="0" indent="0">
              <a:buNone/>
            </a:pPr>
            <a:r>
              <a:rPr lang="en-US" dirty="0"/>
              <a:t>By enhancing crop yields, the Green Revolution has helped prevent the conversion of additional land into agricultural fields. This has protected existing natural habitats from conversion, ensuring the preservation of diverse ecosystems and the species that rely on them.</a:t>
            </a:r>
          </a:p>
        </p:txBody>
      </p:sp>
      <p:sp>
        <p:nvSpPr>
          <p:cNvPr id="4" name="Slide Number Placeholder 3"/>
          <p:cNvSpPr>
            <a:spLocks noGrp="1"/>
          </p:cNvSpPr>
          <p:nvPr>
            <p:ph type="sldNum" sz="quarter" idx="12"/>
          </p:nvPr>
        </p:nvSpPr>
        <p:spPr/>
        <p:txBody>
          <a:bodyPr/>
          <a:lstStyle/>
          <a:p>
            <a:fld id="{F4801FD5-11B4-DE43-ACA2-E85EEB9A6F9C}" type="slidenum">
              <a:rPr lang="en-US" smtClean="0"/>
              <a:pPr/>
              <a:t>4</a:t>
            </a:fld>
            <a:endParaRPr lang="en-US" dirty="0"/>
          </a:p>
        </p:txBody>
      </p:sp>
    </p:spTree>
    <p:extLst>
      <p:ext uri="{BB962C8B-B14F-4D97-AF65-F5344CB8AC3E}">
        <p14:creationId xmlns:p14="http://schemas.microsoft.com/office/powerpoint/2010/main" val="1346915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Positive Impact on biodiversity cont’d</a:t>
            </a:r>
            <a:br>
              <a:rPr lang="en-US" dirty="0"/>
            </a:br>
            <a:endParaRPr lang="en-US" dirty="0"/>
          </a:p>
        </p:txBody>
      </p:sp>
      <p:sp>
        <p:nvSpPr>
          <p:cNvPr id="3" name="Content Placeholder 2"/>
          <p:cNvSpPr>
            <a:spLocks noGrp="1"/>
          </p:cNvSpPr>
          <p:nvPr>
            <p:ph sz="half" idx="1"/>
          </p:nvPr>
        </p:nvSpPr>
        <p:spPr/>
        <p:txBody>
          <a:bodyPr/>
          <a:lstStyle/>
          <a:p>
            <a:r>
              <a:rPr lang="en-US" b="1" dirty="0"/>
              <a:t>Reduced deforestation</a:t>
            </a:r>
            <a:r>
              <a:rPr lang="en-US" dirty="0"/>
              <a:t> </a:t>
            </a:r>
          </a:p>
          <a:p>
            <a:pPr marL="0" indent="0">
              <a:buNone/>
            </a:pPr>
            <a:r>
              <a:rPr lang="en-US" dirty="0"/>
              <a:t>The Green Revolution intensifies agriculture, reducing forest clearing, reducing deforestation, and preserving valuable ecosystems and inhabitants, reducing biodiversity loss.</a:t>
            </a:r>
          </a:p>
          <a:p>
            <a:endParaRPr lang="en-US" b="1" dirty="0"/>
          </a:p>
          <a:p>
            <a:r>
              <a:rPr lang="en-US" b="1" dirty="0"/>
              <a:t>Preservation of genetic diversity</a:t>
            </a:r>
            <a:r>
              <a:rPr lang="en-US" dirty="0"/>
              <a:t> </a:t>
            </a:r>
          </a:p>
          <a:p>
            <a:pPr marL="0" indent="0">
              <a:buNone/>
            </a:pPr>
            <a:r>
              <a:rPr lang="en-US" dirty="0"/>
              <a:t>The Green Revolution prioritized improved crop varieties while preserving traditional crop variety. This ensures genetic diversity, adaptation to changing conditions, and ability to respond well to fertilizers, pesticides and resistance to diseases.</a:t>
            </a:r>
          </a:p>
        </p:txBody>
      </p:sp>
      <p:sp>
        <p:nvSpPr>
          <p:cNvPr id="4" name="Slide Number Placeholder 3"/>
          <p:cNvSpPr>
            <a:spLocks noGrp="1"/>
          </p:cNvSpPr>
          <p:nvPr>
            <p:ph type="sldNum" sz="quarter" idx="12"/>
          </p:nvPr>
        </p:nvSpPr>
        <p:spPr/>
        <p:txBody>
          <a:bodyPr/>
          <a:lstStyle/>
          <a:p>
            <a:fld id="{F4801FD5-11B4-DE43-ACA2-E85EEB9A6F9C}" type="slidenum">
              <a:rPr lang="en-US" smtClean="0"/>
              <a:pPr/>
              <a:t>5</a:t>
            </a:fld>
            <a:endParaRPr lang="en-US" dirty="0"/>
          </a:p>
        </p:txBody>
      </p:sp>
    </p:spTree>
    <p:extLst>
      <p:ext uri="{BB962C8B-B14F-4D97-AF65-F5344CB8AC3E}">
        <p14:creationId xmlns:p14="http://schemas.microsoft.com/office/powerpoint/2010/main" val="700144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CB58A-7954-7CA5-1F70-42112B5411F7}"/>
              </a:ext>
            </a:extLst>
          </p:cNvPr>
          <p:cNvSpPr>
            <a:spLocks noGrp="1"/>
          </p:cNvSpPr>
          <p:nvPr>
            <p:ph type="title"/>
          </p:nvPr>
        </p:nvSpPr>
        <p:spPr/>
        <p:txBody>
          <a:bodyPr/>
          <a:lstStyle/>
          <a:p>
            <a:r>
              <a:rPr lang="en-US" dirty="0"/>
              <a:t>Other Positive Impacts</a:t>
            </a:r>
            <a:endParaRPr lang="en-GB" dirty="0"/>
          </a:p>
        </p:txBody>
      </p:sp>
      <p:sp>
        <p:nvSpPr>
          <p:cNvPr id="3" name="Content Placeholder 2">
            <a:extLst>
              <a:ext uri="{FF2B5EF4-FFF2-40B4-BE49-F238E27FC236}">
                <a16:creationId xmlns:a16="http://schemas.microsoft.com/office/drawing/2014/main" id="{360421B8-17C7-15C3-2412-6A5203A71D3E}"/>
              </a:ext>
            </a:extLst>
          </p:cNvPr>
          <p:cNvSpPr>
            <a:spLocks noGrp="1"/>
          </p:cNvSpPr>
          <p:nvPr>
            <p:ph sz="half" idx="1"/>
          </p:nvPr>
        </p:nvSpPr>
        <p:spPr>
          <a:xfrm>
            <a:off x="422788" y="1750142"/>
            <a:ext cx="11384898" cy="4427773"/>
          </a:xfrm>
        </p:spPr>
        <p:txBody>
          <a:bodyPr/>
          <a:lstStyle/>
          <a:p>
            <a:r>
              <a:rPr lang="en-GB" dirty="0"/>
              <a:t>Poverty reduction</a:t>
            </a:r>
          </a:p>
          <a:p>
            <a:endParaRPr lang="en-GB" dirty="0"/>
          </a:p>
          <a:p>
            <a:r>
              <a:rPr lang="en-GB" dirty="0"/>
              <a:t>Rural employment</a:t>
            </a:r>
          </a:p>
          <a:p>
            <a:endParaRPr lang="en-GB" dirty="0"/>
          </a:p>
          <a:p>
            <a:r>
              <a:rPr lang="en-GB" dirty="0"/>
              <a:t>Generating revenue from export of food products</a:t>
            </a:r>
          </a:p>
          <a:p>
            <a:endParaRPr lang="en-GB" dirty="0"/>
          </a:p>
        </p:txBody>
      </p:sp>
      <p:sp>
        <p:nvSpPr>
          <p:cNvPr id="4" name="Slide Number Placeholder 3">
            <a:extLst>
              <a:ext uri="{FF2B5EF4-FFF2-40B4-BE49-F238E27FC236}">
                <a16:creationId xmlns:a16="http://schemas.microsoft.com/office/drawing/2014/main" id="{4062463B-E11B-C48C-5267-ABD34FB3F8A7}"/>
              </a:ext>
            </a:extLst>
          </p:cNvPr>
          <p:cNvSpPr>
            <a:spLocks noGrp="1"/>
          </p:cNvSpPr>
          <p:nvPr>
            <p:ph type="sldNum" sz="quarter" idx="12"/>
          </p:nvPr>
        </p:nvSpPr>
        <p:spPr/>
        <p:txBody>
          <a:bodyPr/>
          <a:lstStyle/>
          <a:p>
            <a:fld id="{F4801FD5-11B4-DE43-ACA2-E85EEB9A6F9C}" type="slidenum">
              <a:rPr lang="en-US" smtClean="0"/>
              <a:pPr/>
              <a:t>6</a:t>
            </a:fld>
            <a:endParaRPr lang="en-US" dirty="0"/>
          </a:p>
        </p:txBody>
      </p:sp>
    </p:spTree>
    <p:extLst>
      <p:ext uri="{BB962C8B-B14F-4D97-AF65-F5344CB8AC3E}">
        <p14:creationId xmlns:p14="http://schemas.microsoft.com/office/powerpoint/2010/main" val="3928608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Negative Impacts of the Green Revolution on Biodiversity</a:t>
            </a:r>
          </a:p>
        </p:txBody>
      </p:sp>
      <p:sp>
        <p:nvSpPr>
          <p:cNvPr id="3" name="Content Placeholder 2"/>
          <p:cNvSpPr>
            <a:spLocks noGrp="1"/>
          </p:cNvSpPr>
          <p:nvPr>
            <p:ph sz="half" idx="1"/>
          </p:nvPr>
        </p:nvSpPr>
        <p:spPr>
          <a:xfrm>
            <a:off x="384313" y="1224924"/>
            <a:ext cx="11720979" cy="5609014"/>
          </a:xfrm>
        </p:spPr>
        <p:txBody>
          <a:bodyPr/>
          <a:lstStyle/>
          <a:p>
            <a:r>
              <a:rPr lang="en-US" b="1" dirty="0"/>
              <a:t>Loss of native crop varieties</a:t>
            </a:r>
          </a:p>
          <a:p>
            <a:pPr marL="0" indent="0">
              <a:buNone/>
            </a:pPr>
            <a:r>
              <a:rPr lang="en-US" dirty="0"/>
              <a:t>The Green Revolution promoted high-yielding crop varieties, displacing traditional and locally adapted varieties, resulting in genetic diversity loss and reduced agricultural resilience to pests, diseases, and environmental changes.</a:t>
            </a:r>
          </a:p>
          <a:p>
            <a:endParaRPr lang="en-US" dirty="0"/>
          </a:p>
          <a:p>
            <a:r>
              <a:rPr lang="en-US" b="1" dirty="0"/>
              <a:t>Habitat destruction </a:t>
            </a:r>
          </a:p>
          <a:p>
            <a:pPr marL="0" indent="0">
              <a:buNone/>
            </a:pPr>
            <a:r>
              <a:rPr lang="en-US" dirty="0"/>
              <a:t>The expansion of agricultural areas during the Green Revolution required the clearance of natural habitats such as forests, wetlands, and grasslands. This widespread habitat destruction has caused the loss of numerous plant and animal species, disrupting ecosystems and contributing to biodiversity decline.</a:t>
            </a:r>
          </a:p>
          <a:p>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7</a:t>
            </a:fld>
            <a:endParaRPr lang="en-US" dirty="0"/>
          </a:p>
        </p:txBody>
      </p:sp>
    </p:spTree>
    <p:extLst>
      <p:ext uri="{BB962C8B-B14F-4D97-AF65-F5344CB8AC3E}">
        <p14:creationId xmlns:p14="http://schemas.microsoft.com/office/powerpoint/2010/main" val="3934492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Negative Impacts of the Green Revolution on Biodiversity</a:t>
            </a:r>
          </a:p>
        </p:txBody>
      </p:sp>
      <p:sp>
        <p:nvSpPr>
          <p:cNvPr id="3" name="Content Placeholder 2"/>
          <p:cNvSpPr>
            <a:spLocks noGrp="1"/>
          </p:cNvSpPr>
          <p:nvPr>
            <p:ph sz="half" idx="1"/>
          </p:nvPr>
        </p:nvSpPr>
        <p:spPr/>
        <p:txBody>
          <a:bodyPr/>
          <a:lstStyle/>
          <a:p>
            <a:r>
              <a:rPr lang="en-US" b="1" dirty="0"/>
              <a:t>Water pollution and depletion</a:t>
            </a:r>
          </a:p>
          <a:p>
            <a:pPr marL="0" indent="0">
              <a:buNone/>
            </a:pPr>
            <a:r>
              <a:rPr lang="en-US" dirty="0"/>
              <a:t>The Green Revolution's intensive farming practices, including chemical fertilizers and pesticides, have led to water pollution and depletion of freshwater resources, affecting aquatic biodiversity and ecosystems.</a:t>
            </a:r>
          </a:p>
          <a:p>
            <a:endParaRPr lang="en-US" dirty="0"/>
          </a:p>
          <a:p>
            <a:r>
              <a:rPr lang="en-US" b="1" dirty="0"/>
              <a:t>Disruption of ecological balance </a:t>
            </a:r>
          </a:p>
          <a:p>
            <a:pPr marL="0" indent="0">
              <a:buNone/>
            </a:pPr>
            <a:r>
              <a:rPr lang="en-US" dirty="0"/>
              <a:t>The use of agrochemicals, can disrupt ecological balances within agricultural landscapes. This includes the decline of beneficial insects, soil organisms, and pollinators, which are essential for supporting biodiversity and maintaining ecosystem functions.</a:t>
            </a:r>
          </a:p>
        </p:txBody>
      </p:sp>
      <p:sp>
        <p:nvSpPr>
          <p:cNvPr id="4" name="Slide Number Placeholder 3"/>
          <p:cNvSpPr>
            <a:spLocks noGrp="1"/>
          </p:cNvSpPr>
          <p:nvPr>
            <p:ph type="sldNum" sz="quarter" idx="12"/>
          </p:nvPr>
        </p:nvSpPr>
        <p:spPr/>
        <p:txBody>
          <a:bodyPr/>
          <a:lstStyle/>
          <a:p>
            <a:fld id="{F4801FD5-11B4-DE43-ACA2-E85EEB9A6F9C}" type="slidenum">
              <a:rPr lang="en-US" smtClean="0"/>
              <a:pPr/>
              <a:t>8</a:t>
            </a:fld>
            <a:endParaRPr lang="en-US" dirty="0"/>
          </a:p>
        </p:txBody>
      </p:sp>
    </p:spTree>
    <p:extLst>
      <p:ext uri="{BB962C8B-B14F-4D97-AF65-F5344CB8AC3E}">
        <p14:creationId xmlns:p14="http://schemas.microsoft.com/office/powerpoint/2010/main" val="1780884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708" y="195127"/>
            <a:ext cx="11198086" cy="592690"/>
          </a:xfrm>
        </p:spPr>
        <p:txBody>
          <a:bodyPr/>
          <a:lstStyle/>
          <a:p>
            <a:r>
              <a:rPr lang="en-US" dirty="0"/>
              <a:t>Balancing the Green Revolution and Biodiversity</a:t>
            </a:r>
            <a:br>
              <a:rPr lang="en-US" dirty="0"/>
            </a:br>
            <a:endParaRPr lang="en-US" dirty="0"/>
          </a:p>
        </p:txBody>
      </p:sp>
      <p:sp>
        <p:nvSpPr>
          <p:cNvPr id="3" name="Content Placeholder 2"/>
          <p:cNvSpPr>
            <a:spLocks noGrp="1"/>
          </p:cNvSpPr>
          <p:nvPr>
            <p:ph sz="half" idx="1"/>
          </p:nvPr>
        </p:nvSpPr>
        <p:spPr/>
        <p:txBody>
          <a:bodyPr>
            <a:normAutofit lnSpcReduction="10000"/>
          </a:bodyPr>
          <a:lstStyle/>
          <a:p>
            <a:pPr marL="0" indent="0">
              <a:lnSpc>
                <a:spcPct val="150000"/>
              </a:lnSpc>
              <a:buNone/>
            </a:pPr>
            <a:r>
              <a:rPr lang="en-US" dirty="0"/>
              <a:t>These can also serve as mitigation strategies to the green evolution</a:t>
            </a:r>
          </a:p>
          <a:p>
            <a:pPr>
              <a:lnSpc>
                <a:spcPct val="150000"/>
              </a:lnSpc>
            </a:pPr>
            <a:r>
              <a:rPr lang="en-US" dirty="0"/>
              <a:t>Balancing the green revolution and biodiversity requires sustainable agricultural practices, such as agroecology and organic farming, that promote biodiversity conservation and resilience.</a:t>
            </a:r>
          </a:p>
          <a:p>
            <a:pPr>
              <a:lnSpc>
                <a:spcPct val="150000"/>
              </a:lnSpc>
            </a:pPr>
            <a:r>
              <a:rPr lang="en-US" dirty="0"/>
              <a:t> </a:t>
            </a:r>
            <a:r>
              <a:rPr lang="en-US" b="1" dirty="0"/>
              <a:t>Biodiversity friendly farming practices</a:t>
            </a:r>
            <a:r>
              <a:rPr lang="en-US" dirty="0"/>
              <a:t> </a:t>
            </a:r>
          </a:p>
          <a:p>
            <a:pPr marL="0" indent="0">
              <a:lnSpc>
                <a:spcPct val="150000"/>
              </a:lnSpc>
              <a:buNone/>
            </a:pPr>
            <a:r>
              <a:rPr lang="en-US" dirty="0"/>
              <a:t>	Encourage the adoption of sustainable agricultural practices that promote 	biodiversity conservation. This includes agroforestry, organic farming, 	integrated pest management etc.</a:t>
            </a:r>
          </a:p>
          <a:p>
            <a:pPr>
              <a:lnSpc>
                <a:spcPct val="150000"/>
              </a:lnSpc>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9</a:t>
            </a:fld>
            <a:endParaRPr lang="en-US" dirty="0"/>
          </a:p>
        </p:txBody>
      </p:sp>
    </p:spTree>
    <p:extLst>
      <p:ext uri="{BB962C8B-B14F-4D97-AF65-F5344CB8AC3E}">
        <p14:creationId xmlns:p14="http://schemas.microsoft.com/office/powerpoint/2010/main" val="252964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884" y="195127"/>
            <a:ext cx="11470803" cy="592690"/>
          </a:xfrm>
        </p:spPr>
        <p:txBody>
          <a:bodyPr/>
          <a:lstStyle/>
          <a:p>
            <a:r>
              <a:rPr lang="en-US" dirty="0"/>
              <a:t>Balancing the Green Revolution and Biodiversity cont’d</a:t>
            </a:r>
          </a:p>
        </p:txBody>
      </p:sp>
      <p:sp>
        <p:nvSpPr>
          <p:cNvPr id="3" name="Content Placeholder 2"/>
          <p:cNvSpPr>
            <a:spLocks noGrp="1"/>
          </p:cNvSpPr>
          <p:nvPr>
            <p:ph sz="half" idx="1"/>
          </p:nvPr>
        </p:nvSpPr>
        <p:spPr/>
        <p:txBody>
          <a:bodyPr>
            <a:normAutofit/>
          </a:bodyPr>
          <a:lstStyle/>
          <a:p>
            <a:pPr>
              <a:lnSpc>
                <a:spcPct val="150000"/>
              </a:lnSpc>
            </a:pPr>
            <a:r>
              <a:rPr lang="en-US" b="1" dirty="0"/>
              <a:t>Conservation of native crop varieties</a:t>
            </a:r>
          </a:p>
          <a:p>
            <a:pPr marL="0" indent="0">
              <a:lnSpc>
                <a:spcPct val="150000"/>
              </a:lnSpc>
              <a:buNone/>
            </a:pPr>
            <a:r>
              <a:rPr lang="en-US" dirty="0"/>
              <a:t>Promote the conservation and cultivation of native crop varieties that are well-adapted to local environments. This helps preserve genetic diversity and reduces reliance on a limited number of high-yielding varieties.</a:t>
            </a:r>
          </a:p>
          <a:p>
            <a:pPr>
              <a:lnSpc>
                <a:spcPct val="150000"/>
              </a:lnSpc>
            </a:pPr>
            <a:r>
              <a:rPr lang="en-US" dirty="0"/>
              <a:t>Collaboration between farmers, scientists, policymakers, and communities is crucial for developing and implementing strategies that harmonize the green revolution and biodiversity conservation</a:t>
            </a:r>
          </a:p>
        </p:txBody>
      </p:sp>
      <p:sp>
        <p:nvSpPr>
          <p:cNvPr id="4" name="Slide Number Placeholder 3"/>
          <p:cNvSpPr>
            <a:spLocks noGrp="1"/>
          </p:cNvSpPr>
          <p:nvPr>
            <p:ph type="sldNum" sz="quarter" idx="12"/>
          </p:nvPr>
        </p:nvSpPr>
        <p:spPr/>
        <p:txBody>
          <a:bodyPr/>
          <a:lstStyle/>
          <a:p>
            <a:fld id="{F4801FD5-11B4-DE43-ACA2-E85EEB9A6F9C}" type="slidenum">
              <a:rPr lang="en-US" smtClean="0"/>
              <a:pPr/>
              <a:t>10</a:t>
            </a:fld>
            <a:endParaRPr lang="en-US" dirty="0"/>
          </a:p>
        </p:txBody>
      </p:sp>
    </p:spTree>
    <p:extLst>
      <p:ext uri="{BB962C8B-B14F-4D97-AF65-F5344CB8AC3E}">
        <p14:creationId xmlns:p14="http://schemas.microsoft.com/office/powerpoint/2010/main" val="587571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9A96C-9D35-F6EE-029F-08018C78E064}"/>
              </a:ext>
            </a:extLst>
          </p:cNvPr>
          <p:cNvSpPr>
            <a:spLocks noGrp="1"/>
          </p:cNvSpPr>
          <p:nvPr>
            <p:ph type="title"/>
          </p:nvPr>
        </p:nvSpPr>
        <p:spPr/>
        <p:txBody>
          <a:bodyPr/>
          <a:lstStyle/>
          <a:p>
            <a:r>
              <a:rPr lang="en-US" dirty="0"/>
              <a:t>Balancing the Green Revolution and </a:t>
            </a:r>
            <a:r>
              <a:rPr lang="en-US" dirty="0">
                <a:solidFill>
                  <a:schemeClr val="bg2">
                    <a:lumMod val="10000"/>
                  </a:schemeClr>
                </a:solidFill>
              </a:rPr>
              <a:t>Biodiversity</a:t>
            </a:r>
            <a:br>
              <a:rPr lang="en-US" dirty="0"/>
            </a:br>
            <a:endParaRPr lang="en-GB" dirty="0"/>
          </a:p>
        </p:txBody>
      </p:sp>
      <p:sp>
        <p:nvSpPr>
          <p:cNvPr id="3" name="Content Placeholder 2">
            <a:extLst>
              <a:ext uri="{FF2B5EF4-FFF2-40B4-BE49-F238E27FC236}">
                <a16:creationId xmlns:a16="http://schemas.microsoft.com/office/drawing/2014/main" id="{ED222867-6FA1-E791-4C1F-9313680C86A6}"/>
              </a:ext>
            </a:extLst>
          </p:cNvPr>
          <p:cNvSpPr>
            <a:spLocks noGrp="1"/>
          </p:cNvSpPr>
          <p:nvPr>
            <p:ph sz="half" idx="1"/>
          </p:nvPr>
        </p:nvSpPr>
        <p:spPr/>
        <p:txBody>
          <a:bodyPr/>
          <a:lstStyle/>
          <a:p>
            <a:r>
              <a:rPr lang="en-US" b="1" dirty="0"/>
              <a:t>Education and awareness</a:t>
            </a:r>
          </a:p>
          <a:p>
            <a:pPr marL="0" indent="0">
              <a:buNone/>
            </a:pPr>
            <a:r>
              <a:rPr lang="en-US" dirty="0"/>
              <a:t> Raise awareness among farmers, policymakers, and the general public about the importance of biodiversity conservation and the potential negative impacts of certain agricultural practices.</a:t>
            </a:r>
          </a:p>
          <a:p>
            <a:endParaRPr lang="en-GB" dirty="0"/>
          </a:p>
          <a:p>
            <a:r>
              <a:rPr lang="en-US" b="1" dirty="0"/>
              <a:t>Sustainable water management</a:t>
            </a:r>
          </a:p>
          <a:p>
            <a:pPr marL="0" indent="0">
              <a:buNone/>
            </a:pPr>
            <a:r>
              <a:rPr lang="en-US" dirty="0"/>
              <a:t> Promote efficient water management practices in agriculture to reduce water consumption, minimize water pollution from agrochemical runoff, and maintain healthy aquatic ecosystems.</a:t>
            </a:r>
          </a:p>
          <a:p>
            <a:endParaRPr lang="en-GB" dirty="0"/>
          </a:p>
        </p:txBody>
      </p:sp>
      <p:sp>
        <p:nvSpPr>
          <p:cNvPr id="4" name="Slide Number Placeholder 3">
            <a:extLst>
              <a:ext uri="{FF2B5EF4-FFF2-40B4-BE49-F238E27FC236}">
                <a16:creationId xmlns:a16="http://schemas.microsoft.com/office/drawing/2014/main" id="{1EFE337F-2A48-F055-8B9F-D789F207E8EF}"/>
              </a:ext>
            </a:extLst>
          </p:cNvPr>
          <p:cNvSpPr>
            <a:spLocks noGrp="1"/>
          </p:cNvSpPr>
          <p:nvPr>
            <p:ph type="sldNum" sz="quarter" idx="12"/>
          </p:nvPr>
        </p:nvSpPr>
        <p:spPr/>
        <p:txBody>
          <a:bodyPr/>
          <a:lstStyle/>
          <a:p>
            <a:fld id="{F4801FD5-11B4-DE43-ACA2-E85EEB9A6F9C}" type="slidenum">
              <a:rPr lang="en-US" smtClean="0"/>
              <a:pPr/>
              <a:t>11</a:t>
            </a:fld>
            <a:endParaRPr lang="en-US" dirty="0"/>
          </a:p>
        </p:txBody>
      </p:sp>
    </p:spTree>
    <p:extLst>
      <p:ext uri="{BB962C8B-B14F-4D97-AF65-F5344CB8AC3E}">
        <p14:creationId xmlns:p14="http://schemas.microsoft.com/office/powerpoint/2010/main" val="849430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a:t>
            </a:r>
          </a:p>
        </p:txBody>
      </p:sp>
      <p:sp>
        <p:nvSpPr>
          <p:cNvPr id="3" name="Content Placeholder 2"/>
          <p:cNvSpPr>
            <a:spLocks noGrp="1"/>
          </p:cNvSpPr>
          <p:nvPr>
            <p:ph sz="half" idx="1"/>
          </p:nvPr>
        </p:nvSpPr>
        <p:spPr/>
        <p:txBody>
          <a:bodyPr>
            <a:normAutofit fontScale="85000" lnSpcReduction="20000"/>
          </a:bodyPr>
          <a:lstStyle/>
          <a:p>
            <a:pPr marL="0" indent="0">
              <a:buNone/>
            </a:pPr>
            <a:r>
              <a:rPr lang="en-US" dirty="0"/>
              <a:t>One notable case study illustrating the blessings and the curses of the green revolution on biodiversity  is the state of Punjab in India.</a:t>
            </a:r>
          </a:p>
          <a:p>
            <a:endParaRPr lang="en-US" dirty="0"/>
          </a:p>
          <a:p>
            <a:r>
              <a:rPr lang="en-US" b="1" dirty="0"/>
              <a:t>Punjab</a:t>
            </a:r>
          </a:p>
          <a:p>
            <a:pPr marL="0" indent="0">
              <a:buNone/>
            </a:pPr>
            <a:r>
              <a:rPr lang="en-US" dirty="0"/>
              <a:t> Punjab, located in northern India, was one of the early success stories of the Green Revolution. In the 1960s and 1970s, the introduction of high-yielding varieties of wheat and rice, coupled with extensive use of fertilizers and irrigation, led to a dramatic increase in agricultural productivity. Punjab became known as the "Granary of India" and achieved food self-sufficiency.</a:t>
            </a:r>
          </a:p>
          <a:p>
            <a:pPr marL="0" indent="0">
              <a:buNone/>
            </a:pPr>
            <a:endParaRPr lang="en-US" dirty="0"/>
          </a:p>
          <a:p>
            <a:pPr marL="0" indent="0">
              <a:buNone/>
            </a:pPr>
            <a:r>
              <a:rPr lang="en-US" b="1" dirty="0"/>
              <a:t>Blessing</a:t>
            </a:r>
            <a:r>
              <a:rPr lang="en-US" dirty="0"/>
              <a:t>.</a:t>
            </a:r>
          </a:p>
          <a:p>
            <a:pPr marL="0" indent="0">
              <a:buNone/>
            </a:pPr>
            <a:r>
              <a:rPr lang="en-US" dirty="0"/>
              <a:t>1. Increased agricultural production</a:t>
            </a:r>
          </a:p>
          <a:p>
            <a:pPr marL="0" indent="0">
              <a:buNone/>
            </a:pPr>
            <a:r>
              <a:rPr lang="en-US" dirty="0"/>
              <a:t>2. Economic growth </a:t>
            </a:r>
          </a:p>
          <a:p>
            <a:pPr marL="0" indent="0">
              <a:buNone/>
            </a:pPr>
            <a:r>
              <a:rPr lang="en-US" dirty="0"/>
              <a:t>3. Poverty alleviation</a:t>
            </a:r>
          </a:p>
          <a:p>
            <a:pPr marL="0" indent="0">
              <a:buNone/>
            </a:pPr>
            <a:r>
              <a:rPr lang="en-US" dirty="0"/>
              <a:t>4. Increase in the standard of living</a:t>
            </a:r>
          </a:p>
        </p:txBody>
      </p:sp>
      <p:sp>
        <p:nvSpPr>
          <p:cNvPr id="4" name="Slide Number Placeholder 3"/>
          <p:cNvSpPr>
            <a:spLocks noGrp="1"/>
          </p:cNvSpPr>
          <p:nvPr>
            <p:ph type="sldNum" sz="quarter" idx="12"/>
          </p:nvPr>
        </p:nvSpPr>
        <p:spPr/>
        <p:txBody>
          <a:bodyPr/>
          <a:lstStyle/>
          <a:p>
            <a:fld id="{F4801FD5-11B4-DE43-ACA2-E85EEB9A6F9C}" type="slidenum">
              <a:rPr lang="en-US" smtClean="0"/>
              <a:pPr/>
              <a:t>12</a:t>
            </a:fld>
            <a:endParaRPr lang="en-US" dirty="0"/>
          </a:p>
        </p:txBody>
      </p:sp>
    </p:spTree>
    <p:extLst>
      <p:ext uri="{BB962C8B-B14F-4D97-AF65-F5344CB8AC3E}">
        <p14:creationId xmlns:p14="http://schemas.microsoft.com/office/powerpoint/2010/main" val="2446164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cont’d</a:t>
            </a:r>
          </a:p>
        </p:txBody>
      </p:sp>
      <p:sp>
        <p:nvSpPr>
          <p:cNvPr id="3" name="Content Placeholder 2"/>
          <p:cNvSpPr>
            <a:spLocks noGrp="1"/>
          </p:cNvSpPr>
          <p:nvPr>
            <p:ph sz="half" idx="1"/>
          </p:nvPr>
        </p:nvSpPr>
        <p:spPr/>
        <p:txBody>
          <a:bodyPr>
            <a:normAutofit fontScale="85000" lnSpcReduction="20000"/>
          </a:bodyPr>
          <a:lstStyle/>
          <a:p>
            <a:pPr marL="0" indent="0">
              <a:buNone/>
            </a:pPr>
            <a:r>
              <a:rPr lang="en-US" b="1" dirty="0"/>
              <a:t>Curses.</a:t>
            </a:r>
          </a:p>
          <a:p>
            <a:pPr marL="0" indent="0">
              <a:buNone/>
            </a:pPr>
            <a:r>
              <a:rPr lang="en-US" dirty="0"/>
              <a:t>1. Loss of biodiversity </a:t>
            </a:r>
          </a:p>
          <a:p>
            <a:pPr marL="0" indent="0">
              <a:buNone/>
            </a:pPr>
            <a:r>
              <a:rPr lang="en-US" dirty="0"/>
              <a:t>2. Water scarcity and pollution </a:t>
            </a:r>
          </a:p>
          <a:p>
            <a:pPr marL="0" indent="0">
              <a:buNone/>
            </a:pPr>
            <a:r>
              <a:rPr lang="en-US" dirty="0"/>
              <a:t>3. Soil degradation</a:t>
            </a:r>
          </a:p>
          <a:p>
            <a:pPr marL="0" indent="0">
              <a:buNone/>
            </a:pPr>
            <a:r>
              <a:rPr lang="en-US" dirty="0"/>
              <a:t>4. Cancer, renal failure, birth defects, etc.</a:t>
            </a:r>
          </a:p>
          <a:p>
            <a:endParaRPr lang="en-US" b="1" dirty="0"/>
          </a:p>
          <a:p>
            <a:pPr marL="0" indent="0">
              <a:buNone/>
            </a:pPr>
            <a:r>
              <a:rPr lang="en-US" b="1" dirty="0"/>
              <a:t>Environmental Consequences</a:t>
            </a:r>
          </a:p>
          <a:p>
            <a:r>
              <a:rPr lang="en-US" dirty="0"/>
              <a:t>.1. Decline in beneficial insects and pollinators</a:t>
            </a:r>
          </a:p>
          <a:p>
            <a:r>
              <a:rPr lang="en-US" dirty="0"/>
              <a:t>2. Loss of indigenous crop varieties.</a:t>
            </a:r>
          </a:p>
          <a:p>
            <a:pPr marL="0" indent="0">
              <a:buNone/>
            </a:pPr>
            <a:endParaRPr lang="en-US" dirty="0"/>
          </a:p>
          <a:p>
            <a:pPr marL="0" indent="0">
              <a:buNone/>
            </a:pPr>
            <a:r>
              <a:rPr lang="en-US" b="1" dirty="0"/>
              <a:t> Conclusion.</a:t>
            </a:r>
          </a:p>
          <a:p>
            <a:r>
              <a:rPr lang="en-US" dirty="0"/>
              <a:t>The Green Revolution in Punjab brought both blessings and curses to biodiversity. While it significantly increased agricultural productivity and contributed to economic growth, it also led to the loss of biodiversity, soil degradation, water scarcity, and pollution.</a:t>
            </a:r>
          </a:p>
          <a:p>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13</a:t>
            </a:fld>
            <a:endParaRPr lang="en-US" dirty="0"/>
          </a:p>
        </p:txBody>
      </p:sp>
      <p:pic>
        <p:nvPicPr>
          <p:cNvPr id="6" name="Picture 5">
            <a:extLst>
              <a:ext uri="{FF2B5EF4-FFF2-40B4-BE49-F238E27FC236}">
                <a16:creationId xmlns:a16="http://schemas.microsoft.com/office/drawing/2014/main" id="{7A6CF1A9-93E1-2684-6F1E-A5AE448BC72F}"/>
              </a:ext>
            </a:extLst>
          </p:cNvPr>
          <p:cNvPicPr>
            <a:picLocks noChangeAspect="1"/>
          </p:cNvPicPr>
          <p:nvPr/>
        </p:nvPicPr>
        <p:blipFill>
          <a:blip r:embed="rId2"/>
          <a:stretch>
            <a:fillRect/>
          </a:stretch>
        </p:blipFill>
        <p:spPr>
          <a:xfrm>
            <a:off x="7552395" y="1002089"/>
            <a:ext cx="2996701" cy="1773196"/>
          </a:xfrm>
          <a:prstGeom prst="rect">
            <a:avLst/>
          </a:prstGeom>
        </p:spPr>
      </p:pic>
    </p:spTree>
    <p:extLst>
      <p:ext uri="{BB962C8B-B14F-4D97-AF65-F5344CB8AC3E}">
        <p14:creationId xmlns:p14="http://schemas.microsoft.com/office/powerpoint/2010/main" val="2236368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br>
              <a:rPr lang="en-US" dirty="0"/>
            </a:br>
            <a:endParaRPr lang="en-US" dirty="0"/>
          </a:p>
        </p:txBody>
      </p:sp>
      <p:sp>
        <p:nvSpPr>
          <p:cNvPr id="3" name="Content Placeholder 2"/>
          <p:cNvSpPr>
            <a:spLocks noGrp="1"/>
          </p:cNvSpPr>
          <p:nvPr>
            <p:ph sz="half" idx="1"/>
          </p:nvPr>
        </p:nvSpPr>
        <p:spPr/>
        <p:txBody>
          <a:bodyPr>
            <a:normAutofit/>
          </a:bodyPr>
          <a:lstStyle/>
          <a:p>
            <a:pPr marL="0" indent="0">
              <a:buNone/>
            </a:pPr>
            <a:endParaRPr lang="en-US" dirty="0"/>
          </a:p>
          <a:p>
            <a:pPr marL="0" indent="0" algn="just">
              <a:buNone/>
            </a:pPr>
            <a:r>
              <a:rPr lang="en-US" dirty="0"/>
              <a:t>While the green revolution has brought significant agricultural advancements and increased food production, it has also posed challenges to biodiversity conservation. Considering both the benefits and drawbacks, we believe the green revolution is a double-edged sword, necessitating a balanced approach to ensure sustainable practices and protect our precious ecosystem.</a:t>
            </a:r>
          </a:p>
        </p:txBody>
      </p:sp>
      <p:sp>
        <p:nvSpPr>
          <p:cNvPr id="4" name="Slide Number Placeholder 3"/>
          <p:cNvSpPr>
            <a:spLocks noGrp="1"/>
          </p:cNvSpPr>
          <p:nvPr>
            <p:ph type="sldNum" sz="quarter" idx="12"/>
          </p:nvPr>
        </p:nvSpPr>
        <p:spPr/>
        <p:txBody>
          <a:bodyPr/>
          <a:lstStyle/>
          <a:p>
            <a:fld id="{F4801FD5-11B4-DE43-ACA2-E85EEB9A6F9C}" type="slidenum">
              <a:rPr lang="en-US" smtClean="0"/>
              <a:pPr/>
              <a:t>14</a:t>
            </a:fld>
            <a:endParaRPr lang="en-US" dirty="0"/>
          </a:p>
        </p:txBody>
      </p:sp>
      <p:pic>
        <p:nvPicPr>
          <p:cNvPr id="6" name="Picture 5">
            <a:extLst>
              <a:ext uri="{FF2B5EF4-FFF2-40B4-BE49-F238E27FC236}">
                <a16:creationId xmlns:a16="http://schemas.microsoft.com/office/drawing/2014/main" id="{B7E8B2F6-E71A-3B62-41F6-C7BEC8569B75}"/>
              </a:ext>
            </a:extLst>
          </p:cNvPr>
          <p:cNvPicPr>
            <a:picLocks noChangeAspect="1"/>
          </p:cNvPicPr>
          <p:nvPr/>
        </p:nvPicPr>
        <p:blipFill>
          <a:blip r:embed="rId2"/>
          <a:stretch>
            <a:fillRect/>
          </a:stretch>
        </p:blipFill>
        <p:spPr>
          <a:xfrm>
            <a:off x="3714006" y="3695172"/>
            <a:ext cx="4555957" cy="2583433"/>
          </a:xfrm>
          <a:prstGeom prst="rect">
            <a:avLst/>
          </a:prstGeom>
        </p:spPr>
      </p:pic>
    </p:spTree>
    <p:extLst>
      <p:ext uri="{BB962C8B-B14F-4D97-AF65-F5344CB8AC3E}">
        <p14:creationId xmlns:p14="http://schemas.microsoft.com/office/powerpoint/2010/main" val="3632597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E7902E-AD4C-BE32-6BE0-1CECBDE9D953}"/>
              </a:ext>
            </a:extLst>
          </p:cNvPr>
          <p:cNvSpPr>
            <a:spLocks noGrp="1"/>
          </p:cNvSpPr>
          <p:nvPr>
            <p:ph sz="half" idx="1"/>
          </p:nvPr>
        </p:nvSpPr>
        <p:spPr/>
        <p:txBody>
          <a:bodyPr/>
          <a:lstStyle/>
          <a:p>
            <a:pPr marL="0" indent="0" algn="ctr">
              <a:buNone/>
            </a:pPr>
            <a:endParaRPr lang="en-US" sz="7200" b="1" dirty="0"/>
          </a:p>
          <a:p>
            <a:pPr marL="0" indent="0" algn="ctr">
              <a:buNone/>
            </a:pPr>
            <a:r>
              <a:rPr lang="en-US" sz="7200" b="1" dirty="0"/>
              <a:t>THANK YOU</a:t>
            </a:r>
          </a:p>
          <a:p>
            <a:pPr marL="0" indent="0" algn="ctr">
              <a:buNone/>
            </a:pPr>
            <a:endParaRPr lang="en-GB" dirty="0"/>
          </a:p>
        </p:txBody>
      </p:sp>
      <p:sp>
        <p:nvSpPr>
          <p:cNvPr id="4" name="Slide Number Placeholder 3">
            <a:extLst>
              <a:ext uri="{FF2B5EF4-FFF2-40B4-BE49-F238E27FC236}">
                <a16:creationId xmlns:a16="http://schemas.microsoft.com/office/drawing/2014/main" id="{9A8F9D7C-1242-0B02-09D6-E9AE6369B7E7}"/>
              </a:ext>
            </a:extLst>
          </p:cNvPr>
          <p:cNvSpPr>
            <a:spLocks noGrp="1"/>
          </p:cNvSpPr>
          <p:nvPr>
            <p:ph type="sldNum" sz="quarter" idx="12"/>
          </p:nvPr>
        </p:nvSpPr>
        <p:spPr/>
        <p:txBody>
          <a:bodyPr/>
          <a:lstStyle/>
          <a:p>
            <a:fld id="{F4801FD5-11B4-DE43-ACA2-E85EEB9A6F9C}" type="slidenum">
              <a:rPr lang="en-US" smtClean="0"/>
              <a:pPr/>
              <a:t>15</a:t>
            </a:fld>
            <a:endParaRPr lang="en-US" dirty="0"/>
          </a:p>
        </p:txBody>
      </p:sp>
    </p:spTree>
    <p:extLst>
      <p:ext uri="{BB962C8B-B14F-4D97-AF65-F5344CB8AC3E}">
        <p14:creationId xmlns:p14="http://schemas.microsoft.com/office/powerpoint/2010/main" val="2611936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7629-6F12-5B4D-BCA8-7597D222AF64}"/>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4929111D-9CB1-7AD8-928A-6C916017B9BB}"/>
              </a:ext>
            </a:extLst>
          </p:cNvPr>
          <p:cNvSpPr>
            <a:spLocks noGrp="1"/>
          </p:cNvSpPr>
          <p:nvPr>
            <p:ph sz="half" idx="1"/>
          </p:nvPr>
        </p:nvSpPr>
        <p:spPr/>
        <p:txBody>
          <a:bodyPr/>
          <a:lstStyle/>
          <a:p>
            <a:r>
              <a:rPr lang="en-GB" dirty="0" err="1"/>
              <a:t>Pingali</a:t>
            </a:r>
            <a:r>
              <a:rPr lang="en-GB" dirty="0"/>
              <a:t>, P. L. (2012). Green Revolution: Impacts, limits, and the path ahead. Proceedings of the National Academy of Sciences, 109(31), 12302-12308.</a:t>
            </a:r>
          </a:p>
          <a:p>
            <a:r>
              <a:rPr lang="en-GB" dirty="0"/>
              <a:t>Tilman, D., et al. (2002). Agricultural sustainability and intensive production practices. Nature, 418(6898), 671-677.</a:t>
            </a:r>
          </a:p>
          <a:p>
            <a:r>
              <a:rPr lang="en-GB" dirty="0"/>
              <a:t>Bala, B. K. (2010). Green Revolution and its impact on environment: An appraisal. International Journal of Environmental Sciences, 1(5), </a:t>
            </a:r>
            <a:r>
              <a:rPr lang="en-GB"/>
              <a:t>1079-1092.</a:t>
            </a:r>
          </a:p>
          <a:p>
            <a:r>
              <a:rPr lang="en-GB"/>
              <a:t>Smale</a:t>
            </a:r>
            <a:r>
              <a:rPr lang="en-GB" dirty="0"/>
              <a:t>, M., et al. (2011). The Green Revolution and wheat genetic diversity: Some unfounded assumptions. Food Policy, 36(6), 749-755.</a:t>
            </a:r>
          </a:p>
        </p:txBody>
      </p:sp>
      <p:sp>
        <p:nvSpPr>
          <p:cNvPr id="4" name="Slide Number Placeholder 3">
            <a:extLst>
              <a:ext uri="{FF2B5EF4-FFF2-40B4-BE49-F238E27FC236}">
                <a16:creationId xmlns:a16="http://schemas.microsoft.com/office/drawing/2014/main" id="{992A8C19-B090-49BE-25D6-CA933946AD73}"/>
              </a:ext>
            </a:extLst>
          </p:cNvPr>
          <p:cNvSpPr>
            <a:spLocks noGrp="1"/>
          </p:cNvSpPr>
          <p:nvPr>
            <p:ph type="sldNum" sz="quarter" idx="12"/>
          </p:nvPr>
        </p:nvSpPr>
        <p:spPr/>
        <p:txBody>
          <a:bodyPr/>
          <a:lstStyle/>
          <a:p>
            <a:fld id="{F4801FD5-11B4-DE43-ACA2-E85EEB9A6F9C}" type="slidenum">
              <a:rPr lang="en-US" smtClean="0"/>
              <a:pPr/>
              <a:t>16</a:t>
            </a:fld>
            <a:endParaRPr lang="en-US" dirty="0"/>
          </a:p>
        </p:txBody>
      </p:sp>
    </p:spTree>
    <p:extLst>
      <p:ext uri="{BB962C8B-B14F-4D97-AF65-F5344CB8AC3E}">
        <p14:creationId xmlns:p14="http://schemas.microsoft.com/office/powerpoint/2010/main" val="2898371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95075-3D31-9CFB-F3E7-9C07DFEDF25E}"/>
              </a:ext>
            </a:extLst>
          </p:cNvPr>
          <p:cNvSpPr>
            <a:spLocks noGrp="1"/>
          </p:cNvSpPr>
          <p:nvPr>
            <p:ph type="title"/>
          </p:nvPr>
        </p:nvSpPr>
        <p:spPr/>
        <p:txBody>
          <a:bodyPr/>
          <a:lstStyle/>
          <a:p>
            <a:r>
              <a:rPr lang="en-GB" dirty="0"/>
              <a:t>Group Members</a:t>
            </a:r>
          </a:p>
        </p:txBody>
      </p:sp>
      <p:sp>
        <p:nvSpPr>
          <p:cNvPr id="3" name="Content Placeholder 2">
            <a:extLst>
              <a:ext uri="{FF2B5EF4-FFF2-40B4-BE49-F238E27FC236}">
                <a16:creationId xmlns:a16="http://schemas.microsoft.com/office/drawing/2014/main" id="{B4AC580F-F74E-9167-844C-F1D6413506C3}"/>
              </a:ext>
            </a:extLst>
          </p:cNvPr>
          <p:cNvSpPr>
            <a:spLocks noGrp="1"/>
          </p:cNvSpPr>
          <p:nvPr>
            <p:ph sz="half" idx="1"/>
          </p:nvPr>
        </p:nvSpPr>
        <p:spPr/>
        <p:txBody>
          <a:bodyPr>
            <a:normAutofit lnSpcReduction="10000"/>
          </a:bodyPr>
          <a:lstStyle/>
          <a:p>
            <a:pPr marL="514350" indent="-514350">
              <a:buAutoNum type="arabicPeriod"/>
            </a:pPr>
            <a:r>
              <a:rPr lang="en-GB" sz="3200" dirty="0"/>
              <a:t>Adjei De-graft - 9195119</a:t>
            </a:r>
          </a:p>
          <a:p>
            <a:pPr marL="514350" indent="-514350">
              <a:buAutoNum type="arabicPeriod"/>
            </a:pPr>
            <a:r>
              <a:rPr lang="en-GB" sz="3200" dirty="0"/>
              <a:t>Oppong Ernest - 9215619</a:t>
            </a:r>
          </a:p>
          <a:p>
            <a:pPr marL="514350" indent="-514350">
              <a:buAutoNum type="arabicPeriod"/>
            </a:pPr>
            <a:r>
              <a:rPr lang="en-GB" sz="3200" dirty="0" err="1"/>
              <a:t>Amanin</a:t>
            </a:r>
            <a:r>
              <a:rPr lang="en-GB" sz="3200" dirty="0"/>
              <a:t> Kwarteng </a:t>
            </a:r>
            <a:r>
              <a:rPr lang="en-GB" sz="3200" dirty="0" err="1"/>
              <a:t>Abena</a:t>
            </a:r>
            <a:r>
              <a:rPr lang="en-GB" sz="3200" dirty="0"/>
              <a:t> </a:t>
            </a:r>
            <a:r>
              <a:rPr lang="en-GB" sz="3200" dirty="0" err="1"/>
              <a:t>Safowaa</a:t>
            </a:r>
            <a:r>
              <a:rPr lang="en-GB" sz="3200" dirty="0"/>
              <a:t> - 9198319</a:t>
            </a:r>
          </a:p>
          <a:p>
            <a:pPr marL="514350" indent="-514350">
              <a:buFont typeface="Arial"/>
              <a:buAutoNum type="arabicPeriod"/>
            </a:pPr>
            <a:r>
              <a:rPr lang="en-GB" sz="3200" dirty="0" err="1"/>
              <a:t>Adzrakor</a:t>
            </a:r>
            <a:r>
              <a:rPr lang="en-GB" sz="3200" dirty="0"/>
              <a:t> </a:t>
            </a:r>
            <a:r>
              <a:rPr lang="en-GB" sz="3200" dirty="0" err="1"/>
              <a:t>Gameli</a:t>
            </a:r>
            <a:r>
              <a:rPr lang="en-GB" sz="3200" dirty="0"/>
              <a:t> Richard - 9196319</a:t>
            </a:r>
          </a:p>
          <a:p>
            <a:pPr marL="514350" indent="-514350">
              <a:buAutoNum type="arabicPeriod"/>
            </a:pPr>
            <a:r>
              <a:rPr lang="en-GB" sz="3200" dirty="0"/>
              <a:t>Sarpong </a:t>
            </a:r>
            <a:r>
              <a:rPr lang="en-GB" sz="3200" dirty="0" err="1"/>
              <a:t>Awuraabena</a:t>
            </a:r>
            <a:r>
              <a:rPr lang="en-GB" sz="3200" dirty="0"/>
              <a:t> </a:t>
            </a:r>
            <a:r>
              <a:rPr lang="en-GB" sz="3200" dirty="0" err="1"/>
              <a:t>Sefah</a:t>
            </a:r>
            <a:r>
              <a:rPr lang="en-GB" sz="3200" dirty="0"/>
              <a:t> – 9218919</a:t>
            </a:r>
          </a:p>
          <a:p>
            <a:pPr marL="514350" indent="-514350">
              <a:buAutoNum type="arabicPeriod"/>
            </a:pPr>
            <a:r>
              <a:rPr lang="en-GB" sz="3200" dirty="0" err="1"/>
              <a:t>Idun</a:t>
            </a:r>
            <a:r>
              <a:rPr lang="en-GB" sz="3200" dirty="0"/>
              <a:t> Emmanuel </a:t>
            </a:r>
            <a:r>
              <a:rPr lang="en-GB" sz="3200" dirty="0" err="1"/>
              <a:t>Fiifi</a:t>
            </a:r>
            <a:r>
              <a:rPr lang="en-GB" sz="3200" dirty="0"/>
              <a:t> - 9209919</a:t>
            </a:r>
          </a:p>
          <a:p>
            <a:pPr marL="514350" indent="-514350">
              <a:buFont typeface="Arial"/>
              <a:buAutoNum type="arabicPeriod"/>
            </a:pPr>
            <a:r>
              <a:rPr lang="en-GB" sz="3200" dirty="0"/>
              <a:t>Anim </a:t>
            </a:r>
            <a:r>
              <a:rPr lang="en-GB" sz="3200" dirty="0" err="1"/>
              <a:t>Davilina</a:t>
            </a:r>
            <a:r>
              <a:rPr lang="en-GB" sz="3200" dirty="0"/>
              <a:t> – 9199919</a:t>
            </a:r>
          </a:p>
          <a:p>
            <a:pPr marL="514350" indent="-514350">
              <a:buFont typeface="Arial"/>
              <a:buAutoNum type="arabicPeriod"/>
            </a:pPr>
            <a:r>
              <a:rPr lang="en-GB" sz="3200" dirty="0"/>
              <a:t>Tawiah Antipas - 9219719</a:t>
            </a:r>
          </a:p>
          <a:p>
            <a:pPr marL="514350" indent="-514350">
              <a:buAutoNum type="arabicPeriod"/>
            </a:pPr>
            <a:r>
              <a:rPr lang="en-GB" sz="3200"/>
              <a:t>Abubakar Musah - 9193819</a:t>
            </a:r>
            <a:endParaRPr lang="en-GB" sz="3200" dirty="0"/>
          </a:p>
        </p:txBody>
      </p:sp>
      <p:sp>
        <p:nvSpPr>
          <p:cNvPr id="4" name="Slide Number Placeholder 3">
            <a:extLst>
              <a:ext uri="{FF2B5EF4-FFF2-40B4-BE49-F238E27FC236}">
                <a16:creationId xmlns:a16="http://schemas.microsoft.com/office/drawing/2014/main" id="{53ACF76D-3C6F-B163-C3DF-61904E269A24}"/>
              </a:ext>
            </a:extLst>
          </p:cNvPr>
          <p:cNvSpPr>
            <a:spLocks noGrp="1"/>
          </p:cNvSpPr>
          <p:nvPr>
            <p:ph type="sldNum" sz="quarter" idx="12"/>
          </p:nvPr>
        </p:nvSpPr>
        <p:spPr/>
        <p:txBody>
          <a:bodyPr/>
          <a:lstStyle/>
          <a:p>
            <a:fld id="{F4801FD5-11B4-DE43-ACA2-E85EEB9A6F9C}" type="slidenum">
              <a:rPr lang="en-US" smtClean="0"/>
              <a:pPr/>
              <a:t>17</a:t>
            </a:fld>
            <a:endParaRPr lang="en-US" dirty="0"/>
          </a:p>
        </p:txBody>
      </p:sp>
    </p:spTree>
    <p:extLst>
      <p:ext uri="{BB962C8B-B14F-4D97-AF65-F5344CB8AC3E}">
        <p14:creationId xmlns:p14="http://schemas.microsoft.com/office/powerpoint/2010/main" val="809788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30558</TotalTime>
  <Words>1148</Words>
  <Application>Microsoft Office PowerPoint</Application>
  <PresentationFormat>Widescreen</PresentationFormat>
  <Paragraphs>128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Garamond</vt:lpstr>
      <vt:lpstr>Helvetica</vt:lpstr>
      <vt:lpstr>Office Theme</vt:lpstr>
      <vt:lpstr>THE GREEN REVOLUTION: A CURSE OR BLESSING TO BIODIVERSITY ?</vt:lpstr>
      <vt:lpstr>Outline of Presentation</vt:lpstr>
      <vt:lpstr>Introduction </vt:lpstr>
      <vt:lpstr>Positive Impacts on Biodiversity </vt:lpstr>
      <vt:lpstr>Positive Impact on biodiversity cont’d </vt:lpstr>
      <vt:lpstr>Other Positive Impacts</vt:lpstr>
      <vt:lpstr>Negative Impacts of the Green Revolution on Biodiversity</vt:lpstr>
      <vt:lpstr>Negative Impacts of the Green Revolution on Biodiversity</vt:lpstr>
      <vt:lpstr>Balancing the Green Revolution and Biodiversity </vt:lpstr>
      <vt:lpstr>Balancing the Green Revolution and Biodiversity cont’d</vt:lpstr>
      <vt:lpstr>Balancing the Green Revolution and Biodiversity </vt:lpstr>
      <vt:lpstr>Case Study</vt:lpstr>
      <vt:lpstr>Case Study cont’d</vt:lpstr>
      <vt:lpstr>Conclusion </vt:lpstr>
      <vt:lpstr>PowerPoint Presentation</vt:lpstr>
      <vt:lpstr>References</vt:lpstr>
      <vt:lpstr>Group Members</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HP.NET</cp:lastModifiedBy>
  <cp:revision>176</cp:revision>
  <dcterms:created xsi:type="dcterms:W3CDTF">2016-11-07T15:28:41Z</dcterms:created>
  <dcterms:modified xsi:type="dcterms:W3CDTF">2023-07-12T15:06:05Z</dcterms:modified>
</cp:coreProperties>
</file>