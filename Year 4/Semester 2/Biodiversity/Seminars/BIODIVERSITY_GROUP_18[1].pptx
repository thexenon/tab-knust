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3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8" r:id="rId9"/>
    <p:sldId id="269" r:id="rId10"/>
    <p:sldId id="263" r:id="rId11"/>
    <p:sldId id="265" r:id="rId12"/>
    <p:sldId id="270" r:id="rId13"/>
    <p:sldId id="266" r:id="rId14"/>
    <p:sldId id="267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9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mpson Dziwornu Amadah" userId="345c7687711370db" providerId="LiveId" clId="{4DC96F22-8A21-4302-8635-52E7D2CB906F}"/>
    <pc:docChg chg="custSel addSld modSld">
      <pc:chgData name="Sampson Dziwornu Amadah" userId="345c7687711370db" providerId="LiveId" clId="{4DC96F22-8A21-4302-8635-52E7D2CB906F}" dt="2023-07-19T14:52:53.279" v="463" actId="20577"/>
      <pc:docMkLst>
        <pc:docMk/>
      </pc:docMkLst>
      <pc:sldChg chg="modSp mod modAnim">
        <pc:chgData name="Sampson Dziwornu Amadah" userId="345c7687711370db" providerId="LiveId" clId="{4DC96F22-8A21-4302-8635-52E7D2CB906F}" dt="2023-07-19T14:52:53.279" v="463" actId="20577"/>
        <pc:sldMkLst>
          <pc:docMk/>
          <pc:sldMk cId="2409096477" sldId="257"/>
        </pc:sldMkLst>
        <pc:spChg chg="mod">
          <ac:chgData name="Sampson Dziwornu Amadah" userId="345c7687711370db" providerId="LiveId" clId="{4DC96F22-8A21-4302-8635-52E7D2CB906F}" dt="2023-07-19T14:52:53.279" v="463" actId="20577"/>
          <ac:spMkLst>
            <pc:docMk/>
            <pc:sldMk cId="2409096477" sldId="257"/>
            <ac:spMk id="3" creationId="{2F96DF92-9CB9-8718-6261-4274FDE1FA32}"/>
          </ac:spMkLst>
        </pc:spChg>
      </pc:sldChg>
      <pc:sldChg chg="modAnim">
        <pc:chgData name="Sampson Dziwornu Amadah" userId="345c7687711370db" providerId="LiveId" clId="{4DC96F22-8A21-4302-8635-52E7D2CB906F}" dt="2023-07-19T14:24:57.891" v="17"/>
        <pc:sldMkLst>
          <pc:docMk/>
          <pc:sldMk cId="4126199211" sldId="258"/>
        </pc:sldMkLst>
      </pc:sldChg>
      <pc:sldChg chg="modAnim">
        <pc:chgData name="Sampson Dziwornu Amadah" userId="345c7687711370db" providerId="LiveId" clId="{4DC96F22-8A21-4302-8635-52E7D2CB906F}" dt="2023-07-19T14:19:00.696" v="6"/>
        <pc:sldMkLst>
          <pc:docMk/>
          <pc:sldMk cId="2819518687" sldId="259"/>
        </pc:sldMkLst>
      </pc:sldChg>
      <pc:sldChg chg="modAnim">
        <pc:chgData name="Sampson Dziwornu Amadah" userId="345c7687711370db" providerId="LiveId" clId="{4DC96F22-8A21-4302-8635-52E7D2CB906F}" dt="2023-07-19T14:20:29.343" v="7"/>
        <pc:sldMkLst>
          <pc:docMk/>
          <pc:sldMk cId="2736365348" sldId="262"/>
        </pc:sldMkLst>
      </pc:sldChg>
      <pc:sldChg chg="modAnim">
        <pc:chgData name="Sampson Dziwornu Amadah" userId="345c7687711370db" providerId="LiveId" clId="{4DC96F22-8A21-4302-8635-52E7D2CB906F}" dt="2023-07-19T14:22:59.208" v="16"/>
        <pc:sldMkLst>
          <pc:docMk/>
          <pc:sldMk cId="1375787504" sldId="267"/>
        </pc:sldMkLst>
      </pc:sldChg>
      <pc:sldChg chg="modSp mod">
        <pc:chgData name="Sampson Dziwornu Amadah" userId="345c7687711370db" providerId="LiveId" clId="{4DC96F22-8A21-4302-8635-52E7D2CB906F}" dt="2023-07-19T14:52:17.178" v="462" actId="1076"/>
        <pc:sldMkLst>
          <pc:docMk/>
          <pc:sldMk cId="306690036" sldId="268"/>
        </pc:sldMkLst>
        <pc:spChg chg="mod">
          <ac:chgData name="Sampson Dziwornu Amadah" userId="345c7687711370db" providerId="LiveId" clId="{4DC96F22-8A21-4302-8635-52E7D2CB906F}" dt="2023-07-19T14:52:17.178" v="462" actId="1076"/>
          <ac:spMkLst>
            <pc:docMk/>
            <pc:sldMk cId="306690036" sldId="268"/>
            <ac:spMk id="5" creationId="{CD4B95F4-B53F-BA6C-DDAB-DFA027F73938}"/>
          </ac:spMkLst>
        </pc:spChg>
      </pc:sldChg>
      <pc:sldChg chg="modSp mod">
        <pc:chgData name="Sampson Dziwornu Amadah" userId="345c7687711370db" providerId="LiveId" clId="{4DC96F22-8A21-4302-8635-52E7D2CB906F}" dt="2023-07-19T14:50:23.323" v="452" actId="1076"/>
        <pc:sldMkLst>
          <pc:docMk/>
          <pc:sldMk cId="1409467297" sldId="269"/>
        </pc:sldMkLst>
        <pc:spChg chg="mod">
          <ac:chgData name="Sampson Dziwornu Amadah" userId="345c7687711370db" providerId="LiveId" clId="{4DC96F22-8A21-4302-8635-52E7D2CB906F}" dt="2023-07-19T14:50:23.323" v="452" actId="1076"/>
          <ac:spMkLst>
            <pc:docMk/>
            <pc:sldMk cId="1409467297" sldId="269"/>
            <ac:spMk id="5" creationId="{CAAB2817-6AF4-EAB7-559E-F9DD440401F9}"/>
          </ac:spMkLst>
        </pc:spChg>
        <pc:spChg chg="mod">
          <ac:chgData name="Sampson Dziwornu Amadah" userId="345c7687711370db" providerId="LiveId" clId="{4DC96F22-8A21-4302-8635-52E7D2CB906F}" dt="2023-07-19T14:49:32.912" v="429" actId="20577"/>
          <ac:spMkLst>
            <pc:docMk/>
            <pc:sldMk cId="1409467297" sldId="269"/>
            <ac:spMk id="7" creationId="{D824D826-3CA6-42BC-6A85-BC4D31D2D3F1}"/>
          </ac:spMkLst>
        </pc:spChg>
        <pc:spChg chg="mod">
          <ac:chgData name="Sampson Dziwornu Amadah" userId="345c7687711370db" providerId="LiveId" clId="{4DC96F22-8A21-4302-8635-52E7D2CB906F}" dt="2023-07-19T14:49:37.411" v="431" actId="20577"/>
          <ac:spMkLst>
            <pc:docMk/>
            <pc:sldMk cId="1409467297" sldId="269"/>
            <ac:spMk id="9" creationId="{8CA05254-6889-42D0-6013-E4680518A4BD}"/>
          </ac:spMkLst>
        </pc:spChg>
        <pc:spChg chg="mod">
          <ac:chgData name="Sampson Dziwornu Amadah" userId="345c7687711370db" providerId="LiveId" clId="{4DC96F22-8A21-4302-8635-52E7D2CB906F}" dt="2023-07-19T14:49:57.953" v="440" actId="20577"/>
          <ac:spMkLst>
            <pc:docMk/>
            <pc:sldMk cId="1409467297" sldId="269"/>
            <ac:spMk id="11" creationId="{15E901D7-AE72-3E37-C2FD-DECD3343900A}"/>
          </ac:spMkLst>
        </pc:spChg>
      </pc:sldChg>
      <pc:sldChg chg="modSp new mod">
        <pc:chgData name="Sampson Dziwornu Amadah" userId="345c7687711370db" providerId="LiveId" clId="{4DC96F22-8A21-4302-8635-52E7D2CB906F}" dt="2023-07-19T14:46:00.761" v="389" actId="20577"/>
        <pc:sldMkLst>
          <pc:docMk/>
          <pc:sldMk cId="3211181878" sldId="270"/>
        </pc:sldMkLst>
        <pc:spChg chg="mod">
          <ac:chgData name="Sampson Dziwornu Amadah" userId="345c7687711370db" providerId="LiveId" clId="{4DC96F22-8A21-4302-8635-52E7D2CB906F}" dt="2023-07-19T14:45:45.933" v="385" actId="122"/>
          <ac:spMkLst>
            <pc:docMk/>
            <pc:sldMk cId="3211181878" sldId="270"/>
            <ac:spMk id="2" creationId="{1954FA17-8FC1-2C22-0DBE-A05A613A390F}"/>
          </ac:spMkLst>
        </pc:spChg>
        <pc:spChg chg="mod">
          <ac:chgData name="Sampson Dziwornu Amadah" userId="345c7687711370db" providerId="LiveId" clId="{4DC96F22-8A21-4302-8635-52E7D2CB906F}" dt="2023-07-19T14:46:00.761" v="389" actId="20577"/>
          <ac:spMkLst>
            <pc:docMk/>
            <pc:sldMk cId="3211181878" sldId="270"/>
            <ac:spMk id="3" creationId="{8133B0A3-8F0D-6EFF-2D2A-B9FD1F6E8482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787A46D-C782-455C-B794-ACAE13CC1464}" type="datetimeFigureOut">
              <a:rPr lang="en-US" smtClean="0"/>
              <a:t>7/19/2023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81D1C8-B906-4439-B596-62A6436CE2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6305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AEB4B3-FC77-46D5-9BBB-569F0F37EC3D}" type="datetime1">
              <a:rPr lang="en-US" smtClean="0"/>
              <a:t>7/19/2023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4B9399-7F4C-4473-911E-5C6415201C23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234492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D17315-94C4-4936-88F7-DD46A73161CD}" type="datetime1">
              <a:rPr lang="en-US" smtClean="0"/>
              <a:t>7/19/2023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4B9399-7F4C-4473-911E-5C6415201C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16637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ED0EF5-74A4-4F40-A3F8-8BF0329AC543}" type="datetime1">
              <a:rPr lang="en-US" smtClean="0"/>
              <a:t>7/19/2023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4B9399-7F4C-4473-911E-5C6415201C23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071809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5E6DBF-8831-4F3E-8BBA-F4642DF40384}" type="datetime1">
              <a:rPr lang="en-US" smtClean="0"/>
              <a:t>7/19/2023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4B9399-7F4C-4473-911E-5C6415201C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8857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560EA6-E311-4057-8332-427A735D64B0}" type="datetime1">
              <a:rPr lang="en-US" smtClean="0"/>
              <a:t>7/19/2023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4B9399-7F4C-4473-911E-5C6415201C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40230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114D3C-C29E-4E7D-AF48-694D7CC293B3}" type="datetime1">
              <a:rPr lang="en-US" smtClean="0"/>
              <a:t>7/19/2023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4B9399-7F4C-4473-911E-5C6415201C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79175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6469D5-5966-4BFD-BECA-C7A9DDE076D9}" type="datetime1">
              <a:rPr lang="en-US" smtClean="0"/>
              <a:t>7/19/2023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4B9399-7F4C-4473-911E-5C6415201C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86971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3C47B082-A745-472C-BF38-838964E009CB}" type="datetime1">
              <a:rPr lang="en-US" smtClean="0"/>
              <a:t>7/19/2023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E4B9399-7F4C-4473-911E-5C6415201C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2332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0072E2-65FB-44F2-91FF-5A7F86D8FC5E}" type="datetime1">
              <a:rPr lang="en-US" smtClean="0"/>
              <a:t>7/19/2023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4B9399-7F4C-4473-911E-5C6415201C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50617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F9AF2D-575F-4A99-9C11-578DEBD5D4EC}" type="datetime1">
              <a:rPr lang="en-US" smtClean="0"/>
              <a:t>7/19/2023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4B9399-7F4C-4473-911E-5C6415201C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83969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154E27-D4D9-4ECF-A81F-EB2F4D2B4969}" type="datetime1">
              <a:rPr lang="en-US" smtClean="0"/>
              <a:t>7/19/2023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4B9399-7F4C-4473-911E-5C6415201C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27282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FDC86836-BFFB-4221-8A4E-30E9181C2A64}" type="datetime1">
              <a:rPr lang="en-US" smtClean="0"/>
              <a:t>7/19/2023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8E4B9399-7F4C-4473-911E-5C6415201C23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628826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4" r:id="rId1"/>
    <p:sldLayoutId id="2147483745" r:id="rId2"/>
    <p:sldLayoutId id="2147483746" r:id="rId3"/>
    <p:sldLayoutId id="2147483747" r:id="rId4"/>
    <p:sldLayoutId id="2147483748" r:id="rId5"/>
    <p:sldLayoutId id="2147483749" r:id="rId6"/>
    <p:sldLayoutId id="2147483750" r:id="rId7"/>
    <p:sldLayoutId id="2147483751" r:id="rId8"/>
    <p:sldLayoutId id="2147483752" r:id="rId9"/>
    <p:sldLayoutId id="2147483753" r:id="rId10"/>
    <p:sldLayoutId id="2147483754" r:id="rId11"/>
  </p:sldLayoutIdLst>
  <p:hf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7" Type="http://schemas.openxmlformats.org/officeDocument/2006/relationships/image" Target="../media/image11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jpg"/><Relationship Id="rId4" Type="http://schemas.openxmlformats.org/officeDocument/2006/relationships/image" Target="../media/image19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jpg"/><Relationship Id="rId3" Type="http://schemas.openxmlformats.org/officeDocument/2006/relationships/image" Target="../media/image16.jpg"/><Relationship Id="rId7" Type="http://schemas.openxmlformats.org/officeDocument/2006/relationships/image" Target="../media/image18.jpg"/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2.svg"/><Relationship Id="rId5" Type="http://schemas.openxmlformats.org/officeDocument/2006/relationships/image" Target="../media/image21.png"/><Relationship Id="rId4" Type="http://schemas.openxmlformats.org/officeDocument/2006/relationships/image" Target="../media/image24.jp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researchgate.net/publication/339906139_Indigenous_Agricultural_Practices_A_Supreme_Key_to_Maintaining_Biodiversity" TargetMode="External"/><Relationship Id="rId7" Type="http://schemas.openxmlformats.org/officeDocument/2006/relationships/image" Target="../media/image29.svg"/><Relationship Id="rId2" Type="http://schemas.openxmlformats.org/officeDocument/2006/relationships/hyperlink" Target="https://populationeducation.org/four-indigenous-farming-practices-for-a-sustainable-future-today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5" Type="http://schemas.openxmlformats.org/officeDocument/2006/relationships/image" Target="../media/image27.svg"/><Relationship Id="rId4" Type="http://schemas.openxmlformats.org/officeDocument/2006/relationships/image" Target="../media/image2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sv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7B86D6-257D-1A5D-9ECC-69D3B2ED2D6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INDIGENOUS FARMING SYSTEMS AND SUSTAINABLE ENVIRONMENTAL USE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F55B955-5C33-E0AE-8C16-9BB2248558A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3200" b="1" dirty="0">
                <a:solidFill>
                  <a:schemeClr val="accent1"/>
                </a:solidFill>
              </a:rPr>
              <a:t>GROUP 18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255ED6-9B67-C6A3-4D32-7512AC9768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4B9399-7F4C-4473-911E-5C6415201C23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76636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CA753E-0EF2-F537-307A-AE94E5AD2D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69350"/>
            <a:ext cx="10058400" cy="1450757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	GROUP MEMBERS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96DF92-9CB9-8718-6261-4274FDE1FA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Adjei Yvonne Afua Sika 	– 4435218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Tawiah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Naki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Elizabeth 		– 9219819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Teye Grace 			– 9219919</a:t>
            </a:r>
          </a:p>
          <a:p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Djietror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Ahumah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Abigail 	– 9206719</a:t>
            </a:r>
          </a:p>
          <a:p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Agbottah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Euodias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Patand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	– 9197019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Nyantakyi Daniel Sarfo 	</a:t>
            </a: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– 9213819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Agyeman Kyei Maxwell 	– 9197019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Fynn Clifford Enoch 		– 9208119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Kesse-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Baah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Enoch		– 9210619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B7812F-5B76-736F-9F8B-4673F7E46F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4B9399-7F4C-4473-911E-5C6415201C23}" type="slidenum">
              <a:rPr lang="en-US" smtClean="0"/>
              <a:t>2</a:t>
            </a:fld>
            <a:endParaRPr lang="en-US"/>
          </a:p>
        </p:txBody>
      </p:sp>
      <p:pic>
        <p:nvPicPr>
          <p:cNvPr id="15" name="Graphic 14" descr="Business Growth with solid fill">
            <a:extLst>
              <a:ext uri="{FF2B5EF4-FFF2-40B4-BE49-F238E27FC236}">
                <a16:creationId xmlns:a16="http://schemas.microsoft.com/office/drawing/2014/main" id="{FDBFD5AF-3CA9-3E4B-C91D-502B2BB32E3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63991" y="844425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90964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9870BF-1BD7-4329-16B6-4BBE30FCDC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CONTENT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29207E-B1E1-46B0-95C7-512F9138F7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Farming systems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Indigenous farming systems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 &amp; disadvantages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Some practices 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Sustainable environmental use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E67850-88E8-82AA-73A6-258F4406EA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4B9399-7F4C-4473-911E-5C6415201C23}" type="slidenum">
              <a:rPr lang="en-US" smtClean="0"/>
              <a:t>3</a:t>
            </a:fld>
            <a:endParaRPr lang="en-US"/>
          </a:p>
        </p:txBody>
      </p:sp>
      <p:pic>
        <p:nvPicPr>
          <p:cNvPr id="5" name="Graphic 4" descr="Books with solid fill">
            <a:extLst>
              <a:ext uri="{FF2B5EF4-FFF2-40B4-BE49-F238E27FC236}">
                <a16:creationId xmlns:a16="http://schemas.microsoft.com/office/drawing/2014/main" id="{29355EDA-9FF1-FF7B-B175-74500F4DECC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97280" y="877147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61992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3FFCD5-4F78-1A9D-4DBE-D74C3AA1A3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FARMING SYSTEMS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6C2957-E148-CAC2-3E49-1F24DF6916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Farming systems refer to the different methods and practices that farmers use to produce crops and raise livestock. </a:t>
            </a:r>
          </a:p>
          <a:p>
            <a:pPr marL="201168" lvl="1" indent="0">
              <a:buNone/>
            </a:pPr>
            <a:r>
              <a:rPr lang="en-US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</a:p>
          <a:p>
            <a:pPr marL="201168" lvl="1" indent="0">
              <a:buNone/>
            </a:pPr>
            <a:r>
              <a:rPr lang="en-US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Traditional farming practices</a:t>
            </a:r>
          </a:p>
          <a:p>
            <a:pPr marL="201168" lvl="1" indent="0">
              <a:buNone/>
            </a:pPr>
            <a:r>
              <a:rPr lang="en-US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Industrial farming practices, etc.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E5B374-C78F-C404-3849-D81AF481AA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4B9399-7F4C-4473-911E-5C6415201C23}" type="slidenum">
              <a:rPr lang="en-US" smtClean="0"/>
              <a:t>4</a:t>
            </a:fld>
            <a:endParaRPr lang="en-US"/>
          </a:p>
        </p:txBody>
      </p:sp>
      <p:pic>
        <p:nvPicPr>
          <p:cNvPr id="6" name="Graphic 5" descr="Plant with solid fill">
            <a:extLst>
              <a:ext uri="{FF2B5EF4-FFF2-40B4-BE49-F238E27FC236}">
                <a16:creationId xmlns:a16="http://schemas.microsoft.com/office/drawing/2014/main" id="{3A3EFBDB-8AFA-4878-33F5-0BC4ADA24B7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13449" y="797843"/>
            <a:ext cx="914400" cy="914400"/>
          </a:xfrm>
          <a:prstGeom prst="rect">
            <a:avLst/>
          </a:prstGeom>
        </p:spPr>
      </p:pic>
      <p:pic>
        <p:nvPicPr>
          <p:cNvPr id="8" name="Graphic 7" descr="Confused person with solid fill">
            <a:extLst>
              <a:ext uri="{FF2B5EF4-FFF2-40B4-BE49-F238E27FC236}">
                <a16:creationId xmlns:a16="http://schemas.microsoft.com/office/drawing/2014/main" id="{5BA9BAB3-5C6C-BAF4-D85F-0C999509A74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44466" y="4190110"/>
            <a:ext cx="543559" cy="543559"/>
          </a:xfrm>
          <a:prstGeom prst="rect">
            <a:avLst/>
          </a:prstGeom>
        </p:spPr>
      </p:pic>
      <p:pic>
        <p:nvPicPr>
          <p:cNvPr id="12" name="Graphic 11" descr="Single gear with solid fill">
            <a:extLst>
              <a:ext uri="{FF2B5EF4-FFF2-40B4-BE49-F238E27FC236}">
                <a16:creationId xmlns:a16="http://schemas.microsoft.com/office/drawing/2014/main" id="{9636096E-7965-6B75-D3EF-71F8EBA5DAC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213449" y="4757821"/>
            <a:ext cx="543560" cy="543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95186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98DCC0-4DAC-EC12-88A3-BF50ED0429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INDIGENOUS FARMING SYSTEM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1D1481-BB85-1048-C799-A8918EA55D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They are practiced by indigenous people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They have been developed over generations within a specific geographical area and are adapted to local environments.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They are based on traditional knowledge and practices.</a:t>
            </a:r>
          </a:p>
          <a:p>
            <a:pPr marL="0" indent="0">
              <a:buNone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0C663D-0DA4-4B07-47D3-A799DFC60D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4B9399-7F4C-4473-911E-5C6415201C23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96660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B7DA4D-9478-56D5-E9DA-C8DB9C087B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ADVANTAGES</a:t>
            </a:r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9EF785-A206-7438-4C9B-B515E3B695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Biodiversity conservation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Climate resilience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Food security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Adaptability 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070BF3-2B49-53F8-3F7E-3D8BB416DA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4B9399-7F4C-4473-911E-5C6415201C23}" type="slidenum">
              <a:rPr lang="en-US" smtClean="0"/>
              <a:t>6</a:t>
            </a:fld>
            <a:endParaRPr lang="en-US"/>
          </a:p>
        </p:txBody>
      </p:sp>
      <p:pic>
        <p:nvPicPr>
          <p:cNvPr id="13" name="Graphic 12" descr="Checkmark with solid fill">
            <a:extLst>
              <a:ext uri="{FF2B5EF4-FFF2-40B4-BE49-F238E27FC236}">
                <a16:creationId xmlns:a16="http://schemas.microsoft.com/office/drawing/2014/main" id="{A57CA99C-AB22-AF92-47E8-A7BD4B8B3E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97280" y="822960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15359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162611-4181-0C82-69D6-465AE9F608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DISADVANTAGES</a:t>
            </a:r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D542AA-C474-DAA0-C4E7-AC5C51984D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Labor-intensive 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yields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Lack of knowledge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BC1CC6-2E69-C1A7-0A30-694818BD4D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4B9399-7F4C-4473-911E-5C6415201C23}" type="slidenum">
              <a:rPr lang="en-US" smtClean="0"/>
              <a:t>7</a:t>
            </a:fld>
            <a:endParaRPr lang="en-US"/>
          </a:p>
        </p:txBody>
      </p:sp>
      <p:pic>
        <p:nvPicPr>
          <p:cNvPr id="6" name="Graphic 5" descr="Close with solid fill">
            <a:extLst>
              <a:ext uri="{FF2B5EF4-FFF2-40B4-BE49-F238E27FC236}">
                <a16:creationId xmlns:a16="http://schemas.microsoft.com/office/drawing/2014/main" id="{ACC5005A-651C-52FA-9D96-20FAFCFBBD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97280" y="797843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63653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CAC729-0894-8D5A-D6B2-3B039DED0B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SOME INDIGENOUS FARMING PRACTICES </a:t>
            </a:r>
            <a:endParaRPr lang="en-US" sz="4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78AD07-99B9-C694-7B5A-1BE95AEE9E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Agroforestry 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Companion planting 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Fallowing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EF58B7-6361-E1D6-4F23-AAC782CB3C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4B9399-7F4C-4473-911E-5C6415201C23}" type="slidenum">
              <a:rPr lang="en-US" smtClean="0"/>
              <a:t>8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D1C926B-BDAE-5006-B6FE-32D18A13DA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68604" y="1994711"/>
            <a:ext cx="5687276" cy="373323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D4B95F4-B53F-BA6C-DDAB-DFA027F73938}"/>
              </a:ext>
            </a:extLst>
          </p:cNvPr>
          <p:cNvSpPr txBox="1"/>
          <p:nvPr/>
        </p:nvSpPr>
        <p:spPr>
          <a:xfrm>
            <a:off x="5768604" y="5081613"/>
            <a:ext cx="147758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Fig 1.0 Agroforestry</a:t>
            </a:r>
            <a:endParaRPr lang="en-GH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6900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F96637-2DC8-92BD-6D92-1B8ADA5E0B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SOME INDIGENOUS FARMING PRACTICES 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B45A4A-A72C-204A-556B-1285A788E7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4B9399-7F4C-4473-911E-5C6415201C23}" type="slidenum">
              <a:rPr lang="en-US" smtClean="0"/>
              <a:t>9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1EF83F5-0C39-CA83-578C-9020F1849A5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95471" y="1841410"/>
            <a:ext cx="4327157" cy="221300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BBC1DF6-DA6A-E9AE-C192-AA892E28345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0715" y="4089635"/>
            <a:ext cx="4129200" cy="217478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9B79230-C101-C4C5-BB73-CC4A23F9260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0715" y="1841409"/>
            <a:ext cx="4129200" cy="221300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AAB2817-6AF4-EAB7-559E-F9DD440401F9}"/>
              </a:ext>
            </a:extLst>
          </p:cNvPr>
          <p:cNvSpPr txBox="1"/>
          <p:nvPr/>
        </p:nvSpPr>
        <p:spPr>
          <a:xfrm>
            <a:off x="6395470" y="3429000"/>
            <a:ext cx="147758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Fig 5.0 Terracing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824D826-3CA6-42BC-6A85-BC4D31D2D3F1}"/>
              </a:ext>
            </a:extLst>
          </p:cNvPr>
          <p:cNvSpPr txBox="1"/>
          <p:nvPr/>
        </p:nvSpPr>
        <p:spPr>
          <a:xfrm>
            <a:off x="1460715" y="3323068"/>
            <a:ext cx="180007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Fig 3.0 Water harvesting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5E901D7-AE72-3E37-C2FD-DECD3343900A}"/>
              </a:ext>
            </a:extLst>
          </p:cNvPr>
          <p:cNvSpPr txBox="1"/>
          <p:nvPr/>
        </p:nvSpPr>
        <p:spPr>
          <a:xfrm>
            <a:off x="1460715" y="5451058"/>
            <a:ext cx="147758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Fig 4.0 Crop rotation</a:t>
            </a:r>
          </a:p>
        </p:txBody>
      </p:sp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DFD5F854-7DD4-E9BA-C1D2-62BDBF137B8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95470" y="4084068"/>
            <a:ext cx="4327157" cy="217478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CA05254-6889-42D0-6013-E4680518A4BD}"/>
              </a:ext>
            </a:extLst>
          </p:cNvPr>
          <p:cNvSpPr txBox="1"/>
          <p:nvPr/>
        </p:nvSpPr>
        <p:spPr>
          <a:xfrm>
            <a:off x="6395470" y="5612520"/>
            <a:ext cx="186290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highlight>
                  <a:srgbClr val="0000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Fig 2.0 </a:t>
            </a:r>
            <a:r>
              <a:rPr lang="en-US" sz="1800" b="1" dirty="0">
                <a:solidFill>
                  <a:schemeClr val="bg1"/>
                </a:solidFill>
                <a:highlight>
                  <a:srgbClr val="0000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Seed saving </a:t>
            </a:r>
          </a:p>
        </p:txBody>
      </p:sp>
    </p:spTree>
    <p:extLst>
      <p:ext uri="{BB962C8B-B14F-4D97-AF65-F5344CB8AC3E}">
        <p14:creationId xmlns:p14="http://schemas.microsoft.com/office/powerpoint/2010/main" val="14094672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275ACE-AE9C-F315-EAFE-C0561AC1C8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3312" y="452718"/>
            <a:ext cx="9404723" cy="1400530"/>
          </a:xfrm>
        </p:spPr>
        <p:txBody>
          <a:bodyPr>
            <a:normAutofit/>
          </a:bodyPr>
          <a:lstStyle/>
          <a:p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ENVIRONMENTAL 	SUSTAINABILITY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3333A6-2A4A-1A93-9DDA-494146C718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Ability to maintain an ecological balance in our planet’s natural environment and conserve natural resources to support the wellbeing of current and future generations.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Indigenous farming systems have long been recognized for their sustainable environmental use. 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They prioritize the preservation of ecosystems and the sustainable use of natural resources.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E8899F-86C5-04E2-CAF5-E1D08453AC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4B9399-7F4C-4473-911E-5C6415201C23}" type="slidenum">
              <a:rPr lang="en-US" smtClean="0"/>
              <a:t>10</a:t>
            </a:fld>
            <a:endParaRPr lang="en-US"/>
          </a:p>
        </p:txBody>
      </p:sp>
      <p:pic>
        <p:nvPicPr>
          <p:cNvPr id="6" name="Graphic 5" descr="Open hand with plant with solid fill">
            <a:extLst>
              <a:ext uri="{FF2B5EF4-FFF2-40B4-BE49-F238E27FC236}">
                <a16:creationId xmlns:a16="http://schemas.microsoft.com/office/drawing/2014/main" id="{40586F00-E1A1-5CF3-17D3-96EBB5A267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14532" y="677171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64554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FD607E-F67A-94BA-0CA3-8BE2AE3726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69350"/>
            <a:ext cx="10058400" cy="1450757"/>
          </a:xfrm>
        </p:spPr>
        <p:txBody>
          <a:bodyPr>
            <a:normAutofit fontScale="90000"/>
          </a:bodyPr>
          <a:lstStyle/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ENVIRONMENTAL SUSTAINABILITY</a:t>
            </a:r>
            <a:b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OF INDIGENOUS FARMING PRACTICES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0C1587-4197-E097-A4D4-1F7C4F45A5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50630" y="3124333"/>
            <a:ext cx="4854946" cy="979650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Agroforestry as a land use management system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1B4EBD1-2C3C-F7E2-7037-A06E6681411A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rmAutofit/>
          </a:bodyPr>
          <a:lstStyle/>
          <a:p>
            <a:endParaRPr lang="en-G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7F8CB9-882D-2866-AE2D-279C419087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4B9399-7F4C-4473-911E-5C6415201C23}" type="slidenum">
              <a:rPr lang="en-US" smtClean="0"/>
              <a:t>11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78BD155-F138-B040-AD0B-FA6B2448D9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0299" y="1884125"/>
            <a:ext cx="4937760" cy="33782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352C0BD-DAE0-2416-0D73-F626A23E1F1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7920" y="2007442"/>
            <a:ext cx="4937760" cy="373323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DE00FB0-E135-FB1B-0454-C5B2892125F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7920" y="2147942"/>
            <a:ext cx="4937760" cy="3601355"/>
          </a:xfrm>
          <a:prstGeom prst="rect">
            <a:avLst/>
          </a:prstGeom>
        </p:spPr>
      </p:pic>
      <p:pic>
        <p:nvPicPr>
          <p:cNvPr id="11" name="Graphic 10" descr="Open hand with plant with solid fill">
            <a:extLst>
              <a:ext uri="{FF2B5EF4-FFF2-40B4-BE49-F238E27FC236}">
                <a16:creationId xmlns:a16="http://schemas.microsoft.com/office/drawing/2014/main" id="{04BC1FF9-C0CB-5012-C0E2-D15C9B73BCE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14532" y="677171"/>
            <a:ext cx="914400" cy="9144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6229D0D-DAE9-BB1E-659C-1A199B2B7B1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7919" y="2278096"/>
            <a:ext cx="4945021" cy="33782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023E5DC6-CCD8-A9C1-B7B2-94257AD6E46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0300" y="2414088"/>
            <a:ext cx="4952639" cy="3724077"/>
          </a:xfrm>
          <a:prstGeom prst="rect">
            <a:avLst/>
          </a:prstGeom>
        </p:spPr>
      </p:pic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B6445289-F296-AC9D-586F-23945E7A0003}"/>
              </a:ext>
            </a:extLst>
          </p:cNvPr>
          <p:cNvSpPr txBox="1">
            <a:spLocks/>
          </p:cNvSpPr>
          <p:nvPr/>
        </p:nvSpPr>
        <p:spPr>
          <a:xfrm>
            <a:off x="545907" y="2339088"/>
            <a:ext cx="4854946" cy="90130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lvl="2">
              <a:buFont typeface="Wingdings" panose="05000000000000000000" pitchFamily="2" charset="2"/>
              <a:buChar char="v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Dung from pastoral farming as fertilizer 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69C3A615-8A08-1BC6-D5CB-A1087BAE19EF}"/>
              </a:ext>
            </a:extLst>
          </p:cNvPr>
          <p:cNvSpPr txBox="1">
            <a:spLocks/>
          </p:cNvSpPr>
          <p:nvPr/>
        </p:nvSpPr>
        <p:spPr>
          <a:xfrm>
            <a:off x="950631" y="3429000"/>
            <a:ext cx="4854946" cy="1450757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v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Crop rotation combats the impacts of monoculture 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B116161F-AF49-F1B4-D220-E7EE19261DDD}"/>
              </a:ext>
            </a:extLst>
          </p:cNvPr>
          <p:cNvSpPr txBox="1">
            <a:spLocks/>
          </p:cNvSpPr>
          <p:nvPr/>
        </p:nvSpPr>
        <p:spPr>
          <a:xfrm>
            <a:off x="950630" y="4157506"/>
            <a:ext cx="4520061" cy="691097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v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Companion planting 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4FD7EDA6-DE52-BF50-D7F0-C75B8F3BDA79}"/>
              </a:ext>
            </a:extLst>
          </p:cNvPr>
          <p:cNvSpPr txBox="1">
            <a:spLocks/>
          </p:cNvSpPr>
          <p:nvPr/>
        </p:nvSpPr>
        <p:spPr>
          <a:xfrm>
            <a:off x="943010" y="3806221"/>
            <a:ext cx="4854946" cy="916479"/>
          </a:xfrm>
          <a:prstGeom prst="rect">
            <a:avLst/>
          </a:prstGeom>
        </p:spPr>
        <p:txBody>
          <a:bodyPr vert="horz" lIns="0" tIns="45720" rIns="0" bIns="45720" rtlCol="0">
            <a:normAutofit lnSpcReduction="10000"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v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Fallowing as a sustainable soil management system</a:t>
            </a:r>
          </a:p>
        </p:txBody>
      </p:sp>
    </p:spTree>
    <p:extLst>
      <p:ext uri="{BB962C8B-B14F-4D97-AF65-F5344CB8AC3E}">
        <p14:creationId xmlns:p14="http://schemas.microsoft.com/office/powerpoint/2010/main" val="12187537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6" dur="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0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0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6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0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76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7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80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1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3" grpId="1" build="p"/>
      <p:bldP spid="14" grpId="0"/>
      <p:bldP spid="14" grpId="1"/>
      <p:bldP spid="15" grpId="0"/>
      <p:bldP spid="15" grpId="1"/>
      <p:bldP spid="16" grpId="0"/>
      <p:bldP spid="17" grpId="0"/>
      <p:bldP spid="17" grpId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54FA17-8FC1-2C22-0DBE-A05A613A39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GB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 </a:t>
            </a:r>
            <a:endParaRPr lang="en-GH" sz="7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33B0A3-8F0D-6EFF-2D2A-B9FD1F6E84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value of indigenous agricultural knowledge cannot be overstated. </a:t>
            </a:r>
          </a:p>
          <a:p>
            <a:r>
              <a:rPr lang="en-GB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Incorporating indigenous farming techniques into modern large scale food systems will make them more sustainable, environmentally friendly, and resilient to issues that can create food security.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F8DCA5-FAD3-6BD2-00B3-8C79B57893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4B9399-7F4C-4473-911E-5C6415201C23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11818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3CC0A4-4E18-1634-2C8C-2AFB064774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11D908-9E2C-0526-2A4E-BDE069824F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201168" lvl="1" indent="0">
              <a:buNone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https://populationeducation.org/four-indigenous-farming-practices-for-a-sustainable-future-today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https://www.researchgate.net/publication/339906139_Indigenous_Agricultural_Practices_A_Supreme_Key_to_Maintaining_Biodiversity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 credits: Agroforestry (ID 132261092 ©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Insos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Kampung |        Dreamstime.com); Crop rotation (ID 53238041 ©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Martingraf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| Dreamstime.com); Companion planting (ID 190386376 ©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Joycegraceweb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| Dreamstime.com); Water harvesting (ID 190509963 © Sourav Mukherjee | Dreamstime.com)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C961ED-6AC5-F2C9-BCAB-E50DF829C6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4B9399-7F4C-4473-911E-5C6415201C23}" type="slidenum">
              <a:rPr lang="en-US" smtClean="0"/>
              <a:t>13</a:t>
            </a:fld>
            <a:endParaRPr lang="en-US"/>
          </a:p>
        </p:txBody>
      </p:sp>
      <p:pic>
        <p:nvPicPr>
          <p:cNvPr id="6" name="Graphic 5" descr="Internet with solid fill">
            <a:extLst>
              <a:ext uri="{FF2B5EF4-FFF2-40B4-BE49-F238E27FC236}">
                <a16:creationId xmlns:a16="http://schemas.microsoft.com/office/drawing/2014/main" id="{85853D9A-B425-B952-E3DC-D238A14AD84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0973" y="1845734"/>
            <a:ext cx="632604" cy="632604"/>
          </a:xfrm>
          <a:prstGeom prst="rect">
            <a:avLst/>
          </a:prstGeom>
        </p:spPr>
      </p:pic>
      <p:pic>
        <p:nvPicPr>
          <p:cNvPr id="7" name="Graphic 6" descr="Internet with solid fill">
            <a:extLst>
              <a:ext uri="{FF2B5EF4-FFF2-40B4-BE49-F238E27FC236}">
                <a16:creationId xmlns:a16="http://schemas.microsoft.com/office/drawing/2014/main" id="{3762D040-04C7-7EB7-86FF-D527C9FC73D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75095" y="2679620"/>
            <a:ext cx="632604" cy="632604"/>
          </a:xfrm>
          <a:prstGeom prst="rect">
            <a:avLst/>
          </a:prstGeom>
        </p:spPr>
      </p:pic>
      <p:pic>
        <p:nvPicPr>
          <p:cNvPr id="9" name="Graphic 8" descr="Camera with solid fill">
            <a:extLst>
              <a:ext uri="{FF2B5EF4-FFF2-40B4-BE49-F238E27FC236}">
                <a16:creationId xmlns:a16="http://schemas.microsoft.com/office/drawing/2014/main" id="{256841A9-6EE2-4C43-84B0-2C2A1F43E18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83721" y="4316627"/>
            <a:ext cx="590334" cy="5903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529209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883DF4-94CF-758A-1B57-B8E19BE385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GROUP </a:t>
            </a:r>
            <a:r>
              <a:rPr lang="en-US" sz="96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!8</a:t>
            </a:r>
          </a:p>
        </p:txBody>
      </p:sp>
      <p:pic>
        <p:nvPicPr>
          <p:cNvPr id="6" name="Content Placeholder 5" descr="Clapping hands with solid fill">
            <a:extLst>
              <a:ext uri="{FF2B5EF4-FFF2-40B4-BE49-F238E27FC236}">
                <a16:creationId xmlns:a16="http://schemas.microsoft.com/office/drawing/2014/main" id="{D3866057-0B59-4D21-C6F7-7E90893CE68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97280" y="2641301"/>
            <a:ext cx="2293218" cy="2293218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B74A17-5074-6527-3964-A6D508647B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4B9399-7F4C-4473-911E-5C6415201C23}" type="slidenum">
              <a:rPr lang="en-US" smtClean="0"/>
              <a:t>14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3FCAD99-8AA5-BDAE-C8B6-C487B6566DBF}"/>
              </a:ext>
            </a:extLst>
          </p:cNvPr>
          <p:cNvSpPr txBox="1"/>
          <p:nvPr/>
        </p:nvSpPr>
        <p:spPr>
          <a:xfrm>
            <a:off x="3805896" y="2510637"/>
            <a:ext cx="6094562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GH" sz="9600" b="1" dirty="0"/>
          </a:p>
        </p:txBody>
      </p:sp>
    </p:spTree>
    <p:extLst>
      <p:ext uri="{BB962C8B-B14F-4D97-AF65-F5344CB8AC3E}">
        <p14:creationId xmlns:p14="http://schemas.microsoft.com/office/powerpoint/2010/main" val="13757875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5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377</TotalTime>
  <Words>444</Words>
  <Application>Microsoft Office PowerPoint</Application>
  <PresentationFormat>Widescreen</PresentationFormat>
  <Paragraphs>81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Calibri</vt:lpstr>
      <vt:lpstr>Calibri Light</vt:lpstr>
      <vt:lpstr>Times New Roman</vt:lpstr>
      <vt:lpstr>Wingdings</vt:lpstr>
      <vt:lpstr>Retrospect</vt:lpstr>
      <vt:lpstr>INDIGENOUS FARMING SYSTEMS AND SUSTAINABLE ENVIRONMENTAL USE</vt:lpstr>
      <vt:lpstr> GROUP MEMBERS</vt:lpstr>
      <vt:lpstr> CONTENT</vt:lpstr>
      <vt:lpstr> FARMING SYSTEMS</vt:lpstr>
      <vt:lpstr>INDIGENOUS FARMING SYSTEM</vt:lpstr>
      <vt:lpstr> ADVANTAGES </vt:lpstr>
      <vt:lpstr> DISADVANTAGES </vt:lpstr>
      <vt:lpstr>SOME INDIGENOUS FARMING PRACTICES </vt:lpstr>
      <vt:lpstr>SOME INDIGENOUS FARMING PRACTICES </vt:lpstr>
      <vt:lpstr> ENVIRONMENTAL  SUSTAINABILITY</vt:lpstr>
      <vt:lpstr> ENVIRONMENTAL SUSTAINABILITY  OF INDIGENOUS FARMING PRACTICES </vt:lpstr>
      <vt:lpstr>CONCLUSION </vt:lpstr>
      <vt:lpstr>REFERENCES</vt:lpstr>
      <vt:lpstr>GROUP !8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INDIGENOUS FARMING SYSTEMS AND SUSTAINABLE ENVIRONMENTAL USE</dc:title>
  <dc:creator>Yvonne Afua Sika</dc:creator>
  <cp:lastModifiedBy>Sampson Dziwornu Amadah</cp:lastModifiedBy>
  <cp:revision>5</cp:revision>
  <dcterms:created xsi:type="dcterms:W3CDTF">2023-07-18T21:37:30Z</dcterms:created>
  <dcterms:modified xsi:type="dcterms:W3CDTF">2023-07-19T14:52:55Z</dcterms:modified>
</cp:coreProperties>
</file>