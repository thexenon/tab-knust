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259" r:id="rId4"/>
    <p:sldId id="260" r:id="rId5"/>
    <p:sldId id="261" r:id="rId6"/>
    <p:sldId id="264" r:id="rId7"/>
    <p:sldId id="262" r:id="rId8"/>
    <p:sldId id="267" r:id="rId9"/>
    <p:sldId id="263" r:id="rId10"/>
    <p:sldId id="265" r:id="rId11"/>
    <p:sldId id="266" r:id="rId12"/>
    <p:sldId id="268" r:id="rId13"/>
    <p:sldId id="269" r:id="rId14"/>
    <p:sldId id="271" r:id="rId15"/>
    <p:sldId id="270" r:id="rId16"/>
    <p:sldId id="274" r:id="rId17"/>
    <p:sldId id="258" r:id="rId18"/>
    <p:sldId id="272" r:id="rId19"/>
    <p:sldId id="273" r:id="rId2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2" autoAdjust="0"/>
    <p:restoredTop sz="94660"/>
  </p:normalViewPr>
  <p:slideViewPr>
    <p:cSldViewPr>
      <p:cViewPr varScale="1">
        <p:scale>
          <a:sx n="73" d="100"/>
          <a:sy n="73" d="100"/>
        </p:scale>
        <p:origin x="121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3" d="100"/>
          <a:sy n="73" d="100"/>
        </p:scale>
        <p:origin x="-154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 alt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 altLang="en-US"/>
          </a:p>
        </p:txBody>
      </p:sp>
      <p:sp>
        <p:nvSpPr>
          <p:cNvPr id="696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en-US" smtClean="0"/>
              <a:t>Click to edit Master text styles</a:t>
            </a:r>
          </a:p>
          <a:p>
            <a:pPr lvl="1"/>
            <a:r>
              <a:rPr lang="ru-RU" altLang="en-US" smtClean="0"/>
              <a:t>Second level</a:t>
            </a:r>
          </a:p>
          <a:p>
            <a:pPr lvl="2"/>
            <a:r>
              <a:rPr lang="ru-RU" altLang="en-US" smtClean="0"/>
              <a:t>Third level</a:t>
            </a:r>
          </a:p>
          <a:p>
            <a:pPr lvl="3"/>
            <a:r>
              <a:rPr lang="ru-RU" altLang="en-US" smtClean="0"/>
              <a:t>Fourth level</a:t>
            </a:r>
          </a:p>
          <a:p>
            <a:pPr lvl="4"/>
            <a:r>
              <a:rPr lang="ru-RU" altLang="en-US" smtClean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 altLang="en-US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6C8E1AE-E7CE-4336-8692-5F0F6A8BDE72}" type="slidenum">
              <a:rPr lang="ru-RU" altLang="en-US"/>
              <a:pPr/>
              <a:t>‹#›</a:t>
            </a:fld>
            <a:endParaRPr lang="ru-R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39750" y="3860800"/>
            <a:ext cx="6913563" cy="893763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  <a:endParaRPr lang="ru-RU" altLang="en-US" noProof="0" smtClean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39750" y="4652963"/>
            <a:ext cx="6913563" cy="503237"/>
          </a:xfrm>
          <a:effectLst>
            <a:outerShdw dist="17961" dir="2700000" algn="ctr" rotWithShape="0">
              <a:schemeClr val="bg2"/>
            </a:outerShdw>
          </a:effectLst>
        </p:spPr>
        <p:txBody>
          <a:bodyPr/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  <a:endParaRPr lang="ru-RU" altLang="en-US" noProof="0"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5868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78558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6013" y="1052513"/>
            <a:ext cx="3667125" cy="54737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35538" y="1052513"/>
            <a:ext cx="3668712" cy="54737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309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9999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68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4863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82552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355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828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2588" y="260350"/>
            <a:ext cx="1871662" cy="62658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6013" y="260350"/>
            <a:ext cx="5464175" cy="6265863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00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116013" y="260350"/>
            <a:ext cx="6985000" cy="50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ru-RU" altLang="en-US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16013" y="1052513"/>
            <a:ext cx="7488237" cy="547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ru-RU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bg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74675" y="3933825"/>
            <a:ext cx="7092950" cy="793750"/>
          </a:xfrm>
          <a:noFill/>
        </p:spPr>
        <p:txBody>
          <a:bodyPr/>
          <a:lstStyle/>
          <a:p>
            <a:r>
              <a:rPr lang="en-GB" altLang="en-US" sz="3600" dirty="0" smtClean="0">
                <a:latin typeface="Tahoma" panose="020B0604030504040204" pitchFamily="34" charset="0"/>
              </a:rPr>
              <a:t>BENDING THE CURVE OF BIODIVERSITY DECLINE</a:t>
            </a:r>
            <a:endParaRPr lang="uk-UA" altLang="en-US" sz="3600" dirty="0">
              <a:latin typeface="Tahoma" panose="020B0604030504040204" pitchFamily="34" charset="0"/>
            </a:endParaRP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574675" y="4870450"/>
            <a:ext cx="7092950" cy="172690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dirty="0" smtClean="0"/>
              <a:t>GROUP 23</a:t>
            </a:r>
          </a:p>
          <a:p>
            <a:pPr>
              <a:lnSpc>
                <a:spcPct val="90000"/>
              </a:lnSpc>
            </a:pPr>
            <a:endParaRPr lang="en-GB" altLang="en-US" dirty="0"/>
          </a:p>
          <a:p>
            <a:pPr>
              <a:lnSpc>
                <a:spcPct val="90000"/>
              </a:lnSpc>
            </a:pPr>
            <a:endParaRPr lang="en-GB" altLang="en-US" dirty="0" smtClean="0"/>
          </a:p>
          <a:p>
            <a:pPr>
              <a:lnSpc>
                <a:spcPct val="90000"/>
              </a:lnSpc>
            </a:pPr>
            <a:r>
              <a:rPr lang="en-GB" altLang="en-US" dirty="0" smtClean="0">
                <a:solidFill>
                  <a:schemeClr val="tx2"/>
                </a:solidFill>
              </a:rPr>
              <a:t>1</a:t>
            </a:r>
            <a:endParaRPr lang="en-GB" alt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333375"/>
            <a:ext cx="7343775" cy="649288"/>
          </a:xfrm>
        </p:spPr>
        <p:txBody>
          <a:bodyPr/>
          <a:lstStyle/>
          <a:p>
            <a:r>
              <a:rPr lang="en-US" altLang="en-US" sz="3200" dirty="0" smtClean="0">
                <a:latin typeface="Tahoma" panose="020B0604030504040204" pitchFamily="34" charset="0"/>
              </a:rPr>
              <a:t>OUTLINE</a:t>
            </a:r>
            <a:endParaRPr lang="uk-UA" altLang="en-US" sz="3200" dirty="0">
              <a:latin typeface="Tahoma" panose="020B0604030504040204" pitchFamily="34" charset="0"/>
            </a:endParaRP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560" y="1268412"/>
            <a:ext cx="7057653" cy="4896892"/>
          </a:xfrm>
        </p:spPr>
        <p:txBody>
          <a:bodyPr/>
          <a:lstStyle/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solidFill>
                  <a:schemeClr val="tx2"/>
                </a:solidFill>
                <a:latin typeface="Verdana" panose="020B0604030504040204" pitchFamily="34" charset="0"/>
                <a:ea typeface="굴림" charset="-127"/>
              </a:rPr>
              <a:t> Introduction (Trends in biodiversity decline)</a:t>
            </a:r>
          </a:p>
          <a:p>
            <a:pPr>
              <a:lnSpc>
                <a:spcPct val="80000"/>
              </a:lnSpc>
            </a:pPr>
            <a:endParaRPr lang="en-US" altLang="ko-KR" sz="2000" dirty="0">
              <a:solidFill>
                <a:schemeClr val="tx2"/>
              </a:solidFill>
              <a:latin typeface="Verdana" panose="020B0604030504040204" pitchFamily="34" charset="0"/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solidFill>
                  <a:schemeClr val="tx2"/>
                </a:solidFill>
                <a:latin typeface="Verdana" panose="020B0604030504040204" pitchFamily="34" charset="0"/>
                <a:ea typeface="굴림" charset="-127"/>
              </a:rPr>
              <a:t>Effects of Biodiversity decline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solidFill>
                <a:schemeClr val="tx2"/>
              </a:solidFill>
              <a:latin typeface="Verdana" panose="020B0604030504040204" pitchFamily="34" charset="0"/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solidFill>
                  <a:schemeClr val="tx2"/>
                </a:solidFill>
                <a:latin typeface="Verdana" panose="020B0604030504040204" pitchFamily="34" charset="0"/>
                <a:ea typeface="굴림" charset="-127"/>
              </a:rPr>
              <a:t>Bending the curve of Biodiversity decline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solidFill>
                <a:schemeClr val="tx2"/>
              </a:solidFill>
              <a:latin typeface="Verdana" panose="020B0604030504040204" pitchFamily="34" charset="0"/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solidFill>
                  <a:schemeClr val="tx2"/>
                </a:solidFill>
                <a:latin typeface="Verdana" panose="020B0604030504040204" pitchFamily="34" charset="0"/>
                <a:ea typeface="굴림" charset="-127"/>
              </a:rPr>
              <a:t>The need to bend the curve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solidFill>
                <a:schemeClr val="tx2"/>
              </a:solidFill>
              <a:latin typeface="Verdana" panose="020B0604030504040204" pitchFamily="34" charset="0"/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solidFill>
                  <a:schemeClr val="tx2"/>
                </a:solidFill>
                <a:latin typeface="Verdana" panose="020B0604030504040204" pitchFamily="34" charset="0"/>
                <a:ea typeface="굴림" charset="-127"/>
              </a:rPr>
              <a:t>How to bend the curve of biodiversity decline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altLang="ko-KR" sz="2000" dirty="0" smtClean="0">
              <a:solidFill>
                <a:schemeClr val="tx2"/>
              </a:solidFill>
              <a:latin typeface="Verdana" panose="020B0604030504040204" pitchFamily="34" charset="0"/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solidFill>
                  <a:schemeClr val="tx2"/>
                </a:solidFill>
                <a:latin typeface="Verdana" panose="020B0604030504040204" pitchFamily="34" charset="0"/>
                <a:ea typeface="굴림" charset="-127"/>
              </a:rPr>
              <a:t>Challenges associated with bending the curve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altLang="ko-KR" sz="2000" dirty="0">
              <a:solidFill>
                <a:schemeClr val="tx2"/>
              </a:solidFill>
              <a:latin typeface="Verdana" panose="020B0604030504040204" pitchFamily="34" charset="0"/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solidFill>
                  <a:schemeClr val="tx2"/>
                </a:solidFill>
                <a:latin typeface="Verdana" panose="020B0604030504040204" pitchFamily="34" charset="0"/>
                <a:ea typeface="굴림" charset="-127"/>
              </a:rPr>
              <a:t>Conclusion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altLang="ko-KR" sz="2000" dirty="0" smtClean="0">
              <a:solidFill>
                <a:schemeClr val="tx2"/>
              </a:solidFill>
              <a:latin typeface="Verdana" panose="020B0604030504040204" pitchFamily="34" charset="0"/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altLang="ko-KR" sz="2000" dirty="0" smtClean="0">
                <a:solidFill>
                  <a:schemeClr val="tx2"/>
                </a:solidFill>
                <a:latin typeface="Verdana" panose="020B0604030504040204" pitchFamily="34" charset="0"/>
                <a:ea typeface="굴림" charset="-127"/>
              </a:rPr>
              <a:t>References 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altLang="ko-KR" sz="2000" dirty="0">
                <a:latin typeface="Verdana" panose="020B0604030504040204" pitchFamily="34" charset="0"/>
                <a:ea typeface="굴림" charset="-127"/>
              </a:rPr>
              <a:t> </a:t>
            </a:r>
            <a:r>
              <a:rPr lang="en-US" altLang="ko-KR" sz="2000" dirty="0" smtClean="0">
                <a:latin typeface="Verdana" panose="020B0604030504040204" pitchFamily="34" charset="0"/>
                <a:ea typeface="굴림" charset="-127"/>
              </a:rPr>
              <a:t>                                        2</a:t>
            </a:r>
            <a:endParaRPr lang="en-US" altLang="ko-KR" sz="2000" dirty="0">
              <a:latin typeface="Verdana" panose="020B0604030504040204" pitchFamily="34" charset="0"/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altLang="ko-KR" sz="2000" dirty="0" smtClean="0">
              <a:latin typeface="Verdana" panose="020B0604030504040204" pitchFamily="34" charset="0"/>
              <a:ea typeface="굴림" charset="-127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altLang="ko-KR" sz="2000" dirty="0" smtClean="0">
              <a:latin typeface="Verdana" panose="020B0604030504040204" pitchFamily="34" charset="0"/>
              <a:ea typeface="굴림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chemeClr val="tx1"/>
                </a:solidFill>
              </a:rPr>
              <a:t>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3" y="1052513"/>
            <a:ext cx="8064698" cy="5473700"/>
          </a:xfrm>
        </p:spPr>
        <p:txBody>
          <a:bodyPr/>
          <a:lstStyle/>
          <a:p>
            <a:r>
              <a:rPr lang="en-GB" dirty="0" smtClean="0">
                <a:solidFill>
                  <a:schemeClr val="tx2"/>
                </a:solidFill>
              </a:rPr>
              <a:t>Biodiversity is being lost at a rate unprecedented in human history.</a:t>
            </a:r>
          </a:p>
          <a:p>
            <a:endParaRPr lang="en-GB" dirty="0" smtClean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chemeClr val="tx2"/>
                </a:solidFill>
              </a:rPr>
              <a:t>There’s an average decline of 69% in species population since 1970 -World Wide Fund for Nature (WWF).</a:t>
            </a:r>
          </a:p>
          <a:p>
            <a:endParaRPr lang="en-GB" dirty="0" smtClean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chemeClr val="tx2"/>
                </a:solidFill>
              </a:rPr>
              <a:t>Biodiversity is declining rapidly and the pressures driving this decline are also intensifying.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      3</a:t>
            </a:r>
          </a:p>
        </p:txBody>
      </p:sp>
    </p:spTree>
    <p:extLst>
      <p:ext uri="{BB962C8B-B14F-4D97-AF65-F5344CB8AC3E}">
        <p14:creationId xmlns:p14="http://schemas.microsoft.com/office/powerpoint/2010/main" val="292547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3" y="260350"/>
            <a:ext cx="6985000" cy="720378"/>
          </a:xfrm>
        </p:spPr>
        <p:txBody>
          <a:bodyPr/>
          <a:lstStyle/>
          <a:p>
            <a:r>
              <a:rPr lang="en-GB" dirty="0" smtClean="0"/>
              <a:t>INTRODUCTION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1560" y="980728"/>
            <a:ext cx="7920682" cy="5261322"/>
          </a:xfrm>
        </p:spPr>
        <p:txBody>
          <a:bodyPr/>
          <a:lstStyle/>
          <a:p>
            <a:r>
              <a:rPr lang="en-GB" dirty="0" smtClean="0">
                <a:solidFill>
                  <a:schemeClr val="tx2"/>
                </a:solidFill>
              </a:rPr>
              <a:t>Biodiversity is declining due to habitat destruction, Invasive species, Pollution, Overexploitation of resources and Climate  change.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4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2780929"/>
            <a:ext cx="6192688" cy="3168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927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3" y="116632"/>
            <a:ext cx="6985000" cy="1008112"/>
          </a:xfrm>
        </p:spPr>
        <p:txBody>
          <a:bodyPr/>
          <a:lstStyle/>
          <a:p>
            <a:r>
              <a:rPr lang="en-GB" dirty="0" smtClean="0"/>
              <a:t>EFFECT OF BIODIVERSITY DECLINE.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577" y="1124745"/>
            <a:ext cx="7848674" cy="5256584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Loss of biodiversity has a cascading effect on ecosystem and the environment leading to;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 </a:t>
            </a:r>
            <a:r>
              <a:rPr lang="en-GB" dirty="0">
                <a:solidFill>
                  <a:schemeClr val="tx2"/>
                </a:solidFill>
              </a:rPr>
              <a:t>A</a:t>
            </a:r>
            <a:r>
              <a:rPr lang="en-GB" dirty="0" smtClean="0">
                <a:solidFill>
                  <a:schemeClr val="tx2"/>
                </a:solidFill>
              </a:rPr>
              <a:t> decline in </a:t>
            </a:r>
            <a:r>
              <a:rPr lang="en-GB" b="1" dirty="0" smtClean="0">
                <a:solidFill>
                  <a:schemeClr val="tx2"/>
                </a:solidFill>
              </a:rPr>
              <a:t>ecosystem services</a:t>
            </a:r>
            <a:r>
              <a:rPr lang="en-GB" dirty="0" smtClean="0">
                <a:solidFill>
                  <a:schemeClr val="tx2"/>
                </a:solidFill>
              </a:rPr>
              <a:t>, </a:t>
            </a:r>
            <a:r>
              <a:rPr lang="en-GB" b="1" dirty="0" smtClean="0">
                <a:solidFill>
                  <a:schemeClr val="tx2"/>
                </a:solidFill>
              </a:rPr>
              <a:t>ecosystem stability </a:t>
            </a:r>
            <a:r>
              <a:rPr lang="en-GB" dirty="0" smtClean="0">
                <a:solidFill>
                  <a:schemeClr val="tx2"/>
                </a:solidFill>
              </a:rPr>
              <a:t>and </a:t>
            </a:r>
            <a:r>
              <a:rPr lang="en-GB" b="1" dirty="0" smtClean="0">
                <a:solidFill>
                  <a:schemeClr val="tx2"/>
                </a:solidFill>
              </a:rPr>
              <a:t>genetic resources</a:t>
            </a:r>
            <a:r>
              <a:rPr lang="en-GB" dirty="0" smtClean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 Disruption of nutrient cycling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 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Increased risk of species extinction.</a:t>
            </a:r>
          </a:p>
          <a:p>
            <a:pPr marL="0" indent="0">
              <a:buNone/>
            </a:pPr>
            <a:r>
              <a:rPr lang="en-GB" dirty="0" smtClean="0"/>
              <a:t>                                  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    5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0783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88639"/>
            <a:ext cx="7417445" cy="1296145"/>
          </a:xfrm>
        </p:spPr>
        <p:txBody>
          <a:bodyPr/>
          <a:lstStyle/>
          <a:p>
            <a:r>
              <a:rPr lang="en-GB" dirty="0" smtClean="0"/>
              <a:t>BENDING THE CURVE OF BIODIVERSITY DECLINE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3" y="1484785"/>
            <a:ext cx="8064698" cy="5041428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The concept of ‘Bending the curve’ refers to the goal of reversing the decline in biodiversity and shifting from a trajectory of continuous loss to a trajectory of recovery and conservation. 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                                       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The pathway for bending the curve involves ways to halt biodiversity loss, conserve biodiversity and reverse </a:t>
            </a:r>
            <a:r>
              <a:rPr lang="en-GB" dirty="0" smtClean="0">
                <a:solidFill>
                  <a:schemeClr val="tx2"/>
                </a:solidFill>
              </a:rPr>
              <a:t>it.</a:t>
            </a:r>
            <a:endParaRPr lang="en-GB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smtClean="0">
                <a:solidFill>
                  <a:schemeClr val="tx2"/>
                </a:solidFill>
              </a:rPr>
              <a:t>                                      </a:t>
            </a:r>
            <a:r>
              <a:rPr lang="en-GB" dirty="0"/>
              <a:t>6</a:t>
            </a: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5704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68" y="188640"/>
            <a:ext cx="7417445" cy="1008112"/>
          </a:xfrm>
        </p:spPr>
        <p:txBody>
          <a:bodyPr/>
          <a:lstStyle/>
          <a:p>
            <a:r>
              <a:rPr lang="en-GB" dirty="0" smtClean="0"/>
              <a:t>BENDING THE CURVE OF BIODIVERSITY DECLINE </a:t>
            </a:r>
            <a:r>
              <a:rPr lang="en-GB" dirty="0" smtClean="0"/>
              <a:t>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9" y="1196751"/>
            <a:ext cx="7920682" cy="5329461"/>
          </a:xfrm>
        </p:spPr>
        <p:txBody>
          <a:bodyPr/>
          <a:lstStyle/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                                    7</a:t>
            </a:r>
            <a:endParaRPr lang="en-GB" dirty="0"/>
          </a:p>
        </p:txBody>
      </p:sp>
      <p:pic>
        <p:nvPicPr>
          <p:cNvPr id="5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5536" y="1412776"/>
            <a:ext cx="7272808" cy="4314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43026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1"/>
            <a:ext cx="7489453" cy="1484783"/>
          </a:xfrm>
        </p:spPr>
        <p:txBody>
          <a:bodyPr/>
          <a:lstStyle/>
          <a:p>
            <a:r>
              <a:rPr lang="en-GB" dirty="0"/>
              <a:t>BENDING THE CURVE OF BIODIVERSITY DECLINE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1340769"/>
            <a:ext cx="8136707" cy="4464496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The aim of Bending the curve is to </a:t>
            </a:r>
            <a:r>
              <a:rPr lang="en-GB" dirty="0" smtClean="0">
                <a:solidFill>
                  <a:schemeClr val="tx2"/>
                </a:solidFill>
              </a:rPr>
              <a:t>significantly reduce biodiversity loss </a:t>
            </a:r>
            <a:r>
              <a:rPr lang="en-GB" dirty="0">
                <a:solidFill>
                  <a:schemeClr val="tx2"/>
                </a:solidFill>
              </a:rPr>
              <a:t>and start moving towards an upward trend</a:t>
            </a:r>
            <a:r>
              <a:rPr lang="en-GB" dirty="0" smtClean="0">
                <a:solidFill>
                  <a:schemeClr val="tx2"/>
                </a:solidFill>
              </a:rPr>
              <a:t>.</a:t>
            </a: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dirty="0" smtClean="0">
                <a:solidFill>
                  <a:schemeClr val="tx2"/>
                </a:solidFill>
              </a:rPr>
              <a:t>This can be done by tackling the drivers of biodiversity loss through diet shift, reduced waste and sustainable increase in trade and crop yield</a:t>
            </a:r>
            <a:r>
              <a:rPr lang="en-GB" dirty="0" smtClean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                                    8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                                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4558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552" y="116631"/>
            <a:ext cx="7561461" cy="1152128"/>
          </a:xfrm>
        </p:spPr>
        <p:txBody>
          <a:bodyPr/>
          <a:lstStyle/>
          <a:p>
            <a:r>
              <a:rPr lang="en-GB" dirty="0" smtClean="0"/>
              <a:t>THE NEED TO BEND THE CURVE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268759"/>
            <a:ext cx="8496747" cy="4536505"/>
          </a:xfrm>
        </p:spPr>
        <p:txBody>
          <a:bodyPr/>
          <a:lstStyle/>
          <a:p>
            <a:r>
              <a:rPr lang="en-GB" dirty="0" smtClean="0">
                <a:solidFill>
                  <a:schemeClr val="tx2"/>
                </a:solidFill>
              </a:rPr>
              <a:t>Nature </a:t>
            </a:r>
            <a:r>
              <a:rPr lang="en-GB" dirty="0">
                <a:solidFill>
                  <a:schemeClr val="tx2"/>
                </a:solidFill>
              </a:rPr>
              <a:t>has a critical role to play in mitigating climate </a:t>
            </a:r>
            <a:r>
              <a:rPr lang="en-GB" dirty="0" smtClean="0">
                <a:solidFill>
                  <a:schemeClr val="tx2"/>
                </a:solidFill>
              </a:rPr>
              <a:t>change, maintaining </a:t>
            </a:r>
            <a:r>
              <a:rPr lang="en-GB" dirty="0">
                <a:solidFill>
                  <a:schemeClr val="tx2"/>
                </a:solidFill>
              </a:rPr>
              <a:t>the quality of soil, air and </a:t>
            </a:r>
            <a:r>
              <a:rPr lang="en-GB" dirty="0" smtClean="0">
                <a:solidFill>
                  <a:schemeClr val="tx2"/>
                </a:solidFill>
              </a:rPr>
              <a:t>water and so failure to address </a:t>
            </a:r>
            <a:r>
              <a:rPr lang="en-GB" dirty="0">
                <a:solidFill>
                  <a:schemeClr val="tx2"/>
                </a:solidFill>
              </a:rPr>
              <a:t>these </a:t>
            </a:r>
            <a:r>
              <a:rPr lang="en-GB" dirty="0" smtClean="0">
                <a:solidFill>
                  <a:schemeClr val="tx2"/>
                </a:solidFill>
              </a:rPr>
              <a:t>challenge will lead to the continuous loss and destruction of biodiversity.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  </a:t>
            </a:r>
          </a:p>
          <a:p>
            <a:r>
              <a:rPr lang="en-GB" dirty="0" smtClean="0">
                <a:solidFill>
                  <a:schemeClr val="tx2"/>
                </a:solidFill>
              </a:rPr>
              <a:t>Bending </a:t>
            </a:r>
            <a:r>
              <a:rPr lang="en-GB" dirty="0">
                <a:solidFill>
                  <a:schemeClr val="tx2"/>
                </a:solidFill>
              </a:rPr>
              <a:t>the </a:t>
            </a:r>
            <a:r>
              <a:rPr lang="en-GB" dirty="0" smtClean="0">
                <a:solidFill>
                  <a:schemeClr val="tx2"/>
                </a:solidFill>
              </a:rPr>
              <a:t>Curve provides </a:t>
            </a:r>
            <a:r>
              <a:rPr lang="en-GB" dirty="0">
                <a:solidFill>
                  <a:schemeClr val="tx2"/>
                </a:solidFill>
              </a:rPr>
              <a:t>a roadmap to restore biodiversity and feed a growing human </a:t>
            </a:r>
            <a:r>
              <a:rPr lang="en-GB" dirty="0" smtClean="0">
                <a:solidFill>
                  <a:schemeClr val="tx2"/>
                </a:solidFill>
              </a:rPr>
              <a:t>population.</a:t>
            </a:r>
            <a:endParaRPr lang="en-GB" dirty="0">
              <a:solidFill>
                <a:schemeClr val="tx2"/>
              </a:solidFill>
            </a:endParaRPr>
          </a:p>
          <a:p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                                  9</a:t>
            </a:r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  8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5581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3" y="260350"/>
            <a:ext cx="6985000" cy="864394"/>
          </a:xfrm>
        </p:spPr>
        <p:txBody>
          <a:bodyPr/>
          <a:lstStyle/>
          <a:p>
            <a:r>
              <a:rPr lang="en-GB" dirty="0" smtClean="0"/>
              <a:t>HOW TO BEND THE CURVE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5" y="1340768"/>
            <a:ext cx="7776666" cy="4752528"/>
          </a:xfrm>
        </p:spPr>
        <p:txBody>
          <a:bodyPr/>
          <a:lstStyle/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To bend the curve and conserve biodiversity, these critical actions must be taken.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 Increase habitat protection and conservation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       </a:t>
            </a:r>
            <a:r>
              <a:rPr lang="en-GB" dirty="0" smtClean="0"/>
              <a:t>                         </a:t>
            </a:r>
            <a:r>
              <a:rPr lang="en-GB" dirty="0" smtClean="0"/>
              <a:t>10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2996951"/>
            <a:ext cx="3120433" cy="266429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996950"/>
            <a:ext cx="3240360" cy="2664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3600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3" y="260350"/>
            <a:ext cx="6985000" cy="936402"/>
          </a:xfrm>
        </p:spPr>
        <p:txBody>
          <a:bodyPr/>
          <a:lstStyle/>
          <a:p>
            <a:r>
              <a:rPr lang="en-GB" dirty="0"/>
              <a:t>HOW TO BEND THE CURVE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9" y="1340767"/>
            <a:ext cx="7920682" cy="51854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/>
              <a:t> </a:t>
            </a:r>
            <a:r>
              <a:rPr lang="en-GB" dirty="0" smtClean="0">
                <a:solidFill>
                  <a:schemeClr val="tx2"/>
                </a:solidFill>
              </a:rPr>
              <a:t>Sustainable Land use and Reforestation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                                11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2060848"/>
            <a:ext cx="504056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0549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1" y="332656"/>
            <a:ext cx="6624736" cy="792088"/>
          </a:xfrm>
        </p:spPr>
        <p:txBody>
          <a:bodyPr/>
          <a:lstStyle/>
          <a:p>
            <a:r>
              <a:rPr lang="en-GB" dirty="0"/>
              <a:t>HOW TO BEND THE </a:t>
            </a:r>
            <a:r>
              <a:rPr lang="en-GB" dirty="0" smtClean="0"/>
              <a:t>CURVE CONT’D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9552" y="1268760"/>
            <a:ext cx="8064699" cy="49685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Sustainable production of agriculture, trade and goods and combating illegal wildlife trade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12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2708920"/>
            <a:ext cx="3744416" cy="27363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7" y="2204864"/>
            <a:ext cx="3168352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892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3" y="260349"/>
            <a:ext cx="6985000" cy="936403"/>
          </a:xfrm>
        </p:spPr>
        <p:txBody>
          <a:bodyPr/>
          <a:lstStyle/>
          <a:p>
            <a:r>
              <a:rPr lang="en-GB" dirty="0"/>
              <a:t>HOW TO BEND THE CURVE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5" y="1340767"/>
            <a:ext cx="7776666" cy="47525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Sustainable consumption including reducing food waste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/>
              <a:t>                                         </a:t>
            </a: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   13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013" y="2276872"/>
            <a:ext cx="3672011" cy="31683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564905"/>
            <a:ext cx="3312368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519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7828" y="410775"/>
            <a:ext cx="6985000" cy="1008410"/>
          </a:xfrm>
        </p:spPr>
        <p:txBody>
          <a:bodyPr/>
          <a:lstStyle/>
          <a:p>
            <a:r>
              <a:rPr lang="en-GB" dirty="0"/>
              <a:t>HOW TO BEND THE CURVE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3569" y="1412776"/>
            <a:ext cx="7920682" cy="5112568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Sustainable fisheries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/>
              <a:t>                                       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      14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9" y="1988839"/>
            <a:ext cx="3312368" cy="32403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1988839"/>
            <a:ext cx="3882008" cy="324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7988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6013" y="332655"/>
            <a:ext cx="6985000" cy="936105"/>
          </a:xfrm>
        </p:spPr>
        <p:txBody>
          <a:bodyPr/>
          <a:lstStyle/>
          <a:p>
            <a:r>
              <a:rPr lang="en-GB" dirty="0"/>
              <a:t>HOW TO BEND THE CURVE CONT’D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6013" y="1340767"/>
            <a:ext cx="7488237" cy="489654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Education and Awareness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>
              <a:buFont typeface="Wingdings" panose="05000000000000000000" pitchFamily="2" charset="2"/>
              <a:buChar char="Ø"/>
            </a:pPr>
            <a:endParaRPr lang="en-GB" dirty="0" smtClean="0"/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         </a:t>
            </a:r>
          </a:p>
          <a:p>
            <a:pPr marL="0" indent="0"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   15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988840"/>
            <a:ext cx="5832648" cy="3636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143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CHALLENGES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768351"/>
            <a:ext cx="8352731" cy="5324946"/>
          </a:xfrm>
        </p:spPr>
        <p:txBody>
          <a:bodyPr/>
          <a:lstStyle/>
          <a:p>
            <a:r>
              <a:rPr lang="en-GB" dirty="0" smtClean="0">
                <a:solidFill>
                  <a:schemeClr val="tx2"/>
                </a:solidFill>
              </a:rPr>
              <a:t>The Bending the Curve Initiative is associated with the World Wide Fund for Nature (WWF),the world’s leading conservation organisation. </a:t>
            </a:r>
          </a:p>
          <a:p>
            <a:r>
              <a:rPr lang="en-GB" dirty="0" smtClean="0">
                <a:solidFill>
                  <a:schemeClr val="tx2"/>
                </a:solidFill>
              </a:rPr>
              <a:t>They face some challenges in effort to bend the curve of biodiversity decline;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Scale and scope of ecosystems worldwide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>
                <a:solidFill>
                  <a:schemeClr val="tx2"/>
                </a:solidFill>
              </a:rPr>
              <a:t> </a:t>
            </a:r>
            <a:r>
              <a:rPr lang="en-GB" dirty="0" smtClean="0">
                <a:solidFill>
                  <a:schemeClr val="tx2"/>
                </a:solidFill>
              </a:rPr>
              <a:t>Limited Resources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Institutional and Policy barriers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Poor global cooperation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GB" dirty="0"/>
              <a:t> </a:t>
            </a:r>
            <a:r>
              <a:rPr lang="en-GB" dirty="0" smtClean="0"/>
              <a:t>                                        </a:t>
            </a:r>
            <a:r>
              <a:rPr lang="en-GB" dirty="0" smtClean="0">
                <a:solidFill>
                  <a:schemeClr val="tx2"/>
                </a:solidFill>
              </a:rPr>
              <a:t>16</a:t>
            </a:r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75971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title"/>
          </p:nvPr>
        </p:nvSpPr>
        <p:spPr>
          <a:xfrm>
            <a:off x="1976438" y="188640"/>
            <a:ext cx="6985000" cy="723900"/>
          </a:xfrm>
        </p:spPr>
        <p:txBody>
          <a:bodyPr/>
          <a:lstStyle/>
          <a:p>
            <a:r>
              <a:rPr lang="en-US" altLang="en-US" dirty="0" smtClean="0">
                <a:solidFill>
                  <a:schemeClr val="tx1"/>
                </a:solidFill>
              </a:rPr>
              <a:t>CONCLUSION</a:t>
            </a:r>
            <a:endParaRPr lang="en-US" altLang="en-US" dirty="0">
              <a:solidFill>
                <a:schemeClr val="tx1"/>
              </a:solidFill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76438" y="1125538"/>
            <a:ext cx="6988175" cy="5265737"/>
          </a:xfrm>
          <a:extLst>
            <a:ext uri="{AF507438-7753-43E0-B8FC-AC1667EBCBE1}">
              <a14:hiddenEffects xmlns:a14="http://schemas.microsoft.com/office/drawing/2010/main">
                <a:effectLst>
                  <a:outerShdw dist="17961" dir="2700000" algn="ctr" rotWithShape="0">
                    <a:schemeClr val="tx1"/>
                  </a:outerShdw>
                </a:effectLst>
              </a14:hiddenEffects>
            </a:ext>
          </a:extLst>
        </p:spPr>
        <p:txBody>
          <a:bodyPr/>
          <a:lstStyle/>
          <a:p>
            <a:pPr marL="0" indent="0">
              <a:buNone/>
            </a:pPr>
            <a:r>
              <a:rPr lang="en-GB" altLang="en-US" dirty="0">
                <a:solidFill>
                  <a:schemeClr val="tx2"/>
                </a:solidFill>
              </a:rPr>
              <a:t>Multiple models have been integrated to help us understand how we can reverse the loss of nature, save millions of species from extinction, and guard humans against a risky future thus ‘Bending the curve of biodiversity decline’ requires collective action and cooperation among stakeholders, policy makers, farmers, industries, businesses, Government and NGOs to </a:t>
            </a:r>
            <a:r>
              <a:rPr lang="en-GB" altLang="en-US" dirty="0" smtClean="0">
                <a:solidFill>
                  <a:schemeClr val="tx2"/>
                </a:solidFill>
              </a:rPr>
              <a:t>save </a:t>
            </a:r>
            <a:r>
              <a:rPr lang="en-GB" altLang="en-US" dirty="0" smtClean="0">
                <a:solidFill>
                  <a:schemeClr val="tx2"/>
                </a:solidFill>
              </a:rPr>
              <a:t>biodiversity. </a:t>
            </a:r>
            <a:r>
              <a:rPr lang="en-GB" altLang="en-US" dirty="0" smtClean="0"/>
              <a:t> </a:t>
            </a:r>
            <a:endParaRPr lang="en-GB" altLang="en-US" dirty="0" smtClean="0"/>
          </a:p>
          <a:p>
            <a:pPr marL="0" indent="0">
              <a:buNone/>
            </a:pPr>
            <a:endParaRPr lang="en-GB" altLang="en-US" dirty="0"/>
          </a:p>
          <a:p>
            <a:pPr marL="0" indent="0">
              <a:buNone/>
            </a:pPr>
            <a:r>
              <a:rPr lang="en-GB" altLang="en-US" dirty="0" smtClean="0"/>
              <a:t>                             17</a:t>
            </a:r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585" y="1052513"/>
            <a:ext cx="7776666" cy="496877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WWF(2022). Almond, R.E.A.;</a:t>
            </a:r>
            <a:r>
              <a:rPr lang="en-GB" dirty="0" err="1" smtClean="0">
                <a:solidFill>
                  <a:schemeClr val="tx2"/>
                </a:solidFill>
              </a:rPr>
              <a:t>Grooten</a:t>
            </a:r>
            <a:r>
              <a:rPr lang="en-GB" dirty="0" smtClean="0">
                <a:solidFill>
                  <a:schemeClr val="tx2"/>
                </a:solidFill>
              </a:rPr>
              <a:t>,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M.;</a:t>
            </a:r>
            <a:r>
              <a:rPr lang="en-GB" dirty="0" err="1" smtClean="0">
                <a:solidFill>
                  <a:schemeClr val="tx2"/>
                </a:solidFill>
              </a:rPr>
              <a:t>Juffe</a:t>
            </a:r>
            <a:r>
              <a:rPr lang="en-GB" dirty="0" smtClean="0">
                <a:solidFill>
                  <a:schemeClr val="tx2"/>
                </a:solidFill>
              </a:rPr>
              <a:t> </a:t>
            </a:r>
            <a:r>
              <a:rPr lang="en-GB" dirty="0" err="1" smtClean="0">
                <a:solidFill>
                  <a:schemeClr val="tx2"/>
                </a:solidFill>
              </a:rPr>
              <a:t>Bignoli</a:t>
            </a:r>
            <a:r>
              <a:rPr lang="en-GB" dirty="0" smtClean="0">
                <a:solidFill>
                  <a:schemeClr val="tx2"/>
                </a:solidFill>
              </a:rPr>
              <a:t>, D. Peterson, Living Planet Report 2022- Building a nature-positive society.</a:t>
            </a:r>
          </a:p>
          <a:p>
            <a:pPr marL="0" indent="0">
              <a:buNone/>
            </a:pPr>
            <a:endParaRPr lang="en-GB" dirty="0" smtClean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Convention on Biological Diversity (CBD)</a:t>
            </a:r>
          </a:p>
          <a:p>
            <a:pPr marL="0" indent="0">
              <a:buNone/>
            </a:pPr>
            <a:endParaRPr lang="en-GB" dirty="0" smtClean="0">
              <a:solidFill>
                <a:schemeClr val="tx2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GB" dirty="0" smtClean="0">
                <a:solidFill>
                  <a:schemeClr val="tx2"/>
                </a:solidFill>
              </a:rPr>
              <a:t>Gland Switzerland: Living Planet Report by </a:t>
            </a:r>
          </a:p>
          <a:p>
            <a:pPr marL="0" indent="0">
              <a:buNone/>
            </a:pPr>
            <a:r>
              <a:rPr lang="en-GB" dirty="0" smtClean="0">
                <a:solidFill>
                  <a:schemeClr val="tx2"/>
                </a:solidFill>
              </a:rPr>
              <a:t>World Wide Fund for Nature (WWF).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r>
              <a:rPr lang="en-GB" dirty="0" smtClean="0"/>
              <a:t>                                   </a:t>
            </a:r>
            <a:r>
              <a:rPr lang="en-GB" dirty="0" smtClean="0">
                <a:solidFill>
                  <a:schemeClr val="tx2"/>
                </a:solidFill>
              </a:rPr>
              <a:t>18</a:t>
            </a:r>
            <a:endParaRPr lang="en-GB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2708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/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r>
              <a:rPr lang="en-GB" dirty="0" smtClean="0"/>
              <a:t>                          </a:t>
            </a:r>
            <a:r>
              <a:rPr lang="en-GB" sz="3200" b="0" dirty="0" smtClean="0">
                <a:solidFill>
                  <a:schemeClr val="tx2"/>
                </a:solidFill>
              </a:rPr>
              <a:t>19</a:t>
            </a: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768350"/>
            <a:ext cx="7632848" cy="4604866"/>
          </a:xfrm>
        </p:spPr>
      </p:pic>
    </p:spTree>
    <p:extLst>
      <p:ext uri="{BB962C8B-B14F-4D97-AF65-F5344CB8AC3E}">
        <p14:creationId xmlns:p14="http://schemas.microsoft.com/office/powerpoint/2010/main" val="648558336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">
      <a:dk1>
        <a:srgbClr val="4D4D4D"/>
      </a:dk1>
      <a:lt1>
        <a:srgbClr val="FFFFFF"/>
      </a:lt1>
      <a:dk2>
        <a:srgbClr val="000000"/>
      </a:dk2>
      <a:lt2>
        <a:srgbClr val="416314"/>
      </a:lt2>
      <a:accent1>
        <a:srgbClr val="90D624"/>
      </a:accent1>
      <a:accent2>
        <a:srgbClr val="35BB00"/>
      </a:accent2>
      <a:accent3>
        <a:srgbClr val="FFFFFF"/>
      </a:accent3>
      <a:accent4>
        <a:srgbClr val="404040"/>
      </a:accent4>
      <a:accent5>
        <a:srgbClr val="C6E8AC"/>
      </a:accent5>
      <a:accent6>
        <a:srgbClr val="2FA900"/>
      </a:accent6>
      <a:hlink>
        <a:srgbClr val="95DE64"/>
      </a:hlink>
      <a:folHlink>
        <a:srgbClr val="EAEAEA"/>
      </a:folHlink>
    </a:clrScheme>
    <a:fontScheme name="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template 1">
        <a:dk1>
          <a:srgbClr val="4D4D4D"/>
        </a:dk1>
        <a:lt1>
          <a:srgbClr val="FFFFFF"/>
        </a:lt1>
        <a:dk2>
          <a:srgbClr val="000000"/>
        </a:dk2>
        <a:lt2>
          <a:srgbClr val="6E6046"/>
        </a:lt2>
        <a:accent1>
          <a:srgbClr val="B69E77"/>
        </a:accent1>
        <a:accent2>
          <a:srgbClr val="9E280E"/>
        </a:accent2>
        <a:accent3>
          <a:srgbClr val="FFFFFF"/>
        </a:accent3>
        <a:accent4>
          <a:srgbClr val="404040"/>
        </a:accent4>
        <a:accent5>
          <a:srgbClr val="D7CCBD"/>
        </a:accent5>
        <a:accent6>
          <a:srgbClr val="8F230C"/>
        </a:accent6>
        <a:hlink>
          <a:srgbClr val="FFC6A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4D4D4D"/>
        </a:dk1>
        <a:lt1>
          <a:srgbClr val="FFFFFF"/>
        </a:lt1>
        <a:dk2>
          <a:srgbClr val="000000"/>
        </a:dk2>
        <a:lt2>
          <a:srgbClr val="6E6046"/>
        </a:lt2>
        <a:accent1>
          <a:srgbClr val="B69E77"/>
        </a:accent1>
        <a:accent2>
          <a:srgbClr val="9E280E"/>
        </a:accent2>
        <a:accent3>
          <a:srgbClr val="FFFFFF"/>
        </a:accent3>
        <a:accent4>
          <a:srgbClr val="404040"/>
        </a:accent4>
        <a:accent5>
          <a:srgbClr val="D7CCBD"/>
        </a:accent5>
        <a:accent6>
          <a:srgbClr val="8F230C"/>
        </a:accent6>
        <a:hlink>
          <a:srgbClr val="E1C6A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3">
        <a:dk1>
          <a:srgbClr val="4D4D4D"/>
        </a:dk1>
        <a:lt1>
          <a:srgbClr val="FFFFFF"/>
        </a:lt1>
        <a:dk2>
          <a:srgbClr val="000000"/>
        </a:dk2>
        <a:lt2>
          <a:srgbClr val="532F3C"/>
        </a:lt2>
        <a:accent1>
          <a:srgbClr val="CDC09A"/>
        </a:accent1>
        <a:accent2>
          <a:srgbClr val="AC9F55"/>
        </a:accent2>
        <a:accent3>
          <a:srgbClr val="FFFFFF"/>
        </a:accent3>
        <a:accent4>
          <a:srgbClr val="404040"/>
        </a:accent4>
        <a:accent5>
          <a:srgbClr val="E3DCCA"/>
        </a:accent5>
        <a:accent6>
          <a:srgbClr val="9B904C"/>
        </a:accent6>
        <a:hlink>
          <a:srgbClr val="DBD3C7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4D4D4D"/>
        </a:dk1>
        <a:lt1>
          <a:srgbClr val="FFFFFF"/>
        </a:lt1>
        <a:dk2>
          <a:srgbClr val="000000"/>
        </a:dk2>
        <a:lt2>
          <a:srgbClr val="064300"/>
        </a:lt2>
        <a:accent1>
          <a:srgbClr val="AC927F"/>
        </a:accent1>
        <a:accent2>
          <a:srgbClr val="3AAE00"/>
        </a:accent2>
        <a:accent3>
          <a:srgbClr val="FFFFFF"/>
        </a:accent3>
        <a:accent4>
          <a:srgbClr val="404040"/>
        </a:accent4>
        <a:accent5>
          <a:srgbClr val="D2C7C0"/>
        </a:accent5>
        <a:accent6>
          <a:srgbClr val="349D00"/>
        </a:accent6>
        <a:hlink>
          <a:srgbClr val="D2B8A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4D4D4D"/>
        </a:dk1>
        <a:lt1>
          <a:srgbClr val="FFFFFF"/>
        </a:lt1>
        <a:dk2>
          <a:srgbClr val="000000"/>
        </a:dk2>
        <a:lt2>
          <a:srgbClr val="033100"/>
        </a:lt2>
        <a:accent1>
          <a:srgbClr val="2F9400"/>
        </a:accent1>
        <a:accent2>
          <a:srgbClr val="6C838B"/>
        </a:accent2>
        <a:accent3>
          <a:srgbClr val="FFFFFF"/>
        </a:accent3>
        <a:accent4>
          <a:srgbClr val="404040"/>
        </a:accent4>
        <a:accent5>
          <a:srgbClr val="ADC8AA"/>
        </a:accent5>
        <a:accent6>
          <a:srgbClr val="61767D"/>
        </a:accent6>
        <a:hlink>
          <a:srgbClr val="996E68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4D4D4D"/>
        </a:dk1>
        <a:lt1>
          <a:srgbClr val="FFFFFF"/>
        </a:lt1>
        <a:dk2>
          <a:srgbClr val="000000"/>
        </a:dk2>
        <a:lt2>
          <a:srgbClr val="063B00"/>
        </a:lt2>
        <a:accent1>
          <a:srgbClr val="33A800"/>
        </a:accent1>
        <a:accent2>
          <a:srgbClr val="B26D33"/>
        </a:accent2>
        <a:accent3>
          <a:srgbClr val="FFFFFF"/>
        </a:accent3>
        <a:accent4>
          <a:srgbClr val="404040"/>
        </a:accent4>
        <a:accent5>
          <a:srgbClr val="ADD1AA"/>
        </a:accent5>
        <a:accent6>
          <a:srgbClr val="A1622D"/>
        </a:accent6>
        <a:hlink>
          <a:srgbClr val="CE7931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4D4D4D"/>
        </a:dk1>
        <a:lt1>
          <a:srgbClr val="FFFFFF"/>
        </a:lt1>
        <a:dk2>
          <a:srgbClr val="000000"/>
        </a:dk2>
        <a:lt2>
          <a:srgbClr val="224700"/>
        </a:lt2>
        <a:accent1>
          <a:srgbClr val="68A500"/>
        </a:accent1>
        <a:accent2>
          <a:srgbClr val="8CB400"/>
        </a:accent2>
        <a:accent3>
          <a:srgbClr val="FFFFFF"/>
        </a:accent3>
        <a:accent4>
          <a:srgbClr val="404040"/>
        </a:accent4>
        <a:accent5>
          <a:srgbClr val="B9CFAA"/>
        </a:accent5>
        <a:accent6>
          <a:srgbClr val="7EA300"/>
        </a:accent6>
        <a:hlink>
          <a:srgbClr val="DC888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8">
        <a:dk1>
          <a:srgbClr val="4D4D4D"/>
        </a:dk1>
        <a:lt1>
          <a:srgbClr val="FFFFFF"/>
        </a:lt1>
        <a:dk2>
          <a:srgbClr val="000000"/>
        </a:dk2>
        <a:lt2>
          <a:srgbClr val="224700"/>
        </a:lt2>
        <a:accent1>
          <a:srgbClr val="68A500"/>
        </a:accent1>
        <a:accent2>
          <a:srgbClr val="8CB400"/>
        </a:accent2>
        <a:accent3>
          <a:srgbClr val="FFFFFF"/>
        </a:accent3>
        <a:accent4>
          <a:srgbClr val="404040"/>
        </a:accent4>
        <a:accent5>
          <a:srgbClr val="B9CFAA"/>
        </a:accent5>
        <a:accent6>
          <a:srgbClr val="7EA300"/>
        </a:accent6>
        <a:hlink>
          <a:srgbClr val="C0C42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9">
        <a:dk1>
          <a:srgbClr val="4D4D4D"/>
        </a:dk1>
        <a:lt1>
          <a:srgbClr val="FFFFFF"/>
        </a:lt1>
        <a:dk2>
          <a:srgbClr val="000000"/>
        </a:dk2>
        <a:lt2>
          <a:srgbClr val="265400"/>
        </a:lt2>
        <a:accent1>
          <a:srgbClr val="37A091"/>
        </a:accent1>
        <a:accent2>
          <a:srgbClr val="CC8587"/>
        </a:accent2>
        <a:accent3>
          <a:srgbClr val="FFFFFF"/>
        </a:accent3>
        <a:accent4>
          <a:srgbClr val="404040"/>
        </a:accent4>
        <a:accent5>
          <a:srgbClr val="AECDC7"/>
        </a:accent5>
        <a:accent6>
          <a:srgbClr val="B9787A"/>
        </a:accent6>
        <a:hlink>
          <a:srgbClr val="FCE46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0">
        <a:dk1>
          <a:srgbClr val="4D4D4D"/>
        </a:dk1>
        <a:lt1>
          <a:srgbClr val="FFFFFF"/>
        </a:lt1>
        <a:dk2>
          <a:srgbClr val="000000"/>
        </a:dk2>
        <a:lt2>
          <a:srgbClr val="546715"/>
        </a:lt2>
        <a:accent1>
          <a:srgbClr val="EF733A"/>
        </a:accent1>
        <a:accent2>
          <a:srgbClr val="C1D72E"/>
        </a:accent2>
        <a:accent3>
          <a:srgbClr val="FFFFFF"/>
        </a:accent3>
        <a:accent4>
          <a:srgbClr val="404040"/>
        </a:accent4>
        <a:accent5>
          <a:srgbClr val="F6BCAE"/>
        </a:accent5>
        <a:accent6>
          <a:srgbClr val="AFC329"/>
        </a:accent6>
        <a:hlink>
          <a:srgbClr val="F1954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1">
        <a:dk1>
          <a:srgbClr val="4D4D4D"/>
        </a:dk1>
        <a:lt1>
          <a:srgbClr val="FFFFFF"/>
        </a:lt1>
        <a:dk2>
          <a:srgbClr val="000000"/>
        </a:dk2>
        <a:lt2>
          <a:srgbClr val="406910"/>
        </a:lt2>
        <a:accent1>
          <a:srgbClr val="D04611"/>
        </a:accent1>
        <a:accent2>
          <a:srgbClr val="77BB0F"/>
        </a:accent2>
        <a:accent3>
          <a:srgbClr val="FFFFFF"/>
        </a:accent3>
        <a:accent4>
          <a:srgbClr val="404040"/>
        </a:accent4>
        <a:accent5>
          <a:srgbClr val="E4B0AA"/>
        </a:accent5>
        <a:accent6>
          <a:srgbClr val="6BA90C"/>
        </a:accent6>
        <a:hlink>
          <a:srgbClr val="6CA2C7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2">
        <a:dk1>
          <a:srgbClr val="4D4D4D"/>
        </a:dk1>
        <a:lt1>
          <a:srgbClr val="FFFFFF"/>
        </a:lt1>
        <a:dk2>
          <a:srgbClr val="000000"/>
        </a:dk2>
        <a:lt2>
          <a:srgbClr val="506314"/>
        </a:lt2>
        <a:accent1>
          <a:srgbClr val="C0D532"/>
        </a:accent1>
        <a:accent2>
          <a:srgbClr val="7F9D1E"/>
        </a:accent2>
        <a:accent3>
          <a:srgbClr val="FFFFFF"/>
        </a:accent3>
        <a:accent4>
          <a:srgbClr val="404040"/>
        </a:accent4>
        <a:accent5>
          <a:srgbClr val="DCE7AD"/>
        </a:accent5>
        <a:accent6>
          <a:srgbClr val="728E1A"/>
        </a:accent6>
        <a:hlink>
          <a:srgbClr val="A5A5A5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3">
        <a:dk1>
          <a:srgbClr val="4D4D4D"/>
        </a:dk1>
        <a:lt1>
          <a:srgbClr val="FFFFFF"/>
        </a:lt1>
        <a:dk2>
          <a:srgbClr val="000000"/>
        </a:dk2>
        <a:lt2>
          <a:srgbClr val="506314"/>
        </a:lt2>
        <a:accent1>
          <a:srgbClr val="C0D532"/>
        </a:accent1>
        <a:accent2>
          <a:srgbClr val="7F9D1E"/>
        </a:accent2>
        <a:accent3>
          <a:srgbClr val="FFFFFF"/>
        </a:accent3>
        <a:accent4>
          <a:srgbClr val="404040"/>
        </a:accent4>
        <a:accent5>
          <a:srgbClr val="DCE7AD"/>
        </a:accent5>
        <a:accent6>
          <a:srgbClr val="728E1A"/>
        </a:accent6>
        <a:hlink>
          <a:srgbClr val="3366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4">
        <a:dk1>
          <a:srgbClr val="4D4D4D"/>
        </a:dk1>
        <a:lt1>
          <a:srgbClr val="FFFFFF"/>
        </a:lt1>
        <a:dk2>
          <a:srgbClr val="000000"/>
        </a:dk2>
        <a:lt2>
          <a:srgbClr val="506314"/>
        </a:lt2>
        <a:accent1>
          <a:srgbClr val="C0D532"/>
        </a:accent1>
        <a:accent2>
          <a:srgbClr val="7F9D1E"/>
        </a:accent2>
        <a:accent3>
          <a:srgbClr val="FFFFFF"/>
        </a:accent3>
        <a:accent4>
          <a:srgbClr val="404040"/>
        </a:accent4>
        <a:accent5>
          <a:srgbClr val="DCE7AD"/>
        </a:accent5>
        <a:accent6>
          <a:srgbClr val="728E1A"/>
        </a:accent6>
        <a:hlink>
          <a:srgbClr val="8CA824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5">
        <a:dk1>
          <a:srgbClr val="4D4D4D"/>
        </a:dk1>
        <a:lt1>
          <a:srgbClr val="FFFFFF"/>
        </a:lt1>
        <a:dk2>
          <a:srgbClr val="000000"/>
        </a:dk2>
        <a:lt2>
          <a:srgbClr val="197B00"/>
        </a:lt2>
        <a:accent1>
          <a:srgbClr val="407400"/>
        </a:accent1>
        <a:accent2>
          <a:srgbClr val="A1E451"/>
        </a:accent2>
        <a:accent3>
          <a:srgbClr val="FFFFFF"/>
        </a:accent3>
        <a:accent4>
          <a:srgbClr val="404040"/>
        </a:accent4>
        <a:accent5>
          <a:srgbClr val="AFBCAA"/>
        </a:accent5>
        <a:accent6>
          <a:srgbClr val="91CF49"/>
        </a:accent6>
        <a:hlink>
          <a:srgbClr val="339A0E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16">
        <a:dk1>
          <a:srgbClr val="4D4D4D"/>
        </a:dk1>
        <a:lt1>
          <a:srgbClr val="FFFFFF"/>
        </a:lt1>
        <a:dk2>
          <a:srgbClr val="000000"/>
        </a:dk2>
        <a:lt2>
          <a:srgbClr val="2B7425"/>
        </a:lt2>
        <a:accent1>
          <a:srgbClr val="94D723"/>
        </a:accent1>
        <a:accent2>
          <a:srgbClr val="4D8011"/>
        </a:accent2>
        <a:accent3>
          <a:srgbClr val="FFFFFF"/>
        </a:accent3>
        <a:accent4>
          <a:srgbClr val="404040"/>
        </a:accent4>
        <a:accent5>
          <a:srgbClr val="C8E8AC"/>
        </a:accent5>
        <a:accent6>
          <a:srgbClr val="45730E"/>
        </a:accent6>
        <a:hlink>
          <a:srgbClr val="A3C500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399</TotalTime>
  <Words>644</Words>
  <Application>Microsoft Office PowerPoint</Application>
  <PresentationFormat>On-screen Show (4:3)</PresentationFormat>
  <Paragraphs>173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굴림</vt:lpstr>
      <vt:lpstr>Tahoma</vt:lpstr>
      <vt:lpstr>Verdana</vt:lpstr>
      <vt:lpstr>Wingdings</vt:lpstr>
      <vt:lpstr>template</vt:lpstr>
      <vt:lpstr>BENDING THE CURVE OF BIODIVERSITY DECLINE</vt:lpstr>
      <vt:lpstr>OUTLINE</vt:lpstr>
      <vt:lpstr>INTRODUCTION</vt:lpstr>
      <vt:lpstr>INTRODUCTION CONT’D</vt:lpstr>
      <vt:lpstr>EFFECT OF BIODIVERSITY DECLINE.</vt:lpstr>
      <vt:lpstr>BENDING THE CURVE OF BIODIVERSITY DECLINE</vt:lpstr>
      <vt:lpstr>BENDING THE CURVE OF BIODIVERSITY DECLINE CONT’D</vt:lpstr>
      <vt:lpstr>BENDING THE CURVE OF BIODIVERSITY DECLINE CONT’D</vt:lpstr>
      <vt:lpstr>THE NEED TO BEND THE CURVE </vt:lpstr>
      <vt:lpstr>HOW TO BEND THE CURVE</vt:lpstr>
      <vt:lpstr>HOW TO BEND THE CURVE CONT’D</vt:lpstr>
      <vt:lpstr>HOW TO BEND THE CURVE CONT’D</vt:lpstr>
      <vt:lpstr>HOW TO BEND THE CURVE CONT’D</vt:lpstr>
      <vt:lpstr>HOW TO BEND THE CURVE CONT’D</vt:lpstr>
      <vt:lpstr>HOW TO BEND THE CURVE CONT’D</vt:lpstr>
      <vt:lpstr>CHALLENGES</vt:lpstr>
      <vt:lpstr>CONCLUSION</vt:lpstr>
      <vt:lpstr>REFERENCES</vt:lpstr>
      <vt:lpstr>                                              19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BENDING THE CURVE OF BIODIVERSITY DECLINE</dc:title>
  <dc:creator>Catherine Quarcoo</dc:creator>
  <cp:lastModifiedBy>Catherine Quarcoo</cp:lastModifiedBy>
  <cp:revision>67</cp:revision>
  <dcterms:created xsi:type="dcterms:W3CDTF">2023-07-25T14:41:23Z</dcterms:created>
  <dcterms:modified xsi:type="dcterms:W3CDTF">2023-07-26T12:31:40Z</dcterms:modified>
</cp:coreProperties>
</file>