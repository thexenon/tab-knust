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8" r:id="rId6"/>
    <p:sldId id="276" r:id="rId7"/>
    <p:sldId id="269" r:id="rId8"/>
    <p:sldId id="264" r:id="rId9"/>
    <p:sldId id="270" r:id="rId10"/>
    <p:sldId id="271" r:id="rId11"/>
    <p:sldId id="277" r:id="rId12"/>
    <p:sldId id="265" r:id="rId13"/>
    <p:sldId id="266" r:id="rId14"/>
    <p:sldId id="274" r:id="rId15"/>
    <p:sldId id="275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mima Turkson" initials="JT" lastIdx="1" clrIdx="0">
    <p:extLst>
      <p:ext uri="{19B8F6BF-5375-455C-9EA6-DF929625EA0E}">
        <p15:presenceInfo xmlns:p15="http://schemas.microsoft.com/office/powerpoint/2012/main" userId="7ad9f4304fed1b2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65" autoAdjust="0"/>
    <p:restoredTop sz="94660"/>
  </p:normalViewPr>
  <p:slideViewPr>
    <p:cSldViewPr snapToGrid="0">
      <p:cViewPr varScale="1">
        <p:scale>
          <a:sx n="78" d="100"/>
          <a:sy n="78" d="100"/>
        </p:scale>
        <p:origin x="4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7D24C-43EB-4492-91E5-34B1949487AC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63258-A05A-4659-9123-A464339AC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773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B60E-9016-4F48-A3A4-C5357C61EA88}" type="datetime1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0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69F3-7020-48C6-9EDF-5E23D671B7A5}" type="datetime1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25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630F5-BF32-4D25-A885-2DA61120A770}" type="datetime1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1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E9D9-F25D-4545-BBFE-ABB26F707E68}" type="datetime1">
              <a:rPr lang="en-US" smtClean="0"/>
              <a:t>7/23/2023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09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1153-95CA-41C6-A3BC-9798E71E29BF}" type="datetime1">
              <a:rPr lang="en-US" smtClean="0"/>
              <a:t>7/23/2023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15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0D11-60B0-43BE-BA67-2F8DF5AA9101}" type="datetime1">
              <a:rPr lang="en-US" smtClean="0"/>
              <a:t>7/23/2023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3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1F87-28C7-4DBD-B898-1A5E72E05DF0}" type="datetime1">
              <a:rPr lang="en-US" smtClean="0"/>
              <a:t>7/23/2023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11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5551E-D5E0-4558-9DD3-2DBD041784BB}" type="datetime1">
              <a:rPr lang="en-US" smtClean="0"/>
              <a:t>7/23/2023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11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863F0-F36B-4D4E-B553-0E97EEFAA206}" type="datetime1">
              <a:rPr lang="en-US" smtClean="0"/>
              <a:t>7/23/2023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89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C746A-ACDF-4541-9E32-10ECF41781FC}" type="datetime1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8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4DCC9-1F35-471D-BA36-CB0F25BAF624}" type="datetime1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85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68AB3-7D84-4A16-8B4F-7D77BBF964DC}" type="datetime1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7D134-7F8B-4BEC-BA3D-4813E18FA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8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6BADA-7606-4EBE-262E-2558175186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OF URBANIZATION ON BIODIVERSITY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F90560-4F6C-E8D4-760C-33C767436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6518"/>
            <a:ext cx="9144000" cy="1291281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84169-3B45-77F7-AC43-A1E49C5C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z="1800" smtClean="0">
                <a:solidFill>
                  <a:schemeClr val="bg1"/>
                </a:solidFill>
              </a:rPr>
              <a:t>1</a:t>
            </a:fld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36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BD22B-520E-A5DB-F4A5-80D7B748C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27DF9-1513-2381-D4EA-478EE11CC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881"/>
            <a:ext cx="10515600" cy="4657082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URBANIZATION AND ITS DRIVERS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BIODIVERSITY AND ITS IMPORTANCE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IMPACTS OF URBANIZATION ON BIODIVERSITY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 AND CONSERVATION STRATEGIES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A9FBF-E484-F122-686C-E2DC87D9D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z="1800" smtClean="0"/>
              <a:t>2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73664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2C1A7-B113-B91A-B19A-0699A94B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URBANIZATION AND ITS DRIVERS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C0E1A-4506-4FA2-B131-951E90D17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Urbanization is the process by which an increasing proportion of a population live in cities and towns leading to the growth of urban areas.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 of urbanization: population growth, industrialization, rural-to-urban migration.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urbanization may lead to loss of biodiversity specifically beta diversity.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2BF05-AB0C-5B19-370B-720201D1B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z="1800" smtClean="0"/>
              <a:t>3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75479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B4B35-CC09-A769-4AF3-6455C3807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69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BIODIVERSITY AND ITS IMPORTANCE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2BE0D-054E-BFC6-2A6D-6D3C9CC44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Biodiversity encompasses the variety of life on earth, including genes, species and ecosystems.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Levels of biodiversity: species diversity, genetic diversity and ecosystem/habitat diversity.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 provides essential ecosystem services including pollination, nutrient cycling and climate regulation.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B8345-476C-D484-7B0F-979484A7B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z="1800" smtClean="0"/>
              <a:t>4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20307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9870C-9C73-63BB-C987-8417E2D99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809" y="39590"/>
            <a:ext cx="10062991" cy="1265819"/>
          </a:xfrm>
        </p:spPr>
        <p:txBody>
          <a:bodyPr>
            <a:noAutofit/>
          </a:bodyPr>
          <a:lstStyle/>
          <a:p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IMPACTS OF URBANIZATION ON BIODIVERSITY</a:t>
            </a:r>
            <a:endParaRPr lang="en-US" sz="31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B30BA-3321-0F5C-BF43-519D6DFCE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1528" y="1921687"/>
            <a:ext cx="5740400" cy="3852220"/>
          </a:xfrm>
        </p:spPr>
        <p:txBody>
          <a:bodyPr>
            <a:normAutofit fontScale="25000" lnSpcReduction="20000"/>
          </a:bodyPr>
          <a:lstStyle/>
          <a:p>
            <a:endParaRPr lang="en-US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Habitat loss and fragmentation</a:t>
            </a:r>
          </a:p>
          <a:p>
            <a:pPr marL="0" indent="0">
              <a:buNone/>
            </a:pPr>
            <a:endParaRPr lang="en-US" sz="10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Urbanization and habitat destruction</a:t>
            </a:r>
          </a:p>
          <a:p>
            <a:pPr marL="0" indent="0">
              <a:buNone/>
            </a:pP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effects: the division of habitats into smaller patches can lead to reduced genetic diversity and increased vulnerability. </a:t>
            </a:r>
          </a:p>
          <a:p>
            <a:pPr marL="0" indent="0">
              <a:buNone/>
            </a:pPr>
            <a:endParaRPr lang="en-US" sz="6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6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B1223D35-DFCF-6D80-F064-762EACF7DDD3}"/>
              </a:ext>
            </a:extLst>
          </p:cNvPr>
          <p:cNvSpPr txBox="1">
            <a:spLocks/>
          </p:cNvSpPr>
          <p:nvPr/>
        </p:nvSpPr>
        <p:spPr>
          <a:xfrm>
            <a:off x="5893488" y="942202"/>
            <a:ext cx="6264876" cy="4973596"/>
          </a:xfrm>
          <a:prstGeom prst="rect">
            <a:avLst/>
          </a:prstGeom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FC3B9F-3B6A-958D-4CBC-CB5B52DF1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141" y="1921687"/>
            <a:ext cx="3991232" cy="37491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E9A602B-1BA2-AE5D-55C6-D884E6D5EDC7}"/>
              </a:ext>
            </a:extLst>
          </p:cNvPr>
          <p:cNvSpPr txBox="1"/>
          <p:nvPr/>
        </p:nvSpPr>
        <p:spPr>
          <a:xfrm>
            <a:off x="7737048" y="5817725"/>
            <a:ext cx="2857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Fig.1 Habitat Fragmentation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9C35D8-DC54-DD1A-56C8-0332001AE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z="1800" smtClean="0"/>
              <a:t>5</a:t>
            </a:fld>
            <a:endParaRPr lang="en-US" sz="1800" dirty="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4302E37E-5855-0115-45B4-18EA12AF58B7}"/>
              </a:ext>
            </a:extLst>
          </p:cNvPr>
          <p:cNvSpPr txBox="1">
            <a:spLocks/>
          </p:cNvSpPr>
          <p:nvPr/>
        </p:nvSpPr>
        <p:spPr>
          <a:xfrm>
            <a:off x="6322304" y="3696290"/>
            <a:ext cx="5036932" cy="4830891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1841807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55D3-FD22-7E25-F2ED-AB13D6541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698" y="0"/>
            <a:ext cx="7930725" cy="1186249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IMPACTS CONT’D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321C47-DBB5-F00C-67F0-9B054D9E8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8941" y="2057400"/>
            <a:ext cx="6391923" cy="3811588"/>
          </a:xfrm>
        </p:spPr>
        <p:txBody>
          <a:bodyPr>
            <a:normAutofit fontScale="62500" lnSpcReduction="20000"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Pollution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pollution, water pollution, light pollution etc.</a:t>
            </a:r>
          </a:p>
          <a:p>
            <a:pPr marL="0" indent="0"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biodiversity: disruption of food chains, degrade ecosystems, harm to wildlife health. 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 efforts: efforts to reduce pollination and create sustainable urban environments.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E910F-E2F6-EC75-9915-D156C1D17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Placeholder 6">
            <a:extLst>
              <a:ext uri="{FF2B5EF4-FFF2-40B4-BE49-F238E27FC236}">
                <a16:creationId xmlns:a16="http://schemas.microsoft.com/office/drawing/2014/main" id="{1F2720D4-EBD5-D15E-4CAE-B951EEDF087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50" r="28550"/>
          <a:stretch>
            <a:fillRect/>
          </a:stretch>
        </p:blipFill>
        <p:spPr>
          <a:xfrm>
            <a:off x="6800850" y="1962965"/>
            <a:ext cx="4552950" cy="353579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268B56-F589-D0A8-2045-4842AC6A6ED4}"/>
              </a:ext>
            </a:extLst>
          </p:cNvPr>
          <p:cNvSpPr txBox="1"/>
          <p:nvPr/>
        </p:nvSpPr>
        <p:spPr>
          <a:xfrm>
            <a:off x="8362325" y="5684322"/>
            <a:ext cx="1619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Fig. 2 Pollution</a:t>
            </a:r>
          </a:p>
        </p:txBody>
      </p:sp>
    </p:spTree>
    <p:extLst>
      <p:ext uri="{BB962C8B-B14F-4D97-AF65-F5344CB8AC3E}">
        <p14:creationId xmlns:p14="http://schemas.microsoft.com/office/powerpoint/2010/main" val="3931986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5B03-3D97-F95E-FC26-D36871069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605" y="104990"/>
            <a:ext cx="6350720" cy="62129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IMPACTS CONT’D</a:t>
            </a:r>
            <a:endParaRPr lang="en-US" b="1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DC44C89A-80D6-B792-D836-224547D543D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9" r="14539"/>
          <a:stretch>
            <a:fillRect/>
          </a:stretch>
        </p:blipFill>
        <p:spPr>
          <a:xfrm>
            <a:off x="7302843" y="1645432"/>
            <a:ext cx="4567881" cy="386715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26386-F943-51C6-49F9-5DB3D6E62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773" y="1036925"/>
            <a:ext cx="6782735" cy="5405440"/>
          </a:xfrm>
        </p:spPr>
        <p:txBody>
          <a:bodyPr>
            <a:norm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Invasive species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areas serve as gateways for the introduction and dispersal of invasive species.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effects: disruptions of ecosystems, alteration of natural processes, etc.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Management: implementing strategies to control invasive species and prevent their spread in urban environments.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3C9304-58A7-5FD4-D1DA-55183E3DD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z="1800" smtClean="0"/>
              <a:t>7</a:t>
            </a:fld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8E62BD-7151-F019-D167-D020F416EF98}"/>
              </a:ext>
            </a:extLst>
          </p:cNvPr>
          <p:cNvSpPr txBox="1"/>
          <p:nvPr/>
        </p:nvSpPr>
        <p:spPr>
          <a:xfrm>
            <a:off x="7982465" y="5565134"/>
            <a:ext cx="2743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Fig. 3 an invasive specie</a:t>
            </a:r>
          </a:p>
        </p:txBody>
      </p:sp>
    </p:spTree>
    <p:extLst>
      <p:ext uri="{BB962C8B-B14F-4D97-AF65-F5344CB8AC3E}">
        <p14:creationId xmlns:p14="http://schemas.microsoft.com/office/powerpoint/2010/main" val="2436307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7D5D0-4EA5-BABD-0DE1-39E29F93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IMPACTS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06157-FBA0-D5AC-DEF6-D584747A1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Altered ecological processes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Disruption of natural processes.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Effects: altered ecological processes can impact species abundance, distribution and interactions. 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 efforts: initiatives to restore natural processes in urban settings.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30658-E71F-1F09-5C6D-C647D0536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z="1800" smtClean="0"/>
              <a:t>8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51857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A4010-4E8B-A947-BABD-19D14DC1A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93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Kolkata: Urbanization and Impact on Ecological Systems</a:t>
            </a: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E4756FDD-027D-F986-D556-4A3ADD3A20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476" y="1688500"/>
            <a:ext cx="5488848" cy="4156246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F1C57E-0D35-46C1-D135-531B1F2E0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z="1800" smtClean="0"/>
              <a:t>9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366192-A054-50CD-6527-28E9750AB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76" y="1671552"/>
            <a:ext cx="5391276" cy="52807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64AF3C-1D99-82AC-0D43-69525DEAC883}"/>
              </a:ext>
            </a:extLst>
          </p:cNvPr>
          <p:cNvSpPr txBox="1"/>
          <p:nvPr/>
        </p:nvSpPr>
        <p:spPr>
          <a:xfrm>
            <a:off x="7262685" y="5987018"/>
            <a:ext cx="240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Fig. 3b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F83E1B-68E3-58CC-54EA-A92BA04FF734}"/>
              </a:ext>
            </a:extLst>
          </p:cNvPr>
          <p:cNvSpPr txBox="1"/>
          <p:nvPr/>
        </p:nvSpPr>
        <p:spPr>
          <a:xfrm rot="16200000">
            <a:off x="-620756" y="3907801"/>
            <a:ext cx="1819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Fig. 3a</a:t>
            </a:r>
          </a:p>
        </p:txBody>
      </p:sp>
    </p:spTree>
    <p:extLst>
      <p:ext uri="{BB962C8B-B14F-4D97-AF65-F5344CB8AC3E}">
        <p14:creationId xmlns:p14="http://schemas.microsoft.com/office/powerpoint/2010/main" val="3303963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52D7A-A6C6-1B4A-7C91-9C5B10044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747"/>
            <a:ext cx="10515600" cy="1325563"/>
          </a:xfrm>
        </p:spPr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CONT’D</a:t>
            </a:r>
            <a:endParaRPr lang="en-US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275D04FD-A155-B651-D70B-0A33950A3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40" y="1857374"/>
            <a:ext cx="5878976" cy="4351338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0FBAF7-10FF-FC98-142D-043C822F4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z="1800" smtClean="0"/>
              <a:t>10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7FF4DE-E246-3B0F-4D97-14B09E652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697" y="1390047"/>
            <a:ext cx="5275385" cy="49663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34FAC9-9D2D-002D-5271-A461D59A1399}"/>
              </a:ext>
            </a:extLst>
          </p:cNvPr>
          <p:cNvSpPr txBox="1"/>
          <p:nvPr/>
        </p:nvSpPr>
        <p:spPr>
          <a:xfrm>
            <a:off x="2357051" y="6356349"/>
            <a:ext cx="1807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Fig. 3c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A2B3A3-912F-0746-2C54-262FCF7266DF}"/>
              </a:ext>
            </a:extLst>
          </p:cNvPr>
          <p:cNvSpPr txBox="1"/>
          <p:nvPr/>
        </p:nvSpPr>
        <p:spPr>
          <a:xfrm>
            <a:off x="8411862" y="6352143"/>
            <a:ext cx="991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Fig. 3d</a:t>
            </a:r>
          </a:p>
        </p:txBody>
      </p:sp>
    </p:spTree>
    <p:extLst>
      <p:ext uri="{BB962C8B-B14F-4D97-AF65-F5344CB8AC3E}">
        <p14:creationId xmlns:p14="http://schemas.microsoft.com/office/powerpoint/2010/main" val="449571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623F1-0144-1AAF-83B0-77521DA3B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622" y="-92075"/>
            <a:ext cx="10515600" cy="1226409"/>
          </a:xfrm>
        </p:spPr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CONT’D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49A47B-639D-D71E-EBBF-C702936C2D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167" y="886510"/>
            <a:ext cx="7115433" cy="546983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8341A-B9C4-0F3E-C2C8-5868DF7E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z="1800" smtClean="0"/>
              <a:t>11</a:t>
            </a:fld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160FAB-CA49-98B1-62DC-5F99C7C7AE6F}"/>
              </a:ext>
            </a:extLst>
          </p:cNvPr>
          <p:cNvSpPr txBox="1"/>
          <p:nvPr/>
        </p:nvSpPr>
        <p:spPr>
          <a:xfrm rot="16200000">
            <a:off x="8182063" y="3838852"/>
            <a:ext cx="1226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Fig. 3e</a:t>
            </a:r>
          </a:p>
        </p:txBody>
      </p:sp>
    </p:spTree>
    <p:extLst>
      <p:ext uri="{BB962C8B-B14F-4D97-AF65-F5344CB8AC3E}">
        <p14:creationId xmlns:p14="http://schemas.microsoft.com/office/powerpoint/2010/main" val="1603631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2C82-224B-41A8-5189-693A2037C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124" y="41455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 AND CONSERVATION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EAFF8-F0DA-1307-BD8C-978EBF633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20777"/>
            <a:ext cx="10515600" cy="365618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awareness and education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planning for biodiversity conservation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 of urban green spaces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Wildlife corridors and connectivity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engagement and citizen science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8C470-366A-D755-CF76-01CF594F8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z="1800" smtClean="0"/>
              <a:t>12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69948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72231-A137-6D2F-48C8-B0662E9FD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B53BE-E181-612A-3E54-D0A02916A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Urbanization impacts biodiversity through habitat loss, pollution, invasive species, and altered ecological processes.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must take action to protect biodiversity in urban areas for the well being of both wildlife and humans.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 we can build sustainable and biodiverse cities for a healthier planet.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750BD-E4F9-FE7B-B077-07234FE87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z="1800" smtClean="0"/>
              <a:t>13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76139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F6BD-789F-A300-A48C-33D2A025E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768" y="-920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12D03-E9B8-40F9-7156-FF261BA53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768" y="1051032"/>
            <a:ext cx="10515600" cy="4755936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 Nations. (2018). World Urbanization Prospects: The 2018 Revision. Department of Economic and Social Affairs, Population Division. New York.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Secretariat of the Convention on Biological Diversity. (2010). Global Biodiversity Outlook 3. Montreal, Canada.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Grimm, N. B., Foster, D.,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Groffman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P., et al. (2008). The Changing Landscape: Ecosystem Responses to Urbanization and Pollution across Climatic and Societal Gradients. Frontiers in Ecology and the Environment, 6(5), 264-272.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McKinney, M. L. (2008). Effects of Urbanization on Species Richness: A Review of Plants and Animals. Urban Ecosystems, 11(2), 161-176.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Theobald, D. M. (2005). Landscape Patterns of Exurban Growth in the USA from 1980 to 2020. Ecology and Society, 10(1), 32.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McKinney, M. L., &amp; Lockwood, J. L. (1999). Biotic Homogenization: A Few Winners Replacing Many Losers in the Next Mass Extinction. Trends in Ecology &amp; Evolution, 14(11), 450-453.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4BCC7-A843-8B3F-FB83-9190682F7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z="1800" smtClean="0"/>
              <a:t>14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37867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801D8-A717-36DF-36D7-60DEA307A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346" y="37748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142AC-C501-71DA-E9F6-EA4C5510C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ADJEI CHRISTIAN – 9194919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OWUSU VICENTIA DARKWAAH - 9217019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ASIEDU PRECIOUS – 9202819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ADDO VERA – 9194619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ASARE BAFFOUR DERRICK – 9202319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ANNAN SAMUEL – 9200219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PEARL GYENING – 9208919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ANSAH YVETTE AFARIBEA AFIA – 9200719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KLAY SELASIE FRANKLYN - 9210719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B76E7-8EA3-8934-1D90-A58723353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z="1800" smtClean="0"/>
              <a:t>15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63983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621CF-366D-E079-4F4A-FF3F95DFA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latin typeface="Algerian" panose="04020705040A02060702" pitchFamily="82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E5DFF1-F6CA-537D-2143-795017EDA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D134-7F8B-4BEC-BA3D-4813E18FAE9B}" type="slidenum">
              <a:rPr lang="en-US" sz="1800" smtClean="0"/>
              <a:t>16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95649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446</TotalTime>
  <Words>683</Words>
  <Application>Microsoft Office PowerPoint</Application>
  <PresentationFormat>Widescreen</PresentationFormat>
  <Paragraphs>100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Algerian</vt:lpstr>
      <vt:lpstr>Arial</vt:lpstr>
      <vt:lpstr>Calibri</vt:lpstr>
      <vt:lpstr>Calibri Light</vt:lpstr>
      <vt:lpstr>Times New Roman</vt:lpstr>
      <vt:lpstr>Office Theme</vt:lpstr>
      <vt:lpstr>IMPACT OF URBANIZATION ON BIODIVERSITY</vt:lpstr>
      <vt:lpstr>OUTLINE</vt:lpstr>
      <vt:lpstr>URBANIZATION AND ITS DRIVERS</vt:lpstr>
      <vt:lpstr>BIODIVERSITY AND ITS IMPORTANCE </vt:lpstr>
      <vt:lpstr>NEGATIVE IMPACTS OF URBANIZATION ON BIODIVERSITY</vt:lpstr>
      <vt:lpstr>NEGATIVE IMPACTS CONT’D</vt:lpstr>
      <vt:lpstr>NEGATIVE IMPACTS CONT’D</vt:lpstr>
      <vt:lpstr>NEGATIVE IMPACTS CONT’D</vt:lpstr>
      <vt:lpstr>CASE STUDY: Kolkata: Urbanization and Impact on Ecological Systems</vt:lpstr>
      <vt:lpstr>CASE STUDY CONT’D</vt:lpstr>
      <vt:lpstr>CASE STUDY CONT’D</vt:lpstr>
      <vt:lpstr>MITIGATION AND CONSERVATION STRATEGIES</vt:lpstr>
      <vt:lpstr>CONCLUSION</vt:lpstr>
      <vt:lpstr>REFERENCES</vt:lpstr>
      <vt:lpstr>GROUP MEMBERS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URBANIZATION ON BIODIVERSITY</dc:title>
  <dc:creator>Jemima Turkson</dc:creator>
  <cp:lastModifiedBy>Jemima Turkson</cp:lastModifiedBy>
  <cp:revision>6</cp:revision>
  <dcterms:created xsi:type="dcterms:W3CDTF">2023-07-23T11:13:19Z</dcterms:created>
  <dcterms:modified xsi:type="dcterms:W3CDTF">2023-07-23T20:18:32Z</dcterms:modified>
</cp:coreProperties>
</file>