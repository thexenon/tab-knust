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8" r:id="rId8"/>
    <p:sldId id="267" r:id="rId9"/>
    <p:sldId id="269" r:id="rId10"/>
    <p:sldId id="262" r:id="rId11"/>
    <p:sldId id="263" r:id="rId12"/>
    <p:sldId id="264" r:id="rId13"/>
    <p:sldId id="265" r:id="rId14"/>
    <p:sldId id="266"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8C571B6-B7BC-4E24-B615-637233C9080A}">
          <p14:sldIdLst>
            <p14:sldId id="256"/>
            <p14:sldId id="257"/>
            <p14:sldId id="258"/>
          </p14:sldIdLst>
        </p14:section>
        <p14:section name="Untitled Section" id="{44A625FA-391F-4F9F-A22D-7FC70B9A44C3}">
          <p14:sldIdLst>
            <p14:sldId id="259"/>
            <p14:sldId id="260"/>
            <p14:sldId id="261"/>
            <p14:sldId id="268"/>
            <p14:sldId id="267"/>
            <p14:sldId id="269"/>
            <p14:sldId id="262"/>
            <p14:sldId id="263"/>
            <p14:sldId id="264"/>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4" d="100"/>
          <a:sy n="74" d="100"/>
        </p:scale>
        <p:origin x="174"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08102A-43B9-4A71-A31A-503ABFABF417}" type="datetimeFigureOut">
              <a:rPr lang="en-US" smtClean="0"/>
              <a:t>7/12/2023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EC4296-1549-42E6-B740-1E0408E8C53D}" type="slidenum">
              <a:rPr lang="en-US" smtClean="0"/>
              <a:t>‹#›</a:t>
            </a:fld>
            <a:endParaRPr lang="en-US"/>
          </a:p>
        </p:txBody>
      </p:sp>
    </p:spTree>
    <p:extLst>
      <p:ext uri="{BB962C8B-B14F-4D97-AF65-F5344CB8AC3E}">
        <p14:creationId xmlns:p14="http://schemas.microsoft.com/office/powerpoint/2010/main" val="32759971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1B03586D-D566-4F6D-9FF9-A1ADBE9149FA}" type="datetime1">
              <a:rPr lang="en-US" smtClean="0"/>
              <a:t>7/12/2023</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65FC7F7-77F3-400C-9F58-0C7A52C0B3DE}" type="datetime1">
              <a:rPr lang="en-US" smtClean="0"/>
              <a:t>7/12/2023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FD6E2675-5A5E-460B-9BA2-3854C34C394E}" type="datetime1">
              <a:rPr lang="en-US" smtClean="0"/>
              <a:t>7/12/2023</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F2287F7-B4FB-4486-909E-377B7569F42E}" type="datetime1">
              <a:rPr lang="en-US" smtClean="0"/>
              <a:t>7/12/2023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4BC58EA-5158-45FC-AC70-B05268028948}" type="datetime1">
              <a:rPr lang="en-US" smtClean="0"/>
              <a:t>7/12/2023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BF08B98-D087-401F-9346-3A24C089954D}" type="datetime1">
              <a:rPr lang="en-US" smtClean="0"/>
              <a:t>7/12/2023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7C875DD-5DD1-49FA-8488-01BF6BAAA82D}" type="datetime1">
              <a:rPr lang="en-US" smtClean="0"/>
              <a:t>7/12/2023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9589A9F4-69F9-4DE6-90EB-3CABD82B5308}" type="datetime1">
              <a:rPr lang="en-US" smtClean="0"/>
              <a:t>7/12/2023</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7EB88489-1E8B-4833-8B7F-2283E4AE56FD}" type="datetime1">
              <a:rPr lang="en-US" smtClean="0"/>
              <a:t>7/12/2023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EDECD0B-32D0-44A1-BB91-2378FEAFADC2}" type="datetime1">
              <a:rPr lang="en-US" smtClean="0"/>
              <a:t>7/12/2023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22F88036-A4BE-442C-B649-906175930866}" type="datetime1">
              <a:rPr lang="en-US" smtClean="0"/>
              <a:t>7/12/2023</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5D473E1C-0CC5-449E-A1CE-3F3AB1CAF211}" type="datetime1">
              <a:rPr lang="en-US" smtClean="0"/>
              <a:t>7/12/2023</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dirty="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7B7ED-E423-4B6B-B796-178E68F3AAF5}"/>
              </a:ext>
            </a:extLst>
          </p:cNvPr>
          <p:cNvSpPr>
            <a:spLocks noGrp="1"/>
          </p:cNvSpPr>
          <p:nvPr>
            <p:ph type="ctrTitle"/>
          </p:nvPr>
        </p:nvSpPr>
        <p:spPr/>
        <p:txBody>
          <a:bodyPr>
            <a:normAutofit fontScale="90000"/>
          </a:bodyPr>
          <a:lstStyle/>
          <a:p>
            <a:r>
              <a:rPr lang="en-US" sz="6000" b="1" dirty="0">
                <a:latin typeface="Times New Roman" panose="02020603050405020304" pitchFamily="18" charset="0"/>
                <a:cs typeface="Times New Roman" panose="02020603050405020304" pitchFamily="18" charset="0"/>
              </a:rPr>
              <a:t>THE SIXTH MASS EXTINCTION</a:t>
            </a:r>
          </a:p>
        </p:txBody>
      </p:sp>
      <p:sp>
        <p:nvSpPr>
          <p:cNvPr id="3" name="Subtitle 2">
            <a:extLst>
              <a:ext uri="{FF2B5EF4-FFF2-40B4-BE49-F238E27FC236}">
                <a16:creationId xmlns:a16="http://schemas.microsoft.com/office/drawing/2014/main" id="{6A58BB34-3350-4B33-91B6-C97904959979}"/>
              </a:ext>
            </a:extLst>
          </p:cNvPr>
          <p:cNvSpPr>
            <a:spLocks noGrp="1"/>
          </p:cNvSpPr>
          <p:nvPr>
            <p:ph type="subTitle" idx="1"/>
          </p:nvPr>
        </p:nvSpPr>
        <p:spPr>
          <a:xfrm>
            <a:off x="581194" y="2707480"/>
            <a:ext cx="10993546" cy="590321"/>
          </a:xfrm>
        </p:spPr>
        <p:txBody>
          <a:bodyPr>
            <a:normAutofit fontScale="25000" lnSpcReduction="20000"/>
          </a:bodyPr>
          <a:lstStyle/>
          <a:p>
            <a:pPr algn="ctr"/>
            <a:r>
              <a:rPr lang="en-US" sz="8000" dirty="0"/>
              <a:t>BIODIVERSITY CONSERVATION AND UTILIZATION</a:t>
            </a:r>
          </a:p>
          <a:p>
            <a:pPr algn="ctr"/>
            <a:r>
              <a:rPr lang="en-US" sz="66400" dirty="0">
                <a:solidFill>
                  <a:schemeClr val="bg1"/>
                </a:solidFill>
              </a:rPr>
              <a:t>GROUP 4</a:t>
            </a:r>
          </a:p>
          <a:p>
            <a:endParaRPr lang="en-US" dirty="0"/>
          </a:p>
        </p:txBody>
      </p:sp>
      <p:sp>
        <p:nvSpPr>
          <p:cNvPr id="5" name="Slide Number Placeholder 4">
            <a:extLst>
              <a:ext uri="{FF2B5EF4-FFF2-40B4-BE49-F238E27FC236}">
                <a16:creationId xmlns:a16="http://schemas.microsoft.com/office/drawing/2014/main" id="{2C5ECA95-71B5-4294-9A41-EE0E9C5BE3C7}"/>
              </a:ext>
            </a:extLst>
          </p:cNvPr>
          <p:cNvSpPr>
            <a:spLocks noGrp="1"/>
          </p:cNvSpPr>
          <p:nvPr>
            <p:ph type="sldNum" sz="quarter" idx="12"/>
          </p:nvPr>
        </p:nvSpPr>
        <p:spPr/>
        <p:txBody>
          <a:bodyPr/>
          <a:lstStyle/>
          <a:p>
            <a:fld id="{D57F1E4F-1CFF-5643-939E-217C01CDF565}" type="slidenum">
              <a:rPr lang="en-US" smtClean="0"/>
              <a:pPr/>
              <a:t>1</a:t>
            </a:fld>
            <a:endParaRPr lang="en-US" dirty="0"/>
          </a:p>
        </p:txBody>
      </p:sp>
    </p:spTree>
    <p:extLst>
      <p:ext uri="{BB962C8B-B14F-4D97-AF65-F5344CB8AC3E}">
        <p14:creationId xmlns:p14="http://schemas.microsoft.com/office/powerpoint/2010/main" val="2462691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2AF27B-9A47-4913-983E-52D32A32E2E4}"/>
              </a:ext>
            </a:extLst>
          </p:cNvPr>
          <p:cNvSpPr>
            <a:spLocks noGrp="1"/>
          </p:cNvSpPr>
          <p:nvPr>
            <p:ph type="title"/>
          </p:nvPr>
        </p:nvSpPr>
        <p:spPr/>
        <p:txBody>
          <a:bodyPr/>
          <a:lstStyle/>
          <a:p>
            <a:r>
              <a:rPr lang="en-US" dirty="0"/>
              <a:t>OUTLINE</a:t>
            </a:r>
          </a:p>
        </p:txBody>
      </p:sp>
      <p:sp>
        <p:nvSpPr>
          <p:cNvPr id="3" name="Content Placeholder 2">
            <a:extLst>
              <a:ext uri="{FF2B5EF4-FFF2-40B4-BE49-F238E27FC236}">
                <a16:creationId xmlns:a16="http://schemas.microsoft.com/office/drawing/2014/main" id="{949125D7-7538-47B4-B8E9-EF534C5F4484}"/>
              </a:ext>
            </a:extLst>
          </p:cNvPr>
          <p:cNvSpPr>
            <a:spLocks noGrp="1"/>
          </p:cNvSpPr>
          <p:nvPr>
            <p:ph idx="1"/>
          </p:nvPr>
        </p:nvSpPr>
        <p:spPr>
          <a:xfrm>
            <a:off x="581193" y="2477541"/>
            <a:ext cx="11491537" cy="4380459"/>
          </a:xfrm>
        </p:spPr>
        <p:txBody>
          <a:bodyPr>
            <a:normAutofit/>
          </a:bodyPr>
          <a:lstStyle/>
          <a:p>
            <a:r>
              <a:rPr lang="en-US" sz="2800" dirty="0"/>
              <a:t>Introduction</a:t>
            </a:r>
          </a:p>
          <a:p>
            <a:r>
              <a:rPr lang="en-US" sz="2800" dirty="0"/>
              <a:t>Definition of mass extinction</a:t>
            </a:r>
          </a:p>
          <a:p>
            <a:r>
              <a:rPr lang="en-US" sz="2800" dirty="0"/>
              <a:t>Current mass extinction</a:t>
            </a:r>
          </a:p>
          <a:p>
            <a:r>
              <a:rPr lang="en-US" sz="2800" dirty="0"/>
              <a:t>Causes of mass extinction</a:t>
            </a:r>
          </a:p>
          <a:p>
            <a:r>
              <a:rPr lang="en-US" sz="2800" dirty="0"/>
              <a:t>Impacts of mass extinction</a:t>
            </a:r>
          </a:p>
          <a:p>
            <a:r>
              <a:rPr lang="en-US" sz="2800" dirty="0"/>
              <a:t>Biodiversity conservation efforts and strategies</a:t>
            </a:r>
          </a:p>
          <a:p>
            <a:r>
              <a:rPr lang="en-US" sz="2800" dirty="0"/>
              <a:t>Conclusion</a:t>
            </a:r>
          </a:p>
          <a:p>
            <a:endParaRPr lang="en-US" dirty="0"/>
          </a:p>
          <a:p>
            <a:endParaRPr lang="en-US" dirty="0"/>
          </a:p>
        </p:txBody>
      </p:sp>
      <p:sp>
        <p:nvSpPr>
          <p:cNvPr id="5" name="Slide Number Placeholder 4">
            <a:extLst>
              <a:ext uri="{FF2B5EF4-FFF2-40B4-BE49-F238E27FC236}">
                <a16:creationId xmlns:a16="http://schemas.microsoft.com/office/drawing/2014/main" id="{2BD024AF-2789-4516-93E7-06744813EF3C}"/>
              </a:ext>
            </a:extLst>
          </p:cNvPr>
          <p:cNvSpPr>
            <a:spLocks noGrp="1"/>
          </p:cNvSpPr>
          <p:nvPr>
            <p:ph type="sldNum" sz="quarter" idx="12"/>
          </p:nvPr>
        </p:nvSpPr>
        <p:spPr/>
        <p:txBody>
          <a:bodyPr/>
          <a:lstStyle/>
          <a:p>
            <a:fld id="{D57F1E4F-1CFF-5643-939E-217C01CDF565}" type="slidenum">
              <a:rPr lang="en-US" smtClean="0"/>
              <a:pPr/>
              <a:t>2</a:t>
            </a:fld>
            <a:endParaRPr lang="en-US" dirty="0"/>
          </a:p>
        </p:txBody>
      </p:sp>
    </p:spTree>
    <p:extLst>
      <p:ext uri="{BB962C8B-B14F-4D97-AF65-F5344CB8AC3E}">
        <p14:creationId xmlns:p14="http://schemas.microsoft.com/office/powerpoint/2010/main" val="1793155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91ED0A-FE8D-43C1-93FD-9E3380DFB305}"/>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E5E218B7-5A8D-4A80-B725-CE5CB4BAB76B}"/>
              </a:ext>
            </a:extLst>
          </p:cNvPr>
          <p:cNvSpPr>
            <a:spLocks noGrp="1"/>
          </p:cNvSpPr>
          <p:nvPr>
            <p:ph idx="1"/>
          </p:nvPr>
        </p:nvSpPr>
        <p:spPr>
          <a:xfrm>
            <a:off x="581192" y="2180496"/>
            <a:ext cx="11029616" cy="4677504"/>
          </a:xfrm>
        </p:spPr>
        <p:txBody>
          <a:bodyPr>
            <a:normAutofit/>
          </a:bodyPr>
          <a:lstStyle/>
          <a:p>
            <a:pPr marL="0" indent="0" algn="just">
              <a:buNone/>
            </a:pPr>
            <a:r>
              <a:rPr lang="en-GB" sz="3200" dirty="0"/>
              <a:t>Mass extinction refers to a significant and rapid loss of species occurring over a short period. It leads to a decline in biodiversity across various groups of organisms.</a:t>
            </a:r>
          </a:p>
          <a:p>
            <a:pPr marL="0" indent="0" algn="just">
              <a:buNone/>
            </a:pPr>
            <a:r>
              <a:rPr lang="en-GB" sz="3200" dirty="0"/>
              <a:t>The concept of the sixth mass extinction refers to an ongoing period of significant biodiversity loss on earth. It is often described as a current event characterized by a rapid decline in species populations and an elevated extinction rate compared to natural background extinction rate.</a:t>
            </a:r>
          </a:p>
        </p:txBody>
      </p:sp>
      <p:sp>
        <p:nvSpPr>
          <p:cNvPr id="5" name="Slide Number Placeholder 4">
            <a:extLst>
              <a:ext uri="{FF2B5EF4-FFF2-40B4-BE49-F238E27FC236}">
                <a16:creationId xmlns:a16="http://schemas.microsoft.com/office/drawing/2014/main" id="{20457A0A-ADB5-4AA7-BFB8-295102F157B3}"/>
              </a:ext>
            </a:extLst>
          </p:cNvPr>
          <p:cNvSpPr>
            <a:spLocks noGrp="1"/>
          </p:cNvSpPr>
          <p:nvPr>
            <p:ph type="sldNum" sz="quarter" idx="12"/>
          </p:nvPr>
        </p:nvSpPr>
        <p:spPr/>
        <p:txBody>
          <a:bodyPr/>
          <a:lstStyle/>
          <a:p>
            <a:fld id="{D57F1E4F-1CFF-5643-939E-217C01CDF565}" type="slidenum">
              <a:rPr lang="en-US" smtClean="0"/>
              <a:pPr/>
              <a:t>3</a:t>
            </a:fld>
            <a:endParaRPr lang="en-US" dirty="0"/>
          </a:p>
        </p:txBody>
      </p:sp>
    </p:spTree>
    <p:extLst>
      <p:ext uri="{BB962C8B-B14F-4D97-AF65-F5344CB8AC3E}">
        <p14:creationId xmlns:p14="http://schemas.microsoft.com/office/powerpoint/2010/main" val="9599568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9A3A31-25C2-4140-8B7A-AED95BB01B6A}"/>
              </a:ext>
            </a:extLst>
          </p:cNvPr>
          <p:cNvSpPr>
            <a:spLocks noGrp="1"/>
          </p:cNvSpPr>
          <p:nvPr>
            <p:ph type="title"/>
          </p:nvPr>
        </p:nvSpPr>
        <p:spPr/>
        <p:txBody>
          <a:bodyPr/>
          <a:lstStyle/>
          <a:p>
            <a:r>
              <a:rPr lang="en-US" dirty="0"/>
              <a:t>Previous mass extinction</a:t>
            </a:r>
          </a:p>
        </p:txBody>
      </p:sp>
      <p:sp>
        <p:nvSpPr>
          <p:cNvPr id="5" name="Slide Number Placeholder 4">
            <a:extLst>
              <a:ext uri="{FF2B5EF4-FFF2-40B4-BE49-F238E27FC236}">
                <a16:creationId xmlns:a16="http://schemas.microsoft.com/office/drawing/2014/main" id="{6EC578A6-1663-4027-8CA7-277C8B14F9BC}"/>
              </a:ext>
            </a:extLst>
          </p:cNvPr>
          <p:cNvSpPr>
            <a:spLocks noGrp="1"/>
          </p:cNvSpPr>
          <p:nvPr>
            <p:ph type="sldNum" sz="quarter" idx="12"/>
          </p:nvPr>
        </p:nvSpPr>
        <p:spPr>
          <a:xfrm>
            <a:off x="8538692" y="5203065"/>
            <a:ext cx="3653307" cy="1502535"/>
          </a:xfrm>
        </p:spPr>
        <p:txBody>
          <a:bodyPr/>
          <a:lstStyle/>
          <a:p>
            <a:fld id="{D57F1E4F-1CFF-5643-939E-217C01CDF565}" type="slidenum">
              <a:rPr lang="en-US" smtClean="0"/>
              <a:pPr/>
              <a:t>4</a:t>
            </a:fld>
            <a:endParaRPr lang="en-US" dirty="0"/>
          </a:p>
        </p:txBody>
      </p:sp>
      <p:pic>
        <p:nvPicPr>
          <p:cNvPr id="8" name="Content Placeholder 7" descr="Diagram of previous mass extinctions">
            <a:extLst>
              <a:ext uri="{FF2B5EF4-FFF2-40B4-BE49-F238E27FC236}">
                <a16:creationId xmlns:a16="http://schemas.microsoft.com/office/drawing/2014/main" id="{77CFC7ED-A7BC-431F-9D94-1633B3F16010}"/>
              </a:ext>
            </a:extLst>
          </p:cNvPr>
          <p:cNvPicPr>
            <a:picLocks noGrp="1" noChangeAspect="1"/>
          </p:cNvPicPr>
          <p:nvPr>
            <p:ph idx="1"/>
          </p:nvPr>
        </p:nvPicPr>
        <p:blipFill>
          <a:blip r:embed="rId2"/>
          <a:stretch>
            <a:fillRect/>
          </a:stretch>
        </p:blipFill>
        <p:spPr>
          <a:xfrm>
            <a:off x="2653048" y="1998060"/>
            <a:ext cx="6697013" cy="470754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1" name="TextBox 10">
            <a:extLst>
              <a:ext uri="{FF2B5EF4-FFF2-40B4-BE49-F238E27FC236}">
                <a16:creationId xmlns:a16="http://schemas.microsoft.com/office/drawing/2014/main" id="{09AD3FC0-9DD9-48AB-B3A9-8CC77304DD54}"/>
              </a:ext>
            </a:extLst>
          </p:cNvPr>
          <p:cNvSpPr txBox="1"/>
          <p:nvPr/>
        </p:nvSpPr>
        <p:spPr>
          <a:xfrm>
            <a:off x="9491729" y="5908341"/>
            <a:ext cx="1262130" cy="369332"/>
          </a:xfrm>
          <a:prstGeom prst="rect">
            <a:avLst/>
          </a:prstGeom>
          <a:noFill/>
        </p:spPr>
        <p:txBody>
          <a:bodyPr wrap="square" rtlCol="0">
            <a:spAutoFit/>
          </a:bodyPr>
          <a:lstStyle/>
          <a:p>
            <a:r>
              <a:rPr lang="en-US" dirty="0"/>
              <a:t>Fig a</a:t>
            </a:r>
          </a:p>
        </p:txBody>
      </p:sp>
    </p:spTree>
    <p:extLst>
      <p:ext uri="{BB962C8B-B14F-4D97-AF65-F5344CB8AC3E}">
        <p14:creationId xmlns:p14="http://schemas.microsoft.com/office/powerpoint/2010/main" val="27390164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BE5C8-8D16-410E-96EF-A1725EC3EBD4}"/>
              </a:ext>
            </a:extLst>
          </p:cNvPr>
          <p:cNvSpPr>
            <a:spLocks noGrp="1"/>
          </p:cNvSpPr>
          <p:nvPr>
            <p:ph type="title"/>
          </p:nvPr>
        </p:nvSpPr>
        <p:spPr/>
        <p:txBody>
          <a:bodyPr/>
          <a:lstStyle/>
          <a:p>
            <a:r>
              <a:rPr lang="en-US" dirty="0"/>
              <a:t>Distinguishing characteristics between previous extinctions and the current one.</a:t>
            </a:r>
          </a:p>
        </p:txBody>
      </p:sp>
      <p:sp>
        <p:nvSpPr>
          <p:cNvPr id="3" name="Content Placeholder 2">
            <a:extLst>
              <a:ext uri="{FF2B5EF4-FFF2-40B4-BE49-F238E27FC236}">
                <a16:creationId xmlns:a16="http://schemas.microsoft.com/office/drawing/2014/main" id="{ADAB2AFF-2E3B-4D47-B3A5-8D9D23BB756B}"/>
              </a:ext>
            </a:extLst>
          </p:cNvPr>
          <p:cNvSpPr>
            <a:spLocks noGrp="1"/>
          </p:cNvSpPr>
          <p:nvPr>
            <p:ph idx="1"/>
          </p:nvPr>
        </p:nvSpPr>
        <p:spPr>
          <a:xfrm>
            <a:off x="581192" y="2737087"/>
            <a:ext cx="11029615" cy="3678303"/>
          </a:xfrm>
        </p:spPr>
        <p:txBody>
          <a:bodyPr/>
          <a:lstStyle/>
          <a:p>
            <a:r>
              <a:rPr lang="en-US" sz="4000" dirty="0"/>
              <a:t>Rate of species loss.</a:t>
            </a:r>
          </a:p>
          <a:p>
            <a:r>
              <a:rPr lang="en-US" sz="4000" dirty="0"/>
              <a:t>The cause of the extinction.</a:t>
            </a:r>
          </a:p>
          <a:p>
            <a:r>
              <a:rPr lang="en-US" sz="4000" dirty="0"/>
              <a:t>Areas affected.</a:t>
            </a:r>
          </a:p>
          <a:p>
            <a:r>
              <a:rPr lang="en-US" sz="4000" dirty="0"/>
              <a:t>Predictability.</a:t>
            </a:r>
          </a:p>
          <a:p>
            <a:endParaRPr lang="en-US" dirty="0"/>
          </a:p>
          <a:p>
            <a:endParaRPr lang="en-US" dirty="0"/>
          </a:p>
        </p:txBody>
      </p:sp>
      <p:sp>
        <p:nvSpPr>
          <p:cNvPr id="5" name="Slide Number Placeholder 4">
            <a:extLst>
              <a:ext uri="{FF2B5EF4-FFF2-40B4-BE49-F238E27FC236}">
                <a16:creationId xmlns:a16="http://schemas.microsoft.com/office/drawing/2014/main" id="{1BC806BB-3FCC-44BF-A1CD-E6817A5F2A63}"/>
              </a:ext>
            </a:extLst>
          </p:cNvPr>
          <p:cNvSpPr>
            <a:spLocks noGrp="1"/>
          </p:cNvSpPr>
          <p:nvPr>
            <p:ph type="sldNum" sz="quarter" idx="12"/>
          </p:nvPr>
        </p:nvSpPr>
        <p:spPr/>
        <p:txBody>
          <a:bodyPr/>
          <a:lstStyle/>
          <a:p>
            <a:fld id="{D57F1E4F-1CFF-5643-939E-217C01CDF565}" type="slidenum">
              <a:rPr lang="en-US" smtClean="0"/>
              <a:pPr/>
              <a:t>5</a:t>
            </a:fld>
            <a:endParaRPr lang="en-US" dirty="0"/>
          </a:p>
        </p:txBody>
      </p:sp>
      <p:pic>
        <p:nvPicPr>
          <p:cNvPr id="6" name="Picture 5">
            <a:extLst>
              <a:ext uri="{FF2B5EF4-FFF2-40B4-BE49-F238E27FC236}">
                <a16:creationId xmlns:a16="http://schemas.microsoft.com/office/drawing/2014/main" id="{F6E75DB4-5093-4C52-AA5C-2356FCA00406}"/>
              </a:ext>
            </a:extLst>
          </p:cNvPr>
          <p:cNvPicPr>
            <a:picLocks noChangeAspect="1"/>
          </p:cNvPicPr>
          <p:nvPr/>
        </p:nvPicPr>
        <p:blipFill>
          <a:blip r:embed="rId2"/>
          <a:stretch>
            <a:fillRect/>
          </a:stretch>
        </p:blipFill>
        <p:spPr>
          <a:xfrm>
            <a:off x="6980349" y="2253802"/>
            <a:ext cx="5074276" cy="4340181"/>
          </a:xfrm>
          <a:prstGeom prst="rect">
            <a:avLst/>
          </a:prstGeom>
          <a:ln>
            <a:noFill/>
          </a:ln>
          <a:effectLst>
            <a:softEdge rad="112500"/>
          </a:effectLst>
        </p:spPr>
      </p:pic>
      <p:sp>
        <p:nvSpPr>
          <p:cNvPr id="7" name="TextBox 6">
            <a:extLst>
              <a:ext uri="{FF2B5EF4-FFF2-40B4-BE49-F238E27FC236}">
                <a16:creationId xmlns:a16="http://schemas.microsoft.com/office/drawing/2014/main" id="{77D32D6E-C83B-4E26-BE02-95D40F950FF4}"/>
              </a:ext>
            </a:extLst>
          </p:cNvPr>
          <p:cNvSpPr txBox="1"/>
          <p:nvPr/>
        </p:nvSpPr>
        <p:spPr>
          <a:xfrm>
            <a:off x="8757634" y="6415390"/>
            <a:ext cx="1004552" cy="369332"/>
          </a:xfrm>
          <a:prstGeom prst="rect">
            <a:avLst/>
          </a:prstGeom>
          <a:noFill/>
        </p:spPr>
        <p:txBody>
          <a:bodyPr wrap="square" rtlCol="0">
            <a:spAutoFit/>
          </a:bodyPr>
          <a:lstStyle/>
          <a:p>
            <a:r>
              <a:rPr lang="en-US" dirty="0"/>
              <a:t>Fig b</a:t>
            </a:r>
          </a:p>
        </p:txBody>
      </p:sp>
    </p:spTree>
    <p:extLst>
      <p:ext uri="{BB962C8B-B14F-4D97-AF65-F5344CB8AC3E}">
        <p14:creationId xmlns:p14="http://schemas.microsoft.com/office/powerpoint/2010/main" val="27216054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1C9AAC-0C56-473E-87F7-A67F0EDEC8D0}"/>
              </a:ext>
            </a:extLst>
          </p:cNvPr>
          <p:cNvSpPr>
            <a:spLocks noGrp="1"/>
          </p:cNvSpPr>
          <p:nvPr>
            <p:ph type="title"/>
          </p:nvPr>
        </p:nvSpPr>
        <p:spPr/>
        <p:txBody>
          <a:bodyPr/>
          <a:lstStyle/>
          <a:p>
            <a:r>
              <a:rPr lang="en-US" dirty="0"/>
              <a:t>Causes of SIXTH mass extinction</a:t>
            </a:r>
          </a:p>
        </p:txBody>
      </p:sp>
      <p:sp>
        <p:nvSpPr>
          <p:cNvPr id="3" name="Content Placeholder 2">
            <a:extLst>
              <a:ext uri="{FF2B5EF4-FFF2-40B4-BE49-F238E27FC236}">
                <a16:creationId xmlns:a16="http://schemas.microsoft.com/office/drawing/2014/main" id="{A473CCEC-D06C-470A-BED3-6743C10E7FDE}"/>
              </a:ext>
            </a:extLst>
          </p:cNvPr>
          <p:cNvSpPr>
            <a:spLocks noGrp="1"/>
          </p:cNvSpPr>
          <p:nvPr>
            <p:ph idx="1"/>
          </p:nvPr>
        </p:nvSpPr>
        <p:spPr>
          <a:xfrm>
            <a:off x="581192" y="2034861"/>
            <a:ext cx="11029616" cy="4977685"/>
          </a:xfrm>
        </p:spPr>
        <p:txBody>
          <a:bodyPr>
            <a:normAutofit/>
          </a:bodyPr>
          <a:lstStyle/>
          <a:p>
            <a:pPr algn="just"/>
            <a:r>
              <a:rPr lang="en-US" sz="3200" b="1" dirty="0"/>
              <a:t>Habitat loss and fragmentation</a:t>
            </a:r>
            <a:r>
              <a:rPr lang="en-US" sz="3200" dirty="0"/>
              <a:t>: </a:t>
            </a:r>
            <a:r>
              <a:rPr lang="en-GB" sz="3200" dirty="0"/>
              <a:t>Every year, around 18.7 million acres (7.6 million hectares) of forest are lost, equivalent to roughly 27 soccer fields per minute</a:t>
            </a:r>
            <a:endParaRPr lang="en-US" sz="3200" dirty="0"/>
          </a:p>
          <a:p>
            <a:pPr algn="just"/>
            <a:r>
              <a:rPr lang="en-US" sz="3200" b="1" dirty="0"/>
              <a:t>Climate change: </a:t>
            </a:r>
            <a:r>
              <a:rPr lang="en-GB" sz="3200" dirty="0"/>
              <a:t>It is projected that a temperature increase of 1.5 to 2 degrees Celsius could put 20-30% of species at risk of extinction</a:t>
            </a:r>
            <a:endParaRPr lang="en-US" sz="3200" dirty="0"/>
          </a:p>
          <a:p>
            <a:endParaRPr lang="en-US" dirty="0"/>
          </a:p>
        </p:txBody>
      </p:sp>
      <p:sp>
        <p:nvSpPr>
          <p:cNvPr id="5" name="Slide Number Placeholder 4">
            <a:extLst>
              <a:ext uri="{FF2B5EF4-FFF2-40B4-BE49-F238E27FC236}">
                <a16:creationId xmlns:a16="http://schemas.microsoft.com/office/drawing/2014/main" id="{EF233BC8-9008-40A0-BB1F-4F4EB4284DAC}"/>
              </a:ext>
            </a:extLst>
          </p:cNvPr>
          <p:cNvSpPr>
            <a:spLocks noGrp="1"/>
          </p:cNvSpPr>
          <p:nvPr>
            <p:ph type="sldNum" sz="quarter" idx="12"/>
          </p:nvPr>
        </p:nvSpPr>
        <p:spPr/>
        <p:txBody>
          <a:bodyPr/>
          <a:lstStyle/>
          <a:p>
            <a:fld id="{D57F1E4F-1CFF-5643-939E-217C01CDF565}" type="slidenum">
              <a:rPr lang="en-US" smtClean="0"/>
              <a:pPr/>
              <a:t>6</a:t>
            </a:fld>
            <a:endParaRPr lang="en-US" dirty="0"/>
          </a:p>
        </p:txBody>
      </p:sp>
    </p:spTree>
    <p:extLst>
      <p:ext uri="{BB962C8B-B14F-4D97-AF65-F5344CB8AC3E}">
        <p14:creationId xmlns:p14="http://schemas.microsoft.com/office/powerpoint/2010/main" val="674380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ADBF74-AF93-4997-B6A5-F9C6496C2506}"/>
              </a:ext>
            </a:extLst>
          </p:cNvPr>
          <p:cNvSpPr>
            <a:spLocks noGrp="1"/>
          </p:cNvSpPr>
          <p:nvPr>
            <p:ph type="title"/>
          </p:nvPr>
        </p:nvSpPr>
        <p:spPr>
          <a:xfrm>
            <a:off x="581192" y="582071"/>
            <a:ext cx="11029616" cy="1013800"/>
          </a:xfrm>
        </p:spPr>
        <p:txBody>
          <a:bodyPr/>
          <a:lstStyle/>
          <a:p>
            <a:r>
              <a:rPr lang="en-US" dirty="0"/>
              <a:t>Causes of SIXTH mass extinction</a:t>
            </a:r>
          </a:p>
        </p:txBody>
      </p:sp>
      <p:sp>
        <p:nvSpPr>
          <p:cNvPr id="3" name="Content Placeholder 2">
            <a:extLst>
              <a:ext uri="{FF2B5EF4-FFF2-40B4-BE49-F238E27FC236}">
                <a16:creationId xmlns:a16="http://schemas.microsoft.com/office/drawing/2014/main" id="{20369531-04D9-48C1-91AC-7B2324BB9BD2}"/>
              </a:ext>
            </a:extLst>
          </p:cNvPr>
          <p:cNvSpPr>
            <a:spLocks noGrp="1"/>
          </p:cNvSpPr>
          <p:nvPr>
            <p:ph idx="1"/>
          </p:nvPr>
        </p:nvSpPr>
        <p:spPr>
          <a:xfrm>
            <a:off x="426645" y="1416676"/>
            <a:ext cx="11029615" cy="6033752"/>
          </a:xfrm>
        </p:spPr>
        <p:txBody>
          <a:bodyPr/>
          <a:lstStyle/>
          <a:p>
            <a:pPr algn="just"/>
            <a:r>
              <a:rPr lang="en-US" sz="3200" b="1" dirty="0"/>
              <a:t>Pollution</a:t>
            </a:r>
            <a:r>
              <a:rPr lang="en-US" sz="3200" dirty="0"/>
              <a:t>: </a:t>
            </a:r>
            <a:r>
              <a:rPr lang="en-GB" sz="3200" dirty="0"/>
              <a:t>Each year, approximately 8 million metric tons of plastic end up in the oceans, endangering marine life and ecosystems.</a:t>
            </a:r>
            <a:endParaRPr lang="en-US" sz="3200" dirty="0"/>
          </a:p>
          <a:p>
            <a:pPr algn="just"/>
            <a:r>
              <a:rPr lang="en-US" sz="3200" b="1" dirty="0"/>
              <a:t>Overexploitation and illegal Wildlife Trade</a:t>
            </a:r>
            <a:r>
              <a:rPr lang="en-US" sz="3200" dirty="0"/>
              <a:t>: </a:t>
            </a:r>
            <a:r>
              <a:rPr lang="en-GB" sz="3200" dirty="0"/>
              <a:t>According to the WWF, global wildlife populations have declined by an average of 68% since 1970</a:t>
            </a:r>
            <a:endParaRPr lang="en-US" sz="3200" dirty="0"/>
          </a:p>
          <a:p>
            <a:endParaRPr lang="en-US" dirty="0"/>
          </a:p>
        </p:txBody>
      </p:sp>
      <p:sp>
        <p:nvSpPr>
          <p:cNvPr id="4" name="Slide Number Placeholder 3">
            <a:extLst>
              <a:ext uri="{FF2B5EF4-FFF2-40B4-BE49-F238E27FC236}">
                <a16:creationId xmlns:a16="http://schemas.microsoft.com/office/drawing/2014/main" id="{E7088231-F9A2-4C2D-819A-0D5C37301174}"/>
              </a:ext>
            </a:extLst>
          </p:cNvPr>
          <p:cNvSpPr>
            <a:spLocks noGrp="1"/>
          </p:cNvSpPr>
          <p:nvPr>
            <p:ph type="sldNum" sz="quarter" idx="12"/>
          </p:nvPr>
        </p:nvSpPr>
        <p:spPr/>
        <p:txBody>
          <a:bodyPr/>
          <a:lstStyle/>
          <a:p>
            <a:fld id="{D57F1E4F-1CFF-5643-939E-217C01CDF565}" type="slidenum">
              <a:rPr lang="en-US" smtClean="0"/>
              <a:pPr/>
              <a:t>7</a:t>
            </a:fld>
            <a:endParaRPr lang="en-US" dirty="0"/>
          </a:p>
        </p:txBody>
      </p:sp>
    </p:spTree>
    <p:extLst>
      <p:ext uri="{BB962C8B-B14F-4D97-AF65-F5344CB8AC3E}">
        <p14:creationId xmlns:p14="http://schemas.microsoft.com/office/powerpoint/2010/main" val="27145086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9575E9-0F88-43CA-A866-45905E9FF836}"/>
              </a:ext>
            </a:extLst>
          </p:cNvPr>
          <p:cNvSpPr>
            <a:spLocks noGrp="1"/>
          </p:cNvSpPr>
          <p:nvPr>
            <p:ph type="title"/>
          </p:nvPr>
        </p:nvSpPr>
        <p:spPr/>
        <p:txBody>
          <a:bodyPr/>
          <a:lstStyle/>
          <a:p>
            <a:r>
              <a:rPr lang="en-US" dirty="0"/>
              <a:t>Causes of SIXTH mass extinction</a:t>
            </a:r>
          </a:p>
        </p:txBody>
      </p:sp>
      <p:sp>
        <p:nvSpPr>
          <p:cNvPr id="3" name="Content Placeholder 2">
            <a:extLst>
              <a:ext uri="{FF2B5EF4-FFF2-40B4-BE49-F238E27FC236}">
                <a16:creationId xmlns:a16="http://schemas.microsoft.com/office/drawing/2014/main" id="{7B286D32-1A39-48A2-AA75-D7AF63FCBD4E}"/>
              </a:ext>
            </a:extLst>
          </p:cNvPr>
          <p:cNvSpPr>
            <a:spLocks noGrp="1"/>
          </p:cNvSpPr>
          <p:nvPr>
            <p:ph idx="1"/>
          </p:nvPr>
        </p:nvSpPr>
        <p:spPr>
          <a:xfrm>
            <a:off x="581192" y="2034863"/>
            <a:ext cx="11029616" cy="4823138"/>
          </a:xfrm>
        </p:spPr>
        <p:txBody>
          <a:bodyPr>
            <a:normAutofit/>
          </a:bodyPr>
          <a:lstStyle/>
          <a:p>
            <a:pPr algn="just"/>
            <a:r>
              <a:rPr lang="en-US" sz="3500" b="1" dirty="0"/>
              <a:t>Invasive species</a:t>
            </a:r>
            <a:r>
              <a:rPr lang="en-US" sz="3500" dirty="0"/>
              <a:t>: </a:t>
            </a:r>
            <a:r>
              <a:rPr lang="en-GB" sz="3500" dirty="0"/>
              <a:t>In the United States alone, invasive species are responsible for an estimated $120 billion in damages and control costs each year</a:t>
            </a:r>
            <a:endParaRPr lang="en-US" sz="3500" dirty="0"/>
          </a:p>
          <a:p>
            <a:endParaRPr lang="en-US" dirty="0"/>
          </a:p>
        </p:txBody>
      </p:sp>
      <p:sp>
        <p:nvSpPr>
          <p:cNvPr id="5" name="Slide Number Placeholder 4">
            <a:extLst>
              <a:ext uri="{FF2B5EF4-FFF2-40B4-BE49-F238E27FC236}">
                <a16:creationId xmlns:a16="http://schemas.microsoft.com/office/drawing/2014/main" id="{497C46BE-C7ED-4D0A-BDD8-4E70904B2E08}"/>
              </a:ext>
            </a:extLst>
          </p:cNvPr>
          <p:cNvSpPr>
            <a:spLocks noGrp="1"/>
          </p:cNvSpPr>
          <p:nvPr>
            <p:ph type="sldNum" sz="quarter" idx="12"/>
          </p:nvPr>
        </p:nvSpPr>
        <p:spPr/>
        <p:txBody>
          <a:bodyPr/>
          <a:lstStyle/>
          <a:p>
            <a:fld id="{D57F1E4F-1CFF-5643-939E-217C01CDF565}" type="slidenum">
              <a:rPr lang="en-US" smtClean="0"/>
              <a:pPr/>
              <a:t>8</a:t>
            </a:fld>
            <a:endParaRPr lang="en-US" dirty="0"/>
          </a:p>
        </p:txBody>
      </p:sp>
    </p:spTree>
    <p:extLst>
      <p:ext uri="{BB962C8B-B14F-4D97-AF65-F5344CB8AC3E}">
        <p14:creationId xmlns:p14="http://schemas.microsoft.com/office/powerpoint/2010/main" val="1396083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8E8176-8B48-4319-B325-DC90BF48CE20}"/>
              </a:ext>
            </a:extLst>
          </p:cNvPr>
          <p:cNvSpPr>
            <a:spLocks noGrp="1"/>
          </p:cNvSpPr>
          <p:nvPr>
            <p:ph type="title"/>
          </p:nvPr>
        </p:nvSpPr>
        <p:spPr/>
        <p:txBody>
          <a:bodyPr/>
          <a:lstStyle/>
          <a:p>
            <a:r>
              <a:rPr lang="en-US" dirty="0"/>
              <a:t>SIXTH MASS EXTINCTION IN PROGRESS</a:t>
            </a:r>
          </a:p>
        </p:txBody>
      </p:sp>
      <p:pic>
        <p:nvPicPr>
          <p:cNvPr id="6" name="Content Placeholder 5">
            <a:extLst>
              <a:ext uri="{FF2B5EF4-FFF2-40B4-BE49-F238E27FC236}">
                <a16:creationId xmlns:a16="http://schemas.microsoft.com/office/drawing/2014/main" id="{4CF08AD9-CA3C-4C4D-A1BC-C40F1177901E}"/>
              </a:ext>
            </a:extLst>
          </p:cNvPr>
          <p:cNvPicPr>
            <a:picLocks noGrp="1" noChangeAspect="1"/>
          </p:cNvPicPr>
          <p:nvPr>
            <p:ph idx="1"/>
          </p:nvPr>
        </p:nvPicPr>
        <p:blipFill>
          <a:blip r:embed="rId2"/>
          <a:stretch>
            <a:fillRect/>
          </a:stretch>
        </p:blipFill>
        <p:spPr>
          <a:xfrm>
            <a:off x="1365161" y="1988042"/>
            <a:ext cx="8422783" cy="4554426"/>
          </a:xfrm>
        </p:spPr>
      </p:pic>
      <p:sp>
        <p:nvSpPr>
          <p:cNvPr id="4" name="Slide Number Placeholder 3">
            <a:extLst>
              <a:ext uri="{FF2B5EF4-FFF2-40B4-BE49-F238E27FC236}">
                <a16:creationId xmlns:a16="http://schemas.microsoft.com/office/drawing/2014/main" id="{38EB335E-9ACD-4617-B4E0-AC8E1518C722}"/>
              </a:ext>
            </a:extLst>
          </p:cNvPr>
          <p:cNvSpPr>
            <a:spLocks noGrp="1"/>
          </p:cNvSpPr>
          <p:nvPr>
            <p:ph type="sldNum" sz="quarter" idx="12"/>
          </p:nvPr>
        </p:nvSpPr>
        <p:spPr/>
        <p:txBody>
          <a:bodyPr/>
          <a:lstStyle/>
          <a:p>
            <a:fld id="{D57F1E4F-1CFF-5643-939E-217C01CDF565}" type="slidenum">
              <a:rPr lang="en-US" smtClean="0"/>
              <a:pPr/>
              <a:t>9</a:t>
            </a:fld>
            <a:endParaRPr lang="en-US" dirty="0"/>
          </a:p>
        </p:txBody>
      </p:sp>
      <p:sp>
        <p:nvSpPr>
          <p:cNvPr id="7" name="TextBox 6">
            <a:extLst>
              <a:ext uri="{FF2B5EF4-FFF2-40B4-BE49-F238E27FC236}">
                <a16:creationId xmlns:a16="http://schemas.microsoft.com/office/drawing/2014/main" id="{6C2F3142-3CE7-4FF3-8D8A-BA7FD35C7779}"/>
              </a:ext>
            </a:extLst>
          </p:cNvPr>
          <p:cNvSpPr txBox="1"/>
          <p:nvPr/>
        </p:nvSpPr>
        <p:spPr>
          <a:xfrm>
            <a:off x="10264462" y="5550794"/>
            <a:ext cx="1052508" cy="369332"/>
          </a:xfrm>
          <a:prstGeom prst="rect">
            <a:avLst/>
          </a:prstGeom>
          <a:noFill/>
        </p:spPr>
        <p:txBody>
          <a:bodyPr wrap="square" rtlCol="0">
            <a:spAutoFit/>
          </a:bodyPr>
          <a:lstStyle/>
          <a:p>
            <a:r>
              <a:rPr lang="en-US" dirty="0"/>
              <a:t>Fig c</a:t>
            </a:r>
          </a:p>
        </p:txBody>
      </p:sp>
    </p:spTree>
    <p:extLst>
      <p:ext uri="{BB962C8B-B14F-4D97-AF65-F5344CB8AC3E}">
        <p14:creationId xmlns:p14="http://schemas.microsoft.com/office/powerpoint/2010/main" val="20350745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77036C-E5F8-42CF-9BD9-8BA2FC08B7FB}"/>
              </a:ext>
            </a:extLst>
          </p:cNvPr>
          <p:cNvSpPr>
            <a:spLocks noGrp="1"/>
          </p:cNvSpPr>
          <p:nvPr>
            <p:ph type="title"/>
          </p:nvPr>
        </p:nvSpPr>
        <p:spPr/>
        <p:txBody>
          <a:bodyPr/>
          <a:lstStyle/>
          <a:p>
            <a:r>
              <a:rPr lang="en-US" dirty="0"/>
              <a:t>Impacts of SIXTH mass extinction</a:t>
            </a:r>
          </a:p>
        </p:txBody>
      </p:sp>
      <p:sp>
        <p:nvSpPr>
          <p:cNvPr id="3" name="Content Placeholder 2">
            <a:extLst>
              <a:ext uri="{FF2B5EF4-FFF2-40B4-BE49-F238E27FC236}">
                <a16:creationId xmlns:a16="http://schemas.microsoft.com/office/drawing/2014/main" id="{CFE057DE-209B-401F-8067-FF283A033AED}"/>
              </a:ext>
            </a:extLst>
          </p:cNvPr>
          <p:cNvSpPr>
            <a:spLocks noGrp="1"/>
          </p:cNvSpPr>
          <p:nvPr>
            <p:ph idx="1"/>
          </p:nvPr>
        </p:nvSpPr>
        <p:spPr>
          <a:xfrm>
            <a:off x="581193" y="2477541"/>
            <a:ext cx="11029615" cy="4380459"/>
          </a:xfrm>
        </p:spPr>
        <p:txBody>
          <a:bodyPr>
            <a:normAutofit lnSpcReduction="10000"/>
          </a:bodyPr>
          <a:lstStyle/>
          <a:p>
            <a:pPr algn="just"/>
            <a:r>
              <a:rPr lang="en-US" sz="3600" dirty="0"/>
              <a:t>Biodiversity loss.</a:t>
            </a:r>
          </a:p>
          <a:p>
            <a:pPr algn="just"/>
            <a:r>
              <a:rPr lang="en-US" sz="3600" dirty="0"/>
              <a:t>Ecosystem loss.</a:t>
            </a:r>
          </a:p>
          <a:p>
            <a:pPr algn="just"/>
            <a:r>
              <a:rPr lang="en-US" sz="3600" dirty="0"/>
              <a:t>Altered ecological niches.</a:t>
            </a:r>
          </a:p>
          <a:p>
            <a:pPr algn="just"/>
            <a:r>
              <a:rPr lang="en-US" sz="3600" dirty="0"/>
              <a:t>Loss of ecosystem services.</a:t>
            </a:r>
          </a:p>
          <a:p>
            <a:pPr algn="just"/>
            <a:r>
              <a:rPr lang="en-US" sz="3600" dirty="0"/>
              <a:t>Economic and societal implications.</a:t>
            </a:r>
          </a:p>
          <a:p>
            <a:pPr algn="just"/>
            <a:r>
              <a:rPr lang="en-US" sz="3600" dirty="0"/>
              <a:t>Long-term evolutionary impact.</a:t>
            </a:r>
          </a:p>
          <a:p>
            <a:endParaRPr lang="en-US" dirty="0"/>
          </a:p>
        </p:txBody>
      </p:sp>
      <p:sp>
        <p:nvSpPr>
          <p:cNvPr id="5" name="Slide Number Placeholder 4">
            <a:extLst>
              <a:ext uri="{FF2B5EF4-FFF2-40B4-BE49-F238E27FC236}">
                <a16:creationId xmlns:a16="http://schemas.microsoft.com/office/drawing/2014/main" id="{FDDF271B-3631-4CC4-97E2-006970DBD7AB}"/>
              </a:ext>
            </a:extLst>
          </p:cNvPr>
          <p:cNvSpPr>
            <a:spLocks noGrp="1"/>
          </p:cNvSpPr>
          <p:nvPr>
            <p:ph type="sldNum" sz="quarter" idx="12"/>
          </p:nvPr>
        </p:nvSpPr>
        <p:spPr/>
        <p:txBody>
          <a:bodyPr/>
          <a:lstStyle/>
          <a:p>
            <a:fld id="{D57F1E4F-1CFF-5643-939E-217C01CDF565}" type="slidenum">
              <a:rPr lang="en-US" smtClean="0"/>
              <a:pPr/>
              <a:t>10</a:t>
            </a:fld>
            <a:endParaRPr lang="en-US" dirty="0"/>
          </a:p>
        </p:txBody>
      </p:sp>
    </p:spTree>
    <p:extLst>
      <p:ext uri="{BB962C8B-B14F-4D97-AF65-F5344CB8AC3E}">
        <p14:creationId xmlns:p14="http://schemas.microsoft.com/office/powerpoint/2010/main" val="9807969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7AE192-EAC1-4C98-BB40-8E4C5CB6399E}"/>
              </a:ext>
            </a:extLst>
          </p:cNvPr>
          <p:cNvSpPr>
            <a:spLocks noGrp="1"/>
          </p:cNvSpPr>
          <p:nvPr>
            <p:ph type="title"/>
          </p:nvPr>
        </p:nvSpPr>
        <p:spPr/>
        <p:txBody>
          <a:bodyPr/>
          <a:lstStyle/>
          <a:p>
            <a:r>
              <a:rPr lang="en-US" dirty="0"/>
              <a:t>Biodiversity conservation efforts and strategies</a:t>
            </a:r>
          </a:p>
        </p:txBody>
      </p:sp>
      <p:sp>
        <p:nvSpPr>
          <p:cNvPr id="3" name="Content Placeholder 2">
            <a:extLst>
              <a:ext uri="{FF2B5EF4-FFF2-40B4-BE49-F238E27FC236}">
                <a16:creationId xmlns:a16="http://schemas.microsoft.com/office/drawing/2014/main" id="{64A29BE0-06BE-48F6-BA70-A0AC2EC2B448}"/>
              </a:ext>
            </a:extLst>
          </p:cNvPr>
          <p:cNvSpPr>
            <a:spLocks noGrp="1"/>
          </p:cNvSpPr>
          <p:nvPr>
            <p:ph idx="1"/>
          </p:nvPr>
        </p:nvSpPr>
        <p:spPr>
          <a:xfrm>
            <a:off x="581192" y="2606330"/>
            <a:ext cx="11177218" cy="4380459"/>
          </a:xfrm>
        </p:spPr>
        <p:txBody>
          <a:bodyPr>
            <a:normAutofit fontScale="92500" lnSpcReduction="20000"/>
          </a:bodyPr>
          <a:lstStyle/>
          <a:p>
            <a:r>
              <a:rPr lang="en-US" sz="2800" dirty="0"/>
              <a:t>Protected areas and habitat conservation.</a:t>
            </a:r>
          </a:p>
          <a:p>
            <a:r>
              <a:rPr lang="en-US" sz="2800" dirty="0"/>
              <a:t>Species recovery and breeding programs.</a:t>
            </a:r>
          </a:p>
          <a:p>
            <a:r>
              <a:rPr lang="en-US" sz="2800" dirty="0"/>
              <a:t>Conservation of key ecosystems.</a:t>
            </a:r>
          </a:p>
          <a:p>
            <a:r>
              <a:rPr lang="en-US" sz="2800" dirty="0"/>
              <a:t>Sustainable resource management.</a:t>
            </a:r>
          </a:p>
          <a:p>
            <a:r>
              <a:rPr lang="en-US" sz="2800" dirty="0"/>
              <a:t>Community engagement and local involvement.</a:t>
            </a:r>
          </a:p>
          <a:p>
            <a:r>
              <a:rPr lang="en-US" sz="2800" dirty="0"/>
              <a:t>International collaboration and agreements.</a:t>
            </a:r>
          </a:p>
          <a:p>
            <a:r>
              <a:rPr lang="en-US" sz="2800" dirty="0"/>
              <a:t>Public awareness and education.</a:t>
            </a:r>
          </a:p>
          <a:p>
            <a:r>
              <a:rPr lang="en-US" sz="2800" dirty="0"/>
              <a:t>Support sustainable agriculture.</a:t>
            </a:r>
          </a:p>
          <a:p>
            <a:r>
              <a:rPr lang="en-US" sz="2800" dirty="0"/>
              <a:t>Engage in citizen science</a:t>
            </a:r>
          </a:p>
          <a:p>
            <a:endParaRPr lang="en-US" dirty="0"/>
          </a:p>
          <a:p>
            <a:endParaRPr lang="en-US" dirty="0"/>
          </a:p>
        </p:txBody>
      </p:sp>
      <p:sp>
        <p:nvSpPr>
          <p:cNvPr id="5" name="Slide Number Placeholder 4">
            <a:extLst>
              <a:ext uri="{FF2B5EF4-FFF2-40B4-BE49-F238E27FC236}">
                <a16:creationId xmlns:a16="http://schemas.microsoft.com/office/drawing/2014/main" id="{E9105D68-F620-4A1A-8AB0-F185FA5470EC}"/>
              </a:ext>
            </a:extLst>
          </p:cNvPr>
          <p:cNvSpPr>
            <a:spLocks noGrp="1"/>
          </p:cNvSpPr>
          <p:nvPr>
            <p:ph type="sldNum" sz="quarter" idx="12"/>
          </p:nvPr>
        </p:nvSpPr>
        <p:spPr/>
        <p:txBody>
          <a:bodyPr/>
          <a:lstStyle/>
          <a:p>
            <a:fld id="{D57F1E4F-1CFF-5643-939E-217C01CDF565}" type="slidenum">
              <a:rPr lang="en-US" smtClean="0"/>
              <a:pPr/>
              <a:t>11</a:t>
            </a:fld>
            <a:endParaRPr lang="en-US" dirty="0"/>
          </a:p>
        </p:txBody>
      </p:sp>
    </p:spTree>
    <p:extLst>
      <p:ext uri="{BB962C8B-B14F-4D97-AF65-F5344CB8AC3E}">
        <p14:creationId xmlns:p14="http://schemas.microsoft.com/office/powerpoint/2010/main" val="21676360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804D1-8EEA-4EA5-AE9F-7DE449FE44D8}"/>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9CC871E0-85F9-4B87-BBD9-5533E6973A30}"/>
              </a:ext>
            </a:extLst>
          </p:cNvPr>
          <p:cNvSpPr>
            <a:spLocks noGrp="1"/>
          </p:cNvSpPr>
          <p:nvPr>
            <p:ph idx="1"/>
          </p:nvPr>
        </p:nvSpPr>
        <p:spPr>
          <a:xfrm>
            <a:off x="581193" y="2477541"/>
            <a:ext cx="11029615" cy="3678303"/>
          </a:xfrm>
        </p:spPr>
        <p:txBody>
          <a:bodyPr>
            <a:normAutofit/>
          </a:bodyPr>
          <a:lstStyle/>
          <a:p>
            <a:pPr marL="0" indent="0" algn="just">
              <a:buNone/>
            </a:pPr>
            <a:r>
              <a:rPr lang="en-US" sz="3200" dirty="0"/>
              <a:t>The sixth mass extinction which is mainly caused by mankind is a pressing crisis that needs immediate action. Human activities are driving the decline in biodiversity, causing disruption to ecosystems and endangering lives on the planet Earth. Through the various conservational efforts and strategies, we can however, make a difference. Biology is about </a:t>
            </a:r>
            <a:r>
              <a:rPr lang="en-US" sz="3200" b="1" dirty="0"/>
              <a:t>LIFE</a:t>
            </a:r>
            <a:r>
              <a:rPr lang="en-US" sz="3200" dirty="0"/>
              <a:t>, let us </a:t>
            </a:r>
            <a:r>
              <a:rPr lang="en-US" sz="3200" b="1" dirty="0"/>
              <a:t>PROTECT LIFE.</a:t>
            </a:r>
          </a:p>
          <a:p>
            <a:endParaRPr lang="en-US" dirty="0"/>
          </a:p>
        </p:txBody>
      </p:sp>
      <p:sp>
        <p:nvSpPr>
          <p:cNvPr id="5" name="Slide Number Placeholder 4">
            <a:extLst>
              <a:ext uri="{FF2B5EF4-FFF2-40B4-BE49-F238E27FC236}">
                <a16:creationId xmlns:a16="http://schemas.microsoft.com/office/drawing/2014/main" id="{E155C8D8-69BB-420F-866D-45107F4C39F9}"/>
              </a:ext>
            </a:extLst>
          </p:cNvPr>
          <p:cNvSpPr>
            <a:spLocks noGrp="1"/>
          </p:cNvSpPr>
          <p:nvPr>
            <p:ph type="sldNum" sz="quarter" idx="12"/>
          </p:nvPr>
        </p:nvSpPr>
        <p:spPr/>
        <p:txBody>
          <a:bodyPr/>
          <a:lstStyle/>
          <a:p>
            <a:fld id="{D57F1E4F-1CFF-5643-939E-217C01CDF565}" type="slidenum">
              <a:rPr lang="en-US" smtClean="0"/>
              <a:pPr/>
              <a:t>12</a:t>
            </a:fld>
            <a:endParaRPr lang="en-US" dirty="0"/>
          </a:p>
        </p:txBody>
      </p:sp>
    </p:spTree>
    <p:extLst>
      <p:ext uri="{BB962C8B-B14F-4D97-AF65-F5344CB8AC3E}">
        <p14:creationId xmlns:p14="http://schemas.microsoft.com/office/powerpoint/2010/main" val="40897699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C3BA64-FB20-418E-8B80-E1F2D035068D}"/>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D37FEE93-CAAE-4515-A254-8F2E7D72F9D9}"/>
              </a:ext>
            </a:extLst>
          </p:cNvPr>
          <p:cNvSpPr>
            <a:spLocks noGrp="1"/>
          </p:cNvSpPr>
          <p:nvPr>
            <p:ph idx="1"/>
          </p:nvPr>
        </p:nvSpPr>
        <p:spPr>
          <a:xfrm>
            <a:off x="581192" y="2579741"/>
            <a:ext cx="11029616" cy="4155910"/>
          </a:xfrm>
        </p:spPr>
        <p:txBody>
          <a:bodyPr>
            <a:normAutofit fontScale="92500"/>
          </a:bodyPr>
          <a:lstStyle/>
          <a:p>
            <a:pPr lvl="0"/>
            <a:r>
              <a:rPr lang="en-GB" sz="2400" dirty="0"/>
              <a:t>Ceballos, G., Ehrlich, P.R., &amp; </a:t>
            </a:r>
            <a:r>
              <a:rPr lang="en-GB" sz="2400" dirty="0" err="1"/>
              <a:t>Dirzo</a:t>
            </a:r>
            <a:r>
              <a:rPr lang="en-GB" sz="2400" dirty="0"/>
              <a:t>, R. (2017). Biological annihilation via the ongoing sixth mass extinction </a:t>
            </a:r>
            <a:r>
              <a:rPr lang="en-GB" sz="2400" dirty="0" err="1"/>
              <a:t>signaled</a:t>
            </a:r>
            <a:r>
              <a:rPr lang="en-GB" sz="2400" dirty="0"/>
              <a:t> by vertebrate population losses and declines. Proceedings of the National Academy of Sciences, 114(30), E6089-E6096.</a:t>
            </a:r>
            <a:endParaRPr lang="en-US" sz="2400" dirty="0"/>
          </a:p>
          <a:p>
            <a:pPr lvl="0"/>
            <a:r>
              <a:rPr lang="en-GB" sz="2400" dirty="0"/>
              <a:t>Pimm, S.L., Jenkins, C.N., Abell, R., Brooks, T.M., </a:t>
            </a:r>
            <a:r>
              <a:rPr lang="en-GB" sz="2400" dirty="0" err="1"/>
              <a:t>Gittleman</a:t>
            </a:r>
            <a:r>
              <a:rPr lang="en-GB" sz="2400" dirty="0"/>
              <a:t>, J.L., Joppa, L.N., ... &amp; Sexton, J.O. (2014). The biodiversity of species and their rates of extinction, distribution, and protection. Science, 344(6187), 1246752.</a:t>
            </a:r>
            <a:endParaRPr lang="en-US" sz="2400" dirty="0"/>
          </a:p>
          <a:p>
            <a:pPr lvl="0"/>
            <a:r>
              <a:rPr lang="en-GB" sz="2400" dirty="0" err="1"/>
              <a:t>Barnosky</a:t>
            </a:r>
            <a:r>
              <a:rPr lang="en-GB" sz="2400" dirty="0"/>
              <a:t>, A.D., Matzke, N., </a:t>
            </a:r>
            <a:r>
              <a:rPr lang="en-GB" sz="2400" dirty="0" err="1"/>
              <a:t>Tomiya</a:t>
            </a:r>
            <a:r>
              <a:rPr lang="en-GB" sz="2400" dirty="0"/>
              <a:t>, S., </a:t>
            </a:r>
            <a:r>
              <a:rPr lang="en-GB" sz="2400" dirty="0" err="1"/>
              <a:t>Wogan</a:t>
            </a:r>
            <a:r>
              <a:rPr lang="en-GB" sz="2400" dirty="0"/>
              <a:t>, G.O., Swartz, B., </a:t>
            </a:r>
            <a:r>
              <a:rPr lang="en-GB" sz="2400" dirty="0" err="1"/>
              <a:t>Quental</a:t>
            </a:r>
            <a:r>
              <a:rPr lang="en-GB" sz="2400" dirty="0"/>
              <a:t>, T.B., ... &amp; Ferrer, E.A. (2011). Has the Earth's sixth mass extinction already arrived? Nature, 471(7336), 51-57.</a:t>
            </a:r>
            <a:endParaRPr lang="en-US" sz="2400" dirty="0"/>
          </a:p>
          <a:p>
            <a:pPr lvl="0"/>
            <a:r>
              <a:rPr lang="en-GB" sz="2400" dirty="0" err="1"/>
              <a:t>Dirzo</a:t>
            </a:r>
            <a:r>
              <a:rPr lang="en-GB" sz="2400" dirty="0"/>
              <a:t>, R., Young, H.S., </a:t>
            </a:r>
            <a:r>
              <a:rPr lang="en-GB" sz="2400" dirty="0" err="1"/>
              <a:t>Galetti</a:t>
            </a:r>
            <a:r>
              <a:rPr lang="en-GB" sz="2400" dirty="0"/>
              <a:t>, M., Ceballos, G., Isaac, N.J., &amp; Collen, B. (2014). Defaunation in the Anthropocene. Science, 345(6195), 401-406</a:t>
            </a:r>
            <a:endParaRPr lang="en-US" sz="2400" dirty="0"/>
          </a:p>
          <a:p>
            <a:pPr marL="0" indent="0">
              <a:buNone/>
            </a:pPr>
            <a:endParaRPr lang="en-US" dirty="0"/>
          </a:p>
        </p:txBody>
      </p:sp>
      <p:sp>
        <p:nvSpPr>
          <p:cNvPr id="5" name="Slide Number Placeholder 4">
            <a:extLst>
              <a:ext uri="{FF2B5EF4-FFF2-40B4-BE49-F238E27FC236}">
                <a16:creationId xmlns:a16="http://schemas.microsoft.com/office/drawing/2014/main" id="{CC6C4A62-5BDD-45ED-903A-633239F0BC67}"/>
              </a:ext>
            </a:extLst>
          </p:cNvPr>
          <p:cNvSpPr>
            <a:spLocks noGrp="1"/>
          </p:cNvSpPr>
          <p:nvPr>
            <p:ph type="sldNum" sz="quarter" idx="12"/>
          </p:nvPr>
        </p:nvSpPr>
        <p:spPr/>
        <p:txBody>
          <a:bodyPr/>
          <a:lstStyle/>
          <a:p>
            <a:fld id="{D57F1E4F-1CFF-5643-939E-217C01CDF565}" type="slidenum">
              <a:rPr lang="en-US" smtClean="0"/>
              <a:pPr/>
              <a:t>13</a:t>
            </a:fld>
            <a:endParaRPr lang="en-US" dirty="0"/>
          </a:p>
        </p:txBody>
      </p:sp>
    </p:spTree>
    <p:extLst>
      <p:ext uri="{BB962C8B-B14F-4D97-AF65-F5344CB8AC3E}">
        <p14:creationId xmlns:p14="http://schemas.microsoft.com/office/powerpoint/2010/main" val="38978982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5680F-1C3B-467B-9F9E-25B4DD8F1A8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FF894A3-60E1-4974-AE06-6F5396FDA10A}"/>
              </a:ext>
            </a:extLst>
          </p:cNvPr>
          <p:cNvSpPr>
            <a:spLocks noGrp="1"/>
          </p:cNvSpPr>
          <p:nvPr>
            <p:ph idx="1"/>
          </p:nvPr>
        </p:nvSpPr>
        <p:spPr>
          <a:xfrm>
            <a:off x="231820" y="1500389"/>
            <a:ext cx="13600090" cy="5357611"/>
          </a:xfrm>
        </p:spPr>
        <p:txBody>
          <a:bodyPr>
            <a:normAutofit/>
          </a:bodyPr>
          <a:lstStyle/>
          <a:p>
            <a:pPr marL="0" indent="0">
              <a:buNone/>
            </a:pPr>
            <a:r>
              <a:rPr lang="en-US" sz="9600" b="1" dirty="0"/>
              <a:t>      THANK YOU</a:t>
            </a:r>
          </a:p>
        </p:txBody>
      </p:sp>
      <p:sp>
        <p:nvSpPr>
          <p:cNvPr id="5" name="Slide Number Placeholder 4">
            <a:extLst>
              <a:ext uri="{FF2B5EF4-FFF2-40B4-BE49-F238E27FC236}">
                <a16:creationId xmlns:a16="http://schemas.microsoft.com/office/drawing/2014/main" id="{989C922A-3C41-410B-A00D-89E5F2EDC0D2}"/>
              </a:ext>
            </a:extLst>
          </p:cNvPr>
          <p:cNvSpPr>
            <a:spLocks noGrp="1"/>
          </p:cNvSpPr>
          <p:nvPr>
            <p:ph type="sldNum" sz="quarter" idx="12"/>
          </p:nvPr>
        </p:nvSpPr>
        <p:spPr/>
        <p:txBody>
          <a:bodyPr/>
          <a:lstStyle/>
          <a:p>
            <a:fld id="{D57F1E4F-1CFF-5643-939E-217C01CDF565}" type="slidenum">
              <a:rPr lang="en-US" smtClean="0"/>
              <a:pPr/>
              <a:t>14</a:t>
            </a:fld>
            <a:endParaRPr lang="en-US" dirty="0"/>
          </a:p>
        </p:txBody>
      </p:sp>
    </p:spTree>
    <p:extLst>
      <p:ext uri="{BB962C8B-B14F-4D97-AF65-F5344CB8AC3E}">
        <p14:creationId xmlns:p14="http://schemas.microsoft.com/office/powerpoint/2010/main" val="643208679"/>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TM03457464[[fn=Dividend]]</Template>
  <TotalTime>100</TotalTime>
  <Words>670</Words>
  <Application>Microsoft Office PowerPoint</Application>
  <PresentationFormat>Widescreen</PresentationFormat>
  <Paragraphs>71</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Calibri</vt:lpstr>
      <vt:lpstr>Gill Sans MT</vt:lpstr>
      <vt:lpstr>Times New Roman</vt:lpstr>
      <vt:lpstr>Wingdings 2</vt:lpstr>
      <vt:lpstr>Dividend</vt:lpstr>
      <vt:lpstr>THE SIXTH MASS EXTINCTION</vt:lpstr>
      <vt:lpstr>OUTLINE</vt:lpstr>
      <vt:lpstr>Introduction</vt:lpstr>
      <vt:lpstr>Previous mass extinction</vt:lpstr>
      <vt:lpstr>Distinguishing characteristics between previous extinctions and the current one.</vt:lpstr>
      <vt:lpstr>Causes of SIXTH mass extinction</vt:lpstr>
      <vt:lpstr>Causes of SIXTH mass extinction</vt:lpstr>
      <vt:lpstr>Causes of SIXTH mass extinction</vt:lpstr>
      <vt:lpstr>SIXTH MASS EXTINCTION IN PROGRESS</vt:lpstr>
      <vt:lpstr>Impacts of SIXTH mass extinction</vt:lpstr>
      <vt:lpstr>Biodiversity conservation efforts and strategies</vt:lpstr>
      <vt:lpstr>conclusion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SIXTH MASS EXTINCTION</dc:title>
  <dc:creator>Clement ASEIDU DAMOAH</dc:creator>
  <cp:lastModifiedBy>Clement ASEIDU DAMOAH</cp:lastModifiedBy>
  <cp:revision>27</cp:revision>
  <dcterms:created xsi:type="dcterms:W3CDTF">2023-07-11T23:22:27Z</dcterms:created>
  <dcterms:modified xsi:type="dcterms:W3CDTF">2023-07-12T18:18:23Z</dcterms:modified>
</cp:coreProperties>
</file>