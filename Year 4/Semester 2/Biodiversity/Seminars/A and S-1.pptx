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1" r:id="rId6"/>
    <p:sldId id="261" r:id="rId7"/>
    <p:sldId id="270" r:id="rId8"/>
    <p:sldId id="263" r:id="rId9"/>
    <p:sldId id="264" r:id="rId10"/>
    <p:sldId id="265" r:id="rId11"/>
    <p:sldId id="266" r:id="rId12"/>
    <p:sldId id="272" r:id="rId13"/>
    <p:sldId id="267" r:id="rId14"/>
    <p:sldId id="268" r:id="rId15"/>
    <p:sldId id="269" r:id="rId16"/>
    <p:sldId id="273" r:id="rId17"/>
    <p:sldId id="274" r:id="rId18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3"/>
    <p:restoredTop sz="96197"/>
  </p:normalViewPr>
  <p:slideViewPr>
    <p:cSldViewPr snapToGrid="0">
      <p:cViewPr>
        <p:scale>
          <a:sx n="100" d="100"/>
          <a:sy n="100" d="100"/>
        </p:scale>
        <p:origin x="1104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803620-23D8-0346-9DC4-5E51D8EADE18}" type="datetimeFigureOut">
              <a:rPr lang="en-GH" smtClean="0"/>
              <a:t>07/23/2023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C8B64-7D6D-AA43-A2E6-58D8B5C62FF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272089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34CBC-46D3-4406-3787-0D283D517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A0972-684D-BE6E-EFF2-A2AB6C429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C0AD5-A447-D496-6663-476498A6E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8D443-E40C-984F-BF28-16744D06C8B3}" type="datetime1">
              <a:rPr lang="en-US" smtClean="0"/>
              <a:t>7/23/2023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E3F08-DDB1-73D0-E601-EF3375EB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E1681-0622-4056-9504-7F4CBFCFA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81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A13B-5BBD-4D15-91FD-699A852DE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2466F-0EF8-C988-E19B-5900A5B0B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0505F-D62C-5C4D-3F7D-D1AB86F84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F7616-697C-5049-941F-9E62FAF96C14}" type="datetime1">
              <a:rPr lang="en-US" smtClean="0"/>
              <a:t>7/23/2023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00B25-71BE-BBF0-99DC-9844C8680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CC707-D9D1-3246-1BB4-C37BADF56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39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3499C-9E5D-414F-CD96-846CD760E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3BE2A-7714-CEB5-3F69-724594993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FBD0D-0B80-F3B6-0A49-01F89B28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3955-F265-0B41-A676-EB8C2DA53D26}" type="datetime1">
              <a:rPr lang="en-US" smtClean="0"/>
              <a:t>7/23/2023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F993C-C840-A53F-2279-8F5ADF3C6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FDC5A-2333-862D-2163-6751F96B0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842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95C0-1881-15D5-74BE-8D6DF8CC4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17694-B062-1F2A-0E1A-FDEFB4B97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0F243-6941-2ABE-8ECD-7F6574D3A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997BC-7B89-6D2D-5C36-4D02D2165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25428-E918-3445-850B-8FE0A8429996}" type="datetime1">
              <a:rPr lang="en-US" smtClean="0"/>
              <a:t>7/23/2023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3F7FA-3ABF-0DB8-D5EA-26B52B0E1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129D8-B94C-646D-DC64-89ABAD999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651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C50FD-4F95-B0DF-A164-977DD4AAE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C42D5-1FA2-C369-2CFE-23E8B8626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EDAAE-F500-1C28-5EF4-B752CD51C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3429E8-7570-7163-D2F4-A3C78013D2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D733C3-4547-F9E1-33A5-E0352A0D79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950506-745C-3A17-B594-9EFB32BA9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DE42-B6BC-AA46-B8C3-5399649A0304}" type="datetime1">
              <a:rPr lang="en-US" smtClean="0"/>
              <a:t>7/23/2023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2EA695-BF58-CF90-466F-3A245565C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57462-9B22-5AE8-8052-664D94149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58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B11A1-2B4B-84A4-68CD-D431FB2A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A1FA8E-9583-6D4C-F4DD-883EAF694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9434-E6CF-764B-A3AB-F400E0DFD1B3}" type="datetime1">
              <a:rPr lang="en-US" smtClean="0"/>
              <a:t>7/23/2023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E4E68-EBDB-9716-BE81-80F4A0CDC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7FDF1-29C9-02F6-FA41-840E21782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237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50BA5F-4807-2749-C0FB-7033DC312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7674-6847-154F-9825-F2A925CE6364}" type="datetime1">
              <a:rPr lang="en-US" smtClean="0"/>
              <a:t>7/23/2023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D4FE4-C4F2-8FE2-C0DA-483DE181A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4E6CF-32E0-868A-59C6-044D7B878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254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AFF14-ABBC-B920-08F7-3F4EAF9B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FC34F-41D1-A350-8C98-593E654BA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667E7-905B-6ED8-C92B-B4C621E57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CE212-7401-09D6-EEE2-DF40B3151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9A02-B930-A344-9EB4-E0CEF91DAAFD}" type="datetime1">
              <a:rPr lang="en-US" smtClean="0"/>
              <a:t>7/23/2023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9D360-7ABA-92A5-319C-544E10CA2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99A49-A773-F081-524B-B75F159A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166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F1B6-C681-C603-BD51-B651F6253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5E287B-1E97-4E2F-7B8C-2DF3E9C2A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275BB-3C55-51F2-F253-3765D047E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DC5CF-B22A-2EB2-A87B-FBE95E33E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BCEF-D950-A34B-A38D-E292B986BCF5}" type="datetime1">
              <a:rPr lang="en-US" smtClean="0"/>
              <a:t>7/23/2023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72C16-9E65-1A76-CB97-52172732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1DD89-B4CD-7AE1-CC29-1A00D9D0B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293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29D5-1693-EC67-50F2-0A03708B2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183A9-E2CC-CBA1-0D7B-50135CEFE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48178-CB5E-43B8-793F-84C673E88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BC2E-B6DC-5440-A6C5-92195F22F161}" type="datetime1">
              <a:rPr lang="en-US" smtClean="0"/>
              <a:t>7/23/2023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E9CB7-A51D-3F46-6023-36AE7B36C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9BFFF-F402-074C-A4C9-0622F316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008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E44202-0204-3627-E0D7-49F0C1863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78A49-CB08-BD3B-90C5-4A180B698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8C145-E688-DB7A-DC75-58494A0D4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D55E-1D44-184C-85C0-D9926AA7825D}" type="datetime1">
              <a:rPr lang="en-US" smtClean="0"/>
              <a:t>7/23/2023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43979-AEC0-E63E-AD8E-45C58241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51263-F9D9-3236-1E52-ABC6614A6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619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B3CFF6-F3BE-0D23-5251-EE2BD5E99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2395-E6E7-9EAB-22B6-C528E16CC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55011-A823-F16B-D0AD-5321038174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5A130-B85C-5540-8B6F-6042A06D7626}" type="datetime1">
              <a:rPr lang="en-US" smtClean="0"/>
              <a:t>7/23/2023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C9AAF-C941-2E91-5DA3-25156018B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CA101-F720-20E0-A7A5-B401D90DF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30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4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7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 /><Relationship Id="rId3" Type="http://schemas.openxmlformats.org/officeDocument/2006/relationships/image" Target="../media/image23.png" /><Relationship Id="rId7" Type="http://schemas.openxmlformats.org/officeDocument/2006/relationships/image" Target="../media/image27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6.png" /><Relationship Id="rId11" Type="http://schemas.openxmlformats.org/officeDocument/2006/relationships/image" Target="../media/image31.png" /><Relationship Id="rId5" Type="http://schemas.openxmlformats.org/officeDocument/2006/relationships/image" Target="../media/image25.png" /><Relationship Id="rId10" Type="http://schemas.openxmlformats.org/officeDocument/2006/relationships/image" Target="../media/image30.png" /><Relationship Id="rId4" Type="http://schemas.openxmlformats.org/officeDocument/2006/relationships/image" Target="../media/image24.png" /><Relationship Id="rId9" Type="http://schemas.openxmlformats.org/officeDocument/2006/relationships/image" Target="../media/image29.png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 /><Relationship Id="rId3" Type="http://schemas.openxmlformats.org/officeDocument/2006/relationships/image" Target="../media/image33.png" /><Relationship Id="rId7" Type="http://schemas.openxmlformats.org/officeDocument/2006/relationships/image" Target="../media/image37.png" /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6.png" /><Relationship Id="rId5" Type="http://schemas.openxmlformats.org/officeDocument/2006/relationships/image" Target="../media/image35.png" /><Relationship Id="rId4" Type="http://schemas.openxmlformats.org/officeDocument/2006/relationships/image" Target="../media/image34.png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7FD63-0F77-2578-C8B5-EB30F98F1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65362"/>
            <a:ext cx="9144000" cy="2387600"/>
          </a:xfrm>
        </p:spPr>
        <p:txBody>
          <a:bodyPr>
            <a:normAutofit/>
          </a:bodyPr>
          <a:lstStyle/>
          <a:p>
            <a:endParaRPr lang="en-GH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36C25-088D-A9B5-8F29-A13DC65B8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35538"/>
            <a:ext cx="9144000" cy="1655762"/>
          </a:xfrm>
        </p:spPr>
        <p:txBody>
          <a:bodyPr/>
          <a:lstStyle/>
          <a:p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14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7EEB3B-992D-690E-AE4F-EA7FCF428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39688"/>
            <a:ext cx="12192000" cy="68976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61E534-EAD5-FB2B-FD3F-A19E034DABC4}"/>
              </a:ext>
            </a:extLst>
          </p:cNvPr>
          <p:cNvSpPr txBox="1"/>
          <p:nvPr/>
        </p:nvSpPr>
        <p:spPr>
          <a:xfrm>
            <a:off x="88900" y="1161367"/>
            <a:ext cx="79629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AICHI BIODIVERSITY TARGETS AND SUSTAINABLE DEVELOPMENTAL GOALS </a:t>
            </a:r>
            <a:endParaRPr lang="en-GH" sz="5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36CCF7-42DD-78E8-124C-462144BB1FF8}"/>
              </a:ext>
            </a:extLst>
          </p:cNvPr>
          <p:cNvSpPr txBox="1"/>
          <p:nvPr/>
        </p:nvSpPr>
        <p:spPr>
          <a:xfrm>
            <a:off x="88900" y="5532586"/>
            <a:ext cx="6267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14</a:t>
            </a:r>
            <a:endParaRPr lang="en-GH" sz="240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658C01E-AA60-9E87-2C86-FF3EE2DC9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816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8D9DF-41FF-3665-243D-63DC85EE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H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71651-6247-2B00-7E12-F2D073CC1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AICHI BIODIVERSITY TARGETS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IMPORTANCE OF AICHI BIODIVERSITY TARGETS</a:t>
            </a:r>
          </a:p>
          <a:p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20 AICHI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BIODIVERSITY 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</a:t>
            </a:r>
          </a:p>
          <a:p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ACHIEVING THE TARGETS</a:t>
            </a:r>
          </a:p>
          <a:p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SUSTAINABLE DEVELOPMENTAL GOALS</a:t>
            </a:r>
          </a:p>
          <a:p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17 SUSTAINABLE DEVELOPMENTAL GOALS </a:t>
            </a:r>
          </a:p>
          <a:p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936E0-7251-5D96-2BBD-ECC3FE0F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947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1F27-1DF3-335E-83D7-1B4E4193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AICHI BIODIVERSITY TARGETS</a:t>
            </a:r>
            <a:b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424EE-1EBF-08F0-D863-153E563B1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Aichi biodiversity targets were established by </a:t>
            </a:r>
            <a:r>
              <a:rPr lang="en-GB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b="1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 Convention of Biological Diversity</a:t>
            </a:r>
            <a:r>
              <a:rPr lang="en-GB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consist of </a:t>
            </a:r>
            <a:r>
              <a:rPr lang="en-GB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GB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specific targets to </a:t>
            </a:r>
            <a:r>
              <a:rPr lang="en-GB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GB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mitigate</a:t>
            </a:r>
            <a:r>
              <a:rPr lang="en-GB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biodiversity loss across the globe. </a:t>
            </a:r>
          </a:p>
          <a:p>
            <a:endParaRPr lang="en-GB" b="0" i="0" dirty="0">
              <a:solidFill>
                <a:srgbClr val="2021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hey were set by </a:t>
            </a:r>
            <a:r>
              <a:rPr lang="en-GH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196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countries at Nagoya, Japan in </a:t>
            </a:r>
            <a:r>
              <a:rPr lang="en-GH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2011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remain one of the most diverse and adaptable management and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for achieving conservation.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B1EE7-69D7-861A-D3D4-AA3C1686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983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D534-CB74-3F71-7A6F-5C636F727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AICHI BIODIVERSITY TARGETS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:STRATEGIC GOAL A</a:t>
            </a:r>
            <a:endParaRPr lang="en-GH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2BE33-DECA-E40D-A7E5-B825C588B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2087504"/>
            <a:ext cx="11518900" cy="4351338"/>
          </a:xfrm>
        </p:spPr>
        <p:txBody>
          <a:bodyPr/>
          <a:lstStyle/>
          <a:p>
            <a:pPr lvl="1"/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Addressing the underlying causes of biodiversity loss by mainstreaming across government and society.</a:t>
            </a:r>
            <a:r>
              <a:rPr lang="en-GH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H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1E2C85-A058-49A0-9773-4E8BD2C39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36" y="3254873"/>
            <a:ext cx="1483200" cy="148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D21AAE-DEB5-F718-51D0-E93B19E1D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36" y="5240983"/>
            <a:ext cx="1476387" cy="14763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08F4A01-162C-6279-0F14-06EF0E5553ED}"/>
              </a:ext>
            </a:extLst>
          </p:cNvPr>
          <p:cNvSpPr txBox="1"/>
          <p:nvPr/>
        </p:nvSpPr>
        <p:spPr>
          <a:xfrm>
            <a:off x="2422835" y="3739953"/>
            <a:ext cx="9279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awareness.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CD8CA1-1D6C-607F-8A66-DF52954A4CCE}"/>
              </a:ext>
            </a:extLst>
          </p:cNvPr>
          <p:cNvSpPr txBox="1"/>
          <p:nvPr/>
        </p:nvSpPr>
        <p:spPr>
          <a:xfrm>
            <a:off x="2422835" y="5496551"/>
            <a:ext cx="89918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the values of biodiversity into national and local development.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1F328EF-7BC3-1920-919F-E7F82791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491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A215A-E861-4F5C-B0D2-47A93F42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AICHI BIODIVERSITY TARGETS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:STRATEGIC GOAL A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D1943-CCF0-23B4-0D55-5150151D1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H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BF1E7D-3397-F0EF-8BF1-0849424FB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04748"/>
            <a:ext cx="1448504" cy="14485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4C4B23-C3D8-A18C-1F1E-1B176FC60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04" y="5032375"/>
            <a:ext cx="1448504" cy="14485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FD1A6C-B52F-C0B4-D203-E17D04EB9C8F}"/>
              </a:ext>
            </a:extLst>
          </p:cNvPr>
          <p:cNvSpPr txBox="1"/>
          <p:nvPr/>
        </p:nvSpPr>
        <p:spPr>
          <a:xfrm>
            <a:off x="2689057" y="3167390"/>
            <a:ext cx="91419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Eliminated incentives harmful to biodiversity.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D8D0B1-8AD8-5C0B-5BE5-1F179CE98593}"/>
              </a:ext>
            </a:extLst>
          </p:cNvPr>
          <p:cNvSpPr txBox="1"/>
          <p:nvPr/>
        </p:nvSpPr>
        <p:spPr>
          <a:xfrm>
            <a:off x="2646946" y="5279573"/>
            <a:ext cx="8945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plans for sustainable production and consumption of natural resources.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97D0930-3B6C-2C40-DB90-C1A7DFF8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480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143F0-F500-8C31-C0EB-7FE6BCFF3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AICHI BIODIVERSITY TARGETS: STRATEGIC GOAL B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D1FE6-9B08-5EFD-29FD-BACCCC32A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928405"/>
            <a:ext cx="11430000" cy="4351338"/>
          </a:xfrm>
        </p:spPr>
        <p:txBody>
          <a:bodyPr/>
          <a:lstStyle/>
          <a:p>
            <a:pPr lvl="1"/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 the direct pressures on biodiversity and promote its sustainable use.</a:t>
            </a:r>
            <a:r>
              <a:rPr lang="en-GH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H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F3FB4-C668-EAE4-0F77-4BDD9F114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40" y="2850743"/>
            <a:ext cx="1156513" cy="11565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99A504-5EF4-8801-CAFB-81CC78BC3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52" y="4272971"/>
            <a:ext cx="1162800" cy="1162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A86687B-EA7C-A690-7EC4-2C09953D4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39" y="5701487"/>
            <a:ext cx="1156513" cy="11565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72CAB47-638C-63B6-1749-9260B53BA555}"/>
              </a:ext>
            </a:extLst>
          </p:cNvPr>
          <p:cNvSpPr txBox="1"/>
          <p:nvPr/>
        </p:nvSpPr>
        <p:spPr>
          <a:xfrm>
            <a:off x="2092042" y="3171141"/>
            <a:ext cx="90176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the rate of natural habitat loss.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C839EC-E0CD-10E9-39D1-66A26D916D66}"/>
              </a:ext>
            </a:extLst>
          </p:cNvPr>
          <p:cNvSpPr txBox="1"/>
          <p:nvPr/>
        </p:nvSpPr>
        <p:spPr>
          <a:xfrm>
            <a:off x="2092042" y="4669705"/>
            <a:ext cx="942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ustainably managed and harvested aquatic organisms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DCA713-BB78-6D4D-5715-F831C0414CE6}"/>
              </a:ext>
            </a:extLst>
          </p:cNvPr>
          <p:cNvSpPr txBox="1"/>
          <p:nvPr/>
        </p:nvSpPr>
        <p:spPr>
          <a:xfrm>
            <a:off x="2092042" y="5763912"/>
            <a:ext cx="61000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areas under agriculture, aquaculture and forestry.  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668CC30-5B67-92D2-ED84-144F74B5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350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8219A-AB3E-C639-DEDC-C9AAAA05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AICHI BIODIVERSITY TARGETS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STRATEGIC GOAL B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A0D37-B809-B69A-931A-E4CE2274B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525CC5-11B6-A481-15FB-23ABE835E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79" y="2519833"/>
            <a:ext cx="1181215" cy="11812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D988B9-644F-2E29-057C-3CE340C70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78" y="4081240"/>
            <a:ext cx="1181215" cy="1181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284984-8D83-40E6-0B8A-107AF3C72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52" y="5642648"/>
            <a:ext cx="1179342" cy="11793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0C6821-0DCA-434F-C6DF-E0E4B584072B}"/>
              </a:ext>
            </a:extLst>
          </p:cNvPr>
          <p:cNvSpPr txBox="1"/>
          <p:nvPr/>
        </p:nvSpPr>
        <p:spPr>
          <a:xfrm>
            <a:off x="2147637" y="2782669"/>
            <a:ext cx="8740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pollution and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</a:t>
            </a:r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impact in the ecosystem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76FB7B-FA58-68D8-CA01-9C2314FEC500}"/>
              </a:ext>
            </a:extLst>
          </p:cNvPr>
          <p:cNvSpPr txBox="1"/>
          <p:nvPr/>
        </p:nvSpPr>
        <p:spPr>
          <a:xfrm>
            <a:off x="2147637" y="4210182"/>
            <a:ext cx="90898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radicated invasive species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84E6F9-A8B8-EADB-2276-9C79607F1344}"/>
              </a:ext>
            </a:extLst>
          </p:cNvPr>
          <p:cNvSpPr txBox="1"/>
          <p:nvPr/>
        </p:nvSpPr>
        <p:spPr>
          <a:xfrm>
            <a:off x="2147637" y="5715298"/>
            <a:ext cx="94628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climate change or ocean acidification on coral reefs and other vulnerable ecosystems have been reduced.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5CEE567-CEAA-F6E6-A477-9E90ED135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136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D945-FD3F-D53C-B4F3-780AEB988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AICHI BIODIVERSITY TARGETS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STRATEGIC GOAL C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9B15E-946B-0544-EF5A-B714A3C1D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824" y="1860490"/>
            <a:ext cx="11471776" cy="4351338"/>
          </a:xfrm>
        </p:spPr>
        <p:txBody>
          <a:bodyPr/>
          <a:lstStyle/>
          <a:p>
            <a:pPr lvl="1"/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improve the status of biodiversity by safeguarding ecosystems, species and genetic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biodiversit</a:t>
            </a:r>
            <a:r>
              <a:rPr lang="en-GH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GH" sz="1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798DF-1A95-DD24-AB62-0A30F1510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91646"/>
            <a:ext cx="1010333" cy="1010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911143-F20A-68A2-5DFF-E155108CD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17223"/>
            <a:ext cx="1010333" cy="10103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E67C6E-0DE5-339F-02CC-3051FEC28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33" y="5842800"/>
            <a:ext cx="1015200" cy="1015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C68BA4-DC83-9943-4535-5DFB6879C927}"/>
              </a:ext>
            </a:extLst>
          </p:cNvPr>
          <p:cNvSpPr txBox="1"/>
          <p:nvPr/>
        </p:nvSpPr>
        <p:spPr>
          <a:xfrm>
            <a:off x="1977189" y="3035202"/>
            <a:ext cx="9438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Terrestrial and inland waters must have been conserved.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6D1534-30BB-5FE9-995D-4D473D98E638}"/>
              </a:ext>
            </a:extLst>
          </p:cNvPr>
          <p:cNvSpPr txBox="1"/>
          <p:nvPr/>
        </p:nvSpPr>
        <p:spPr>
          <a:xfrm>
            <a:off x="2039352" y="4127227"/>
            <a:ext cx="93144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onserved and sustained the extinction of known threatened species</a:t>
            </a:r>
            <a:r>
              <a:rPr lang="en-GH" dirty="0"/>
              <a:t>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2E8BB6-D4FF-57D6-E550-E80E9C4E0CEF}"/>
              </a:ext>
            </a:extLst>
          </p:cNvPr>
          <p:cNvSpPr txBox="1"/>
          <p:nvPr/>
        </p:nvSpPr>
        <p:spPr>
          <a:xfrm>
            <a:off x="2006265" y="5903893"/>
            <a:ext cx="98719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aintained genetic diversity of cultivated plants and domesticated organisms</a:t>
            </a:r>
            <a:r>
              <a:rPr lang="en-GH" dirty="0"/>
              <a:t>. 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FD771A8-8482-7ACE-B3A2-0A7216988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458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D945-FD3F-D53C-B4F3-780AEB988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AICHI BIODIVERSITY TARGETS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STRATEGIC GOAL D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9B15E-946B-0544-EF5A-B714A3C1D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863" y="1883243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Enhance the benefits to all from biodiversity and ecosystem services</a:t>
            </a:r>
            <a:r>
              <a:rPr lang="en-GH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H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F6E0E-CF89-D281-25E8-9117BB5B9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995987"/>
            <a:ext cx="1172366" cy="1172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F9A7C0-CB6A-69CD-20E7-DAB5BE425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4365574"/>
            <a:ext cx="1172367" cy="11723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31A3B4-BF81-7E68-A5E9-94C237761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8" y="5699067"/>
            <a:ext cx="1172367" cy="11723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5B9FB8-32E6-05FB-3AB9-6A4CC5BBA525}"/>
              </a:ext>
            </a:extLst>
          </p:cNvPr>
          <p:cNvSpPr txBox="1"/>
          <p:nvPr/>
        </p:nvSpPr>
        <p:spPr>
          <a:xfrm>
            <a:off x="2105526" y="3155605"/>
            <a:ext cx="94387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estored and safeguarded ecosystems that provided ecological services.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F112DF-78D5-B2FE-4F9B-322625D91EBB}"/>
              </a:ext>
            </a:extLst>
          </p:cNvPr>
          <p:cNvSpPr txBox="1"/>
          <p:nvPr/>
        </p:nvSpPr>
        <p:spPr>
          <a:xfrm>
            <a:off x="2105526" y="4648926"/>
            <a:ext cx="9258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the increase in carbon stocks in the atmosphere.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C661F3-B3F5-BBBA-EE28-D3CC226C8147}"/>
              </a:ext>
            </a:extLst>
          </p:cNvPr>
          <p:cNvSpPr txBox="1"/>
          <p:nvPr/>
        </p:nvSpPr>
        <p:spPr>
          <a:xfrm>
            <a:off x="2105526" y="5519630"/>
            <a:ext cx="900563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2015, the Nagoya Protocol on Access to Genetic Resources and the fair and equitable </a:t>
            </a:r>
            <a:r>
              <a:rPr lang="en-GB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haring of benefits </a:t>
            </a:r>
            <a:r>
              <a:rPr lang="en-GB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rising from their Utilization is in force and operational. </a:t>
            </a:r>
            <a:endParaRPr lang="en-GH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17F695D-784E-643C-1662-220D4595F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150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D945-FD3F-D53C-B4F3-780AEB988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AICHI BIODIVERSITY TARGETS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STRATEGIC GOAL 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9B15E-946B-0544-EF5A-B714A3C1D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99" y="1810276"/>
            <a:ext cx="11589753" cy="4351338"/>
          </a:xfrm>
        </p:spPr>
        <p:txBody>
          <a:bodyPr/>
          <a:lstStyle/>
          <a:p>
            <a:pPr lvl="1"/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Enhance implementation through participating planning, knowledge management and capacity building.</a:t>
            </a:r>
            <a:r>
              <a:rPr lang="en-GH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H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FD225-1D80-9926-17DD-6D1550C4C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15997"/>
            <a:ext cx="1416566" cy="14165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FDF411-A8C8-F392-E40D-87A8EC787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076309"/>
            <a:ext cx="1416566" cy="14165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C9C1BC-0847-16FB-AC40-6D139DFF9182}"/>
              </a:ext>
            </a:extLst>
          </p:cNvPr>
          <p:cNvSpPr txBox="1"/>
          <p:nvPr/>
        </p:nvSpPr>
        <p:spPr>
          <a:xfrm>
            <a:off x="2506579" y="3047226"/>
            <a:ext cx="82115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2015 each Party has developed and commenced an updated national biodiversity plan. </a:t>
            </a:r>
            <a:endParaRPr lang="en-GH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E33685-F7C4-A7AB-2D95-E2CBF9CE08ED}"/>
              </a:ext>
            </a:extLst>
          </p:cNvPr>
          <p:cNvSpPr txBox="1"/>
          <p:nvPr/>
        </p:nvSpPr>
        <p:spPr>
          <a:xfrm>
            <a:off x="2506578" y="5307538"/>
            <a:ext cx="94387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knowledge that ar</a:t>
            </a:r>
            <a:r>
              <a:rPr lang="en-GB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relevant to conservation of biodiversity are respected.</a:t>
            </a:r>
            <a:endParaRPr lang="en-GB" sz="28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1DA65CE-DBEB-7DB2-07CF-311222D0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376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D945-FD3F-D53C-B4F3-780AEB988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AICHI BIODIVERSITY TARGETS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STRATEGIC GOAL 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9B15E-946B-0544-EF5A-B714A3C1D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2E4872-A1FC-40C3-B9A4-D6B9F2D30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85772"/>
            <a:ext cx="1416566" cy="14165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64D3C2-F4B0-04CC-01FD-AA5B8E22C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062443"/>
            <a:ext cx="1418400" cy="1418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4C5936-5C49-ADA6-23AB-05C76BF8C851}"/>
              </a:ext>
            </a:extLst>
          </p:cNvPr>
          <p:cNvSpPr txBox="1"/>
          <p:nvPr/>
        </p:nvSpPr>
        <p:spPr>
          <a:xfrm>
            <a:off x="2449004" y="2817001"/>
            <a:ext cx="89695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H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nowledge of science and technology relevant to biodiversity are improved, transeferred and shared.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F4907F-2FD1-21F5-64B6-20A8EF07DFD8}"/>
              </a:ext>
            </a:extLst>
          </p:cNvPr>
          <p:cNvSpPr txBox="1"/>
          <p:nvPr/>
        </p:nvSpPr>
        <p:spPr>
          <a:xfrm>
            <a:off x="2449004" y="4965944"/>
            <a:ext cx="98719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28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obilized financial resources for effectively implementing the Strategic Plan for Biodiversity 2011-2020 from all sources. </a:t>
            </a:r>
            <a:endParaRPr lang="en-GH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B85A2C9-D7A4-D143-E458-F99D5439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32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9C08-AEA3-E3B8-B3D1-B2A520C6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HALLENGES FACED IN ACHIEVING THE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D3A7A-311C-F5C1-06FC-C266DDB9D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1125"/>
            <a:ext cx="10515600" cy="4351338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buFont typeface="Symbol" pitchFamily="2" charset="2"/>
              <a:buChar char=""/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Inadequate funding.</a:t>
            </a:r>
          </a:p>
          <a:p>
            <a:pPr marL="342900" lvl="0" indent="-342900">
              <a:lnSpc>
                <a:spcPct val="107000"/>
              </a:lnSpc>
              <a:buFont typeface="Symbol" pitchFamily="2" charset="2"/>
              <a:buChar char=""/>
            </a:pPr>
            <a:endParaRPr lang="en-GH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itchFamily="2" charset="2"/>
              <a:buChar char=""/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Insufficient public awareness and involvement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07000"/>
              </a:lnSpc>
              <a:buFont typeface="Symbol" pitchFamily="2" charset="2"/>
              <a:buChar char=""/>
            </a:pPr>
            <a:endParaRPr lang="en-GH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itchFamily="2" charset="2"/>
              <a:buChar char=""/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Lack of political will.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endParaRPr lang="en-GH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F5A95-D36F-5529-455C-68394C05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081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D945-FD3F-D53C-B4F3-780AEB988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DEVELOPMENTAL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9B15E-946B-0544-EF5A-B714A3C1D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Sustainable Development Goals (SDGs) were born at the </a:t>
            </a:r>
            <a:r>
              <a:rPr lang="en-GB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United Nations Conference on Sustainable Development</a:t>
            </a:r>
            <a:r>
              <a:rPr lang="en-GB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Rio de Janeiro in 2012</a:t>
            </a:r>
            <a:r>
              <a:rPr lang="en-GB" b="0" i="0" dirty="0">
                <a:solidFill>
                  <a:srgbClr val="202124"/>
                </a:solidFill>
                <a:effectLst/>
                <a:latin typeface="Google Sans"/>
              </a:rPr>
              <a:t>.</a:t>
            </a:r>
          </a:p>
          <a:p>
            <a:r>
              <a:rPr lang="en-GB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Adopted by 193 countries in 2015</a:t>
            </a:r>
            <a:endParaRPr lang="en-GB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United Nations’ 17 </a:t>
            </a:r>
            <a:r>
              <a:rPr lang="en-GB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SDGs are the world’s shared plan to:</a:t>
            </a:r>
          </a:p>
          <a:p>
            <a:pPr lvl="1"/>
            <a:r>
              <a:rPr lang="en-GB" sz="2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8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nd extreme poverty </a:t>
            </a:r>
          </a:p>
          <a:p>
            <a:pPr lvl="1"/>
            <a:r>
              <a:rPr lang="en-GB" sz="28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inequality  </a:t>
            </a:r>
          </a:p>
          <a:p>
            <a:pPr lvl="1"/>
            <a:r>
              <a:rPr lang="en-GB" sz="28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 the planet </a:t>
            </a:r>
          </a:p>
          <a:p>
            <a:pPr lvl="1"/>
            <a:r>
              <a:rPr lang="en-GB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decent lives by 2030</a:t>
            </a:r>
            <a:endParaRPr lang="en-GB" sz="28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21283-CD9A-4034-21DA-4168B998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330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D945-FD3F-D53C-B4F3-780AEB988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DEVELOPMENTAL GOALS</a:t>
            </a:r>
            <a:endParaRPr lang="en-G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09D0CB-1DC9-09BB-0E77-D4D1EF563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1630" y="2125888"/>
            <a:ext cx="1870437" cy="18704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134BE4-5D78-D458-35BE-4AC7D4AC6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867" y="2124680"/>
            <a:ext cx="1865055" cy="18650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9E0C3C-A078-D8B8-5F0E-AD4EC9204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1211" y="2127071"/>
            <a:ext cx="1870437" cy="18704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4D0094-ACB8-9ABF-A382-9092B379B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8937" y="2120986"/>
            <a:ext cx="1865055" cy="18650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260345-5AB8-845C-FE33-92BED0B4C4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544" y="2116954"/>
            <a:ext cx="1865056" cy="18650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3531E7-7E40-2C8B-4D58-C9A60C6CA6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998512"/>
            <a:ext cx="1865055" cy="18650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3E45816-5EE9-BFE4-DE0A-E11248173D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244" y="3989646"/>
            <a:ext cx="1865055" cy="18650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21DDEC5-3D10-AA9F-31DF-D87F39881E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4290" y="3993130"/>
            <a:ext cx="1870437" cy="18704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5101A9F-26CB-78B1-8C92-09EA8E8413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4201" y="3993629"/>
            <a:ext cx="1865055" cy="186505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D46796B-7C74-04FF-53D1-5B36A52BB0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4973" y="3978849"/>
            <a:ext cx="1865055" cy="1865055"/>
          </a:xfrm>
          <a:prstGeom prst="rect">
            <a:avLst/>
          </a:prstGeom>
        </p:spPr>
      </p:pic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78191891-2683-0AAD-D7DC-15BFBB26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224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D945-FD3F-D53C-B4F3-780AEB988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DEVELOPMENTAL GOALS</a:t>
            </a:r>
            <a:endParaRPr lang="en-G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3D9E35-AC30-1F7C-23F1-B563FCEF1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0389" y="2305475"/>
            <a:ext cx="2024809" cy="202480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755C01-C36E-9E49-ED14-2E727414B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789" y="2315983"/>
            <a:ext cx="2024809" cy="20248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6C3F2D-20FB-C422-4ED8-5C24DD638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598" y="2299884"/>
            <a:ext cx="2030400" cy="203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64AA7F-7CF9-3ECB-911D-7005263CD9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5998" y="2298370"/>
            <a:ext cx="2025141" cy="20251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C5466B-7D4A-AD81-4436-D05EC103A0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2497" y="4342984"/>
            <a:ext cx="2024809" cy="20248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396104-441D-03B4-D5E1-C078243AF3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7630" y="4338600"/>
            <a:ext cx="2025141" cy="20251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127960C-8E46-12DA-E439-7A52F3549E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2771" y="4330284"/>
            <a:ext cx="2026800" cy="2026800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6A8F60A-EAB7-23D2-628B-E9EBA840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150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F52F5-7EDC-2B5F-BA85-65D308009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H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AD409-A530-5C5F-09BC-F023D2FC0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25"/>
            <a:ext cx="10515600" cy="4351338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conservation of biodiversity is a critical and urgent challenge that demands immediate action from all levels of society.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us all take inspiration from fighting for a better planet to making a positive impact.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385F7-5A66-F5AB-9785-5692C5F1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637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41203-6D73-1F73-3AE3-FAF5A7A47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69380-57A7-A0D4-E9DA-B9411E4A7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100"/>
            <a:ext cx="10515600" cy="5422899"/>
          </a:xfrm>
        </p:spPr>
        <p:txBody>
          <a:bodyPr/>
          <a:lstStyle/>
          <a:p>
            <a:r>
              <a:rPr lang="en-GB" sz="1800" b="0" i="0" dirty="0">
                <a:solidFill>
                  <a:srgbClr val="05103E"/>
                </a:solidFill>
                <a:effectLst/>
                <a:latin typeface="Times New Roman" panose="02020603050405020304" pitchFamily="18" charset="0"/>
              </a:rPr>
              <a:t>Lai, O. (2022). What are the Aichi biodiversity targets? </a:t>
            </a:r>
            <a:r>
              <a:rPr lang="en-GB" sz="1800" b="0" i="1" dirty="0" err="1">
                <a:solidFill>
                  <a:srgbClr val="05103E"/>
                </a:solidFill>
                <a:effectLst/>
                <a:latin typeface="Times New Roman" panose="02020603050405020304" pitchFamily="18" charset="0"/>
              </a:rPr>
              <a:t>Earth.Org</a:t>
            </a:r>
            <a:r>
              <a:rPr lang="en-GB" sz="1800" b="0" i="0" dirty="0">
                <a:solidFill>
                  <a:srgbClr val="05103E"/>
                </a:solidFill>
                <a:effectLst/>
                <a:latin typeface="Times New Roman" panose="02020603050405020304" pitchFamily="18" charset="0"/>
              </a:rPr>
              <a:t>. https://earth.org/what-are-the-aichi-biodiversity-targets/#:~:text=The%20Aichi%20biodiversity%20targets%20were,biodiversity%20loss%20across%20the%20globe.</a:t>
            </a:r>
          </a:p>
          <a:p>
            <a:r>
              <a:rPr lang="en-GB" sz="2000" dirty="0" err="1">
                <a:solidFill>
                  <a:srgbClr val="05103E"/>
                </a:solidFill>
                <a:latin typeface="Times New Roman" panose="02020603050405020304" pitchFamily="18" charset="0"/>
              </a:rPr>
              <a:t>Sightsavers</a:t>
            </a:r>
            <a:r>
              <a:rPr lang="en-GB" sz="2000" dirty="0">
                <a:solidFill>
                  <a:srgbClr val="05103E"/>
                </a:solidFill>
                <a:latin typeface="Times New Roman" panose="02020603050405020304" pitchFamily="18" charset="0"/>
              </a:rPr>
              <a:t> (2022). </a:t>
            </a:r>
            <a:r>
              <a:rPr lang="en-GB" sz="2000" i="0" dirty="0">
                <a:solidFill>
                  <a:srgbClr val="3737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Sustainable Development Goals? Sustainab</a:t>
            </a:r>
            <a:r>
              <a:rPr lang="en-GB" sz="2000" dirty="0">
                <a:solidFill>
                  <a:srgbClr val="3737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Developmental Goals. https://www.sightsavers.org/policy-and-advocacy/global-goals/?gad=1&amp;gclid=Cj0KCQjwn_OlBhDhARIsAG2y6zNMf1CrVduOqhA4ENX_I99jZ5p6ojdQR8xrXc677zgIeXmX53rF3zkaAtxTEALw_wcB</a:t>
            </a:r>
          </a:p>
          <a:p>
            <a:r>
              <a:rPr lang="en-GH" sz="2000" i="0" dirty="0">
                <a:solidFill>
                  <a:srgbClr val="3737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United Nations F</a:t>
            </a:r>
            <a:r>
              <a:rPr lang="en-GH" sz="2000" dirty="0">
                <a:solidFill>
                  <a:srgbClr val="3737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oundation (2017). Sustainable Developmental Goals. </a:t>
            </a:r>
            <a:r>
              <a:rPr lang="en-GB" sz="2000" dirty="0">
                <a:solidFill>
                  <a:srgbClr val="3737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https://unfoundation.org/what-we-do/issues/sustainable-development-goals/?gclid=Cj0KCQjwn_OlBhDhARIsAG2y6zOQCn5XkjEDKg4dTx3F0EQFHpdF6iq1Uh5z5Ksb9OXlP98ZkKtbKvMaAkDKEALw_wcB</a:t>
            </a:r>
          </a:p>
          <a:p>
            <a:r>
              <a:rPr lang="en-GB" sz="2000" i="0" dirty="0">
                <a:solidFill>
                  <a:srgbClr val="3737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Convention on Biological Diversity (2011). Aichi Targets. https://</a:t>
            </a:r>
            <a:r>
              <a:rPr lang="en-GB" sz="2000" i="0" dirty="0" err="1">
                <a:solidFill>
                  <a:srgbClr val="3737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www.cbd.int</a:t>
            </a:r>
            <a:r>
              <a:rPr lang="en-GB" sz="2000" i="0" dirty="0">
                <a:solidFill>
                  <a:srgbClr val="3737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GB" sz="2000" i="0" dirty="0" err="1">
                <a:solidFill>
                  <a:srgbClr val="3737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aichi</a:t>
            </a:r>
            <a:r>
              <a:rPr lang="en-GB" sz="2000" i="0" dirty="0">
                <a:solidFill>
                  <a:srgbClr val="3737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-targets/target/20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67889-5A8C-FE68-0388-2ADCA22B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086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1146</TotalTime>
  <Words>742</Words>
  <Application>Microsoft Office PowerPoint</Application>
  <PresentationFormat>Widescreen</PresentationFormat>
  <Paragraphs>92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PRESENTATION OUTLINE </vt:lpstr>
      <vt:lpstr>INTRODUCTION TO AICHI BIODIVERSITY TARGETS </vt:lpstr>
      <vt:lpstr>AICHI BIODIVERSITY TARGETS:STRATEGIC GOAL A</vt:lpstr>
      <vt:lpstr>AICHI BIODIVERSITY TARGETS:STRATEGIC GOAL A</vt:lpstr>
      <vt:lpstr>AICHI BIODIVERSITY TARGETS: STRATEGIC GOAL B</vt:lpstr>
      <vt:lpstr>AICHI BIODIVERSITY TARGETS: STRATEGIC GOAL B</vt:lpstr>
      <vt:lpstr>AICHI BIODIVERSITY TARGETS: STRATEGIC GOAL C</vt:lpstr>
      <vt:lpstr>AICHI BIODIVERSITY TARGETS: STRATEGIC GOAL D</vt:lpstr>
      <vt:lpstr>AICHI BIODIVERSITY TARGETS: STRATEGIC GOAL E</vt:lpstr>
      <vt:lpstr>AICHI BIODIVERSITY TARGETS: STRATEGIC GOAL E</vt:lpstr>
      <vt:lpstr>CHALLENGES FACED IN ACHIEVING THE TARGETS</vt:lpstr>
      <vt:lpstr>SUSTAINABLE DEVELOPMENTAL GOALS</vt:lpstr>
      <vt:lpstr>SUSTAINABLE DEVELOPMENTAL GOALS</vt:lpstr>
      <vt:lpstr>SUSTAINABLE DEVELOPMENTAL GOALS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Opoku Agyemang</dc:creator>
  <cp:lastModifiedBy>Jane Abbey</cp:lastModifiedBy>
  <cp:revision>3</cp:revision>
  <dcterms:created xsi:type="dcterms:W3CDTF">2023-07-22T23:20:08Z</dcterms:created>
  <dcterms:modified xsi:type="dcterms:W3CDTF">2023-07-23T20:04:13Z</dcterms:modified>
</cp:coreProperties>
</file>