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9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5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tableStyles" Target="tableStyles.xml" /><Relationship Id="rId3" Type="http://schemas.openxmlformats.org/officeDocument/2006/relationships/slide" Target="slides/slide1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theme" Target="theme/theme1.xml" /><Relationship Id="rId2" Type="http://schemas.openxmlformats.org/officeDocument/2006/relationships/slideMaster" Target="slideMasters/slideMaster2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5" Type="http://schemas.openxmlformats.org/officeDocument/2006/relationships/slide" Target="slides/slide3.xml" /><Relationship Id="rId15" Type="http://schemas.openxmlformats.org/officeDocument/2006/relationships/presProps" Target="presProps.xml" /><Relationship Id="rId10" Type="http://schemas.openxmlformats.org/officeDocument/2006/relationships/slide" Target="slides/slide8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0D09B7-58EB-4531-B02F-A2DA602E58D8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CEC07E-10EB-4B40-B032-F1947B6B0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09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2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248DA-E2F7-4EE9-BC5E-2DF51FDE2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292066-1EC3-4772-AF4E-A80D016C3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1AAFB-0A6A-4FA8-A8E3-3918FB176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B27C5-577E-43E9-BA5B-10EE54B4F090}" type="datetime1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0CD93-F399-401D-AD11-286097B54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3D664-E3F3-42E7-83B9-0F9AF760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5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6426B-4E8B-4370-8624-E5884896D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4CCA1-C6ED-4913-A923-8E1046D43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5DDFE-EFAF-4D87-819F-3B854C7DB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3509-C59D-4ECD-98D1-31FF87233075}" type="datetime1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29B50-B425-4126-92E1-9E14BECFB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828FC-1D89-4658-B18A-EB135D7BC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1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AC11B-33CA-4175-B4C2-C02EFCBE5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607D9-E130-4C7E-B408-B8A53A821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A19D4-412F-468E-95BE-712C9703E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F71FA-F38A-49D0-AEB3-11247F866046}" type="datetime1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674B8-FF35-4AC4-880C-DAD13C726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63262-D7BD-44CF-ADAF-F3691CBF3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1496F-4670-4A18-AC65-99BC57360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1E34E-63E3-46DE-A0BB-6AD5F51169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49A87-C0FC-49BC-B131-F56AF9AE4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8132D-C648-4D74-A9DC-9253031B4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B023E-A300-4A9B-AB7A-D18B52348914}" type="datetime1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326CB-09DB-4466-8DA2-1B591DA9C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0705B-91DD-45CE-B185-9C2AA9558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24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355AA-69BF-472B-BC76-7BFB97840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3B826-3204-49D2-8D20-B62771E35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1FF78F-F8B1-4153-A89A-E530F82C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CD9275-D6BB-4129-9B27-0E028B9A3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77463-F7E5-4213-9E02-4FFC69065B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BEB199-42C9-4B04-B9BB-50579FE5D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C39A7-CFB6-4717-81A9-79B56A70D309}" type="datetime1">
              <a:rPr lang="en-US" smtClean="0"/>
              <a:t>7/24/2023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130376-75FA-458B-B29E-F23ED6F2F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AAFB1A-B49C-447E-87EE-43A42B212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615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78155-2C62-477D-8E1C-4DCA67514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DF529-0D15-4307-9DDD-7BD414630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F743-8638-4A09-8289-473325FC2AC6}" type="datetime1">
              <a:rPr lang="en-US" smtClean="0"/>
              <a:t>7/24/2023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2F9521-2AF3-420D-8CFA-D61B88F3D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8F13B1-1D74-4BCF-ADFD-8BDE9C59E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13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462B24-9C8D-4FA5-BA70-7C76E0E78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307A5-C9E1-4189-8F9B-06AB53C364F6}" type="datetime1">
              <a:rPr lang="en-US" smtClean="0"/>
              <a:t>7/24/2023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152075-1C46-4DCF-ABF2-6A7CA1790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EF69C-2D88-48D5-A118-58362594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91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86819-1147-4758-8AC5-9D1E3610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EEA3D-EFD5-436F-A674-147F8EA7A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923339-D97E-4FD3-B7A0-64267B279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B3795-0EFE-4193-B07A-8DFDA71B9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F749-CCBE-41FB-BCE6-BF42284E835B}" type="datetime1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E9764-7F24-4F84-BB60-E64CAF5B8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52F58-ABF4-4BCE-AA5B-F99ADD01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66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474D6-07BF-4F0C-B477-DB304CA80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9F28D7-166F-450A-938F-9312233A63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FFF54-ED75-45A3-8F5F-4409AFFF5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1ADB2-68FF-4760-B9A1-09E09DE76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1A19-A673-46B9-81F8-7EFF84EF58F3}" type="datetime1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055DF-212F-4843-804B-86EA67CC1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3E742-5C64-46B3-BFCF-D19F0568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900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4D946-AB89-431A-9CFA-E6925399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A5BDA-F04D-49AC-931A-F13660F72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E1F53-2A9A-4791-BCA7-9AF502EE7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5730-6BD7-46D7-AF38-A3BA70FC3462}" type="datetime1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AC498-726F-48C0-8039-D1D8A65DC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E90D9-AB09-4827-9585-7C9CC466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34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949F6D-1947-43F4-8A58-D936DA48D5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0435DD-D33B-453B-B852-3611F5FC2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D95B2-0ED8-4C73-9C4E-6B7A303DB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3DF25-E624-4A58-9386-F0CF5173A1BB}" type="datetime1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0BBE9-1DB6-495C-9435-1F46D6208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A95AB-1F61-4AA8-9F60-4F7817AB3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997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6FB27C5-577E-43E9-BA5B-10EE54B4F090}" type="datetime1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7873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92AF-0392-4A4A-9AD0-712007138739}" type="datetime1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3795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F71FA-F38A-49D0-AEB3-11247F866046}" type="datetime1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073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92AF-0392-4A4A-9AD0-712007138739}" type="datetime1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4323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92AF-0392-4A4A-9AD0-712007138739}" type="datetime1">
              <a:rPr lang="en-US" smtClean="0"/>
              <a:t>7/24/2023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1212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F743-8638-4A09-8289-473325FC2AC6}" type="datetime1">
              <a:rPr lang="en-US" smtClean="0"/>
              <a:t>7/24/2023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8625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307A5-C9E1-4189-8F9B-06AB53C364F6}" type="datetime1">
              <a:rPr lang="en-US" smtClean="0"/>
              <a:t>7/24/2023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2267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92AF-0392-4A4A-9AD0-712007138739}" type="datetime1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9869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1A19-A673-46B9-81F8-7EFF84EF58F3}" type="datetime1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3704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92AF-0392-4A4A-9AD0-712007138739}" type="datetime1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983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92AF-0392-4A4A-9AD0-712007138739}" type="datetime1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501569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92AF-0392-4A4A-9AD0-712007138739}" type="datetime1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951313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92AF-0392-4A4A-9AD0-712007138739}" type="datetime1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631727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92AF-0392-4A4A-9AD0-712007138739}" type="datetime1">
              <a:rPr lang="en-US" smtClean="0"/>
              <a:t>7/24/2023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69197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92AF-0392-4A4A-9AD0-712007138739}" type="datetime1">
              <a:rPr lang="en-US" smtClean="0"/>
              <a:t>7/24/2023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4874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92AF-0392-4A4A-9AD0-712007138739}" type="datetime1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889438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92AF-0392-4A4A-9AD0-712007138739}" type="datetime1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35919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 /><Relationship Id="rId13" Type="http://schemas.openxmlformats.org/officeDocument/2006/relationships/slideLayout" Target="../slideLayouts/slideLayout24.xml" /><Relationship Id="rId18" Type="http://schemas.openxmlformats.org/officeDocument/2006/relationships/theme" Target="../theme/theme2.xml" /><Relationship Id="rId3" Type="http://schemas.openxmlformats.org/officeDocument/2006/relationships/slideLayout" Target="../slideLayouts/slideLayout14.xml" /><Relationship Id="rId7" Type="http://schemas.openxmlformats.org/officeDocument/2006/relationships/slideLayout" Target="../slideLayouts/slideLayout18.xml" /><Relationship Id="rId12" Type="http://schemas.openxmlformats.org/officeDocument/2006/relationships/slideLayout" Target="../slideLayouts/slideLayout23.xml" /><Relationship Id="rId17" Type="http://schemas.openxmlformats.org/officeDocument/2006/relationships/slideLayout" Target="../slideLayouts/slideLayout28.xml" /><Relationship Id="rId2" Type="http://schemas.openxmlformats.org/officeDocument/2006/relationships/slideLayout" Target="../slideLayouts/slideLayout13.xml" /><Relationship Id="rId16" Type="http://schemas.openxmlformats.org/officeDocument/2006/relationships/slideLayout" Target="../slideLayouts/slideLayout27.xml" /><Relationship Id="rId1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7.xml" /><Relationship Id="rId11" Type="http://schemas.openxmlformats.org/officeDocument/2006/relationships/slideLayout" Target="../slideLayouts/slideLayout22.xml" /><Relationship Id="rId5" Type="http://schemas.openxmlformats.org/officeDocument/2006/relationships/slideLayout" Target="../slideLayouts/slideLayout16.xml" /><Relationship Id="rId15" Type="http://schemas.openxmlformats.org/officeDocument/2006/relationships/slideLayout" Target="../slideLayouts/slideLayout26.xml" /><Relationship Id="rId10" Type="http://schemas.openxmlformats.org/officeDocument/2006/relationships/slideLayout" Target="../slideLayouts/slideLayout21.xml" /><Relationship Id="rId19" Type="http://schemas.openxmlformats.org/officeDocument/2006/relationships/image" Target="../media/image3.jpg" /><Relationship Id="rId4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20.xml" /><Relationship Id="rId14" Type="http://schemas.openxmlformats.org/officeDocument/2006/relationships/slideLayout" Target="../slideLayouts/slideLayout25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46732B-BB45-457E-9217-38983DFFE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AF23F-C9CF-44FE-81B7-903C4C797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95C35-6F12-474E-837E-A722AEA4DF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6292AF-0392-4A4A-9AD0-712007138739}" type="datetime1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047E5-D9D2-49B9-B865-405BBDF2CC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A03A6-C242-45E6-A960-2730B9DF4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595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86292AF-0392-4A4A-9AD0-712007138739}" type="datetime1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516934F-C967-40C9-8DA1-D7261F03B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322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9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0.jpeg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ucnredlist.org/" TargetMode="External" /><Relationship Id="rId2" Type="http://schemas.openxmlformats.org/officeDocument/2006/relationships/hyperlink" Target="https://www.britannica.com/topic/IUCN-Red-List-of-Threatened-Species" TargetMode="Externa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A7234F5-5108-42C2-B09C-22AF8502D8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005F1-BC8F-4E45-9DC3-67D0F67F4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6260" y="2870518"/>
            <a:ext cx="9001462" cy="1655762"/>
          </a:xfrm>
        </p:spPr>
        <p:txBody>
          <a:bodyPr>
            <a:normAutofit/>
          </a:bodyPr>
          <a:lstStyle/>
          <a:p>
            <a:r>
              <a:rPr lang="en-US" sz="4800" b="1" dirty="0"/>
              <a:t>GROUP 13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C01A8-99A5-49AA-886B-40667725B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60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1441F-E61B-482E-97CB-0C1E99A32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7A7AE-C1FE-49EF-9055-4735D41C1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The International Union for Conservation of Nature’s Red List of threatened species, established in 1964.</a:t>
            </a:r>
          </a:p>
          <a:p>
            <a:r>
              <a:rPr lang="en-US" sz="3200" dirty="0"/>
              <a:t>Source of information on the global extinction risk status of animals, plant and fungus species.</a:t>
            </a:r>
          </a:p>
          <a:p>
            <a:r>
              <a:rPr lang="en-US" sz="3200" dirty="0"/>
              <a:t>It consist of species group including mammals, amphibians, birds, reef building corals and conifers.</a:t>
            </a:r>
          </a:p>
          <a:p>
            <a:r>
              <a:rPr lang="en-US" sz="3200" dirty="0"/>
              <a:t>It is a powerful tool to inform and catalyze action for biodiversity conservation.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87A55-A4FA-4A5A-A050-8A2ADCF2C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350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55F2A-AD41-4C9D-A596-0998024D4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87325"/>
            <a:ext cx="3932237" cy="16002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barometer of life</a:t>
            </a:r>
          </a:p>
        </p:txBody>
      </p:sp>
      <p:pic>
        <p:nvPicPr>
          <p:cNvPr id="1028" name="Picture 4" descr="The IUCN Red List: A Barometer of Life - REDAD®">
            <a:extLst>
              <a:ext uri="{FF2B5EF4-FFF2-40B4-BE49-F238E27FC236}">
                <a16:creationId xmlns:a16="http://schemas.microsoft.com/office/drawing/2014/main" id="{61E5EB2E-8A4E-4FA5-AF37-9080B46AB435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1" r="14381"/>
          <a:stretch>
            <a:fillRect/>
          </a:stretch>
        </p:blipFill>
        <p:spPr bwMode="auto">
          <a:xfrm>
            <a:off x="5287617" y="801894"/>
            <a:ext cx="6293058" cy="487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986904-EE35-4493-9019-FDD5D41CF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010" y="2415208"/>
            <a:ext cx="5046813" cy="369404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IUCN red list re-assesses the status of some existing species.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 there are more than 150,300 species on the IUCN red list, with more than 42,100 species threatened with extinction.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41% of amphibians, 37% of sharks and rays, 36% of reef building corals, 34% of conifers, 27% of mammals and 13% of birds.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68D36-D811-4405-BD6F-DB7A43D71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DE5E5-815C-4012-A5B4-D2E3B8D78AE3}"/>
              </a:ext>
            </a:extLst>
          </p:cNvPr>
          <p:cNvSpPr txBox="1"/>
          <p:nvPr/>
        </p:nvSpPr>
        <p:spPr>
          <a:xfrm>
            <a:off x="7334123" y="5503928"/>
            <a:ext cx="2717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1; The barometer of life</a:t>
            </a:r>
          </a:p>
        </p:txBody>
      </p:sp>
    </p:spTree>
    <p:extLst>
      <p:ext uri="{BB962C8B-B14F-4D97-AF65-F5344CB8AC3E}">
        <p14:creationId xmlns:p14="http://schemas.microsoft.com/office/powerpoint/2010/main" val="3047040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6EBC-4131-4CC5-B6F9-4B45E9409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IUCN RED LIST CATEGORIES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40BDC-8ADB-451A-A0B2-51D1E179E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Not Evaluated (NE)</a:t>
            </a:r>
          </a:p>
          <a:p>
            <a:r>
              <a:rPr lang="en-US" dirty="0"/>
              <a:t>Data Deficient (DD)</a:t>
            </a:r>
          </a:p>
          <a:p>
            <a:r>
              <a:rPr lang="en-US" dirty="0"/>
              <a:t>Least Concern (LC)</a:t>
            </a:r>
          </a:p>
          <a:p>
            <a:r>
              <a:rPr lang="en-US" dirty="0"/>
              <a:t>Near Threatened (NT)</a:t>
            </a:r>
          </a:p>
          <a:p>
            <a:r>
              <a:rPr lang="en-US" dirty="0"/>
              <a:t>Vulnerable (VU)</a:t>
            </a:r>
          </a:p>
          <a:p>
            <a:r>
              <a:rPr lang="en-US" dirty="0"/>
              <a:t>Endangered (EN)</a:t>
            </a:r>
          </a:p>
          <a:p>
            <a:r>
              <a:rPr lang="en-US" dirty="0"/>
              <a:t>Critically Endangered (CR)</a:t>
            </a:r>
          </a:p>
          <a:p>
            <a:r>
              <a:rPr lang="en-US" dirty="0"/>
              <a:t>Extinct In the Wild (EW)</a:t>
            </a:r>
          </a:p>
          <a:p>
            <a:r>
              <a:rPr lang="en-US" dirty="0"/>
              <a:t>Extinct (EX)</a:t>
            </a:r>
          </a:p>
        </p:txBody>
      </p:sp>
      <p:pic>
        <p:nvPicPr>
          <p:cNvPr id="2050" name="Picture 2" descr="IUCN Red List of Threatened Species">
            <a:extLst>
              <a:ext uri="{FF2B5EF4-FFF2-40B4-BE49-F238E27FC236}">
                <a16:creationId xmlns:a16="http://schemas.microsoft.com/office/drawing/2014/main" id="{6D003ECE-87F8-4677-AAAC-4A5AE8F8B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486" y="1672003"/>
            <a:ext cx="635531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7FF740-7A95-4A88-9CBC-F332979A6851}"/>
              </a:ext>
            </a:extLst>
          </p:cNvPr>
          <p:cNvSpPr txBox="1"/>
          <p:nvPr/>
        </p:nvSpPr>
        <p:spPr>
          <a:xfrm>
            <a:off x="7527186" y="6127234"/>
            <a:ext cx="304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2; IUCN Categories</a:t>
            </a:r>
          </a:p>
        </p:txBody>
      </p:sp>
    </p:spTree>
    <p:extLst>
      <p:ext uri="{BB962C8B-B14F-4D97-AF65-F5344CB8AC3E}">
        <p14:creationId xmlns:p14="http://schemas.microsoft.com/office/powerpoint/2010/main" val="3225692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AEA01-B7ED-463F-9D5D-AD227B631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CRITERIA USED TO ASSESS THE EXTINCTION RISK OF SPECIES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4A5C5-CEFF-473A-8C3F-FE19070B9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rate of population decline.</a:t>
            </a:r>
          </a:p>
          <a:p>
            <a:r>
              <a:rPr lang="en-US" dirty="0"/>
              <a:t>The geographic range.</a:t>
            </a:r>
          </a:p>
          <a:p>
            <a:r>
              <a:rPr lang="en-US" dirty="0"/>
              <a:t>Whether the species already possesses a small population size.</a:t>
            </a:r>
          </a:p>
          <a:p>
            <a:r>
              <a:rPr lang="en-US" dirty="0"/>
              <a:t>Whether the species lives in a restricted area.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B31F6-C9C3-4BB5-A93D-4AB657880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5</a:t>
            </a:fld>
            <a:endParaRPr lang="en-US"/>
          </a:p>
        </p:txBody>
      </p:sp>
      <p:pic>
        <p:nvPicPr>
          <p:cNvPr id="3074" name="Picture 2" descr="The Red List - BirdLife International">
            <a:extLst>
              <a:ext uri="{FF2B5EF4-FFF2-40B4-BE49-F238E27FC236}">
                <a16:creationId xmlns:a16="http://schemas.microsoft.com/office/drawing/2014/main" id="{68D5C55F-FB7D-42F0-921A-F5261626A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147" y="4178300"/>
            <a:ext cx="9525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0006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47440-CED2-43BD-94F8-8529B31E7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FEATURED RED LIST WORK.</a:t>
            </a:r>
          </a:p>
        </p:txBody>
      </p:sp>
      <p:pic>
        <p:nvPicPr>
          <p:cNvPr id="4098" name="Picture 2" descr="European bison - Wikipedia">
            <a:extLst>
              <a:ext uri="{FF2B5EF4-FFF2-40B4-BE49-F238E27FC236}">
                <a16:creationId xmlns:a16="http://schemas.microsoft.com/office/drawing/2014/main" id="{F7FCCB3D-2B70-4B50-92C8-998799ADD3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27" y="1607326"/>
            <a:ext cx="4749599" cy="268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58933-922A-4C82-9407-F5C6E047A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6</a:t>
            </a:fld>
            <a:endParaRPr lang="en-US"/>
          </a:p>
        </p:txBody>
      </p:sp>
      <p:pic>
        <p:nvPicPr>
          <p:cNvPr id="4100" name="Picture 4" descr="Wild African elephants may have domesticated themselves | New Scientist">
            <a:extLst>
              <a:ext uri="{FF2B5EF4-FFF2-40B4-BE49-F238E27FC236}">
                <a16:creationId xmlns:a16="http://schemas.microsoft.com/office/drawing/2014/main" id="{065C5606-D42E-4BB0-99F3-F937A4E8C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8875" y="1589680"/>
            <a:ext cx="4749598" cy="2705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Dragonfly - Wikipedia">
            <a:extLst>
              <a:ext uri="{FF2B5EF4-FFF2-40B4-BE49-F238E27FC236}">
                <a16:creationId xmlns:a16="http://schemas.microsoft.com/office/drawing/2014/main" id="{7D86F083-2F3A-4F51-BD44-0B28F9B77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724" y="4678326"/>
            <a:ext cx="4933507" cy="2179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C2467D-3EA0-4F95-ADF4-837091D33026}"/>
              </a:ext>
            </a:extLst>
          </p:cNvPr>
          <p:cNvSpPr txBox="1"/>
          <p:nvPr/>
        </p:nvSpPr>
        <p:spPr>
          <a:xfrm>
            <a:off x="233527" y="4308993"/>
            <a:ext cx="2691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3; European Bison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AF49E4-5E22-4291-B621-80B2AC8F9AEE}"/>
              </a:ext>
            </a:extLst>
          </p:cNvPr>
          <p:cNvSpPr txBox="1"/>
          <p:nvPr/>
        </p:nvSpPr>
        <p:spPr>
          <a:xfrm>
            <a:off x="8430734" y="4329869"/>
            <a:ext cx="2608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4; African Elephant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EE6523-BC7C-4AFA-9667-3BE3798D0E0B}"/>
              </a:ext>
            </a:extLst>
          </p:cNvPr>
          <p:cNvSpPr txBox="1"/>
          <p:nvPr/>
        </p:nvSpPr>
        <p:spPr>
          <a:xfrm>
            <a:off x="7858231" y="6123543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5; Dragonfly</a:t>
            </a:r>
          </a:p>
        </p:txBody>
      </p:sp>
    </p:spTree>
    <p:extLst>
      <p:ext uri="{BB962C8B-B14F-4D97-AF65-F5344CB8AC3E}">
        <p14:creationId xmlns:p14="http://schemas.microsoft.com/office/powerpoint/2010/main" val="2453504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DCB31-99DC-4BFD-BFB5-D34878118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THE RED LIST IS USED.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CDBE-7E5F-4FDC-AB76-F0978941E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The IUCN red list show us where and what actions need to be taken to save the building blocks of nature form extinction.</a:t>
            </a:r>
          </a:p>
          <a:p>
            <a:r>
              <a:rPr lang="en-US" sz="2800" dirty="0"/>
              <a:t>Guiding scientific research.</a:t>
            </a:r>
          </a:p>
          <a:p>
            <a:r>
              <a:rPr lang="en-US" sz="2800" dirty="0"/>
              <a:t>It provides data for the indicators needed to measure progress towards the achievement of the United Nations Sustainable Development Goals (SDGs), particularly goal 15.</a:t>
            </a:r>
          </a:p>
          <a:p>
            <a:r>
              <a:rPr lang="en-US" sz="2800" dirty="0"/>
              <a:t>Informing conservation planning.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BA26C-CD1F-487F-9CE5-3DFFBF50E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8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9422B-6462-422F-87EB-5E7DBD253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THE IUCN RED LIST.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28F08-AE82-4BB6-B7FA-FC69D3539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not possible to apply the red list criteria on a fragmentary data.</a:t>
            </a:r>
          </a:p>
          <a:p>
            <a:r>
              <a:rPr lang="en-US" dirty="0"/>
              <a:t>It requires skilled conservation assessment team.</a:t>
            </a:r>
          </a:p>
          <a:p>
            <a:r>
              <a:rPr lang="en-US" dirty="0"/>
              <a:t>The red list focus on current conditions of species which may exacerbate this inaccuracy in the data.</a:t>
            </a:r>
          </a:p>
          <a:p>
            <a:r>
              <a:rPr lang="en-US" dirty="0"/>
              <a:t>The red list does not take into account the value of genetic information and addressing the issue of species with fewer genetic relatives</a:t>
            </a:r>
          </a:p>
          <a:p>
            <a:r>
              <a:rPr lang="en-US" dirty="0"/>
              <a:t>The red list has been described as ambiguous.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BB230-E8E2-4D79-95D1-AE83E3137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45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49BC5-5192-CBF5-46E1-0D49ECD53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C7BDF-172D-9CF3-5849-7411FECC3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“The IUCN Red list tells us where we ought to be concerned and where the urgent needs are to do something to prevent the despoliation of this world. It is a great agenda for the work of conservationist” Sir David Attenborough.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CD8FE-91C5-1924-466A-24E5EEE2E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98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9A2C-2E9B-45B4-BAFF-BB88F4480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REFRENCES.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EBC89-98FB-4C03-AA35-0FF1A160F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Dublin, Holly. “IUCN Red List of Threatened Species”. Encyclopedia Britannica, 15 Mar. 2023, </a:t>
            </a:r>
            <a:r>
              <a:rPr lang="en-US" dirty="0">
                <a:hlinkClick r:id="rId2"/>
              </a:rPr>
              <a:t>https://www.Britannica.com/topic/IUCN-Red-List-of-Threatened-Species</a:t>
            </a:r>
            <a:r>
              <a:rPr lang="en-US" dirty="0"/>
              <a:t>. Accessed 19 July, 2023.</a:t>
            </a:r>
          </a:p>
          <a:p>
            <a:pPr algn="l" fontAlgn="base"/>
            <a:r>
              <a:rPr lang="en-US" b="0" i="0" dirty="0">
                <a:effectLst/>
                <a:latin typeface="roboto-regular"/>
              </a:rPr>
              <a:t>IUCN 2023. The IUCN Red List of Threatened Species. Version 2022-2. </a:t>
            </a:r>
            <a:r>
              <a:rPr lang="en-US" b="0" i="0" dirty="0">
                <a:effectLst/>
                <a:latin typeface="roboto-regular"/>
                <a:hlinkClick r:id="rId3"/>
              </a:rPr>
              <a:t>https://www.iucnredlist.org</a:t>
            </a:r>
            <a:r>
              <a:rPr lang="en-US" b="0" i="0" dirty="0">
                <a:effectLst/>
                <a:latin typeface="roboto-regular"/>
              </a:rPr>
              <a:t>. ISSN 2307-8235.</a:t>
            </a:r>
          </a:p>
          <a:p>
            <a:pPr algn="l" fontAlgn="base"/>
            <a:r>
              <a:rPr lang="en-US" dirty="0">
                <a:latin typeface="roboto-regular"/>
              </a:rPr>
              <a:t>Rosie Walker (2019). Strengths and limitations of the IUCN Red list for setting conservation priorities.</a:t>
            </a:r>
            <a:endParaRPr lang="en-US" b="0" i="0" dirty="0">
              <a:effectLst/>
              <a:latin typeface="roboto-regular"/>
            </a:endParaRPr>
          </a:p>
          <a:p>
            <a:pPr marL="0" indent="0" algn="l" fontAlgn="base">
              <a:buNone/>
            </a:pPr>
            <a:endParaRPr lang="en-US" b="0" i="0" dirty="0">
              <a:effectLst/>
              <a:latin typeface="roboto-regular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E2F2D-AD7B-4D97-BD87-3D9D6A694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75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328DBA-F952-45F5-89BC-A37CE7CF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8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45F114-B0F5-4469-9A76-3A50C2474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3A6F4-414C-4849-8DC6-DFA03F2E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934F-C967-40C9-8DA1-D7261F03B08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478619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161</TotalTime>
  <Words>554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Office Theme</vt:lpstr>
      <vt:lpstr>Main Event</vt:lpstr>
      <vt:lpstr>.</vt:lpstr>
      <vt:lpstr>INTRODUCTION.</vt:lpstr>
      <vt:lpstr>The barometer of life</vt:lpstr>
      <vt:lpstr>THE IUCN RED LIST CATEGORIES.</vt:lpstr>
      <vt:lpstr>THE CRITERIA USED TO ASSESS THE EXTINCTION RISK OF SPECIES</vt:lpstr>
      <vt:lpstr>FEATURED RED LIST WORK.</vt:lpstr>
      <vt:lpstr>HOW THE RED LIST IS USED.</vt:lpstr>
      <vt:lpstr>LIMITATIONS OF THE IUCN RED LIST.</vt:lpstr>
      <vt:lpstr>CONCLUSION.</vt:lpstr>
      <vt:lpstr>REFRENCES.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IUCN RED LIST</dc:title>
  <dc:creator>Sylvia Baffour Awuah</dc:creator>
  <cp:lastModifiedBy>Pius Takyi</cp:lastModifiedBy>
  <cp:revision>22</cp:revision>
  <dcterms:created xsi:type="dcterms:W3CDTF">2023-07-21T22:29:20Z</dcterms:created>
  <dcterms:modified xsi:type="dcterms:W3CDTF">2023-07-24T08:23:01Z</dcterms:modified>
</cp:coreProperties>
</file>