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4" r:id="rId2"/>
    <p:sldId id="261" r:id="rId3"/>
    <p:sldId id="267" r:id="rId4"/>
    <p:sldId id="272" r:id="rId5"/>
    <p:sldId id="257" r:id="rId6"/>
    <p:sldId id="263" r:id="rId7"/>
    <p:sldId id="273" r:id="rId8"/>
    <p:sldId id="275" r:id="rId9"/>
    <p:sldId id="270" r:id="rId10"/>
    <p:sldId id="277" r:id="rId11"/>
    <p:sldId id="271"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3" autoAdjust="0"/>
    <p:restoredTop sz="94660"/>
  </p:normalViewPr>
  <p:slideViewPr>
    <p:cSldViewPr snapToGrid="0">
      <p:cViewPr varScale="1">
        <p:scale>
          <a:sx n="73" d="100"/>
          <a:sy n="73" d="100"/>
        </p:scale>
        <p:origin x="5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DBF12-15D7-4DDD-9394-019BEE5EA7DE}" type="datetimeFigureOut">
              <a:rPr lang="en-US" smtClean="0"/>
              <a:t>19-Jul-23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E683A-3203-41D7-BED0-9F0D8CBF65C0}" type="slidenum">
              <a:rPr lang="en-US" smtClean="0"/>
              <a:t>‹#›</a:t>
            </a:fld>
            <a:endParaRPr lang="en-US"/>
          </a:p>
        </p:txBody>
      </p:sp>
    </p:spTree>
    <p:extLst>
      <p:ext uri="{BB962C8B-B14F-4D97-AF65-F5344CB8AC3E}">
        <p14:creationId xmlns:p14="http://schemas.microsoft.com/office/powerpoint/2010/main" val="443198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64C26-2D28-466A-8EC9-529F379607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601266-79DB-43AC-917D-D2BE0F8372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1C1E57-D85A-4D9B-8567-71C6C3FB614F}"/>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5" name="Footer Placeholder 4">
            <a:extLst>
              <a:ext uri="{FF2B5EF4-FFF2-40B4-BE49-F238E27FC236}">
                <a16:creationId xmlns:a16="http://schemas.microsoft.com/office/drawing/2014/main" id="{28CCDC96-470C-4BA0-BA5E-C2DDC5E3E5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85AFA4-F372-4EBB-B707-005E37D4F97B}"/>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362284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8B97-FD7F-465E-A9DE-BA01C4204B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145168-9D0A-4EDF-BA4B-519F8FA06B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BC64A7-5732-41F6-962D-CA8F81B8525F}"/>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5" name="Footer Placeholder 4">
            <a:extLst>
              <a:ext uri="{FF2B5EF4-FFF2-40B4-BE49-F238E27FC236}">
                <a16:creationId xmlns:a16="http://schemas.microsoft.com/office/drawing/2014/main" id="{DFCD03ED-AA31-4EF0-A70A-4F220D5B20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D82F9-2BFD-455C-A393-D0AC5AD9CC5D}"/>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720137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4CFB2-48A4-4650-943D-D1887342CA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EF5D5A-854F-476D-A84D-C16A5DDBB7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47677-68D7-47A9-9AEF-E49AC1613BBF}"/>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5" name="Footer Placeholder 4">
            <a:extLst>
              <a:ext uri="{FF2B5EF4-FFF2-40B4-BE49-F238E27FC236}">
                <a16:creationId xmlns:a16="http://schemas.microsoft.com/office/drawing/2014/main" id="{8DBB0CC9-637C-4AEA-A904-A2C87863CC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D218CB-C64F-45A4-AFF0-2128E6C34B76}"/>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3585069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6A13B-D08F-4351-979D-6715DE87F5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1EBAD1-D5EB-47B1-B8C1-6D036EAE26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2D34E0-E156-497A-800F-DDB6E3A58D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475762-BB75-4BDE-A9A2-1CE9D6FEB986}"/>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6" name="Footer Placeholder 5">
            <a:extLst>
              <a:ext uri="{FF2B5EF4-FFF2-40B4-BE49-F238E27FC236}">
                <a16:creationId xmlns:a16="http://schemas.microsoft.com/office/drawing/2014/main" id="{024A007C-A403-46C8-B6DA-1B31A6EAF9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628986-513F-4BE6-8CBD-DF51D08DF39C}"/>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1390485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2FE1E-5283-4CAA-A8E2-08DFD7BAB0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A42390-719E-46F7-945B-26F82C3E56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DA75AD-EE6D-4038-B19C-C88596508F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00E1EC-AACE-4BBB-877F-733CA09716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4D0BC4-D607-4BBA-BF02-18AED6CB5E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FC6D72-8AB0-49E7-8AC4-D337E9C1948D}"/>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8" name="Footer Placeholder 7">
            <a:extLst>
              <a:ext uri="{FF2B5EF4-FFF2-40B4-BE49-F238E27FC236}">
                <a16:creationId xmlns:a16="http://schemas.microsoft.com/office/drawing/2014/main" id="{1842CD67-CB88-4C9B-94B0-A2A604C475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41946D-DAB8-424E-8753-5168CF0901AC}"/>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1008901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01A21-2DB4-45B1-ABBD-B1A8673C20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CD0AC48-1903-4573-9F4F-00F8F865BFBE}"/>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4" name="Footer Placeholder 3">
            <a:extLst>
              <a:ext uri="{FF2B5EF4-FFF2-40B4-BE49-F238E27FC236}">
                <a16:creationId xmlns:a16="http://schemas.microsoft.com/office/drawing/2014/main" id="{490153D7-AF63-4B7F-903A-19090B994D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0A4075-E04D-421B-8136-222F7D09C1A7}"/>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3768576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97671C-9EF9-4BF5-8933-3C200CB04ECD}"/>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3" name="Footer Placeholder 2">
            <a:extLst>
              <a:ext uri="{FF2B5EF4-FFF2-40B4-BE49-F238E27FC236}">
                <a16:creationId xmlns:a16="http://schemas.microsoft.com/office/drawing/2014/main" id="{0194425C-7DDC-4065-9A07-28C8B369D4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F45D8A-4905-44A6-B76F-E6D2D553B8DF}"/>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584248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19AD-CEC6-46AD-BFC5-C51EE9C84B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844D3E-B085-4A24-B45C-8503A998B3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A6D73C-A1EA-4E1E-9A38-BA1E3BA34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6789D8-73E3-4F11-B1FA-D9842055721C}"/>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6" name="Footer Placeholder 5">
            <a:extLst>
              <a:ext uri="{FF2B5EF4-FFF2-40B4-BE49-F238E27FC236}">
                <a16:creationId xmlns:a16="http://schemas.microsoft.com/office/drawing/2014/main" id="{1C2E6162-4CEA-4DE8-AAA6-03C4D96A82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A808D-D4A1-4034-8C96-D045C24FF903}"/>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39964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E973D-C55C-4CD5-B129-50318988ED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E7D8A0-E552-4401-A503-D714C05BB4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1567CC-4DEB-4CFD-9FB1-4E303B46AC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2C5A40-3D6A-4184-AB6B-E2FF4E0404E5}"/>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6" name="Footer Placeholder 5">
            <a:extLst>
              <a:ext uri="{FF2B5EF4-FFF2-40B4-BE49-F238E27FC236}">
                <a16:creationId xmlns:a16="http://schemas.microsoft.com/office/drawing/2014/main" id="{E88D32AD-C363-44C5-997D-7B863CA11C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E7806B-6F7C-4A07-99E8-A44CE515FF8D}"/>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3859689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A7134-2B2E-4AA9-AD4A-1EE79CAD9A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E41024-146E-44B2-B881-DBB319C926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1E10C3-5026-40A6-9460-B39F96FB8FC8}"/>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5" name="Footer Placeholder 4">
            <a:extLst>
              <a:ext uri="{FF2B5EF4-FFF2-40B4-BE49-F238E27FC236}">
                <a16:creationId xmlns:a16="http://schemas.microsoft.com/office/drawing/2014/main" id="{98767C11-31D3-4F65-BC6E-259ECEF6B7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16A9BC-C4A0-4160-8A13-592ED43BD442}"/>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39628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2D2CA5-F5BA-4B0F-8B0D-E2D16A6700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77FBC8-659F-4E57-8167-6004389A9A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83648E-9E7A-44D0-850A-EC5840D33161}"/>
              </a:ext>
            </a:extLst>
          </p:cNvPr>
          <p:cNvSpPr>
            <a:spLocks noGrp="1"/>
          </p:cNvSpPr>
          <p:nvPr>
            <p:ph type="dt" sz="half" idx="10"/>
          </p:nvPr>
        </p:nvSpPr>
        <p:spPr/>
        <p:txBody>
          <a:bodyPr/>
          <a:lstStyle/>
          <a:p>
            <a:fld id="{D04FCEC4-73EC-42C0-86B0-0F6F014C46F1}" type="datetimeFigureOut">
              <a:rPr lang="en-US" smtClean="0"/>
              <a:t>19-Jul-23</a:t>
            </a:fld>
            <a:endParaRPr lang="en-US"/>
          </a:p>
        </p:txBody>
      </p:sp>
      <p:sp>
        <p:nvSpPr>
          <p:cNvPr id="5" name="Footer Placeholder 4">
            <a:extLst>
              <a:ext uri="{FF2B5EF4-FFF2-40B4-BE49-F238E27FC236}">
                <a16:creationId xmlns:a16="http://schemas.microsoft.com/office/drawing/2014/main" id="{01573A1C-AFF4-4194-932F-54FC10D8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0A1ACF-EFB3-4A60-90FF-1A46E2EDE5AA}"/>
              </a:ext>
            </a:extLst>
          </p:cNvPr>
          <p:cNvSpPr>
            <a:spLocks noGrp="1"/>
          </p:cNvSpPr>
          <p:nvPr>
            <p:ph type="sldNum" sz="quarter" idx="12"/>
          </p:nvPr>
        </p:nvSpPr>
        <p:spPr/>
        <p:txBody>
          <a:bodyPr/>
          <a:lstStyle/>
          <a:p>
            <a:fld id="{FA9AFD40-BFE4-4580-B2BC-4A5D1C526EF4}" type="slidenum">
              <a:rPr lang="en-US" smtClean="0"/>
              <a:t>‹#›</a:t>
            </a:fld>
            <a:endParaRPr lang="en-US"/>
          </a:p>
        </p:txBody>
      </p:sp>
    </p:spTree>
    <p:extLst>
      <p:ext uri="{BB962C8B-B14F-4D97-AF65-F5344CB8AC3E}">
        <p14:creationId xmlns:p14="http://schemas.microsoft.com/office/powerpoint/2010/main" val="389745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DA57EB-F694-47FC-80C6-936B9991DB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83D0BD-800C-4E99-AB53-9C1B08DACB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60A1CF-E879-4433-B861-8361848DA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4FCEC4-73EC-42C0-86B0-0F6F014C46F1}" type="datetimeFigureOut">
              <a:rPr lang="en-US" smtClean="0"/>
              <a:t>19-Jul-23</a:t>
            </a:fld>
            <a:endParaRPr lang="en-US"/>
          </a:p>
        </p:txBody>
      </p:sp>
      <p:sp>
        <p:nvSpPr>
          <p:cNvPr id="5" name="Footer Placeholder 4">
            <a:extLst>
              <a:ext uri="{FF2B5EF4-FFF2-40B4-BE49-F238E27FC236}">
                <a16:creationId xmlns:a16="http://schemas.microsoft.com/office/drawing/2014/main" id="{3ED96834-E158-4F8C-91CD-A28FDFE7CC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BBE18F-1732-4EDB-9EA9-83FC6270FE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9AFD40-BFE4-4580-B2BC-4A5D1C526EF4}" type="slidenum">
              <a:rPr lang="en-US" smtClean="0"/>
              <a:t>‹#›</a:t>
            </a:fld>
            <a:endParaRPr lang="en-US"/>
          </a:p>
        </p:txBody>
      </p:sp>
    </p:spTree>
    <p:extLst>
      <p:ext uri="{BB962C8B-B14F-4D97-AF65-F5344CB8AC3E}">
        <p14:creationId xmlns:p14="http://schemas.microsoft.com/office/powerpoint/2010/main" val="14555216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DF3998D-3E86-4DD7-AA5C-D9E97D87AAD0}"/>
              </a:ext>
            </a:extLst>
          </p:cNvPr>
          <p:cNvSpPr txBox="1"/>
          <p:nvPr/>
        </p:nvSpPr>
        <p:spPr>
          <a:xfrm>
            <a:off x="0" y="0"/>
            <a:ext cx="12192000" cy="1537280"/>
          </a:xfrm>
          <a:prstGeom prst="rect">
            <a:avLst/>
          </a:prstGeom>
          <a:solidFill>
            <a:schemeClr val="accent3">
              <a:lumMod val="20000"/>
              <a:lumOff val="80000"/>
            </a:schemeClr>
          </a:solidFill>
        </p:spPr>
        <p:txBody>
          <a:bodyPr wrap="square" rtlCol="0">
            <a:spAutoFit/>
          </a:bodyPr>
          <a:lstStyle/>
          <a:p>
            <a:endParaRPr lang="en-US" dirty="0"/>
          </a:p>
        </p:txBody>
      </p:sp>
      <p:sp>
        <p:nvSpPr>
          <p:cNvPr id="2" name="Title 1">
            <a:extLst>
              <a:ext uri="{FF2B5EF4-FFF2-40B4-BE49-F238E27FC236}">
                <a16:creationId xmlns:a16="http://schemas.microsoft.com/office/drawing/2014/main" id="{9B3E22AD-4DB6-4B18-A877-40B039C24E80}"/>
              </a:ext>
            </a:extLst>
          </p:cNvPr>
          <p:cNvSpPr>
            <a:spLocks noGrp="1"/>
          </p:cNvSpPr>
          <p:nvPr>
            <p:ph type="title"/>
          </p:nvPr>
        </p:nvSpPr>
        <p:spPr>
          <a:xfrm>
            <a:off x="968830" y="495754"/>
            <a:ext cx="2427514" cy="549275"/>
          </a:xfrm>
        </p:spPr>
        <p:txBody>
          <a:bodyPr>
            <a:normAutofit fontScale="90000"/>
          </a:bodyPr>
          <a:lstStyle/>
          <a:p>
            <a:r>
              <a:rPr lang="en-US" sz="4400" spc="-13" dirty="0">
                <a:solidFill>
                  <a:srgbClr val="0A0A0A"/>
                </a:solidFill>
                <a:latin typeface="Times New Roman" panose="02020603050405020304" pitchFamily="18" charset="0"/>
                <a:cs typeface="Times New Roman" panose="02020603050405020304" pitchFamily="18" charset="0"/>
              </a:rPr>
              <a:t>GROUP 5</a:t>
            </a:r>
            <a:endParaRPr lang="en-US" dirty="0"/>
          </a:p>
        </p:txBody>
      </p:sp>
      <p:pic>
        <p:nvPicPr>
          <p:cNvPr id="4" name="Picture 3">
            <a:extLst>
              <a:ext uri="{FF2B5EF4-FFF2-40B4-BE49-F238E27FC236}">
                <a16:creationId xmlns:a16="http://schemas.microsoft.com/office/drawing/2014/main" id="{8D023B4D-275A-4739-80E2-D9115BBE3194}"/>
              </a:ext>
            </a:extLst>
          </p:cNvPr>
          <p:cNvPicPr>
            <a:picLocks noChangeAspect="1"/>
          </p:cNvPicPr>
          <p:nvPr/>
        </p:nvPicPr>
        <p:blipFill rotWithShape="1">
          <a:blip r:embed="rId2">
            <a:extLst>
              <a:ext uri="{28A0092B-C50C-407E-A947-70E740481C1C}">
                <a14:useLocalDpi xmlns:a14="http://schemas.microsoft.com/office/drawing/2010/main" val="0"/>
              </a:ext>
            </a:extLst>
          </a:blip>
          <a:srcRect b="26448"/>
          <a:stretch/>
        </p:blipFill>
        <p:spPr>
          <a:xfrm>
            <a:off x="0" y="1537280"/>
            <a:ext cx="12192000" cy="5320720"/>
          </a:xfrm>
          <a:prstGeom prst="rect">
            <a:avLst/>
          </a:prstGeom>
        </p:spPr>
      </p:pic>
      <p:sp>
        <p:nvSpPr>
          <p:cNvPr id="5" name="TextBox 4">
            <a:extLst>
              <a:ext uri="{FF2B5EF4-FFF2-40B4-BE49-F238E27FC236}">
                <a16:creationId xmlns:a16="http://schemas.microsoft.com/office/drawing/2014/main" id="{7BA24C25-D719-4D69-8088-BC4591A947DD}"/>
              </a:ext>
            </a:extLst>
          </p:cNvPr>
          <p:cNvSpPr txBox="1"/>
          <p:nvPr/>
        </p:nvSpPr>
        <p:spPr>
          <a:xfrm>
            <a:off x="0" y="1537280"/>
            <a:ext cx="12192000" cy="532072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6" name="object 7">
            <a:extLst>
              <a:ext uri="{FF2B5EF4-FFF2-40B4-BE49-F238E27FC236}">
                <a16:creationId xmlns:a16="http://schemas.microsoft.com/office/drawing/2014/main" id="{13484CC8-DE6C-4971-B58E-86981534A6A7}"/>
              </a:ext>
            </a:extLst>
          </p:cNvPr>
          <p:cNvSpPr txBox="1"/>
          <p:nvPr/>
        </p:nvSpPr>
        <p:spPr>
          <a:xfrm>
            <a:off x="724988" y="2937072"/>
            <a:ext cx="10742024" cy="2039875"/>
          </a:xfrm>
          <a:prstGeom prst="rect">
            <a:avLst/>
          </a:prstGeom>
        </p:spPr>
        <p:txBody>
          <a:bodyPr vert="horz" wrap="square" lIns="0" tIns="8467" rIns="0" bIns="0" rtlCol="0">
            <a:spAutoFit/>
          </a:bodyPr>
          <a:lstStyle/>
          <a:p>
            <a:pPr marL="8467">
              <a:spcBef>
                <a:spcPts val="67"/>
              </a:spcBef>
            </a:pPr>
            <a:r>
              <a:rPr lang="en-US" sz="6600" b="1" dirty="0">
                <a:solidFill>
                  <a:schemeClr val="bg1"/>
                </a:solidFill>
                <a:latin typeface="Times New Roman" panose="02020603050405020304" pitchFamily="18" charset="0"/>
                <a:cs typeface="Times New Roman" panose="02020603050405020304" pitchFamily="18" charset="0"/>
              </a:rPr>
              <a:t>The Menace of Small-Scale Illegal Mining in Ghana</a:t>
            </a:r>
            <a:endParaRPr lang="en-US" sz="6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07D19E3-5CC0-41D5-9EF1-A3F03023C87B}"/>
              </a:ext>
            </a:extLst>
          </p:cNvPr>
          <p:cNvSpPr txBox="1"/>
          <p:nvPr/>
        </p:nvSpPr>
        <p:spPr>
          <a:xfrm>
            <a:off x="10972801" y="6217920"/>
            <a:ext cx="300446" cy="523220"/>
          </a:xfrm>
          <a:prstGeom prst="rect">
            <a:avLst/>
          </a:prstGeom>
          <a:noFill/>
        </p:spPr>
        <p:txBody>
          <a:bodyPr wrap="square" rtlCol="0">
            <a:spAutoFit/>
          </a:bodyPr>
          <a:lstStyle/>
          <a:p>
            <a:r>
              <a:rPr lang="en-US" sz="2800" dirty="0">
                <a:solidFill>
                  <a:schemeClr val="bg1"/>
                </a:solidFill>
              </a:rPr>
              <a:t>1</a:t>
            </a:r>
          </a:p>
        </p:txBody>
      </p:sp>
    </p:spTree>
    <p:extLst>
      <p:ext uri="{BB962C8B-B14F-4D97-AF65-F5344CB8AC3E}">
        <p14:creationId xmlns:p14="http://schemas.microsoft.com/office/powerpoint/2010/main" val="1268829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5587" y="581812"/>
            <a:ext cx="8133080" cy="931879"/>
          </a:xfrm>
          <a:prstGeom prst="rect">
            <a:avLst/>
          </a:prstGeom>
        </p:spPr>
        <p:txBody>
          <a:bodyPr vert="horz" wrap="square" lIns="0" tIns="8467" rIns="0" bIns="0" rtlCol="0" anchor="ctr">
            <a:spAutoFit/>
          </a:bodyPr>
          <a:lstStyle/>
          <a:p>
            <a:pPr marL="8467">
              <a:lnSpc>
                <a:spcPct val="100000"/>
              </a:lnSpc>
              <a:spcBef>
                <a:spcPts val="67"/>
              </a:spcBef>
            </a:pPr>
            <a:r>
              <a:rPr lang="en-US" sz="6000" b="1" spc="133" dirty="0">
                <a:solidFill>
                  <a:srgbClr val="0A0A0A"/>
                </a:solidFill>
                <a:latin typeface="Times New Roman" panose="02020603050405020304" pitchFamily="18" charset="0"/>
                <a:cs typeface="Times New Roman" panose="02020603050405020304" pitchFamily="18" charset="0"/>
              </a:rPr>
              <a:t>Introduction</a:t>
            </a:r>
            <a:r>
              <a:rPr lang="en-US" spc="133" dirty="0">
                <a:solidFill>
                  <a:srgbClr val="0A0A0A"/>
                </a:solidFill>
                <a:latin typeface="Times New Roman" panose="02020603050405020304" pitchFamily="18" charset="0"/>
                <a:cs typeface="Times New Roman" panose="02020603050405020304" pitchFamily="18" charset="0"/>
              </a:rPr>
              <a:t> </a:t>
            </a:r>
            <a:endParaRPr spc="193" dirty="0">
              <a:solidFill>
                <a:srgbClr val="0A0A0A"/>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6357708" y="1553839"/>
            <a:ext cx="5549694" cy="4830147"/>
          </a:xfrm>
          <a:prstGeom prst="rect">
            <a:avLst/>
          </a:prstGeom>
        </p:spPr>
        <p:txBody>
          <a:bodyPr vert="horz" wrap="square" lIns="0" tIns="8043" rIns="0" bIns="0" rtlCol="0">
            <a:spAutoFit/>
          </a:bodyPr>
          <a:lstStyle/>
          <a:p>
            <a:pPr marL="457200" marR="0" indent="-457200">
              <a:lnSpc>
                <a:spcPct val="107000"/>
              </a:lnSpc>
              <a:spcBef>
                <a:spcPts val="0"/>
              </a:spcBef>
              <a:spcAft>
                <a:spcPts val="800"/>
              </a:spcAft>
              <a:buFont typeface="Wingdings" panose="05000000000000000000" pitchFamily="2" charset="2"/>
              <a:buChar char="q"/>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Small-scale illegal mining, also known as </a:t>
            </a:r>
            <a:r>
              <a:rPr lang="en-US" sz="3200" dirty="0" err="1">
                <a:effectLst/>
                <a:latin typeface="Times New Roman" panose="02020603050405020304" pitchFamily="18" charset="0"/>
                <a:ea typeface="Calibri" panose="020F0502020204030204" pitchFamily="34" charset="0"/>
                <a:cs typeface="Times New Roman" panose="02020603050405020304" pitchFamily="18" charset="0"/>
              </a:rPr>
              <a:t>galamsey</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has become a significant problem in Ghana.</a:t>
            </a:r>
          </a:p>
          <a:p>
            <a:pPr marL="465667" marR="3387" indent="-457200">
              <a:lnSpc>
                <a:spcPct val="114999"/>
              </a:lnSpc>
              <a:spcBef>
                <a:spcPts val="2993"/>
              </a:spcBef>
              <a:buFont typeface="Wingdings" panose="05000000000000000000" pitchFamily="2" charset="2"/>
              <a:buChar char="q"/>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This presentation aims to highlight the negative impact of small-scale illegal mining and the challenges it poses.</a:t>
            </a:r>
            <a:r>
              <a:rPr sz="3200" spc="-3" dirty="0">
                <a:solidFill>
                  <a:srgbClr val="0A0A0A"/>
                </a:solidFill>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F246EB4-CC96-4BDE-B27F-BCBA705C8B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122" y="1882011"/>
            <a:ext cx="5914878" cy="4009827"/>
          </a:xfrm>
          <a:prstGeom prst="rect">
            <a:avLst/>
          </a:prstGeom>
        </p:spPr>
      </p:pic>
      <p:sp>
        <p:nvSpPr>
          <p:cNvPr id="7" name="TextBox 6">
            <a:extLst>
              <a:ext uri="{FF2B5EF4-FFF2-40B4-BE49-F238E27FC236}">
                <a16:creationId xmlns:a16="http://schemas.microsoft.com/office/drawing/2014/main" id="{A24EE20A-7544-4023-9FD3-585FA8128E90}"/>
              </a:ext>
            </a:extLst>
          </p:cNvPr>
          <p:cNvSpPr txBox="1"/>
          <p:nvPr/>
        </p:nvSpPr>
        <p:spPr>
          <a:xfrm>
            <a:off x="181122" y="6014654"/>
            <a:ext cx="512239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Figure 1 </a:t>
            </a:r>
            <a:r>
              <a:rPr lang="en-US" dirty="0">
                <a:latin typeface="Times New Roman" panose="02020603050405020304" pitchFamily="18" charset="0"/>
                <a:cs typeface="Times New Roman" panose="02020603050405020304" pitchFamily="18" charset="0"/>
              </a:rPr>
              <a:t>People working at a </a:t>
            </a:r>
            <a:r>
              <a:rPr lang="en-US" dirty="0" err="1">
                <a:latin typeface="Times New Roman" panose="02020603050405020304" pitchFamily="18" charset="0"/>
                <a:cs typeface="Times New Roman" panose="02020603050405020304" pitchFamily="18" charset="0"/>
              </a:rPr>
              <a:t>galamsey</a:t>
            </a:r>
            <a:r>
              <a:rPr lang="en-US" dirty="0">
                <a:latin typeface="Times New Roman" panose="02020603050405020304" pitchFamily="18" charset="0"/>
                <a:cs typeface="Times New Roman" panose="02020603050405020304" pitchFamily="18" charset="0"/>
              </a:rPr>
              <a:t> mining site</a:t>
            </a:r>
          </a:p>
        </p:txBody>
      </p:sp>
      <p:sp>
        <p:nvSpPr>
          <p:cNvPr id="4" name="TextBox 3">
            <a:extLst>
              <a:ext uri="{FF2B5EF4-FFF2-40B4-BE49-F238E27FC236}">
                <a16:creationId xmlns:a16="http://schemas.microsoft.com/office/drawing/2014/main" id="{E808F4F4-DC93-4F99-9783-ADC28584327E}"/>
              </a:ext>
            </a:extLst>
          </p:cNvPr>
          <p:cNvSpPr txBox="1"/>
          <p:nvPr/>
        </p:nvSpPr>
        <p:spPr>
          <a:xfrm>
            <a:off x="11463264" y="6217567"/>
            <a:ext cx="888275" cy="523220"/>
          </a:xfrm>
          <a:prstGeom prst="rect">
            <a:avLst/>
          </a:prstGeom>
          <a:noFill/>
        </p:spPr>
        <p:txBody>
          <a:bodyPr wrap="square" rtlCol="0">
            <a:spAutoFit/>
          </a:bodyPr>
          <a:lstStyle/>
          <a:p>
            <a:r>
              <a:rPr lang="en-US" sz="2800"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54FD0F8-18A9-4727-807A-F2AC0D453E76}"/>
              </a:ext>
            </a:extLst>
          </p:cNvPr>
          <p:cNvSpPr txBox="1"/>
          <p:nvPr/>
        </p:nvSpPr>
        <p:spPr>
          <a:xfrm>
            <a:off x="0" y="0"/>
            <a:ext cx="12192000" cy="6858000"/>
          </a:xfrm>
          <a:prstGeom prst="rect">
            <a:avLst/>
          </a:prstGeom>
          <a:solidFill>
            <a:schemeClr val="tx1">
              <a:lumMod val="95000"/>
              <a:lumOff val="5000"/>
            </a:schemeClr>
          </a:solidFill>
        </p:spPr>
        <p:txBody>
          <a:bodyPr wrap="square" rtlCol="0">
            <a:spAutoFit/>
          </a:bodyPr>
          <a:lstStyle/>
          <a:p>
            <a:endParaRPr lang="en-US" dirty="0"/>
          </a:p>
        </p:txBody>
      </p:sp>
      <p:sp>
        <p:nvSpPr>
          <p:cNvPr id="3" name="object 3"/>
          <p:cNvSpPr txBox="1">
            <a:spLocks noGrp="1"/>
          </p:cNvSpPr>
          <p:nvPr>
            <p:ph type="title"/>
          </p:nvPr>
        </p:nvSpPr>
        <p:spPr>
          <a:xfrm>
            <a:off x="677333" y="622021"/>
            <a:ext cx="6366340" cy="1403888"/>
          </a:xfrm>
          <a:prstGeom prst="rect">
            <a:avLst/>
          </a:prstGeom>
        </p:spPr>
        <p:txBody>
          <a:bodyPr vert="horz" wrap="square" lIns="0" tIns="8043" rIns="0" bIns="0" rtlCol="0" anchor="ctr">
            <a:spAutoFit/>
          </a:bodyPr>
          <a:lstStyle/>
          <a:p>
            <a:pPr marL="8467" marR="3387">
              <a:lnSpc>
                <a:spcPct val="116700"/>
              </a:lnSpc>
              <a:spcBef>
                <a:spcPts val="63"/>
              </a:spcBef>
            </a:pPr>
            <a:r>
              <a:rPr lang="en-US" sz="4000" spc="50" dirty="0">
                <a:solidFill>
                  <a:srgbClr val="F5F5F5"/>
                </a:solidFill>
                <a:latin typeface="Times New Roman" panose="02020603050405020304" pitchFamily="18" charset="0"/>
                <a:cs typeface="Times New Roman" panose="02020603050405020304" pitchFamily="18" charset="0"/>
              </a:rPr>
              <a:t>Surface mining results in about</a:t>
            </a:r>
            <a:endParaRPr sz="40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677333" y="2757135"/>
            <a:ext cx="4419600" cy="2676075"/>
          </a:xfrm>
          <a:prstGeom prst="rect">
            <a:avLst/>
          </a:prstGeom>
        </p:spPr>
        <p:txBody>
          <a:bodyPr vert="horz" wrap="square" lIns="0" tIns="8467" rIns="0" bIns="0" rtlCol="0">
            <a:spAutoFit/>
          </a:bodyPr>
          <a:lstStyle/>
          <a:p>
            <a:pPr marL="8467">
              <a:spcBef>
                <a:spcPts val="67"/>
              </a:spcBef>
            </a:pPr>
            <a:r>
              <a:rPr lang="en-US" sz="17334" spc="-13" dirty="0">
                <a:solidFill>
                  <a:srgbClr val="F5F5F5"/>
                </a:solidFill>
                <a:latin typeface="Times New Roman" panose="02020603050405020304" pitchFamily="18" charset="0"/>
                <a:cs typeface="Times New Roman" panose="02020603050405020304" pitchFamily="18" charset="0"/>
              </a:rPr>
              <a:t>58</a:t>
            </a:r>
            <a:r>
              <a:rPr sz="17334" spc="-13" dirty="0">
                <a:solidFill>
                  <a:srgbClr val="F5F5F5"/>
                </a:solidFill>
                <a:latin typeface="Arial"/>
                <a:cs typeface="Arial"/>
              </a:rPr>
              <a:t>%</a:t>
            </a:r>
            <a:endParaRPr sz="17334" dirty="0">
              <a:latin typeface="Arial"/>
              <a:cs typeface="Arial"/>
            </a:endParaRPr>
          </a:p>
        </p:txBody>
      </p:sp>
      <p:sp>
        <p:nvSpPr>
          <p:cNvPr id="5" name="object 5"/>
          <p:cNvSpPr txBox="1"/>
          <p:nvPr/>
        </p:nvSpPr>
        <p:spPr>
          <a:xfrm>
            <a:off x="677333" y="5852584"/>
            <a:ext cx="5135637" cy="500992"/>
          </a:xfrm>
          <a:prstGeom prst="rect">
            <a:avLst/>
          </a:prstGeom>
        </p:spPr>
        <p:txBody>
          <a:bodyPr vert="horz" wrap="square" lIns="0" tIns="8467" rIns="0" bIns="0" rtlCol="0">
            <a:spAutoFit/>
          </a:bodyPr>
          <a:lstStyle/>
          <a:p>
            <a:pPr marL="8467">
              <a:spcBef>
                <a:spcPts val="67"/>
              </a:spcBef>
            </a:pPr>
            <a:r>
              <a:rPr lang="en-US" sz="3200" spc="80" dirty="0">
                <a:solidFill>
                  <a:srgbClr val="F5F5F5"/>
                </a:solidFill>
                <a:latin typeface="Arial"/>
                <a:cs typeface="Arial"/>
              </a:rPr>
              <a:t>of </a:t>
            </a:r>
            <a:r>
              <a:rPr lang="en-US" sz="3200" spc="80" dirty="0">
                <a:solidFill>
                  <a:srgbClr val="F5F5F5"/>
                </a:solidFill>
                <a:latin typeface="Times New Roman" panose="02020603050405020304" pitchFamily="18" charset="0"/>
                <a:cs typeface="Times New Roman" panose="02020603050405020304" pitchFamily="18" charset="0"/>
              </a:rPr>
              <a:t>deforestation</a:t>
            </a:r>
            <a:r>
              <a:rPr lang="en-US" sz="3200" spc="80" dirty="0">
                <a:solidFill>
                  <a:srgbClr val="F5F5F5"/>
                </a:solidFill>
                <a:latin typeface="Arial"/>
                <a:cs typeface="Arial"/>
              </a:rPr>
              <a:t> activities </a:t>
            </a:r>
            <a:endParaRPr sz="3200" dirty="0">
              <a:latin typeface="Arial"/>
              <a:cs typeface="Arial"/>
            </a:endParaRPr>
          </a:p>
        </p:txBody>
      </p:sp>
      <p:sp>
        <p:nvSpPr>
          <p:cNvPr id="6" name="object 6"/>
          <p:cNvSpPr txBox="1"/>
          <p:nvPr/>
        </p:nvSpPr>
        <p:spPr>
          <a:xfrm>
            <a:off x="7043673" y="4238497"/>
            <a:ext cx="4419599" cy="2442549"/>
          </a:xfrm>
          <a:prstGeom prst="rect">
            <a:avLst/>
          </a:prstGeom>
        </p:spPr>
        <p:txBody>
          <a:bodyPr vert="horz" wrap="square" lIns="0" tIns="8467" rIns="0" bIns="0" rtlCol="0">
            <a:spAutoFit/>
          </a:bodyPr>
          <a:lstStyle/>
          <a:p>
            <a:pPr marL="8467" marR="3387">
              <a:lnSpc>
                <a:spcPct val="114999"/>
              </a:lnSpc>
              <a:spcBef>
                <a:spcPts val="67"/>
              </a:spcBef>
            </a:pPr>
            <a:r>
              <a:rPr lang="en-US" sz="2800" dirty="0">
                <a:solidFill>
                  <a:schemeClr val="bg1"/>
                </a:solidFill>
                <a:latin typeface="Arial" panose="020B0604020202020204" pitchFamily="34" charset="0"/>
              </a:rPr>
              <a:t>a</a:t>
            </a:r>
            <a:r>
              <a:rPr lang="en-US" sz="2800" b="0" i="0" u="none" strike="noStrike" baseline="0" dirty="0">
                <a:solidFill>
                  <a:schemeClr val="bg1"/>
                </a:solidFill>
                <a:latin typeface="Arial" panose="020B0604020202020204" pitchFamily="34" charset="0"/>
              </a:rPr>
              <a:t>nd a substantial 45% loss of farmland within mining concessions in the western region of Ghana</a:t>
            </a:r>
            <a:r>
              <a:rPr lang="en-US" sz="2800" dirty="0">
                <a:solidFill>
                  <a:schemeClr val="bg1"/>
                </a:solidFill>
                <a:latin typeface="Arial" panose="020B0604020202020204" pitchFamily="34" charset="0"/>
              </a:rPr>
              <a:t> according to a study.</a:t>
            </a:r>
            <a:endParaRPr sz="2800" dirty="0">
              <a:solidFill>
                <a:schemeClr val="bg1"/>
              </a:solidFill>
              <a:latin typeface="Tahoma"/>
              <a:cs typeface="Tahoma"/>
            </a:endParaRPr>
          </a:p>
        </p:txBody>
      </p:sp>
      <p:sp>
        <p:nvSpPr>
          <p:cNvPr id="7" name="object 7"/>
          <p:cNvSpPr/>
          <p:nvPr/>
        </p:nvSpPr>
        <p:spPr>
          <a:xfrm>
            <a:off x="7095069" y="4061542"/>
            <a:ext cx="4286673" cy="0"/>
          </a:xfrm>
          <a:custGeom>
            <a:avLst/>
            <a:gdLst/>
            <a:ahLst/>
            <a:cxnLst/>
            <a:rect l="l" t="t" r="r" b="b"/>
            <a:pathLst>
              <a:path w="6430009">
                <a:moveTo>
                  <a:pt x="0" y="0"/>
                </a:moveTo>
                <a:lnTo>
                  <a:pt x="6429425" y="0"/>
                </a:lnTo>
              </a:path>
            </a:pathLst>
          </a:custGeom>
          <a:ln w="9524">
            <a:solidFill>
              <a:srgbClr val="F5F5F5"/>
            </a:solidFill>
          </a:ln>
        </p:spPr>
        <p:txBody>
          <a:bodyPr wrap="square" lIns="0" tIns="0" rIns="0" bIns="0" rtlCol="0"/>
          <a:lstStyle/>
          <a:p>
            <a:endParaRPr sz="1200"/>
          </a:p>
        </p:txBody>
      </p:sp>
      <p:sp>
        <p:nvSpPr>
          <p:cNvPr id="9" name="TextBox 8">
            <a:extLst>
              <a:ext uri="{FF2B5EF4-FFF2-40B4-BE49-F238E27FC236}">
                <a16:creationId xmlns:a16="http://schemas.microsoft.com/office/drawing/2014/main" id="{9CFE1E7E-AD46-4E2B-9A58-F249FFB15B66}"/>
              </a:ext>
            </a:extLst>
          </p:cNvPr>
          <p:cNvSpPr txBox="1"/>
          <p:nvPr/>
        </p:nvSpPr>
        <p:spPr>
          <a:xfrm>
            <a:off x="11463264" y="6217567"/>
            <a:ext cx="888275" cy="523220"/>
          </a:xfrm>
          <a:prstGeom prst="rect">
            <a:avLst/>
          </a:prstGeom>
          <a:noFill/>
        </p:spPr>
        <p:txBody>
          <a:bodyPr wrap="square" rtlCol="0">
            <a:spAutoFit/>
          </a:bodyPr>
          <a:lstStyle/>
          <a:p>
            <a:r>
              <a:rPr lang="en-US" sz="2800" dirty="0">
                <a:solidFill>
                  <a:schemeClr val="bg1"/>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9118" y="200762"/>
            <a:ext cx="10962882" cy="931879"/>
          </a:xfrm>
          <a:prstGeom prst="rect">
            <a:avLst/>
          </a:prstGeom>
        </p:spPr>
        <p:txBody>
          <a:bodyPr vert="horz" wrap="square" lIns="0" tIns="8467" rIns="0" bIns="0" rtlCol="0" anchor="ctr">
            <a:spAutoFit/>
          </a:bodyPr>
          <a:lstStyle/>
          <a:p>
            <a:pPr marL="8467">
              <a:lnSpc>
                <a:spcPct val="100000"/>
              </a:lnSpc>
              <a:spcBef>
                <a:spcPts val="67"/>
              </a:spcBef>
            </a:pPr>
            <a:r>
              <a:rPr lang="en-US" sz="6000" b="1" spc="-7" dirty="0">
                <a:latin typeface="Times New Roman" panose="02020603050405020304" pitchFamily="18" charset="0"/>
                <a:cs typeface="Times New Roman" panose="02020603050405020304" pitchFamily="18" charset="0"/>
              </a:rPr>
              <a:t>Impacts of Small-Scale Mining</a:t>
            </a:r>
            <a:endParaRPr sz="6000" b="1" spc="277" dirty="0">
              <a:latin typeface="Times New Roman" panose="02020603050405020304" pitchFamily="18" charset="0"/>
              <a:cs typeface="Times New Roman" panose="02020603050405020304" pitchFamily="18" charset="0"/>
            </a:endParaRPr>
          </a:p>
        </p:txBody>
      </p:sp>
      <p:sp>
        <p:nvSpPr>
          <p:cNvPr id="3" name="object 3"/>
          <p:cNvSpPr txBox="1"/>
          <p:nvPr/>
        </p:nvSpPr>
        <p:spPr>
          <a:xfrm>
            <a:off x="7126601" y="2357194"/>
            <a:ext cx="3565583" cy="1239656"/>
          </a:xfrm>
          <a:prstGeom prst="rect">
            <a:avLst/>
          </a:prstGeom>
        </p:spPr>
        <p:txBody>
          <a:bodyPr vert="horz" wrap="square" lIns="0" tIns="8467" rIns="0" bIns="0" rtlCol="0">
            <a:spAutoFit/>
          </a:bodyPr>
          <a:lstStyle/>
          <a:p>
            <a:pPr marL="8467" marR="3387">
              <a:lnSpc>
                <a:spcPct val="114999"/>
              </a:lnSpc>
              <a:spcBef>
                <a:spcPts val="67"/>
              </a:spcBef>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Threat to Biodiversity</a:t>
            </a:r>
            <a:endParaRPr sz="3600" dirty="0">
              <a:latin typeface="Times New Roman" panose="02020603050405020304" pitchFamily="18" charset="0"/>
              <a:cs typeface="Times New Roman" panose="02020603050405020304" pitchFamily="18" charset="0"/>
            </a:endParaRPr>
          </a:p>
        </p:txBody>
      </p:sp>
      <p:sp>
        <p:nvSpPr>
          <p:cNvPr id="4" name="object 4"/>
          <p:cNvSpPr/>
          <p:nvPr/>
        </p:nvSpPr>
        <p:spPr>
          <a:xfrm>
            <a:off x="7138242" y="2097456"/>
            <a:ext cx="2426123" cy="0"/>
          </a:xfrm>
          <a:custGeom>
            <a:avLst/>
            <a:gdLst/>
            <a:ahLst/>
            <a:cxnLst/>
            <a:rect l="l" t="t" r="r" b="b"/>
            <a:pathLst>
              <a:path w="3639184">
                <a:moveTo>
                  <a:pt x="0" y="0"/>
                </a:moveTo>
                <a:lnTo>
                  <a:pt x="3638645"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5" name="object 5"/>
          <p:cNvSpPr/>
          <p:nvPr/>
        </p:nvSpPr>
        <p:spPr>
          <a:xfrm>
            <a:off x="7135069" y="1429631"/>
            <a:ext cx="406399" cy="387349"/>
          </a:xfrm>
          <a:prstGeom prst="rect">
            <a:avLst/>
          </a:prstGeom>
          <a:blipFill>
            <a:blip r:embed="rId2" cstate="print"/>
            <a:stretch>
              <a:fillRect/>
            </a:stretch>
          </a:blip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9" name="object 9"/>
          <p:cNvSpPr txBox="1"/>
          <p:nvPr/>
        </p:nvSpPr>
        <p:spPr>
          <a:xfrm>
            <a:off x="1551824" y="2285076"/>
            <a:ext cx="4957628" cy="1239656"/>
          </a:xfrm>
          <a:prstGeom prst="rect">
            <a:avLst/>
          </a:prstGeom>
        </p:spPr>
        <p:txBody>
          <a:bodyPr vert="horz" wrap="square" lIns="0" tIns="8467" rIns="0" bIns="0" rtlCol="0">
            <a:spAutoFit/>
          </a:bodyPr>
          <a:lstStyle/>
          <a:p>
            <a:pPr marL="8467" marR="3387">
              <a:lnSpc>
                <a:spcPct val="114999"/>
              </a:lnSpc>
              <a:spcBef>
                <a:spcPts val="67"/>
              </a:spcBef>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Environmental Degradation</a:t>
            </a:r>
            <a:endParaRPr sz="3600" dirty="0">
              <a:latin typeface="Times New Roman" panose="02020603050405020304" pitchFamily="18" charset="0"/>
              <a:cs typeface="Times New Roman" panose="02020603050405020304" pitchFamily="18" charset="0"/>
            </a:endParaRPr>
          </a:p>
        </p:txBody>
      </p:sp>
      <p:sp>
        <p:nvSpPr>
          <p:cNvPr id="10" name="object 10"/>
          <p:cNvSpPr/>
          <p:nvPr/>
        </p:nvSpPr>
        <p:spPr>
          <a:xfrm>
            <a:off x="1563463" y="2025338"/>
            <a:ext cx="2426123" cy="0"/>
          </a:xfrm>
          <a:custGeom>
            <a:avLst/>
            <a:gdLst/>
            <a:ahLst/>
            <a:cxnLst/>
            <a:rect l="l" t="t" r="r" b="b"/>
            <a:pathLst>
              <a:path w="3639185">
                <a:moveTo>
                  <a:pt x="0" y="0"/>
                </a:moveTo>
                <a:lnTo>
                  <a:pt x="3638645"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1" name="object 11"/>
          <p:cNvSpPr/>
          <p:nvPr/>
        </p:nvSpPr>
        <p:spPr>
          <a:xfrm>
            <a:off x="1560290" y="1424246"/>
            <a:ext cx="400049" cy="253999"/>
          </a:xfrm>
          <a:prstGeom prst="rect">
            <a:avLst/>
          </a:prstGeom>
          <a:blipFill>
            <a:blip r:embed="rId3" cstate="print"/>
            <a:stretch>
              <a:fillRect/>
            </a:stretch>
          </a:blip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2" name="object 12"/>
          <p:cNvSpPr txBox="1"/>
          <p:nvPr/>
        </p:nvSpPr>
        <p:spPr>
          <a:xfrm>
            <a:off x="7118134" y="5148485"/>
            <a:ext cx="3403148" cy="602558"/>
          </a:xfrm>
          <a:prstGeom prst="rect">
            <a:avLst/>
          </a:prstGeom>
        </p:spPr>
        <p:txBody>
          <a:bodyPr vert="horz" wrap="square" lIns="0" tIns="8467" rIns="0" bIns="0" rtlCol="0">
            <a:spAutoFit/>
          </a:bodyPr>
          <a:lstStyle/>
          <a:p>
            <a:pPr marL="8467" marR="3387">
              <a:lnSpc>
                <a:spcPct val="114999"/>
              </a:lnSpc>
              <a:spcBef>
                <a:spcPts val="67"/>
              </a:spcBef>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Health Hazards</a:t>
            </a:r>
            <a:endParaRPr sz="3600" dirty="0">
              <a:latin typeface="Times New Roman" panose="02020603050405020304" pitchFamily="18" charset="0"/>
              <a:cs typeface="Times New Roman" panose="02020603050405020304" pitchFamily="18" charset="0"/>
            </a:endParaRPr>
          </a:p>
        </p:txBody>
      </p:sp>
      <p:sp>
        <p:nvSpPr>
          <p:cNvPr id="13" name="object 13"/>
          <p:cNvSpPr/>
          <p:nvPr/>
        </p:nvSpPr>
        <p:spPr>
          <a:xfrm>
            <a:off x="7129775" y="4888747"/>
            <a:ext cx="2426123" cy="0"/>
          </a:xfrm>
          <a:custGeom>
            <a:avLst/>
            <a:gdLst/>
            <a:ahLst/>
            <a:cxnLst/>
            <a:rect l="l" t="t" r="r" b="b"/>
            <a:pathLst>
              <a:path w="3639184">
                <a:moveTo>
                  <a:pt x="0" y="0"/>
                </a:moveTo>
                <a:lnTo>
                  <a:pt x="3638645"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4" name="object 14"/>
          <p:cNvSpPr/>
          <p:nvPr/>
        </p:nvSpPr>
        <p:spPr>
          <a:xfrm>
            <a:off x="7126601" y="4137064"/>
            <a:ext cx="539749" cy="558799"/>
          </a:xfrm>
          <a:prstGeom prst="rect">
            <a:avLst/>
          </a:prstGeom>
          <a:blipFill>
            <a:blip r:embed="rId4" cstate="print"/>
            <a:stretch>
              <a:fillRect/>
            </a:stretch>
          </a:blip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5" name="object 15"/>
          <p:cNvSpPr txBox="1"/>
          <p:nvPr/>
        </p:nvSpPr>
        <p:spPr>
          <a:xfrm>
            <a:off x="1471751" y="5320016"/>
            <a:ext cx="3403148" cy="1239656"/>
          </a:xfrm>
          <a:prstGeom prst="rect">
            <a:avLst/>
          </a:prstGeom>
        </p:spPr>
        <p:txBody>
          <a:bodyPr vert="horz" wrap="square" lIns="0" tIns="8467" rIns="0" bIns="0" rtlCol="0">
            <a:spAutoFit/>
          </a:bodyPr>
          <a:lstStyle/>
          <a:p>
            <a:pPr marL="8467" marR="3387">
              <a:lnSpc>
                <a:spcPct val="114999"/>
              </a:lnSpc>
              <a:spcBef>
                <a:spcPts val="67"/>
              </a:spcBef>
            </a:pPr>
            <a:r>
              <a:rPr lang="en-US" sz="3600" dirty="0">
                <a:effectLst/>
                <a:latin typeface="Times New Roman" panose="02020603050405020304" pitchFamily="18" charset="0"/>
                <a:ea typeface="Calibri" panose="020F0502020204030204" pitchFamily="34" charset="0"/>
                <a:cs typeface="Times New Roman" panose="02020603050405020304" pitchFamily="18" charset="0"/>
              </a:rPr>
              <a:t>Economic Implications</a:t>
            </a:r>
            <a:endParaRPr sz="3600" dirty="0">
              <a:latin typeface="Times New Roman" panose="02020603050405020304" pitchFamily="18" charset="0"/>
              <a:cs typeface="Times New Roman" panose="02020603050405020304" pitchFamily="18" charset="0"/>
            </a:endParaRPr>
          </a:p>
        </p:txBody>
      </p:sp>
      <p:sp>
        <p:nvSpPr>
          <p:cNvPr id="16" name="object 16"/>
          <p:cNvSpPr/>
          <p:nvPr/>
        </p:nvSpPr>
        <p:spPr>
          <a:xfrm>
            <a:off x="1483390" y="5068281"/>
            <a:ext cx="2426123" cy="0"/>
          </a:xfrm>
          <a:custGeom>
            <a:avLst/>
            <a:gdLst/>
            <a:ahLst/>
            <a:cxnLst/>
            <a:rect l="l" t="t" r="r" b="b"/>
            <a:pathLst>
              <a:path w="3639185">
                <a:moveTo>
                  <a:pt x="0" y="0"/>
                </a:moveTo>
                <a:lnTo>
                  <a:pt x="3638645"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7" name="object 17"/>
          <p:cNvSpPr/>
          <p:nvPr/>
        </p:nvSpPr>
        <p:spPr>
          <a:xfrm>
            <a:off x="1480218" y="4391171"/>
            <a:ext cx="380999" cy="374649"/>
          </a:xfrm>
          <a:prstGeom prst="rect">
            <a:avLst/>
          </a:prstGeom>
          <a:blipFill>
            <a:blip r:embed="rId5" cstate="print"/>
            <a:stretch>
              <a:fillRect/>
            </a:stretch>
          </a:blip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4FA1780-7D01-43F8-A134-741FDFD03145}"/>
              </a:ext>
            </a:extLst>
          </p:cNvPr>
          <p:cNvSpPr txBox="1"/>
          <p:nvPr/>
        </p:nvSpPr>
        <p:spPr>
          <a:xfrm>
            <a:off x="11045252" y="6214513"/>
            <a:ext cx="888275" cy="523220"/>
          </a:xfrm>
          <a:prstGeom prst="rect">
            <a:avLst/>
          </a:prstGeom>
          <a:noFill/>
        </p:spPr>
        <p:txBody>
          <a:bodyPr wrap="square" rtlCol="0">
            <a:spAutoFit/>
          </a:bodyPr>
          <a:lstStyle/>
          <a:p>
            <a:r>
              <a:rPr lang="en-US" sz="2800"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8288000" h="10287000">
                <a:moveTo>
                  <a:pt x="0" y="0"/>
                </a:moveTo>
                <a:lnTo>
                  <a:pt x="18287999" y="0"/>
                </a:lnTo>
                <a:lnTo>
                  <a:pt x="18287999" y="10286999"/>
                </a:lnTo>
                <a:lnTo>
                  <a:pt x="0" y="10286999"/>
                </a:lnTo>
                <a:lnTo>
                  <a:pt x="0" y="0"/>
                </a:lnTo>
                <a:close/>
              </a:path>
            </a:pathLst>
          </a:custGeom>
          <a:solidFill>
            <a:schemeClr val="tx1">
              <a:lumMod val="95000"/>
              <a:lumOff val="5000"/>
            </a:schemeClr>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 name="object 3"/>
          <p:cNvSpPr txBox="1"/>
          <p:nvPr/>
        </p:nvSpPr>
        <p:spPr>
          <a:xfrm>
            <a:off x="677334" y="658284"/>
            <a:ext cx="4586997" cy="3086315"/>
          </a:xfrm>
          <a:prstGeom prst="rect">
            <a:avLst/>
          </a:prstGeom>
        </p:spPr>
        <p:txBody>
          <a:bodyPr vert="horz" wrap="square" lIns="0" tIns="8467" rIns="0" bIns="0" rtlCol="0">
            <a:spAutoFit/>
          </a:bodyPr>
          <a:lstStyle/>
          <a:p>
            <a:pPr marL="8467">
              <a:spcBef>
                <a:spcPts val="67"/>
              </a:spcBef>
            </a:pPr>
            <a:r>
              <a:rPr lang="en-US" sz="5000" spc="160" dirty="0">
                <a:solidFill>
                  <a:srgbClr val="F5F5F5"/>
                </a:solidFill>
                <a:latin typeface="Times New Roman" panose="02020603050405020304" pitchFamily="18" charset="0"/>
                <a:cs typeface="Times New Roman" panose="02020603050405020304" pitchFamily="18" charset="0"/>
              </a:rPr>
              <a:t>Major Challenges of Small-Scale Mining</a:t>
            </a:r>
            <a:endParaRPr sz="500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title"/>
          </p:nvPr>
        </p:nvSpPr>
        <p:spPr>
          <a:xfrm>
            <a:off x="6519561" y="1196562"/>
            <a:ext cx="3918797" cy="683691"/>
          </a:xfrm>
          <a:prstGeom prst="rect">
            <a:avLst/>
          </a:prstGeom>
        </p:spPr>
        <p:txBody>
          <a:bodyPr vert="horz" wrap="square" lIns="0" tIns="8043" rIns="0" bIns="0" rtlCol="0" anchor="ctr">
            <a:spAutoFit/>
          </a:bodyPr>
          <a:lstStyle/>
          <a:p>
            <a:pPr marL="8467" marR="3387">
              <a:lnSpc>
                <a:spcPct val="116700"/>
              </a:lnSpc>
              <a:spcBef>
                <a:spcPts val="63"/>
              </a:spcBef>
            </a:pPr>
            <a:r>
              <a:rPr lang="en-US" sz="4000" spc="63" dirty="0">
                <a:solidFill>
                  <a:srgbClr val="F5F5F5"/>
                </a:solidFill>
                <a:latin typeface="Times New Roman" panose="02020603050405020304" pitchFamily="18" charset="0"/>
                <a:cs typeface="Times New Roman" panose="02020603050405020304" pitchFamily="18" charset="0"/>
              </a:rPr>
              <a:t>They include:</a:t>
            </a:r>
            <a:endParaRPr sz="40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6519561" y="2540328"/>
            <a:ext cx="3594100" cy="562547"/>
          </a:xfrm>
          <a:prstGeom prst="rect">
            <a:avLst/>
          </a:prstGeom>
        </p:spPr>
        <p:txBody>
          <a:bodyPr vert="horz" wrap="square" lIns="0" tIns="8467" rIns="0" bIns="0" rtlCol="0">
            <a:spAutoFit/>
          </a:bodyPr>
          <a:lstStyle/>
          <a:p>
            <a:pPr marL="8467">
              <a:spcBef>
                <a:spcPts val="67"/>
              </a:spcBef>
            </a:pPr>
            <a:r>
              <a:rPr lang="en-US" sz="3600" dirty="0">
                <a:solidFill>
                  <a:srgbClr val="F5F5F5"/>
                </a:solidFill>
                <a:latin typeface="Times New Roman" panose="02020603050405020304" pitchFamily="18" charset="0"/>
                <a:cs typeface="Times New Roman" panose="02020603050405020304" pitchFamily="18" charset="0"/>
              </a:rPr>
              <a:t>Land Degradation</a:t>
            </a:r>
            <a:endParaRPr sz="36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6538401" y="3760507"/>
            <a:ext cx="4952771" cy="594544"/>
          </a:xfrm>
          <a:prstGeom prst="rect">
            <a:avLst/>
          </a:prstGeom>
        </p:spPr>
        <p:txBody>
          <a:bodyPr vert="horz" wrap="square" lIns="0" tIns="8467" rIns="0" bIns="0" rtlCol="0">
            <a:spAutoFit/>
          </a:bodyPr>
          <a:lstStyle/>
          <a:p>
            <a:pPr marL="8467" marR="3387">
              <a:lnSpc>
                <a:spcPct val="114999"/>
              </a:lnSpc>
              <a:spcBef>
                <a:spcPts val="67"/>
              </a:spcBef>
            </a:pPr>
            <a:r>
              <a:rPr lang="en-US" sz="3600" spc="20" dirty="0">
                <a:solidFill>
                  <a:srgbClr val="F5F5F5"/>
                </a:solidFill>
                <a:latin typeface="Times New Roman" panose="02020603050405020304" pitchFamily="18" charset="0"/>
                <a:cs typeface="Times New Roman" panose="02020603050405020304" pitchFamily="18" charset="0"/>
              </a:rPr>
              <a:t>Mercury Pollution</a:t>
            </a:r>
            <a:endParaRPr sz="36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6538400" y="5163759"/>
            <a:ext cx="5433885" cy="601020"/>
          </a:xfrm>
          <a:prstGeom prst="rect">
            <a:avLst/>
          </a:prstGeom>
        </p:spPr>
        <p:txBody>
          <a:bodyPr vert="horz" wrap="square" lIns="0" tIns="46567" rIns="0" bIns="0" rtlCol="0">
            <a:spAutoFit/>
          </a:bodyPr>
          <a:lstStyle/>
          <a:p>
            <a:pPr marL="8467">
              <a:spcBef>
                <a:spcPts val="367"/>
              </a:spcBef>
            </a:pPr>
            <a:r>
              <a:rPr lang="en-US" sz="3600" spc="-7" dirty="0">
                <a:solidFill>
                  <a:srgbClr val="F5F5F5"/>
                </a:solidFill>
                <a:latin typeface="Times New Roman" panose="02020603050405020304" pitchFamily="18" charset="0"/>
                <a:cs typeface="Times New Roman" panose="02020603050405020304" pitchFamily="18" charset="0"/>
              </a:rPr>
              <a:t>Pollution of Water Bodies</a:t>
            </a:r>
            <a:endParaRPr sz="3600" dirty="0">
              <a:latin typeface="Times New Roman" panose="02020603050405020304" pitchFamily="18" charset="0"/>
              <a:cs typeface="Times New Roman" panose="02020603050405020304" pitchFamily="18" charset="0"/>
            </a:endParaRPr>
          </a:p>
        </p:txBody>
      </p:sp>
      <p:sp>
        <p:nvSpPr>
          <p:cNvPr id="8" name="object 8"/>
          <p:cNvSpPr/>
          <p:nvPr/>
        </p:nvSpPr>
        <p:spPr>
          <a:xfrm>
            <a:off x="5830375" y="3637560"/>
            <a:ext cx="4972473" cy="0"/>
          </a:xfrm>
          <a:custGeom>
            <a:avLst/>
            <a:gdLst/>
            <a:ahLst/>
            <a:cxnLst/>
            <a:rect l="l" t="t" r="r" b="b"/>
            <a:pathLst>
              <a:path w="7458709">
                <a:moveTo>
                  <a:pt x="0" y="0"/>
                </a:moveTo>
                <a:lnTo>
                  <a:pt x="7458178" y="0"/>
                </a:lnTo>
              </a:path>
            </a:pathLst>
          </a:custGeom>
          <a:ln w="9524">
            <a:solidFill>
              <a:srgbClr val="F5F5F5"/>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9" name="object 9"/>
          <p:cNvSpPr/>
          <p:nvPr/>
        </p:nvSpPr>
        <p:spPr>
          <a:xfrm>
            <a:off x="5830375" y="4802497"/>
            <a:ext cx="4972473" cy="0"/>
          </a:xfrm>
          <a:custGeom>
            <a:avLst/>
            <a:gdLst/>
            <a:ahLst/>
            <a:cxnLst/>
            <a:rect l="l" t="t" r="r" b="b"/>
            <a:pathLst>
              <a:path w="7458709">
                <a:moveTo>
                  <a:pt x="0" y="0"/>
                </a:moveTo>
                <a:lnTo>
                  <a:pt x="7458178" y="0"/>
                </a:lnTo>
              </a:path>
            </a:pathLst>
          </a:custGeom>
          <a:ln w="9524">
            <a:solidFill>
              <a:srgbClr val="F5F5F5"/>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0" name="object 10"/>
          <p:cNvSpPr txBox="1"/>
          <p:nvPr/>
        </p:nvSpPr>
        <p:spPr>
          <a:xfrm>
            <a:off x="5818733" y="2666928"/>
            <a:ext cx="299297" cy="316326"/>
          </a:xfrm>
          <a:prstGeom prst="rect">
            <a:avLst/>
          </a:prstGeom>
        </p:spPr>
        <p:txBody>
          <a:bodyPr vert="horz" wrap="square" lIns="0" tIns="8467" rIns="0" bIns="0" rtlCol="0">
            <a:spAutoFit/>
          </a:bodyPr>
          <a:lstStyle/>
          <a:p>
            <a:pPr marL="8467">
              <a:spcBef>
                <a:spcPts val="67"/>
              </a:spcBef>
            </a:pPr>
            <a:r>
              <a:rPr sz="2000" spc="-3" dirty="0">
                <a:solidFill>
                  <a:srgbClr val="F5F5F5"/>
                </a:solidFill>
                <a:latin typeface="Times New Roman" panose="02020603050405020304" pitchFamily="18" charset="0"/>
                <a:cs typeface="Times New Roman" panose="02020603050405020304" pitchFamily="18" charset="0"/>
              </a:rPr>
              <a:t>01</a:t>
            </a:r>
            <a:endParaRPr sz="2000" dirty="0">
              <a:latin typeface="Times New Roman" panose="02020603050405020304" pitchFamily="18" charset="0"/>
              <a:cs typeface="Times New Roman" panose="02020603050405020304" pitchFamily="18" charset="0"/>
            </a:endParaRPr>
          </a:p>
        </p:txBody>
      </p:sp>
      <p:sp>
        <p:nvSpPr>
          <p:cNvPr id="11" name="object 11"/>
          <p:cNvSpPr txBox="1"/>
          <p:nvPr/>
        </p:nvSpPr>
        <p:spPr>
          <a:xfrm>
            <a:off x="5836494" y="3917780"/>
            <a:ext cx="299297" cy="316326"/>
          </a:xfrm>
          <a:prstGeom prst="rect">
            <a:avLst/>
          </a:prstGeom>
        </p:spPr>
        <p:txBody>
          <a:bodyPr vert="horz" wrap="square" lIns="0" tIns="8467" rIns="0" bIns="0" rtlCol="0">
            <a:spAutoFit/>
          </a:bodyPr>
          <a:lstStyle/>
          <a:p>
            <a:pPr marL="8467">
              <a:spcBef>
                <a:spcPts val="67"/>
              </a:spcBef>
            </a:pPr>
            <a:r>
              <a:rPr sz="2000" spc="-3" dirty="0">
                <a:solidFill>
                  <a:srgbClr val="F5F5F5"/>
                </a:solidFill>
                <a:latin typeface="Times New Roman" panose="02020603050405020304" pitchFamily="18" charset="0"/>
                <a:cs typeface="Times New Roman" panose="02020603050405020304" pitchFamily="18" charset="0"/>
              </a:rPr>
              <a:t>02</a:t>
            </a:r>
            <a:endParaRPr sz="2000">
              <a:latin typeface="Times New Roman" panose="02020603050405020304" pitchFamily="18" charset="0"/>
              <a:cs typeface="Times New Roman" panose="02020603050405020304" pitchFamily="18" charset="0"/>
            </a:endParaRPr>
          </a:p>
        </p:txBody>
      </p:sp>
      <p:sp>
        <p:nvSpPr>
          <p:cNvPr id="12" name="object 12"/>
          <p:cNvSpPr txBox="1"/>
          <p:nvPr/>
        </p:nvSpPr>
        <p:spPr>
          <a:xfrm>
            <a:off x="5836494" y="5336906"/>
            <a:ext cx="299297" cy="316326"/>
          </a:xfrm>
          <a:prstGeom prst="rect">
            <a:avLst/>
          </a:prstGeom>
        </p:spPr>
        <p:txBody>
          <a:bodyPr vert="horz" wrap="square" lIns="0" tIns="8467" rIns="0" bIns="0" rtlCol="0">
            <a:spAutoFit/>
          </a:bodyPr>
          <a:lstStyle/>
          <a:p>
            <a:pPr marL="8467">
              <a:spcBef>
                <a:spcPts val="67"/>
              </a:spcBef>
            </a:pPr>
            <a:r>
              <a:rPr sz="2000" spc="-3" dirty="0">
                <a:solidFill>
                  <a:srgbClr val="F5F5F5"/>
                </a:solidFill>
                <a:latin typeface="Times New Roman" panose="02020603050405020304" pitchFamily="18" charset="0"/>
                <a:cs typeface="Times New Roman" panose="02020603050405020304" pitchFamily="18" charset="0"/>
              </a:rPr>
              <a:t>03</a:t>
            </a:r>
            <a:endParaRPr sz="200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BD2C069-4BD6-440D-96E9-3C3156F74E21}"/>
              </a:ext>
            </a:extLst>
          </p:cNvPr>
          <p:cNvSpPr txBox="1"/>
          <p:nvPr/>
        </p:nvSpPr>
        <p:spPr>
          <a:xfrm>
            <a:off x="11463264" y="6217567"/>
            <a:ext cx="888275" cy="523220"/>
          </a:xfrm>
          <a:prstGeom prst="rect">
            <a:avLst/>
          </a:prstGeom>
          <a:noFill/>
        </p:spPr>
        <p:txBody>
          <a:bodyPr wrap="square" rtlCol="0">
            <a:spAutoFit/>
          </a:bodyPr>
          <a:lstStyle/>
          <a:p>
            <a:r>
              <a:rPr lang="en-US" sz="2800" dirty="0">
                <a:solidFill>
                  <a:schemeClr val="bg1"/>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91886" y="341264"/>
            <a:ext cx="3476655" cy="685658"/>
          </a:xfrm>
          <a:prstGeom prst="rect">
            <a:avLst/>
          </a:prstGeom>
        </p:spPr>
        <p:txBody>
          <a:bodyPr vert="horz" wrap="square" lIns="0" tIns="8467" rIns="0" bIns="0" rtlCol="0" anchor="ctr">
            <a:spAutoFit/>
          </a:bodyPr>
          <a:lstStyle/>
          <a:p>
            <a:pPr marL="8467">
              <a:lnSpc>
                <a:spcPct val="100000"/>
              </a:lnSpc>
              <a:spcBef>
                <a:spcPts val="67"/>
              </a:spcBef>
            </a:pPr>
            <a:r>
              <a:rPr lang="en-US" spc="-3" dirty="0"/>
              <a:t>A threat to</a:t>
            </a:r>
            <a:endParaRPr spc="277" dirty="0"/>
          </a:p>
        </p:txBody>
      </p:sp>
      <p:sp>
        <p:nvSpPr>
          <p:cNvPr id="6" name="object 6"/>
          <p:cNvSpPr txBox="1"/>
          <p:nvPr/>
        </p:nvSpPr>
        <p:spPr>
          <a:xfrm>
            <a:off x="363826" y="956564"/>
            <a:ext cx="4663440" cy="2763728"/>
          </a:xfrm>
          <a:prstGeom prst="rect">
            <a:avLst/>
          </a:prstGeom>
        </p:spPr>
        <p:txBody>
          <a:bodyPr vert="horz" wrap="square" lIns="0" tIns="8467" rIns="0" bIns="0" rtlCol="0">
            <a:spAutoFit/>
          </a:bodyPr>
          <a:lstStyle/>
          <a:p>
            <a:pPr marL="8467">
              <a:spcBef>
                <a:spcPts val="67"/>
              </a:spcBef>
            </a:pPr>
            <a:r>
              <a:rPr lang="en-US" sz="5000" b="1" spc="169" dirty="0">
                <a:latin typeface="Arial"/>
                <a:cs typeface="Arial"/>
              </a:rPr>
              <a:t>Biodiversity</a:t>
            </a:r>
            <a:endParaRPr sz="5000" b="1" dirty="0">
              <a:latin typeface="Arial"/>
              <a:cs typeface="Arial"/>
            </a:endParaRPr>
          </a:p>
          <a:p>
            <a:pPr marL="8467" marR="3387">
              <a:lnSpc>
                <a:spcPct val="116700"/>
              </a:lnSpc>
              <a:spcBef>
                <a:spcPts val="2436"/>
              </a:spcBef>
            </a:pPr>
            <a:r>
              <a:rPr lang="en-US" sz="3200" spc="73" dirty="0">
                <a:solidFill>
                  <a:srgbClr val="0A0A0A"/>
                </a:solidFill>
                <a:latin typeface="Arial"/>
                <a:cs typeface="Arial"/>
              </a:rPr>
              <a:t>Many species of plants and animals are lost due to mining activities</a:t>
            </a:r>
            <a:endParaRPr sz="3200" dirty="0">
              <a:latin typeface="Arial"/>
              <a:cs typeface="Arial"/>
            </a:endParaRPr>
          </a:p>
        </p:txBody>
      </p:sp>
      <p:sp>
        <p:nvSpPr>
          <p:cNvPr id="7" name="object 7"/>
          <p:cNvSpPr txBox="1"/>
          <p:nvPr/>
        </p:nvSpPr>
        <p:spPr>
          <a:xfrm>
            <a:off x="465543" y="4576043"/>
            <a:ext cx="4589783" cy="1940489"/>
          </a:xfrm>
          <a:prstGeom prst="rect">
            <a:avLst/>
          </a:prstGeom>
        </p:spPr>
        <p:txBody>
          <a:bodyPr vert="horz" wrap="square" lIns="0" tIns="8467" rIns="0" bIns="0" rtlCol="0">
            <a:spAutoFit/>
          </a:bodyPr>
          <a:lstStyle/>
          <a:p>
            <a:pPr marL="8467" marR="3387">
              <a:lnSpc>
                <a:spcPct val="114999"/>
              </a:lnSpc>
              <a:spcBef>
                <a:spcPts val="67"/>
              </a:spcBef>
            </a:pPr>
            <a:r>
              <a:rPr lang="en-US" sz="2800" spc="10" dirty="0">
                <a:solidFill>
                  <a:srgbClr val="0A0A0A"/>
                </a:solidFill>
                <a:latin typeface="Tahoma"/>
                <a:cs typeface="Tahoma"/>
              </a:rPr>
              <a:t>Harmful toxins are released into the environment which makes it inconducive for native species to survive.</a:t>
            </a:r>
            <a:endParaRPr sz="2800" dirty="0">
              <a:latin typeface="Tahoma"/>
              <a:cs typeface="Tahoma"/>
            </a:endParaRPr>
          </a:p>
        </p:txBody>
      </p:sp>
      <p:pic>
        <p:nvPicPr>
          <p:cNvPr id="9" name="Picture 8">
            <a:extLst>
              <a:ext uri="{FF2B5EF4-FFF2-40B4-BE49-F238E27FC236}">
                <a16:creationId xmlns:a16="http://schemas.microsoft.com/office/drawing/2014/main" id="{5258D526-6BBB-4843-9163-B9FCFBED6B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6137" y="3004304"/>
            <a:ext cx="2850538" cy="3143478"/>
          </a:xfrm>
          <a:prstGeom prst="rect">
            <a:avLst/>
          </a:prstGeom>
        </p:spPr>
      </p:pic>
      <p:pic>
        <p:nvPicPr>
          <p:cNvPr id="11" name="Picture 10">
            <a:extLst>
              <a:ext uri="{FF2B5EF4-FFF2-40B4-BE49-F238E27FC236}">
                <a16:creationId xmlns:a16="http://schemas.microsoft.com/office/drawing/2014/main" id="{9EC68111-1828-4426-BF7F-A76EAB750DB4}"/>
              </a:ext>
            </a:extLst>
          </p:cNvPr>
          <p:cNvPicPr>
            <a:picLocks noChangeAspect="1"/>
          </p:cNvPicPr>
          <p:nvPr/>
        </p:nvPicPr>
        <p:blipFill rotWithShape="1">
          <a:blip r:embed="rId3">
            <a:extLst>
              <a:ext uri="{28A0092B-C50C-407E-A947-70E740481C1C}">
                <a14:useLocalDpi xmlns:a14="http://schemas.microsoft.com/office/drawing/2010/main" val="0"/>
              </a:ext>
            </a:extLst>
          </a:blip>
          <a:srcRect r="16484"/>
          <a:stretch/>
        </p:blipFill>
        <p:spPr>
          <a:xfrm>
            <a:off x="5682343" y="3004304"/>
            <a:ext cx="3483794" cy="3143478"/>
          </a:xfrm>
          <a:prstGeom prst="rect">
            <a:avLst/>
          </a:prstGeom>
        </p:spPr>
      </p:pic>
      <p:pic>
        <p:nvPicPr>
          <p:cNvPr id="13" name="Picture 12">
            <a:extLst>
              <a:ext uri="{FF2B5EF4-FFF2-40B4-BE49-F238E27FC236}">
                <a16:creationId xmlns:a16="http://schemas.microsoft.com/office/drawing/2014/main" id="{2D79417F-A05C-4D90-9B36-5071797166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2343" y="245386"/>
            <a:ext cx="6334331" cy="2602317"/>
          </a:xfrm>
          <a:prstGeom prst="rect">
            <a:avLst/>
          </a:prstGeom>
        </p:spPr>
      </p:pic>
      <p:sp>
        <p:nvSpPr>
          <p:cNvPr id="15" name="TextBox 14">
            <a:extLst>
              <a:ext uri="{FF2B5EF4-FFF2-40B4-BE49-F238E27FC236}">
                <a16:creationId xmlns:a16="http://schemas.microsoft.com/office/drawing/2014/main" id="{030D78A6-9B82-4760-908C-E5C3F4A984DB}"/>
              </a:ext>
            </a:extLst>
          </p:cNvPr>
          <p:cNvSpPr txBox="1"/>
          <p:nvPr/>
        </p:nvSpPr>
        <p:spPr>
          <a:xfrm>
            <a:off x="5682342" y="6243282"/>
            <a:ext cx="5577841" cy="369332"/>
          </a:xfrm>
          <a:prstGeom prst="rect">
            <a:avLst/>
          </a:prstGeom>
          <a:noFill/>
        </p:spPr>
        <p:txBody>
          <a:bodyPr wrap="square" rtlCol="0">
            <a:spAutoFit/>
          </a:bodyPr>
          <a:lstStyle/>
          <a:p>
            <a:r>
              <a:rPr lang="en-US" b="1" dirty="0"/>
              <a:t>Figure  2: </a:t>
            </a:r>
            <a:r>
              <a:rPr lang="en-US" dirty="0"/>
              <a:t>Land destroyed by illegal mining activities</a:t>
            </a:r>
          </a:p>
        </p:txBody>
      </p:sp>
      <p:sp>
        <p:nvSpPr>
          <p:cNvPr id="10" name="TextBox 9">
            <a:extLst>
              <a:ext uri="{FF2B5EF4-FFF2-40B4-BE49-F238E27FC236}">
                <a16:creationId xmlns:a16="http://schemas.microsoft.com/office/drawing/2014/main" id="{76911D48-39B3-4672-AC1B-40D4A31BC4B1}"/>
              </a:ext>
            </a:extLst>
          </p:cNvPr>
          <p:cNvSpPr txBox="1"/>
          <p:nvPr/>
        </p:nvSpPr>
        <p:spPr>
          <a:xfrm>
            <a:off x="11463264" y="6217567"/>
            <a:ext cx="888275" cy="523220"/>
          </a:xfrm>
          <a:prstGeom prst="rect">
            <a:avLst/>
          </a:prstGeom>
          <a:noFill/>
        </p:spPr>
        <p:txBody>
          <a:bodyPr wrap="square" rtlCol="0">
            <a:spAutoFit/>
          </a:bodyPr>
          <a:lstStyle/>
          <a:p>
            <a:r>
              <a:rPr lang="en-US" sz="2800"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0080" y="275199"/>
            <a:ext cx="8133080" cy="685658"/>
          </a:xfrm>
          <a:prstGeom prst="rect">
            <a:avLst/>
          </a:prstGeom>
        </p:spPr>
        <p:txBody>
          <a:bodyPr vert="horz" wrap="square" lIns="0" tIns="8467" rIns="0" bIns="0" rtlCol="0" anchor="ctr">
            <a:spAutoFit/>
          </a:bodyPr>
          <a:lstStyle/>
          <a:p>
            <a:pPr marL="8467">
              <a:lnSpc>
                <a:spcPct val="100000"/>
              </a:lnSpc>
              <a:spcBef>
                <a:spcPts val="67"/>
              </a:spcBef>
            </a:pPr>
            <a:r>
              <a:rPr lang="en-US" spc="133" dirty="0">
                <a:solidFill>
                  <a:srgbClr val="0A0A0A"/>
                </a:solidFill>
                <a:latin typeface="Times New Roman" panose="02020603050405020304" pitchFamily="18" charset="0"/>
                <a:cs typeface="Times New Roman" panose="02020603050405020304" pitchFamily="18" charset="0"/>
              </a:rPr>
              <a:t>Health Hazards </a:t>
            </a:r>
            <a:endParaRPr spc="193" dirty="0">
              <a:solidFill>
                <a:srgbClr val="0A0A0A"/>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6764027" y="3786318"/>
            <a:ext cx="5179779" cy="2941489"/>
          </a:xfrm>
          <a:prstGeom prst="rect">
            <a:avLst/>
          </a:prstGeom>
        </p:spPr>
        <p:txBody>
          <a:bodyPr vert="horz" wrap="square" lIns="0" tIns="8043" rIns="0" bIns="0" rtlCol="0">
            <a:spAutoFit/>
          </a:bodyPr>
          <a:lstStyle/>
          <a:p>
            <a:pPr marL="8467" marR="3387">
              <a:lnSpc>
                <a:spcPct val="114999"/>
              </a:lnSpc>
              <a:spcBef>
                <a:spcPts val="2993"/>
              </a:spcBef>
            </a:pPr>
            <a:r>
              <a:rPr lang="en-US" sz="2800" dirty="0">
                <a:latin typeface="Times New Roman" panose="02020603050405020304" pitchFamily="18" charset="0"/>
                <a:cs typeface="Times New Roman" panose="02020603050405020304" pitchFamily="18" charset="0"/>
              </a:rPr>
              <a:t>The hand and foot nails of many of the operators are hardened, deformed or completely detached from the hands and feet (Figure 2). Respiratory tract infections are also common</a:t>
            </a:r>
            <a:endParaRPr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F3C3D94-24E7-4CA3-996B-51877C7AAB1C}"/>
              </a:ext>
            </a:extLst>
          </p:cNvPr>
          <p:cNvPicPr>
            <a:picLocks noChangeAspect="1"/>
          </p:cNvPicPr>
          <p:nvPr/>
        </p:nvPicPr>
        <p:blipFill>
          <a:blip r:embed="rId2"/>
          <a:stretch>
            <a:fillRect/>
          </a:stretch>
        </p:blipFill>
        <p:spPr>
          <a:xfrm>
            <a:off x="640080" y="1240585"/>
            <a:ext cx="5791200" cy="4016478"/>
          </a:xfrm>
          <a:prstGeom prst="rect">
            <a:avLst/>
          </a:prstGeom>
        </p:spPr>
      </p:pic>
      <p:sp>
        <p:nvSpPr>
          <p:cNvPr id="7" name="TextBox 6">
            <a:extLst>
              <a:ext uri="{FF2B5EF4-FFF2-40B4-BE49-F238E27FC236}">
                <a16:creationId xmlns:a16="http://schemas.microsoft.com/office/drawing/2014/main" id="{065FF9DD-3C59-43FC-8848-EFAB27E192F0}"/>
              </a:ext>
            </a:extLst>
          </p:cNvPr>
          <p:cNvSpPr txBox="1"/>
          <p:nvPr/>
        </p:nvSpPr>
        <p:spPr>
          <a:xfrm>
            <a:off x="462280" y="5498055"/>
            <a:ext cx="6146800" cy="830997"/>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Figure 2. </a:t>
            </a:r>
            <a:r>
              <a:rPr lang="en-US" sz="1600" dirty="0">
                <a:latin typeface="Times New Roman" panose="02020603050405020304" pitchFamily="18" charset="0"/>
                <a:cs typeface="Times New Roman" panose="02020603050405020304" pitchFamily="18" charset="0"/>
              </a:rPr>
              <a:t>Skin roseola resulting from arsenic intake/ingestion.</a:t>
            </a:r>
          </a:p>
          <a:p>
            <a:r>
              <a:rPr lang="en-US" sz="1600" b="1" dirty="0">
                <a:latin typeface="Times New Roman" panose="02020603050405020304" pitchFamily="18" charset="0"/>
                <a:cs typeface="Times New Roman" panose="02020603050405020304" pitchFamily="18" charset="0"/>
              </a:rPr>
              <a:t>Source: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Adu</a:t>
            </a:r>
            <a:r>
              <a:rPr lang="en-US" sz="1600" dirty="0">
                <a:latin typeface="Times New Roman" panose="02020603050405020304" pitchFamily="18" charset="0"/>
                <a:cs typeface="Times New Roman" panose="02020603050405020304" pitchFamily="18" charset="0"/>
              </a:rPr>
              <a:t>-Yeboah, J.K. and </a:t>
            </a:r>
            <a:r>
              <a:rPr lang="en-US" sz="1600" dirty="0" err="1">
                <a:latin typeface="Times New Roman" panose="02020603050405020304" pitchFamily="18" charset="0"/>
                <a:cs typeface="Times New Roman" panose="02020603050405020304" pitchFamily="18" charset="0"/>
              </a:rPr>
              <a:t>Obiri</a:t>
            </a:r>
            <a:r>
              <a:rPr lang="en-US" sz="1600" dirty="0">
                <a:latin typeface="Times New Roman" panose="02020603050405020304" pitchFamily="18" charset="0"/>
                <a:cs typeface="Times New Roman" panose="02020603050405020304" pitchFamily="18" charset="0"/>
              </a:rPr>
              <a:t>-Yeboah, D. Practical Social Studies for Senior High Schools. </a:t>
            </a:r>
            <a:r>
              <a:rPr lang="en-US" sz="1600" dirty="0" err="1">
                <a:latin typeface="Times New Roman" panose="02020603050405020304" pitchFamily="18" charset="0"/>
                <a:cs typeface="Times New Roman" panose="02020603050405020304" pitchFamily="18" charset="0"/>
              </a:rPr>
              <a:t>KwaDwoan</a:t>
            </a:r>
            <a:r>
              <a:rPr lang="en-US" sz="1600" dirty="0">
                <a:latin typeface="Times New Roman" panose="02020603050405020304" pitchFamily="18" charset="0"/>
                <a:cs typeface="Times New Roman" panose="02020603050405020304" pitchFamily="18" charset="0"/>
              </a:rPr>
              <a:t> Publishing, Accra. 2008</a:t>
            </a:r>
          </a:p>
        </p:txBody>
      </p:sp>
      <p:sp>
        <p:nvSpPr>
          <p:cNvPr id="4" name="TextBox 3">
            <a:extLst>
              <a:ext uri="{FF2B5EF4-FFF2-40B4-BE49-F238E27FC236}">
                <a16:creationId xmlns:a16="http://schemas.microsoft.com/office/drawing/2014/main" id="{DBFFDD85-FCCC-4522-A2FA-27093C3134E8}"/>
              </a:ext>
            </a:extLst>
          </p:cNvPr>
          <p:cNvSpPr txBox="1"/>
          <p:nvPr/>
        </p:nvSpPr>
        <p:spPr>
          <a:xfrm>
            <a:off x="6764027" y="1240585"/>
            <a:ext cx="5179779" cy="2062103"/>
          </a:xfrm>
          <a:prstGeom prst="rect">
            <a:avLst/>
          </a:prstGeom>
          <a:noFill/>
        </p:spPr>
        <p:txBody>
          <a:bodyPr wrap="square" rtlCol="0">
            <a:spAutoFit/>
          </a:bodyPr>
          <a:lstStyle/>
          <a:p>
            <a:r>
              <a:rPr lang="en-US" sz="3200" b="1" spc="76" dirty="0">
                <a:latin typeface="Times New Roman" panose="02020603050405020304" pitchFamily="18" charset="0"/>
                <a:cs typeface="Times New Roman" panose="02020603050405020304" pitchFamily="18" charset="0"/>
              </a:rPr>
              <a:t>The heavy metals used in the extraction and processing of gold are toxic to human health.</a:t>
            </a:r>
            <a:endParaRPr lang="en-US" sz="3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4DB4896-9D03-4492-894E-31F115153A2E}"/>
              </a:ext>
            </a:extLst>
          </p:cNvPr>
          <p:cNvSpPr txBox="1"/>
          <p:nvPr/>
        </p:nvSpPr>
        <p:spPr>
          <a:xfrm>
            <a:off x="11463264" y="6217567"/>
            <a:ext cx="888275" cy="523220"/>
          </a:xfrm>
          <a:prstGeom prst="rect">
            <a:avLst/>
          </a:prstGeom>
          <a:noFill/>
        </p:spPr>
        <p:txBody>
          <a:bodyPr wrap="square" rtlCol="0">
            <a:spAutoFit/>
          </a:bodyPr>
          <a:lstStyle/>
          <a:p>
            <a:r>
              <a:rPr lang="en-US" sz="2800"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4972F5-8F5C-41BE-A0F5-43478FA0B28B}"/>
              </a:ext>
            </a:extLst>
          </p:cNvPr>
          <p:cNvSpPr txBox="1"/>
          <p:nvPr/>
        </p:nvSpPr>
        <p:spPr>
          <a:xfrm>
            <a:off x="0" y="0"/>
            <a:ext cx="12192000" cy="6858000"/>
          </a:xfrm>
          <a:prstGeom prst="rect">
            <a:avLst/>
          </a:prstGeom>
          <a:solidFill>
            <a:schemeClr val="tx1">
              <a:lumMod val="95000"/>
              <a:lumOff val="5000"/>
            </a:schemeClr>
          </a:solidFill>
        </p:spPr>
        <p:txBody>
          <a:bodyPr wrap="square" rtlCol="0">
            <a:spAutoFit/>
          </a:bodyPr>
          <a:lstStyle/>
          <a:p>
            <a:endParaRPr lang="en-US" dirty="0"/>
          </a:p>
        </p:txBody>
      </p:sp>
      <p:sp>
        <p:nvSpPr>
          <p:cNvPr id="4" name="Teardrop 3">
            <a:extLst>
              <a:ext uri="{FF2B5EF4-FFF2-40B4-BE49-F238E27FC236}">
                <a16:creationId xmlns:a16="http://schemas.microsoft.com/office/drawing/2014/main" id="{9061E1B7-2717-489D-85FB-8DCA3F7C3F5C}"/>
              </a:ext>
            </a:extLst>
          </p:cNvPr>
          <p:cNvSpPr/>
          <p:nvPr/>
        </p:nvSpPr>
        <p:spPr>
          <a:xfrm>
            <a:off x="5741894" y="0"/>
            <a:ext cx="6450106" cy="6373906"/>
          </a:xfrm>
          <a:prstGeom prst="teardrop">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6" name="Picture 5">
            <a:extLst>
              <a:ext uri="{FF2B5EF4-FFF2-40B4-BE49-F238E27FC236}">
                <a16:creationId xmlns:a16="http://schemas.microsoft.com/office/drawing/2014/main" id="{7BE80E14-09AF-4B26-886D-EC1633650D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4976" y="4335371"/>
            <a:ext cx="4376680" cy="1086410"/>
          </a:xfrm>
          <a:prstGeom prst="rect">
            <a:avLst/>
          </a:prstGeom>
        </p:spPr>
      </p:pic>
      <p:sp>
        <p:nvSpPr>
          <p:cNvPr id="7" name="object 4">
            <a:extLst>
              <a:ext uri="{FF2B5EF4-FFF2-40B4-BE49-F238E27FC236}">
                <a16:creationId xmlns:a16="http://schemas.microsoft.com/office/drawing/2014/main" id="{F3FCF4E7-062D-4A47-B0D0-2A8221B001DD}"/>
              </a:ext>
            </a:extLst>
          </p:cNvPr>
          <p:cNvSpPr txBox="1"/>
          <p:nvPr/>
        </p:nvSpPr>
        <p:spPr>
          <a:xfrm>
            <a:off x="6837270" y="1133737"/>
            <a:ext cx="5146040" cy="2983865"/>
          </a:xfrm>
          <a:prstGeom prst="rect">
            <a:avLst/>
          </a:prstGeom>
        </p:spPr>
        <p:txBody>
          <a:bodyPr vert="horz" wrap="square" lIns="0" tIns="13970" rIns="0" bIns="0" rtlCol="0">
            <a:spAutoFit/>
          </a:bodyPr>
          <a:lstStyle/>
          <a:p>
            <a:pPr marL="12700">
              <a:lnSpc>
                <a:spcPct val="100000"/>
              </a:lnSpc>
              <a:spcBef>
                <a:spcPts val="110"/>
              </a:spcBef>
            </a:pPr>
            <a:r>
              <a:rPr lang="en-US" sz="19400" b="1" spc="-680" dirty="0">
                <a:latin typeface="Arial"/>
                <a:cs typeface="Arial"/>
              </a:rPr>
              <a:t>8</a:t>
            </a:r>
            <a:r>
              <a:rPr lang="en-US" sz="19400" b="1" spc="-114" dirty="0">
                <a:latin typeface="Arial"/>
                <a:cs typeface="Arial"/>
              </a:rPr>
              <a:t>0</a:t>
            </a:r>
            <a:r>
              <a:rPr sz="19400" b="1" spc="2275" dirty="0">
                <a:latin typeface="Arial"/>
                <a:cs typeface="Arial"/>
              </a:rPr>
              <a:t>%</a:t>
            </a:r>
            <a:endParaRPr sz="19400" dirty="0">
              <a:latin typeface="Arial"/>
              <a:cs typeface="Arial"/>
            </a:endParaRPr>
          </a:p>
        </p:txBody>
      </p:sp>
      <p:sp>
        <p:nvSpPr>
          <p:cNvPr id="8" name="object 2">
            <a:extLst>
              <a:ext uri="{FF2B5EF4-FFF2-40B4-BE49-F238E27FC236}">
                <a16:creationId xmlns:a16="http://schemas.microsoft.com/office/drawing/2014/main" id="{141ACB13-606C-4E73-8F9D-3FD157D4BEC6}"/>
              </a:ext>
            </a:extLst>
          </p:cNvPr>
          <p:cNvSpPr txBox="1">
            <a:spLocks/>
          </p:cNvSpPr>
          <p:nvPr/>
        </p:nvSpPr>
        <p:spPr>
          <a:xfrm>
            <a:off x="545372" y="705302"/>
            <a:ext cx="4353199" cy="1277914"/>
          </a:xfrm>
          <a:prstGeom prst="rect">
            <a:avLst/>
          </a:prstGeom>
        </p:spPr>
        <p:txBody>
          <a:bodyPr vert="horz" wrap="square" lIns="0" tIns="1587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25"/>
              </a:spcBef>
            </a:pPr>
            <a:r>
              <a:rPr lang="en-US" sz="8200" spc="-285" dirty="0">
                <a:solidFill>
                  <a:srgbClr val="FFFFFF"/>
                </a:solidFill>
              </a:rPr>
              <a:t>STATISTICS</a:t>
            </a:r>
            <a:endParaRPr lang="en-US" sz="8200" dirty="0"/>
          </a:p>
        </p:txBody>
      </p:sp>
      <p:sp>
        <p:nvSpPr>
          <p:cNvPr id="14" name="TextBox 13">
            <a:extLst>
              <a:ext uri="{FF2B5EF4-FFF2-40B4-BE49-F238E27FC236}">
                <a16:creationId xmlns:a16="http://schemas.microsoft.com/office/drawing/2014/main" id="{F18D03BE-6C43-4410-ADD7-6CA3428754D8}"/>
              </a:ext>
            </a:extLst>
          </p:cNvPr>
          <p:cNvSpPr txBox="1"/>
          <p:nvPr/>
        </p:nvSpPr>
        <p:spPr>
          <a:xfrm>
            <a:off x="7499437" y="3667151"/>
            <a:ext cx="3821706" cy="461665"/>
          </a:xfrm>
          <a:prstGeom prst="rect">
            <a:avLst/>
          </a:prstGeom>
          <a:noFill/>
        </p:spPr>
        <p:txBody>
          <a:bodyPr wrap="square" rtlCol="0">
            <a:spAutoFit/>
          </a:bodyPr>
          <a:lstStyle/>
          <a:p>
            <a:r>
              <a:rPr lang="en-US" sz="2400" b="1" dirty="0"/>
              <a:t>of miners affected</a:t>
            </a:r>
          </a:p>
        </p:txBody>
      </p:sp>
      <p:sp>
        <p:nvSpPr>
          <p:cNvPr id="15" name="TextBox 14">
            <a:extLst>
              <a:ext uri="{FF2B5EF4-FFF2-40B4-BE49-F238E27FC236}">
                <a16:creationId xmlns:a16="http://schemas.microsoft.com/office/drawing/2014/main" id="{F79EE873-529B-4220-93DA-6918BD2B45A8}"/>
              </a:ext>
            </a:extLst>
          </p:cNvPr>
          <p:cNvSpPr txBox="1"/>
          <p:nvPr/>
        </p:nvSpPr>
        <p:spPr>
          <a:xfrm>
            <a:off x="251032" y="2563330"/>
            <a:ext cx="5629731" cy="3108543"/>
          </a:xfrm>
          <a:prstGeom prst="rect">
            <a:avLst/>
          </a:prstGeom>
          <a:noFill/>
        </p:spPr>
        <p:txBody>
          <a:bodyPr wrap="square" rtlCol="0">
            <a:spAutoFit/>
          </a:bodyPr>
          <a:lstStyle/>
          <a:p>
            <a:r>
              <a:rPr lang="en-US" sz="2800" dirty="0">
                <a:solidFill>
                  <a:schemeClr val="bg1"/>
                </a:solidFill>
              </a:rPr>
              <a:t>Exposure to mercury can cause kidney problems, respiratory, central nervous and cardiovascular systems disorders, loss of memory, psychosis, reproductive problems, and in some cases severe complications in children resulting in death.</a:t>
            </a:r>
          </a:p>
        </p:txBody>
      </p:sp>
      <p:sp>
        <p:nvSpPr>
          <p:cNvPr id="9" name="TextBox 8">
            <a:extLst>
              <a:ext uri="{FF2B5EF4-FFF2-40B4-BE49-F238E27FC236}">
                <a16:creationId xmlns:a16="http://schemas.microsoft.com/office/drawing/2014/main" id="{EB174A25-8B13-40AF-8505-BA8531B00ECC}"/>
              </a:ext>
            </a:extLst>
          </p:cNvPr>
          <p:cNvSpPr txBox="1"/>
          <p:nvPr/>
        </p:nvSpPr>
        <p:spPr>
          <a:xfrm>
            <a:off x="11463264" y="6217567"/>
            <a:ext cx="888275" cy="523220"/>
          </a:xfrm>
          <a:prstGeom prst="rect">
            <a:avLst/>
          </a:prstGeom>
          <a:noFill/>
        </p:spPr>
        <p:txBody>
          <a:bodyPr wrap="square" rtlCol="0">
            <a:spAutoFit/>
          </a:bodyPr>
          <a:lstStyle/>
          <a:p>
            <a:r>
              <a:rPr lang="en-US" sz="2800" dirty="0">
                <a:solidFill>
                  <a:schemeClr val="bg1"/>
                </a:solidFill>
              </a:rPr>
              <a:t>8</a:t>
            </a:r>
          </a:p>
        </p:txBody>
      </p:sp>
    </p:spTree>
    <p:extLst>
      <p:ext uri="{BB962C8B-B14F-4D97-AF65-F5344CB8AC3E}">
        <p14:creationId xmlns:p14="http://schemas.microsoft.com/office/powerpoint/2010/main" val="1313325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24035" y="5997385"/>
            <a:ext cx="399627" cy="172762"/>
          </a:xfrm>
          <a:prstGeom prst="rect">
            <a:avLst/>
          </a:prstGeom>
        </p:spPr>
        <p:txBody>
          <a:bodyPr vert="horz" wrap="square" lIns="0" tIns="8467" rIns="0" bIns="0" rtlCol="0">
            <a:spAutoFit/>
          </a:bodyPr>
          <a:lstStyle/>
          <a:p>
            <a:pPr marL="8467">
              <a:spcBef>
                <a:spcPts val="67"/>
              </a:spcBef>
            </a:pPr>
            <a:r>
              <a:rPr lang="en-US" sz="1067" spc="-27" dirty="0">
                <a:solidFill>
                  <a:srgbClr val="0A0A0A"/>
                </a:solidFill>
                <a:latin typeface="Times New Roman" panose="02020603050405020304" pitchFamily="18" charset="0"/>
                <a:cs typeface="Times New Roman" panose="02020603050405020304" pitchFamily="18" charset="0"/>
              </a:rPr>
              <a:t>2001</a:t>
            </a:r>
            <a:endParaRPr sz="1067" dirty="0">
              <a:latin typeface="Times New Roman" panose="02020603050405020304" pitchFamily="18" charset="0"/>
              <a:cs typeface="Times New Roman" panose="02020603050405020304" pitchFamily="18" charset="0"/>
            </a:endParaRPr>
          </a:p>
        </p:txBody>
      </p:sp>
      <p:sp>
        <p:nvSpPr>
          <p:cNvPr id="3" name="object 3"/>
          <p:cNvSpPr txBox="1"/>
          <p:nvPr/>
        </p:nvSpPr>
        <p:spPr>
          <a:xfrm>
            <a:off x="8221156" y="5997385"/>
            <a:ext cx="399627" cy="172762"/>
          </a:xfrm>
          <a:prstGeom prst="rect">
            <a:avLst/>
          </a:prstGeom>
        </p:spPr>
        <p:txBody>
          <a:bodyPr vert="horz" wrap="square" lIns="0" tIns="8467" rIns="0" bIns="0" rtlCol="0">
            <a:spAutoFit/>
          </a:bodyPr>
          <a:lstStyle/>
          <a:p>
            <a:pPr marL="8467">
              <a:spcBef>
                <a:spcPts val="67"/>
              </a:spcBef>
            </a:pPr>
            <a:r>
              <a:rPr lang="en-US" sz="1067" spc="-27" dirty="0">
                <a:solidFill>
                  <a:srgbClr val="0A0A0A"/>
                </a:solidFill>
                <a:latin typeface="Times New Roman" panose="02020603050405020304" pitchFamily="18" charset="0"/>
                <a:cs typeface="Times New Roman" panose="02020603050405020304" pitchFamily="18" charset="0"/>
              </a:rPr>
              <a:t>2002</a:t>
            </a:r>
            <a:endParaRPr sz="1067" dirty="0">
              <a:latin typeface="Times New Roman" panose="02020603050405020304" pitchFamily="18" charset="0"/>
              <a:cs typeface="Times New Roman" panose="02020603050405020304" pitchFamily="18" charset="0"/>
            </a:endParaRPr>
          </a:p>
        </p:txBody>
      </p:sp>
      <p:sp>
        <p:nvSpPr>
          <p:cNvPr id="4" name="object 4"/>
          <p:cNvSpPr txBox="1"/>
          <p:nvPr/>
        </p:nvSpPr>
        <p:spPr>
          <a:xfrm>
            <a:off x="9118277" y="5997385"/>
            <a:ext cx="399627" cy="172762"/>
          </a:xfrm>
          <a:prstGeom prst="rect">
            <a:avLst/>
          </a:prstGeom>
        </p:spPr>
        <p:txBody>
          <a:bodyPr vert="horz" wrap="square" lIns="0" tIns="8467" rIns="0" bIns="0" rtlCol="0">
            <a:spAutoFit/>
          </a:bodyPr>
          <a:lstStyle/>
          <a:p>
            <a:pPr marL="8467">
              <a:spcBef>
                <a:spcPts val="67"/>
              </a:spcBef>
            </a:pPr>
            <a:r>
              <a:rPr lang="en-US" sz="1067" spc="-27" dirty="0">
                <a:solidFill>
                  <a:srgbClr val="0A0A0A"/>
                </a:solidFill>
                <a:latin typeface="Times New Roman" panose="02020603050405020304" pitchFamily="18" charset="0"/>
                <a:cs typeface="Times New Roman" panose="02020603050405020304" pitchFamily="18" charset="0"/>
              </a:rPr>
              <a:t>2002</a:t>
            </a:r>
            <a:endParaRPr sz="1067" dirty="0">
              <a:latin typeface="Times New Roman" panose="02020603050405020304" pitchFamily="18" charset="0"/>
              <a:cs typeface="Times New Roman" panose="02020603050405020304" pitchFamily="18" charset="0"/>
            </a:endParaRPr>
          </a:p>
        </p:txBody>
      </p:sp>
      <p:sp>
        <p:nvSpPr>
          <p:cNvPr id="5" name="object 5"/>
          <p:cNvSpPr txBox="1"/>
          <p:nvPr/>
        </p:nvSpPr>
        <p:spPr>
          <a:xfrm>
            <a:off x="10015400" y="5997385"/>
            <a:ext cx="399627" cy="172762"/>
          </a:xfrm>
          <a:prstGeom prst="rect">
            <a:avLst/>
          </a:prstGeom>
        </p:spPr>
        <p:txBody>
          <a:bodyPr vert="horz" wrap="square" lIns="0" tIns="8467" rIns="0" bIns="0" rtlCol="0">
            <a:spAutoFit/>
          </a:bodyPr>
          <a:lstStyle/>
          <a:p>
            <a:pPr marL="8467">
              <a:spcBef>
                <a:spcPts val="67"/>
              </a:spcBef>
            </a:pPr>
            <a:r>
              <a:rPr lang="en-US" sz="1067" spc="-27" dirty="0">
                <a:solidFill>
                  <a:srgbClr val="0A0A0A"/>
                </a:solidFill>
                <a:latin typeface="Times New Roman" panose="02020603050405020304" pitchFamily="18" charset="0"/>
                <a:cs typeface="Times New Roman" panose="02020603050405020304" pitchFamily="18" charset="0"/>
              </a:rPr>
              <a:t>2006</a:t>
            </a:r>
            <a:endParaRPr sz="1067" dirty="0">
              <a:latin typeface="Times New Roman" panose="02020603050405020304" pitchFamily="18" charset="0"/>
              <a:cs typeface="Times New Roman" panose="02020603050405020304" pitchFamily="18" charset="0"/>
            </a:endParaRPr>
          </a:p>
        </p:txBody>
      </p:sp>
      <p:sp>
        <p:nvSpPr>
          <p:cNvPr id="6" name="object 6"/>
          <p:cNvSpPr txBox="1"/>
          <p:nvPr/>
        </p:nvSpPr>
        <p:spPr>
          <a:xfrm>
            <a:off x="10912521" y="5997385"/>
            <a:ext cx="399627" cy="172762"/>
          </a:xfrm>
          <a:prstGeom prst="rect">
            <a:avLst/>
          </a:prstGeom>
        </p:spPr>
        <p:txBody>
          <a:bodyPr vert="horz" wrap="square" lIns="0" tIns="8467" rIns="0" bIns="0" rtlCol="0">
            <a:spAutoFit/>
          </a:bodyPr>
          <a:lstStyle/>
          <a:p>
            <a:pPr marL="8467">
              <a:spcBef>
                <a:spcPts val="67"/>
              </a:spcBef>
            </a:pPr>
            <a:r>
              <a:rPr lang="en-US" sz="1067" spc="-27" dirty="0">
                <a:solidFill>
                  <a:srgbClr val="0A0A0A"/>
                </a:solidFill>
                <a:latin typeface="Times New Roman" panose="02020603050405020304" pitchFamily="18" charset="0"/>
                <a:cs typeface="Times New Roman" panose="02020603050405020304" pitchFamily="18" charset="0"/>
              </a:rPr>
              <a:t>2008</a:t>
            </a:r>
            <a:endParaRPr sz="1067" dirty="0">
              <a:latin typeface="Times New Roman" panose="02020603050405020304" pitchFamily="18" charset="0"/>
              <a:cs typeface="Times New Roman" panose="02020603050405020304" pitchFamily="18" charset="0"/>
            </a:endParaRPr>
          </a:p>
        </p:txBody>
      </p:sp>
      <p:sp>
        <p:nvSpPr>
          <p:cNvPr id="7" name="object 7"/>
          <p:cNvSpPr/>
          <p:nvPr/>
        </p:nvSpPr>
        <p:spPr>
          <a:xfrm>
            <a:off x="7129997" y="2657254"/>
            <a:ext cx="4375150" cy="0"/>
          </a:xfrm>
          <a:custGeom>
            <a:avLst/>
            <a:gdLst/>
            <a:ahLst/>
            <a:cxnLst/>
            <a:rect l="l" t="t" r="r" b="b"/>
            <a:pathLst>
              <a:path w="6562725">
                <a:moveTo>
                  <a:pt x="0" y="0"/>
                </a:moveTo>
                <a:lnTo>
                  <a:pt x="6562724"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8" name="object 8"/>
          <p:cNvSpPr/>
          <p:nvPr/>
        </p:nvSpPr>
        <p:spPr>
          <a:xfrm>
            <a:off x="7129997" y="3315286"/>
            <a:ext cx="3588597" cy="0"/>
          </a:xfrm>
          <a:custGeom>
            <a:avLst/>
            <a:gdLst/>
            <a:ahLst/>
            <a:cxnLst/>
            <a:rect l="l" t="t" r="r" b="b"/>
            <a:pathLst>
              <a:path w="5382894">
                <a:moveTo>
                  <a:pt x="0" y="0"/>
                </a:moveTo>
                <a:lnTo>
                  <a:pt x="5382729"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9" name="object 9"/>
          <p:cNvSpPr/>
          <p:nvPr/>
        </p:nvSpPr>
        <p:spPr>
          <a:xfrm>
            <a:off x="10609079" y="3973317"/>
            <a:ext cx="109643" cy="0"/>
          </a:xfrm>
          <a:custGeom>
            <a:avLst/>
            <a:gdLst/>
            <a:ahLst/>
            <a:cxnLst/>
            <a:rect l="l" t="t" r="r" b="b"/>
            <a:pathLst>
              <a:path w="164465">
                <a:moveTo>
                  <a:pt x="0" y="0"/>
                </a:moveTo>
                <a:lnTo>
                  <a:pt x="164106"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0" name="object 10"/>
          <p:cNvSpPr/>
          <p:nvPr/>
        </p:nvSpPr>
        <p:spPr>
          <a:xfrm>
            <a:off x="7129997" y="3973317"/>
            <a:ext cx="2691553" cy="0"/>
          </a:xfrm>
          <a:custGeom>
            <a:avLst/>
            <a:gdLst/>
            <a:ahLst/>
            <a:cxnLst/>
            <a:rect l="l" t="t" r="r" b="b"/>
            <a:pathLst>
              <a:path w="4037330">
                <a:moveTo>
                  <a:pt x="0" y="0"/>
                </a:moveTo>
                <a:lnTo>
                  <a:pt x="4037048"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1" name="object 11"/>
          <p:cNvSpPr/>
          <p:nvPr/>
        </p:nvSpPr>
        <p:spPr>
          <a:xfrm>
            <a:off x="10609079" y="4631348"/>
            <a:ext cx="109643" cy="0"/>
          </a:xfrm>
          <a:custGeom>
            <a:avLst/>
            <a:gdLst/>
            <a:ahLst/>
            <a:cxnLst/>
            <a:rect l="l" t="t" r="r" b="b"/>
            <a:pathLst>
              <a:path w="164465">
                <a:moveTo>
                  <a:pt x="0" y="0"/>
                </a:moveTo>
                <a:lnTo>
                  <a:pt x="164106"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2" name="object 12"/>
          <p:cNvSpPr/>
          <p:nvPr/>
        </p:nvSpPr>
        <p:spPr>
          <a:xfrm>
            <a:off x="9711957" y="4631348"/>
            <a:ext cx="109643" cy="0"/>
          </a:xfrm>
          <a:custGeom>
            <a:avLst/>
            <a:gdLst/>
            <a:ahLst/>
            <a:cxnLst/>
            <a:rect l="l" t="t" r="r" b="b"/>
            <a:pathLst>
              <a:path w="164465">
                <a:moveTo>
                  <a:pt x="0" y="0"/>
                </a:moveTo>
                <a:lnTo>
                  <a:pt x="164108"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3" name="object 13"/>
          <p:cNvSpPr/>
          <p:nvPr/>
        </p:nvSpPr>
        <p:spPr>
          <a:xfrm>
            <a:off x="7129997" y="4631348"/>
            <a:ext cx="1794510" cy="0"/>
          </a:xfrm>
          <a:custGeom>
            <a:avLst/>
            <a:gdLst/>
            <a:ahLst/>
            <a:cxnLst/>
            <a:rect l="l" t="t" r="r" b="b"/>
            <a:pathLst>
              <a:path w="2691765">
                <a:moveTo>
                  <a:pt x="0" y="0"/>
                </a:moveTo>
                <a:lnTo>
                  <a:pt x="2691365"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4" name="object 14"/>
          <p:cNvSpPr/>
          <p:nvPr/>
        </p:nvSpPr>
        <p:spPr>
          <a:xfrm>
            <a:off x="10609079" y="5289379"/>
            <a:ext cx="109643" cy="0"/>
          </a:xfrm>
          <a:custGeom>
            <a:avLst/>
            <a:gdLst/>
            <a:ahLst/>
            <a:cxnLst/>
            <a:rect l="l" t="t" r="r" b="b"/>
            <a:pathLst>
              <a:path w="164465">
                <a:moveTo>
                  <a:pt x="0" y="0"/>
                </a:moveTo>
                <a:lnTo>
                  <a:pt x="164106"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5" name="object 15"/>
          <p:cNvSpPr/>
          <p:nvPr/>
        </p:nvSpPr>
        <p:spPr>
          <a:xfrm>
            <a:off x="9711957" y="5289379"/>
            <a:ext cx="109643" cy="0"/>
          </a:xfrm>
          <a:custGeom>
            <a:avLst/>
            <a:gdLst/>
            <a:ahLst/>
            <a:cxnLst/>
            <a:rect l="l" t="t" r="r" b="b"/>
            <a:pathLst>
              <a:path w="164465">
                <a:moveTo>
                  <a:pt x="0" y="0"/>
                </a:moveTo>
                <a:lnTo>
                  <a:pt x="164108"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6" name="object 16"/>
          <p:cNvSpPr/>
          <p:nvPr/>
        </p:nvSpPr>
        <p:spPr>
          <a:xfrm>
            <a:off x="8814835" y="5289379"/>
            <a:ext cx="109643" cy="0"/>
          </a:xfrm>
          <a:custGeom>
            <a:avLst/>
            <a:gdLst/>
            <a:ahLst/>
            <a:cxnLst/>
            <a:rect l="l" t="t" r="r" b="b"/>
            <a:pathLst>
              <a:path w="164465">
                <a:moveTo>
                  <a:pt x="0" y="0"/>
                </a:moveTo>
                <a:lnTo>
                  <a:pt x="164108"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7" name="object 17"/>
          <p:cNvSpPr/>
          <p:nvPr/>
        </p:nvSpPr>
        <p:spPr>
          <a:xfrm>
            <a:off x="7129997" y="5289379"/>
            <a:ext cx="897467" cy="0"/>
          </a:xfrm>
          <a:custGeom>
            <a:avLst/>
            <a:gdLst/>
            <a:ahLst/>
            <a:cxnLst/>
            <a:rect l="l" t="t" r="r" b="b"/>
            <a:pathLst>
              <a:path w="1346200">
                <a:moveTo>
                  <a:pt x="0" y="0"/>
                </a:moveTo>
                <a:lnTo>
                  <a:pt x="1345683" y="0"/>
                </a:lnTo>
              </a:path>
            </a:pathLst>
          </a:custGeom>
          <a:ln w="9524">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8" name="object 18"/>
          <p:cNvSpPr/>
          <p:nvPr/>
        </p:nvSpPr>
        <p:spPr>
          <a:xfrm>
            <a:off x="7129997" y="5946983"/>
            <a:ext cx="4375150" cy="0"/>
          </a:xfrm>
          <a:custGeom>
            <a:avLst/>
            <a:gdLst/>
            <a:ahLst/>
            <a:cxnLst/>
            <a:rect l="l" t="t" r="r" b="b"/>
            <a:pathLst>
              <a:path w="6562725">
                <a:moveTo>
                  <a:pt x="0" y="0"/>
                </a:moveTo>
                <a:lnTo>
                  <a:pt x="6562724" y="0"/>
                </a:lnTo>
              </a:path>
            </a:pathLst>
          </a:custGeom>
          <a:ln w="8239">
            <a:solidFill>
              <a:srgbClr val="0A0A0A"/>
            </a:solidFill>
          </a:ln>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19" name="object 19"/>
          <p:cNvSpPr txBox="1"/>
          <p:nvPr/>
        </p:nvSpPr>
        <p:spPr>
          <a:xfrm>
            <a:off x="6862106" y="2560967"/>
            <a:ext cx="174413" cy="172762"/>
          </a:xfrm>
          <a:prstGeom prst="rect">
            <a:avLst/>
          </a:prstGeom>
        </p:spPr>
        <p:txBody>
          <a:bodyPr vert="horz" wrap="square" lIns="0" tIns="8467" rIns="0" bIns="0" rtlCol="0">
            <a:spAutoFit/>
          </a:bodyPr>
          <a:lstStyle/>
          <a:p>
            <a:pPr marL="8467">
              <a:spcBef>
                <a:spcPts val="67"/>
              </a:spcBef>
            </a:pPr>
            <a:r>
              <a:rPr sz="1067" spc="30" dirty="0">
                <a:solidFill>
                  <a:srgbClr val="0A0A0A"/>
                </a:solidFill>
                <a:latin typeface="Times New Roman" panose="02020603050405020304" pitchFamily="18" charset="0"/>
                <a:cs typeface="Times New Roman" panose="02020603050405020304" pitchFamily="18" charset="0"/>
              </a:rPr>
              <a:t>5</a:t>
            </a:r>
            <a:r>
              <a:rPr sz="1067" spc="33" dirty="0">
                <a:solidFill>
                  <a:srgbClr val="0A0A0A"/>
                </a:solidFill>
                <a:latin typeface="Times New Roman" panose="02020603050405020304" pitchFamily="18" charset="0"/>
                <a:cs typeface="Times New Roman" panose="02020603050405020304" pitchFamily="18" charset="0"/>
              </a:rPr>
              <a:t>0</a:t>
            </a:r>
            <a:endParaRPr sz="1067">
              <a:latin typeface="Times New Roman" panose="02020603050405020304" pitchFamily="18" charset="0"/>
              <a:cs typeface="Times New Roman" panose="02020603050405020304" pitchFamily="18" charset="0"/>
            </a:endParaRPr>
          </a:p>
        </p:txBody>
      </p:sp>
      <p:sp>
        <p:nvSpPr>
          <p:cNvPr id="20" name="object 20"/>
          <p:cNvSpPr txBox="1"/>
          <p:nvPr/>
        </p:nvSpPr>
        <p:spPr>
          <a:xfrm>
            <a:off x="6862106" y="3218998"/>
            <a:ext cx="174413" cy="172762"/>
          </a:xfrm>
          <a:prstGeom prst="rect">
            <a:avLst/>
          </a:prstGeom>
        </p:spPr>
        <p:txBody>
          <a:bodyPr vert="horz" wrap="square" lIns="0" tIns="8467" rIns="0" bIns="0" rtlCol="0">
            <a:spAutoFit/>
          </a:bodyPr>
          <a:lstStyle/>
          <a:p>
            <a:pPr marL="8467">
              <a:spcBef>
                <a:spcPts val="67"/>
              </a:spcBef>
            </a:pPr>
            <a:r>
              <a:rPr sz="1067" spc="30" dirty="0">
                <a:solidFill>
                  <a:srgbClr val="0A0A0A"/>
                </a:solidFill>
                <a:latin typeface="Times New Roman" panose="02020603050405020304" pitchFamily="18" charset="0"/>
                <a:cs typeface="Times New Roman" panose="02020603050405020304" pitchFamily="18" charset="0"/>
              </a:rPr>
              <a:t>4</a:t>
            </a:r>
            <a:r>
              <a:rPr sz="1067" spc="33" dirty="0">
                <a:solidFill>
                  <a:srgbClr val="0A0A0A"/>
                </a:solidFill>
                <a:latin typeface="Times New Roman" panose="02020603050405020304" pitchFamily="18" charset="0"/>
                <a:cs typeface="Times New Roman" panose="02020603050405020304" pitchFamily="18" charset="0"/>
              </a:rPr>
              <a:t>0</a:t>
            </a:r>
            <a:endParaRPr sz="1067">
              <a:latin typeface="Times New Roman" panose="02020603050405020304" pitchFamily="18" charset="0"/>
              <a:cs typeface="Times New Roman" panose="02020603050405020304" pitchFamily="18" charset="0"/>
            </a:endParaRPr>
          </a:p>
        </p:txBody>
      </p:sp>
      <p:sp>
        <p:nvSpPr>
          <p:cNvPr id="21" name="object 21"/>
          <p:cNvSpPr txBox="1"/>
          <p:nvPr/>
        </p:nvSpPr>
        <p:spPr>
          <a:xfrm>
            <a:off x="6862106" y="3877029"/>
            <a:ext cx="174413" cy="172762"/>
          </a:xfrm>
          <a:prstGeom prst="rect">
            <a:avLst/>
          </a:prstGeom>
        </p:spPr>
        <p:txBody>
          <a:bodyPr vert="horz" wrap="square" lIns="0" tIns="8467" rIns="0" bIns="0" rtlCol="0">
            <a:spAutoFit/>
          </a:bodyPr>
          <a:lstStyle/>
          <a:p>
            <a:pPr marL="8467">
              <a:spcBef>
                <a:spcPts val="67"/>
              </a:spcBef>
            </a:pPr>
            <a:r>
              <a:rPr sz="1067" spc="30" dirty="0">
                <a:solidFill>
                  <a:srgbClr val="0A0A0A"/>
                </a:solidFill>
                <a:latin typeface="Times New Roman" panose="02020603050405020304" pitchFamily="18" charset="0"/>
                <a:cs typeface="Times New Roman" panose="02020603050405020304" pitchFamily="18" charset="0"/>
              </a:rPr>
              <a:t>3</a:t>
            </a:r>
            <a:r>
              <a:rPr sz="1067" spc="33" dirty="0">
                <a:solidFill>
                  <a:srgbClr val="0A0A0A"/>
                </a:solidFill>
                <a:latin typeface="Times New Roman" panose="02020603050405020304" pitchFamily="18" charset="0"/>
                <a:cs typeface="Times New Roman" panose="02020603050405020304" pitchFamily="18" charset="0"/>
              </a:rPr>
              <a:t>0</a:t>
            </a:r>
            <a:endParaRPr sz="1067">
              <a:latin typeface="Times New Roman" panose="02020603050405020304" pitchFamily="18" charset="0"/>
              <a:cs typeface="Times New Roman" panose="02020603050405020304" pitchFamily="18" charset="0"/>
            </a:endParaRPr>
          </a:p>
        </p:txBody>
      </p:sp>
      <p:sp>
        <p:nvSpPr>
          <p:cNvPr id="22" name="object 22"/>
          <p:cNvSpPr txBox="1"/>
          <p:nvPr/>
        </p:nvSpPr>
        <p:spPr>
          <a:xfrm>
            <a:off x="6862106" y="4535059"/>
            <a:ext cx="174413" cy="172762"/>
          </a:xfrm>
          <a:prstGeom prst="rect">
            <a:avLst/>
          </a:prstGeom>
        </p:spPr>
        <p:txBody>
          <a:bodyPr vert="horz" wrap="square" lIns="0" tIns="8467" rIns="0" bIns="0" rtlCol="0">
            <a:spAutoFit/>
          </a:bodyPr>
          <a:lstStyle/>
          <a:p>
            <a:pPr marL="8467">
              <a:spcBef>
                <a:spcPts val="67"/>
              </a:spcBef>
            </a:pPr>
            <a:r>
              <a:rPr sz="1067" spc="30" dirty="0">
                <a:solidFill>
                  <a:srgbClr val="0A0A0A"/>
                </a:solidFill>
                <a:latin typeface="Times New Roman" panose="02020603050405020304" pitchFamily="18" charset="0"/>
                <a:cs typeface="Times New Roman" panose="02020603050405020304" pitchFamily="18" charset="0"/>
              </a:rPr>
              <a:t>2</a:t>
            </a:r>
            <a:r>
              <a:rPr sz="1067" spc="33" dirty="0">
                <a:solidFill>
                  <a:srgbClr val="0A0A0A"/>
                </a:solidFill>
                <a:latin typeface="Times New Roman" panose="02020603050405020304" pitchFamily="18" charset="0"/>
                <a:cs typeface="Times New Roman" panose="02020603050405020304" pitchFamily="18" charset="0"/>
              </a:rPr>
              <a:t>0</a:t>
            </a:r>
            <a:endParaRPr sz="1067">
              <a:latin typeface="Times New Roman" panose="02020603050405020304" pitchFamily="18" charset="0"/>
              <a:cs typeface="Times New Roman" panose="02020603050405020304" pitchFamily="18" charset="0"/>
            </a:endParaRPr>
          </a:p>
        </p:txBody>
      </p:sp>
      <p:sp>
        <p:nvSpPr>
          <p:cNvPr id="23" name="object 23"/>
          <p:cNvSpPr txBox="1"/>
          <p:nvPr/>
        </p:nvSpPr>
        <p:spPr>
          <a:xfrm>
            <a:off x="6862106" y="5193089"/>
            <a:ext cx="174413" cy="172762"/>
          </a:xfrm>
          <a:prstGeom prst="rect">
            <a:avLst/>
          </a:prstGeom>
        </p:spPr>
        <p:txBody>
          <a:bodyPr vert="horz" wrap="square" lIns="0" tIns="8467" rIns="0" bIns="0" rtlCol="0">
            <a:spAutoFit/>
          </a:bodyPr>
          <a:lstStyle/>
          <a:p>
            <a:pPr marL="8467">
              <a:spcBef>
                <a:spcPts val="67"/>
              </a:spcBef>
            </a:pPr>
            <a:r>
              <a:rPr sz="1067" spc="30" dirty="0">
                <a:solidFill>
                  <a:srgbClr val="0A0A0A"/>
                </a:solidFill>
                <a:latin typeface="Times New Roman" panose="02020603050405020304" pitchFamily="18" charset="0"/>
                <a:cs typeface="Times New Roman" panose="02020603050405020304" pitchFamily="18" charset="0"/>
              </a:rPr>
              <a:t>1</a:t>
            </a:r>
            <a:r>
              <a:rPr sz="1067" spc="33" dirty="0">
                <a:solidFill>
                  <a:srgbClr val="0A0A0A"/>
                </a:solidFill>
                <a:latin typeface="Times New Roman" panose="02020603050405020304" pitchFamily="18" charset="0"/>
                <a:cs typeface="Times New Roman" panose="02020603050405020304" pitchFamily="18" charset="0"/>
              </a:rPr>
              <a:t>0</a:t>
            </a:r>
            <a:endParaRPr sz="1067">
              <a:latin typeface="Times New Roman" panose="02020603050405020304" pitchFamily="18" charset="0"/>
              <a:cs typeface="Times New Roman" panose="02020603050405020304" pitchFamily="18" charset="0"/>
            </a:endParaRPr>
          </a:p>
        </p:txBody>
      </p:sp>
      <p:sp>
        <p:nvSpPr>
          <p:cNvPr id="24" name="object 24"/>
          <p:cNvSpPr txBox="1"/>
          <p:nvPr/>
        </p:nvSpPr>
        <p:spPr>
          <a:xfrm>
            <a:off x="6940688" y="5851124"/>
            <a:ext cx="95673" cy="172762"/>
          </a:xfrm>
          <a:prstGeom prst="rect">
            <a:avLst/>
          </a:prstGeom>
        </p:spPr>
        <p:txBody>
          <a:bodyPr vert="horz" wrap="square" lIns="0" tIns="8467" rIns="0" bIns="0" rtlCol="0">
            <a:spAutoFit/>
          </a:bodyPr>
          <a:lstStyle/>
          <a:p>
            <a:pPr marL="8467">
              <a:spcBef>
                <a:spcPts val="67"/>
              </a:spcBef>
            </a:pPr>
            <a:r>
              <a:rPr sz="1067" spc="33" dirty="0">
                <a:solidFill>
                  <a:srgbClr val="0A0A0A"/>
                </a:solidFill>
                <a:latin typeface="Times New Roman" panose="02020603050405020304" pitchFamily="18" charset="0"/>
                <a:cs typeface="Times New Roman" panose="02020603050405020304" pitchFamily="18" charset="0"/>
              </a:rPr>
              <a:t>0</a:t>
            </a:r>
            <a:endParaRPr sz="1067">
              <a:latin typeface="Times New Roman" panose="02020603050405020304" pitchFamily="18" charset="0"/>
              <a:cs typeface="Times New Roman" panose="02020603050405020304" pitchFamily="18" charset="0"/>
            </a:endParaRPr>
          </a:p>
        </p:txBody>
      </p:sp>
      <p:sp>
        <p:nvSpPr>
          <p:cNvPr id="25" name="object 25"/>
          <p:cNvSpPr/>
          <p:nvPr/>
        </p:nvSpPr>
        <p:spPr>
          <a:xfrm>
            <a:off x="7129998" y="5283030"/>
            <a:ext cx="787823" cy="664633"/>
          </a:xfrm>
          <a:custGeom>
            <a:avLst/>
            <a:gdLst/>
            <a:ahLst/>
            <a:cxnLst/>
            <a:rect l="l" t="t" r="r" b="b"/>
            <a:pathLst>
              <a:path w="1181734" h="996950">
                <a:moveTo>
                  <a:pt x="1181574" y="996572"/>
                </a:moveTo>
                <a:lnTo>
                  <a:pt x="0" y="996572"/>
                </a:lnTo>
                <a:lnTo>
                  <a:pt x="0" y="99289"/>
                </a:lnTo>
                <a:lnTo>
                  <a:pt x="14167" y="44555"/>
                </a:lnTo>
                <a:lnTo>
                  <a:pt x="40554" y="16838"/>
                </a:lnTo>
                <a:lnTo>
                  <a:pt x="94526" y="0"/>
                </a:lnTo>
                <a:lnTo>
                  <a:pt x="1087048" y="0"/>
                </a:lnTo>
                <a:lnTo>
                  <a:pt x="1141019" y="16838"/>
                </a:lnTo>
                <a:lnTo>
                  <a:pt x="1167406" y="44555"/>
                </a:lnTo>
                <a:lnTo>
                  <a:pt x="1181574" y="99289"/>
                </a:lnTo>
                <a:lnTo>
                  <a:pt x="1181574" y="996572"/>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26" name="object 26"/>
          <p:cNvSpPr/>
          <p:nvPr/>
        </p:nvSpPr>
        <p:spPr>
          <a:xfrm>
            <a:off x="8027119" y="4628173"/>
            <a:ext cx="787823" cy="1319530"/>
          </a:xfrm>
          <a:custGeom>
            <a:avLst/>
            <a:gdLst/>
            <a:ahLst/>
            <a:cxnLst/>
            <a:rect l="l" t="t" r="r" b="b"/>
            <a:pathLst>
              <a:path w="1181734" h="1979295">
                <a:moveTo>
                  <a:pt x="1181573" y="1978857"/>
                </a:moveTo>
                <a:lnTo>
                  <a:pt x="0" y="1978857"/>
                </a:lnTo>
                <a:lnTo>
                  <a:pt x="0" y="94526"/>
                </a:lnTo>
                <a:lnTo>
                  <a:pt x="15881" y="42083"/>
                </a:lnTo>
                <a:lnTo>
                  <a:pt x="58351" y="7195"/>
                </a:lnTo>
                <a:lnTo>
                  <a:pt x="94525" y="0"/>
                </a:lnTo>
                <a:lnTo>
                  <a:pt x="1087048" y="0"/>
                </a:lnTo>
                <a:lnTo>
                  <a:pt x="1139492" y="15881"/>
                </a:lnTo>
                <a:lnTo>
                  <a:pt x="1174379" y="58352"/>
                </a:lnTo>
                <a:lnTo>
                  <a:pt x="1181573" y="94526"/>
                </a:lnTo>
                <a:lnTo>
                  <a:pt x="1181573" y="1978857"/>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27" name="object 27"/>
          <p:cNvSpPr/>
          <p:nvPr/>
        </p:nvSpPr>
        <p:spPr>
          <a:xfrm>
            <a:off x="8924241" y="3970142"/>
            <a:ext cx="787823" cy="1977390"/>
          </a:xfrm>
          <a:custGeom>
            <a:avLst/>
            <a:gdLst/>
            <a:ahLst/>
            <a:cxnLst/>
            <a:rect l="l" t="t" r="r" b="b"/>
            <a:pathLst>
              <a:path w="1181734" h="2966084">
                <a:moveTo>
                  <a:pt x="1181574" y="2965904"/>
                </a:moveTo>
                <a:lnTo>
                  <a:pt x="0" y="2965904"/>
                </a:lnTo>
                <a:lnTo>
                  <a:pt x="0" y="94526"/>
                </a:lnTo>
                <a:lnTo>
                  <a:pt x="7428" y="57732"/>
                </a:lnTo>
                <a:lnTo>
                  <a:pt x="27685" y="27686"/>
                </a:lnTo>
                <a:lnTo>
                  <a:pt x="57731" y="7428"/>
                </a:lnTo>
                <a:lnTo>
                  <a:pt x="94525" y="0"/>
                </a:lnTo>
                <a:lnTo>
                  <a:pt x="1087049" y="0"/>
                </a:lnTo>
                <a:lnTo>
                  <a:pt x="1123842" y="7428"/>
                </a:lnTo>
                <a:lnTo>
                  <a:pt x="1153888" y="27686"/>
                </a:lnTo>
                <a:lnTo>
                  <a:pt x="1174146" y="57732"/>
                </a:lnTo>
                <a:lnTo>
                  <a:pt x="1181574" y="94526"/>
                </a:lnTo>
                <a:lnTo>
                  <a:pt x="1181574" y="2965904"/>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28" name="object 28"/>
          <p:cNvSpPr/>
          <p:nvPr/>
        </p:nvSpPr>
        <p:spPr>
          <a:xfrm>
            <a:off x="9821363" y="3312111"/>
            <a:ext cx="787823" cy="2635673"/>
          </a:xfrm>
          <a:custGeom>
            <a:avLst/>
            <a:gdLst/>
            <a:ahLst/>
            <a:cxnLst/>
            <a:rect l="l" t="t" r="r" b="b"/>
            <a:pathLst>
              <a:path w="1181734" h="3953509">
                <a:moveTo>
                  <a:pt x="1181574" y="3952951"/>
                </a:moveTo>
                <a:lnTo>
                  <a:pt x="0" y="3952951"/>
                </a:lnTo>
                <a:lnTo>
                  <a:pt x="0" y="94525"/>
                </a:lnTo>
                <a:lnTo>
                  <a:pt x="7428" y="57732"/>
                </a:lnTo>
                <a:lnTo>
                  <a:pt x="27685" y="27686"/>
                </a:lnTo>
                <a:lnTo>
                  <a:pt x="57731" y="7428"/>
                </a:lnTo>
                <a:lnTo>
                  <a:pt x="94525" y="0"/>
                </a:lnTo>
                <a:lnTo>
                  <a:pt x="1087047" y="0"/>
                </a:lnTo>
                <a:lnTo>
                  <a:pt x="1123842" y="7428"/>
                </a:lnTo>
                <a:lnTo>
                  <a:pt x="1153888" y="27686"/>
                </a:lnTo>
                <a:lnTo>
                  <a:pt x="1174146" y="57732"/>
                </a:lnTo>
                <a:lnTo>
                  <a:pt x="1181574" y="94525"/>
                </a:lnTo>
                <a:lnTo>
                  <a:pt x="1181574" y="3952951"/>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29" name="object 29"/>
          <p:cNvSpPr/>
          <p:nvPr/>
        </p:nvSpPr>
        <p:spPr>
          <a:xfrm>
            <a:off x="10718484" y="2654080"/>
            <a:ext cx="786977" cy="3293533"/>
          </a:xfrm>
          <a:custGeom>
            <a:avLst/>
            <a:gdLst/>
            <a:ahLst/>
            <a:cxnLst/>
            <a:rect l="l" t="t" r="r" b="b"/>
            <a:pathLst>
              <a:path w="1180465" h="4940300">
                <a:moveTo>
                  <a:pt x="1179874" y="4939998"/>
                </a:moveTo>
                <a:lnTo>
                  <a:pt x="0" y="4939998"/>
                </a:lnTo>
                <a:lnTo>
                  <a:pt x="0" y="94525"/>
                </a:lnTo>
                <a:lnTo>
                  <a:pt x="7428" y="57732"/>
                </a:lnTo>
                <a:lnTo>
                  <a:pt x="27686" y="27686"/>
                </a:lnTo>
                <a:lnTo>
                  <a:pt x="57732" y="7428"/>
                </a:lnTo>
                <a:lnTo>
                  <a:pt x="94526" y="0"/>
                </a:lnTo>
                <a:lnTo>
                  <a:pt x="1087048" y="0"/>
                </a:lnTo>
                <a:lnTo>
                  <a:pt x="1123842" y="7428"/>
                </a:lnTo>
                <a:lnTo>
                  <a:pt x="1153888" y="27686"/>
                </a:lnTo>
                <a:lnTo>
                  <a:pt x="1174146" y="57732"/>
                </a:lnTo>
                <a:lnTo>
                  <a:pt x="1179874" y="86104"/>
                </a:lnTo>
                <a:lnTo>
                  <a:pt x="1179874" y="4939998"/>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0" name="object 30"/>
          <p:cNvSpPr/>
          <p:nvPr/>
        </p:nvSpPr>
        <p:spPr>
          <a:xfrm>
            <a:off x="7129998" y="5615221"/>
            <a:ext cx="787823" cy="332317"/>
          </a:xfrm>
          <a:custGeom>
            <a:avLst/>
            <a:gdLst/>
            <a:ahLst/>
            <a:cxnLst/>
            <a:rect l="l" t="t" r="r" b="b"/>
            <a:pathLst>
              <a:path w="1181734" h="498475">
                <a:moveTo>
                  <a:pt x="0" y="0"/>
                </a:moveTo>
                <a:lnTo>
                  <a:pt x="1181574" y="0"/>
                </a:lnTo>
                <a:lnTo>
                  <a:pt x="1181574" y="498286"/>
                </a:lnTo>
                <a:lnTo>
                  <a:pt x="0" y="498286"/>
                </a:lnTo>
                <a:lnTo>
                  <a:pt x="0" y="0"/>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1" name="object 31"/>
          <p:cNvSpPr/>
          <p:nvPr/>
        </p:nvSpPr>
        <p:spPr>
          <a:xfrm>
            <a:off x="8027119" y="4892021"/>
            <a:ext cx="787823" cy="527897"/>
          </a:xfrm>
          <a:custGeom>
            <a:avLst/>
            <a:gdLst/>
            <a:ahLst/>
            <a:cxnLst/>
            <a:rect l="l" t="t" r="r" b="b"/>
            <a:pathLst>
              <a:path w="1181734" h="791845">
                <a:moveTo>
                  <a:pt x="0" y="791543"/>
                </a:moveTo>
                <a:lnTo>
                  <a:pt x="1181573" y="791543"/>
                </a:lnTo>
                <a:lnTo>
                  <a:pt x="1181573" y="0"/>
                </a:lnTo>
                <a:lnTo>
                  <a:pt x="0" y="0"/>
                </a:lnTo>
                <a:lnTo>
                  <a:pt x="0" y="791543"/>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2" name="object 32"/>
          <p:cNvSpPr/>
          <p:nvPr/>
        </p:nvSpPr>
        <p:spPr>
          <a:xfrm>
            <a:off x="8924241" y="4299687"/>
            <a:ext cx="787823" cy="659129"/>
          </a:xfrm>
          <a:custGeom>
            <a:avLst/>
            <a:gdLst/>
            <a:ahLst/>
            <a:cxnLst/>
            <a:rect l="l" t="t" r="r" b="b"/>
            <a:pathLst>
              <a:path w="1181734" h="988695">
                <a:moveTo>
                  <a:pt x="0" y="988635"/>
                </a:moveTo>
                <a:lnTo>
                  <a:pt x="1181574" y="988635"/>
                </a:lnTo>
                <a:lnTo>
                  <a:pt x="1181574" y="0"/>
                </a:lnTo>
                <a:lnTo>
                  <a:pt x="0" y="0"/>
                </a:lnTo>
                <a:lnTo>
                  <a:pt x="0" y="988635"/>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3" name="object 33"/>
          <p:cNvSpPr/>
          <p:nvPr/>
        </p:nvSpPr>
        <p:spPr>
          <a:xfrm>
            <a:off x="9821363" y="3839172"/>
            <a:ext cx="787823" cy="922443"/>
          </a:xfrm>
          <a:custGeom>
            <a:avLst/>
            <a:gdLst/>
            <a:ahLst/>
            <a:cxnLst/>
            <a:rect l="l" t="t" r="r" b="b"/>
            <a:pathLst>
              <a:path w="1181734" h="1383665">
                <a:moveTo>
                  <a:pt x="0" y="1383532"/>
                </a:moveTo>
                <a:lnTo>
                  <a:pt x="1181574" y="1383532"/>
                </a:lnTo>
                <a:lnTo>
                  <a:pt x="1181574" y="0"/>
                </a:lnTo>
                <a:lnTo>
                  <a:pt x="0" y="0"/>
                </a:lnTo>
                <a:lnTo>
                  <a:pt x="0" y="1383532"/>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4" name="object 34"/>
          <p:cNvSpPr/>
          <p:nvPr/>
        </p:nvSpPr>
        <p:spPr>
          <a:xfrm>
            <a:off x="10718484" y="3181013"/>
            <a:ext cx="786977" cy="1317413"/>
          </a:xfrm>
          <a:custGeom>
            <a:avLst/>
            <a:gdLst/>
            <a:ahLst/>
            <a:cxnLst/>
            <a:rect l="l" t="t" r="r" b="b"/>
            <a:pathLst>
              <a:path w="1180465" h="1976120">
                <a:moveTo>
                  <a:pt x="0" y="1975999"/>
                </a:moveTo>
                <a:lnTo>
                  <a:pt x="1179874" y="1975999"/>
                </a:lnTo>
                <a:lnTo>
                  <a:pt x="1179874" y="0"/>
                </a:lnTo>
                <a:lnTo>
                  <a:pt x="0" y="0"/>
                </a:lnTo>
                <a:lnTo>
                  <a:pt x="0" y="1975999"/>
                </a:lnTo>
                <a:close/>
              </a:path>
            </a:pathLst>
          </a:custGeom>
          <a:solidFill>
            <a:srgbClr val="AB1616"/>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5" name="object 35"/>
          <p:cNvSpPr/>
          <p:nvPr/>
        </p:nvSpPr>
        <p:spPr>
          <a:xfrm>
            <a:off x="8027119" y="5419717"/>
            <a:ext cx="787823" cy="527897"/>
          </a:xfrm>
          <a:custGeom>
            <a:avLst/>
            <a:gdLst/>
            <a:ahLst/>
            <a:cxnLst/>
            <a:rect l="l" t="t" r="r" b="b"/>
            <a:pathLst>
              <a:path w="1181734" h="791845">
                <a:moveTo>
                  <a:pt x="0" y="0"/>
                </a:moveTo>
                <a:lnTo>
                  <a:pt x="1181573" y="0"/>
                </a:lnTo>
                <a:lnTo>
                  <a:pt x="1181573" y="791542"/>
                </a:lnTo>
                <a:lnTo>
                  <a:pt x="0" y="791542"/>
                </a:lnTo>
                <a:lnTo>
                  <a:pt x="0" y="0"/>
                </a:lnTo>
                <a:close/>
              </a:path>
            </a:pathLst>
          </a:custGeom>
          <a:solidFill>
            <a:srgbClr val="CF4A5D"/>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6" name="object 36"/>
          <p:cNvSpPr/>
          <p:nvPr/>
        </p:nvSpPr>
        <p:spPr>
          <a:xfrm>
            <a:off x="8924241" y="4958777"/>
            <a:ext cx="787823" cy="988907"/>
          </a:xfrm>
          <a:custGeom>
            <a:avLst/>
            <a:gdLst/>
            <a:ahLst/>
            <a:cxnLst/>
            <a:rect l="l" t="t" r="r" b="b"/>
            <a:pathLst>
              <a:path w="1181734" h="1483359">
                <a:moveTo>
                  <a:pt x="0" y="0"/>
                </a:moveTo>
                <a:lnTo>
                  <a:pt x="1181574" y="0"/>
                </a:lnTo>
                <a:lnTo>
                  <a:pt x="1181574" y="1482951"/>
                </a:lnTo>
                <a:lnTo>
                  <a:pt x="0" y="1482951"/>
                </a:lnTo>
                <a:lnTo>
                  <a:pt x="0" y="0"/>
                </a:lnTo>
                <a:close/>
              </a:path>
            </a:pathLst>
          </a:custGeom>
          <a:solidFill>
            <a:srgbClr val="CF4A5D"/>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7" name="object 37"/>
          <p:cNvSpPr/>
          <p:nvPr/>
        </p:nvSpPr>
        <p:spPr>
          <a:xfrm>
            <a:off x="9821363" y="4761526"/>
            <a:ext cx="787823" cy="1186180"/>
          </a:xfrm>
          <a:custGeom>
            <a:avLst/>
            <a:gdLst/>
            <a:ahLst/>
            <a:cxnLst/>
            <a:rect l="l" t="t" r="r" b="b"/>
            <a:pathLst>
              <a:path w="1181734" h="1779270">
                <a:moveTo>
                  <a:pt x="0" y="0"/>
                </a:moveTo>
                <a:lnTo>
                  <a:pt x="1181574" y="0"/>
                </a:lnTo>
                <a:lnTo>
                  <a:pt x="1181574" y="1778827"/>
                </a:lnTo>
                <a:lnTo>
                  <a:pt x="0" y="1778827"/>
                </a:lnTo>
                <a:lnTo>
                  <a:pt x="0" y="0"/>
                </a:lnTo>
                <a:close/>
              </a:path>
            </a:pathLst>
          </a:custGeom>
          <a:solidFill>
            <a:srgbClr val="CF4A5D"/>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8" name="object 38"/>
          <p:cNvSpPr/>
          <p:nvPr/>
        </p:nvSpPr>
        <p:spPr>
          <a:xfrm>
            <a:off x="10718484" y="4498346"/>
            <a:ext cx="786977" cy="1449070"/>
          </a:xfrm>
          <a:custGeom>
            <a:avLst/>
            <a:gdLst/>
            <a:ahLst/>
            <a:cxnLst/>
            <a:rect l="l" t="t" r="r" b="b"/>
            <a:pathLst>
              <a:path w="1180465" h="2173604">
                <a:moveTo>
                  <a:pt x="0" y="0"/>
                </a:moveTo>
                <a:lnTo>
                  <a:pt x="1179874" y="0"/>
                </a:lnTo>
                <a:lnTo>
                  <a:pt x="1179874" y="2173598"/>
                </a:lnTo>
                <a:lnTo>
                  <a:pt x="0" y="2173598"/>
                </a:lnTo>
                <a:lnTo>
                  <a:pt x="0" y="0"/>
                </a:lnTo>
                <a:close/>
              </a:path>
            </a:pathLst>
          </a:custGeom>
          <a:solidFill>
            <a:srgbClr val="CF4A5D"/>
          </a:solidFill>
        </p:spPr>
        <p:txBody>
          <a:bodyPr wrap="square" lIns="0" tIns="0" rIns="0" bIns="0" rtlCol="0"/>
          <a:lstStyle/>
          <a:p>
            <a:endParaRPr sz="1200">
              <a:latin typeface="Times New Roman" panose="02020603050405020304" pitchFamily="18" charset="0"/>
              <a:cs typeface="Times New Roman" panose="02020603050405020304" pitchFamily="18" charset="0"/>
            </a:endParaRPr>
          </a:p>
        </p:txBody>
      </p:sp>
      <p:sp>
        <p:nvSpPr>
          <p:cNvPr id="39" name="object 39"/>
          <p:cNvSpPr txBox="1"/>
          <p:nvPr/>
        </p:nvSpPr>
        <p:spPr>
          <a:xfrm>
            <a:off x="677333" y="658286"/>
            <a:ext cx="4272280" cy="2452809"/>
          </a:xfrm>
          <a:prstGeom prst="rect">
            <a:avLst/>
          </a:prstGeom>
        </p:spPr>
        <p:txBody>
          <a:bodyPr vert="horz" wrap="square" lIns="0" tIns="8467" rIns="0" bIns="0" rtlCol="0">
            <a:spAutoFit/>
          </a:bodyPr>
          <a:lstStyle/>
          <a:p>
            <a:pPr marL="8467">
              <a:spcBef>
                <a:spcPts val="67"/>
              </a:spcBef>
            </a:pPr>
            <a:r>
              <a:rPr lang="en-US" sz="5400" dirty="0">
                <a:effectLst/>
                <a:latin typeface="Times New Roman" panose="02020603050405020304" pitchFamily="18" charset="0"/>
                <a:ea typeface="Calibri" panose="020F0502020204030204" pitchFamily="34" charset="0"/>
                <a:cs typeface="Times New Roman" panose="02020603050405020304" pitchFamily="18" charset="0"/>
              </a:rPr>
              <a:t>Economic Implications</a:t>
            </a:r>
            <a:endParaRPr lang="en-US" sz="5400" dirty="0">
              <a:latin typeface="Times New Roman" panose="02020603050405020304" pitchFamily="18" charset="0"/>
              <a:cs typeface="Times New Roman" panose="02020603050405020304" pitchFamily="18" charset="0"/>
            </a:endParaRPr>
          </a:p>
          <a:p>
            <a:pPr marL="8467">
              <a:spcBef>
                <a:spcPts val="67"/>
              </a:spcBef>
            </a:pPr>
            <a:endParaRPr sz="5000" dirty="0">
              <a:latin typeface="Times New Roman" panose="02020603050405020304" pitchFamily="18" charset="0"/>
              <a:cs typeface="Times New Roman" panose="02020603050405020304" pitchFamily="18" charset="0"/>
            </a:endParaRPr>
          </a:p>
        </p:txBody>
      </p:sp>
      <p:sp>
        <p:nvSpPr>
          <p:cNvPr id="41" name="object 41"/>
          <p:cNvSpPr txBox="1">
            <a:spLocks noGrp="1"/>
          </p:cNvSpPr>
          <p:nvPr>
            <p:ph type="title"/>
          </p:nvPr>
        </p:nvSpPr>
        <p:spPr>
          <a:xfrm>
            <a:off x="6854940" y="491692"/>
            <a:ext cx="5123700" cy="985120"/>
          </a:xfrm>
          <a:prstGeom prst="rect">
            <a:avLst/>
          </a:prstGeom>
        </p:spPr>
        <p:txBody>
          <a:bodyPr vert="horz" wrap="square" lIns="0" tIns="8043" rIns="0" bIns="0" rtlCol="0" anchor="ctr">
            <a:spAutoFit/>
          </a:bodyPr>
          <a:lstStyle/>
          <a:p>
            <a:pPr marL="8467" marR="3387">
              <a:lnSpc>
                <a:spcPct val="116700"/>
              </a:lnSpc>
              <a:spcBef>
                <a:spcPts val="63"/>
              </a:spcBef>
            </a:pPr>
            <a:r>
              <a:rPr sz="2800" spc="107" dirty="0">
                <a:solidFill>
                  <a:srgbClr val="0A0A0A"/>
                </a:solidFill>
                <a:latin typeface="Times New Roman" panose="02020603050405020304" pitchFamily="18" charset="0"/>
                <a:cs typeface="Times New Roman" panose="02020603050405020304" pitchFamily="18" charset="0"/>
              </a:rPr>
              <a:t>A </a:t>
            </a:r>
            <a:r>
              <a:rPr sz="2800" spc="90" dirty="0">
                <a:solidFill>
                  <a:srgbClr val="0A0A0A"/>
                </a:solidFill>
                <a:latin typeface="Times New Roman" panose="02020603050405020304" pitchFamily="18" charset="0"/>
                <a:cs typeface="Times New Roman" panose="02020603050405020304" pitchFamily="18" charset="0"/>
              </a:rPr>
              <a:t>number </a:t>
            </a:r>
            <a:r>
              <a:rPr sz="2800" spc="107" dirty="0">
                <a:solidFill>
                  <a:srgbClr val="0A0A0A"/>
                </a:solidFill>
                <a:latin typeface="Times New Roman" panose="02020603050405020304" pitchFamily="18" charset="0"/>
                <a:cs typeface="Times New Roman" panose="02020603050405020304" pitchFamily="18" charset="0"/>
              </a:rPr>
              <a:t>of </a:t>
            </a:r>
            <a:r>
              <a:rPr lang="en-US" sz="2800" spc="83" dirty="0">
                <a:solidFill>
                  <a:srgbClr val="0A0A0A"/>
                </a:solidFill>
                <a:latin typeface="Times New Roman" panose="02020603050405020304" pitchFamily="18" charset="0"/>
                <a:cs typeface="Times New Roman" panose="02020603050405020304" pitchFamily="18" charset="0"/>
              </a:rPr>
              <a:t>communities</a:t>
            </a:r>
            <a:r>
              <a:rPr sz="2800" spc="83" dirty="0">
                <a:solidFill>
                  <a:srgbClr val="0A0A0A"/>
                </a:solidFill>
                <a:latin typeface="Times New Roman" panose="02020603050405020304" pitchFamily="18" charset="0"/>
                <a:cs typeface="Times New Roman" panose="02020603050405020304" pitchFamily="18" charset="0"/>
              </a:rPr>
              <a:t> </a:t>
            </a:r>
            <a:r>
              <a:rPr sz="2800" spc="53" dirty="0">
                <a:solidFill>
                  <a:srgbClr val="0A0A0A"/>
                </a:solidFill>
                <a:latin typeface="Times New Roman" panose="02020603050405020304" pitchFamily="18" charset="0"/>
                <a:cs typeface="Times New Roman" panose="02020603050405020304" pitchFamily="18" charset="0"/>
              </a:rPr>
              <a:t>have  seen</a:t>
            </a:r>
            <a:r>
              <a:rPr sz="2800" spc="-33" dirty="0">
                <a:solidFill>
                  <a:srgbClr val="0A0A0A"/>
                </a:solidFill>
                <a:latin typeface="Times New Roman" panose="02020603050405020304" pitchFamily="18" charset="0"/>
                <a:cs typeface="Times New Roman" panose="02020603050405020304" pitchFamily="18" charset="0"/>
              </a:rPr>
              <a:t> </a:t>
            </a:r>
            <a:r>
              <a:rPr lang="en-US" sz="2800" spc="107" dirty="0">
                <a:solidFill>
                  <a:srgbClr val="0A0A0A"/>
                </a:solidFill>
                <a:latin typeface="Times New Roman" panose="02020603050405020304" pitchFamily="18" charset="0"/>
                <a:cs typeface="Times New Roman" panose="02020603050405020304" pitchFamily="18" charset="0"/>
              </a:rPr>
              <a:t>rise in cost of living</a:t>
            </a:r>
            <a:endParaRPr sz="2800" dirty="0">
              <a:latin typeface="Times New Roman" panose="02020603050405020304" pitchFamily="18" charset="0"/>
              <a:cs typeface="Times New Roman" panose="02020603050405020304" pitchFamily="18" charset="0"/>
            </a:endParaRPr>
          </a:p>
        </p:txBody>
      </p:sp>
      <p:sp>
        <p:nvSpPr>
          <p:cNvPr id="42" name="object 42"/>
          <p:cNvSpPr txBox="1"/>
          <p:nvPr/>
        </p:nvSpPr>
        <p:spPr>
          <a:xfrm>
            <a:off x="479022" y="3569433"/>
            <a:ext cx="5755014" cy="2445968"/>
          </a:xfrm>
          <a:prstGeom prst="rect">
            <a:avLst/>
          </a:prstGeom>
        </p:spPr>
        <p:txBody>
          <a:bodyPr vert="horz" wrap="square" lIns="0" tIns="8043" rIns="0" bIns="0" rtlCol="0">
            <a:spAutoFit/>
          </a:bodyPr>
          <a:lstStyle/>
          <a:p>
            <a:pPr marL="8467" marR="3387">
              <a:lnSpc>
                <a:spcPct val="114999"/>
              </a:lnSpc>
              <a:spcBef>
                <a:spcPts val="2543"/>
              </a:spcBef>
            </a:pPr>
            <a:r>
              <a:rPr lang="en-US" sz="2800" spc="10" dirty="0">
                <a:solidFill>
                  <a:srgbClr val="0A0A0A"/>
                </a:solidFill>
                <a:latin typeface="Times New Roman" panose="02020603050405020304" pitchFamily="18" charset="0"/>
                <a:cs typeface="Times New Roman" panose="02020603050405020304" pitchFamily="18" charset="0"/>
              </a:rPr>
              <a:t>Wages or incomes of mine workers are used as a decider for goods and services in those communities neglecting the plight of the non-mine workers (i.e. government workers, farmers </a:t>
            </a:r>
            <a:r>
              <a:rPr lang="en-US" sz="2800" spc="10" dirty="0" err="1">
                <a:solidFill>
                  <a:srgbClr val="0A0A0A"/>
                </a:solidFill>
                <a:latin typeface="Times New Roman" panose="02020603050405020304" pitchFamily="18" charset="0"/>
                <a:cs typeface="Times New Roman" panose="02020603050405020304" pitchFamily="18" charset="0"/>
              </a:rPr>
              <a:t>etc</a:t>
            </a:r>
            <a:r>
              <a:rPr lang="en-US" sz="2800" spc="10" dirty="0">
                <a:solidFill>
                  <a:srgbClr val="0A0A0A"/>
                </a:solidFill>
                <a:latin typeface="Times New Roman" panose="02020603050405020304" pitchFamily="18" charset="0"/>
                <a:cs typeface="Times New Roman" panose="02020603050405020304" pitchFamily="18" charset="0"/>
              </a:rPr>
              <a:t>).</a:t>
            </a:r>
          </a:p>
        </p:txBody>
      </p:sp>
      <p:sp>
        <p:nvSpPr>
          <p:cNvPr id="43" name="TextBox 42">
            <a:extLst>
              <a:ext uri="{FF2B5EF4-FFF2-40B4-BE49-F238E27FC236}">
                <a16:creationId xmlns:a16="http://schemas.microsoft.com/office/drawing/2014/main" id="{AAA0638C-1E16-460B-B475-9ED797C84DC4}"/>
              </a:ext>
            </a:extLst>
          </p:cNvPr>
          <p:cNvSpPr txBox="1"/>
          <p:nvPr/>
        </p:nvSpPr>
        <p:spPr>
          <a:xfrm>
            <a:off x="6854941" y="6438900"/>
            <a:ext cx="5123700" cy="369332"/>
          </a:xfrm>
          <a:prstGeom prst="rect">
            <a:avLst/>
          </a:prstGeom>
          <a:noFill/>
        </p:spPr>
        <p:txBody>
          <a:bodyPr wrap="square" rtlCol="0">
            <a:spAutoFit/>
          </a:bodyPr>
          <a:lstStyle/>
          <a:p>
            <a:r>
              <a:rPr lang="en-US" b="1" dirty="0"/>
              <a:t>Figure 3 </a:t>
            </a:r>
            <a:r>
              <a:rPr lang="en-US" dirty="0"/>
              <a:t>Rise in cost of living in a period of 6 years</a:t>
            </a:r>
          </a:p>
        </p:txBody>
      </p:sp>
      <p:sp>
        <p:nvSpPr>
          <p:cNvPr id="44" name="TextBox 43">
            <a:extLst>
              <a:ext uri="{FF2B5EF4-FFF2-40B4-BE49-F238E27FC236}">
                <a16:creationId xmlns:a16="http://schemas.microsoft.com/office/drawing/2014/main" id="{9199A118-86D4-464D-871E-4BBB81056527}"/>
              </a:ext>
            </a:extLst>
          </p:cNvPr>
          <p:cNvSpPr txBox="1"/>
          <p:nvPr/>
        </p:nvSpPr>
        <p:spPr>
          <a:xfrm>
            <a:off x="11633081" y="6177290"/>
            <a:ext cx="888275" cy="523220"/>
          </a:xfrm>
          <a:prstGeom prst="rect">
            <a:avLst/>
          </a:prstGeom>
          <a:noFill/>
        </p:spPr>
        <p:txBody>
          <a:bodyPr wrap="square" rtlCol="0">
            <a:spAutoFit/>
          </a:bodyPr>
          <a:lstStyle/>
          <a:p>
            <a:r>
              <a:rPr lang="en-US" sz="2800"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669967" y="1"/>
            <a:ext cx="3528998" cy="5234539"/>
          </a:xfrm>
          <a:prstGeom prst="rect">
            <a:avLst/>
          </a:prstGeom>
          <a:blipFill>
            <a:blip r:embed="rId2" cstate="print"/>
            <a:stretch>
              <a:fillRect/>
            </a:stretch>
          </a:blipFill>
        </p:spPr>
        <p:txBody>
          <a:bodyPr wrap="square" lIns="0" tIns="0" rIns="0" bIns="0" rtlCol="0"/>
          <a:lstStyle/>
          <a:p>
            <a:endParaRPr sz="1200"/>
          </a:p>
        </p:txBody>
      </p:sp>
      <p:sp>
        <p:nvSpPr>
          <p:cNvPr id="4" name="object 4"/>
          <p:cNvSpPr/>
          <p:nvPr/>
        </p:nvSpPr>
        <p:spPr>
          <a:xfrm>
            <a:off x="7121883" y="5234540"/>
            <a:ext cx="3251199" cy="342899"/>
          </a:xfrm>
          <a:prstGeom prst="rect">
            <a:avLst/>
          </a:prstGeom>
          <a:blipFill>
            <a:blip r:embed="rId3" cstate="print"/>
            <a:stretch>
              <a:fillRect/>
            </a:stretch>
          </a:blipFill>
        </p:spPr>
        <p:txBody>
          <a:bodyPr wrap="square" lIns="0" tIns="0" rIns="0" bIns="0" rtlCol="0"/>
          <a:lstStyle/>
          <a:p>
            <a:endParaRPr sz="1200"/>
          </a:p>
        </p:txBody>
      </p:sp>
      <p:sp>
        <p:nvSpPr>
          <p:cNvPr id="5" name="object 5"/>
          <p:cNvSpPr/>
          <p:nvPr/>
        </p:nvSpPr>
        <p:spPr>
          <a:xfrm>
            <a:off x="7133735" y="2037950"/>
            <a:ext cx="3239347" cy="3196590"/>
          </a:xfrm>
          <a:custGeom>
            <a:avLst/>
            <a:gdLst/>
            <a:ahLst/>
            <a:cxnLst/>
            <a:rect l="l" t="t" r="r" b="b"/>
            <a:pathLst>
              <a:path w="4859019" h="4794884">
                <a:moveTo>
                  <a:pt x="0" y="0"/>
                </a:moveTo>
                <a:lnTo>
                  <a:pt x="4858948" y="0"/>
                </a:lnTo>
                <a:lnTo>
                  <a:pt x="4858948" y="4794813"/>
                </a:lnTo>
                <a:lnTo>
                  <a:pt x="0" y="4794813"/>
                </a:lnTo>
                <a:lnTo>
                  <a:pt x="0" y="0"/>
                </a:lnTo>
                <a:close/>
              </a:path>
            </a:pathLst>
          </a:custGeom>
          <a:solidFill>
            <a:srgbClr val="1A1A1A"/>
          </a:solidFill>
        </p:spPr>
        <p:txBody>
          <a:bodyPr wrap="square" lIns="0" tIns="0" rIns="0" bIns="0" rtlCol="0"/>
          <a:lstStyle/>
          <a:p>
            <a:endParaRPr sz="1200"/>
          </a:p>
        </p:txBody>
      </p:sp>
      <p:sp>
        <p:nvSpPr>
          <p:cNvPr id="6" name="object 6"/>
          <p:cNvSpPr/>
          <p:nvPr/>
        </p:nvSpPr>
        <p:spPr>
          <a:xfrm>
            <a:off x="0" y="4909275"/>
            <a:ext cx="1795033" cy="1948724"/>
          </a:xfrm>
          <a:prstGeom prst="rect">
            <a:avLst/>
          </a:prstGeom>
          <a:blipFill>
            <a:blip r:embed="rId4" cstate="print"/>
            <a:stretch>
              <a:fillRect/>
            </a:stretch>
          </a:blipFill>
        </p:spPr>
        <p:txBody>
          <a:bodyPr wrap="square" lIns="0" tIns="0" rIns="0" bIns="0" rtlCol="0"/>
          <a:lstStyle/>
          <a:p>
            <a:endParaRPr sz="1200"/>
          </a:p>
        </p:txBody>
      </p:sp>
      <p:sp>
        <p:nvSpPr>
          <p:cNvPr id="7" name="object 7"/>
          <p:cNvSpPr/>
          <p:nvPr/>
        </p:nvSpPr>
        <p:spPr>
          <a:xfrm>
            <a:off x="7897082" y="2431918"/>
            <a:ext cx="1701965" cy="1741247"/>
          </a:xfrm>
          <a:prstGeom prst="rect">
            <a:avLst/>
          </a:prstGeom>
          <a:blipFill>
            <a:blip r:embed="rId5" cstate="print"/>
            <a:stretch>
              <a:fillRect/>
            </a:stretch>
          </a:blipFill>
        </p:spPr>
        <p:txBody>
          <a:bodyPr wrap="square" lIns="0" tIns="0" rIns="0" bIns="0" rtlCol="0"/>
          <a:lstStyle/>
          <a:p>
            <a:endParaRPr sz="1200"/>
          </a:p>
        </p:txBody>
      </p:sp>
      <p:sp>
        <p:nvSpPr>
          <p:cNvPr id="8" name="object 8"/>
          <p:cNvSpPr txBox="1">
            <a:spLocks noGrp="1"/>
          </p:cNvSpPr>
          <p:nvPr>
            <p:ph type="title"/>
          </p:nvPr>
        </p:nvSpPr>
        <p:spPr>
          <a:xfrm>
            <a:off x="948459" y="373500"/>
            <a:ext cx="4597400" cy="688223"/>
          </a:xfrm>
          <a:prstGeom prst="rect">
            <a:avLst/>
          </a:prstGeom>
        </p:spPr>
        <p:txBody>
          <a:bodyPr vert="horz" wrap="square" lIns="0" tIns="11007" rIns="0" bIns="0" rtlCol="0" anchor="ctr">
            <a:spAutoFit/>
          </a:bodyPr>
          <a:lstStyle/>
          <a:p>
            <a:pPr marL="8467">
              <a:lnSpc>
                <a:spcPct val="100000"/>
              </a:lnSpc>
              <a:spcBef>
                <a:spcPts val="87"/>
              </a:spcBef>
              <a:tabLst>
                <a:tab pos="3822044" algn="l"/>
              </a:tabLst>
            </a:pPr>
            <a:r>
              <a:rPr lang="en-US" spc="-373" dirty="0"/>
              <a:t>ADDRESSING THE</a:t>
            </a:r>
            <a:endParaRPr lang="en-US" spc="-1000" dirty="0"/>
          </a:p>
        </p:txBody>
      </p:sp>
      <p:sp>
        <p:nvSpPr>
          <p:cNvPr id="9" name="object 9"/>
          <p:cNvSpPr txBox="1"/>
          <p:nvPr/>
        </p:nvSpPr>
        <p:spPr>
          <a:xfrm>
            <a:off x="948459" y="1038140"/>
            <a:ext cx="5810748" cy="975546"/>
          </a:xfrm>
          <a:prstGeom prst="rect">
            <a:avLst/>
          </a:prstGeom>
        </p:spPr>
        <p:txBody>
          <a:bodyPr vert="horz" wrap="square" lIns="0" tIns="11007" rIns="0" bIns="0" rtlCol="0">
            <a:spAutoFit/>
          </a:bodyPr>
          <a:lstStyle/>
          <a:p>
            <a:pPr marL="8467">
              <a:spcBef>
                <a:spcPts val="87"/>
              </a:spcBef>
            </a:pPr>
            <a:r>
              <a:rPr lang="en-US" sz="6267" b="1" spc="-217" dirty="0">
                <a:solidFill>
                  <a:srgbClr val="231F20"/>
                </a:solidFill>
                <a:latin typeface="Arial"/>
                <a:cs typeface="Arial"/>
              </a:rPr>
              <a:t>MENACE</a:t>
            </a:r>
            <a:endParaRPr sz="6267" dirty="0">
              <a:latin typeface="Arial"/>
              <a:cs typeface="Arial"/>
            </a:endParaRPr>
          </a:p>
        </p:txBody>
      </p:sp>
      <p:sp>
        <p:nvSpPr>
          <p:cNvPr id="10" name="object 10"/>
          <p:cNvSpPr/>
          <p:nvPr/>
        </p:nvSpPr>
        <p:spPr>
          <a:xfrm>
            <a:off x="853552" y="2413403"/>
            <a:ext cx="63086" cy="63086"/>
          </a:xfrm>
          <a:prstGeom prst="rect">
            <a:avLst/>
          </a:prstGeom>
          <a:blipFill>
            <a:blip r:embed="rId6" cstate="print"/>
            <a:stretch>
              <a:fillRect/>
            </a:stretch>
          </a:blipFill>
        </p:spPr>
        <p:txBody>
          <a:bodyPr wrap="square" lIns="0" tIns="0" rIns="0" bIns="0" rtlCol="0"/>
          <a:lstStyle/>
          <a:p>
            <a:endParaRPr sz="1200"/>
          </a:p>
        </p:txBody>
      </p:sp>
      <p:sp>
        <p:nvSpPr>
          <p:cNvPr id="11" name="object 11"/>
          <p:cNvSpPr txBox="1"/>
          <p:nvPr/>
        </p:nvSpPr>
        <p:spPr>
          <a:xfrm>
            <a:off x="1024856" y="2278116"/>
            <a:ext cx="4676727" cy="1759029"/>
          </a:xfrm>
          <a:prstGeom prst="rect">
            <a:avLst/>
          </a:prstGeom>
        </p:spPr>
        <p:txBody>
          <a:bodyPr vert="horz" wrap="square" lIns="0" tIns="35137" rIns="0" bIns="0" rtlCol="0">
            <a:spAutoFit/>
          </a:bodyPr>
          <a:lstStyle/>
          <a:p>
            <a:pPr marL="8467">
              <a:spcBef>
                <a:spcPts val="277"/>
              </a:spcBef>
              <a:tabLst>
                <a:tab pos="744257" algn="l"/>
                <a:tab pos="1458880" algn="l"/>
                <a:tab pos="2088831" algn="l"/>
                <a:tab pos="2434712" algn="l"/>
              </a:tabLst>
            </a:pPr>
            <a:r>
              <a:rPr lang="en-US" sz="2800" dirty="0">
                <a:latin typeface="Arial Unicode MS"/>
                <a:cs typeface="Arial Unicode MS"/>
              </a:rPr>
              <a:t>CSIR-FORIG proposes the use of the Forest Landscape Restoration (FLR) approach as a long term measure.</a:t>
            </a:r>
            <a:endParaRPr sz="2800" dirty="0">
              <a:latin typeface="Arial Unicode MS"/>
              <a:cs typeface="Arial Unicode MS"/>
            </a:endParaRPr>
          </a:p>
        </p:txBody>
      </p:sp>
      <p:sp>
        <p:nvSpPr>
          <p:cNvPr id="12" name="object 12"/>
          <p:cNvSpPr/>
          <p:nvPr/>
        </p:nvSpPr>
        <p:spPr>
          <a:xfrm>
            <a:off x="790466" y="4376099"/>
            <a:ext cx="63086" cy="63086"/>
          </a:xfrm>
          <a:prstGeom prst="rect">
            <a:avLst/>
          </a:prstGeom>
          <a:blipFill>
            <a:blip r:embed="rId6" cstate="print"/>
            <a:stretch>
              <a:fillRect/>
            </a:stretch>
          </a:blipFill>
        </p:spPr>
        <p:txBody>
          <a:bodyPr wrap="square" lIns="0" tIns="0" rIns="0" bIns="0" rtlCol="0"/>
          <a:lstStyle/>
          <a:p>
            <a:endParaRPr sz="1200"/>
          </a:p>
        </p:txBody>
      </p:sp>
      <p:sp>
        <p:nvSpPr>
          <p:cNvPr id="14" name="object 14"/>
          <p:cNvSpPr txBox="1"/>
          <p:nvPr/>
        </p:nvSpPr>
        <p:spPr>
          <a:xfrm>
            <a:off x="7133735" y="4277312"/>
            <a:ext cx="3239347" cy="426613"/>
          </a:xfrm>
          <a:prstGeom prst="rect">
            <a:avLst/>
          </a:prstGeom>
        </p:spPr>
        <p:txBody>
          <a:bodyPr vert="horz" wrap="square" lIns="0" tIns="11007" rIns="0" bIns="0" rtlCol="0">
            <a:spAutoFit/>
          </a:bodyPr>
          <a:lstStyle/>
          <a:p>
            <a:pPr marR="106262" algn="ctr">
              <a:spcBef>
                <a:spcPts val="87"/>
              </a:spcBef>
            </a:pPr>
            <a:r>
              <a:rPr lang="en-US" sz="2700" b="1" spc="503" dirty="0">
                <a:solidFill>
                  <a:srgbClr val="FDFAFA"/>
                </a:solidFill>
                <a:latin typeface="Calibri"/>
                <a:cs typeface="Calibri"/>
              </a:rPr>
              <a:t>MITIGATION</a:t>
            </a:r>
            <a:endParaRPr sz="2700" dirty="0">
              <a:latin typeface="Calibri"/>
              <a:cs typeface="Calibri"/>
            </a:endParaRPr>
          </a:p>
        </p:txBody>
      </p:sp>
      <p:sp>
        <p:nvSpPr>
          <p:cNvPr id="16" name="TextBox 15">
            <a:extLst>
              <a:ext uri="{FF2B5EF4-FFF2-40B4-BE49-F238E27FC236}">
                <a16:creationId xmlns:a16="http://schemas.microsoft.com/office/drawing/2014/main" id="{3AC8A6A4-5715-4E4E-84CF-5AFD97DAC29C}"/>
              </a:ext>
            </a:extLst>
          </p:cNvPr>
          <p:cNvSpPr txBox="1"/>
          <p:nvPr/>
        </p:nvSpPr>
        <p:spPr>
          <a:xfrm>
            <a:off x="948459" y="4381512"/>
            <a:ext cx="6100354" cy="2246769"/>
          </a:xfrm>
          <a:prstGeom prst="rect">
            <a:avLst/>
          </a:prstGeom>
          <a:noFill/>
        </p:spPr>
        <p:txBody>
          <a:bodyPr wrap="square">
            <a:spAutoFit/>
          </a:bodyPr>
          <a:lstStyle/>
          <a:p>
            <a:r>
              <a:rPr lang="en-US" sz="2800" dirty="0"/>
              <a:t>This approach seeks to restore degraded landscapes such as mined sites by addressing socio-economic, ecological and environmental dimensions of reclaiming the degraded lands.</a:t>
            </a:r>
          </a:p>
        </p:txBody>
      </p:sp>
      <p:sp>
        <p:nvSpPr>
          <p:cNvPr id="15" name="TextBox 14">
            <a:extLst>
              <a:ext uri="{FF2B5EF4-FFF2-40B4-BE49-F238E27FC236}">
                <a16:creationId xmlns:a16="http://schemas.microsoft.com/office/drawing/2014/main" id="{FB9E1365-E7DD-4893-8F51-74CD6903DE84}"/>
              </a:ext>
            </a:extLst>
          </p:cNvPr>
          <p:cNvSpPr txBox="1"/>
          <p:nvPr/>
        </p:nvSpPr>
        <p:spPr>
          <a:xfrm>
            <a:off x="11463264" y="6217567"/>
            <a:ext cx="888275" cy="523220"/>
          </a:xfrm>
          <a:prstGeom prst="rect">
            <a:avLst/>
          </a:prstGeom>
          <a:noFill/>
        </p:spPr>
        <p:txBody>
          <a:bodyPr wrap="square" rtlCol="0">
            <a:spAutoFit/>
          </a:bodyPr>
          <a:lstStyle/>
          <a:p>
            <a:r>
              <a:rPr lang="en-US" sz="2800"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C7EA3C-0148-4549-AC1C-71664C64540C}"/>
              </a:ext>
            </a:extLst>
          </p:cNvPr>
          <p:cNvSpPr txBox="1"/>
          <p:nvPr/>
        </p:nvSpPr>
        <p:spPr>
          <a:xfrm>
            <a:off x="0" y="0"/>
            <a:ext cx="12192000" cy="6858000"/>
          </a:xfrm>
          <a:prstGeom prst="rect">
            <a:avLst/>
          </a:prstGeom>
          <a:solidFill>
            <a:schemeClr val="tx1">
              <a:lumMod val="95000"/>
              <a:lumOff val="5000"/>
            </a:schemeClr>
          </a:solidFill>
        </p:spPr>
        <p:txBody>
          <a:bodyPr wrap="square" rtlCol="0">
            <a:spAutoFit/>
          </a:bodyPr>
          <a:lstStyle/>
          <a:p>
            <a:endParaRPr lang="en-US" dirty="0"/>
          </a:p>
        </p:txBody>
      </p:sp>
      <p:sp>
        <p:nvSpPr>
          <p:cNvPr id="2" name="object 2"/>
          <p:cNvSpPr txBox="1">
            <a:spLocks noGrp="1"/>
          </p:cNvSpPr>
          <p:nvPr>
            <p:ph type="title"/>
          </p:nvPr>
        </p:nvSpPr>
        <p:spPr>
          <a:xfrm>
            <a:off x="638146" y="2945779"/>
            <a:ext cx="3398277" cy="685658"/>
          </a:xfrm>
          <a:prstGeom prst="rect">
            <a:avLst/>
          </a:prstGeom>
        </p:spPr>
        <p:txBody>
          <a:bodyPr vert="horz" wrap="square" lIns="0" tIns="8467" rIns="0" bIns="0" rtlCol="0" anchor="ctr">
            <a:spAutoFit/>
          </a:bodyPr>
          <a:lstStyle/>
          <a:p>
            <a:pPr marL="8467">
              <a:lnSpc>
                <a:spcPct val="100000"/>
              </a:lnSpc>
              <a:spcBef>
                <a:spcPts val="67"/>
              </a:spcBef>
            </a:pPr>
            <a:r>
              <a:rPr lang="en-US" b="1" spc="230" dirty="0">
                <a:solidFill>
                  <a:srgbClr val="F5F5F5"/>
                </a:solidFill>
              </a:rPr>
              <a:t>CONCLUSION</a:t>
            </a:r>
            <a:endParaRPr b="1" spc="270" dirty="0">
              <a:solidFill>
                <a:srgbClr val="F5F5F5"/>
              </a:solidFill>
            </a:endParaRPr>
          </a:p>
        </p:txBody>
      </p:sp>
      <p:sp>
        <p:nvSpPr>
          <p:cNvPr id="4" name="object 4"/>
          <p:cNvSpPr txBox="1"/>
          <p:nvPr/>
        </p:nvSpPr>
        <p:spPr>
          <a:xfrm>
            <a:off x="4830703" y="944560"/>
            <a:ext cx="5868690" cy="2484440"/>
          </a:xfrm>
          <a:prstGeom prst="rect">
            <a:avLst/>
          </a:prstGeom>
        </p:spPr>
        <p:txBody>
          <a:bodyPr vert="horz" wrap="square" lIns="0" tIns="8043" rIns="0" bIns="0" rtlCol="0">
            <a:spAutoFit/>
          </a:bodyPr>
          <a:lstStyle/>
          <a:p>
            <a:pPr marL="465667" marR="3387" indent="-457200">
              <a:lnSpc>
                <a:spcPct val="116700"/>
              </a:lnSpc>
              <a:spcBef>
                <a:spcPts val="63"/>
              </a:spcBef>
              <a:buFontTx/>
              <a:buChar char="-"/>
            </a:pPr>
            <a:r>
              <a:rPr lang="en-US" sz="2800" spc="70" dirty="0">
                <a:solidFill>
                  <a:srgbClr val="F5F5F5"/>
                </a:solidFill>
                <a:latin typeface="Arial"/>
                <a:cs typeface="Arial"/>
              </a:rPr>
              <a:t>Small-scale illegal mining in Ghana poses a significant menace to the environment, biodiversity, health, economy, and social fabric.</a:t>
            </a:r>
          </a:p>
        </p:txBody>
      </p:sp>
      <p:sp>
        <p:nvSpPr>
          <p:cNvPr id="5" name="object 5"/>
          <p:cNvSpPr/>
          <p:nvPr/>
        </p:nvSpPr>
        <p:spPr>
          <a:xfrm>
            <a:off x="874781" y="3786869"/>
            <a:ext cx="2724573" cy="0"/>
          </a:xfrm>
          <a:custGeom>
            <a:avLst/>
            <a:gdLst/>
            <a:ahLst/>
            <a:cxnLst/>
            <a:rect l="l" t="t" r="r" b="b"/>
            <a:pathLst>
              <a:path w="4086859">
                <a:moveTo>
                  <a:pt x="0" y="0"/>
                </a:moveTo>
                <a:lnTo>
                  <a:pt x="4086250" y="0"/>
                </a:lnTo>
              </a:path>
            </a:pathLst>
          </a:custGeom>
          <a:ln w="9524">
            <a:solidFill>
              <a:srgbClr val="F5F5F5"/>
            </a:solidFill>
          </a:ln>
        </p:spPr>
        <p:txBody>
          <a:bodyPr wrap="square" lIns="0" tIns="0" rIns="0" bIns="0" rtlCol="0"/>
          <a:lstStyle/>
          <a:p>
            <a:endParaRPr sz="1200"/>
          </a:p>
        </p:txBody>
      </p:sp>
      <p:sp>
        <p:nvSpPr>
          <p:cNvPr id="7" name="TextBox 6">
            <a:extLst>
              <a:ext uri="{FF2B5EF4-FFF2-40B4-BE49-F238E27FC236}">
                <a16:creationId xmlns:a16="http://schemas.microsoft.com/office/drawing/2014/main" id="{80FF54FC-8BD9-40D1-AD5C-F151217202E6}"/>
              </a:ext>
            </a:extLst>
          </p:cNvPr>
          <p:cNvSpPr txBox="1"/>
          <p:nvPr/>
        </p:nvSpPr>
        <p:spPr>
          <a:xfrm>
            <a:off x="5238204" y="4077473"/>
            <a:ext cx="5760721" cy="1815882"/>
          </a:xfrm>
          <a:prstGeom prst="rect">
            <a:avLst/>
          </a:prstGeom>
          <a:noFill/>
        </p:spPr>
        <p:txBody>
          <a:bodyPr wrap="square" rtlCol="0">
            <a:spAutoFit/>
          </a:bodyPr>
          <a:lstStyle/>
          <a:p>
            <a:r>
              <a:rPr lang="en-US" sz="2800" dirty="0">
                <a:solidFill>
                  <a:schemeClr val="bg1"/>
                </a:solidFill>
              </a:rPr>
              <a:t>- Collaborative efforts from the government, communities, and international partners are necessary to combat this issue effectively.</a:t>
            </a:r>
          </a:p>
        </p:txBody>
      </p:sp>
      <p:sp>
        <p:nvSpPr>
          <p:cNvPr id="8" name="TextBox 7">
            <a:extLst>
              <a:ext uri="{FF2B5EF4-FFF2-40B4-BE49-F238E27FC236}">
                <a16:creationId xmlns:a16="http://schemas.microsoft.com/office/drawing/2014/main" id="{A923B43A-54F1-4BD7-9504-F8869108853B}"/>
              </a:ext>
            </a:extLst>
          </p:cNvPr>
          <p:cNvSpPr txBox="1"/>
          <p:nvPr/>
        </p:nvSpPr>
        <p:spPr>
          <a:xfrm>
            <a:off x="11463264" y="6217567"/>
            <a:ext cx="888275" cy="523220"/>
          </a:xfrm>
          <a:prstGeom prst="rect">
            <a:avLst/>
          </a:prstGeom>
          <a:noFill/>
        </p:spPr>
        <p:txBody>
          <a:bodyPr wrap="square" rtlCol="0">
            <a:spAutoFit/>
          </a:bodyPr>
          <a:lstStyle/>
          <a:p>
            <a:r>
              <a:rPr lang="en-US" sz="2800" dirty="0">
                <a:solidFill>
                  <a:schemeClr val="bg1"/>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6A805-5ABD-4FE4-AA89-C3352E224D23}"/>
              </a:ext>
            </a:extLst>
          </p:cNvPr>
          <p:cNvSpPr>
            <a:spLocks noGrp="1"/>
          </p:cNvSpPr>
          <p:nvPr>
            <p:ph type="title"/>
          </p:nvPr>
        </p:nvSpPr>
        <p:spPr/>
        <p:txBody>
          <a:bodyPr/>
          <a:lstStyle/>
          <a:p>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FF52FC-C70A-4E47-B552-D2BE7A3D3DEC}"/>
              </a:ext>
            </a:extLst>
          </p:cNvPr>
          <p:cNvSpPr>
            <a:spLocks noGrp="1"/>
          </p:cNvSpPr>
          <p:nvPr>
            <p:ph idx="1"/>
          </p:nvPr>
        </p:nvSpPr>
        <p:spPr>
          <a:xfrm>
            <a:off x="720634" y="1630953"/>
            <a:ext cx="10515600" cy="4351338"/>
          </a:xfrm>
        </p:spPr>
        <p:txBody>
          <a:bodyPr>
            <a:normAutofit fontScale="92500" lnSpcReduction="20000"/>
          </a:bodyPr>
          <a:lstStyle/>
          <a:p>
            <a:pPr marL="0" marR="0" indent="0">
              <a:lnSpc>
                <a:spcPct val="115000"/>
              </a:lnSpc>
              <a:spcBef>
                <a:spcPts val="0"/>
              </a:spcBef>
              <a:spcAft>
                <a:spcPts val="0"/>
              </a:spcAft>
              <a:buNone/>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dirty="0" err="1">
                <a:effectLst/>
                <a:latin typeface="Times New Roman" panose="02020603050405020304" pitchFamily="18" charset="0"/>
                <a:ea typeface="Calibri" panose="020F0502020204030204" pitchFamily="34" charset="0"/>
                <a:cs typeface="Times New Roman" panose="02020603050405020304" pitchFamily="18" charset="0"/>
              </a:rPr>
              <a:t>Agbesinyale</a:t>
            </a:r>
            <a:r>
              <a:rPr lang="en-US" dirty="0">
                <a:effectLst/>
                <a:latin typeface="Times New Roman" panose="02020603050405020304" pitchFamily="18" charset="0"/>
                <a:ea typeface="Calibri" panose="020F0502020204030204" pitchFamily="34" charset="0"/>
                <a:cs typeface="Times New Roman" panose="02020603050405020304" pitchFamily="18" charset="0"/>
              </a:rPr>
              <a:t>, P. (2003). Ghana’s gold rush and regional development: The case of the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Wassa</a:t>
            </a:r>
            <a:r>
              <a:rPr lang="en-US" dirty="0">
                <a:effectLst/>
                <a:latin typeface="Times New Roman" panose="02020603050405020304" pitchFamily="18" charset="0"/>
                <a:ea typeface="Calibri" panose="020F0502020204030204" pitchFamily="34" charset="0"/>
                <a:cs typeface="Times New Roman" panose="02020603050405020304" pitchFamily="18" charset="0"/>
              </a:rPr>
              <a:t> west district of Ghana. SPRING Research Series, 44. University of Dortmund, Germany.</a:t>
            </a:r>
          </a:p>
          <a:p>
            <a:pPr marL="0" marR="0" indent="0" algn="just">
              <a:lnSpc>
                <a:spcPct val="115000"/>
              </a:lnSpc>
              <a:spcBef>
                <a:spcPts val="0"/>
              </a:spcBef>
              <a:spcAft>
                <a:spcPts val="0"/>
              </a:spcAft>
              <a:buNone/>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dirty="0" err="1">
                <a:effectLst/>
                <a:latin typeface="Times New Roman" panose="02020603050405020304" pitchFamily="18" charset="0"/>
                <a:ea typeface="Calibri" panose="020F0502020204030204" pitchFamily="34" charset="0"/>
                <a:cs typeface="Times New Roman" panose="02020603050405020304" pitchFamily="18" charset="0"/>
              </a:rPr>
              <a:t>Akabzaa</a:t>
            </a:r>
            <a:r>
              <a:rPr lang="en-US" dirty="0">
                <a:effectLst/>
                <a:latin typeface="Times New Roman" panose="02020603050405020304" pitchFamily="18" charset="0"/>
                <a:ea typeface="Calibri" panose="020F0502020204030204" pitchFamily="34" charset="0"/>
                <a:cs typeface="Times New Roman" panose="02020603050405020304" pitchFamily="18" charset="0"/>
              </a:rPr>
              <a:t>, T. (2000). Boom and dislocation; the environmental and social impacts of mining in the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Wassa</a:t>
            </a:r>
            <a:r>
              <a:rPr lang="en-US" dirty="0">
                <a:effectLst/>
                <a:latin typeface="Times New Roman" panose="02020603050405020304" pitchFamily="18" charset="0"/>
                <a:ea typeface="Calibri" panose="020F0502020204030204" pitchFamily="34" charset="0"/>
                <a:cs typeface="Times New Roman" panose="02020603050405020304" pitchFamily="18" charset="0"/>
              </a:rPr>
              <a:t> west district of Ghana. TWN, Africa.</a:t>
            </a:r>
          </a:p>
          <a:p>
            <a:pPr marL="0" marR="0" indent="0" algn="just">
              <a:lnSpc>
                <a:spcPct val="115000"/>
              </a:lnSpc>
              <a:spcBef>
                <a:spcPts val="0"/>
              </a:spcBef>
              <a:spcAft>
                <a:spcPts val="0"/>
              </a:spcAft>
              <a:buNone/>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dirty="0" err="1">
                <a:effectLst/>
                <a:latin typeface="Times New Roman" panose="02020603050405020304" pitchFamily="18" charset="0"/>
                <a:ea typeface="Calibri" panose="020F0502020204030204" pitchFamily="34" charset="0"/>
                <a:cs typeface="Times New Roman" panose="02020603050405020304" pitchFamily="18" charset="0"/>
              </a:rPr>
              <a:t>Akabzaa</a:t>
            </a:r>
            <a:r>
              <a:rPr lang="en-US" dirty="0">
                <a:effectLst/>
                <a:latin typeface="Times New Roman" panose="02020603050405020304" pitchFamily="18" charset="0"/>
                <a:ea typeface="Calibri" panose="020F0502020204030204" pitchFamily="34" charset="0"/>
                <a:cs typeface="Times New Roman" panose="02020603050405020304" pitchFamily="18" charset="0"/>
              </a:rPr>
              <a:t>, T., &amp;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Darimani</a:t>
            </a:r>
            <a:r>
              <a:rPr lang="en-US" dirty="0">
                <a:effectLst/>
                <a:latin typeface="Times New Roman" panose="02020603050405020304" pitchFamily="18" charset="0"/>
                <a:ea typeface="Calibri" panose="020F0502020204030204" pitchFamily="34" charset="0"/>
                <a:cs typeface="Times New Roman" panose="02020603050405020304" pitchFamily="18" charset="0"/>
              </a:rPr>
              <a:t>, A. (2001). „Impact of Mining Sector Investment in Ghana: A Study of the Tarkwa Mining Region‟, Draft Report Prepared for SAPRI.</a:t>
            </a:r>
          </a:p>
          <a:p>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E1E04AD-D6C7-48A9-9AB6-E4FF7786C903}"/>
              </a:ext>
            </a:extLst>
          </p:cNvPr>
          <p:cNvSpPr txBox="1"/>
          <p:nvPr/>
        </p:nvSpPr>
        <p:spPr>
          <a:xfrm>
            <a:off x="11463264" y="6217567"/>
            <a:ext cx="888275" cy="523220"/>
          </a:xfrm>
          <a:prstGeom prst="rect">
            <a:avLst/>
          </a:prstGeom>
          <a:noFill/>
        </p:spPr>
        <p:txBody>
          <a:bodyPr wrap="square" rtlCol="0">
            <a:spAutoFit/>
          </a:bodyPr>
          <a:lstStyle/>
          <a:p>
            <a:r>
              <a:rPr lang="en-US" sz="2800" dirty="0"/>
              <a:t>12</a:t>
            </a:r>
          </a:p>
        </p:txBody>
      </p:sp>
    </p:spTree>
    <p:extLst>
      <p:ext uri="{BB962C8B-B14F-4D97-AF65-F5344CB8AC3E}">
        <p14:creationId xmlns:p14="http://schemas.microsoft.com/office/powerpoint/2010/main" val="1220381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TotalTime>
  <Words>576</Words>
  <Application>Microsoft Office PowerPoint</Application>
  <PresentationFormat>Widescreen</PresentationFormat>
  <Paragraphs>79</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 Unicode MS</vt:lpstr>
      <vt:lpstr>Arial</vt:lpstr>
      <vt:lpstr>Calibri</vt:lpstr>
      <vt:lpstr>Calibri Light</vt:lpstr>
      <vt:lpstr>Tahoma</vt:lpstr>
      <vt:lpstr>Times New Roman</vt:lpstr>
      <vt:lpstr>Wingdings</vt:lpstr>
      <vt:lpstr>Office Theme</vt:lpstr>
      <vt:lpstr>GROUP 5</vt:lpstr>
      <vt:lpstr>Introduction </vt:lpstr>
      <vt:lpstr>Surface mining results in about</vt:lpstr>
      <vt:lpstr>Impacts of Small-Scale Mining</vt:lpstr>
      <vt:lpstr>They include:</vt:lpstr>
      <vt:lpstr>A threat to</vt:lpstr>
      <vt:lpstr>Health Hazards </vt:lpstr>
      <vt:lpstr>PowerPoint Presentation</vt:lpstr>
      <vt:lpstr>A number of communities have  seen rise in cost of living</vt:lpstr>
      <vt:lpstr>ADDRESSING THE</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Menace of Small-Scale Illegal Mining in Ghana</dc:title>
  <dc:creator>Aniagyei Odame Ebenezer</dc:creator>
  <cp:lastModifiedBy>Aniagyei Odame Ebenezer</cp:lastModifiedBy>
  <cp:revision>76</cp:revision>
  <dcterms:created xsi:type="dcterms:W3CDTF">2023-07-17T03:03:50Z</dcterms:created>
  <dcterms:modified xsi:type="dcterms:W3CDTF">2023-07-19T12:05:45Z</dcterms:modified>
</cp:coreProperties>
</file>