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9.jpg" ContentType="image/pn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57" r:id="rId3"/>
    <p:sldId id="259" r:id="rId4"/>
    <p:sldId id="260" r:id="rId5"/>
    <p:sldId id="261" r:id="rId6"/>
    <p:sldId id="262" r:id="rId7"/>
    <p:sldId id="272" r:id="rId8"/>
    <p:sldId id="263" r:id="rId9"/>
    <p:sldId id="274" r:id="rId10"/>
    <p:sldId id="275" r:id="rId11"/>
    <p:sldId id="276" r:id="rId12"/>
    <p:sldId id="264" r:id="rId13"/>
    <p:sldId id="265" r:id="rId14"/>
    <p:sldId id="266" r:id="rId15"/>
    <p:sldId id="267" r:id="rId16"/>
    <p:sldId id="268" r:id="rId17"/>
    <p:sldId id="269" r:id="rId18"/>
    <p:sldId id="270" r:id="rId19"/>
    <p:sldId id="27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ellen Cudjoe" initials="HC" lastIdx="1" clrIdx="0">
    <p:extLst>
      <p:ext uri="{19B8F6BF-5375-455C-9EA6-DF929625EA0E}">
        <p15:presenceInfo xmlns:p15="http://schemas.microsoft.com/office/powerpoint/2012/main" userId="38f0705c60d21fe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79" d="100"/>
          <a:sy n="79" d="100"/>
        </p:scale>
        <p:origin x="110" y="5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7/26/2023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12700" y="-3175"/>
            <a:ext cx="12204700" cy="6861175"/>
          </a:xfrm>
          <a:prstGeom prst="rect">
            <a:avLst/>
          </a:prstGeom>
          <a:noFill/>
          <a:ln w="9525">
            <a:noFill/>
          </a:ln>
        </p:spPr>
      </p:pic>
      <p:sp>
        <p:nvSpPr>
          <p:cNvPr id="2051" name="Rectangle 3"/>
          <p:cNvSpPr>
            <a:spLocks noGrp="1" noChangeArrowheads="1"/>
          </p:cNvSpPr>
          <p:nvPr>
            <p:ph type="ctrTitle"/>
          </p:nvPr>
        </p:nvSpPr>
        <p:spPr>
          <a:xfrm>
            <a:off x="2063751" y="1125538"/>
            <a:ext cx="9211733" cy="1082675"/>
          </a:xfrm>
        </p:spPr>
        <p:txBody>
          <a:bodyPr/>
          <a:lstStyle>
            <a:lvl1pPr algn="r">
              <a:defRPr/>
            </a:lvl1pPr>
          </a:lstStyle>
          <a:p>
            <a:pPr lvl="0"/>
            <a:r>
              <a:rPr lang="en-US" altLang="zh-CN" noProof="0"/>
              <a:t>Click to edit Master title style</a:t>
            </a:r>
          </a:p>
        </p:txBody>
      </p:sp>
      <p:sp>
        <p:nvSpPr>
          <p:cNvPr id="2052" name="Rectangle 4"/>
          <p:cNvSpPr>
            <a:spLocks noGrp="1" noChangeArrowheads="1"/>
          </p:cNvSpPr>
          <p:nvPr>
            <p:ph type="subTitle" idx="1"/>
          </p:nvPr>
        </p:nvSpPr>
        <p:spPr>
          <a:xfrm>
            <a:off x="2063751" y="2351088"/>
            <a:ext cx="9218083" cy="1752600"/>
          </a:xfrm>
        </p:spPr>
        <p:txBody>
          <a:bodyPr/>
          <a:lstStyle>
            <a:lvl1pPr marL="0" indent="0" algn="r">
              <a:buFontTx/>
              <a:buNone/>
              <a:defRPr>
                <a:solidFill>
                  <a:schemeClr val="bg1"/>
                </a:solidFill>
              </a:defRPr>
            </a:lvl1pPr>
          </a:lstStyle>
          <a:p>
            <a:pPr lvl="0"/>
            <a:r>
              <a:rPr lang="en-US" altLang="zh-CN" noProof="0"/>
              <a:t>Click to edit Master subtitle style</a:t>
            </a:r>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t>7/26/2023</a:t>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t>‹#›</a:t>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7/26/2023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7/26/2023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174750"/>
            <a:ext cx="53848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174750"/>
            <a:ext cx="53848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7/26/2023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7"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7/26/2023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7/26/2023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7/26/2023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7/26/2023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7/26/2023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7/26/2023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7/26/2023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6"/>
          <p:cNvPicPr>
            <a:picLocks noChangeAspect="1"/>
          </p:cNvPicPr>
          <p:nvPr/>
        </p:nvPicPr>
        <p:blipFill>
          <a:blip r:embed="rId13"/>
          <a:stretch>
            <a:fillRect/>
          </a:stretch>
        </p:blipFill>
        <p:spPr>
          <a:xfrm>
            <a:off x="0" y="0"/>
            <a:ext cx="12198351" cy="6861175"/>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lstStyle/>
          <a:p>
            <a:pPr lvl="0"/>
            <a:r>
              <a:rPr lang="en-US" altLang="zh-CN" dirty="0"/>
              <a:t>Click to edit Master title style</a:t>
            </a:r>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t>7/26/2023</a:t>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fontAlgn="base">
        <a:spcBef>
          <a:spcPct val="0"/>
        </a:spcBef>
        <a:spcAft>
          <a:spcPct val="0"/>
        </a:spcAft>
        <a:defRPr sz="3600" kern="1200">
          <a:solidFill>
            <a:schemeClr val="bg1"/>
          </a:solidFill>
          <a:latin typeface="+mj-lt"/>
          <a:ea typeface="+mj-ea"/>
          <a:cs typeface="+mj-cs"/>
        </a:defRPr>
      </a:lvl1pPr>
      <a:lvl2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ECF40"/>
            </a:gs>
            <a:gs pos="100000">
              <a:srgbClr val="846C21"/>
            </a:gs>
          </a:gsLst>
          <a:lin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227455"/>
            <a:ext cx="9144000" cy="1731010"/>
          </a:xfrm>
        </p:spPr>
        <p:txBody>
          <a:bodyPr/>
          <a:lstStyle/>
          <a:p>
            <a:pPr algn="ctr"/>
            <a:r>
              <a:rPr lang="en-US" dirty="0"/>
              <a:t>NATURE BASED SOLUTIONS FOR CLIMATE CHANGE</a:t>
            </a:r>
          </a:p>
        </p:txBody>
      </p:sp>
      <p:sp>
        <p:nvSpPr>
          <p:cNvPr id="3" name="Subtitle 2"/>
          <p:cNvSpPr>
            <a:spLocks noGrp="1"/>
          </p:cNvSpPr>
          <p:nvPr>
            <p:ph type="subTitle" idx="1"/>
          </p:nvPr>
        </p:nvSpPr>
        <p:spPr>
          <a:xfrm>
            <a:off x="7431405" y="4429125"/>
            <a:ext cx="3555365" cy="296545"/>
          </a:xfrm>
        </p:spPr>
        <p:txBody>
          <a:bodyPr/>
          <a:lstStyle/>
          <a:p>
            <a:r>
              <a:rPr lang="en-US" sz="2800"/>
              <a:t>GROUP 24</a:t>
            </a:r>
          </a:p>
        </p:txBody>
      </p:sp>
      <p:sp>
        <p:nvSpPr>
          <p:cNvPr id="4" name="Slide Number Placeholder 3"/>
          <p:cNvSpPr>
            <a:spLocks noGrp="1"/>
          </p:cNvSpPr>
          <p:nvPr>
            <p:ph type="sldNum" sz="quarter" idx="4"/>
          </p:nvPr>
        </p:nvSpPr>
        <p:spPr/>
        <p:txBody>
          <a:bodyPr/>
          <a:lstStyle/>
          <a:p>
            <a:fld id="{9B618960-8005-486C-9A75-10CB2AAC16F9}"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GB"/>
              <a:t>OUTLINE</a:t>
            </a:r>
          </a:p>
        </p:txBody>
      </p:sp>
      <p:sp>
        <p:nvSpPr>
          <p:cNvPr id="3" name="Content Placeholder 2"/>
          <p:cNvSpPr>
            <a:spLocks noGrp="1"/>
          </p:cNvSpPr>
          <p:nvPr>
            <p:ph idx="1"/>
          </p:nvPr>
        </p:nvSpPr>
        <p:spPr/>
        <p:txBody>
          <a:bodyPr/>
          <a:lstStyle/>
          <a:p>
            <a:r>
              <a:rPr lang="en-US" altLang="en-GB" dirty="0"/>
              <a:t>Introduction</a:t>
            </a:r>
          </a:p>
          <a:p>
            <a:r>
              <a:rPr lang="en-US" altLang="en-GB" dirty="0"/>
              <a:t>What are Nature-based solutions?</a:t>
            </a:r>
          </a:p>
          <a:p>
            <a:r>
              <a:rPr lang="en-US" altLang="en-GB" dirty="0"/>
              <a:t>Types of Nature-based solutions</a:t>
            </a:r>
          </a:p>
          <a:p>
            <a:r>
              <a:rPr lang="en-US" altLang="en-GB" dirty="0"/>
              <a:t>Benefits of Nature-based solutions</a:t>
            </a:r>
          </a:p>
          <a:p>
            <a:r>
              <a:rPr lang="en-US" altLang="en-GB" dirty="0"/>
              <a:t>Challenges and limitations</a:t>
            </a:r>
          </a:p>
          <a:p>
            <a:r>
              <a:rPr lang="en-US" altLang="en-GB" dirty="0"/>
              <a:t>Policies and Global </a:t>
            </a:r>
            <a:r>
              <a:rPr lang="en-US" altLang="en-GB" dirty="0" err="1"/>
              <a:t>initivatives</a:t>
            </a:r>
            <a:r>
              <a:rPr lang="en-US" altLang="en-GB" dirty="0"/>
              <a:t> that have supported these solutions</a:t>
            </a:r>
          </a:p>
          <a:p>
            <a:r>
              <a:rPr lang="en-US" altLang="en-GB" dirty="0"/>
              <a:t>Conclusion</a:t>
            </a:r>
          </a:p>
          <a:p>
            <a:endParaRPr lang="en-US" altLang="en-GB" dirty="0"/>
          </a:p>
          <a:p>
            <a:endParaRPr lang="en-US" altLang="en-GB" dirty="0"/>
          </a:p>
        </p:txBody>
      </p:sp>
      <p:sp>
        <p:nvSpPr>
          <p:cNvPr id="4" name="Slide Number Placeholder 3"/>
          <p:cNvSpPr>
            <a:spLocks noGrp="1"/>
          </p:cNvSpPr>
          <p:nvPr>
            <p:ph type="sldNum" sz="quarter" idx="12"/>
          </p:nvPr>
        </p:nvSpPr>
        <p:spPr/>
        <p:txBody>
          <a:bodyPr/>
          <a:lstStyle/>
          <a:p>
            <a:fld id="{9B618960-8005-486C-9A75-10CB2AAC16F9}"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GB"/>
              <a:t>INTRODUCTION</a:t>
            </a:r>
          </a:p>
        </p:txBody>
      </p:sp>
      <p:sp>
        <p:nvSpPr>
          <p:cNvPr id="3" name="Content Placeholder 2"/>
          <p:cNvSpPr>
            <a:spLocks noGrp="1"/>
          </p:cNvSpPr>
          <p:nvPr>
            <p:ph idx="1"/>
          </p:nvPr>
        </p:nvSpPr>
        <p:spPr>
          <a:xfrm>
            <a:off x="609600" y="2032000"/>
            <a:ext cx="10972800" cy="4094480"/>
          </a:xfrm>
        </p:spPr>
        <p:txBody>
          <a:bodyPr/>
          <a:lstStyle/>
          <a:p>
            <a:r>
              <a:rPr lang="en-GB" altLang="en-US"/>
              <a:t>Climate change is a pressing global challenge, impacting ecosystems, biodiversity, and human livelihood. To combat this issue, we turn to Nature-based Solutions (NBS)</a:t>
            </a:r>
            <a:r>
              <a:rPr lang="en-US" altLang="en-GB"/>
              <a:t>.</a:t>
            </a:r>
            <a:r>
              <a:rPr lang="en-GB" altLang="en-US"/>
              <a:t> In this presentation, we'll explore the importance and benefits of NBS.</a:t>
            </a:r>
          </a:p>
        </p:txBody>
      </p:sp>
      <p:sp>
        <p:nvSpPr>
          <p:cNvPr id="4" name="Slide Number Placeholder 3"/>
          <p:cNvSpPr>
            <a:spLocks noGrp="1"/>
          </p:cNvSpPr>
          <p:nvPr>
            <p:ph type="sldNum" sz="quarter" idx="12"/>
          </p:nvPr>
        </p:nvSpPr>
        <p:spPr/>
        <p:txBody>
          <a:bodyPr/>
          <a:lstStyle/>
          <a:p>
            <a:fld id="{9B618960-8005-486C-9A75-10CB2AAC16F9}"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GB"/>
              <a:t>WHAT IS NBS?</a:t>
            </a:r>
          </a:p>
        </p:txBody>
      </p:sp>
      <p:sp>
        <p:nvSpPr>
          <p:cNvPr id="3" name="Content Placeholder 2"/>
          <p:cNvSpPr>
            <a:spLocks noGrp="1"/>
          </p:cNvSpPr>
          <p:nvPr>
            <p:ph idx="1"/>
          </p:nvPr>
        </p:nvSpPr>
        <p:spPr>
          <a:xfrm>
            <a:off x="609600" y="2419350"/>
            <a:ext cx="10972800" cy="2901950"/>
          </a:xfrm>
        </p:spPr>
        <p:txBody>
          <a:bodyPr/>
          <a:lstStyle/>
          <a:p>
            <a:pPr marL="0" indent="0">
              <a:buNone/>
            </a:pPr>
            <a:r>
              <a:rPr lang="en-GB" altLang="en-US"/>
              <a:t>Nature-based Solutions refer to sustainable strategies that work with nature to address climate change impacts. These solutions promote the restoration and conservation of natural habitats, supporting both people and the planet.</a:t>
            </a:r>
          </a:p>
        </p:txBody>
      </p:sp>
      <p:sp>
        <p:nvSpPr>
          <p:cNvPr id="4" name="Slide Number Placeholder 3"/>
          <p:cNvSpPr>
            <a:spLocks noGrp="1"/>
          </p:cNvSpPr>
          <p:nvPr>
            <p:ph type="sldNum" sz="quarter" idx="12"/>
          </p:nvPr>
        </p:nvSpPr>
        <p:spPr/>
        <p:txBody>
          <a:bodyPr/>
          <a:lstStyle/>
          <a:p>
            <a:fld id="{9B618960-8005-486C-9A75-10CB2AAC16F9}"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GB"/>
              <a:t>TYPES OF NATURE-BASED SOLUTIONS</a:t>
            </a:r>
          </a:p>
        </p:txBody>
      </p:sp>
      <p:sp>
        <p:nvSpPr>
          <p:cNvPr id="3" name="Content Placeholder 2"/>
          <p:cNvSpPr>
            <a:spLocks noGrp="1"/>
          </p:cNvSpPr>
          <p:nvPr>
            <p:ph sz="half" idx="1"/>
          </p:nvPr>
        </p:nvSpPr>
        <p:spPr/>
        <p:txBody>
          <a:bodyPr/>
          <a:lstStyle/>
          <a:p>
            <a:r>
              <a:rPr lang="en-US" altLang="en-GB"/>
              <a:t>Forest restoration</a:t>
            </a:r>
          </a:p>
          <a:p>
            <a:endParaRPr lang="en-US" altLang="en-GB"/>
          </a:p>
          <a:p>
            <a:r>
              <a:rPr lang="en-US" altLang="en-GB"/>
              <a:t>Wetland restoration</a:t>
            </a:r>
          </a:p>
          <a:p>
            <a:endParaRPr lang="en-US" altLang="en-GB"/>
          </a:p>
          <a:p>
            <a:r>
              <a:rPr lang="en-US" altLang="en-GB"/>
              <a:t>Green infrastructure</a:t>
            </a:r>
          </a:p>
          <a:p>
            <a:endParaRPr lang="en-US" altLang="en-GB"/>
          </a:p>
          <a:p>
            <a:r>
              <a:rPr lang="en-US" altLang="en-GB"/>
              <a:t>Sustainable agriculture</a:t>
            </a:r>
          </a:p>
          <a:p>
            <a:endParaRPr lang="en-US" altLang="en-GB"/>
          </a:p>
          <a:p>
            <a:pPr marL="0" indent="0">
              <a:buNone/>
            </a:pPr>
            <a:endParaRPr lang="en-US" altLang="en-GB"/>
          </a:p>
        </p:txBody>
      </p:sp>
      <p:pic>
        <p:nvPicPr>
          <p:cNvPr id="6" name="Content Placeholder 5" descr="images"/>
          <p:cNvPicPr>
            <a:picLocks noGrp="1" noChangeAspect="1"/>
          </p:cNvPicPr>
          <p:nvPr>
            <p:ph sz="half" idx="2"/>
          </p:nvPr>
        </p:nvPicPr>
        <p:blipFill>
          <a:blip r:embed="rId2"/>
          <a:stretch>
            <a:fillRect/>
          </a:stretch>
        </p:blipFill>
        <p:spPr>
          <a:xfrm>
            <a:off x="7098030" y="1891030"/>
            <a:ext cx="4378960" cy="3522980"/>
          </a:xfrm>
          <a:prstGeom prst="rect">
            <a:avLst/>
          </a:prstGeom>
        </p:spPr>
      </p:pic>
      <p:sp>
        <p:nvSpPr>
          <p:cNvPr id="8" name="Text Box 7"/>
          <p:cNvSpPr txBox="1"/>
          <p:nvPr/>
        </p:nvSpPr>
        <p:spPr>
          <a:xfrm>
            <a:off x="7544435" y="5414010"/>
            <a:ext cx="3206115" cy="368300"/>
          </a:xfrm>
          <a:prstGeom prst="rect">
            <a:avLst/>
          </a:prstGeom>
          <a:noFill/>
        </p:spPr>
        <p:txBody>
          <a:bodyPr wrap="square" rtlCol="0">
            <a:spAutoFit/>
          </a:bodyPr>
          <a:lstStyle/>
          <a:p>
            <a:r>
              <a:rPr lang="en-US" altLang="en-GB" b="1" i="1"/>
              <a:t>Figure 1</a:t>
            </a:r>
            <a:r>
              <a:rPr lang="en-US" altLang="en-GB" i="1"/>
              <a:t>: </a:t>
            </a:r>
            <a:r>
              <a:rPr lang="en-US" altLang="en-GB"/>
              <a:t>Forest restoration</a:t>
            </a:r>
          </a:p>
        </p:txBody>
      </p:sp>
      <p:sp>
        <p:nvSpPr>
          <p:cNvPr id="9" name="Slide Number Placeholder 8"/>
          <p:cNvSpPr>
            <a:spLocks noGrp="1"/>
          </p:cNvSpPr>
          <p:nvPr>
            <p:ph type="sldNum" sz="quarter" idx="12"/>
          </p:nvPr>
        </p:nvSpPr>
        <p:spPr/>
        <p:txBody>
          <a:bodyPr/>
          <a:lstStyle/>
          <a:p>
            <a:fld id="{9B618960-8005-486C-9A75-10CB2AAC16F9}"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GB"/>
              <a:t>TYPES OF NATURE-BASED SOLUTIONS</a:t>
            </a:r>
          </a:p>
        </p:txBody>
      </p:sp>
      <p:sp>
        <p:nvSpPr>
          <p:cNvPr id="3" name="Content Placeholder 2"/>
          <p:cNvSpPr>
            <a:spLocks noGrp="1"/>
          </p:cNvSpPr>
          <p:nvPr>
            <p:ph sz="half" idx="1"/>
          </p:nvPr>
        </p:nvSpPr>
        <p:spPr/>
        <p:txBody>
          <a:bodyPr/>
          <a:lstStyle/>
          <a:p>
            <a:r>
              <a:rPr lang="en-US" altLang="en-GB"/>
              <a:t>Coastal ecosystems</a:t>
            </a:r>
          </a:p>
        </p:txBody>
      </p:sp>
      <p:pic>
        <p:nvPicPr>
          <p:cNvPr id="4" name="Content Placeholder 3" descr="Sanya"/>
          <p:cNvPicPr>
            <a:picLocks noGrp="1" noChangeAspect="1"/>
          </p:cNvPicPr>
          <p:nvPr>
            <p:ph sz="half" idx="2"/>
          </p:nvPr>
        </p:nvPicPr>
        <p:blipFill>
          <a:blip r:embed="rId2"/>
          <a:stretch>
            <a:fillRect/>
          </a:stretch>
        </p:blipFill>
        <p:spPr>
          <a:xfrm>
            <a:off x="7429500" y="2127250"/>
            <a:ext cx="3730625" cy="3048000"/>
          </a:xfrm>
          <a:prstGeom prst="rect">
            <a:avLst/>
          </a:prstGeom>
        </p:spPr>
      </p:pic>
      <p:pic>
        <p:nvPicPr>
          <p:cNvPr id="5" name="Picture 4" descr="SEKI_960"/>
          <p:cNvPicPr>
            <a:picLocks noChangeAspect="1"/>
          </p:cNvPicPr>
          <p:nvPr/>
        </p:nvPicPr>
        <p:blipFill>
          <a:blip r:embed="rId3"/>
          <a:stretch>
            <a:fillRect/>
          </a:stretch>
        </p:blipFill>
        <p:spPr>
          <a:xfrm>
            <a:off x="1347470" y="2319020"/>
            <a:ext cx="4224655" cy="2856230"/>
          </a:xfrm>
          <a:prstGeom prst="rect">
            <a:avLst/>
          </a:prstGeom>
        </p:spPr>
      </p:pic>
      <p:sp>
        <p:nvSpPr>
          <p:cNvPr id="7" name="Text Box 6"/>
          <p:cNvSpPr txBox="1"/>
          <p:nvPr/>
        </p:nvSpPr>
        <p:spPr>
          <a:xfrm>
            <a:off x="1889760" y="5489575"/>
            <a:ext cx="4104640" cy="368300"/>
          </a:xfrm>
          <a:prstGeom prst="rect">
            <a:avLst/>
          </a:prstGeom>
          <a:noFill/>
        </p:spPr>
        <p:txBody>
          <a:bodyPr wrap="square" rtlCol="0">
            <a:spAutoFit/>
          </a:bodyPr>
          <a:lstStyle/>
          <a:p>
            <a:r>
              <a:rPr lang="en-US" altLang="en-GB" b="1" i="1"/>
              <a:t>Figure 2</a:t>
            </a:r>
            <a:r>
              <a:rPr lang="en-US" altLang="en-GB"/>
              <a:t>: Wetland restoration</a:t>
            </a:r>
          </a:p>
        </p:txBody>
      </p:sp>
      <p:sp>
        <p:nvSpPr>
          <p:cNvPr id="8" name="Text Box 7"/>
          <p:cNvSpPr txBox="1"/>
          <p:nvPr/>
        </p:nvSpPr>
        <p:spPr>
          <a:xfrm>
            <a:off x="7846060" y="5489575"/>
            <a:ext cx="3511550" cy="368300"/>
          </a:xfrm>
          <a:prstGeom prst="rect">
            <a:avLst/>
          </a:prstGeom>
          <a:noFill/>
        </p:spPr>
        <p:txBody>
          <a:bodyPr wrap="square" rtlCol="0">
            <a:spAutoFit/>
          </a:bodyPr>
          <a:lstStyle/>
          <a:p>
            <a:r>
              <a:rPr lang="en-US" altLang="en-GB" b="1" i="1"/>
              <a:t>Figure 3</a:t>
            </a:r>
            <a:r>
              <a:rPr lang="en-US" altLang="en-GB"/>
              <a:t>: Green infrastructure</a:t>
            </a:r>
          </a:p>
        </p:txBody>
      </p:sp>
      <p:sp>
        <p:nvSpPr>
          <p:cNvPr id="9" name="Slide Number Placeholder 8"/>
          <p:cNvSpPr>
            <a:spLocks noGrp="1"/>
          </p:cNvSpPr>
          <p:nvPr>
            <p:ph type="sldNum" sz="quarter" idx="12"/>
          </p:nvPr>
        </p:nvSpPr>
        <p:spPr/>
        <p:txBody>
          <a:bodyPr/>
          <a:lstStyle/>
          <a:p>
            <a:fld id="{9B618960-8005-486C-9A75-10CB2AAC16F9}"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GB"/>
              <a:t>TYPES OF NATURE-BASED SOLUTIONS</a:t>
            </a:r>
          </a:p>
        </p:txBody>
      </p:sp>
      <p:pic>
        <p:nvPicPr>
          <p:cNvPr id="5" name="Content Placeholder 4" descr="7ym5ecakzi_sustainable_agriculture_overview_XL_240144"/>
          <p:cNvPicPr>
            <a:picLocks noGrp="1" noChangeAspect="1"/>
          </p:cNvPicPr>
          <p:nvPr>
            <p:ph sz="half" idx="1"/>
          </p:nvPr>
        </p:nvPicPr>
        <p:blipFill>
          <a:blip r:embed="rId2"/>
          <a:stretch>
            <a:fillRect/>
          </a:stretch>
        </p:blipFill>
        <p:spPr>
          <a:xfrm>
            <a:off x="1148080" y="1728470"/>
            <a:ext cx="4364355" cy="3362325"/>
          </a:xfrm>
          <a:prstGeom prst="rect">
            <a:avLst/>
          </a:prstGeom>
        </p:spPr>
      </p:pic>
      <p:pic>
        <p:nvPicPr>
          <p:cNvPr id="6" name="Content Placeholder 5" descr="bird-s-eye-view-of-seashore-during-daytime-2213443"/>
          <p:cNvPicPr>
            <a:picLocks noGrp="1" noChangeAspect="1"/>
          </p:cNvPicPr>
          <p:nvPr>
            <p:ph sz="half" idx="2"/>
          </p:nvPr>
        </p:nvPicPr>
        <p:blipFill>
          <a:blip r:embed="rId3"/>
          <a:stretch>
            <a:fillRect/>
          </a:stretch>
        </p:blipFill>
        <p:spPr>
          <a:xfrm>
            <a:off x="7208520" y="1727835"/>
            <a:ext cx="4373880" cy="3362960"/>
          </a:xfrm>
          <a:prstGeom prst="rect">
            <a:avLst/>
          </a:prstGeom>
        </p:spPr>
      </p:pic>
      <p:sp>
        <p:nvSpPr>
          <p:cNvPr id="7" name="Text Box 6"/>
          <p:cNvSpPr txBox="1"/>
          <p:nvPr/>
        </p:nvSpPr>
        <p:spPr>
          <a:xfrm>
            <a:off x="1689735" y="5579745"/>
            <a:ext cx="4180840" cy="368300"/>
          </a:xfrm>
          <a:prstGeom prst="rect">
            <a:avLst/>
          </a:prstGeom>
          <a:noFill/>
        </p:spPr>
        <p:txBody>
          <a:bodyPr wrap="square" rtlCol="0">
            <a:spAutoFit/>
          </a:bodyPr>
          <a:lstStyle/>
          <a:p>
            <a:r>
              <a:rPr lang="en-US" altLang="en-GB" b="1" i="1"/>
              <a:t>Figure 4</a:t>
            </a:r>
            <a:r>
              <a:rPr lang="en-US" altLang="en-GB"/>
              <a:t>: Sustainable agriculture</a:t>
            </a:r>
          </a:p>
        </p:txBody>
      </p:sp>
      <p:sp>
        <p:nvSpPr>
          <p:cNvPr id="9" name="Text Box 8"/>
          <p:cNvSpPr txBox="1"/>
          <p:nvPr/>
        </p:nvSpPr>
        <p:spPr>
          <a:xfrm>
            <a:off x="7664450" y="5640070"/>
            <a:ext cx="4044315" cy="368300"/>
          </a:xfrm>
          <a:prstGeom prst="rect">
            <a:avLst/>
          </a:prstGeom>
          <a:noFill/>
        </p:spPr>
        <p:txBody>
          <a:bodyPr wrap="square" rtlCol="0">
            <a:spAutoFit/>
          </a:bodyPr>
          <a:lstStyle/>
          <a:p>
            <a:r>
              <a:rPr lang="en-US" altLang="en-GB" b="1" i="1"/>
              <a:t>Figure 5</a:t>
            </a:r>
            <a:r>
              <a:rPr lang="en-US" altLang="en-GB"/>
              <a:t>: Coastal ecosystem</a:t>
            </a:r>
          </a:p>
        </p:txBody>
      </p:sp>
      <p:sp>
        <p:nvSpPr>
          <p:cNvPr id="10" name="Slide Number Placeholder 9"/>
          <p:cNvSpPr>
            <a:spLocks noGrp="1"/>
          </p:cNvSpPr>
          <p:nvPr>
            <p:ph type="sldNum" sz="quarter" idx="12"/>
          </p:nvPr>
        </p:nvSpPr>
        <p:spPr/>
        <p:txBody>
          <a:bodyPr/>
          <a:lstStyle/>
          <a:p>
            <a:fld id="{9B618960-8005-486C-9A75-10CB2AAC16F9}"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GB"/>
              <a:t>BENEFITS</a:t>
            </a:r>
          </a:p>
        </p:txBody>
      </p:sp>
      <p:sp>
        <p:nvSpPr>
          <p:cNvPr id="3" name="Content Placeholder 2"/>
          <p:cNvSpPr>
            <a:spLocks noGrp="1"/>
          </p:cNvSpPr>
          <p:nvPr>
            <p:ph idx="1"/>
          </p:nvPr>
        </p:nvSpPr>
        <p:spPr/>
        <p:txBody>
          <a:bodyPr/>
          <a:lstStyle/>
          <a:p>
            <a:r>
              <a:rPr lang="en-US" altLang="en-GB"/>
              <a:t>Climate mitigation</a:t>
            </a:r>
          </a:p>
          <a:p>
            <a:endParaRPr lang="en-US" altLang="en-GB"/>
          </a:p>
          <a:p>
            <a:endParaRPr lang="en-US" altLang="en-GB"/>
          </a:p>
          <a:p>
            <a:r>
              <a:rPr lang="en-US" altLang="en-GB"/>
              <a:t>Climate adaptation</a:t>
            </a:r>
          </a:p>
          <a:p>
            <a:endParaRPr lang="en-US" altLang="en-GB"/>
          </a:p>
          <a:p>
            <a:endParaRPr lang="en-US" altLang="en-GB"/>
          </a:p>
          <a:p>
            <a:r>
              <a:rPr lang="en-US" altLang="en-GB"/>
              <a:t>Biodiversity conservation</a:t>
            </a:r>
          </a:p>
        </p:txBody>
      </p:sp>
      <p:sp>
        <p:nvSpPr>
          <p:cNvPr id="4" name="Slide Number Placeholder 3"/>
          <p:cNvSpPr>
            <a:spLocks noGrp="1"/>
          </p:cNvSpPr>
          <p:nvPr>
            <p:ph type="sldNum" sz="quarter" idx="12"/>
          </p:nvPr>
        </p:nvSpPr>
        <p:spPr/>
        <p:txBody>
          <a:bodyPr/>
          <a:lstStyle/>
          <a:p>
            <a:fld id="{9B618960-8005-486C-9A75-10CB2AAC16F9}"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6563B-CD04-1436-6F5A-3230536F2521}"/>
              </a:ext>
            </a:extLst>
          </p:cNvPr>
          <p:cNvSpPr>
            <a:spLocks noGrp="1"/>
          </p:cNvSpPr>
          <p:nvPr>
            <p:ph type="title"/>
          </p:nvPr>
        </p:nvSpPr>
        <p:spPr>
          <a:xfrm>
            <a:off x="609600" y="-134007"/>
            <a:ext cx="10972800" cy="1513489"/>
          </a:xfrm>
        </p:spPr>
        <p:txBody>
          <a:bodyPr/>
          <a:lstStyle/>
          <a:p>
            <a:r>
              <a:rPr lang="en-US"/>
              <a:t>CASE STUDY(</a:t>
            </a:r>
            <a:r>
              <a:rPr lang="en-US" dirty="0"/>
              <a:t>Green infrastructure in Singapore)</a:t>
            </a:r>
            <a:br>
              <a:rPr lang="en-US" dirty="0"/>
            </a:br>
            <a:endParaRPr lang="en-US" dirty="0"/>
          </a:p>
        </p:txBody>
      </p:sp>
      <p:sp>
        <p:nvSpPr>
          <p:cNvPr id="3" name="Content Placeholder 2">
            <a:extLst>
              <a:ext uri="{FF2B5EF4-FFF2-40B4-BE49-F238E27FC236}">
                <a16:creationId xmlns:a16="http://schemas.microsoft.com/office/drawing/2014/main" id="{6E48E6AB-D487-CB7F-C753-F5342637875D}"/>
              </a:ext>
            </a:extLst>
          </p:cNvPr>
          <p:cNvSpPr>
            <a:spLocks noGrp="1"/>
          </p:cNvSpPr>
          <p:nvPr>
            <p:ph idx="1"/>
          </p:nvPr>
        </p:nvSpPr>
        <p:spPr/>
        <p:txBody>
          <a:bodyPr/>
          <a:lstStyle/>
          <a:p>
            <a:pPr marL="0" indent="0">
              <a:buNone/>
            </a:pPr>
            <a:r>
              <a:rPr lang="en-US" dirty="0"/>
              <a:t>Singapore’s innovative and strategic integration of nature based solutions combats urbanization and climate change, yielding a greener resilient city.</a:t>
            </a:r>
          </a:p>
          <a:p>
            <a:pPr marL="0" indent="0">
              <a:buNone/>
            </a:pPr>
            <a:endParaRPr lang="en-US" dirty="0"/>
          </a:p>
          <a:p>
            <a:r>
              <a:rPr lang="en-US" dirty="0"/>
              <a:t>Urban diversity and green spaces</a:t>
            </a:r>
          </a:p>
          <a:p>
            <a:pPr marL="0" indent="0">
              <a:buNone/>
            </a:pPr>
            <a:endParaRPr lang="en-US" dirty="0"/>
          </a:p>
          <a:p>
            <a:r>
              <a:rPr lang="en-US" dirty="0"/>
              <a:t>Rooftop gardens and green walls</a:t>
            </a:r>
          </a:p>
          <a:p>
            <a:pPr marL="0" indent="0">
              <a:buNone/>
            </a:pPr>
            <a:endParaRPr lang="en-US" dirty="0"/>
          </a:p>
          <a:p>
            <a:r>
              <a:rPr lang="en-US" dirty="0"/>
              <a:t>Sustainable drainage systems</a:t>
            </a:r>
          </a:p>
          <a:p>
            <a:pPr marL="0" indent="0">
              <a:buNone/>
            </a:pPr>
            <a:endParaRPr lang="en-US" dirty="0"/>
          </a:p>
        </p:txBody>
      </p:sp>
      <p:sp>
        <p:nvSpPr>
          <p:cNvPr id="4" name="Slide Number Placeholder 3">
            <a:extLst>
              <a:ext uri="{FF2B5EF4-FFF2-40B4-BE49-F238E27FC236}">
                <a16:creationId xmlns:a16="http://schemas.microsoft.com/office/drawing/2014/main" id="{CC2A2DDF-C247-B6CC-D3FC-81AE5600C176}"/>
              </a:ext>
            </a:extLst>
          </p:cNvPr>
          <p:cNvSpPr>
            <a:spLocks noGrp="1"/>
          </p:cNvSpPr>
          <p:nvPr>
            <p:ph type="sldNum" sz="quarter" idx="12"/>
          </p:nvPr>
        </p:nvSpPr>
        <p:spPr/>
        <p:txBody>
          <a:bodyPr/>
          <a:lstStyle/>
          <a:p>
            <a:fld id="{9B618960-8005-486C-9A75-10CB2AAC16F9}" type="slidenum">
              <a:rPr lang="en-US" smtClean="0"/>
              <a:t>9</a:t>
            </a:fld>
            <a:endParaRPr lang="en-US"/>
          </a:p>
        </p:txBody>
      </p:sp>
    </p:spTree>
    <p:extLst>
      <p:ext uri="{BB962C8B-B14F-4D97-AF65-F5344CB8AC3E}">
        <p14:creationId xmlns:p14="http://schemas.microsoft.com/office/powerpoint/2010/main" val="30988288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13EE8B1C-8311-CC97-934C-6718C4F01E8D}"/>
              </a:ext>
            </a:extLst>
          </p:cNvPr>
          <p:cNvSpPr>
            <a:spLocks noGrp="1"/>
          </p:cNvSpPr>
          <p:nvPr>
            <p:ph type="title"/>
          </p:nvPr>
        </p:nvSpPr>
        <p:spPr>
          <a:xfrm>
            <a:off x="609600" y="0"/>
            <a:ext cx="10972800" cy="1103586"/>
          </a:xfrm>
        </p:spPr>
        <p:txBody>
          <a:bodyPr/>
          <a:lstStyle/>
          <a:p>
            <a:r>
              <a:rPr lang="en-US" dirty="0"/>
              <a:t>Green infrastructure in Singapore</a:t>
            </a:r>
            <a:br>
              <a:rPr lang="en-US" dirty="0"/>
            </a:br>
            <a:endParaRPr lang="en-US" dirty="0"/>
          </a:p>
        </p:txBody>
      </p:sp>
      <p:sp>
        <p:nvSpPr>
          <p:cNvPr id="4" name="Slide Number Placeholder 3">
            <a:extLst>
              <a:ext uri="{FF2B5EF4-FFF2-40B4-BE49-F238E27FC236}">
                <a16:creationId xmlns:a16="http://schemas.microsoft.com/office/drawing/2014/main" id="{81BFCC10-A0F2-1BB1-B024-E365E3C8D2A7}"/>
              </a:ext>
            </a:extLst>
          </p:cNvPr>
          <p:cNvSpPr>
            <a:spLocks noGrp="1"/>
          </p:cNvSpPr>
          <p:nvPr>
            <p:ph type="sldNum" sz="quarter" idx="12"/>
          </p:nvPr>
        </p:nvSpPr>
        <p:spPr/>
        <p:txBody>
          <a:bodyPr/>
          <a:lstStyle/>
          <a:p>
            <a:fld id="{9B618960-8005-486C-9A75-10CB2AAC16F9}" type="slidenum">
              <a:rPr lang="en-US" smtClean="0"/>
              <a:t>10</a:t>
            </a:fld>
            <a:endParaRPr lang="en-US"/>
          </a:p>
        </p:txBody>
      </p:sp>
      <p:pic>
        <p:nvPicPr>
          <p:cNvPr id="6" name="Content Placeholder 5">
            <a:extLst>
              <a:ext uri="{FF2B5EF4-FFF2-40B4-BE49-F238E27FC236}">
                <a16:creationId xmlns:a16="http://schemas.microsoft.com/office/drawing/2014/main" id="{52D7164F-F973-ADDA-3A3A-3430F5E15481}"/>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116732" y="1177047"/>
            <a:ext cx="5038928" cy="4319081"/>
          </a:xfrm>
        </p:spPr>
      </p:pic>
      <p:pic>
        <p:nvPicPr>
          <p:cNvPr id="8" name="Picture 7">
            <a:extLst>
              <a:ext uri="{FF2B5EF4-FFF2-40B4-BE49-F238E27FC236}">
                <a16:creationId xmlns:a16="http://schemas.microsoft.com/office/drawing/2014/main" id="{F919F6DD-D0C2-809D-F8FF-57F40CF325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24146" y="1177046"/>
            <a:ext cx="5229958" cy="4319081"/>
          </a:xfrm>
          <a:prstGeom prst="rect">
            <a:avLst/>
          </a:prstGeom>
        </p:spPr>
      </p:pic>
      <p:sp>
        <p:nvSpPr>
          <p:cNvPr id="13" name="TextBox 12">
            <a:extLst>
              <a:ext uri="{FF2B5EF4-FFF2-40B4-BE49-F238E27FC236}">
                <a16:creationId xmlns:a16="http://schemas.microsoft.com/office/drawing/2014/main" id="{901DC7D2-18A0-D88A-F4E4-A620585BE8E5}"/>
              </a:ext>
            </a:extLst>
          </p:cNvPr>
          <p:cNvSpPr txBox="1"/>
          <p:nvPr/>
        </p:nvSpPr>
        <p:spPr>
          <a:xfrm>
            <a:off x="1031130" y="5700476"/>
            <a:ext cx="1887167" cy="369332"/>
          </a:xfrm>
          <a:prstGeom prst="rect">
            <a:avLst/>
          </a:prstGeom>
          <a:noFill/>
        </p:spPr>
        <p:txBody>
          <a:bodyPr wrap="square" rtlCol="0">
            <a:spAutoFit/>
          </a:bodyPr>
          <a:lstStyle/>
          <a:p>
            <a:r>
              <a:rPr lang="en-US" b="1" dirty="0" err="1"/>
              <a:t>Supertrees</a:t>
            </a:r>
            <a:endParaRPr lang="en-US" b="1" dirty="0"/>
          </a:p>
        </p:txBody>
      </p:sp>
      <p:sp>
        <p:nvSpPr>
          <p:cNvPr id="15" name="TextBox 14">
            <a:extLst>
              <a:ext uri="{FF2B5EF4-FFF2-40B4-BE49-F238E27FC236}">
                <a16:creationId xmlns:a16="http://schemas.microsoft.com/office/drawing/2014/main" id="{4BEB9F87-3CD9-3C58-1580-A70E639EB7C5}"/>
              </a:ext>
            </a:extLst>
          </p:cNvPr>
          <p:cNvSpPr txBox="1"/>
          <p:nvPr/>
        </p:nvSpPr>
        <p:spPr>
          <a:xfrm>
            <a:off x="7700784" y="5700476"/>
            <a:ext cx="3453319" cy="369332"/>
          </a:xfrm>
          <a:prstGeom prst="rect">
            <a:avLst/>
          </a:prstGeom>
          <a:noFill/>
        </p:spPr>
        <p:txBody>
          <a:bodyPr wrap="square" rtlCol="0">
            <a:spAutoFit/>
          </a:bodyPr>
          <a:lstStyle/>
          <a:p>
            <a:r>
              <a:rPr lang="en-US" b="1" dirty="0"/>
              <a:t>Rooftop gardens</a:t>
            </a:r>
          </a:p>
        </p:txBody>
      </p:sp>
    </p:spTree>
    <p:extLst>
      <p:ext uri="{BB962C8B-B14F-4D97-AF65-F5344CB8AC3E}">
        <p14:creationId xmlns:p14="http://schemas.microsoft.com/office/powerpoint/2010/main" val="20034423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EFE77-CEAC-9224-C0C8-D2CB4F6E2AD3}"/>
              </a:ext>
            </a:extLst>
          </p:cNvPr>
          <p:cNvSpPr>
            <a:spLocks noGrp="1"/>
          </p:cNvSpPr>
          <p:nvPr>
            <p:ph type="title"/>
          </p:nvPr>
        </p:nvSpPr>
        <p:spPr/>
        <p:txBody>
          <a:bodyPr/>
          <a:lstStyle/>
          <a:p>
            <a:r>
              <a:rPr lang="en-US" dirty="0"/>
              <a:t>Green infrastructure in Singapore</a:t>
            </a:r>
          </a:p>
        </p:txBody>
      </p:sp>
      <p:sp>
        <p:nvSpPr>
          <p:cNvPr id="3" name="Slide Number Placeholder 2">
            <a:extLst>
              <a:ext uri="{FF2B5EF4-FFF2-40B4-BE49-F238E27FC236}">
                <a16:creationId xmlns:a16="http://schemas.microsoft.com/office/drawing/2014/main" id="{07889E22-89C2-F901-4676-658A32501946}"/>
              </a:ext>
            </a:extLst>
          </p:cNvPr>
          <p:cNvSpPr>
            <a:spLocks noGrp="1"/>
          </p:cNvSpPr>
          <p:nvPr>
            <p:ph type="sldNum" sz="quarter" idx="12"/>
          </p:nvPr>
        </p:nvSpPr>
        <p:spPr/>
        <p:txBody>
          <a:bodyPr/>
          <a:lstStyle/>
          <a:p>
            <a:fld id="{9B618960-8005-486C-9A75-10CB2AAC16F9}" type="slidenum">
              <a:rPr lang="en-US" smtClean="0"/>
              <a:t>11</a:t>
            </a:fld>
            <a:endParaRPr lang="en-US"/>
          </a:p>
        </p:txBody>
      </p:sp>
      <p:pic>
        <p:nvPicPr>
          <p:cNvPr id="7" name="Picture 6">
            <a:extLst>
              <a:ext uri="{FF2B5EF4-FFF2-40B4-BE49-F238E27FC236}">
                <a16:creationId xmlns:a16="http://schemas.microsoft.com/office/drawing/2014/main" id="{499D19F4-A84F-6B72-FAC3-2E9A677443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693" y="1206230"/>
            <a:ext cx="11780613" cy="4581727"/>
          </a:xfrm>
          <a:prstGeom prst="rect">
            <a:avLst/>
          </a:prstGeom>
        </p:spPr>
      </p:pic>
      <p:sp>
        <p:nvSpPr>
          <p:cNvPr id="9" name="TextBox 8">
            <a:extLst>
              <a:ext uri="{FF2B5EF4-FFF2-40B4-BE49-F238E27FC236}">
                <a16:creationId xmlns:a16="http://schemas.microsoft.com/office/drawing/2014/main" id="{7423C76A-FE94-9DAC-B46B-ECF655C4CC2C}"/>
              </a:ext>
            </a:extLst>
          </p:cNvPr>
          <p:cNvSpPr txBox="1"/>
          <p:nvPr/>
        </p:nvSpPr>
        <p:spPr>
          <a:xfrm>
            <a:off x="3638145" y="6036408"/>
            <a:ext cx="5214025" cy="369332"/>
          </a:xfrm>
          <a:prstGeom prst="rect">
            <a:avLst/>
          </a:prstGeom>
          <a:noFill/>
        </p:spPr>
        <p:txBody>
          <a:bodyPr wrap="square" rtlCol="0">
            <a:spAutoFit/>
          </a:bodyPr>
          <a:lstStyle/>
          <a:p>
            <a:r>
              <a:rPr lang="en-US" b="1" dirty="0"/>
              <a:t>Sustainable drainage systems</a:t>
            </a:r>
          </a:p>
        </p:txBody>
      </p:sp>
    </p:spTree>
    <p:extLst>
      <p:ext uri="{BB962C8B-B14F-4D97-AF65-F5344CB8AC3E}">
        <p14:creationId xmlns:p14="http://schemas.microsoft.com/office/powerpoint/2010/main" val="18786577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GB"/>
              <a:t>CHALLENGES</a:t>
            </a:r>
          </a:p>
        </p:txBody>
      </p:sp>
      <p:sp>
        <p:nvSpPr>
          <p:cNvPr id="3" name="Content Placeholder 2"/>
          <p:cNvSpPr>
            <a:spLocks noGrp="1"/>
          </p:cNvSpPr>
          <p:nvPr>
            <p:ph idx="1"/>
          </p:nvPr>
        </p:nvSpPr>
        <p:spPr/>
        <p:txBody>
          <a:bodyPr/>
          <a:lstStyle/>
          <a:p>
            <a:r>
              <a:rPr lang="en-US" altLang="en-GB"/>
              <a:t>Funding constraints</a:t>
            </a:r>
          </a:p>
          <a:p>
            <a:endParaRPr lang="en-US" altLang="en-GB"/>
          </a:p>
          <a:p>
            <a:endParaRPr lang="en-US" altLang="en-GB"/>
          </a:p>
          <a:p>
            <a:r>
              <a:rPr lang="en-US" altLang="en-GB"/>
              <a:t>Policy barriers</a:t>
            </a:r>
          </a:p>
          <a:p>
            <a:endParaRPr lang="en-US" altLang="en-GB"/>
          </a:p>
          <a:p>
            <a:endParaRPr lang="en-US" altLang="en-GB"/>
          </a:p>
          <a:p>
            <a:r>
              <a:rPr lang="en-US" altLang="en-GB"/>
              <a:t>Social awareness</a:t>
            </a:r>
          </a:p>
          <a:p>
            <a:endParaRPr lang="en-US" altLang="en-GB"/>
          </a:p>
        </p:txBody>
      </p:sp>
      <p:sp>
        <p:nvSpPr>
          <p:cNvPr id="4" name="Slide Number Placeholder 3"/>
          <p:cNvSpPr>
            <a:spLocks noGrp="1"/>
          </p:cNvSpPr>
          <p:nvPr>
            <p:ph type="sldNum" sz="quarter" idx="12"/>
          </p:nvPr>
        </p:nvSpPr>
        <p:spPr/>
        <p:txBody>
          <a:bodyPr/>
          <a:lstStyle/>
          <a:p>
            <a:fld id="{9B618960-8005-486C-9A75-10CB2AAC16F9}"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GB"/>
              <a:t>POLICIES THAT HAVE SUPPORTED NBS</a:t>
            </a:r>
          </a:p>
        </p:txBody>
      </p:sp>
      <p:sp>
        <p:nvSpPr>
          <p:cNvPr id="3" name="Content Placeholder 2"/>
          <p:cNvSpPr>
            <a:spLocks noGrp="1"/>
          </p:cNvSpPr>
          <p:nvPr>
            <p:ph idx="1"/>
          </p:nvPr>
        </p:nvSpPr>
        <p:spPr>
          <a:xfrm>
            <a:off x="609600" y="1768475"/>
            <a:ext cx="10972800" cy="4953000"/>
          </a:xfrm>
        </p:spPr>
        <p:txBody>
          <a:bodyPr/>
          <a:lstStyle/>
          <a:p>
            <a:r>
              <a:rPr lang="en-GB" altLang="en-US"/>
              <a:t>The Paris Agreement:</a:t>
            </a:r>
          </a:p>
          <a:p>
            <a:pPr marL="0" indent="0">
              <a:buNone/>
            </a:pPr>
            <a:r>
              <a:rPr lang="en-US" altLang="en-GB"/>
              <a:t>It was </a:t>
            </a:r>
            <a:r>
              <a:rPr lang="en-GB" altLang="en-US"/>
              <a:t>adopted in 2015</a:t>
            </a:r>
            <a:r>
              <a:rPr lang="en-US" altLang="en-GB"/>
              <a:t> and</a:t>
            </a:r>
            <a:r>
              <a:rPr lang="en-GB" altLang="en-US"/>
              <a:t> </a:t>
            </a:r>
            <a:r>
              <a:rPr lang="en-US" altLang="en-GB"/>
              <a:t>s</a:t>
            </a:r>
            <a:r>
              <a:rPr lang="en-GB" altLang="en-US"/>
              <a:t>igned by 196 countries.</a:t>
            </a:r>
          </a:p>
          <a:p>
            <a:pPr marL="0" indent="0">
              <a:buNone/>
            </a:pPr>
            <a:r>
              <a:rPr lang="en-GB" altLang="en-US"/>
              <a:t>Its central goal is to limit global warming to well below 2 degrees Celsius above pre-industrial levels, with efforts to limit it to 1.5 degrees Celsius.</a:t>
            </a:r>
          </a:p>
          <a:p>
            <a:pPr marL="0" indent="0">
              <a:buNone/>
            </a:pPr>
            <a:r>
              <a:rPr lang="en-GB" altLang="en-US"/>
              <a:t>The agreement promotes NBS as one of the key strategies to achieve emission reductions and enhance climate resilienc</a:t>
            </a:r>
            <a:r>
              <a:rPr lang="en-US" altLang="en-GB"/>
              <a:t>e.</a:t>
            </a:r>
          </a:p>
        </p:txBody>
      </p:sp>
      <p:sp>
        <p:nvSpPr>
          <p:cNvPr id="4" name="Slide Number Placeholder 3"/>
          <p:cNvSpPr>
            <a:spLocks noGrp="1"/>
          </p:cNvSpPr>
          <p:nvPr>
            <p:ph type="sldNum" sz="quarter" idx="12"/>
          </p:nvPr>
        </p:nvSpPr>
        <p:spPr/>
        <p:txBody>
          <a:bodyPr/>
          <a:lstStyle/>
          <a:p>
            <a:fld id="{9B618960-8005-486C-9A75-10CB2AAC16F9}"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GB"/>
              <a:t>POLICIES AND INITIATIVES</a:t>
            </a:r>
          </a:p>
        </p:txBody>
      </p:sp>
      <p:sp>
        <p:nvSpPr>
          <p:cNvPr id="3" name="Content Placeholder 2"/>
          <p:cNvSpPr>
            <a:spLocks noGrp="1"/>
          </p:cNvSpPr>
          <p:nvPr>
            <p:ph idx="1"/>
          </p:nvPr>
        </p:nvSpPr>
        <p:spPr>
          <a:xfrm>
            <a:off x="609600" y="1600200"/>
            <a:ext cx="10972800" cy="4737100"/>
          </a:xfrm>
        </p:spPr>
        <p:txBody>
          <a:bodyPr/>
          <a:lstStyle/>
          <a:p>
            <a:r>
              <a:rPr lang="en-GB" altLang="en-US"/>
              <a:t>The UN Decade on Ecosystem Restoration (2021-2030):</a:t>
            </a:r>
          </a:p>
          <a:p>
            <a:pPr marL="0" indent="0">
              <a:buNone/>
            </a:pPr>
            <a:r>
              <a:rPr lang="en-GB" altLang="en-US"/>
              <a:t>The U</a:t>
            </a:r>
            <a:r>
              <a:rPr lang="en-US" altLang="en-GB"/>
              <a:t>N </a:t>
            </a:r>
            <a:r>
              <a:rPr lang="en-GB" altLang="en-US"/>
              <a:t>declared 2021-2030 as the Decade on Ecosystem Restoration.</a:t>
            </a:r>
          </a:p>
          <a:p>
            <a:pPr marL="0" indent="0">
              <a:buNone/>
            </a:pPr>
            <a:r>
              <a:rPr lang="en-GB" altLang="en-US"/>
              <a:t>This initiative aims to ramp up global efforts in restoring ecosystems, including forests, wetlands, grasslands, and other natural habitats.</a:t>
            </a:r>
          </a:p>
          <a:p>
            <a:pPr marL="0" indent="0">
              <a:buNone/>
            </a:pPr>
            <a:r>
              <a:rPr lang="en-GB" altLang="en-US"/>
              <a:t>NBS are integral to achieving the objectives of the UN Decade by promoting sustainable land use practices and enhancing ecosystem health</a:t>
            </a:r>
            <a:r>
              <a:rPr lang="en-US" altLang="en-GB"/>
              <a:t>.</a:t>
            </a:r>
            <a:endParaRPr lang="en-GB" altLang="en-US"/>
          </a:p>
          <a:p>
            <a:endParaRPr lang="en-GB" altLang="en-US"/>
          </a:p>
        </p:txBody>
      </p:sp>
      <p:sp>
        <p:nvSpPr>
          <p:cNvPr id="4" name="Slide Number Placeholder 3"/>
          <p:cNvSpPr>
            <a:spLocks noGrp="1"/>
          </p:cNvSpPr>
          <p:nvPr>
            <p:ph type="sldNum" sz="quarter" idx="12"/>
          </p:nvPr>
        </p:nvSpPr>
        <p:spPr/>
        <p:txBody>
          <a:bodyPr/>
          <a:lstStyle/>
          <a:p>
            <a:fld id="{9B618960-8005-486C-9A75-10CB2AAC16F9}"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GB"/>
              <a:t>POLICIES AND INITIATIVES</a:t>
            </a:r>
          </a:p>
        </p:txBody>
      </p:sp>
      <p:sp>
        <p:nvSpPr>
          <p:cNvPr id="3" name="Content Placeholder 2"/>
          <p:cNvSpPr>
            <a:spLocks noGrp="1"/>
          </p:cNvSpPr>
          <p:nvPr>
            <p:ph idx="1"/>
          </p:nvPr>
        </p:nvSpPr>
        <p:spPr>
          <a:xfrm>
            <a:off x="609600" y="1623695"/>
            <a:ext cx="10972800" cy="4953000"/>
          </a:xfrm>
        </p:spPr>
        <p:txBody>
          <a:bodyPr/>
          <a:lstStyle/>
          <a:p>
            <a:r>
              <a:rPr lang="en-GB" altLang="en-US"/>
              <a:t>National and Regional Policy Frameworks:</a:t>
            </a:r>
          </a:p>
          <a:p>
            <a:pPr marL="0" indent="0">
              <a:buNone/>
            </a:pPr>
            <a:r>
              <a:rPr lang="en-GB" altLang="en-US"/>
              <a:t>Many countries and regions have developed specific policies and frameworks to promote NBS implementation.</a:t>
            </a:r>
          </a:p>
          <a:p>
            <a:pPr marL="0" indent="0">
              <a:buNone/>
            </a:pPr>
            <a:r>
              <a:rPr lang="en-GB" altLang="en-US"/>
              <a:t>These policies may include financial incentives, regulatory support, and capacity-building programs to encourage stakeholders to adopt NBS strategies</a:t>
            </a:r>
            <a:r>
              <a:rPr lang="en-US" altLang="en-GB"/>
              <a:t>.</a:t>
            </a:r>
          </a:p>
        </p:txBody>
      </p:sp>
      <p:sp>
        <p:nvSpPr>
          <p:cNvPr id="4" name="Slide Number Placeholder 3"/>
          <p:cNvSpPr>
            <a:spLocks noGrp="1"/>
          </p:cNvSpPr>
          <p:nvPr>
            <p:ph type="sldNum" sz="quarter" idx="12"/>
          </p:nvPr>
        </p:nvSpPr>
        <p:spPr/>
        <p:txBody>
          <a:bodyPr/>
          <a:lstStyle/>
          <a:p>
            <a:fld id="{9B618960-8005-486C-9A75-10CB2AAC16F9}" type="slidenum">
              <a:rPr lang="en-US" smtClean="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GB"/>
              <a:t>POLICIES AND INiTIATIVES</a:t>
            </a:r>
          </a:p>
        </p:txBody>
      </p:sp>
      <p:sp>
        <p:nvSpPr>
          <p:cNvPr id="3" name="Content Placeholder 2"/>
          <p:cNvSpPr>
            <a:spLocks noGrp="1"/>
          </p:cNvSpPr>
          <p:nvPr>
            <p:ph idx="1"/>
          </p:nvPr>
        </p:nvSpPr>
        <p:spPr>
          <a:xfrm>
            <a:off x="745490" y="1774825"/>
            <a:ext cx="10972800" cy="5083175"/>
          </a:xfrm>
        </p:spPr>
        <p:txBody>
          <a:bodyPr/>
          <a:lstStyle/>
          <a:p>
            <a:r>
              <a:rPr lang="en-GB" altLang="en-US"/>
              <a:t>Corporate and Non-Governmental Initiatives:</a:t>
            </a:r>
          </a:p>
          <a:p>
            <a:pPr marL="0" indent="0">
              <a:buNone/>
            </a:pPr>
            <a:r>
              <a:rPr lang="en-GB" altLang="en-US"/>
              <a:t>Corporations and non-governmental organizations (NGOs) are actively taking part in supporting and implementing NBS.</a:t>
            </a:r>
          </a:p>
          <a:p>
            <a:pPr marL="0" indent="0">
              <a:buNone/>
            </a:pPr>
            <a:r>
              <a:rPr lang="en-GB" altLang="en-US"/>
              <a:t>Companies are integrating nature-based approaches into their sustainability strategies, while NGOs often lead local restoration projects and awareness campaigns.</a:t>
            </a:r>
          </a:p>
          <a:p>
            <a:pPr marL="0" indent="0">
              <a:buNone/>
            </a:pPr>
            <a:endParaRPr lang="en-GB" altLang="en-US"/>
          </a:p>
        </p:txBody>
      </p:sp>
      <p:sp>
        <p:nvSpPr>
          <p:cNvPr id="4" name="Slide Number Placeholder 3"/>
          <p:cNvSpPr>
            <a:spLocks noGrp="1"/>
          </p:cNvSpPr>
          <p:nvPr>
            <p:ph type="sldNum" sz="quarter" idx="12"/>
          </p:nvPr>
        </p:nvSpPr>
        <p:spPr/>
        <p:txBody>
          <a:bodyPr/>
          <a:lstStyle/>
          <a:p>
            <a:fld id="{9B618960-8005-486C-9A75-10CB2AAC16F9}" type="slidenum">
              <a:rPr lang="en-US" smtClean="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GB"/>
              <a:t>POLICIES AND INITIATIVES</a:t>
            </a:r>
          </a:p>
        </p:txBody>
      </p:sp>
      <p:sp>
        <p:nvSpPr>
          <p:cNvPr id="3" name="Content Placeholder 2"/>
          <p:cNvSpPr>
            <a:spLocks noGrp="1"/>
          </p:cNvSpPr>
          <p:nvPr>
            <p:ph idx="1"/>
          </p:nvPr>
        </p:nvSpPr>
        <p:spPr/>
        <p:txBody>
          <a:bodyPr/>
          <a:lstStyle/>
          <a:p>
            <a:r>
              <a:rPr lang="en-US" altLang="en-GB"/>
              <a:t>Engaging communities</a:t>
            </a:r>
          </a:p>
          <a:p>
            <a:pPr marL="0" indent="0">
              <a:buNone/>
            </a:pPr>
            <a:r>
              <a:rPr lang="en-US" altLang="en-GB"/>
              <a:t>Engaging local communities is vital for the success of NBS. Ways by which this can be done include:</a:t>
            </a:r>
          </a:p>
          <a:p>
            <a:pPr marL="0" indent="0">
              <a:buNone/>
            </a:pPr>
            <a:r>
              <a:rPr lang="en-US" altLang="en-GB"/>
              <a:t>Community-led Reforestation Projects</a:t>
            </a:r>
          </a:p>
          <a:p>
            <a:pPr marL="0" indent="0">
              <a:buNone/>
            </a:pPr>
            <a:r>
              <a:rPr lang="en-US" altLang="en-GB"/>
              <a:t>Participatory Wetland Restoration Initiatives</a:t>
            </a:r>
          </a:p>
          <a:p>
            <a:pPr marL="0" indent="0">
              <a:buNone/>
            </a:pPr>
            <a:r>
              <a:rPr lang="en-US" altLang="en-GB"/>
              <a:t>Urban Greening Programs with Citizen Involvement</a:t>
            </a:r>
          </a:p>
          <a:p>
            <a:pPr marL="0" indent="0">
              <a:buNone/>
            </a:pPr>
            <a:endParaRPr lang="en-US" altLang="en-GB"/>
          </a:p>
        </p:txBody>
      </p:sp>
      <p:sp>
        <p:nvSpPr>
          <p:cNvPr id="4" name="Slide Number Placeholder 3"/>
          <p:cNvSpPr>
            <a:spLocks noGrp="1"/>
          </p:cNvSpPr>
          <p:nvPr>
            <p:ph type="sldNum" sz="quarter" idx="12"/>
          </p:nvPr>
        </p:nvSpPr>
        <p:spPr/>
        <p:txBody>
          <a:bodyPr/>
          <a:lstStyle/>
          <a:p>
            <a:fld id="{9B618960-8005-486C-9A75-10CB2AAC16F9}" type="slidenum">
              <a:rPr lang="en-US"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GB"/>
              <a:t>CONCLUSION</a:t>
            </a:r>
          </a:p>
        </p:txBody>
      </p:sp>
      <p:sp>
        <p:nvSpPr>
          <p:cNvPr id="3" name="Content Placeholder 2"/>
          <p:cNvSpPr>
            <a:spLocks noGrp="1"/>
          </p:cNvSpPr>
          <p:nvPr>
            <p:ph idx="1"/>
          </p:nvPr>
        </p:nvSpPr>
        <p:spPr>
          <a:xfrm>
            <a:off x="609600" y="2112645"/>
            <a:ext cx="10972800" cy="2852420"/>
          </a:xfrm>
        </p:spPr>
        <p:txBody>
          <a:bodyPr/>
          <a:lstStyle/>
          <a:p>
            <a:r>
              <a:rPr lang="en-GB" altLang="en-US"/>
              <a:t>Nature-based Solutions offer a sustainable and effective approach to combat climate change, while promoting biodiversity and supporting human well-being. Embracing NBS will lead us towards a more resilient and greener future for generations to come.</a:t>
            </a:r>
          </a:p>
        </p:txBody>
      </p:sp>
      <p:sp>
        <p:nvSpPr>
          <p:cNvPr id="4" name="Slide Number Placeholder 3"/>
          <p:cNvSpPr>
            <a:spLocks noGrp="1"/>
          </p:cNvSpPr>
          <p:nvPr>
            <p:ph type="sldNum" sz="quarter" idx="12"/>
          </p:nvPr>
        </p:nvSpPr>
        <p:spPr/>
        <p:txBody>
          <a:bodyPr/>
          <a:lstStyle/>
          <a:p>
            <a:fld id="{9B618960-8005-486C-9A75-10CB2AAC16F9}" type="slidenum">
              <a:rPr lang="en-US" smtClean="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GB"/>
              <a:t>REFERENCES</a:t>
            </a:r>
          </a:p>
        </p:txBody>
      </p:sp>
      <p:sp>
        <p:nvSpPr>
          <p:cNvPr id="3" name="Content Placeholder 2"/>
          <p:cNvSpPr>
            <a:spLocks noGrp="1"/>
          </p:cNvSpPr>
          <p:nvPr>
            <p:ph idx="1"/>
          </p:nvPr>
        </p:nvSpPr>
        <p:spPr>
          <a:xfrm>
            <a:off x="609600" y="1174750"/>
            <a:ext cx="10972800" cy="5215255"/>
          </a:xfrm>
        </p:spPr>
        <p:txBody>
          <a:bodyPr/>
          <a:lstStyle/>
          <a:p>
            <a:r>
              <a:rPr lang="en-GB" altLang="en-US"/>
              <a:t>"Nature-Based Solutions - European Commission". Archived from the original on 23 September 2019. Retrieved 10 December 2019.</a:t>
            </a:r>
          </a:p>
          <a:p>
            <a:r>
              <a:rPr lang="en-GB" altLang="en-US"/>
              <a:t> Wild, Tom; Freitas, Tiago; Vandewoestijne, Sofie (2020). Nature-based Solutions - State of the Art in EU-funded Projects (PDF). Archived (PDF) from the original on 11 January 2021. Retrieved 11 January 2021.</a:t>
            </a:r>
          </a:p>
          <a:p>
            <a:r>
              <a:rPr lang="en-GB" altLang="en-US"/>
              <a:t> Eggermont, Hilde; Balian, Estelle; Azevedo, José Manuel N.; Beumer, Victor; Brodin, Tomas; Claudet, Joachim; ed 5 September 2021</a:t>
            </a:r>
          </a:p>
        </p:txBody>
      </p:sp>
      <p:sp>
        <p:nvSpPr>
          <p:cNvPr id="4" name="Slide Number Placeholder 3"/>
          <p:cNvSpPr>
            <a:spLocks noGrp="1"/>
          </p:cNvSpPr>
          <p:nvPr>
            <p:ph type="sldNum" sz="quarter" idx="12"/>
          </p:nvPr>
        </p:nvSpPr>
        <p:spPr/>
        <p:txBody>
          <a:bodyPr/>
          <a:lstStyle/>
          <a:p>
            <a:fld id="{9B618960-8005-486C-9A75-10CB2AAC16F9}" type="slidenum">
              <a:rPr lang="en-US" smtClean="0"/>
              <a:t>19</a:t>
            </a:fld>
            <a:endParaRPr lang="en-US"/>
          </a:p>
        </p:txBody>
      </p:sp>
    </p:spTree>
  </p:cSld>
  <p:clrMapOvr>
    <a:masterClrMapping/>
  </p:clrMapOvr>
</p:sld>
</file>

<file path=ppt/theme/theme1.xml><?xml version="1.0" encoding="utf-8"?>
<a:theme xmlns:a="http://schemas.openxmlformats.org/drawingml/2006/main" name="Data Pie Charts">
  <a:themeElements>
    <a:clrScheme name="Data Pie Charts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fontScheme name="Data Pie Chart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Data Pie Chart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ata Pie Chart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ata Pie Chart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ata Pie Chart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ata Pie Chart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ata Pie Chart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ata Pie Chart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ata Pie Chart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ata Pie Chart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ata Pie Chart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ata Pie Chart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ata Pie Chart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ata Pie Charts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TotalTime>
  <Words>662</Words>
  <Application>Microsoft Office PowerPoint</Application>
  <PresentationFormat>Widescreen</PresentationFormat>
  <Paragraphs>108</Paragraphs>
  <Slides>19</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Data Pie Charts</vt:lpstr>
      <vt:lpstr>NATURE BASED SOLUTIONS FOR CLIMATE CHANGE</vt:lpstr>
      <vt:lpstr>OUTLINE</vt:lpstr>
      <vt:lpstr>INTRODUCTION</vt:lpstr>
      <vt:lpstr>WHAT IS NBS?</vt:lpstr>
      <vt:lpstr>TYPES OF NATURE-BASED SOLUTIONS</vt:lpstr>
      <vt:lpstr>TYPES OF NATURE-BASED SOLUTIONS</vt:lpstr>
      <vt:lpstr>TYPES OF NATURE-BASED SOLUTIONS</vt:lpstr>
      <vt:lpstr>BENEFITS</vt:lpstr>
      <vt:lpstr>CASE STUDY(Green infrastructure in Singapore) </vt:lpstr>
      <vt:lpstr>Green infrastructure in Singapore </vt:lpstr>
      <vt:lpstr>Green infrastructure in Singapore</vt:lpstr>
      <vt:lpstr>CHALLENGES</vt:lpstr>
      <vt:lpstr>POLICIES THAT HAVE SUPPORTED NBS</vt:lpstr>
      <vt:lpstr>POLICIES AND INITIATIVES</vt:lpstr>
      <vt:lpstr>POLICIES AND INITIATIVES</vt:lpstr>
      <vt:lpstr>POLICIES AND INiTIATIVES</vt:lpstr>
      <vt:lpstr>POLICIES AND INITIATIVES</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NATURE BASED SOLUTIONS FOR CLIMATE CHANGE</dc:title>
  <dc:creator/>
  <cp:lastModifiedBy>Hellen Cudjoe</cp:lastModifiedBy>
  <cp:revision>3</cp:revision>
  <dcterms:created xsi:type="dcterms:W3CDTF">2023-07-25T15:25:38Z</dcterms:created>
  <dcterms:modified xsi:type="dcterms:W3CDTF">2023-07-26T12:05:02Z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83CD2C720CCD4A07B68B7EEDFED460D9</vt:lpwstr>
  </property>
  <property fmtid="{D5CDD505-2E9C-101B-9397-08002B2CF9AE}" pid="3" name="KSOProductBuildVer">
    <vt:lpwstr>2057-11.2.0.11537</vt:lpwstr>
  </property>
</Properties>
</file>