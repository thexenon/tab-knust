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64" r:id="rId4"/>
    <p:sldId id="266" r:id="rId5"/>
    <p:sldId id="262" r:id="rId6"/>
    <p:sldId id="259" r:id="rId7"/>
    <p:sldId id="263" r:id="rId8"/>
    <p:sldId id="260"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89" d="100"/>
          <a:sy n="89" d="100"/>
        </p:scale>
        <p:origin x="46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94758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58401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2593255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AE80FE-D916-487F-AFA6-FA66A4F5EA37}" type="datetimeFigureOut">
              <a:rPr lang="en-US" smtClean="0"/>
              <a:t>7/24/2023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022093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AE80FE-D916-487F-AFA6-FA66A4F5EA37}" type="datetimeFigureOut">
              <a:rPr lang="en-US" smtClean="0"/>
              <a:t>7/24/2023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68819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AE80FE-D916-487F-AFA6-FA66A4F5EA37}" type="datetimeFigureOut">
              <a:rPr lang="en-US" smtClean="0"/>
              <a:t>7/24/2023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447061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AE80FE-D916-487F-AFA6-FA66A4F5EA37}" type="datetimeFigureOut">
              <a:rPr lang="en-US" smtClean="0"/>
              <a:t>7/24/2023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756114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AE80FE-D916-487F-AFA6-FA66A4F5EA37}" type="datetimeFigureOut">
              <a:rPr lang="en-US" smtClean="0"/>
              <a:t>7/24/2023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423113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AE80FE-D916-487F-AFA6-FA66A4F5EA37}" type="datetimeFigureOut">
              <a:rPr lang="en-US" smtClean="0"/>
              <a:t>7/24/2023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980643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AE80FE-D916-487F-AFA6-FA66A4F5EA37}" type="datetimeFigureOut">
              <a:rPr lang="en-US" smtClean="0"/>
              <a:t>7/24/2023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224494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2683298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3483171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112660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448622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4002988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3067435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AE80FE-D916-487F-AFA6-FA66A4F5EA37}" type="datetimeFigureOut">
              <a:rPr lang="en-US" smtClean="0"/>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BD938E-E0F5-4BFF-92B7-39E14876E1A2}" type="slidenum">
              <a:rPr lang="en-US" smtClean="0"/>
              <a:t>‹#›</a:t>
            </a:fld>
            <a:endParaRPr lang="en-US"/>
          </a:p>
        </p:txBody>
      </p:sp>
    </p:spTree>
    <p:extLst>
      <p:ext uri="{BB962C8B-B14F-4D97-AF65-F5344CB8AC3E}">
        <p14:creationId xmlns:p14="http://schemas.microsoft.com/office/powerpoint/2010/main" val="2158329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CAE80FE-D916-487F-AFA6-FA66A4F5EA37}" type="datetimeFigureOut">
              <a:rPr lang="en-US" smtClean="0"/>
              <a:t>7/24/2023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FBD938E-E0F5-4BFF-92B7-39E14876E1A2}" type="slidenum">
              <a:rPr lang="en-US" smtClean="0"/>
              <a:t>‹#›</a:t>
            </a:fld>
            <a:endParaRPr lang="en-US"/>
          </a:p>
        </p:txBody>
      </p:sp>
    </p:spTree>
    <p:extLst>
      <p:ext uri="{BB962C8B-B14F-4D97-AF65-F5344CB8AC3E}">
        <p14:creationId xmlns:p14="http://schemas.microsoft.com/office/powerpoint/2010/main" val="2995382120"/>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6200-690F-21FA-C313-3EB9BDA12621}"/>
              </a:ext>
            </a:extLst>
          </p:cNvPr>
          <p:cNvSpPr>
            <a:spLocks noGrp="1"/>
          </p:cNvSpPr>
          <p:nvPr>
            <p:ph type="ctrTitle"/>
          </p:nvPr>
        </p:nvSpPr>
        <p:spPr>
          <a:xfrm>
            <a:off x="2497081" y="1621607"/>
            <a:ext cx="8574622" cy="2616199"/>
          </a:xfrm>
        </p:spPr>
        <p:txBody>
          <a:bodyPr>
            <a:noAutofit/>
          </a:bodyPr>
          <a:lstStyle/>
          <a:p>
            <a:r>
              <a:rPr lang="en-US" sz="6600" b="1" dirty="0"/>
              <a:t>BARRIERS TO NATURAL RESOURCE CONSERVATION IN GHANA</a:t>
            </a:r>
          </a:p>
        </p:txBody>
      </p:sp>
      <p:sp>
        <p:nvSpPr>
          <p:cNvPr id="3" name="Subtitle 2">
            <a:extLst>
              <a:ext uri="{FF2B5EF4-FFF2-40B4-BE49-F238E27FC236}">
                <a16:creationId xmlns:a16="http://schemas.microsoft.com/office/drawing/2014/main" id="{26FD6F74-B344-2E2F-004A-AF82F3D5BD8F}"/>
              </a:ext>
            </a:extLst>
          </p:cNvPr>
          <p:cNvSpPr>
            <a:spLocks noGrp="1"/>
          </p:cNvSpPr>
          <p:nvPr>
            <p:ph type="subTitle" idx="1"/>
          </p:nvPr>
        </p:nvSpPr>
        <p:spPr>
          <a:xfrm>
            <a:off x="1524000" y="4810124"/>
            <a:ext cx="9144000" cy="1343025"/>
          </a:xfrm>
        </p:spPr>
        <p:txBody>
          <a:bodyPr>
            <a:normAutofit/>
          </a:bodyPr>
          <a:lstStyle/>
          <a:p>
            <a:r>
              <a:rPr lang="en-US" sz="4000" b="1" dirty="0"/>
              <a:t>GROUP 20</a:t>
            </a:r>
          </a:p>
        </p:txBody>
      </p:sp>
    </p:spTree>
    <p:extLst>
      <p:ext uri="{BB962C8B-B14F-4D97-AF65-F5344CB8AC3E}">
        <p14:creationId xmlns:p14="http://schemas.microsoft.com/office/powerpoint/2010/main" val="729141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AC2C6-FB06-3B3F-5D5D-CC2CFCFBAF94}"/>
              </a:ext>
            </a:extLst>
          </p:cNvPr>
          <p:cNvSpPr>
            <a:spLocks noGrp="1"/>
          </p:cNvSpPr>
          <p:nvPr>
            <p:ph type="title"/>
          </p:nvPr>
        </p:nvSpPr>
        <p:spPr>
          <a:xfrm>
            <a:off x="1484311" y="352426"/>
            <a:ext cx="10018713" cy="857249"/>
          </a:xfrm>
        </p:spPr>
        <p:txBody>
          <a:bodyPr/>
          <a:lstStyle/>
          <a:p>
            <a:r>
              <a:rPr lang="en-US" dirty="0"/>
              <a:t>OUTLINE</a:t>
            </a:r>
          </a:p>
        </p:txBody>
      </p:sp>
      <p:sp>
        <p:nvSpPr>
          <p:cNvPr id="3" name="Content Placeholder 2">
            <a:extLst>
              <a:ext uri="{FF2B5EF4-FFF2-40B4-BE49-F238E27FC236}">
                <a16:creationId xmlns:a16="http://schemas.microsoft.com/office/drawing/2014/main" id="{6BFFAF2C-D442-FBBA-A5DA-FDD80A97AF2A}"/>
              </a:ext>
            </a:extLst>
          </p:cNvPr>
          <p:cNvSpPr>
            <a:spLocks noGrp="1"/>
          </p:cNvSpPr>
          <p:nvPr>
            <p:ph idx="1"/>
          </p:nvPr>
        </p:nvSpPr>
        <p:spPr>
          <a:xfrm>
            <a:off x="1484310" y="1943101"/>
            <a:ext cx="10018713" cy="3848100"/>
          </a:xfrm>
        </p:spPr>
        <p:txBody>
          <a:bodyPr>
            <a:noAutofit/>
          </a:bodyPr>
          <a:lstStyle/>
          <a:p>
            <a:r>
              <a:rPr lang="en-US" dirty="0"/>
              <a:t>Introduction</a:t>
            </a:r>
          </a:p>
          <a:p>
            <a:endParaRPr lang="en-US" dirty="0"/>
          </a:p>
          <a:p>
            <a:r>
              <a:rPr lang="en-US" dirty="0"/>
              <a:t>Overview of natural resource conservation in Ghana</a:t>
            </a:r>
          </a:p>
          <a:p>
            <a:endParaRPr lang="en-US" dirty="0"/>
          </a:p>
          <a:p>
            <a:r>
              <a:rPr lang="en-US" dirty="0"/>
              <a:t>Barriers to natural resource conservation in Ghana</a:t>
            </a:r>
          </a:p>
          <a:p>
            <a:endParaRPr lang="en-US" dirty="0"/>
          </a:p>
          <a:p>
            <a:r>
              <a:rPr lang="en-US" dirty="0"/>
              <a:t>Impacts of barriers to natural resource  conservation</a:t>
            </a:r>
          </a:p>
          <a:p>
            <a:endParaRPr lang="en-US" dirty="0"/>
          </a:p>
          <a:p>
            <a:r>
              <a:rPr lang="en-US" dirty="0"/>
              <a:t>Solutions and recommendations</a:t>
            </a:r>
          </a:p>
          <a:p>
            <a:endParaRPr lang="en-US" dirty="0"/>
          </a:p>
          <a:p>
            <a:r>
              <a:rPr lang="en-US" dirty="0"/>
              <a:t>Conclusion</a:t>
            </a:r>
          </a:p>
        </p:txBody>
      </p:sp>
    </p:spTree>
    <p:extLst>
      <p:ext uri="{BB962C8B-B14F-4D97-AF65-F5344CB8AC3E}">
        <p14:creationId xmlns:p14="http://schemas.microsoft.com/office/powerpoint/2010/main" val="2860052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D7FD6-ADF3-0B75-9C70-27AE2F1B22B9}"/>
              </a:ext>
            </a:extLst>
          </p:cNvPr>
          <p:cNvSpPr>
            <a:spLocks noGrp="1"/>
          </p:cNvSpPr>
          <p:nvPr>
            <p:ph type="title"/>
          </p:nvPr>
        </p:nvSpPr>
        <p:spPr/>
        <p:txBody>
          <a:bodyPr/>
          <a:lstStyle/>
          <a:p>
            <a:r>
              <a:rPr lang="en-US" b="1" dirty="0"/>
              <a:t>WHAT IS CONSERVATION??</a:t>
            </a:r>
          </a:p>
        </p:txBody>
      </p:sp>
      <p:sp>
        <p:nvSpPr>
          <p:cNvPr id="3" name="Content Placeholder 2">
            <a:extLst>
              <a:ext uri="{FF2B5EF4-FFF2-40B4-BE49-F238E27FC236}">
                <a16:creationId xmlns:a16="http://schemas.microsoft.com/office/drawing/2014/main" id="{9519C451-1CCB-2B2F-F322-651C56DCE1DE}"/>
              </a:ext>
            </a:extLst>
          </p:cNvPr>
          <p:cNvSpPr>
            <a:spLocks noGrp="1"/>
          </p:cNvSpPr>
          <p:nvPr>
            <p:ph idx="1"/>
          </p:nvPr>
        </p:nvSpPr>
        <p:spPr>
          <a:xfrm>
            <a:off x="838200" y="866775"/>
            <a:ext cx="10515600" cy="6472238"/>
          </a:xfrm>
        </p:spPr>
        <p:txBody>
          <a:bodyPr/>
          <a:lstStyle/>
          <a:p>
            <a:pPr marL="0" marR="0" indent="0">
              <a:lnSpc>
                <a:spcPct val="107000"/>
              </a:lnSpc>
              <a:spcBef>
                <a:spcPts val="0"/>
              </a:spcBef>
              <a:spcAft>
                <a:spcPts val="800"/>
              </a:spcAft>
              <a:buNone/>
            </a:pPr>
            <a:r>
              <a:rPr lang="en-GB" kern="100" dirty="0">
                <a:latin typeface="Calibri" panose="020F0502020204030204" pitchFamily="34" charset="0"/>
                <a:ea typeface="Times New Roman" panose="02020603050405020304" pitchFamily="18" charset="0"/>
                <a:cs typeface="Times New Roman" panose="02020603050405020304" pitchFamily="18" charset="0"/>
              </a:rPr>
              <a:t>C</a:t>
            </a:r>
            <a:r>
              <a:rPr lang="en-GB" sz="2800" kern="100" dirty="0">
                <a:effectLst/>
                <a:latin typeface="Calibri" panose="020F0502020204030204" pitchFamily="34" charset="0"/>
                <a:ea typeface="Times New Roman" panose="02020603050405020304" pitchFamily="18" charset="0"/>
                <a:cs typeface="Times New Roman" panose="02020603050405020304" pitchFamily="18" charset="0"/>
              </a:rPr>
              <a:t>onservation of natural resources is the sustainable management, protection, and preservation of Earth's valuable resources to ensure their long-term availability for future generations. It involves adopting practices that balance human needs with the need to maintain ecological integrity, biodiversity, and the overall health of the planet.</a:t>
            </a:r>
            <a:endParaRPr lang="en-US" sz="2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3068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E21442-8F2E-B0DF-334F-614376277297}"/>
              </a:ext>
            </a:extLst>
          </p:cNvPr>
          <p:cNvSpPr>
            <a:spLocks noGrp="1"/>
          </p:cNvSpPr>
          <p:nvPr>
            <p:ph type="title"/>
          </p:nvPr>
        </p:nvSpPr>
        <p:spPr/>
        <p:txBody>
          <a:bodyPr>
            <a:normAutofit fontScale="90000"/>
          </a:bodyPr>
          <a:lstStyle/>
          <a:p>
            <a:r>
              <a:rPr lang="en-GB" dirty="0">
                <a:solidFill>
                  <a:srgbClr val="000000"/>
                </a:solidFill>
                <a:latin typeface="arial" panose="020B0604020202020204" pitchFamily="34" charset="0"/>
              </a:rPr>
              <a:t>MAJOR NATURAL RESOURCES OF GHANA</a:t>
            </a:r>
            <a:br>
              <a:rPr lang="en-GB" b="1" i="0" dirty="0">
                <a:solidFill>
                  <a:srgbClr val="000000"/>
                </a:solidFill>
                <a:effectLst/>
                <a:latin typeface="arial" panose="020B0604020202020204" pitchFamily="34" charset="0"/>
              </a:rPr>
            </a:br>
            <a:endParaRPr lang="en-GB" dirty="0"/>
          </a:p>
        </p:txBody>
      </p:sp>
      <p:sp>
        <p:nvSpPr>
          <p:cNvPr id="5" name="Content Placeholder 4">
            <a:extLst>
              <a:ext uri="{FF2B5EF4-FFF2-40B4-BE49-F238E27FC236}">
                <a16:creationId xmlns:a16="http://schemas.microsoft.com/office/drawing/2014/main" id="{927F0B41-D993-4E99-451D-4C048AE60535}"/>
              </a:ext>
            </a:extLst>
          </p:cNvPr>
          <p:cNvSpPr>
            <a:spLocks noGrp="1"/>
          </p:cNvSpPr>
          <p:nvPr>
            <p:ph idx="1"/>
          </p:nvPr>
        </p:nvSpPr>
        <p:spPr/>
        <p:txBody>
          <a:bodyPr>
            <a:normAutofit fontScale="70000" lnSpcReduction="20000"/>
          </a:bodyPr>
          <a:lstStyle/>
          <a:p>
            <a:r>
              <a:rPr lang="en-GB" sz="5200" dirty="0">
                <a:solidFill>
                  <a:srgbClr val="000000"/>
                </a:solidFill>
              </a:rPr>
              <a:t>ARABLE LAND</a:t>
            </a:r>
            <a:endParaRPr lang="en-GB" sz="5200" i="0" dirty="0">
              <a:solidFill>
                <a:srgbClr val="000000"/>
              </a:solidFill>
              <a:effectLst/>
            </a:endParaRPr>
          </a:p>
          <a:p>
            <a:r>
              <a:rPr lang="en-GB" sz="5200" i="0" dirty="0">
                <a:solidFill>
                  <a:srgbClr val="000000"/>
                </a:solidFill>
                <a:effectLst/>
              </a:rPr>
              <a:t>COCOA</a:t>
            </a:r>
          </a:p>
          <a:p>
            <a:r>
              <a:rPr lang="en-GB" sz="5200" i="0" dirty="0">
                <a:solidFill>
                  <a:srgbClr val="000000"/>
                </a:solidFill>
                <a:effectLst/>
              </a:rPr>
              <a:t>FOREST</a:t>
            </a:r>
          </a:p>
          <a:p>
            <a:r>
              <a:rPr lang="en-GB" sz="5200" i="0" dirty="0">
                <a:solidFill>
                  <a:srgbClr val="000000"/>
                </a:solidFill>
                <a:effectLst/>
              </a:rPr>
              <a:t>MINERALS</a:t>
            </a:r>
          </a:p>
          <a:p>
            <a:r>
              <a:rPr lang="en-GB" sz="5200" dirty="0">
                <a:solidFill>
                  <a:srgbClr val="000000"/>
                </a:solidFill>
              </a:rPr>
              <a:t>PETROLEUM</a:t>
            </a:r>
            <a:endParaRPr lang="en-GB" dirty="0"/>
          </a:p>
        </p:txBody>
      </p:sp>
    </p:spTree>
    <p:extLst>
      <p:ext uri="{BB962C8B-B14F-4D97-AF65-F5344CB8AC3E}">
        <p14:creationId xmlns:p14="http://schemas.microsoft.com/office/powerpoint/2010/main" val="2706013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2FF35-3EDC-EB39-F0B7-D05AE06EADA6}"/>
              </a:ext>
            </a:extLst>
          </p:cNvPr>
          <p:cNvSpPr>
            <a:spLocks noGrp="1"/>
          </p:cNvSpPr>
          <p:nvPr>
            <p:ph type="title"/>
          </p:nvPr>
        </p:nvSpPr>
        <p:spPr/>
        <p:txBody>
          <a:bodyPr>
            <a:normAutofit fontScale="90000"/>
          </a:bodyPr>
          <a:lstStyle/>
          <a:p>
            <a:pPr marL="0" marR="0">
              <a:lnSpc>
                <a:spcPct val="107000"/>
              </a:lnSpc>
              <a:spcBef>
                <a:spcPts val="0"/>
              </a:spcBef>
              <a:spcAft>
                <a:spcPts val="800"/>
              </a:spcAft>
            </a:pPr>
            <a:r>
              <a:rPr lang="en-GB" sz="4400" kern="100" dirty="0">
                <a:effectLst/>
                <a:latin typeface="Calibri" panose="020F0502020204030204" pitchFamily="34" charset="0"/>
                <a:ea typeface="Times New Roman" panose="02020603050405020304" pitchFamily="18" charset="0"/>
                <a:cs typeface="Times New Roman" panose="02020603050405020304" pitchFamily="18" charset="0"/>
              </a:rPr>
              <a:t>BARRIERS TO NATURAL RESOURCE CONSERVATION </a:t>
            </a:r>
            <a:br>
              <a:rPr lang="en-US" sz="4400" kern="1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BE4BB52-C329-C713-FAA2-3C7D80068EE5}"/>
              </a:ext>
            </a:extLst>
          </p:cNvPr>
          <p:cNvSpPr>
            <a:spLocks noGrp="1"/>
          </p:cNvSpPr>
          <p:nvPr>
            <p:ph idx="1"/>
          </p:nvPr>
        </p:nvSpPr>
        <p:spPr/>
        <p:txBody>
          <a:bodyPr>
            <a:normAutofit/>
          </a:bodyPr>
          <a:lstStyle/>
          <a:p>
            <a:r>
              <a:rPr lang="en-US" sz="4000" dirty="0"/>
              <a:t>LACK OF AWARNESS AND EDUCATION</a:t>
            </a:r>
          </a:p>
          <a:p>
            <a:r>
              <a:rPr lang="en-US" sz="4000" dirty="0"/>
              <a:t>CLIMATE CHANGE</a:t>
            </a:r>
          </a:p>
          <a:p>
            <a:r>
              <a:rPr lang="en-US" sz="4000" dirty="0"/>
              <a:t>LACK OF FUNDING AND RESOURCES</a:t>
            </a:r>
          </a:p>
          <a:p>
            <a:r>
              <a:rPr lang="en-US" sz="4000" dirty="0"/>
              <a:t>ECONOMIC INTERESTS</a:t>
            </a:r>
          </a:p>
        </p:txBody>
      </p:sp>
    </p:spTree>
    <p:extLst>
      <p:ext uri="{BB962C8B-B14F-4D97-AF65-F5344CB8AC3E}">
        <p14:creationId xmlns:p14="http://schemas.microsoft.com/office/powerpoint/2010/main" val="2787148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7A0B-C77F-378A-CFAB-1A9E93D41468}"/>
              </a:ext>
            </a:extLst>
          </p:cNvPr>
          <p:cNvSpPr>
            <a:spLocks noGrp="1"/>
          </p:cNvSpPr>
          <p:nvPr>
            <p:ph type="title"/>
          </p:nvPr>
        </p:nvSpPr>
        <p:spPr/>
        <p:txBody>
          <a:bodyPr/>
          <a:lstStyle/>
          <a:p>
            <a:r>
              <a:rPr lang="en-US" dirty="0"/>
              <a:t>SOME IMPACTS OF BARRIER TO NATURAL RESOURCES</a:t>
            </a:r>
          </a:p>
        </p:txBody>
      </p:sp>
      <p:sp>
        <p:nvSpPr>
          <p:cNvPr id="3" name="Content Placeholder 2">
            <a:extLst>
              <a:ext uri="{FF2B5EF4-FFF2-40B4-BE49-F238E27FC236}">
                <a16:creationId xmlns:a16="http://schemas.microsoft.com/office/drawing/2014/main" id="{6646B167-547A-8E76-A88D-F9142B8E4AD2}"/>
              </a:ext>
            </a:extLst>
          </p:cNvPr>
          <p:cNvSpPr>
            <a:spLocks noGrp="1"/>
          </p:cNvSpPr>
          <p:nvPr>
            <p:ph idx="1"/>
          </p:nvPr>
        </p:nvSpPr>
        <p:spPr>
          <a:xfrm>
            <a:off x="838200" y="1844675"/>
            <a:ext cx="10515600" cy="4351338"/>
          </a:xfrm>
        </p:spPr>
        <p:txBody>
          <a:bodyPr>
            <a:normAutofit/>
          </a:bodyPr>
          <a:lstStyle/>
          <a:p>
            <a:r>
              <a:rPr lang="en-US" sz="4400" dirty="0"/>
              <a:t>LOSS OF BIODIVERSITY</a:t>
            </a:r>
          </a:p>
          <a:p>
            <a:r>
              <a:rPr lang="en-US" sz="4400" dirty="0"/>
              <a:t>SOIL AND LAND EROSION</a:t>
            </a:r>
          </a:p>
          <a:p>
            <a:r>
              <a:rPr lang="en-US" sz="4400" dirty="0"/>
              <a:t>WATER SCARCITY</a:t>
            </a:r>
          </a:p>
          <a:p>
            <a:r>
              <a:rPr lang="en-US" sz="4400" dirty="0"/>
              <a:t>HEALTH IMPACTS</a:t>
            </a:r>
          </a:p>
        </p:txBody>
      </p:sp>
    </p:spTree>
    <p:extLst>
      <p:ext uri="{BB962C8B-B14F-4D97-AF65-F5344CB8AC3E}">
        <p14:creationId xmlns:p14="http://schemas.microsoft.com/office/powerpoint/2010/main" val="1290655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D752-2C31-7C8C-8BFC-A84F4C4EE6CC}"/>
              </a:ext>
            </a:extLst>
          </p:cNvPr>
          <p:cNvSpPr>
            <a:spLocks noGrp="1"/>
          </p:cNvSpPr>
          <p:nvPr>
            <p:ph type="title"/>
          </p:nvPr>
        </p:nvSpPr>
        <p:spPr/>
        <p:txBody>
          <a:bodyPr>
            <a:normAutofit fontScale="90000"/>
          </a:bodyPr>
          <a:lstStyle/>
          <a:p>
            <a:r>
              <a:rPr lang="en-US" dirty="0"/>
              <a:t>recommendations  to address ecological barriers and promote effective natural resource conservation.</a:t>
            </a:r>
          </a:p>
        </p:txBody>
      </p:sp>
      <p:sp>
        <p:nvSpPr>
          <p:cNvPr id="3" name="Content Placeholder 2">
            <a:extLst>
              <a:ext uri="{FF2B5EF4-FFF2-40B4-BE49-F238E27FC236}">
                <a16:creationId xmlns:a16="http://schemas.microsoft.com/office/drawing/2014/main" id="{17AF26DE-20E5-1201-0E36-77F025521881}"/>
              </a:ext>
            </a:extLst>
          </p:cNvPr>
          <p:cNvSpPr>
            <a:spLocks noGrp="1"/>
          </p:cNvSpPr>
          <p:nvPr>
            <p:ph idx="1"/>
          </p:nvPr>
        </p:nvSpPr>
        <p:spPr>
          <a:xfrm>
            <a:off x="838200" y="2457449"/>
            <a:ext cx="10515600" cy="3719513"/>
          </a:xfrm>
        </p:spPr>
        <p:txBody>
          <a:bodyPr>
            <a:normAutofit/>
          </a:bodyPr>
          <a:lstStyle/>
          <a:p>
            <a:r>
              <a:rPr lang="en-US" sz="3200" dirty="0"/>
              <a:t>EDUCATION AND AWARENESS</a:t>
            </a:r>
          </a:p>
          <a:p>
            <a:r>
              <a:rPr lang="en-US" sz="3200" dirty="0"/>
              <a:t>ENFORCEMENT OF REGULATIONS</a:t>
            </a:r>
          </a:p>
          <a:p>
            <a:r>
              <a:rPr lang="en-US" sz="3200" dirty="0"/>
              <a:t>RESTORATION</a:t>
            </a:r>
          </a:p>
          <a:p>
            <a:r>
              <a:rPr lang="en-US" sz="3200" dirty="0"/>
              <a:t>FUNDING</a:t>
            </a:r>
          </a:p>
        </p:txBody>
      </p:sp>
    </p:spTree>
    <p:extLst>
      <p:ext uri="{BB962C8B-B14F-4D97-AF65-F5344CB8AC3E}">
        <p14:creationId xmlns:p14="http://schemas.microsoft.com/office/powerpoint/2010/main" val="347018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9435F-3318-DB61-29B1-8F52D0E41875}"/>
              </a:ext>
            </a:extLst>
          </p:cNvPr>
          <p:cNvSpPr>
            <a:spLocks noGrp="1"/>
          </p:cNvSpPr>
          <p:nvPr>
            <p:ph type="title"/>
          </p:nvPr>
        </p:nvSpPr>
        <p:spPr>
          <a:xfrm>
            <a:off x="1484311" y="685801"/>
            <a:ext cx="10018713" cy="1543050"/>
          </a:xfrm>
        </p:spPr>
        <p:txBody>
          <a:bodyPr/>
          <a:lstStyle/>
          <a:p>
            <a:r>
              <a:rPr lang="en-US" dirty="0"/>
              <a:t>CONCLUSION</a:t>
            </a:r>
          </a:p>
        </p:txBody>
      </p:sp>
      <p:sp>
        <p:nvSpPr>
          <p:cNvPr id="3" name="Content Placeholder 2">
            <a:extLst>
              <a:ext uri="{FF2B5EF4-FFF2-40B4-BE49-F238E27FC236}">
                <a16:creationId xmlns:a16="http://schemas.microsoft.com/office/drawing/2014/main" id="{7F6A6A3A-698D-17F5-034F-C42DAE2EA370}"/>
              </a:ext>
            </a:extLst>
          </p:cNvPr>
          <p:cNvSpPr>
            <a:spLocks noGrp="1"/>
          </p:cNvSpPr>
          <p:nvPr>
            <p:ph idx="1"/>
          </p:nvPr>
        </p:nvSpPr>
        <p:spPr/>
        <p:txBody>
          <a:bodyPr>
            <a:noAutofit/>
          </a:bodyPr>
          <a:lstStyle/>
          <a:p>
            <a:pPr marL="0" indent="0">
              <a:buNone/>
            </a:pPr>
            <a:r>
              <a:rPr lang="en-US" sz="2800" dirty="0"/>
              <a:t>The challenges facing biodiversity conservation are complex and interconnected, requiring urgent and collaborative action from governments and individuals worldwide. By addressing these issues we can work together to safeguard our planet's biodiversity and ensure a sustainable future for all.</a:t>
            </a:r>
          </a:p>
        </p:txBody>
      </p:sp>
    </p:spTree>
    <p:extLst>
      <p:ext uri="{BB962C8B-B14F-4D97-AF65-F5344CB8AC3E}">
        <p14:creationId xmlns:p14="http://schemas.microsoft.com/office/powerpoint/2010/main" val="1088496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5B5B1-DD78-ED71-93E7-AF9EDC437361}"/>
              </a:ext>
            </a:extLst>
          </p:cNvPr>
          <p:cNvSpPr>
            <a:spLocks noGrp="1"/>
          </p:cNvSpPr>
          <p:nvPr>
            <p:ph type="title"/>
          </p:nvPr>
        </p:nvSpPr>
        <p:spPr>
          <a:xfrm>
            <a:off x="838200" y="238125"/>
            <a:ext cx="10515600" cy="990601"/>
          </a:xfrm>
        </p:spPr>
        <p:txBody>
          <a:bodyPr/>
          <a:lstStyle/>
          <a:p>
            <a:r>
              <a:rPr lang="en-US" dirty="0"/>
              <a:t>REFERNCES</a:t>
            </a:r>
          </a:p>
        </p:txBody>
      </p:sp>
      <p:sp>
        <p:nvSpPr>
          <p:cNvPr id="3" name="Content Placeholder 2">
            <a:extLst>
              <a:ext uri="{FF2B5EF4-FFF2-40B4-BE49-F238E27FC236}">
                <a16:creationId xmlns:a16="http://schemas.microsoft.com/office/drawing/2014/main" id="{47C36E40-ECA5-78C6-7126-CBC3437EBB86}"/>
              </a:ext>
            </a:extLst>
          </p:cNvPr>
          <p:cNvSpPr>
            <a:spLocks noGrp="1"/>
          </p:cNvSpPr>
          <p:nvPr>
            <p:ph idx="1"/>
          </p:nvPr>
        </p:nvSpPr>
        <p:spPr>
          <a:xfrm>
            <a:off x="838200" y="1228726"/>
            <a:ext cx="10515600" cy="4948237"/>
          </a:xfrm>
        </p:spPr>
        <p:txBody>
          <a:bodyPr>
            <a:normAutofit/>
          </a:bodyPr>
          <a:lstStyle/>
          <a:p>
            <a:r>
              <a:rPr lang="en-US" b="0" i="0" dirty="0" err="1">
                <a:solidFill>
                  <a:srgbClr val="212121"/>
                </a:solidFill>
                <a:effectLst/>
                <a:latin typeface="Open Sans" panose="020B0606030504020204" pitchFamily="34" charset="0"/>
              </a:rPr>
              <a:t>Rosemartin</a:t>
            </a:r>
            <a:r>
              <a:rPr lang="en-US" b="0" i="0" dirty="0">
                <a:solidFill>
                  <a:srgbClr val="212121"/>
                </a:solidFill>
                <a:effectLst/>
                <a:latin typeface="Open Sans" panose="020B0606030504020204" pitchFamily="34" charset="0"/>
              </a:rPr>
              <a:t>, Alyssa H., Theresa M. Crimmins, Carolyn A. F. </a:t>
            </a:r>
            <a:r>
              <a:rPr lang="en-US" b="0" i="0" dirty="0" err="1">
                <a:solidFill>
                  <a:srgbClr val="212121"/>
                </a:solidFill>
                <a:effectLst/>
                <a:latin typeface="Open Sans" panose="020B0606030504020204" pitchFamily="34" charset="0"/>
              </a:rPr>
              <a:t>Enquist</a:t>
            </a:r>
            <a:r>
              <a:rPr lang="en-US" b="0" i="0" dirty="0">
                <a:solidFill>
                  <a:srgbClr val="212121"/>
                </a:solidFill>
                <a:effectLst/>
                <a:latin typeface="Open Sans" panose="020B0606030504020204" pitchFamily="34" charset="0"/>
              </a:rPr>
              <a:t>, Katharine L. </a:t>
            </a:r>
            <a:r>
              <a:rPr lang="en-US" b="0" i="0" dirty="0" err="1">
                <a:solidFill>
                  <a:srgbClr val="212121"/>
                </a:solidFill>
                <a:effectLst/>
                <a:latin typeface="Open Sans" panose="020B0606030504020204" pitchFamily="34" charset="0"/>
              </a:rPr>
              <a:t>Gerst</a:t>
            </a:r>
            <a:r>
              <a:rPr lang="en-US" b="0" i="0" dirty="0">
                <a:solidFill>
                  <a:srgbClr val="212121"/>
                </a:solidFill>
                <a:effectLst/>
                <a:latin typeface="Open Sans" panose="020B0606030504020204" pitchFamily="34" charset="0"/>
              </a:rPr>
              <a:t>, </a:t>
            </a:r>
            <a:r>
              <a:rPr lang="en-US" b="0" i="0" dirty="0" err="1">
                <a:solidFill>
                  <a:srgbClr val="212121"/>
                </a:solidFill>
                <a:effectLst/>
                <a:latin typeface="Open Sans" panose="020B0606030504020204" pitchFamily="34" charset="0"/>
              </a:rPr>
              <a:t>Jherime</a:t>
            </a:r>
            <a:r>
              <a:rPr lang="en-US" b="0" i="0" dirty="0">
                <a:solidFill>
                  <a:srgbClr val="212121"/>
                </a:solidFill>
                <a:effectLst/>
                <a:latin typeface="Open Sans" panose="020B0606030504020204" pitchFamily="34" charset="0"/>
              </a:rPr>
              <a:t> L. </a:t>
            </a:r>
            <a:r>
              <a:rPr lang="en-US" b="0" i="0" dirty="0" err="1">
                <a:solidFill>
                  <a:srgbClr val="212121"/>
                </a:solidFill>
                <a:effectLst/>
                <a:latin typeface="Open Sans" panose="020B0606030504020204" pitchFamily="34" charset="0"/>
              </a:rPr>
              <a:t>Kellermann</a:t>
            </a:r>
            <a:r>
              <a:rPr lang="en-US" b="0" i="0" dirty="0">
                <a:solidFill>
                  <a:srgbClr val="212121"/>
                </a:solidFill>
                <a:effectLst/>
                <a:latin typeface="Open Sans" panose="020B0606030504020204" pitchFamily="34" charset="0"/>
              </a:rPr>
              <a:t>, Erin E. </a:t>
            </a:r>
            <a:r>
              <a:rPr lang="en-US" b="0" i="0" dirty="0" err="1">
                <a:solidFill>
                  <a:srgbClr val="212121"/>
                </a:solidFill>
                <a:effectLst/>
                <a:latin typeface="Open Sans" panose="020B0606030504020204" pitchFamily="34" charset="0"/>
              </a:rPr>
              <a:t>Posthumus</a:t>
            </a:r>
            <a:r>
              <a:rPr lang="en-US" b="0" i="0" dirty="0">
                <a:solidFill>
                  <a:srgbClr val="212121"/>
                </a:solidFill>
                <a:effectLst/>
                <a:latin typeface="Open Sans" panose="020B0606030504020204" pitchFamily="34" charset="0"/>
              </a:rPr>
              <a:t>, Ellen G. Denny, Patricia Guertin, Lee Marsh, and Jake F. </a:t>
            </a:r>
            <a:r>
              <a:rPr lang="en-US" b="0" i="0" dirty="0" err="1">
                <a:solidFill>
                  <a:srgbClr val="212121"/>
                </a:solidFill>
                <a:effectLst/>
                <a:latin typeface="Open Sans" panose="020B0606030504020204" pitchFamily="34" charset="0"/>
              </a:rPr>
              <a:t>Weltzin</a:t>
            </a:r>
            <a:r>
              <a:rPr lang="en-US" b="0" i="0" dirty="0">
                <a:solidFill>
                  <a:srgbClr val="212121"/>
                </a:solidFill>
                <a:effectLst/>
                <a:latin typeface="Open Sans" panose="020B0606030504020204" pitchFamily="34" charset="0"/>
              </a:rPr>
              <a:t>. "Organizing phenological data resources to inform natural resource conservation." </a:t>
            </a:r>
            <a:r>
              <a:rPr lang="en-US" b="0" i="1" dirty="0">
                <a:solidFill>
                  <a:srgbClr val="212121"/>
                </a:solidFill>
                <a:effectLst/>
                <a:latin typeface="Open Sans" panose="020B0606030504020204" pitchFamily="34" charset="0"/>
              </a:rPr>
              <a:t>Biological Conservation</a:t>
            </a:r>
            <a:r>
              <a:rPr lang="en-US" b="0" i="0" dirty="0">
                <a:solidFill>
                  <a:srgbClr val="212121"/>
                </a:solidFill>
                <a:effectLst/>
                <a:latin typeface="Open Sans" panose="020B0606030504020204" pitchFamily="34" charset="0"/>
              </a:rPr>
              <a:t> 173 (May 2014): </a:t>
            </a:r>
          </a:p>
          <a:p>
            <a:r>
              <a:rPr lang="en-US" dirty="0"/>
              <a:t>Verma, Pragati. "CONSERVATION OF NATURAL RESOURCES." International Journal of Research -GRANTHAALAYAH 3, no. 9SE (September 30, 2015)</a:t>
            </a:r>
          </a:p>
          <a:p>
            <a:r>
              <a:rPr lang="en-US" b="0" i="0" dirty="0">
                <a:solidFill>
                  <a:srgbClr val="212121"/>
                </a:solidFill>
                <a:effectLst/>
                <a:latin typeface="Open Sans" panose="020B0606030504020204" pitchFamily="34" charset="0"/>
              </a:rPr>
              <a:t>Kerr, A. J. "Conservation of natural resources." </a:t>
            </a:r>
            <a:r>
              <a:rPr lang="en-US" b="0" i="1" dirty="0">
                <a:solidFill>
                  <a:srgbClr val="212121"/>
                </a:solidFill>
                <a:effectLst/>
                <a:latin typeface="Open Sans" panose="020B0606030504020204" pitchFamily="34" charset="0"/>
              </a:rPr>
              <a:t>Proceedings of the Royal Society of Edinburgh. Section B. Biological Sciences</a:t>
            </a:r>
            <a:r>
              <a:rPr lang="en-US" b="0" i="0" dirty="0">
                <a:solidFill>
                  <a:srgbClr val="212121"/>
                </a:solidFill>
                <a:effectLst/>
                <a:latin typeface="Open Sans" panose="020B0606030504020204" pitchFamily="34" charset="0"/>
              </a:rPr>
              <a:t> 90 (1986)</a:t>
            </a:r>
            <a:endParaRPr lang="en-US" dirty="0"/>
          </a:p>
        </p:txBody>
      </p:sp>
    </p:spTree>
    <p:extLst>
      <p:ext uri="{BB962C8B-B14F-4D97-AF65-F5344CB8AC3E}">
        <p14:creationId xmlns:p14="http://schemas.microsoft.com/office/powerpoint/2010/main" val="25973385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190</TotalTime>
  <Words>329</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vt:lpstr>
      <vt:lpstr>Calibri</vt:lpstr>
      <vt:lpstr>Corbel</vt:lpstr>
      <vt:lpstr>Open Sans</vt:lpstr>
      <vt:lpstr>Parallax</vt:lpstr>
      <vt:lpstr>BARRIERS TO NATURAL RESOURCE CONSERVATION IN GHANA</vt:lpstr>
      <vt:lpstr>OUTLINE</vt:lpstr>
      <vt:lpstr>WHAT IS CONSERVATION??</vt:lpstr>
      <vt:lpstr>MAJOR NATURAL RESOURCES OF GHANA </vt:lpstr>
      <vt:lpstr>BARRIERS TO NATURAL RESOURCE CONSERVATION  </vt:lpstr>
      <vt:lpstr>SOME IMPACTS OF BARRIER TO NATURAL RESOURCES</vt:lpstr>
      <vt:lpstr>recommendations  to address ecological barriers and promote effective natural resource conservation.</vt:lpstr>
      <vt:lpstr>CONCLUSION</vt:lpstr>
      <vt:lpstr>REFERNCES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BARRIERS TO NATURAL RESOURCE CONSERVATION IN GHANA</dc:title>
  <dc:creator>Raph Senaye</dc:creator>
  <cp:lastModifiedBy>Jason Adjei Poku</cp:lastModifiedBy>
  <cp:revision>4</cp:revision>
  <dcterms:created xsi:type="dcterms:W3CDTF">2023-07-23T19:52:34Z</dcterms:created>
  <dcterms:modified xsi:type="dcterms:W3CDTF">2023-07-24T07:49:13Z</dcterms:modified>
</cp:coreProperties>
</file>