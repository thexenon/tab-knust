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6"/>
  </p:notesMasterIdLst>
  <p:sldIdLst>
    <p:sldId id="256" r:id="rId2"/>
    <p:sldId id="258" r:id="rId3"/>
    <p:sldId id="268" r:id="rId4"/>
    <p:sldId id="270" r:id="rId5"/>
    <p:sldId id="277" r:id="rId6"/>
    <p:sldId id="274" r:id="rId7"/>
    <p:sldId id="275" r:id="rId8"/>
    <p:sldId id="276" r:id="rId9"/>
    <p:sldId id="279" r:id="rId10"/>
    <p:sldId id="261" r:id="rId11"/>
    <p:sldId id="27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F5953-1D3F-49AF-AE7E-875CFF75843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658BE-5215-435C-ABA2-E51AAD143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658BE-5215-435C-ABA2-E51AAD1432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1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D8B2B-AC2E-4B5F-A847-F0D8F473EF34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68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D7C6-898D-4CD0-83A2-601D1FFDDDBF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30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7FB89D-08F6-41E5-BA85-3615C47520EB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08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8144F-A2DF-4BF6-9A6E-C6EADC2B49B0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32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AA8FF-6C5F-44A4-AA35-F173089E64EF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48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7836-F56A-42DA-BB02-E7DD0EA91813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9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CA2B-1C2C-475B-AF76-C702DC77ACB7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C37FB-BEA5-4DB0-AC9B-71B65AB4C9EC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45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F2CD4-1BD3-4C0D-8D6B-DF95DF60E0E3}" type="datetime1">
              <a:rPr lang="en-US" smtClean="0"/>
              <a:t>7/17/2023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0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5AF9-B34C-42F2-91AD-5442502E2283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24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D586-B92C-467F-9468-103A9A4291A5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3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8868FBA-2A99-4002-A0AD-0DFE005FD362}" type="datetime1">
              <a:rPr lang="en-US" smtClean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1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AND GLOBAL BIODIVERSITY</a:t>
            </a:r>
            <a:b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17, TOPIC 10.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"/>
            <a:ext cx="9291215" cy="1045028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OUTLINE</a:t>
            </a:r>
            <a:endParaRPr lang="en-US" sz="44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045030"/>
            <a:ext cx="9291215" cy="5175466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>
                <a:cs typeface="Times New Roman" panose="02020603050405020304" pitchFamily="18" charset="0"/>
              </a:rPr>
              <a:t>C</a:t>
            </a:r>
            <a:r>
              <a:rPr lang="en-US" sz="3600" dirty="0" smtClean="0">
                <a:cs typeface="Times New Roman" panose="02020603050405020304" pitchFamily="18" charset="0"/>
              </a:rPr>
              <a:t>limate change</a:t>
            </a:r>
          </a:p>
          <a:p>
            <a:pPr marL="0" indent="0">
              <a:buNone/>
            </a:pPr>
            <a:endParaRPr lang="en-US" sz="3600" dirty="0" smtClean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Causes </a:t>
            </a:r>
          </a:p>
          <a:p>
            <a:pPr marL="0" indent="0">
              <a:buNone/>
            </a:pPr>
            <a:endParaRPr lang="en-US" sz="3600" dirty="0" smtClean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Why this fast rate?</a:t>
            </a:r>
          </a:p>
          <a:p>
            <a:endParaRPr lang="en-US" sz="3600" dirty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Evidence of climate change</a:t>
            </a:r>
          </a:p>
          <a:p>
            <a:endParaRPr lang="en-US" sz="3600" dirty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Effects of biodiversity</a:t>
            </a:r>
          </a:p>
          <a:p>
            <a:pPr marL="0" indent="0">
              <a:buNone/>
            </a:pPr>
            <a:endParaRPr lang="en-US" sz="3600" dirty="0" smtClean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Solutions</a:t>
            </a:r>
          </a:p>
          <a:p>
            <a:pPr marL="0" indent="0">
              <a:buNone/>
            </a:pPr>
            <a:endParaRPr lang="en-US" sz="3000" dirty="0" smtClean="0">
              <a:cs typeface="Times New Roman" panose="02020603050405020304" pitchFamily="18" charset="0"/>
            </a:endParaRPr>
          </a:p>
          <a:p>
            <a:r>
              <a:rPr lang="en-US" sz="3600" dirty="0" smtClean="0">
                <a:cs typeface="Times New Roman" panose="02020603050405020304" pitchFamily="18" charset="0"/>
              </a:rPr>
              <a:t>Conclusion</a:t>
            </a: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1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0"/>
            <a:ext cx="10729003" cy="850006"/>
          </a:xfrm>
        </p:spPr>
        <p:txBody>
          <a:bodyPr/>
          <a:lstStyle/>
          <a:p>
            <a:r>
              <a:rPr lang="en-US" dirty="0" smtClean="0"/>
              <a:t>  CLIMATE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746974"/>
            <a:ext cx="11603865" cy="6111025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cs typeface="Times New Roman" panose="02020603050405020304" pitchFamily="18" charset="0"/>
              </a:rPr>
              <a:t>Climate change refers to long-term shifts in temperature and weather patterns</a:t>
            </a:r>
            <a:r>
              <a:rPr lang="en-US" sz="2600" dirty="0" smtClean="0"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 smtClean="0">
                <a:cs typeface="Times New Roman" panose="02020603050405020304" pitchFamily="18" charset="0"/>
              </a:rPr>
              <a:t>An increasing level of CO2 emissions and accumulation since the industrial revolution in the 1950’s.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 smtClean="0">
                <a:cs typeface="Times New Roman" panose="02020603050405020304" pitchFamily="18" charset="0"/>
              </a:rPr>
              <a:t> Humans are the main drivers of climate change</a:t>
            </a:r>
            <a:r>
              <a:rPr lang="en-US" sz="2400" dirty="0" smtClean="0"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 smtClean="0">
              <a:cs typeface="Times New Roman" panose="02020603050405020304" pitchFamily="18" charset="0"/>
            </a:endParaRPr>
          </a:p>
          <a:p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cs typeface="Times New Roman" panose="02020603050405020304" pitchFamily="18" charset="0"/>
              </a:rPr>
              <a:t/>
            </a:r>
            <a:br>
              <a:rPr lang="en-US" sz="2800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/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 smtClean="0">
                <a:cs typeface="Times New Roman" panose="02020603050405020304" pitchFamily="18" charset="0"/>
              </a:rPr>
              <a:t>                                                                                 fig. 1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017" y="3472185"/>
            <a:ext cx="5758111" cy="298316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CAUSES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87" y="1764406"/>
            <a:ext cx="11449319" cy="509359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Burning of fossil fuels : Buried carbons from dead organisms are burnt and adds excess carbon.</a:t>
            </a:r>
          </a:p>
          <a:p>
            <a:endParaRPr lang="en-US" sz="2400" dirty="0"/>
          </a:p>
          <a:p>
            <a:r>
              <a:rPr lang="en-US" sz="2400" dirty="0" smtClean="0"/>
              <a:t>Deforestation</a:t>
            </a:r>
          </a:p>
          <a:p>
            <a:endParaRPr lang="en-US" sz="2400" dirty="0"/>
          </a:p>
          <a:p>
            <a:r>
              <a:rPr lang="en-US" sz="2400" dirty="0" smtClean="0"/>
              <a:t>Industrial processes </a:t>
            </a:r>
          </a:p>
          <a:p>
            <a:endParaRPr lang="en-US" sz="2400" dirty="0"/>
          </a:p>
          <a:p>
            <a:r>
              <a:rPr lang="en-US" sz="2400" dirty="0" smtClean="0"/>
              <a:t>Increasing human population</a:t>
            </a: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                                                       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                                       fig. 2                                                   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046" y="2731094"/>
            <a:ext cx="6616961" cy="354169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63" y="484632"/>
            <a:ext cx="10922186" cy="893407"/>
          </a:xfrm>
        </p:spPr>
        <p:txBody>
          <a:bodyPr/>
          <a:lstStyle/>
          <a:p>
            <a:r>
              <a:rPr lang="en-US" dirty="0" smtClean="0"/>
              <a:t>  </a:t>
            </a:r>
            <a:r>
              <a:rPr lang="en-US" sz="3600" dirty="0" smtClean="0"/>
              <a:t>WHY THIS FAST RATE 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794" y="1378039"/>
            <a:ext cx="10149454" cy="5259870"/>
          </a:xfrm>
        </p:spPr>
        <p:txBody>
          <a:bodyPr>
            <a:noAutofit/>
          </a:bodyPr>
          <a:lstStyle/>
          <a:p>
            <a:r>
              <a:rPr lang="en-US" sz="2400" dirty="0" smtClean="0"/>
              <a:t>Positive feedback loop : </a:t>
            </a:r>
          </a:p>
          <a:p>
            <a:endParaRPr lang="en-US" sz="2400" dirty="0"/>
          </a:p>
          <a:p>
            <a:r>
              <a:rPr lang="en-US" sz="2400" dirty="0" smtClean="0"/>
              <a:t>Water vapour: </a:t>
            </a:r>
            <a:r>
              <a:rPr lang="en-US" sz="2400" dirty="0"/>
              <a:t>Hotter oceans causes more evaporation of water vapour. Water vapour is also a green house gas which leads to further global warming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Reduced ice cover: </a:t>
            </a:r>
            <a:r>
              <a:rPr lang="en-US" sz="2400" dirty="0"/>
              <a:t>:  Melting of ice caps reduce its reflective surface, leading to increased adsorption of solar radiation and further warming.</a:t>
            </a:r>
          </a:p>
          <a:p>
            <a:endParaRPr lang="en-US" sz="2400" dirty="0" smtClean="0"/>
          </a:p>
          <a:p>
            <a:r>
              <a:rPr lang="en-US" sz="2400" dirty="0" smtClean="0"/>
              <a:t>Permafrost : Large parts of Greenland, Siberia, Alaska and Canada are covered with permafrost. Permafrost releases a lot of green house gases when it thaws.</a:t>
            </a:r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1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512064"/>
            <a:ext cx="10058400" cy="105915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EVIDENCE OF CLIMATE CHANGE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1571223"/>
            <a:ext cx="11191741" cy="5066686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Rising temperature levels</a:t>
            </a:r>
          </a:p>
          <a:p>
            <a:endParaRPr lang="en-US" sz="2400" dirty="0"/>
          </a:p>
          <a:p>
            <a:r>
              <a:rPr lang="en-US" sz="2400" dirty="0">
                <a:cs typeface="Times New Roman" panose="02020603050405020304" pitchFamily="18" charset="0"/>
              </a:rPr>
              <a:t>Changing precipitation </a:t>
            </a:r>
            <a:r>
              <a:rPr lang="en-US" sz="2400" dirty="0" smtClean="0">
                <a:cs typeface="Times New Roman" panose="02020603050405020304" pitchFamily="18" charset="0"/>
              </a:rPr>
              <a:t>patterns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>
                <a:cs typeface="Times New Roman" panose="02020603050405020304" pitchFamily="18" charset="0"/>
              </a:rPr>
              <a:t>Ocean </a:t>
            </a:r>
            <a:r>
              <a:rPr lang="en-US" sz="2400" dirty="0" smtClean="0">
                <a:cs typeface="Times New Roman" panose="02020603050405020304" pitchFamily="18" charset="0"/>
              </a:rPr>
              <a:t>acidification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 smtClean="0">
                <a:cs typeface="Times New Roman" panose="02020603050405020304" pitchFamily="18" charset="0"/>
              </a:rPr>
              <a:t>Rising sea levels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cs typeface="Times New Roman" panose="02020603050405020304" pitchFamily="18" charset="0"/>
              </a:rPr>
              <a:t>                                           fig. 3 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721" y="2519743"/>
            <a:ext cx="6090487" cy="367047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0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9091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EFFECTS ON BIODIVERSITY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712889"/>
            <a:ext cx="10058400" cy="446896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Range shift and distribution : Shift in species geographic location. </a:t>
            </a:r>
            <a:r>
              <a:rPr lang="en-US" sz="2400" dirty="0" err="1" smtClean="0"/>
              <a:t>Eg</a:t>
            </a:r>
            <a:r>
              <a:rPr lang="en-US" sz="2400" dirty="0" smtClean="0"/>
              <a:t>. Artic fox </a:t>
            </a:r>
          </a:p>
          <a:p>
            <a:endParaRPr lang="en-US" sz="2400" dirty="0"/>
          </a:p>
          <a:p>
            <a:r>
              <a:rPr lang="en-US" sz="2400" dirty="0" smtClean="0"/>
              <a:t>Biodiversity loss/ Extinction : Fluctuations in temperature and rainfall that lead to loss of species.</a:t>
            </a:r>
          </a:p>
          <a:p>
            <a:endParaRPr lang="en-US" sz="2400" dirty="0"/>
          </a:p>
          <a:p>
            <a:r>
              <a:rPr lang="en-US" sz="2400" dirty="0" smtClean="0"/>
              <a:t>Impact on food security/ Hunger : Disruption of agricultural systems.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400" dirty="0" smtClean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3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459" y="484632"/>
            <a:ext cx="11088710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EFFECTS ON BIODIVERSITY cont’d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Decline in ecosystem services : Services provided by ecosystems such as pollination, nutrient cycling, water purification.</a:t>
            </a:r>
          </a:p>
          <a:p>
            <a:endParaRPr lang="en-US" sz="2400" dirty="0"/>
          </a:p>
          <a:p>
            <a:r>
              <a:rPr lang="en-US" sz="2400" dirty="0" smtClean="0"/>
              <a:t>Carbon-dioxide adsorption by oceans disrupts coral reefs health which support diverse marine life.</a:t>
            </a:r>
          </a:p>
          <a:p>
            <a:endParaRPr lang="en-US" sz="2400" dirty="0"/>
          </a:p>
          <a:p>
            <a:r>
              <a:rPr lang="en-US" sz="2400" dirty="0" smtClean="0"/>
              <a:t>Natural disasters such as flooding , drought.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7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611" y="484632"/>
            <a:ext cx="10689465" cy="160934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THE RESILEINCE OF BIODIVERSITY TO CLIMATE CHANGE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Healthy ecosystems buffer climate impacts. </a:t>
            </a:r>
            <a:r>
              <a:rPr lang="en-US" dirty="0" err="1" smtClean="0"/>
              <a:t>Eg</a:t>
            </a:r>
            <a:r>
              <a:rPr lang="en-US" dirty="0" smtClean="0"/>
              <a:t>. They can absorb large amounts of  water, and reduce the risk of flooding.</a:t>
            </a:r>
          </a:p>
          <a:p>
            <a:endParaRPr lang="en-US" dirty="0"/>
          </a:p>
          <a:p>
            <a:r>
              <a:rPr lang="en-US" dirty="0" smtClean="0"/>
              <a:t>Species adopt </a:t>
            </a:r>
            <a:r>
              <a:rPr lang="en-US" dirty="0" err="1" smtClean="0"/>
              <a:t>behavioural</a:t>
            </a:r>
            <a:r>
              <a:rPr lang="en-US" dirty="0" smtClean="0"/>
              <a:t> changes such as migrating in warmer times of the year.</a:t>
            </a:r>
          </a:p>
          <a:p>
            <a:endParaRPr lang="en-US" dirty="0"/>
          </a:p>
          <a:p>
            <a:r>
              <a:rPr lang="en-US" dirty="0" smtClean="0"/>
              <a:t>Tails, feathers and ears of some species are providing different levels of </a:t>
            </a:r>
            <a:r>
              <a:rPr lang="en-US" smtClean="0"/>
              <a:t>heat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22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151376"/>
            <a:ext cx="11808824" cy="966224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SOLUTIONS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69848" y="1223493"/>
            <a:ext cx="10058400" cy="5414416"/>
          </a:xfrm>
        </p:spPr>
        <p:txBody>
          <a:bodyPr>
            <a:normAutofit/>
          </a:bodyPr>
          <a:lstStyle/>
          <a:p>
            <a:pPr lvl="1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Mitigation: </a:t>
            </a:r>
            <a:r>
              <a:rPr lang="en-US" sz="2400" dirty="0" smtClean="0">
                <a:cs typeface="Times New Roman" panose="02020603050405020304" pitchFamily="18" charset="0"/>
              </a:rPr>
              <a:t>Stop burning fossil fuel to reduce </a:t>
            </a:r>
            <a:r>
              <a:rPr lang="en-US" sz="2400" dirty="0">
                <a:cs typeface="Times New Roman" panose="02020603050405020304" pitchFamily="18" charset="0"/>
              </a:rPr>
              <a:t>greenhouse gas </a:t>
            </a:r>
          </a:p>
          <a:p>
            <a:pPr lvl="1"/>
            <a:endParaRPr lang="en-US" sz="2400" dirty="0" smtClean="0">
              <a:cs typeface="Times New Roman" panose="02020603050405020304" pitchFamily="18" charset="0"/>
            </a:endParaRP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cs typeface="Times New Roman" panose="02020603050405020304" pitchFamily="18" charset="0"/>
              </a:rPr>
              <a:t>ransitioning </a:t>
            </a:r>
            <a:r>
              <a:rPr lang="en-US" sz="2400" dirty="0">
                <a:cs typeface="Times New Roman" panose="02020603050405020304" pitchFamily="18" charset="0"/>
              </a:rPr>
              <a:t>to renewable energy </a:t>
            </a:r>
            <a:r>
              <a:rPr lang="en-US" sz="2400" dirty="0" smtClean="0">
                <a:cs typeface="Times New Roman" panose="02020603050405020304" pitchFamily="18" charset="0"/>
              </a:rPr>
              <a:t>sources such as solar energy and </a:t>
            </a:r>
            <a:r>
              <a:rPr lang="en-US" sz="2400" smtClean="0">
                <a:cs typeface="Times New Roman" panose="02020603050405020304" pitchFamily="18" charset="0"/>
              </a:rPr>
              <a:t>thermal energy </a:t>
            </a:r>
            <a:r>
              <a:rPr lang="en-US" sz="2400" dirty="0" smtClean="0">
                <a:cs typeface="Times New Roman" panose="02020603050405020304" pitchFamily="18" charset="0"/>
              </a:rPr>
              <a:t>promoting </a:t>
            </a:r>
            <a:r>
              <a:rPr lang="en-US" sz="2400" dirty="0">
                <a:cs typeface="Times New Roman" panose="02020603050405020304" pitchFamily="18" charset="0"/>
              </a:rPr>
              <a:t>energy </a:t>
            </a:r>
            <a:r>
              <a:rPr lang="en-US" sz="2400" dirty="0" smtClean="0">
                <a:cs typeface="Times New Roman" panose="02020603050405020304" pitchFamily="18" charset="0"/>
              </a:rPr>
              <a:t>efficiency.</a:t>
            </a:r>
          </a:p>
          <a:p>
            <a:pPr marL="274320" lvl="1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sz="2400" dirty="0" smtClean="0">
                <a:cs typeface="Times New Roman" panose="02020603050405020304" pitchFamily="18" charset="0"/>
              </a:rPr>
              <a:t> Save energy.</a:t>
            </a: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pPr lvl="1"/>
            <a:endParaRPr lang="en-US" sz="2400" dirty="0" smtClean="0">
              <a:cs typeface="Times New Roman" panose="02020603050405020304" pitchFamily="18" charset="0"/>
            </a:endParaRP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                                             fig. 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553" y="3375008"/>
            <a:ext cx="4238695" cy="32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12348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SOLUTIONS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Conservation: Protect and restore habitats to ensure the survival of vulnerable species.</a:t>
            </a: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cs typeface="Times New Roman" panose="02020603050405020304" pitchFamily="18" charset="0"/>
              </a:rPr>
              <a:t>Promote sustainable land use practices : </a:t>
            </a:r>
            <a:r>
              <a:rPr lang="en-US" sz="2400" dirty="0" err="1">
                <a:cs typeface="Times New Roman" panose="02020603050405020304" pitchFamily="18" charset="0"/>
              </a:rPr>
              <a:t>Eg</a:t>
            </a:r>
            <a:r>
              <a:rPr lang="en-US" sz="2400" dirty="0">
                <a:cs typeface="Times New Roman" panose="02020603050405020304" pitchFamily="18" charset="0"/>
              </a:rPr>
              <a:t>. Agroforestry </a:t>
            </a:r>
            <a:r>
              <a:rPr lang="en-US" sz="2400" dirty="0" smtClean="0">
                <a:cs typeface="Times New Roman" panose="02020603050405020304" pitchFamily="18" charset="0"/>
              </a:rPr>
              <a:t>and </a:t>
            </a:r>
            <a:r>
              <a:rPr lang="en-US" sz="2400" dirty="0">
                <a:cs typeface="Times New Roman" panose="02020603050405020304" pitchFamily="18" charset="0"/>
              </a:rPr>
              <a:t>sustainable agriculture</a:t>
            </a: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cs typeface="Times New Roman" panose="02020603050405020304" pitchFamily="18" charset="0"/>
              </a:rPr>
              <a:t>Education and awareness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01601"/>
            <a:ext cx="9291215" cy="876299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CONCLUSION</a:t>
            </a:r>
            <a:endParaRPr lang="en-US" sz="36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079500"/>
            <a:ext cx="11988799" cy="4864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Conserving and restoring natural spaces and the biodiversity they contain, is essential for limiting emissions and adapting to climate impacts.</a:t>
            </a:r>
          </a:p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Let's </a:t>
            </a:r>
            <a:r>
              <a:rPr lang="en-US" sz="2400" dirty="0">
                <a:cs typeface="Times New Roman" panose="02020603050405020304" pitchFamily="18" charset="0"/>
              </a:rPr>
              <a:t>work together to combat climate change and protect the incredible biodiversity that sustains our planet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"/>
            <a:ext cx="9291215" cy="800099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647700"/>
            <a:ext cx="11988799" cy="54229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sz="2400" dirty="0" smtClean="0">
                <a:cs typeface="Times New Roman" panose="02020603050405020304" pitchFamily="18" charset="0"/>
              </a:rPr>
              <a:t>UNICEF. The Climate Crisis is a Child Rights Crisis. New York (2021).</a:t>
            </a:r>
          </a:p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The World Health Organization. Quantitative risk assessment of the effects of climate change on selected causes of death, 2030s and 2050s. Geneva: WHO 2014.</a:t>
            </a:r>
          </a:p>
          <a:p>
            <a:pPr marL="0" indent="0">
              <a:buNone/>
            </a:pPr>
            <a:endParaRPr lang="en-US" sz="240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Times New Roman" panose="02020603050405020304" pitchFamily="18" charset="0"/>
              </a:rPr>
              <a:t>Williams PC, Bartlett AW, Howard-Jones A, McMullan B, Khatami A, Britton PN, et al. Impact of climate change and biodiversity collapse on the global emergence and spread of infectious diseases. </a:t>
            </a:r>
            <a:r>
              <a:rPr lang="en-US" sz="2400" i="1" dirty="0" smtClean="0">
                <a:cs typeface="Times New Roman" panose="02020603050405020304" pitchFamily="18" charset="0"/>
              </a:rPr>
              <a:t>J </a:t>
            </a:r>
            <a:r>
              <a:rPr lang="en-US" sz="2400" i="1" dirty="0" err="1" smtClean="0">
                <a:cs typeface="Times New Roman" panose="02020603050405020304" pitchFamily="18" charset="0"/>
              </a:rPr>
              <a:t>Paediatr</a:t>
            </a:r>
            <a:r>
              <a:rPr lang="en-US" sz="2400" i="1" dirty="0" smtClean="0">
                <a:cs typeface="Times New Roman" panose="02020603050405020304" pitchFamily="18" charset="0"/>
              </a:rPr>
              <a:t> Child Health.</a:t>
            </a:r>
            <a:r>
              <a:rPr lang="en-US" sz="2400" dirty="0" smtClean="0">
                <a:cs typeface="Times New Roman" panose="02020603050405020304" pitchFamily="18" charset="0"/>
              </a:rPr>
              <a:t> (2021) 57:1811–8. </a:t>
            </a:r>
            <a:r>
              <a:rPr lang="en-US" sz="2400" dirty="0" err="1" smtClean="0">
                <a:cs typeface="Times New Roman" panose="02020603050405020304" pitchFamily="18" charset="0"/>
              </a:rPr>
              <a:t>doi</a:t>
            </a:r>
            <a:r>
              <a:rPr lang="en-US" sz="2400" dirty="0" smtClean="0">
                <a:cs typeface="Times New Roman" panose="02020603050405020304" pitchFamily="18" charset="0"/>
              </a:rPr>
              <a:t>: 10.1111/jpc.15681.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97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THANK YOU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487" y="3213862"/>
            <a:ext cx="1865376" cy="1865376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7" r="22937"/>
          <a:stretch>
            <a:fillRect/>
          </a:stretch>
        </p:blipFill>
        <p:spPr>
          <a:xfrm>
            <a:off x="2642928" y="1545465"/>
            <a:ext cx="6036478" cy="490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3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603</TotalTime>
  <Words>489</Words>
  <Application>Microsoft Office PowerPoint</Application>
  <PresentationFormat>Widescreen</PresentationFormat>
  <Paragraphs>129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Georgia</vt:lpstr>
      <vt:lpstr>Times New Roman</vt:lpstr>
      <vt:lpstr>Trebuchet MS</vt:lpstr>
      <vt:lpstr>Wingdings</vt:lpstr>
      <vt:lpstr>Wood Type</vt:lpstr>
      <vt:lpstr>CLIMATE CHANGE AND GLOBAL BIODIVERSITY  </vt:lpstr>
      <vt:lpstr>   OUTLINE</vt:lpstr>
      <vt:lpstr>  CLIMATE CHANGE</vt:lpstr>
      <vt:lpstr>CAUSES</vt:lpstr>
      <vt:lpstr>  WHY THIS FAST RATE ?</vt:lpstr>
      <vt:lpstr>EVIDENCE OF CLIMATE CHANGE</vt:lpstr>
      <vt:lpstr>EFFECTS ON BIODIVERSITY</vt:lpstr>
      <vt:lpstr>EFFECTS ON BIODIVERSITY cont’d</vt:lpstr>
      <vt:lpstr>THE RESILEINCE OF BIODIVERSITY TO CLIMATE CHANGE</vt:lpstr>
      <vt:lpstr>       SOLUTIONS</vt:lpstr>
      <vt:lpstr> SOLUTIONS</vt:lpstr>
      <vt:lpstr>CONCLUSION</vt:lpstr>
      <vt:lpstr>REFERENCES</vt:lpstr>
      <vt:lpstr>                     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AND GLOBAL BIODIVERSITY</dc:title>
  <dc:creator>Grace Manu</dc:creator>
  <cp:lastModifiedBy>BOATENG   CLINTON</cp:lastModifiedBy>
  <cp:revision>152</cp:revision>
  <dcterms:created xsi:type="dcterms:W3CDTF">2023-07-17T00:50:52Z</dcterms:created>
  <dcterms:modified xsi:type="dcterms:W3CDTF">2023-07-17T04:45:57Z</dcterms:modified>
</cp:coreProperties>
</file>