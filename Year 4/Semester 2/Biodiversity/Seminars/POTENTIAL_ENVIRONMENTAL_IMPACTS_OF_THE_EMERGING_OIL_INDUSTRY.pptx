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73" r:id="rId7"/>
    <p:sldId id="271" r:id="rId8"/>
    <p:sldId id="275" r:id="rId9"/>
    <p:sldId id="267" r:id="rId10"/>
    <p:sldId id="272" r:id="rId11"/>
    <p:sldId id="276" r:id="rId12"/>
    <p:sldId id="268" r:id="rId13"/>
    <p:sldId id="270" r:id="rId14"/>
    <p:sldId id="278" r:id="rId15"/>
    <p:sldId id="279" r:id="rId16"/>
    <p:sldId id="282" r:id="rId17"/>
    <p:sldId id="280" r:id="rId18"/>
    <p:sldId id="281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85" autoAdjust="0"/>
    <p:restoredTop sz="95179" autoAdjust="0"/>
  </p:normalViewPr>
  <p:slideViewPr>
    <p:cSldViewPr snapToGrid="0">
      <p:cViewPr varScale="1">
        <p:scale>
          <a:sx n="85" d="100"/>
          <a:sy n="85" d="100"/>
        </p:scale>
        <p:origin x="96" y="108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37F8998-7F29-4DED-A71C-C0814139A326}" type="datetimeFigureOut">
              <a:rPr lang="en-US" smtClean="0"/>
              <a:t>7/19/2023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4176FF3-96F0-4EC7-8B8A-697AE80856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09235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4176FF3-96F0-4EC7-8B8A-697AE80856FF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062678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F4DD36-4FF5-4980-AFBC-51FC949B1AF6}" type="datetime1">
              <a:rPr lang="en-US" smtClean="0"/>
              <a:t>7/19/2023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FC0F02-D25E-4B1D-8138-0C2044BC884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76214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FA951-F0B4-4E76-8F10-51D7BB4F3EDB}" type="datetime1">
              <a:rPr lang="en-US" smtClean="0"/>
              <a:t>7/19/2023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FC0F02-D25E-4B1D-8138-0C2044BC884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15940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BF6D31-CF88-443F-8433-1BDDB4123D35}" type="datetime1">
              <a:rPr lang="en-US" smtClean="0"/>
              <a:t>7/19/2023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FC0F02-D25E-4B1D-8138-0C2044BC884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97187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7C465B-2F7A-48BB-9BB1-731B651F09DC}" type="datetime1">
              <a:rPr lang="en-US" smtClean="0"/>
              <a:t>7/19/2023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FC0F02-D25E-4B1D-8138-0C2044BC884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41972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808B9E-1CB4-4733-8E66-D7999E88C23B}" type="datetime1">
              <a:rPr lang="en-US" smtClean="0"/>
              <a:t>7/19/2023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FC0F02-D25E-4B1D-8138-0C2044BC884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49463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5834EE-48C5-4ABC-9C76-ED457EBE3750}" type="datetime1">
              <a:rPr lang="en-US" smtClean="0"/>
              <a:t>7/19/2023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FC0F02-D25E-4B1D-8138-0C2044BC884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85038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7DA448-761E-448E-9E52-76A2173A64A2}" type="datetime1">
              <a:rPr lang="en-US" smtClean="0"/>
              <a:t>7/19/2023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FC0F02-D25E-4B1D-8138-0C2044BC884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045096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352F66-096F-4C0C-BFD3-47E9805148CE}" type="datetime1">
              <a:rPr lang="en-US" smtClean="0"/>
              <a:t>7/19/2023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FC0F02-D25E-4B1D-8138-0C2044BC884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051652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93048B-CDFF-4FC3-998A-7BE61DE7FFC4}" type="datetime1">
              <a:rPr lang="en-US" smtClean="0"/>
              <a:t>7/19/2023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FC0F02-D25E-4B1D-8138-0C2044BC884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9914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310FD5-890F-48B1-8E2C-1B72BCB5F8A6}" type="datetime1">
              <a:rPr lang="en-US" smtClean="0"/>
              <a:t>7/19/2023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FC0F02-D25E-4B1D-8138-0C2044BC884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226860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91DE60-4E67-4031-A06B-60DA2BA125D5}" type="datetime1">
              <a:rPr lang="en-US" smtClean="0"/>
              <a:t>7/19/2023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FC0F02-D25E-4B1D-8138-0C2044BC884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975184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B70AA70-0FB9-4966-962C-E0B973BFD2F6}" type="datetime1">
              <a:rPr lang="en-US" smtClean="0"/>
              <a:t>7/19/2023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8FC0F02-D25E-4B1D-8138-0C2044BC884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403571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hyperlink" Target="http://www.statista.com/statistics" TargetMode="External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hyperlink" Target="http://newss.bbc.co.uk/2/hi/Europe/592378.stm" TargetMode="Externa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4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POTENTIAL ENVIRONMENTAL IMPACTS OF THE EMERGING OIL INDUSTRY IN GHANA</a:t>
            </a:r>
            <a:endParaRPr lang="en-US" sz="4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GROUP 3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FC0F02-D25E-4B1D-8138-0C2044BC884C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07867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Outline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ü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Value of oil industry in Ghana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Potential impacts of the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il Industry on the environment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Case studies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Resolution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  <a:p>
            <a:pPr>
              <a:buFont typeface="Wingdings" panose="05000000000000000000" pitchFamily="2" charset="2"/>
              <a:buChar char="ü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FC0F02-D25E-4B1D-8138-0C2044BC884C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24463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Crude oil is made up of a mixture of hydrocarbons which exist in liquid form in underground reservoirs.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Ghana discovered commercial oil in 2007, and, subsequently, commenced production in 2010 (P. A.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Sakyi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2012).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Currently, the Jubilee Field in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Tano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Cape Three Points is highly explored for commercial purposes.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FC0F02-D25E-4B1D-8138-0C2044BC884C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94907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9275056" cy="694267"/>
          </a:xfrm>
        </p:spPr>
        <p:txBody>
          <a:bodyPr>
            <a:noAutofit/>
          </a:bodyPr>
          <a:lstStyle/>
          <a:p>
            <a:r>
              <a:rPr lang="en-US" sz="4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Value of the Oil Industry in Ghana</a:t>
            </a:r>
            <a:endParaRPr lang="en-US" sz="4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1501422"/>
            <a:ext cx="4578879" cy="4367566"/>
          </a:xfrm>
        </p:spPr>
        <p:txBody>
          <a:bodyPr>
            <a:no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 of August 2022, oil production capacity in Ghana stood at 177 thousand barrels.</a:t>
            </a:r>
          </a:p>
          <a:p>
            <a:endParaRPr lang="en-US" sz="28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country accumulated 83 million US dollars and 100.4 million US dollars from oil revenue in January 2021 and June 2021 respectively (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www.statista.com/statistics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</a:p>
          <a:p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pPr marL="0" indent="0">
              <a:buNone/>
            </a:pPr>
            <a:r>
              <a:rPr lang="en-US" sz="21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Fig.1 Chart of Oil production in Ghana.</a:t>
            </a:r>
            <a:endParaRPr lang="en-US" sz="2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Content Placeholder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18667" y="1378038"/>
            <a:ext cx="5601123" cy="4006762"/>
          </a:xfrm>
          <a:prstGeom prst="rect">
            <a:avLst/>
          </a:prstGeom>
        </p:spPr>
      </p:pic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FC0F02-D25E-4B1D-8138-0C2044BC884C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191838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Potential Impacts of the Oil Industry on the environment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ü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Proliferation of hydro-carbon oxidizing microbes including </a:t>
            </a:r>
            <a:r>
              <a:rPr lang="en-US" i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Marinobacter</a:t>
            </a:r>
            <a:r>
              <a:rPr lang="en-US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Pseudomonas, </a:t>
            </a:r>
            <a:r>
              <a:rPr lang="en-US" i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Acinetobacter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Borzenkov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2006).</a:t>
            </a: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ü"/>
            </a:pP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ü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Noise affects marine mammals like whales and dolphins who are affected by sound elevation due to their dependence on sound for reproduction, feeding and avoiding predators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Tyrack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Miller,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2002).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ü"/>
            </a:pP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ü"/>
            </a:pP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FC0F02-D25E-4B1D-8138-0C2044BC884C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2179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Potential Impacts of the Oil Industry on the environment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>
              <a:buFont typeface="Wingdings" panose="05000000000000000000" pitchFamily="2" charset="2"/>
              <a:buChar char="ü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Habitat fragmentation and destruction.</a:t>
            </a:r>
          </a:p>
          <a:p>
            <a:pPr>
              <a:buFont typeface="Wingdings" panose="05000000000000000000" pitchFamily="2" charset="2"/>
              <a:buChar char="ü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ü"/>
            </a:pP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ü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ü"/>
            </a:pP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ü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ü"/>
            </a:pP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18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Fig. 2 Jubilee Field under </a:t>
            </a:r>
            <a:r>
              <a:rPr lang="en-US" sz="1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Tullow</a:t>
            </a: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Oil Operations.</a:t>
            </a:r>
          </a:p>
          <a:p>
            <a:pPr>
              <a:buFont typeface="Wingdings" panose="05000000000000000000" pitchFamily="2" charset="2"/>
              <a:buChar char="ü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2269067"/>
            <a:ext cx="8644467" cy="3420533"/>
          </a:xfrm>
          <a:prstGeom prst="rect">
            <a:avLst/>
          </a:prstGeom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FC0F02-D25E-4B1D-8138-0C2044BC884C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0640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Potential impacts of the O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il Industry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 the environment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>
              <a:buFont typeface="Wingdings" panose="05000000000000000000" pitchFamily="2" charset="2"/>
              <a:buChar char="ü"/>
            </a:pPr>
            <a:r>
              <a:rPr lang="en-US" sz="3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Atmospheric </a:t>
            </a:r>
            <a:r>
              <a:rPr lang="en-US" sz="3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emissions</a:t>
            </a:r>
          </a:p>
          <a:p>
            <a:pPr marL="0" indent="0">
              <a:buNone/>
            </a:pPr>
            <a:r>
              <a:rPr lang="en-US" sz="3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Gas </a:t>
            </a:r>
            <a:r>
              <a:rPr lang="en-US" sz="3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flaring has the potential to damage the Ankara Forest Reserve and the surrounding vegetation and farmlands located offshore the Jubilee </a:t>
            </a:r>
            <a:r>
              <a:rPr lang="en-US" sz="3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Field </a:t>
            </a:r>
            <a:r>
              <a:rPr lang="en-US" sz="3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(P.A. </a:t>
            </a:r>
            <a:r>
              <a:rPr lang="en-US" sz="3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Sakyi</a:t>
            </a:r>
            <a:r>
              <a:rPr lang="en-US" sz="3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2012</a:t>
            </a:r>
            <a:r>
              <a:rPr lang="en-US" sz="3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</a:p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19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9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Fig.3 An image of gas being flared.</a:t>
            </a:r>
            <a:endParaRPr lang="en-US" sz="1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ü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Content Placeholder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5689" y="3364089"/>
            <a:ext cx="9031111" cy="2404533"/>
          </a:xfrm>
          <a:prstGeom prst="rect">
            <a:avLst/>
          </a:prstGeom>
        </p:spPr>
      </p:pic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FC0F02-D25E-4B1D-8138-0C2044BC884C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913081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Potential impacts of the </a:t>
            </a:r>
            <a:r>
              <a:rPr lang="en-US" sz="4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Oil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4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ndustry </a:t>
            </a:r>
            <a: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 the environment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ü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Oil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spillage causes trapping of the birds and also reduce amount of dissolved oxygen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19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9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Fig. 4 Sea </a:t>
            </a:r>
            <a:r>
              <a:rPr lang="en-US" sz="19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bird trapped </a:t>
            </a:r>
            <a:r>
              <a:rPr lang="en-US" sz="19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during the </a:t>
            </a:r>
            <a:r>
              <a:rPr lang="en-US" sz="19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Deepwater</a:t>
            </a:r>
            <a:r>
              <a:rPr lang="en-US" sz="19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Horizon oil spillage.</a:t>
            </a:r>
            <a:endParaRPr lang="en-US" sz="1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Content Placeholder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199" y="2652889"/>
            <a:ext cx="6160911" cy="2858029"/>
          </a:xfrm>
          <a:prstGeom prst="rect">
            <a:avLst/>
          </a:prstGeom>
        </p:spPr>
      </p:pic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FC0F02-D25E-4B1D-8138-0C2044BC884C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579420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Case Study: Erika Oil Spillage</a:t>
            </a:r>
            <a:endParaRPr lang="en-US" sz="4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Content Placeholder 8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oil spillage from Erika oil in 1999 resulted in the deaths of over 100,000 birds (BBC, 2000). </a:t>
            </a: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Fig. 5 Workers draining oil from the sea after the Erika oil spillage.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" name="Content Placeholder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2808287"/>
            <a:ext cx="7731125" cy="2960335"/>
          </a:xfrm>
          <a:prstGeom prst="rect">
            <a:avLst/>
          </a:prstGeom>
        </p:spPr>
      </p:pic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FC0F02-D25E-4B1D-8138-0C2044BC884C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355062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10368844" cy="750711"/>
          </a:xfrm>
        </p:spPr>
        <p:txBody>
          <a:bodyPr>
            <a:normAutofit/>
          </a:bodyPr>
          <a:lstStyle/>
          <a:p>
            <a:r>
              <a:rPr lang="en-US" sz="4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Case Study: Niger Delta Oil Spillage</a:t>
            </a:r>
            <a:endParaRPr lang="en-US" sz="4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1354667"/>
            <a:ext cx="3932237" cy="4514321"/>
          </a:xfrm>
        </p:spPr>
        <p:txBody>
          <a:bodyPr>
            <a:no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Oil spillage and waste discharge into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waterbodies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have seriously damaged the Niger Delta’s mangroves, impairing the coastal ecosystem of this part of Nigeria (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Pyagbara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2007 &amp; Amnesty International 2009).</a:t>
            </a: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Fig. 6 Oil spillage in Niger’s Delta.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Content Placeholder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83187" y="1459088"/>
            <a:ext cx="5867399" cy="4004733"/>
          </a:xfrm>
          <a:prstGeom prst="rect">
            <a:avLst/>
          </a:prstGeom>
        </p:spPr>
      </p:pic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FC0F02-D25E-4B1D-8138-0C2044BC884C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9104840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9512123" cy="728133"/>
          </a:xfrm>
        </p:spPr>
        <p:txBody>
          <a:bodyPr>
            <a:normAutofit/>
          </a:bodyPr>
          <a:lstStyle/>
          <a:p>
            <a:r>
              <a:rPr lang="en-US" sz="4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Case Study: Ghana</a:t>
            </a:r>
            <a:endParaRPr lang="en-US" sz="4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81600" y="1490133"/>
            <a:ext cx="5610578" cy="4230511"/>
          </a:xfrm>
        </p:spPr>
      </p:pic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1490133"/>
            <a:ext cx="4590168" cy="4378855"/>
          </a:xfrm>
        </p:spPr>
        <p:txBody>
          <a:bodyPr>
            <a:norm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2007, the </a:t>
            </a:r>
            <a:r>
              <a:rPr lang="en-US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Tema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Oil Refinery(TOR)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was sued by the indigenes of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Chemu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spilling oil into the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Chemu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lagoon resulting in a low fish catch and destruction of the fauna and flora in the lagoon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</a:t>
            </a: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Fig.7 lawsuit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against </a:t>
            </a: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TOR.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FC0F02-D25E-4B1D-8138-0C2044BC884C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0406331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9866312" cy="603249"/>
          </a:xfrm>
        </p:spPr>
        <p:txBody>
          <a:bodyPr>
            <a:normAutofit fontScale="90000"/>
          </a:bodyPr>
          <a:lstStyle/>
          <a:p>
            <a:r>
              <a:rPr lang="en-US" sz="4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Resolution</a:t>
            </a:r>
            <a:endParaRPr lang="en-US" sz="4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1185333"/>
            <a:ext cx="4992687" cy="5113867"/>
          </a:xfrm>
        </p:spPr>
        <p:txBody>
          <a:bodyPr>
            <a:no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Ghana has no comprehensive environmental legislation  targeting the oil industry.</a:t>
            </a:r>
          </a:p>
          <a:p>
            <a:endParaRPr lang="en-US" sz="28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Legislations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should focus on these aspects:</a:t>
            </a:r>
          </a:p>
          <a:p>
            <a:pPr marL="457200" indent="-457200">
              <a:buFont typeface="Wingdings" panose="05000000000000000000" pitchFamily="2" charset="2"/>
              <a:buChar char="ü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prescriptive approach</a:t>
            </a:r>
          </a:p>
          <a:p>
            <a:pPr marL="457200" indent="-457200">
              <a:buFont typeface="Wingdings" panose="05000000000000000000" pitchFamily="2" charset="2"/>
              <a:buChar char="ü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performance-based approach</a:t>
            </a:r>
          </a:p>
          <a:p>
            <a:pPr marL="457200" indent="-457200">
              <a:buFont typeface="Wingdings" panose="05000000000000000000" pitchFamily="2" charset="2"/>
              <a:buChar char="ü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Recommended administrative and institutional support </a:t>
            </a:r>
          </a:p>
        </p:txBody>
      </p:sp>
      <p:pic>
        <p:nvPicPr>
          <p:cNvPr id="7" name="Content Placeholder 6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32475" y="2057400"/>
            <a:ext cx="4873625" cy="3803650"/>
          </a:xfrm>
        </p:spPr>
      </p:pic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FC0F02-D25E-4B1D-8138-0C2044BC884C}" type="slidenum">
              <a:rPr lang="en-US" smtClean="0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417447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Unregulated activities by the oil industry can potentially destroy habitats and damage biodiversity, and this requires that Ghanaian policy makers take a closer look at national sustainability strategies that will ensure sustainable exploitation of oil without adverse effects on the environment.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FC0F02-D25E-4B1D-8138-0C2044BC884C}" type="slidenum">
              <a:rPr lang="en-US" smtClean="0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452626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ü"/>
            </a:pP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Amnesty International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(2009). Nigeria: Petroleum, Pollution and Poverty in the Niger Delta. </a:t>
            </a:r>
            <a:r>
              <a:rPr lang="en-US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Amnesty International Publications. Index: AFR 44/017/2009. FRP143.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143 pp.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British Broadcasting Corporation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(2000). Oil spill damage worsens. </a:t>
            </a:r>
            <a:r>
              <a:rPr lang="en-US" i="1" dirty="0" smtClean="0"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http://newss.bbc.co.uk/2/hi/Europe/592378.stm</a:t>
            </a:r>
            <a:r>
              <a:rPr lang="en-US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(Accessed: 18/10/2011)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Pyagbara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L. S. (2007). </a:t>
            </a:r>
            <a:r>
              <a:rPr lang="en-US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adverse impacts of oil pollution on the environment and wellbeing of a local indigenous community: the experience of the </a:t>
            </a:r>
            <a:r>
              <a:rPr lang="en-US" i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Ogoni</a:t>
            </a:r>
            <a:r>
              <a:rPr lang="en-US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people of Nigeria.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United Nations Department of Economic and Social Affairs Report. PFII/2007/WS.3/6.</a:t>
            </a:r>
          </a:p>
          <a:p>
            <a:pPr>
              <a:buFont typeface="Wingdings" panose="05000000000000000000" pitchFamily="2" charset="2"/>
              <a:buChar char="ü"/>
            </a:pP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ü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FC0F02-D25E-4B1D-8138-0C2044BC884C}" type="slidenum">
              <a:rPr lang="en-US" smtClean="0"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830599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ü"/>
            </a:pP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Tyack P. L. and Miller E. H.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(2002). Vocal anatomy, acoustic communication and echolocation. In </a:t>
            </a:r>
            <a:r>
              <a:rPr lang="en-US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Marine Mammal Biology.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(A.R.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Hoelzel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ed.), pp. 142-184. Blackwell Science Ltd., Oxford, UK.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Kloff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S. and Wicks C.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(2004). </a:t>
            </a:r>
            <a:r>
              <a:rPr lang="en-US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Environmental management of offshore oil development and maritime oil transport.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 background document for stakeholders of the West African Marine Eco Region. IUCN working paper.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P. A. </a:t>
            </a:r>
            <a:r>
              <a:rPr lang="en-US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Sakyi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J. K. </a:t>
            </a:r>
            <a:r>
              <a:rPr lang="en-US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Efavi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D. Atta-Peters, and R. </a:t>
            </a:r>
            <a:r>
              <a:rPr lang="en-US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Asare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(2012).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Ghana’s Quest for Oil and Gas: Ecological risks and Management Frameworks. </a:t>
            </a:r>
            <a:r>
              <a:rPr lang="en-US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West African Journal of Applied Ecology, Vol. 20(1).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>
              <a:buFont typeface="Wingdings" panose="05000000000000000000" pitchFamily="2" charset="2"/>
              <a:buChar char="ü"/>
            </a:pP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FC0F02-D25E-4B1D-8138-0C2044BC884C}" type="slidenum">
              <a:rPr lang="en-US" smtClean="0"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624931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ü"/>
            </a:pP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I.A. </a:t>
            </a:r>
            <a:r>
              <a:rPr lang="en-US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Borzenkov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et al.,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2006. The properties of hydro-carbon oxidizing bacteria isolated from the oilfields of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Tatarstan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Western Siberia, and Vietnam. </a:t>
            </a:r>
            <a:r>
              <a:rPr lang="en-US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Microbiology 75, 66-72.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doi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 10.1134/S0026261706010127.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FC0F02-D25E-4B1D-8138-0C2044BC884C}" type="slidenum">
              <a:rPr lang="en-US" smtClean="0"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373331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63764"/>
          </a:xfrm>
        </p:spPr>
        <p:txBody>
          <a:bodyPr/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Group members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28890"/>
            <a:ext cx="10515600" cy="504807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9207519 ENNINFUL, Edith</a:t>
            </a:r>
          </a:p>
          <a:p>
            <a:pPr marL="0" indent="0">
              <a:buNone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9199719 ANAAFI,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Boateng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Micheal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9214819 OFOSU, Christa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Afua</a:t>
            </a: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9196019 ADU,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Abena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Owusu</a:t>
            </a: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9200019 ANNAN, Nana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Efua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Afon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9204619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BOAKYE,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Lordina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Serwaa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9204219 BANGYA, Lois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Mbamah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9205419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BOATENG, Williams</a:t>
            </a:r>
          </a:p>
          <a:p>
            <a:pPr marL="0" indent="0">
              <a:buNone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9195819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ADOMAKO,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Linford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Dwamena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9198919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AMOAKOHENE, Rosemond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FC0F02-D25E-4B1D-8138-0C2044BC884C}" type="slidenum">
              <a:rPr lang="en-US" smtClean="0"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0097274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6356" y="365125"/>
            <a:ext cx="10597444" cy="5811838"/>
          </a:xfrm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FC0F02-D25E-4B1D-8138-0C2044BC884C}" type="slidenum">
              <a:rPr lang="en-US" smtClean="0"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6610232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530</TotalTime>
  <Words>878</Words>
  <Application>Microsoft Office PowerPoint</Application>
  <PresentationFormat>Widescreen</PresentationFormat>
  <Paragraphs>139</Paragraphs>
  <Slides>18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4" baseType="lpstr">
      <vt:lpstr>Arial</vt:lpstr>
      <vt:lpstr>Calibri</vt:lpstr>
      <vt:lpstr>Calibri Light</vt:lpstr>
      <vt:lpstr>Times New Roman</vt:lpstr>
      <vt:lpstr>Wingdings</vt:lpstr>
      <vt:lpstr>Office Theme</vt:lpstr>
      <vt:lpstr>POTENTIAL ENVIRONMENTAL IMPACTS OF THE EMERGING OIL INDUSTRY IN GHANA</vt:lpstr>
      <vt:lpstr>Outline</vt:lpstr>
      <vt:lpstr>Introduction</vt:lpstr>
      <vt:lpstr>Value of the Oil Industry in Ghana</vt:lpstr>
      <vt:lpstr>Potential Impacts of the Oil Industry on the environment</vt:lpstr>
      <vt:lpstr>Potential Impacts of the Oil Industry on the environment</vt:lpstr>
      <vt:lpstr>Potential impacts of the Oil Industry on the environment</vt:lpstr>
      <vt:lpstr>Potential impacts of the Oil Industry on the environment</vt:lpstr>
      <vt:lpstr>Case Study: Erika Oil Spillage</vt:lpstr>
      <vt:lpstr>Case Study: Niger Delta Oil Spillage</vt:lpstr>
      <vt:lpstr>Case Study: Ghana</vt:lpstr>
      <vt:lpstr>Resolution</vt:lpstr>
      <vt:lpstr>Conclusion</vt:lpstr>
      <vt:lpstr>References</vt:lpstr>
      <vt:lpstr>References</vt:lpstr>
      <vt:lpstr>References</vt:lpstr>
      <vt:lpstr>Group members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account</dc:creator>
  <cp:lastModifiedBy>Microsoft account</cp:lastModifiedBy>
  <cp:revision>44</cp:revision>
  <dcterms:created xsi:type="dcterms:W3CDTF">2023-07-19T06:48:22Z</dcterms:created>
  <dcterms:modified xsi:type="dcterms:W3CDTF">2023-07-19T21:32:44Z</dcterms:modified>
</cp:coreProperties>
</file>