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6" r:id="rId2"/>
    <p:sldId id="257" r:id="rId3"/>
    <p:sldId id="258" r:id="rId4"/>
    <p:sldId id="259" r:id="rId5"/>
    <p:sldId id="271" r:id="rId6"/>
    <p:sldId id="276" r:id="rId7"/>
    <p:sldId id="260" r:id="rId8"/>
    <p:sldId id="273" r:id="rId9"/>
    <p:sldId id="261" r:id="rId10"/>
    <p:sldId id="262" r:id="rId11"/>
    <p:sldId id="269" r:id="rId12"/>
    <p:sldId id="272" r:id="rId13"/>
    <p:sldId id="264" r:id="rId14"/>
    <p:sldId id="265" r:id="rId15"/>
    <p:sldId id="266" r:id="rId16"/>
    <p:sldId id="274" r:id="rId17"/>
    <p:sldId id="275" r:id="rId18"/>
    <p:sldId id="277"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00" autoAdjust="0"/>
    <p:restoredTop sz="94660"/>
  </p:normalViewPr>
  <p:slideViewPr>
    <p:cSldViewPr snapToGrid="0">
      <p:cViewPr varScale="1">
        <p:scale>
          <a:sx n="67" d="100"/>
          <a:sy n="67" d="100"/>
        </p:scale>
        <p:origin x="66" y="4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3BC777-8482-42C9-B535-CBD507E707B8}" type="datetimeFigureOut">
              <a:rPr lang="en-US" smtClean="0"/>
              <a:t>7/16/2023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122C73-FBCD-4784-9FA9-482E89C5BAA6}" type="slidenum">
              <a:rPr lang="en-US" smtClean="0"/>
              <a:t>‹#›</a:t>
            </a:fld>
            <a:endParaRPr lang="en-US"/>
          </a:p>
        </p:txBody>
      </p:sp>
    </p:spTree>
    <p:extLst>
      <p:ext uri="{BB962C8B-B14F-4D97-AF65-F5344CB8AC3E}">
        <p14:creationId xmlns:p14="http://schemas.microsoft.com/office/powerpoint/2010/main" val="24061550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2122C73-FBCD-4784-9FA9-482E89C5BAA6}" type="slidenum">
              <a:rPr lang="en-US" smtClean="0"/>
              <a:t>1</a:t>
            </a:fld>
            <a:endParaRPr lang="en-US"/>
          </a:p>
        </p:txBody>
      </p:sp>
    </p:spTree>
    <p:extLst>
      <p:ext uri="{BB962C8B-B14F-4D97-AF65-F5344CB8AC3E}">
        <p14:creationId xmlns:p14="http://schemas.microsoft.com/office/powerpoint/2010/main" val="33647181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22E82F5-03EE-4B35-B558-7A22513B9FDF}" type="datetime1">
              <a:rPr lang="en-US" smtClean="0"/>
              <a:t>7/16/2023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32C0A12-C8EC-4C9E-B534-C826B0CCC322}" type="slidenum">
              <a:rPr lang="en-US" smtClean="0"/>
              <a:t>‹#›</a:t>
            </a:fld>
            <a:endParaRPr lang="en-US"/>
          </a:p>
        </p:txBody>
      </p:sp>
    </p:spTree>
    <p:extLst>
      <p:ext uri="{BB962C8B-B14F-4D97-AF65-F5344CB8AC3E}">
        <p14:creationId xmlns:p14="http://schemas.microsoft.com/office/powerpoint/2010/main" val="33242625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54A77CB-4703-4EC3-8EB9-14100FE34FEC}" type="datetime1">
              <a:rPr lang="en-US" smtClean="0"/>
              <a:t>7/16/2023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32C0A12-C8EC-4C9E-B534-C826B0CCC322}" type="slidenum">
              <a:rPr lang="en-US" smtClean="0"/>
              <a:t>‹#›</a:t>
            </a:fld>
            <a:endParaRPr lang="en-US"/>
          </a:p>
        </p:txBody>
      </p:sp>
    </p:spTree>
    <p:extLst>
      <p:ext uri="{BB962C8B-B14F-4D97-AF65-F5344CB8AC3E}">
        <p14:creationId xmlns:p14="http://schemas.microsoft.com/office/powerpoint/2010/main" val="24222918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CC5BC44-51CE-49AD-B848-2AFE2355627C}" type="datetime1">
              <a:rPr lang="en-US" smtClean="0"/>
              <a:t>7/16/2023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32C0A12-C8EC-4C9E-B534-C826B0CCC322}" type="slidenum">
              <a:rPr lang="en-US" smtClean="0"/>
              <a:t>‹#›</a:t>
            </a:fld>
            <a:endParaRPr lang="en-US"/>
          </a:p>
        </p:txBody>
      </p:sp>
    </p:spTree>
    <p:extLst>
      <p:ext uri="{BB962C8B-B14F-4D97-AF65-F5344CB8AC3E}">
        <p14:creationId xmlns:p14="http://schemas.microsoft.com/office/powerpoint/2010/main" val="17701944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01417B62-C5E2-4439-BFD9-4E459A5FC8B8}" type="datetime1">
              <a:rPr lang="en-US" smtClean="0"/>
              <a:t>7/16/2023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32C0A12-C8EC-4C9E-B534-C826B0CCC322}" type="slidenum">
              <a:rPr lang="en-US" smtClean="0"/>
              <a:t>‹#›</a:t>
            </a:fld>
            <a:endParaRPr lang="en-US"/>
          </a:p>
        </p:txBody>
      </p:sp>
    </p:spTree>
    <p:extLst>
      <p:ext uri="{BB962C8B-B14F-4D97-AF65-F5344CB8AC3E}">
        <p14:creationId xmlns:p14="http://schemas.microsoft.com/office/powerpoint/2010/main" val="23071349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9E0D2D9-EF71-432F-AA1E-960F5C7E086A}" type="datetime1">
              <a:rPr lang="en-US" smtClean="0"/>
              <a:t>7/16/2023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32C0A12-C8EC-4C9E-B534-C826B0CCC322}" type="slidenum">
              <a:rPr lang="en-US" smtClean="0"/>
              <a:t>‹#›</a:t>
            </a:fld>
            <a:endParaRPr lang="en-US"/>
          </a:p>
        </p:txBody>
      </p:sp>
    </p:spTree>
    <p:extLst>
      <p:ext uri="{BB962C8B-B14F-4D97-AF65-F5344CB8AC3E}">
        <p14:creationId xmlns:p14="http://schemas.microsoft.com/office/powerpoint/2010/main" val="16431819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15C5D4A-48EB-4AA8-967D-8AC696EEACFE}" type="datetime1">
              <a:rPr lang="en-US" smtClean="0"/>
              <a:t>7/16/2023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32C0A12-C8EC-4C9E-B534-C826B0CCC322}" type="slidenum">
              <a:rPr lang="en-US" smtClean="0"/>
              <a:t>‹#›</a:t>
            </a:fld>
            <a:endParaRPr lang="en-US"/>
          </a:p>
        </p:txBody>
      </p:sp>
    </p:spTree>
    <p:extLst>
      <p:ext uri="{BB962C8B-B14F-4D97-AF65-F5344CB8AC3E}">
        <p14:creationId xmlns:p14="http://schemas.microsoft.com/office/powerpoint/2010/main" val="1244287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893B26C-8127-45B4-9A3E-4F1C21ECED06}" type="datetime1">
              <a:rPr lang="en-US" smtClean="0"/>
              <a:t>7/16/2023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32C0A12-C8EC-4C9E-B534-C826B0CCC322}" type="slidenum">
              <a:rPr lang="en-US" smtClean="0"/>
              <a:t>‹#›</a:t>
            </a:fld>
            <a:endParaRPr lang="en-US"/>
          </a:p>
        </p:txBody>
      </p:sp>
    </p:spTree>
    <p:extLst>
      <p:ext uri="{BB962C8B-B14F-4D97-AF65-F5344CB8AC3E}">
        <p14:creationId xmlns:p14="http://schemas.microsoft.com/office/powerpoint/2010/main" val="36818488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1A439BC-BBB3-40CB-A225-F39362294950}" type="datetime1">
              <a:rPr lang="en-US" smtClean="0"/>
              <a:t>7/16/2023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32C0A12-C8EC-4C9E-B534-C826B0CCC322}" type="slidenum">
              <a:rPr lang="en-US" smtClean="0"/>
              <a:t>‹#›</a:t>
            </a:fld>
            <a:endParaRPr lang="en-US"/>
          </a:p>
        </p:txBody>
      </p:sp>
    </p:spTree>
    <p:extLst>
      <p:ext uri="{BB962C8B-B14F-4D97-AF65-F5344CB8AC3E}">
        <p14:creationId xmlns:p14="http://schemas.microsoft.com/office/powerpoint/2010/main" val="39750689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EB54367-172F-4145-8CE7-026179EF6C0F}" type="datetime1">
              <a:rPr lang="en-US" smtClean="0"/>
              <a:t>7/16/2023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32C0A12-C8EC-4C9E-B534-C826B0CCC322}" type="slidenum">
              <a:rPr lang="en-US" smtClean="0"/>
              <a:t>‹#›</a:t>
            </a:fld>
            <a:endParaRPr lang="en-US"/>
          </a:p>
        </p:txBody>
      </p:sp>
    </p:spTree>
    <p:extLst>
      <p:ext uri="{BB962C8B-B14F-4D97-AF65-F5344CB8AC3E}">
        <p14:creationId xmlns:p14="http://schemas.microsoft.com/office/powerpoint/2010/main" val="840242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5F715D8-5355-4280-A41D-C91F5D27A9C3}" type="datetime1">
              <a:rPr lang="en-US" smtClean="0"/>
              <a:t>7/16/2023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32C0A12-C8EC-4C9E-B534-C826B0CCC322}" type="slidenum">
              <a:rPr lang="en-US" smtClean="0"/>
              <a:t>‹#›</a:t>
            </a:fld>
            <a:endParaRPr lang="en-US"/>
          </a:p>
        </p:txBody>
      </p:sp>
    </p:spTree>
    <p:extLst>
      <p:ext uri="{BB962C8B-B14F-4D97-AF65-F5344CB8AC3E}">
        <p14:creationId xmlns:p14="http://schemas.microsoft.com/office/powerpoint/2010/main" val="11134247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FE3674D-5AA8-43F5-AEEC-A9507EC254DE}" type="datetime1">
              <a:rPr lang="en-US" smtClean="0"/>
              <a:t>7/16/2023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32C0A12-C8EC-4C9E-B534-C826B0CCC322}" type="slidenum">
              <a:rPr lang="en-US" smtClean="0"/>
              <a:t>‹#›</a:t>
            </a:fld>
            <a:endParaRPr lang="en-US"/>
          </a:p>
        </p:txBody>
      </p:sp>
    </p:spTree>
    <p:extLst>
      <p:ext uri="{BB962C8B-B14F-4D97-AF65-F5344CB8AC3E}">
        <p14:creationId xmlns:p14="http://schemas.microsoft.com/office/powerpoint/2010/main" val="11120993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1F7D1F5-AA1B-4515-8A06-07EE84D8FB50}" type="datetime1">
              <a:rPr lang="en-US" smtClean="0"/>
              <a:t>7/16/2023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32C0A12-C8EC-4C9E-B534-C826B0CCC322}" type="slidenum">
              <a:rPr lang="en-US" smtClean="0"/>
              <a:t>‹#›</a:t>
            </a:fld>
            <a:endParaRPr lang="en-US"/>
          </a:p>
        </p:txBody>
      </p:sp>
    </p:spTree>
    <p:extLst>
      <p:ext uri="{BB962C8B-B14F-4D97-AF65-F5344CB8AC3E}">
        <p14:creationId xmlns:p14="http://schemas.microsoft.com/office/powerpoint/2010/main" val="38141913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www.animalspot.net/coral-reef-animals" TargetMode="External"/><Relationship Id="rId2" Type="http://schemas.openxmlformats.org/officeDocument/2006/relationships/hyperlink" Target="https://oceanservice.noaa.gov/facts/coral_species.html"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s://coral.org/en/coral-reefs-101/types-of-coral-reefs-formations/"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445477"/>
            <a:ext cx="9144000" cy="1883142"/>
          </a:xfrm>
        </p:spPr>
        <p:txBody>
          <a:bodyPr>
            <a:normAutofit fontScale="90000"/>
          </a:bodyPr>
          <a:lstStyle/>
          <a:p>
            <a:r>
              <a:rPr lang="en-US" sz="4800" b="1" dirty="0" smtClean="0">
                <a:latin typeface="Times New Roman" panose="02020603050405020304" pitchFamily="18" charset="0"/>
                <a:cs typeface="Times New Roman" panose="02020603050405020304" pitchFamily="18" charset="0"/>
              </a:rPr>
              <a:t>CORAL REEFS-THE TROPICAL RAINFORESTS OF THE SEA</a:t>
            </a:r>
            <a:endParaRPr lang="en-US" sz="4800" b="1"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524000" y="2328619"/>
            <a:ext cx="9144000" cy="414581"/>
          </a:xfrm>
        </p:spPr>
        <p:txBody>
          <a:bodyPr>
            <a:normAutofit lnSpcReduction="10000"/>
          </a:bodyPr>
          <a:lstStyle/>
          <a:p>
            <a:r>
              <a:rPr lang="en-US" b="1" dirty="0" smtClean="0">
                <a:latin typeface="Times New Roman" panose="02020603050405020304" pitchFamily="18" charset="0"/>
                <a:cs typeface="Times New Roman" panose="02020603050405020304" pitchFamily="18" charset="0"/>
              </a:rPr>
              <a:t>GROUP 8</a:t>
            </a:r>
            <a:endParaRPr lang="en-US" b="1"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0954" y="2836986"/>
            <a:ext cx="10304584" cy="3282460"/>
          </a:xfrm>
          <a:prstGeom prst="rect">
            <a:avLst/>
          </a:prstGeom>
        </p:spPr>
      </p:pic>
      <p:sp>
        <p:nvSpPr>
          <p:cNvPr id="5" name="Slide Number Placeholder 4"/>
          <p:cNvSpPr>
            <a:spLocks noGrp="1"/>
          </p:cNvSpPr>
          <p:nvPr>
            <p:ph type="sldNum" sz="quarter" idx="12"/>
          </p:nvPr>
        </p:nvSpPr>
        <p:spPr/>
        <p:txBody>
          <a:bodyPr/>
          <a:lstStyle/>
          <a:p>
            <a:fld id="{132C0A12-C8EC-4C9E-B534-C826B0CCC322}" type="slidenum">
              <a:rPr lang="en-US" smtClean="0"/>
              <a:t>1</a:t>
            </a:fld>
            <a:endParaRPr lang="en-US" dirty="0"/>
          </a:p>
        </p:txBody>
      </p:sp>
    </p:spTree>
    <p:extLst>
      <p:ext uri="{BB962C8B-B14F-4D97-AF65-F5344CB8AC3E}">
        <p14:creationId xmlns:p14="http://schemas.microsoft.com/office/powerpoint/2010/main" val="6495904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Outline</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lnSpcReduction="10000"/>
          </a:bodyPr>
          <a:lstStyle/>
          <a:p>
            <a:pPr>
              <a:buFont typeface="Wingdings" panose="05000000000000000000" pitchFamily="2" charset="2"/>
              <a:buChar char="ü"/>
            </a:pPr>
            <a:r>
              <a:rPr lang="en-US" dirty="0" smtClean="0">
                <a:latin typeface="Times New Roman" panose="02020603050405020304" pitchFamily="18" charset="0"/>
                <a:cs typeface="Times New Roman" panose="02020603050405020304" pitchFamily="18" charset="0"/>
              </a:rPr>
              <a:t>Introduction</a:t>
            </a:r>
          </a:p>
          <a:p>
            <a:pPr>
              <a:buFont typeface="Wingdings" panose="05000000000000000000" pitchFamily="2" charset="2"/>
              <a:buChar char="ü"/>
            </a:pPr>
            <a:r>
              <a:rPr lang="en-US" dirty="0" smtClean="0">
                <a:latin typeface="Times New Roman" panose="02020603050405020304" pitchFamily="18" charset="0"/>
                <a:cs typeface="Times New Roman" panose="02020603050405020304" pitchFamily="18" charset="0"/>
              </a:rPr>
              <a:t>The </a:t>
            </a:r>
            <a:r>
              <a:rPr lang="en-US" dirty="0" smtClean="0">
                <a:latin typeface="Times New Roman" panose="02020603050405020304" pitchFamily="18" charset="0"/>
                <a:cs typeface="Times New Roman" panose="02020603050405020304" pitchFamily="18" charset="0"/>
              </a:rPr>
              <a:t>formation of reefs</a:t>
            </a:r>
            <a:endParaRPr lang="en-US"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en-US" dirty="0" smtClean="0">
                <a:latin typeface="Times New Roman" panose="02020603050405020304" pitchFamily="18" charset="0"/>
                <a:cs typeface="Times New Roman" panose="02020603050405020304" pitchFamily="18" charset="0"/>
              </a:rPr>
              <a:t>Types of coral reefs</a:t>
            </a:r>
          </a:p>
          <a:p>
            <a:pPr>
              <a:buFont typeface="Wingdings" panose="05000000000000000000" pitchFamily="2" charset="2"/>
              <a:buChar char="ü"/>
            </a:pPr>
            <a:r>
              <a:rPr lang="en-US" dirty="0" smtClean="0">
                <a:latin typeface="Times New Roman" panose="02020603050405020304" pitchFamily="18" charset="0"/>
                <a:cs typeface="Times New Roman" panose="02020603050405020304" pitchFamily="18" charset="0"/>
              </a:rPr>
              <a:t>Examples of coral reefs</a:t>
            </a:r>
          </a:p>
          <a:p>
            <a:pPr>
              <a:buFont typeface="Wingdings" panose="05000000000000000000" pitchFamily="2" charset="2"/>
              <a:buChar char="ü"/>
            </a:pPr>
            <a:r>
              <a:rPr lang="en-US" dirty="0" smtClean="0">
                <a:latin typeface="Times New Roman" panose="02020603050405020304" pitchFamily="18" charset="0"/>
                <a:cs typeface="Times New Roman" panose="02020603050405020304" pitchFamily="18" charset="0"/>
              </a:rPr>
              <a:t>Coral reefs as </a:t>
            </a:r>
            <a:r>
              <a:rPr lang="en-US" dirty="0">
                <a:latin typeface="Times New Roman" panose="02020603050405020304" pitchFamily="18" charset="0"/>
                <a:cs typeface="Times New Roman" panose="02020603050405020304" pitchFamily="18" charset="0"/>
              </a:rPr>
              <a:t>t</a:t>
            </a:r>
            <a:r>
              <a:rPr lang="en-US" dirty="0" smtClean="0">
                <a:latin typeface="Times New Roman" panose="02020603050405020304" pitchFamily="18" charset="0"/>
                <a:cs typeface="Times New Roman" panose="02020603050405020304" pitchFamily="18" charset="0"/>
              </a:rPr>
              <a:t>ropical </a:t>
            </a:r>
            <a:r>
              <a:rPr lang="en-US" dirty="0">
                <a:latin typeface="Times New Roman" panose="02020603050405020304" pitchFamily="18" charset="0"/>
                <a:cs typeface="Times New Roman" panose="02020603050405020304" pitchFamily="18" charset="0"/>
              </a:rPr>
              <a:t>r</a:t>
            </a:r>
            <a:r>
              <a:rPr lang="en-US" dirty="0" smtClean="0">
                <a:latin typeface="Times New Roman" panose="02020603050405020304" pitchFamily="18" charset="0"/>
                <a:cs typeface="Times New Roman" panose="02020603050405020304" pitchFamily="18" charset="0"/>
              </a:rPr>
              <a:t>ainforests Of the </a:t>
            </a:r>
            <a:r>
              <a:rPr lang="en-US" dirty="0">
                <a:latin typeface="Times New Roman" panose="02020603050405020304" pitchFamily="18" charset="0"/>
                <a:cs typeface="Times New Roman" panose="02020603050405020304" pitchFamily="18" charset="0"/>
              </a:rPr>
              <a:t>s</a:t>
            </a:r>
            <a:r>
              <a:rPr lang="en-US" dirty="0" smtClean="0">
                <a:latin typeface="Times New Roman" panose="02020603050405020304" pitchFamily="18" charset="0"/>
                <a:cs typeface="Times New Roman" panose="02020603050405020304" pitchFamily="18" charset="0"/>
              </a:rPr>
              <a:t>ea</a:t>
            </a: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Organisms </a:t>
            </a:r>
            <a:r>
              <a:rPr lang="en-US" dirty="0" smtClean="0">
                <a:latin typeface="Times New Roman" panose="02020603050405020304" pitchFamily="18" charset="0"/>
                <a:cs typeface="Times New Roman" panose="02020603050405020304" pitchFamily="18" charset="0"/>
              </a:rPr>
              <a:t>living </a:t>
            </a:r>
            <a:r>
              <a:rPr lang="en-US" dirty="0">
                <a:latin typeface="Times New Roman" panose="02020603050405020304" pitchFamily="18" charset="0"/>
                <a:cs typeface="Times New Roman" panose="02020603050405020304" pitchFamily="18" charset="0"/>
              </a:rPr>
              <a:t>o</a:t>
            </a:r>
            <a:r>
              <a:rPr lang="en-US" dirty="0" smtClean="0">
                <a:latin typeface="Times New Roman" panose="02020603050405020304" pitchFamily="18" charset="0"/>
                <a:cs typeface="Times New Roman" panose="02020603050405020304" pitchFamily="18" charset="0"/>
              </a:rPr>
              <a:t>n coral </a:t>
            </a:r>
            <a:r>
              <a:rPr lang="en-US" dirty="0">
                <a:latin typeface="Times New Roman" panose="02020603050405020304" pitchFamily="18" charset="0"/>
                <a:cs typeface="Times New Roman" panose="02020603050405020304" pitchFamily="18" charset="0"/>
              </a:rPr>
              <a:t>r</a:t>
            </a:r>
            <a:r>
              <a:rPr lang="en-US" dirty="0" smtClean="0">
                <a:latin typeface="Times New Roman" panose="02020603050405020304" pitchFamily="18" charset="0"/>
                <a:cs typeface="Times New Roman" panose="02020603050405020304" pitchFamily="18" charset="0"/>
              </a:rPr>
              <a:t>eefs</a:t>
            </a: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Importance Of </a:t>
            </a:r>
            <a:r>
              <a:rPr lang="en-US" dirty="0" smtClean="0">
                <a:latin typeface="Times New Roman" panose="02020603050405020304" pitchFamily="18" charset="0"/>
                <a:cs typeface="Times New Roman" panose="02020603050405020304" pitchFamily="18" charset="0"/>
              </a:rPr>
              <a:t>coral </a:t>
            </a:r>
            <a:r>
              <a:rPr lang="en-US" dirty="0">
                <a:latin typeface="Times New Roman" panose="02020603050405020304" pitchFamily="18" charset="0"/>
                <a:cs typeface="Times New Roman" panose="02020603050405020304" pitchFamily="18" charset="0"/>
              </a:rPr>
              <a:t>r</a:t>
            </a:r>
            <a:r>
              <a:rPr lang="en-US" dirty="0" smtClean="0">
                <a:latin typeface="Times New Roman" panose="02020603050405020304" pitchFamily="18" charset="0"/>
                <a:cs typeface="Times New Roman" panose="02020603050405020304" pitchFamily="18" charset="0"/>
              </a:rPr>
              <a:t>eefs </a:t>
            </a: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en-US" dirty="0" smtClean="0">
                <a:latin typeface="Times New Roman" panose="02020603050405020304" pitchFamily="18" charset="0"/>
                <a:cs typeface="Times New Roman" panose="02020603050405020304" pitchFamily="18" charset="0"/>
              </a:rPr>
              <a:t>Threats </a:t>
            </a:r>
            <a:r>
              <a:rPr lang="en-US" dirty="0">
                <a:latin typeface="Times New Roman" panose="02020603050405020304" pitchFamily="18" charset="0"/>
                <a:cs typeface="Times New Roman" panose="02020603050405020304" pitchFamily="18" charset="0"/>
              </a:rPr>
              <a:t>f</a:t>
            </a:r>
            <a:r>
              <a:rPr lang="en-US" dirty="0" smtClean="0">
                <a:latin typeface="Times New Roman" panose="02020603050405020304" pitchFamily="18" charset="0"/>
                <a:cs typeface="Times New Roman" panose="02020603050405020304" pitchFamily="18" charset="0"/>
              </a:rPr>
              <a:t>aced </a:t>
            </a:r>
            <a:r>
              <a:rPr lang="en-US" dirty="0">
                <a:latin typeface="Times New Roman" panose="02020603050405020304" pitchFamily="18" charset="0"/>
                <a:cs typeface="Times New Roman" panose="02020603050405020304" pitchFamily="18" charset="0"/>
              </a:rPr>
              <a:t>b</a:t>
            </a:r>
            <a:r>
              <a:rPr lang="en-US" dirty="0" smtClean="0">
                <a:latin typeface="Times New Roman" panose="02020603050405020304" pitchFamily="18" charset="0"/>
                <a:cs typeface="Times New Roman" panose="02020603050405020304" pitchFamily="18" charset="0"/>
              </a:rPr>
              <a:t>y </a:t>
            </a:r>
            <a:r>
              <a:rPr lang="en-US" dirty="0">
                <a:latin typeface="Times New Roman" panose="02020603050405020304" pitchFamily="18" charset="0"/>
                <a:cs typeface="Times New Roman" panose="02020603050405020304" pitchFamily="18" charset="0"/>
              </a:rPr>
              <a:t>c</a:t>
            </a:r>
            <a:r>
              <a:rPr lang="en-US" dirty="0" smtClean="0">
                <a:latin typeface="Times New Roman" panose="02020603050405020304" pitchFamily="18" charset="0"/>
                <a:cs typeface="Times New Roman" panose="02020603050405020304" pitchFamily="18" charset="0"/>
              </a:rPr>
              <a:t>oral </a:t>
            </a:r>
            <a:r>
              <a:rPr lang="en-US" dirty="0">
                <a:latin typeface="Times New Roman" panose="02020603050405020304" pitchFamily="18" charset="0"/>
                <a:cs typeface="Times New Roman" panose="02020603050405020304" pitchFamily="18" charset="0"/>
              </a:rPr>
              <a:t>r</a:t>
            </a:r>
            <a:r>
              <a:rPr lang="en-US" dirty="0" smtClean="0">
                <a:latin typeface="Times New Roman" panose="02020603050405020304" pitchFamily="18" charset="0"/>
                <a:cs typeface="Times New Roman" panose="02020603050405020304" pitchFamily="18" charset="0"/>
              </a:rPr>
              <a:t>eefs</a:t>
            </a:r>
          </a:p>
          <a:p>
            <a:pPr>
              <a:buFont typeface="Wingdings" panose="05000000000000000000" pitchFamily="2" charset="2"/>
              <a:buChar char="ü"/>
            </a:pPr>
            <a:r>
              <a:rPr lang="en-US" dirty="0" smtClean="0">
                <a:latin typeface="Times New Roman" panose="02020603050405020304" pitchFamily="18" charset="0"/>
                <a:cs typeface="Times New Roman" panose="02020603050405020304" pitchFamily="18" charset="0"/>
              </a:rPr>
              <a:t>Future Of coral </a:t>
            </a:r>
            <a:r>
              <a:rPr lang="en-US" dirty="0">
                <a:latin typeface="Times New Roman" panose="02020603050405020304" pitchFamily="18" charset="0"/>
                <a:cs typeface="Times New Roman" panose="02020603050405020304" pitchFamily="18" charset="0"/>
              </a:rPr>
              <a:t>r</a:t>
            </a:r>
            <a:r>
              <a:rPr lang="en-US" dirty="0" smtClean="0">
                <a:latin typeface="Times New Roman" panose="02020603050405020304" pitchFamily="18" charset="0"/>
                <a:cs typeface="Times New Roman" panose="02020603050405020304" pitchFamily="18" charset="0"/>
              </a:rPr>
              <a:t>eefs</a:t>
            </a:r>
          </a:p>
          <a:p>
            <a:pPr>
              <a:buFont typeface="Wingdings" panose="05000000000000000000" pitchFamily="2" charset="2"/>
              <a:buChar char="ü"/>
            </a:pPr>
            <a:endParaRPr lang="en-US" dirty="0" smtClean="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132C0A12-C8EC-4C9E-B534-C826B0CCC322}" type="slidenum">
              <a:rPr lang="en-US" smtClean="0"/>
              <a:t>2</a:t>
            </a:fld>
            <a:endParaRPr lang="en-US"/>
          </a:p>
        </p:txBody>
      </p:sp>
    </p:spTree>
    <p:extLst>
      <p:ext uri="{BB962C8B-B14F-4D97-AF65-F5344CB8AC3E}">
        <p14:creationId xmlns:p14="http://schemas.microsoft.com/office/powerpoint/2010/main" val="19320980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621323"/>
          </a:xfrm>
        </p:spPr>
        <p:txBody>
          <a:bodyPr>
            <a:normAutofit fontScale="90000"/>
          </a:bodyPr>
          <a:lstStyle/>
          <a:p>
            <a:r>
              <a:rPr lang="en-US" sz="4400" b="1" dirty="0" smtClean="0">
                <a:latin typeface="Times New Roman" panose="02020603050405020304" pitchFamily="18" charset="0"/>
                <a:cs typeface="Times New Roman" panose="02020603050405020304" pitchFamily="18" charset="0"/>
              </a:rPr>
              <a:t>Introduction</a:t>
            </a:r>
            <a:endParaRPr lang="en-US" sz="4400" b="1" dirty="0">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idx="1"/>
          </p:nvPr>
        </p:nvSpPr>
        <p:spPr>
          <a:xfrm>
            <a:off x="5359035" y="1078523"/>
            <a:ext cx="6172200" cy="4873625"/>
          </a:xfrm>
        </p:spPr>
        <p:txBody>
          <a:bodyPr>
            <a:normAutofit/>
          </a:bodyPr>
          <a:lstStyle/>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pPr marL="0" indent="0">
              <a:buNone/>
            </a:pPr>
            <a:r>
              <a:rPr lang="en-US" sz="2000" dirty="0" smtClean="0">
                <a:latin typeface="Times New Roman" panose="02020603050405020304" pitchFamily="18" charset="0"/>
                <a:cs typeface="Times New Roman" panose="02020603050405020304" pitchFamily="18" charset="0"/>
              </a:rPr>
              <a:t>fig.1 Coral polyps</a:t>
            </a:r>
          </a:p>
          <a:p>
            <a:endParaRPr lang="en-US" dirty="0" smtClean="0"/>
          </a:p>
          <a:p>
            <a:pPr marL="0" indent="0">
              <a:buNone/>
            </a:pPr>
            <a:endParaRPr lang="en-US" dirty="0"/>
          </a:p>
          <a:p>
            <a:pPr marL="0" indent="0">
              <a:buNone/>
            </a:pPr>
            <a:endParaRPr lang="en-US" dirty="0"/>
          </a:p>
          <a:p>
            <a:pPr marL="0" indent="0">
              <a:buNone/>
            </a:pPr>
            <a:endParaRPr lang="en-US" dirty="0" smtClean="0"/>
          </a:p>
        </p:txBody>
      </p:sp>
      <p:sp>
        <p:nvSpPr>
          <p:cNvPr id="6" name="Text Placeholder 5"/>
          <p:cNvSpPr>
            <a:spLocks noGrp="1"/>
          </p:cNvSpPr>
          <p:nvPr>
            <p:ph type="body" sz="half" idx="2"/>
          </p:nvPr>
        </p:nvSpPr>
        <p:spPr>
          <a:xfrm>
            <a:off x="839788" y="1078523"/>
            <a:ext cx="4519247" cy="5087815"/>
          </a:xfrm>
        </p:spPr>
        <p:txBody>
          <a:bodyPr>
            <a:noAutofit/>
          </a:bodyPr>
          <a:lstStyle/>
          <a:p>
            <a:r>
              <a:rPr lang="en-US" sz="2800" dirty="0" smtClean="0">
                <a:latin typeface="Times New Roman" panose="02020603050405020304" pitchFamily="18" charset="0"/>
                <a:cs typeface="Times New Roman" panose="02020603050405020304" pitchFamily="18" charset="0"/>
              </a:rPr>
              <a:t>Coral </a:t>
            </a:r>
            <a:r>
              <a:rPr lang="en-US" sz="2800" dirty="0">
                <a:latin typeface="Times New Roman" panose="02020603050405020304" pitchFamily="18" charset="0"/>
                <a:cs typeface="Times New Roman" panose="02020603050405020304" pitchFamily="18" charset="0"/>
              </a:rPr>
              <a:t>reefs </a:t>
            </a:r>
            <a:r>
              <a:rPr lang="en-US" sz="2800" dirty="0" smtClean="0">
                <a:latin typeface="Times New Roman" panose="02020603050405020304" pitchFamily="18" charset="0"/>
                <a:cs typeface="Times New Roman" panose="02020603050405020304" pitchFamily="18" charset="0"/>
              </a:rPr>
              <a:t>are hills of rough, sharp pointed rocks formed by deposition of calcium carbonate by calcareous corals.</a:t>
            </a:r>
            <a:endParaRPr lang="en-US" sz="2800" dirty="0">
              <a:latin typeface="Times New Roman" panose="02020603050405020304" pitchFamily="18" charset="0"/>
              <a:cs typeface="Times New Roman" panose="02020603050405020304" pitchFamily="18" charset="0"/>
            </a:endParaRPr>
          </a:p>
          <a:p>
            <a:endParaRPr lang="en-US" sz="2800" dirty="0" smtClean="0">
              <a:latin typeface="Times New Roman" panose="02020603050405020304" pitchFamily="18" charset="0"/>
              <a:cs typeface="Times New Roman" panose="02020603050405020304" pitchFamily="18" charset="0"/>
            </a:endParaRPr>
          </a:p>
          <a:p>
            <a:r>
              <a:rPr lang="en-US" sz="2800" dirty="0" smtClean="0">
                <a:latin typeface="Times New Roman" panose="02020603050405020304" pitchFamily="18" charset="0"/>
                <a:cs typeface="Times New Roman" panose="02020603050405020304" pitchFamily="18" charset="0"/>
              </a:rPr>
              <a:t>They </a:t>
            </a:r>
            <a:r>
              <a:rPr lang="en-US" sz="2800" dirty="0">
                <a:latin typeface="Times New Roman" panose="02020603050405020304" pitchFamily="18" charset="0"/>
                <a:cs typeface="Times New Roman" panose="02020603050405020304" pitchFamily="18" charset="0"/>
              </a:rPr>
              <a:t>are formed on the sea floors in tropical </a:t>
            </a:r>
            <a:r>
              <a:rPr lang="en-US" sz="2800" dirty="0" smtClean="0">
                <a:latin typeface="Times New Roman" panose="02020603050405020304" pitchFamily="18" charset="0"/>
                <a:cs typeface="Times New Roman" panose="02020603050405020304" pitchFamily="18" charset="0"/>
              </a:rPr>
              <a:t>regions.</a:t>
            </a:r>
            <a:endParaRPr lang="en-US" sz="2800" dirty="0">
              <a:latin typeface="Times New Roman" panose="02020603050405020304" pitchFamily="18" charset="0"/>
              <a:cs typeface="Times New Roman" panose="02020603050405020304" pitchFamily="18" charset="0"/>
            </a:endParaRP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59035" y="1078523"/>
            <a:ext cx="6172200" cy="3786555"/>
          </a:xfrm>
          <a:prstGeom prst="rect">
            <a:avLst/>
          </a:prstGeom>
        </p:spPr>
      </p:pic>
      <p:sp>
        <p:nvSpPr>
          <p:cNvPr id="3" name="Slide Number Placeholder 2"/>
          <p:cNvSpPr>
            <a:spLocks noGrp="1"/>
          </p:cNvSpPr>
          <p:nvPr>
            <p:ph type="sldNum" sz="quarter" idx="12"/>
          </p:nvPr>
        </p:nvSpPr>
        <p:spPr/>
        <p:txBody>
          <a:bodyPr/>
          <a:lstStyle/>
          <a:p>
            <a:fld id="{132C0A12-C8EC-4C9E-B534-C826B0CCC322}" type="slidenum">
              <a:rPr lang="en-US" smtClean="0"/>
              <a:t>3</a:t>
            </a:fld>
            <a:endParaRPr lang="en-US"/>
          </a:p>
        </p:txBody>
      </p:sp>
    </p:spTree>
    <p:extLst>
      <p:ext uri="{BB962C8B-B14F-4D97-AF65-F5344CB8AC3E}">
        <p14:creationId xmlns:p14="http://schemas.microsoft.com/office/powerpoint/2010/main" val="1368699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Formation of </a:t>
            </a:r>
            <a:r>
              <a:rPr lang="en-US" b="1" dirty="0">
                <a:latin typeface="Times New Roman" panose="02020603050405020304" pitchFamily="18" charset="0"/>
                <a:cs typeface="Times New Roman" panose="02020603050405020304" pitchFamily="18" charset="0"/>
              </a:rPr>
              <a:t>c</a:t>
            </a:r>
            <a:r>
              <a:rPr lang="en-US" b="1" dirty="0" smtClean="0">
                <a:latin typeface="Times New Roman" panose="02020603050405020304" pitchFamily="18" charset="0"/>
                <a:cs typeface="Times New Roman" panose="02020603050405020304" pitchFamily="18" charset="0"/>
              </a:rPr>
              <a:t>oral </a:t>
            </a:r>
            <a:r>
              <a:rPr lang="en-US" b="1" dirty="0">
                <a:latin typeface="Times New Roman" panose="02020603050405020304" pitchFamily="18" charset="0"/>
                <a:cs typeface="Times New Roman" panose="02020603050405020304" pitchFamily="18" charset="0"/>
              </a:rPr>
              <a:t>r</a:t>
            </a:r>
            <a:r>
              <a:rPr lang="en-US" b="1" dirty="0" smtClean="0">
                <a:latin typeface="Times New Roman" panose="02020603050405020304" pitchFamily="18" charset="0"/>
                <a:cs typeface="Times New Roman" panose="02020603050405020304" pitchFamily="18" charset="0"/>
              </a:rPr>
              <a:t>eefs</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marL="0" indent="0">
              <a:buNone/>
            </a:pPr>
            <a:r>
              <a:rPr lang="en-US" dirty="0" smtClean="0">
                <a:latin typeface="Times New Roman" panose="02020603050405020304" pitchFamily="18" charset="0"/>
                <a:cs typeface="Times New Roman" panose="02020603050405020304" pitchFamily="18" charset="0"/>
              </a:rPr>
              <a:t>Coral reefs are formed through the following processes:</a:t>
            </a:r>
          </a:p>
          <a:p>
            <a:pPr>
              <a:buFont typeface="Wingdings" panose="05000000000000000000" pitchFamily="2" charset="2"/>
              <a:buChar char="ü"/>
            </a:pP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en-US" dirty="0" smtClean="0">
                <a:latin typeface="Times New Roman" panose="02020603050405020304" pitchFamily="18" charset="0"/>
                <a:cs typeface="Times New Roman" panose="02020603050405020304" pitchFamily="18" charset="0"/>
              </a:rPr>
              <a:t>Establishment of symbiotic relationship  </a:t>
            </a:r>
          </a:p>
          <a:p>
            <a:pPr>
              <a:buFont typeface="Wingdings" panose="05000000000000000000" pitchFamily="2" charset="2"/>
              <a:buChar char="ü"/>
            </a:pPr>
            <a:endParaRPr lang="en-US"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en-US" dirty="0" smtClean="0">
                <a:latin typeface="Times New Roman" panose="02020603050405020304" pitchFamily="18" charset="0"/>
                <a:cs typeface="Times New Roman" panose="02020603050405020304" pitchFamily="18" charset="0"/>
              </a:rPr>
              <a:t>Production and deposition of calcium carbonate</a:t>
            </a:r>
          </a:p>
          <a:p>
            <a:pPr marL="0" indent="0">
              <a:buNone/>
            </a:pPr>
            <a:endParaRPr lang="en-US"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en-US" dirty="0" smtClean="0">
                <a:latin typeface="Times New Roman" panose="02020603050405020304" pitchFamily="18" charset="0"/>
                <a:cs typeface="Times New Roman" panose="02020603050405020304" pitchFamily="18" charset="0"/>
              </a:rPr>
              <a:t>Reef formation</a:t>
            </a:r>
          </a:p>
          <a:p>
            <a:pPr marL="0" indent="0">
              <a:buNone/>
            </a:pPr>
            <a:endParaRPr lang="en-US" dirty="0" smtClean="0">
              <a:latin typeface="Times New Roman" panose="02020603050405020304" pitchFamily="18" charset="0"/>
              <a:cs typeface="Times New Roman" panose="02020603050405020304" pitchFamily="18" charset="0"/>
            </a:endParaRPr>
          </a:p>
          <a:p>
            <a:pPr marL="0" indent="0">
              <a:buNone/>
            </a:pPr>
            <a:endParaRPr lang="en-US" dirty="0" smtClean="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132C0A12-C8EC-4C9E-B534-C826B0CCC322}" type="slidenum">
              <a:rPr lang="en-US" smtClean="0"/>
              <a:t>4</a:t>
            </a:fld>
            <a:endParaRPr lang="en-US"/>
          </a:p>
        </p:txBody>
      </p:sp>
    </p:spTree>
    <p:extLst>
      <p:ext uri="{BB962C8B-B14F-4D97-AF65-F5344CB8AC3E}">
        <p14:creationId xmlns:p14="http://schemas.microsoft.com/office/powerpoint/2010/main" val="22020657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Types of coral reefs</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lnSpcReduction="10000"/>
          </a:bodyPr>
          <a:lstStyle/>
          <a:p>
            <a:pPr marL="0" indent="0">
              <a:buNone/>
            </a:pPr>
            <a:r>
              <a:rPr lang="en-US" dirty="0" smtClean="0">
                <a:latin typeface="Times New Roman" panose="02020603050405020304" pitchFamily="18" charset="0"/>
                <a:cs typeface="Times New Roman" panose="02020603050405020304" pitchFamily="18" charset="0"/>
              </a:rPr>
              <a:t>According to the Coral Reef Alliance, there are four types namely:</a:t>
            </a:r>
          </a:p>
          <a:p>
            <a:pPr marL="0" indent="0">
              <a:buNone/>
            </a:pP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en-US" dirty="0" smtClean="0">
                <a:latin typeface="Times New Roman" panose="02020603050405020304" pitchFamily="18" charset="0"/>
                <a:cs typeface="Times New Roman" panose="02020603050405020304" pitchFamily="18" charset="0"/>
              </a:rPr>
              <a:t>Fringing Reefs</a:t>
            </a:r>
          </a:p>
          <a:p>
            <a:pPr>
              <a:buFont typeface="Wingdings" panose="05000000000000000000" pitchFamily="2" charset="2"/>
              <a:buChar char="ü"/>
            </a:pP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en-US" dirty="0" smtClean="0">
                <a:latin typeface="Times New Roman" panose="02020603050405020304" pitchFamily="18" charset="0"/>
                <a:cs typeface="Times New Roman" panose="02020603050405020304" pitchFamily="18" charset="0"/>
              </a:rPr>
              <a:t>Barrier Reefs</a:t>
            </a:r>
          </a:p>
          <a:p>
            <a:pPr>
              <a:buFont typeface="Wingdings" panose="05000000000000000000" pitchFamily="2" charset="2"/>
              <a:buChar char="ü"/>
            </a:pPr>
            <a:endParaRPr lang="en-US"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en-US" dirty="0" smtClean="0">
                <a:latin typeface="Times New Roman" panose="02020603050405020304" pitchFamily="18" charset="0"/>
                <a:cs typeface="Times New Roman" panose="02020603050405020304" pitchFamily="18" charset="0"/>
              </a:rPr>
              <a:t>Atolls</a:t>
            </a:r>
          </a:p>
          <a:p>
            <a:pPr marL="0" indent="0">
              <a:buNone/>
            </a:pPr>
            <a:endParaRPr lang="en-US"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en-US" dirty="0" smtClean="0">
                <a:latin typeface="Times New Roman" panose="02020603050405020304" pitchFamily="18" charset="0"/>
                <a:cs typeface="Times New Roman" panose="02020603050405020304" pitchFamily="18" charset="0"/>
              </a:rPr>
              <a:t>Patch Reefs</a:t>
            </a:r>
          </a:p>
          <a:p>
            <a:pPr marL="0" indent="0">
              <a:buNone/>
            </a:pPr>
            <a:endParaRPr lang="en-US" dirty="0" smtClean="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132C0A12-C8EC-4C9E-B534-C826B0CCC322}" type="slidenum">
              <a:rPr lang="en-US" smtClean="0"/>
              <a:t>5</a:t>
            </a:fld>
            <a:endParaRPr lang="en-US"/>
          </a:p>
        </p:txBody>
      </p:sp>
    </p:spTree>
    <p:extLst>
      <p:ext uri="{BB962C8B-B14F-4D97-AF65-F5344CB8AC3E}">
        <p14:creationId xmlns:p14="http://schemas.microsoft.com/office/powerpoint/2010/main" val="33893609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838200" y="365125"/>
            <a:ext cx="10515600" cy="467213"/>
          </a:xfrm>
        </p:spPr>
        <p:txBody>
          <a:bodyPr>
            <a:noAutofit/>
          </a:bodyPr>
          <a:lstStyle/>
          <a:p>
            <a:r>
              <a:rPr lang="en-US" b="1" dirty="0" smtClean="0">
                <a:latin typeface="Times New Roman" panose="02020603050405020304" pitchFamily="18" charset="0"/>
                <a:cs typeface="Times New Roman" panose="02020603050405020304" pitchFamily="18" charset="0"/>
              </a:rPr>
              <a:t>Examples of coral reefs</a:t>
            </a:r>
            <a:endParaRPr lang="en-US" b="1" dirty="0">
              <a:latin typeface="Times New Roman" panose="02020603050405020304" pitchFamily="18" charset="0"/>
              <a:cs typeface="Times New Roman" panose="02020603050405020304" pitchFamily="18" charset="0"/>
            </a:endParaRPr>
          </a:p>
        </p:txBody>
      </p:sp>
      <p:sp>
        <p:nvSpPr>
          <p:cNvPr id="14" name="Content Placeholder 13"/>
          <p:cNvSpPr>
            <a:spLocks noGrp="1"/>
          </p:cNvSpPr>
          <p:nvPr>
            <p:ph idx="1"/>
          </p:nvPr>
        </p:nvSpPr>
        <p:spPr>
          <a:xfrm>
            <a:off x="838200" y="832338"/>
            <a:ext cx="10515600" cy="5344625"/>
          </a:xfrm>
        </p:spPr>
        <p:txBody>
          <a:bodyPr>
            <a:normAutofit lnSpcReduction="10000"/>
          </a:bodyPr>
          <a:lstStyle/>
          <a:p>
            <a:pPr marL="0" indent="0">
              <a:buNone/>
            </a:pPr>
            <a:endParaRPr lang="en-US" dirty="0" smtClean="0"/>
          </a:p>
          <a:p>
            <a:pPr marL="0" indent="0">
              <a:buNone/>
            </a:pPr>
            <a:endParaRPr lang="en-US" dirty="0"/>
          </a:p>
          <a:p>
            <a:pPr marL="0" indent="0">
              <a:buNone/>
            </a:pPr>
            <a:endParaRPr lang="en-US" dirty="0"/>
          </a:p>
          <a:p>
            <a:pPr marL="0" indent="0">
              <a:buNone/>
            </a:pPr>
            <a:r>
              <a:rPr lang="en-US" dirty="0" smtClean="0"/>
              <a:t>  </a:t>
            </a:r>
          </a:p>
          <a:p>
            <a:pPr marL="0" indent="0">
              <a:buNone/>
            </a:pPr>
            <a:r>
              <a:rPr lang="en-US" sz="2000" dirty="0" smtClean="0">
                <a:latin typeface="Times New Roman" panose="02020603050405020304" pitchFamily="18" charset="0"/>
                <a:cs typeface="Times New Roman" panose="02020603050405020304" pitchFamily="18" charset="0"/>
              </a:rPr>
              <a:t>   fig.2 Elkhorn coral reef.                                            fig.3  Amazon reef.</a:t>
            </a:r>
          </a:p>
          <a:p>
            <a:pPr marL="0" indent="0">
              <a:buNone/>
            </a:pPr>
            <a:endParaRPr lang="en-US" dirty="0" smtClean="0"/>
          </a:p>
          <a:p>
            <a:pPr marL="0" indent="0">
              <a:buNone/>
            </a:pPr>
            <a:endParaRPr lang="en-US" dirty="0"/>
          </a:p>
          <a:p>
            <a:pPr marL="0" indent="0">
              <a:buNone/>
            </a:pPr>
            <a:endParaRPr lang="en-US" dirty="0" smtClean="0"/>
          </a:p>
          <a:p>
            <a:pPr marL="0" indent="0">
              <a:buNone/>
            </a:pPr>
            <a:endParaRPr lang="en-US" dirty="0"/>
          </a:p>
          <a:p>
            <a:pPr marL="0" indent="0">
              <a:buNone/>
            </a:pPr>
            <a:endParaRPr lang="en-US" dirty="0"/>
          </a:p>
          <a:p>
            <a:pPr marL="0" indent="0">
              <a:buNone/>
            </a:pPr>
            <a:r>
              <a:rPr lang="en-US" sz="2000" dirty="0" smtClean="0">
                <a:latin typeface="Times New Roman" panose="02020603050405020304" pitchFamily="18" charset="0"/>
                <a:cs typeface="Times New Roman" panose="02020603050405020304" pitchFamily="18" charset="0"/>
              </a:rPr>
              <a:t>  fig.4 Fire reef.                                                             fig.5 Staghorn coral reef.</a:t>
            </a:r>
          </a:p>
        </p:txBody>
      </p:sp>
      <p:pic>
        <p:nvPicPr>
          <p:cNvPr id="15" name="Picture Placeholder 1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4724" y="986813"/>
            <a:ext cx="5018942" cy="1686049"/>
          </a:xfrm>
          <a:prstGeom prst="rect">
            <a:avLst/>
          </a:prstGeom>
        </p:spPr>
      </p:pic>
      <p:pic>
        <p:nvPicPr>
          <p:cNvPr id="16" name="Picture 1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86856" y="986814"/>
            <a:ext cx="4577861" cy="1686048"/>
          </a:xfrm>
          <a:prstGeom prst="rect">
            <a:avLst/>
          </a:prstGeom>
        </p:spPr>
      </p:pic>
      <p:pic>
        <p:nvPicPr>
          <p:cNvPr id="18" name="Picture 1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53612" y="3259015"/>
            <a:ext cx="5120054" cy="2145323"/>
          </a:xfrm>
          <a:prstGeom prst="rect">
            <a:avLst/>
          </a:prstGeom>
        </p:spPr>
      </p:pic>
      <p:pic>
        <p:nvPicPr>
          <p:cNvPr id="19" name="Picture 1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186856" y="3259015"/>
            <a:ext cx="4692159" cy="2145323"/>
          </a:xfrm>
          <a:prstGeom prst="rect">
            <a:avLst/>
          </a:prstGeom>
        </p:spPr>
      </p:pic>
      <p:sp>
        <p:nvSpPr>
          <p:cNvPr id="2" name="Slide Number Placeholder 1"/>
          <p:cNvSpPr>
            <a:spLocks noGrp="1"/>
          </p:cNvSpPr>
          <p:nvPr>
            <p:ph type="sldNum" sz="quarter" idx="12"/>
          </p:nvPr>
        </p:nvSpPr>
        <p:spPr/>
        <p:txBody>
          <a:bodyPr/>
          <a:lstStyle/>
          <a:p>
            <a:fld id="{132C0A12-C8EC-4C9E-B534-C826B0CCC322}" type="slidenum">
              <a:rPr lang="en-US" smtClean="0"/>
              <a:t>6</a:t>
            </a:fld>
            <a:endParaRPr lang="en-US"/>
          </a:p>
        </p:txBody>
      </p:sp>
    </p:spTree>
    <p:extLst>
      <p:ext uri="{BB962C8B-B14F-4D97-AF65-F5344CB8AC3E}">
        <p14:creationId xmlns:p14="http://schemas.microsoft.com/office/powerpoint/2010/main" val="27990052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Coral reefs </a:t>
            </a:r>
            <a:r>
              <a:rPr lang="en-US" b="1" dirty="0">
                <a:latin typeface="Times New Roman" panose="02020603050405020304" pitchFamily="18" charset="0"/>
                <a:cs typeface="Times New Roman" panose="02020603050405020304" pitchFamily="18" charset="0"/>
              </a:rPr>
              <a:t>a</a:t>
            </a:r>
            <a:r>
              <a:rPr lang="en-US" b="1" dirty="0" smtClean="0">
                <a:latin typeface="Times New Roman" panose="02020603050405020304" pitchFamily="18" charset="0"/>
                <a:cs typeface="Times New Roman" panose="02020603050405020304" pitchFamily="18" charset="0"/>
              </a:rPr>
              <a:t>s </a:t>
            </a:r>
            <a:r>
              <a:rPr lang="en-US" b="1" dirty="0">
                <a:latin typeface="Times New Roman" panose="02020603050405020304" pitchFamily="18" charset="0"/>
                <a:cs typeface="Times New Roman" panose="02020603050405020304" pitchFamily="18" charset="0"/>
              </a:rPr>
              <a:t>t</a:t>
            </a:r>
            <a:r>
              <a:rPr lang="en-US" b="1" dirty="0" smtClean="0">
                <a:latin typeface="Times New Roman" panose="02020603050405020304" pitchFamily="18" charset="0"/>
                <a:cs typeface="Times New Roman" panose="02020603050405020304" pitchFamily="18" charset="0"/>
              </a:rPr>
              <a:t>ropical rainforests of the sea</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55430" y="1825626"/>
            <a:ext cx="10515600" cy="4351338"/>
          </a:xfrm>
        </p:spPr>
        <p:txBody>
          <a:bodyPr/>
          <a:lstStyle/>
          <a:p>
            <a:pPr marL="0" indent="0">
              <a:buNone/>
            </a:pPr>
            <a:r>
              <a:rPr lang="en-US" dirty="0" smtClean="0">
                <a:latin typeface="Times New Roman" panose="02020603050405020304" pitchFamily="18" charset="0"/>
                <a:cs typeface="Times New Roman" panose="02020603050405020304" pitchFamily="18" charset="0"/>
              </a:rPr>
              <a:t>Coral reefs are similar to tropical rainforests as they are also,</a:t>
            </a: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en-US" dirty="0" smtClean="0">
                <a:latin typeface="Times New Roman" panose="02020603050405020304" pitchFamily="18" charset="0"/>
                <a:cs typeface="Times New Roman" panose="02020603050405020304" pitchFamily="18" charset="0"/>
              </a:rPr>
              <a:t>Located </a:t>
            </a:r>
            <a:r>
              <a:rPr lang="en-US" dirty="0">
                <a:latin typeface="Times New Roman" panose="02020603050405020304" pitchFamily="18" charset="0"/>
                <a:cs typeface="Times New Roman" panose="02020603050405020304" pitchFamily="18" charset="0"/>
              </a:rPr>
              <a:t>in the tropics</a:t>
            </a:r>
          </a:p>
          <a:p>
            <a:pPr marL="0" indent="0">
              <a:buNone/>
            </a:pP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en-US" dirty="0" smtClean="0">
                <a:latin typeface="Times New Roman" panose="02020603050405020304" pitchFamily="18" charset="0"/>
                <a:cs typeface="Times New Roman" panose="02020603050405020304" pitchFamily="18" charset="0"/>
              </a:rPr>
              <a:t>Highly productive</a:t>
            </a:r>
          </a:p>
          <a:p>
            <a:pPr>
              <a:buFont typeface="Wingdings" panose="05000000000000000000" pitchFamily="2" charset="2"/>
              <a:buChar char="ü"/>
            </a:pPr>
            <a:endParaRPr lang="en-US"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Vertically stratified</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smtClean="0">
              <a:latin typeface="Times New Roman" panose="02020603050405020304" pitchFamily="18" charset="0"/>
              <a:cs typeface="Times New Roman" panose="02020603050405020304" pitchFamily="18" charset="0"/>
            </a:endParaRPr>
          </a:p>
          <a:p>
            <a:pPr marL="0" indent="0">
              <a:buNone/>
            </a:pPr>
            <a:endParaRPr lang="en-US" dirty="0" smtClean="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132C0A12-C8EC-4C9E-B534-C826B0CCC322}" type="slidenum">
              <a:rPr lang="en-US" smtClean="0"/>
              <a:t>7</a:t>
            </a:fld>
            <a:endParaRPr lang="en-US"/>
          </a:p>
        </p:txBody>
      </p:sp>
    </p:spTree>
    <p:extLst>
      <p:ext uri="{BB962C8B-B14F-4D97-AF65-F5344CB8AC3E}">
        <p14:creationId xmlns:p14="http://schemas.microsoft.com/office/powerpoint/2010/main" val="10025832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1875204" y="750278"/>
            <a:ext cx="5369169" cy="3812197"/>
          </a:xfrm>
        </p:spPr>
        <p:txBody>
          <a:bodyPr/>
          <a:lstStyle/>
          <a:p>
            <a:endParaRPr lang="en-US" dirty="0"/>
          </a:p>
        </p:txBody>
      </p:sp>
      <p:sp>
        <p:nvSpPr>
          <p:cNvPr id="8" name="Text Placeholder 7"/>
          <p:cNvSpPr>
            <a:spLocks noGrp="1"/>
          </p:cNvSpPr>
          <p:nvPr>
            <p:ph type="body" idx="1"/>
          </p:nvPr>
        </p:nvSpPr>
        <p:spPr>
          <a:xfrm>
            <a:off x="831850" y="4589463"/>
            <a:ext cx="10515600" cy="1500187"/>
          </a:xfrm>
        </p:spPr>
        <p:txBody>
          <a:bodyPr/>
          <a:lstStyle/>
          <a:p>
            <a:endParaRPr lang="en-US" dirty="0" smtClean="0">
              <a:solidFill>
                <a:schemeClr val="tx1"/>
              </a:solidFill>
              <a:latin typeface="Times New Roman" panose="02020603050405020304" pitchFamily="18" charset="0"/>
              <a:cs typeface="Times New Roman" panose="02020603050405020304" pitchFamily="18" charset="0"/>
            </a:endParaRPr>
          </a:p>
          <a:p>
            <a:endParaRPr lang="en-US" dirty="0" smtClean="0">
              <a:solidFill>
                <a:schemeClr val="tx1"/>
              </a:solidFill>
              <a:latin typeface="Times New Roman" panose="02020603050405020304" pitchFamily="18" charset="0"/>
              <a:cs typeface="Times New Roman" panose="02020603050405020304" pitchFamily="18" charset="0"/>
            </a:endParaRPr>
          </a:p>
          <a:p>
            <a:r>
              <a:rPr lang="en-US" sz="2000" dirty="0" smtClean="0">
                <a:solidFill>
                  <a:schemeClr val="tx1"/>
                </a:solidFill>
                <a:latin typeface="Times New Roman" panose="02020603050405020304" pitchFamily="18" charset="0"/>
                <a:cs typeface="Times New Roman" panose="02020603050405020304" pitchFamily="18" charset="0"/>
              </a:rPr>
              <a:t>               fig.6 Vertical stratification in coral reefs. </a:t>
            </a:r>
            <a:endParaRPr lang="en-US" sz="2000" dirty="0">
              <a:solidFill>
                <a:schemeClr val="tx1"/>
              </a:solidFill>
              <a:latin typeface="Times New Roman" panose="02020603050405020304" pitchFamily="18" charset="0"/>
              <a:cs typeface="Times New Roman" panose="02020603050405020304" pitchFamily="18" charset="0"/>
            </a:endParaRPr>
          </a:p>
        </p:txBody>
      </p:sp>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75204" y="750278"/>
            <a:ext cx="6412523" cy="4747845"/>
          </a:xfrm>
          <a:prstGeom prst="rect">
            <a:avLst/>
          </a:prstGeom>
        </p:spPr>
      </p:pic>
      <p:sp>
        <p:nvSpPr>
          <p:cNvPr id="2" name="Slide Number Placeholder 1"/>
          <p:cNvSpPr>
            <a:spLocks noGrp="1"/>
          </p:cNvSpPr>
          <p:nvPr>
            <p:ph type="sldNum" sz="quarter" idx="12"/>
          </p:nvPr>
        </p:nvSpPr>
        <p:spPr/>
        <p:txBody>
          <a:bodyPr/>
          <a:lstStyle/>
          <a:p>
            <a:fld id="{132C0A12-C8EC-4C9E-B534-C826B0CCC322}" type="slidenum">
              <a:rPr lang="en-US" smtClean="0"/>
              <a:t>8</a:t>
            </a:fld>
            <a:endParaRPr lang="en-US"/>
          </a:p>
        </p:txBody>
      </p:sp>
    </p:spTree>
    <p:extLst>
      <p:ext uri="{BB962C8B-B14F-4D97-AF65-F5344CB8AC3E}">
        <p14:creationId xmlns:p14="http://schemas.microsoft.com/office/powerpoint/2010/main" val="4810929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Organisms found </a:t>
            </a:r>
            <a:r>
              <a:rPr lang="en-US" b="1" dirty="0">
                <a:latin typeface="Times New Roman" panose="02020603050405020304" pitchFamily="18" charset="0"/>
                <a:cs typeface="Times New Roman" panose="02020603050405020304" pitchFamily="18" charset="0"/>
              </a:rPr>
              <a:t>o</a:t>
            </a:r>
            <a:r>
              <a:rPr lang="en-US" b="1" dirty="0" smtClean="0">
                <a:latin typeface="Times New Roman" panose="02020603050405020304" pitchFamily="18" charset="0"/>
                <a:cs typeface="Times New Roman" panose="02020603050405020304" pitchFamily="18" charset="0"/>
              </a:rPr>
              <a:t>n </a:t>
            </a:r>
            <a:r>
              <a:rPr lang="en-US" b="1" dirty="0">
                <a:latin typeface="Times New Roman" panose="02020603050405020304" pitchFamily="18" charset="0"/>
                <a:cs typeface="Times New Roman" panose="02020603050405020304" pitchFamily="18" charset="0"/>
              </a:rPr>
              <a:t>c</a:t>
            </a:r>
            <a:r>
              <a:rPr lang="en-US" b="1" dirty="0" smtClean="0">
                <a:latin typeface="Times New Roman" panose="02020603050405020304" pitchFamily="18" charset="0"/>
                <a:cs typeface="Times New Roman" panose="02020603050405020304" pitchFamily="18" charset="0"/>
              </a:rPr>
              <a:t>oral </a:t>
            </a:r>
            <a:r>
              <a:rPr lang="en-US" b="1" dirty="0">
                <a:latin typeface="Times New Roman" panose="02020603050405020304" pitchFamily="18" charset="0"/>
                <a:cs typeface="Times New Roman" panose="02020603050405020304" pitchFamily="18" charset="0"/>
              </a:rPr>
              <a:t>r</a:t>
            </a:r>
            <a:r>
              <a:rPr lang="en-US" b="1" dirty="0" smtClean="0">
                <a:latin typeface="Times New Roman" panose="02020603050405020304" pitchFamily="18" charset="0"/>
                <a:cs typeface="Times New Roman" panose="02020603050405020304" pitchFamily="18" charset="0"/>
              </a:rPr>
              <a:t>eefs</a:t>
            </a:r>
            <a:endParaRPr lang="en-US" b="1" dirty="0">
              <a:latin typeface="Times New Roman" panose="02020603050405020304" pitchFamily="18" charset="0"/>
              <a:cs typeface="Times New Roman" panose="02020603050405020304" pitchFamily="18" charset="0"/>
            </a:endParaRPr>
          </a:p>
        </p:txBody>
      </p:sp>
      <p:sp>
        <p:nvSpPr>
          <p:cNvPr id="14" name="Title 1"/>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p>
        </p:txBody>
      </p:sp>
      <p:sp>
        <p:nvSpPr>
          <p:cNvPr id="15" name="Content Placeholder 2"/>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mtClean="0"/>
              <a:t> </a:t>
            </a:r>
            <a:endParaRPr lang="en-US" dirty="0"/>
          </a:p>
        </p:txBody>
      </p:sp>
      <p:sp>
        <p:nvSpPr>
          <p:cNvPr id="21" name="Rectangle 9"/>
          <p:cNvSpPr>
            <a:spLocks noChangeArrowheads="1"/>
          </p:cNvSpPr>
          <p:nvPr/>
        </p:nvSpPr>
        <p:spPr bwMode="auto">
          <a:xfrm>
            <a:off x="222739" y="6096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100" b="0" i="0" u="none" strike="noStrike" cap="none" normalizeH="0" baseline="0" smtClean="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
            </a:r>
            <a:br>
              <a:rPr kumimoji="0" lang="en-US" sz="1100" b="0" i="0" u="none" strike="noStrike" cap="none" normalizeH="0" baseline="0" smtClean="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br>
            <a:endParaRPr kumimoji="0" lang="en-US" sz="1100" b="0" i="0" u="none" strike="noStrike" cap="none" normalizeH="0" baseline="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anose="020B0604020202020204" pitchFamily="34" charset="0"/>
            </a:endParaRPr>
          </a:p>
        </p:txBody>
      </p:sp>
      <p:sp>
        <p:nvSpPr>
          <p:cNvPr id="22" name="Rectangle 15"/>
          <p:cNvSpPr>
            <a:spLocks noChangeArrowheads="1"/>
          </p:cNvSpPr>
          <p:nvPr/>
        </p:nvSpPr>
        <p:spPr bwMode="auto">
          <a:xfrm>
            <a:off x="152400" y="6096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100" b="0" i="0" u="none" strike="noStrike" cap="none" normalizeH="0" baseline="0" smtClean="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
            </a:r>
            <a:br>
              <a:rPr kumimoji="0" lang="en-US" sz="1100" b="0" i="0" u="none" strike="noStrike" cap="none" normalizeH="0" baseline="0" smtClean="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br>
            <a:endParaRPr kumimoji="0" lang="en-US" sz="1100" b="0" i="0" u="none" strike="noStrike" cap="none" normalizeH="0" baseline="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anose="020B0604020202020204" pitchFamily="34" charset="0"/>
            </a:endParaRPr>
          </a:p>
        </p:txBody>
      </p:sp>
      <p:sp>
        <p:nvSpPr>
          <p:cNvPr id="2" name="Content Placeholder 1"/>
          <p:cNvSpPr>
            <a:spLocks noGrp="1"/>
          </p:cNvSpPr>
          <p:nvPr>
            <p:ph idx="1"/>
          </p:nvPr>
        </p:nvSpPr>
        <p:spPr/>
        <p:txBody>
          <a:bodyPr>
            <a:normAutofit lnSpcReduction="10000"/>
          </a:bodyPr>
          <a:lstStyle/>
          <a:p>
            <a:endParaRPr lang="en-US" dirty="0" smtClean="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smtClean="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smtClean="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smtClean="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f</a:t>
            </a:r>
            <a:r>
              <a:rPr lang="en-US" sz="2000" dirty="0" smtClean="0">
                <a:latin typeface="Times New Roman" panose="02020603050405020304" pitchFamily="18" charset="0"/>
                <a:cs typeface="Times New Roman" panose="02020603050405020304" pitchFamily="18" charset="0"/>
              </a:rPr>
              <a:t>ig.7 Organisms found on coral reefs.</a:t>
            </a:r>
            <a:endParaRPr lang="en-US" sz="2000" dirty="0">
              <a:latin typeface="Times New Roman" panose="02020603050405020304" pitchFamily="18" charset="0"/>
              <a:cs typeface="Times New Roman" panose="02020603050405020304" pitchFamily="18" charset="0"/>
            </a:endParaRPr>
          </a:p>
        </p:txBody>
      </p:sp>
      <p:pic>
        <p:nvPicPr>
          <p:cNvPr id="9" name="Content Placeholder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1" y="1690689"/>
            <a:ext cx="8751276" cy="3877774"/>
          </a:xfrm>
          <a:prstGeom prst="rect">
            <a:avLst/>
          </a:prstGeom>
        </p:spPr>
      </p:pic>
      <p:sp>
        <p:nvSpPr>
          <p:cNvPr id="3" name="Slide Number Placeholder 2"/>
          <p:cNvSpPr>
            <a:spLocks noGrp="1"/>
          </p:cNvSpPr>
          <p:nvPr>
            <p:ph type="sldNum" sz="quarter" idx="12"/>
          </p:nvPr>
        </p:nvSpPr>
        <p:spPr/>
        <p:txBody>
          <a:bodyPr/>
          <a:lstStyle/>
          <a:p>
            <a:fld id="{132C0A12-C8EC-4C9E-B534-C826B0CCC322}" type="slidenum">
              <a:rPr lang="en-US" smtClean="0"/>
              <a:t>9</a:t>
            </a:fld>
            <a:endParaRPr lang="en-US"/>
          </a:p>
        </p:txBody>
      </p:sp>
    </p:spTree>
    <p:extLst>
      <p:ext uri="{BB962C8B-B14F-4D97-AF65-F5344CB8AC3E}">
        <p14:creationId xmlns:p14="http://schemas.microsoft.com/office/powerpoint/2010/main" val="23983465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Importance </a:t>
            </a:r>
            <a:r>
              <a:rPr lang="en-US" b="1" dirty="0">
                <a:latin typeface="Times New Roman" panose="02020603050405020304" pitchFamily="18" charset="0"/>
                <a:cs typeface="Times New Roman" panose="02020603050405020304" pitchFamily="18" charset="0"/>
              </a:rPr>
              <a:t>o</a:t>
            </a:r>
            <a:r>
              <a:rPr lang="en-US" b="1" dirty="0" smtClean="0">
                <a:latin typeface="Times New Roman" panose="02020603050405020304" pitchFamily="18" charset="0"/>
                <a:cs typeface="Times New Roman" panose="02020603050405020304" pitchFamily="18" charset="0"/>
              </a:rPr>
              <a:t>f </a:t>
            </a:r>
            <a:r>
              <a:rPr lang="en-US" b="1" dirty="0">
                <a:latin typeface="Times New Roman" panose="02020603050405020304" pitchFamily="18" charset="0"/>
                <a:cs typeface="Times New Roman" panose="02020603050405020304" pitchFamily="18" charset="0"/>
              </a:rPr>
              <a:t>c</a:t>
            </a:r>
            <a:r>
              <a:rPr lang="en-US" b="1" dirty="0" smtClean="0">
                <a:latin typeface="Times New Roman" panose="02020603050405020304" pitchFamily="18" charset="0"/>
                <a:cs typeface="Times New Roman" panose="02020603050405020304" pitchFamily="18" charset="0"/>
              </a:rPr>
              <a:t>oral </a:t>
            </a:r>
            <a:r>
              <a:rPr lang="en-US" b="1" dirty="0">
                <a:latin typeface="Times New Roman" panose="02020603050405020304" pitchFamily="18" charset="0"/>
                <a:cs typeface="Times New Roman" panose="02020603050405020304" pitchFamily="18" charset="0"/>
              </a:rPr>
              <a:t>r</a:t>
            </a:r>
            <a:r>
              <a:rPr lang="en-US" b="1" dirty="0" smtClean="0">
                <a:latin typeface="Times New Roman" panose="02020603050405020304" pitchFamily="18" charset="0"/>
                <a:cs typeface="Times New Roman" panose="02020603050405020304" pitchFamily="18" charset="0"/>
              </a:rPr>
              <a:t>eefs </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lnSpcReduction="10000"/>
          </a:bodyPr>
          <a:lstStyle/>
          <a:p>
            <a:pPr>
              <a:buFont typeface="Wingdings" panose="05000000000000000000" pitchFamily="2" charset="2"/>
              <a:buChar char="ü"/>
            </a:pPr>
            <a:r>
              <a:rPr lang="en-US" dirty="0" smtClean="0"/>
              <a:t>Defense mechanism </a:t>
            </a:r>
          </a:p>
          <a:p>
            <a:endParaRPr lang="en-US" dirty="0"/>
          </a:p>
          <a:p>
            <a:endParaRPr lang="en-US" dirty="0" smtClean="0"/>
          </a:p>
          <a:p>
            <a:endParaRPr lang="en-US" dirty="0"/>
          </a:p>
          <a:p>
            <a:endParaRPr lang="en-US" dirty="0" smtClean="0"/>
          </a:p>
          <a:p>
            <a:endParaRPr lang="en-US" dirty="0"/>
          </a:p>
          <a:p>
            <a:endParaRPr lang="en-US" dirty="0" smtClean="0"/>
          </a:p>
          <a:p>
            <a:endParaRPr lang="en-US" dirty="0"/>
          </a:p>
          <a:p>
            <a:pPr marL="0" indent="0">
              <a:buNone/>
            </a:pPr>
            <a:r>
              <a:rPr lang="en-US" sz="2000" dirty="0">
                <a:latin typeface="Times New Roman" panose="02020603050405020304" pitchFamily="18" charset="0"/>
                <a:cs typeface="Times New Roman" panose="02020603050405020304" pitchFamily="18" charset="0"/>
              </a:rPr>
              <a:t>f</a:t>
            </a:r>
            <a:r>
              <a:rPr lang="en-US" sz="2000" dirty="0" smtClean="0">
                <a:latin typeface="Times New Roman" panose="02020603050405020304" pitchFamily="18" charset="0"/>
                <a:cs typeface="Times New Roman" panose="02020603050405020304" pitchFamily="18" charset="0"/>
              </a:rPr>
              <a:t>ig.8 </a:t>
            </a:r>
            <a:r>
              <a:rPr lang="en-US" sz="2000" dirty="0" err="1" smtClean="0">
                <a:latin typeface="Times New Roman" panose="02020603050405020304" pitchFamily="18" charset="0"/>
                <a:cs typeface="Times New Roman" panose="02020603050405020304" pitchFamily="18" charset="0"/>
              </a:rPr>
              <a:t>Ocellaris</a:t>
            </a:r>
            <a:r>
              <a:rPr lang="en-US" sz="2000" dirty="0" smtClean="0">
                <a:latin typeface="Times New Roman" panose="02020603050405020304" pitchFamily="18" charset="0"/>
                <a:cs typeface="Times New Roman" panose="02020603050405020304" pitchFamily="18" charset="0"/>
              </a:rPr>
              <a:t> Clownfish camouflaging in a coral reef.</a:t>
            </a:r>
            <a:endParaRPr lang="en-US" dirty="0" smtClean="0">
              <a:latin typeface="Times New Roman" panose="02020603050405020304" pitchFamily="18" charset="0"/>
              <a:cs typeface="Times New Roman" panose="02020603050405020304" pitchFamily="18" charset="0"/>
            </a:endParaRPr>
          </a:p>
          <a:p>
            <a:endParaRPr lang="en-US" dirty="0" smtClean="0"/>
          </a:p>
          <a:p>
            <a:endParaRPr lang="en-US" dirty="0" smtClean="0"/>
          </a:p>
          <a:p>
            <a:endParaRPr lang="en-US" dirty="0"/>
          </a:p>
          <a:p>
            <a:pPr marL="0" indent="0">
              <a:buNone/>
            </a:pPr>
            <a:endParaRPr lang="en-US" dirty="0" smtClean="0"/>
          </a:p>
          <a:p>
            <a:pPr marL="0" indent="0">
              <a:buNone/>
            </a:pP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199" y="2438400"/>
            <a:ext cx="7297615" cy="3118338"/>
          </a:xfrm>
          <a:prstGeom prst="rect">
            <a:avLst/>
          </a:prstGeom>
        </p:spPr>
      </p:pic>
      <p:sp>
        <p:nvSpPr>
          <p:cNvPr id="5" name="Slide Number Placeholder 4"/>
          <p:cNvSpPr>
            <a:spLocks noGrp="1"/>
          </p:cNvSpPr>
          <p:nvPr>
            <p:ph type="sldNum" sz="quarter" idx="12"/>
          </p:nvPr>
        </p:nvSpPr>
        <p:spPr/>
        <p:txBody>
          <a:bodyPr/>
          <a:lstStyle/>
          <a:p>
            <a:fld id="{132C0A12-C8EC-4C9E-B534-C826B0CCC322}" type="slidenum">
              <a:rPr lang="en-US" smtClean="0"/>
              <a:t>10</a:t>
            </a:fld>
            <a:endParaRPr lang="en-US"/>
          </a:p>
        </p:txBody>
      </p:sp>
    </p:spTree>
    <p:extLst>
      <p:ext uri="{BB962C8B-B14F-4D97-AF65-F5344CB8AC3E}">
        <p14:creationId xmlns:p14="http://schemas.microsoft.com/office/powerpoint/2010/main" val="42193922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Importance of coral reefs</a:t>
            </a:r>
            <a:endParaRPr lang="en-US" b="1" dirty="0">
              <a:latin typeface="Times New Roman" panose="02020603050405020304" pitchFamily="18" charset="0"/>
              <a:cs typeface="Times New Roman" panose="02020603050405020304" pitchFamily="18" charset="0"/>
            </a:endParaRPr>
          </a:p>
        </p:txBody>
      </p:sp>
      <p:sp>
        <p:nvSpPr>
          <p:cNvPr id="6" name="Text Placeholder 5"/>
          <p:cNvSpPr>
            <a:spLocks noGrp="1"/>
          </p:cNvSpPr>
          <p:nvPr>
            <p:ph idx="1"/>
          </p:nvPr>
        </p:nvSpPr>
        <p:spPr/>
        <p:txBody>
          <a:bodyPr>
            <a:normAutofit lnSpcReduction="10000"/>
          </a:bodyPr>
          <a:lstStyle/>
          <a:p>
            <a:pPr>
              <a:buFont typeface="Wingdings" panose="05000000000000000000" pitchFamily="2" charset="2"/>
              <a:buChar char="ü"/>
            </a:pPr>
            <a:r>
              <a:rPr lang="en-US" sz="2400" dirty="0" smtClean="0">
                <a:latin typeface="Times New Roman" panose="02020603050405020304" pitchFamily="18" charset="0"/>
                <a:cs typeface="Times New Roman" panose="02020603050405020304" pitchFamily="18" charset="0"/>
              </a:rPr>
              <a:t>Tourism</a:t>
            </a:r>
          </a:p>
          <a:p>
            <a:pPr>
              <a:buFont typeface="Wingdings" panose="05000000000000000000" pitchFamily="2" charset="2"/>
              <a:buChar char="ü"/>
            </a:pPr>
            <a:endParaRPr lang="en-US" sz="2400"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endParaRPr lang="en-US"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endParaRPr lang="en-US" sz="2400"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endParaRPr lang="en-US"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endParaRPr lang="en-US" sz="2400"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f</a:t>
            </a:r>
            <a:r>
              <a:rPr lang="en-US" sz="2000" dirty="0" smtClean="0">
                <a:latin typeface="Times New Roman" panose="02020603050405020304" pitchFamily="18" charset="0"/>
                <a:cs typeface="Times New Roman" panose="02020603050405020304" pitchFamily="18" charset="0"/>
              </a:rPr>
              <a:t>ig.9 A tourist on expedition to coral reefs.</a:t>
            </a:r>
            <a:r>
              <a:rPr lang="en-US" sz="2400" dirty="0" smtClean="0">
                <a:latin typeface="Times New Roman" panose="02020603050405020304" pitchFamily="18" charset="0"/>
                <a:cs typeface="Times New Roman" panose="02020603050405020304" pitchFamily="18" charset="0"/>
              </a:rPr>
              <a:t>                                                 </a:t>
            </a:r>
          </a:p>
          <a:p>
            <a:pPr marL="0" indent="0">
              <a:buNone/>
            </a:pPr>
            <a:r>
              <a:rPr lang="en-US" sz="2400" dirty="0" smtClean="0">
                <a:latin typeface="Times New Roman" panose="02020603050405020304" pitchFamily="18" charset="0"/>
                <a:cs typeface="Times New Roman" panose="02020603050405020304" pitchFamily="18" charset="0"/>
              </a:rPr>
              <a:t>                                 </a:t>
            </a:r>
          </a:p>
          <a:p>
            <a:pPr>
              <a:buFont typeface="Wingdings" panose="05000000000000000000" pitchFamily="2" charset="2"/>
              <a:buChar char="ü"/>
            </a:pPr>
            <a:r>
              <a:rPr lang="en-US" sz="2400" dirty="0" smtClean="0">
                <a:latin typeface="Times New Roman" panose="02020603050405020304" pitchFamily="18" charset="0"/>
                <a:cs typeface="Times New Roman" panose="02020603050405020304" pitchFamily="18" charset="0"/>
              </a:rPr>
              <a:t>Source of food</a:t>
            </a:r>
            <a:endParaRPr lang="en-US" sz="2400" dirty="0">
              <a:latin typeface="Times New Roman" panose="02020603050405020304" pitchFamily="18" charset="0"/>
              <a:cs typeface="Times New Roman" panose="02020603050405020304" pitchFamily="18" charset="0"/>
            </a:endParaRPr>
          </a:p>
        </p:txBody>
      </p:sp>
      <p:pic>
        <p:nvPicPr>
          <p:cNvPr id="9" name="Content Placeholder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98985" y="1825626"/>
            <a:ext cx="7756403" cy="2933944"/>
          </a:xfrm>
          <a:prstGeom prst="rect">
            <a:avLst/>
          </a:prstGeom>
        </p:spPr>
      </p:pic>
      <p:sp>
        <p:nvSpPr>
          <p:cNvPr id="2" name="Slide Number Placeholder 1"/>
          <p:cNvSpPr>
            <a:spLocks noGrp="1"/>
          </p:cNvSpPr>
          <p:nvPr>
            <p:ph type="sldNum" sz="quarter" idx="12"/>
          </p:nvPr>
        </p:nvSpPr>
        <p:spPr/>
        <p:txBody>
          <a:bodyPr/>
          <a:lstStyle/>
          <a:p>
            <a:fld id="{132C0A12-C8EC-4C9E-B534-C826B0CCC322}" type="slidenum">
              <a:rPr lang="en-US" smtClean="0"/>
              <a:t>11</a:t>
            </a:fld>
            <a:endParaRPr lang="en-US"/>
          </a:p>
        </p:txBody>
      </p:sp>
    </p:spTree>
    <p:extLst>
      <p:ext uri="{BB962C8B-B14F-4D97-AF65-F5344CB8AC3E}">
        <p14:creationId xmlns:p14="http://schemas.microsoft.com/office/powerpoint/2010/main" val="37800243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14106"/>
          </a:xfrm>
        </p:spPr>
        <p:txBody>
          <a:bodyPr>
            <a:normAutofit fontScale="90000"/>
          </a:bodyPr>
          <a:lstStyle/>
          <a:p>
            <a:r>
              <a:rPr lang="en-US" b="1" dirty="0" smtClean="0">
                <a:latin typeface="Times New Roman" panose="02020603050405020304" pitchFamily="18" charset="0"/>
                <a:cs typeface="Times New Roman" panose="02020603050405020304" pitchFamily="18" charset="0"/>
              </a:rPr>
              <a:t>Threats faced by coral reefs</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043354"/>
            <a:ext cx="10515600" cy="5498122"/>
          </a:xfrm>
        </p:spPr>
        <p:txBody>
          <a:bodyPr>
            <a:normAutofit lnSpcReduction="10000"/>
          </a:bodyPr>
          <a:lstStyle/>
          <a:p>
            <a:pPr>
              <a:buFont typeface="Wingdings" panose="05000000000000000000" pitchFamily="2" charset="2"/>
              <a:buChar char="ü"/>
            </a:pPr>
            <a:r>
              <a:rPr lang="en-US" dirty="0" smtClean="0">
                <a:latin typeface="Times New Roman" panose="02020603050405020304" pitchFamily="18" charset="0"/>
                <a:cs typeface="Times New Roman" panose="02020603050405020304" pitchFamily="18" charset="0"/>
              </a:rPr>
              <a:t>Climate change</a:t>
            </a:r>
          </a:p>
          <a:p>
            <a:endParaRPr lang="en-US" dirty="0">
              <a:latin typeface="Times New Roman" panose="02020603050405020304" pitchFamily="18" charset="0"/>
              <a:cs typeface="Times New Roman" panose="02020603050405020304" pitchFamily="18" charset="0"/>
            </a:endParaRPr>
          </a:p>
          <a:p>
            <a:endParaRPr lang="en-US" dirty="0" smtClean="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f</a:t>
            </a:r>
            <a:r>
              <a:rPr lang="en-US" sz="2000" dirty="0" smtClean="0">
                <a:latin typeface="Times New Roman" panose="02020603050405020304" pitchFamily="18" charset="0"/>
                <a:cs typeface="Times New Roman" panose="02020603050405020304" pitchFamily="18" charset="0"/>
              </a:rPr>
              <a:t>ig.10 Bleaching of coral reefs.</a:t>
            </a:r>
          </a:p>
          <a:p>
            <a:pPr>
              <a:buFont typeface="Wingdings" panose="05000000000000000000" pitchFamily="2" charset="2"/>
              <a:buChar char="ü"/>
            </a:pPr>
            <a:r>
              <a:rPr lang="en-US" dirty="0" smtClean="0">
                <a:latin typeface="Times New Roman" panose="02020603050405020304" pitchFamily="18" charset="0"/>
                <a:cs typeface="Times New Roman" panose="02020603050405020304" pitchFamily="18" charset="0"/>
              </a:rPr>
              <a:t>Invasive species </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smtClean="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f</a:t>
            </a:r>
            <a:r>
              <a:rPr lang="en-US" sz="2000" dirty="0" smtClean="0">
                <a:latin typeface="Times New Roman" panose="02020603050405020304" pitchFamily="18" charset="0"/>
                <a:cs typeface="Times New Roman" panose="02020603050405020304" pitchFamily="18" charset="0"/>
              </a:rPr>
              <a:t>ig.11 Invasion of orange cup corals.</a:t>
            </a:r>
          </a:p>
          <a:p>
            <a:pPr>
              <a:buFont typeface="Wingdings" panose="05000000000000000000" pitchFamily="2" charset="2"/>
              <a:buChar char="ü"/>
            </a:pPr>
            <a:r>
              <a:rPr lang="en-US" dirty="0" smtClean="0">
                <a:latin typeface="Times New Roman" panose="02020603050405020304" pitchFamily="18" charset="0"/>
                <a:cs typeface="Times New Roman" panose="02020603050405020304" pitchFamily="18" charset="0"/>
              </a:rPr>
              <a:t>Pollution           </a:t>
            </a:r>
            <a:endParaRPr lang="en-US"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13386" y="1043354"/>
            <a:ext cx="6629398" cy="1957754"/>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07169" y="3516923"/>
            <a:ext cx="6535615" cy="1781908"/>
          </a:xfrm>
          <a:prstGeom prst="rect">
            <a:avLst/>
          </a:prstGeom>
        </p:spPr>
      </p:pic>
      <p:sp>
        <p:nvSpPr>
          <p:cNvPr id="6" name="Slide Number Placeholder 5"/>
          <p:cNvSpPr>
            <a:spLocks noGrp="1"/>
          </p:cNvSpPr>
          <p:nvPr>
            <p:ph type="sldNum" sz="quarter" idx="12"/>
          </p:nvPr>
        </p:nvSpPr>
        <p:spPr/>
        <p:txBody>
          <a:bodyPr/>
          <a:lstStyle/>
          <a:p>
            <a:fld id="{132C0A12-C8EC-4C9E-B534-C826B0CCC322}" type="slidenum">
              <a:rPr lang="en-US" smtClean="0"/>
              <a:t>12</a:t>
            </a:fld>
            <a:endParaRPr lang="en-US"/>
          </a:p>
        </p:txBody>
      </p:sp>
    </p:spTree>
    <p:extLst>
      <p:ext uri="{BB962C8B-B14F-4D97-AF65-F5344CB8AC3E}">
        <p14:creationId xmlns:p14="http://schemas.microsoft.com/office/powerpoint/2010/main" val="18386486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Future </a:t>
            </a:r>
            <a:r>
              <a:rPr lang="en-US" b="1" dirty="0">
                <a:latin typeface="Times New Roman" panose="02020603050405020304" pitchFamily="18" charset="0"/>
                <a:cs typeface="Times New Roman" panose="02020603050405020304" pitchFamily="18" charset="0"/>
              </a:rPr>
              <a:t>o</a:t>
            </a:r>
            <a:r>
              <a:rPr lang="en-US" b="1" dirty="0" smtClean="0">
                <a:latin typeface="Times New Roman" panose="02020603050405020304" pitchFamily="18" charset="0"/>
                <a:cs typeface="Times New Roman" panose="02020603050405020304" pitchFamily="18" charset="0"/>
              </a:rPr>
              <a:t>f </a:t>
            </a:r>
            <a:r>
              <a:rPr lang="en-US" b="1" dirty="0">
                <a:latin typeface="Times New Roman" panose="02020603050405020304" pitchFamily="18" charset="0"/>
                <a:cs typeface="Times New Roman" panose="02020603050405020304" pitchFamily="18" charset="0"/>
              </a:rPr>
              <a:t>c</a:t>
            </a:r>
            <a:r>
              <a:rPr lang="en-US" b="1" dirty="0" smtClean="0">
                <a:latin typeface="Times New Roman" panose="02020603050405020304" pitchFamily="18" charset="0"/>
                <a:cs typeface="Times New Roman" panose="02020603050405020304" pitchFamily="18" charset="0"/>
              </a:rPr>
              <a:t>oral reefs</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marL="0" indent="0">
              <a:buNone/>
            </a:pPr>
            <a:r>
              <a:rPr lang="en-GB" dirty="0">
                <a:latin typeface="Times New Roman" panose="02020603050405020304" pitchFamily="18" charset="0"/>
                <a:cs typeface="Times New Roman" panose="02020603050405020304" pitchFamily="18" charset="0"/>
              </a:rPr>
              <a:t>According to an IPCC special </a:t>
            </a:r>
            <a:r>
              <a:rPr lang="en-GB" dirty="0" smtClean="0">
                <a:latin typeface="Times New Roman" panose="02020603050405020304" pitchFamily="18" charset="0"/>
                <a:cs typeface="Times New Roman" panose="02020603050405020304" pitchFamily="18" charset="0"/>
              </a:rPr>
              <a:t>report, </a:t>
            </a:r>
            <a:r>
              <a:rPr lang="en-GB" dirty="0">
                <a:latin typeface="Times New Roman" panose="02020603050405020304" pitchFamily="18" charset="0"/>
                <a:cs typeface="Times New Roman" panose="02020603050405020304" pitchFamily="18" charset="0"/>
              </a:rPr>
              <a:t>a 1.5°C increase in ocean temperatures over the next 100 years could cause the disappearance of 70 % to 90 % of the world’s coral reefs. An increase of 2°C could induce a complete </a:t>
            </a:r>
            <a:r>
              <a:rPr lang="en-GB" dirty="0" smtClean="0">
                <a:latin typeface="Times New Roman" panose="02020603050405020304" pitchFamily="18" charset="0"/>
                <a:cs typeface="Times New Roman" panose="02020603050405020304" pitchFamily="18" charset="0"/>
              </a:rPr>
              <a:t>loss (IPCC, 2018).</a:t>
            </a:r>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132C0A12-C8EC-4C9E-B534-C826B0CCC322}" type="slidenum">
              <a:rPr lang="en-US" smtClean="0"/>
              <a:t>13</a:t>
            </a:fld>
            <a:endParaRPr lang="en-US"/>
          </a:p>
        </p:txBody>
      </p:sp>
    </p:spTree>
    <p:extLst>
      <p:ext uri="{BB962C8B-B14F-4D97-AF65-F5344CB8AC3E}">
        <p14:creationId xmlns:p14="http://schemas.microsoft.com/office/powerpoint/2010/main" val="6518569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Conclusion</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marL="0" indent="0">
              <a:buNone/>
            </a:pPr>
            <a:r>
              <a:rPr lang="en-US" dirty="0" smtClean="0">
                <a:latin typeface="Times New Roman" panose="02020603050405020304" pitchFamily="18" charset="0"/>
                <a:cs typeface="Times New Roman" panose="02020603050405020304" pitchFamily="18" charset="0"/>
              </a:rPr>
              <a:t>Coral reefs are very essential to the enrichment of the biodiversity of the marine ecosystem and if they are well maintained, the biodiversity in the marine ecosystem will be well sustained.</a:t>
            </a:r>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132C0A12-C8EC-4C9E-B534-C826B0CCC322}" type="slidenum">
              <a:rPr lang="en-US" smtClean="0"/>
              <a:t>14</a:t>
            </a:fld>
            <a:endParaRPr lang="en-US"/>
          </a:p>
        </p:txBody>
      </p:sp>
    </p:spTree>
    <p:extLst>
      <p:ext uri="{BB962C8B-B14F-4D97-AF65-F5344CB8AC3E}">
        <p14:creationId xmlns:p14="http://schemas.microsoft.com/office/powerpoint/2010/main" val="8166287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References</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92500" lnSpcReduction="10000"/>
          </a:bodyPr>
          <a:lstStyle/>
          <a:p>
            <a:pPr>
              <a:buFont typeface="Wingdings" panose="05000000000000000000" pitchFamily="2" charset="2"/>
              <a:buChar char="ü"/>
            </a:pPr>
            <a:r>
              <a:rPr lang="en-GB" u="sng" dirty="0">
                <a:latin typeface="Times New Roman" panose="02020603050405020304" pitchFamily="18" charset="0"/>
                <a:cs typeface="Times New Roman" panose="02020603050405020304" pitchFamily="18" charset="0"/>
                <a:hlinkClick r:id="rId2"/>
              </a:rPr>
              <a:t>https://</a:t>
            </a:r>
            <a:r>
              <a:rPr lang="en-GB" u="sng" dirty="0" smtClean="0">
                <a:latin typeface="Times New Roman" panose="02020603050405020304" pitchFamily="18" charset="0"/>
                <a:cs typeface="Times New Roman" panose="02020603050405020304" pitchFamily="18" charset="0"/>
                <a:hlinkClick r:id="rId2"/>
              </a:rPr>
              <a:t>oceanservice.noaa.gov/facts/coral_species.html</a:t>
            </a:r>
            <a:r>
              <a:rPr lang="en-GB"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en-GB" dirty="0">
                <a:latin typeface="Times New Roman" panose="02020603050405020304" pitchFamily="18" charset="0"/>
                <a:cs typeface="Times New Roman" panose="02020603050405020304" pitchFamily="18" charset="0"/>
                <a:hlinkClick r:id="rId3"/>
              </a:rPr>
              <a:t>https://</a:t>
            </a:r>
            <a:r>
              <a:rPr lang="en-GB" dirty="0" smtClean="0">
                <a:latin typeface="Times New Roman" panose="02020603050405020304" pitchFamily="18" charset="0"/>
                <a:cs typeface="Times New Roman" panose="02020603050405020304" pitchFamily="18" charset="0"/>
                <a:hlinkClick r:id="rId3"/>
              </a:rPr>
              <a:t>www.animalspot.net/coral-reef-animals</a:t>
            </a:r>
            <a:endParaRPr lang="en-GB"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en-GB" dirty="0">
                <a:latin typeface="Times New Roman" panose="02020603050405020304" pitchFamily="18" charset="0"/>
                <a:cs typeface="Times New Roman" panose="02020603050405020304" pitchFamily="18" charset="0"/>
              </a:rPr>
              <a:t>Summary for </a:t>
            </a:r>
            <a:r>
              <a:rPr lang="en-GB" sz="3000" dirty="0">
                <a:latin typeface="Times New Roman" panose="02020603050405020304" pitchFamily="18" charset="0"/>
                <a:cs typeface="Times New Roman" panose="02020603050405020304" pitchFamily="18" charset="0"/>
              </a:rPr>
              <a:t>Policymakers</a:t>
            </a:r>
            <a:r>
              <a:rPr lang="en-GB" dirty="0">
                <a:latin typeface="Times New Roman" panose="02020603050405020304" pitchFamily="18" charset="0"/>
                <a:cs typeface="Times New Roman" panose="02020603050405020304" pitchFamily="18" charset="0"/>
              </a:rPr>
              <a:t> of IPCC Special Report on Global Warming of 1.5°C  approved by governments — IPCC. (2018, October 8). IPCC. https://www.ipcc.ch/2018/10/08/summary-for-policymakers-of-ipcc-special-report-on-global-warming-of-1-5c-approved-by-governments/  </a:t>
            </a: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en-GB" dirty="0" err="1" smtClean="0">
                <a:latin typeface="Times New Roman" panose="02020603050405020304" pitchFamily="18" charset="0"/>
                <a:cs typeface="Times New Roman" panose="02020603050405020304" pitchFamily="18" charset="0"/>
              </a:rPr>
              <a:t>Goreau</a:t>
            </a:r>
            <a:r>
              <a:rPr lang="en-GB" dirty="0" smtClean="0">
                <a:latin typeface="Times New Roman" panose="02020603050405020304" pitchFamily="18" charset="0"/>
                <a:cs typeface="Times New Roman" panose="02020603050405020304" pitchFamily="18" charset="0"/>
              </a:rPr>
              <a:t>, T.J., Macfarlane, A.H. Reduced growth rate of </a:t>
            </a:r>
            <a:r>
              <a:rPr lang="en-GB" i="1" dirty="0" err="1" smtClean="0">
                <a:latin typeface="Times New Roman" panose="02020603050405020304" pitchFamily="18" charset="0"/>
                <a:cs typeface="Times New Roman" panose="02020603050405020304" pitchFamily="18" charset="0"/>
              </a:rPr>
              <a:t>Montastrea</a:t>
            </a:r>
            <a:r>
              <a:rPr lang="en-GB" i="1" dirty="0" smtClean="0">
                <a:latin typeface="Times New Roman" panose="02020603050405020304" pitchFamily="18" charset="0"/>
                <a:cs typeface="Times New Roman" panose="02020603050405020304" pitchFamily="18" charset="0"/>
              </a:rPr>
              <a:t> </a:t>
            </a:r>
            <a:r>
              <a:rPr lang="en-GB" i="1" dirty="0" err="1" smtClean="0">
                <a:latin typeface="Times New Roman" panose="02020603050405020304" pitchFamily="18" charset="0"/>
                <a:cs typeface="Times New Roman" panose="02020603050405020304" pitchFamily="18" charset="0"/>
              </a:rPr>
              <a:t>annularis</a:t>
            </a:r>
            <a:r>
              <a:rPr lang="en-GB" i="1" dirty="0" smtClean="0">
                <a:latin typeface="Times New Roman" panose="02020603050405020304" pitchFamily="18" charset="0"/>
                <a:cs typeface="Times New Roman" panose="02020603050405020304" pitchFamily="18" charset="0"/>
              </a:rPr>
              <a:t> </a:t>
            </a:r>
            <a:r>
              <a:rPr lang="en-GB" dirty="0" smtClean="0">
                <a:latin typeface="Times New Roman" panose="02020603050405020304" pitchFamily="18" charset="0"/>
                <a:cs typeface="Times New Roman" panose="02020603050405020304" pitchFamily="18" charset="0"/>
              </a:rPr>
              <a:t>following the 1987-1988 coral-bleaching agent. </a:t>
            </a:r>
            <a:r>
              <a:rPr lang="en-GB" i="1" dirty="0" smtClean="0">
                <a:latin typeface="Times New Roman" panose="02020603050405020304" pitchFamily="18" charset="0"/>
                <a:cs typeface="Times New Roman" panose="02020603050405020304" pitchFamily="18" charset="0"/>
              </a:rPr>
              <a:t>Coral Reefs</a:t>
            </a:r>
            <a:r>
              <a:rPr lang="en-GB" dirty="0" smtClean="0">
                <a:latin typeface="Times New Roman" panose="02020603050405020304" pitchFamily="18" charset="0"/>
                <a:cs typeface="Times New Roman" panose="02020603050405020304" pitchFamily="18" charset="0"/>
              </a:rPr>
              <a:t> </a:t>
            </a:r>
            <a:r>
              <a:rPr lang="en-GB" b="1" dirty="0" smtClean="0">
                <a:latin typeface="Times New Roman" panose="02020603050405020304" pitchFamily="18" charset="0"/>
                <a:cs typeface="Times New Roman" panose="02020603050405020304" pitchFamily="18" charset="0"/>
              </a:rPr>
              <a:t>8</a:t>
            </a:r>
            <a:r>
              <a:rPr lang="en-GB" dirty="0" smtClean="0">
                <a:latin typeface="Times New Roman" panose="02020603050405020304" pitchFamily="18" charset="0"/>
                <a:cs typeface="Times New Roman" panose="02020603050405020304" pitchFamily="18" charset="0"/>
              </a:rPr>
              <a:t>, 211-215(1990).</a:t>
            </a:r>
          </a:p>
          <a:p>
            <a:pPr>
              <a:buFont typeface="Wingdings" panose="05000000000000000000" pitchFamily="2" charset="2"/>
              <a:buChar char="ü"/>
            </a:pPr>
            <a:r>
              <a:rPr lang="en-GB" dirty="0" err="1" smtClean="0">
                <a:latin typeface="Times New Roman" panose="02020603050405020304" pitchFamily="18" charset="0"/>
                <a:cs typeface="Times New Roman" panose="02020603050405020304" pitchFamily="18" charset="0"/>
              </a:rPr>
              <a:t>Kuhlmann</a:t>
            </a:r>
            <a:r>
              <a:rPr lang="en-GB" dirty="0" smtClean="0">
                <a:latin typeface="Times New Roman" panose="02020603050405020304" pitchFamily="18" charset="0"/>
                <a:cs typeface="Times New Roman" panose="02020603050405020304" pitchFamily="18" charset="0"/>
              </a:rPr>
              <a:t> DHH. The sensitivity of coral reefs to environmental pollution. </a:t>
            </a:r>
            <a:r>
              <a:rPr lang="en-GB" i="1" dirty="0" err="1" smtClean="0">
                <a:latin typeface="Times New Roman" panose="02020603050405020304" pitchFamily="18" charset="0"/>
                <a:cs typeface="Times New Roman" panose="02020603050405020304" pitchFamily="18" charset="0"/>
              </a:rPr>
              <a:t>Ambio</a:t>
            </a:r>
            <a:r>
              <a:rPr lang="en-GB" i="1" dirty="0" smtClean="0">
                <a:latin typeface="Times New Roman" panose="02020603050405020304" pitchFamily="18" charset="0"/>
                <a:cs typeface="Times New Roman" panose="02020603050405020304" pitchFamily="18" charset="0"/>
              </a:rPr>
              <a:t> 17(1), 13-21, </a:t>
            </a:r>
            <a:r>
              <a:rPr lang="en-GB" dirty="0" smtClean="0">
                <a:latin typeface="Times New Roman" panose="02020603050405020304" pitchFamily="18" charset="0"/>
                <a:cs typeface="Times New Roman" panose="02020603050405020304" pitchFamily="18" charset="0"/>
              </a:rPr>
              <a:t>(1988).</a:t>
            </a:r>
          </a:p>
          <a:p>
            <a:pPr>
              <a:buFont typeface="Wingdings" panose="05000000000000000000" pitchFamily="2" charset="2"/>
              <a:buChar char="ü"/>
            </a:pPr>
            <a:endParaRPr lang="en-GB"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132C0A12-C8EC-4C9E-B534-C826B0CCC322}" type="slidenum">
              <a:rPr lang="en-US" smtClean="0"/>
              <a:t>15</a:t>
            </a:fld>
            <a:endParaRPr lang="en-US"/>
          </a:p>
        </p:txBody>
      </p:sp>
    </p:spTree>
    <p:extLst>
      <p:ext uri="{BB962C8B-B14F-4D97-AF65-F5344CB8AC3E}">
        <p14:creationId xmlns:p14="http://schemas.microsoft.com/office/powerpoint/2010/main" val="33254943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References</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buFont typeface="Wingdings" panose="05000000000000000000" pitchFamily="2" charset="2"/>
              <a:buChar char="ü"/>
            </a:pPr>
            <a:r>
              <a:rPr lang="en-US" dirty="0" smtClean="0">
                <a:latin typeface="Times New Roman" panose="02020603050405020304" pitchFamily="18" charset="0"/>
                <a:cs typeface="Times New Roman" panose="02020603050405020304" pitchFamily="18" charset="0"/>
              </a:rPr>
              <a:t>Coral Reef Alliance, Coral 101. Types of coral reefs. </a:t>
            </a:r>
            <a:r>
              <a:rPr lang="en-US" dirty="0" smtClean="0">
                <a:latin typeface="Times New Roman" panose="02020603050405020304" pitchFamily="18" charset="0"/>
                <a:cs typeface="Times New Roman" panose="02020603050405020304" pitchFamily="18" charset="0"/>
                <a:hlinkClick r:id="rId2"/>
              </a:rPr>
              <a:t>https://coral.org/en/coral-reefs-101/types-of-coral-reefs-formations/</a:t>
            </a:r>
            <a:endParaRPr lang="en-US"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en-US" dirty="0" smtClean="0">
                <a:latin typeface="Times New Roman" panose="02020603050405020304" pitchFamily="18" charset="0"/>
                <a:cs typeface="Times New Roman" panose="02020603050405020304" pitchFamily="18" charset="0"/>
              </a:rPr>
              <a:t>All pictures were generated by google image search of the related topics.</a:t>
            </a:r>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132C0A12-C8EC-4C9E-B534-C826B0CCC322}" type="slidenum">
              <a:rPr lang="en-US" smtClean="0"/>
              <a:t>16</a:t>
            </a:fld>
            <a:endParaRPr lang="en-US"/>
          </a:p>
        </p:txBody>
      </p:sp>
    </p:spTree>
    <p:extLst>
      <p:ext uri="{BB962C8B-B14F-4D97-AF65-F5344CB8AC3E}">
        <p14:creationId xmlns:p14="http://schemas.microsoft.com/office/powerpoint/2010/main" val="11890285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Group members</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lnSpcReduction="10000"/>
          </a:bodyPr>
          <a:lstStyle/>
          <a:p>
            <a:r>
              <a:rPr lang="en-US" dirty="0" smtClean="0"/>
              <a:t>Adongo Ernest-9195919</a:t>
            </a:r>
          </a:p>
          <a:p>
            <a:r>
              <a:rPr lang="en-US" dirty="0" smtClean="0"/>
              <a:t>Agbesinyale Emmanuella Sena-9196919</a:t>
            </a:r>
          </a:p>
          <a:p>
            <a:r>
              <a:rPr lang="en-US" dirty="0" smtClean="0"/>
              <a:t>Aidoo Newlove-9197719</a:t>
            </a:r>
          </a:p>
          <a:p>
            <a:r>
              <a:rPr lang="en-US" dirty="0" smtClean="0"/>
              <a:t>Akowuah Vanessa Obenewaa-9197919</a:t>
            </a:r>
          </a:p>
          <a:p>
            <a:r>
              <a:rPr lang="en-US" dirty="0" smtClean="0"/>
              <a:t>Graham Nana Tabi-9208319</a:t>
            </a:r>
          </a:p>
          <a:p>
            <a:r>
              <a:rPr lang="en-US" dirty="0" smtClean="0"/>
              <a:t>Gloria Naa Mensah-9212519</a:t>
            </a:r>
            <a:endParaRPr lang="en-US" dirty="0" smtClean="0"/>
          </a:p>
          <a:p>
            <a:r>
              <a:rPr lang="en-US" dirty="0" smtClean="0"/>
              <a:t>Kimberly Ofori-9214619</a:t>
            </a:r>
          </a:p>
          <a:p>
            <a:r>
              <a:rPr lang="en-US" dirty="0" smtClean="0"/>
              <a:t>Kwofie Emmanuella-9211719</a:t>
            </a:r>
          </a:p>
          <a:p>
            <a:r>
              <a:rPr lang="en-US" dirty="0" smtClean="0"/>
              <a:t>Manu Josephine Adufa-9212219</a:t>
            </a:r>
          </a:p>
          <a:p>
            <a:pPr marL="0" indent="0">
              <a:buNone/>
            </a:pPr>
            <a:endParaRPr lang="en-US" dirty="0"/>
          </a:p>
        </p:txBody>
      </p:sp>
      <p:sp>
        <p:nvSpPr>
          <p:cNvPr id="4" name="Slide Number Placeholder 3"/>
          <p:cNvSpPr>
            <a:spLocks noGrp="1"/>
          </p:cNvSpPr>
          <p:nvPr>
            <p:ph type="sldNum" sz="quarter" idx="12"/>
          </p:nvPr>
        </p:nvSpPr>
        <p:spPr/>
        <p:txBody>
          <a:bodyPr/>
          <a:lstStyle/>
          <a:p>
            <a:fld id="{132C0A12-C8EC-4C9E-B534-C826B0CCC322}" type="slidenum">
              <a:rPr lang="en-US" smtClean="0"/>
              <a:t>17</a:t>
            </a:fld>
            <a:endParaRPr lang="en-US"/>
          </a:p>
        </p:txBody>
      </p:sp>
    </p:spTree>
    <p:extLst>
      <p:ext uri="{BB962C8B-B14F-4D97-AF65-F5344CB8AC3E}">
        <p14:creationId xmlns:p14="http://schemas.microsoft.com/office/powerpoint/2010/main" val="21114677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838200" y="365124"/>
            <a:ext cx="10515600" cy="5991225"/>
          </a:xfrm>
        </p:spPr>
        <p:txBody>
          <a:bodyPr/>
          <a:lstStyle/>
          <a:p>
            <a:endParaRPr lang="en-US" dirty="0"/>
          </a:p>
        </p:txBody>
      </p:sp>
      <p:sp>
        <p:nvSpPr>
          <p:cNvPr id="4" name="Slide Number Placeholder 3"/>
          <p:cNvSpPr>
            <a:spLocks noGrp="1"/>
          </p:cNvSpPr>
          <p:nvPr>
            <p:ph type="sldNum" sz="quarter" idx="12"/>
          </p:nvPr>
        </p:nvSpPr>
        <p:spPr/>
        <p:txBody>
          <a:bodyPr/>
          <a:lstStyle/>
          <a:p>
            <a:fld id="{132C0A12-C8EC-4C9E-B534-C826B0CCC322}" type="slidenum">
              <a:rPr lang="en-US" smtClean="0"/>
              <a:t>18</a:t>
            </a:fld>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365125"/>
            <a:ext cx="10515600" cy="5991223"/>
          </a:xfrm>
          <a:prstGeom prst="rect">
            <a:avLst/>
          </a:prstGeom>
        </p:spPr>
      </p:pic>
    </p:spTree>
    <p:extLst>
      <p:ext uri="{BB962C8B-B14F-4D97-AF65-F5344CB8AC3E}">
        <p14:creationId xmlns:p14="http://schemas.microsoft.com/office/powerpoint/2010/main" val="31037968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1131</TotalTime>
  <Words>430</Words>
  <Application>Microsoft Office PowerPoint</Application>
  <PresentationFormat>Widescreen</PresentationFormat>
  <Paragraphs>160</Paragraphs>
  <Slides>18</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Calibri</vt:lpstr>
      <vt:lpstr>Calibri Light</vt:lpstr>
      <vt:lpstr>Times New Roman</vt:lpstr>
      <vt:lpstr>Wingdings</vt:lpstr>
      <vt:lpstr>Office Theme</vt:lpstr>
      <vt:lpstr>CORAL REEFS-THE TROPICAL RAINFORESTS OF THE SEA</vt:lpstr>
      <vt:lpstr>Outline</vt:lpstr>
      <vt:lpstr>Introduction</vt:lpstr>
      <vt:lpstr>Formation of coral reefs</vt:lpstr>
      <vt:lpstr>Types of coral reefs</vt:lpstr>
      <vt:lpstr>Examples of coral reefs</vt:lpstr>
      <vt:lpstr>Coral reefs as tropical rainforests of the sea</vt:lpstr>
      <vt:lpstr>PowerPoint Presentation</vt:lpstr>
      <vt:lpstr>Organisms found on coral reefs</vt:lpstr>
      <vt:lpstr>Importance of coral reefs </vt:lpstr>
      <vt:lpstr>Importance of coral reefs</vt:lpstr>
      <vt:lpstr>Threats faced by coral reefs</vt:lpstr>
      <vt:lpstr>Future of coral reefs</vt:lpstr>
      <vt:lpstr>Conclusion</vt:lpstr>
      <vt:lpstr>References</vt:lpstr>
      <vt:lpstr>References</vt:lpstr>
      <vt:lpstr>Group members</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CORAL REEFS-THE TROPICAL RAINFORESTS OF THE SEA</dc:title>
  <dc:creator>Microsoft account</dc:creator>
  <cp:lastModifiedBy>Microsoft account</cp:lastModifiedBy>
  <cp:revision>48</cp:revision>
  <dcterms:created xsi:type="dcterms:W3CDTF">2023-07-14T17:48:54Z</dcterms:created>
  <dcterms:modified xsi:type="dcterms:W3CDTF">2023-07-17T06:23:02Z</dcterms:modified>
</cp:coreProperties>
</file>