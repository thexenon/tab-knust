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4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8" autoAdjust="0"/>
    <p:restoredTop sz="94660"/>
  </p:normalViewPr>
  <p:slideViewPr>
    <p:cSldViewPr>
      <p:cViewPr varScale="1">
        <p:scale>
          <a:sx n="88" d="100"/>
          <a:sy n="88" d="100"/>
        </p:scale>
        <p:origin x="10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7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7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5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7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5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7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1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2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1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2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91B5D-0FBA-4659-9AA7-89FBCF0F3357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A8106-2E1A-437B-8130-B13B2C093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3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PARASITOLOGY (BIOL 460)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6 B</a:t>
            </a:r>
          </a:p>
          <a:p>
            <a:r>
              <a:rPr lang="en-GB" b="1" dirty="0" smtClean="0">
                <a:solidFill>
                  <a:srgbClr val="FF0000"/>
                </a:solidFill>
              </a:rPr>
              <a:t>TREMATODES (FLUKES)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983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52400"/>
            <a:ext cx="5486400" cy="6096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81000"/>
            <a:ext cx="3124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1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FLUKES</a:t>
            </a:r>
            <a:r>
              <a:rPr lang="en-US" b="1" dirty="0" smtClean="0"/>
              <a:t> – </a:t>
            </a:r>
            <a:r>
              <a:rPr lang="en-US" b="1" dirty="0" smtClean="0">
                <a:solidFill>
                  <a:srgbClr val="00B0F0"/>
                </a:solidFill>
              </a:rPr>
              <a:t>THE SCHISTOSOMES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</a:t>
            </a:r>
            <a:r>
              <a:rPr lang="en-US" dirty="0">
                <a:solidFill>
                  <a:srgbClr val="00B0F0"/>
                </a:solidFill>
              </a:rPr>
              <a:t>Schistosomes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blood flukes</a:t>
            </a:r>
            <a:r>
              <a:rPr lang="en-US" dirty="0"/>
              <a:t>: </a:t>
            </a:r>
            <a:r>
              <a:rPr lang="en-US" dirty="0">
                <a:solidFill>
                  <a:srgbClr val="7030A0"/>
                </a:solidFill>
              </a:rPr>
              <a:t>the adults live in the </a:t>
            </a:r>
            <a:r>
              <a:rPr lang="en-US" u="sng" dirty="0">
                <a:solidFill>
                  <a:srgbClr val="7030A0"/>
                </a:solidFill>
              </a:rPr>
              <a:t>veins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or </a:t>
            </a:r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u="sng" dirty="0">
                <a:solidFill>
                  <a:srgbClr val="7030A0"/>
                </a:solidFill>
              </a:rPr>
              <a:t>intestine</a:t>
            </a:r>
            <a:r>
              <a:rPr lang="en-US" dirty="0">
                <a:solidFill>
                  <a:srgbClr val="7030A0"/>
                </a:solidFill>
              </a:rPr>
              <a:t> or </a:t>
            </a:r>
            <a:r>
              <a:rPr lang="en-US" u="sng" dirty="0">
                <a:solidFill>
                  <a:srgbClr val="7030A0"/>
                </a:solidFill>
              </a:rPr>
              <a:t>bladder</a:t>
            </a:r>
            <a:r>
              <a:rPr lang="en-US" dirty="0"/>
              <a:t>. </a:t>
            </a:r>
            <a:r>
              <a:rPr lang="en-US" u="sng" dirty="0"/>
              <a:t>The sexes are separate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body of the male in folded for the most part to form a groove (gynaecorphic canal) in which it holds the female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FF3399"/>
                </a:solidFill>
              </a:rPr>
              <a:t>They </a:t>
            </a:r>
            <a:r>
              <a:rPr lang="en-US" dirty="0">
                <a:solidFill>
                  <a:srgbClr val="FF3399"/>
                </a:solidFill>
              </a:rPr>
              <a:t>have suckers for attachment </a:t>
            </a:r>
            <a:r>
              <a:rPr lang="en-US" u="sng" dirty="0"/>
              <a:t>to the wall of the blood vessel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u="sng" dirty="0" smtClean="0"/>
              <a:t>They </a:t>
            </a:r>
            <a:r>
              <a:rPr lang="en-US" u="sng" dirty="0"/>
              <a:t>obtain food and oxygen from the </a:t>
            </a:r>
            <a:r>
              <a:rPr lang="en-US" u="sng" dirty="0" smtClean="0"/>
              <a:t>blood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Unlike </a:t>
            </a:r>
            <a:r>
              <a:rPr lang="en-US" dirty="0"/>
              <a:t>most Trematodes, </a:t>
            </a:r>
            <a:r>
              <a:rPr lang="en-US" dirty="0">
                <a:solidFill>
                  <a:srgbClr val="00B0F0"/>
                </a:solidFill>
              </a:rPr>
              <a:t>Schistosomes</a:t>
            </a:r>
            <a:r>
              <a:rPr lang="en-US" dirty="0"/>
              <a:t> </a:t>
            </a:r>
            <a:r>
              <a:rPr lang="en-US" b="1" dirty="0"/>
              <a:t>are not flattened and leaf-like.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8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FLUKES</a:t>
            </a:r>
            <a:r>
              <a:rPr lang="en-US" b="1" dirty="0" smtClean="0"/>
              <a:t> – </a:t>
            </a:r>
            <a:r>
              <a:rPr lang="en-US" b="1" dirty="0" smtClean="0">
                <a:solidFill>
                  <a:srgbClr val="00B0F0"/>
                </a:solidFill>
              </a:rPr>
              <a:t>THE SCHISTOSOMES </a:t>
            </a:r>
            <a:r>
              <a:rPr lang="en-US" b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Transmission is by contact with water infested with </a:t>
            </a:r>
            <a:r>
              <a:rPr lang="en-US" u="sng" dirty="0">
                <a:solidFill>
                  <a:srgbClr val="00B050"/>
                </a:solidFill>
              </a:rPr>
              <a:t>intermediate host snails </a:t>
            </a:r>
            <a:r>
              <a:rPr lang="en-US" u="sng" dirty="0"/>
              <a:t>belonging to certain genera</a:t>
            </a:r>
            <a:r>
              <a:rPr lang="en-US" dirty="0"/>
              <a:t>, and which shed </a:t>
            </a:r>
            <a:r>
              <a:rPr lang="en-US" dirty="0">
                <a:solidFill>
                  <a:srgbClr val="FF0000"/>
                </a:solidFill>
              </a:rPr>
              <a:t>infective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larvae</a:t>
            </a:r>
            <a:r>
              <a:rPr lang="en-US" dirty="0"/>
              <a:t> called </a:t>
            </a:r>
            <a:r>
              <a:rPr lang="en-US" dirty="0">
                <a:solidFill>
                  <a:srgbClr val="C00000"/>
                </a:solidFill>
              </a:rPr>
              <a:t>cercariae</a:t>
            </a:r>
            <a:r>
              <a:rPr lang="en-US" dirty="0"/>
              <a:t> </a:t>
            </a:r>
            <a:r>
              <a:rPr lang="en-US" u="sng" dirty="0"/>
              <a:t>and which are able to penetrate unbroken skin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>
                <a:solidFill>
                  <a:srgbClr val="C00000"/>
                </a:solidFill>
              </a:rPr>
              <a:t>cercariae</a:t>
            </a:r>
            <a:r>
              <a:rPr lang="en-US" dirty="0"/>
              <a:t> have a </a:t>
            </a:r>
            <a:r>
              <a:rPr lang="en-US" b="1" dirty="0"/>
              <a:t>characteristic forked tail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10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C000"/>
                </a:solidFill>
              </a:rPr>
              <a:t>Five species infect humans</a:t>
            </a:r>
            <a:r>
              <a:rPr lang="en-US" b="1" dirty="0" smtClean="0"/>
              <a:t> namely: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i="1" dirty="0" smtClean="0">
                <a:solidFill>
                  <a:srgbClr val="C00000"/>
                </a:solidFill>
              </a:rPr>
              <a:t>S</a:t>
            </a:r>
            <a:r>
              <a:rPr lang="en-US" i="1" dirty="0">
                <a:solidFill>
                  <a:srgbClr val="C00000"/>
                </a:solidFill>
              </a:rPr>
              <a:t>. haematobium</a:t>
            </a:r>
            <a:r>
              <a:rPr lang="en-US" dirty="0"/>
              <a:t>: the cause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urinary </a:t>
            </a:r>
            <a:r>
              <a:rPr lang="en-US" dirty="0">
                <a:solidFill>
                  <a:srgbClr val="C00000"/>
                </a:solidFill>
              </a:rPr>
              <a:t>schistosomiasis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i="1" dirty="0">
                <a:solidFill>
                  <a:srgbClr val="00B0F0"/>
                </a:solidFill>
              </a:rPr>
              <a:t>S. mansoni</a:t>
            </a:r>
            <a:r>
              <a:rPr lang="en-US" dirty="0"/>
              <a:t>: the cause </a:t>
            </a:r>
            <a:r>
              <a:rPr lang="en-US" dirty="0">
                <a:solidFill>
                  <a:srgbClr val="00B0F0"/>
                </a:solidFill>
              </a:rPr>
              <a:t>intestinal </a:t>
            </a:r>
            <a:r>
              <a:rPr lang="en-US" dirty="0" smtClean="0">
                <a:solidFill>
                  <a:srgbClr val="00B0F0"/>
                </a:solidFill>
              </a:rPr>
              <a:t>schistosomiasis</a:t>
            </a:r>
            <a:endParaRPr lang="en-US" dirty="0">
              <a:solidFill>
                <a:srgbClr val="00B0F0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S. intercalatum</a:t>
            </a:r>
            <a:r>
              <a:rPr lang="en-US" dirty="0"/>
              <a:t>: cause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intestinal schistosomiasis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i="1" dirty="0">
                <a:solidFill>
                  <a:srgbClr val="FF3399"/>
                </a:solidFill>
              </a:rPr>
              <a:t>S. mekongi</a:t>
            </a:r>
            <a:r>
              <a:rPr lang="en-US" dirty="0"/>
              <a:t>: cause of </a:t>
            </a:r>
            <a:r>
              <a:rPr lang="en-US" dirty="0">
                <a:solidFill>
                  <a:srgbClr val="FF3399"/>
                </a:solidFill>
              </a:rPr>
              <a:t>intestinal </a:t>
            </a:r>
            <a:r>
              <a:rPr lang="en-US" dirty="0" smtClean="0">
                <a:solidFill>
                  <a:srgbClr val="FF3399"/>
                </a:solidFill>
              </a:rPr>
              <a:t>schistosomiasis</a:t>
            </a:r>
            <a:endParaRPr lang="en-US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8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Five species infect humans cont’d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5.</a:t>
            </a:r>
            <a:r>
              <a:rPr lang="en-US" i="1" dirty="0" smtClean="0">
                <a:solidFill>
                  <a:srgbClr val="0070C0"/>
                </a:solidFill>
              </a:rPr>
              <a:t> S. japonicum</a:t>
            </a:r>
            <a:r>
              <a:rPr lang="en-US" dirty="0" smtClean="0"/>
              <a:t>: cause of </a:t>
            </a:r>
            <a:r>
              <a:rPr lang="en-US" dirty="0" smtClean="0">
                <a:solidFill>
                  <a:srgbClr val="0070C0"/>
                </a:solidFill>
              </a:rPr>
              <a:t>intestinal schistosomiasis</a:t>
            </a:r>
            <a:r>
              <a:rPr lang="en-US" dirty="0" smtClean="0"/>
              <a:t>; closely related to </a:t>
            </a:r>
            <a:r>
              <a:rPr lang="en-US" i="1" dirty="0" smtClean="0">
                <a:solidFill>
                  <a:srgbClr val="FF3399"/>
                </a:solidFill>
              </a:rPr>
              <a:t>S. mekongi</a:t>
            </a:r>
            <a:r>
              <a:rPr lang="en-US" i="1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species has </a:t>
            </a:r>
            <a:r>
              <a:rPr lang="en-US" dirty="0" smtClean="0">
                <a:solidFill>
                  <a:srgbClr val="00B050"/>
                </a:solidFill>
              </a:rPr>
              <a:t>many animal reservoir hosts </a:t>
            </a:r>
            <a:r>
              <a:rPr lang="en-US" dirty="0" smtClean="0"/>
              <a:t>including </a:t>
            </a:r>
            <a:r>
              <a:rPr lang="en-US" dirty="0" smtClean="0">
                <a:solidFill>
                  <a:srgbClr val="00B050"/>
                </a:solidFill>
              </a:rPr>
              <a:t>dogs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cats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cattle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pigs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sheep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goats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water-buffaloes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horses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B050"/>
                </a:solidFill>
              </a:rPr>
              <a:t>wild rodents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92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S. haematobium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species causes </a:t>
            </a:r>
            <a:r>
              <a:rPr lang="en-US" dirty="0">
                <a:solidFill>
                  <a:srgbClr val="C00000"/>
                </a:solidFill>
              </a:rPr>
              <a:t>urinary schistosomiasis</a:t>
            </a:r>
            <a:r>
              <a:rPr lang="en-US" dirty="0"/>
              <a:t>. </a:t>
            </a:r>
            <a:r>
              <a:rPr lang="en-US" u="sng" dirty="0"/>
              <a:t>There are several strains</a:t>
            </a:r>
          </a:p>
          <a:p>
            <a:pPr marL="0" indent="0" algn="ctr">
              <a:buNone/>
            </a:pPr>
            <a:r>
              <a:rPr lang="en-US" b="1" u="sng" dirty="0"/>
              <a:t>Distribution</a:t>
            </a:r>
            <a:endParaRPr lang="en-US" u="sng" dirty="0"/>
          </a:p>
          <a:p>
            <a:pPr lvl="0"/>
            <a:r>
              <a:rPr lang="en-US" dirty="0"/>
              <a:t>Endemic in some </a:t>
            </a:r>
            <a:r>
              <a:rPr lang="en-US" u="sng" dirty="0"/>
              <a:t>52 African </a:t>
            </a:r>
            <a:r>
              <a:rPr lang="en-US" dirty="0"/>
              <a:t>and </a:t>
            </a:r>
            <a:r>
              <a:rPr lang="en-US" u="sng" dirty="0"/>
              <a:t>Eastern Mediterranean countries</a:t>
            </a:r>
            <a:r>
              <a:rPr lang="en-US" dirty="0"/>
              <a:t>, other </a:t>
            </a:r>
            <a:r>
              <a:rPr lang="en-US" u="sng" dirty="0"/>
              <a:t>tropical</a:t>
            </a:r>
            <a:r>
              <a:rPr lang="en-US" dirty="0"/>
              <a:t> and </a:t>
            </a:r>
            <a:r>
              <a:rPr lang="en-US" u="sng" dirty="0"/>
              <a:t>subtropical regions</a:t>
            </a:r>
            <a:r>
              <a:rPr lang="en-US" dirty="0"/>
              <a:t>, </a:t>
            </a:r>
            <a:r>
              <a:rPr lang="en-US" u="sng" dirty="0"/>
              <a:t>Iraq</a:t>
            </a:r>
            <a:r>
              <a:rPr lang="en-US" dirty="0"/>
              <a:t>, </a:t>
            </a:r>
            <a:r>
              <a:rPr lang="en-US" u="sng" dirty="0"/>
              <a:t>Iran</a:t>
            </a:r>
            <a:r>
              <a:rPr lang="en-US" dirty="0"/>
              <a:t>, </a:t>
            </a:r>
            <a:r>
              <a:rPr lang="en-US" u="sng" dirty="0"/>
              <a:t>Saudi Arabia</a:t>
            </a:r>
            <a:r>
              <a:rPr lang="en-US" dirty="0"/>
              <a:t>, </a:t>
            </a:r>
            <a:r>
              <a:rPr lang="en-US" u="sng" dirty="0"/>
              <a:t>Yemen</a:t>
            </a:r>
            <a:r>
              <a:rPr lang="en-US" dirty="0"/>
              <a:t>, </a:t>
            </a:r>
            <a:r>
              <a:rPr lang="en-US" u="sng" dirty="0"/>
              <a:t>Syria</a:t>
            </a:r>
            <a:r>
              <a:rPr lang="en-US" dirty="0"/>
              <a:t> and </a:t>
            </a:r>
            <a:r>
              <a:rPr lang="en-US" u="sng" dirty="0"/>
              <a:t>parts of India </a:t>
            </a:r>
            <a:r>
              <a:rPr lang="en-US" dirty="0"/>
              <a:t>and </a:t>
            </a:r>
            <a:r>
              <a:rPr lang="en-US" u="sng" dirty="0"/>
              <a:t>Indian Ocean Islands</a:t>
            </a:r>
            <a:r>
              <a:rPr lang="en-US" dirty="0"/>
              <a:t>.</a:t>
            </a:r>
          </a:p>
          <a:p>
            <a:pPr lvl="0"/>
            <a:r>
              <a:rPr lang="en-US" dirty="0">
                <a:solidFill>
                  <a:srgbClr val="C00000"/>
                </a:solidFill>
              </a:rPr>
              <a:t>Its distribution is also linked to the development of irrigation systems for hydropower and agriculture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6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S. haematobium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u="sng" dirty="0"/>
              <a:t>Transmission and life cycle</a:t>
            </a:r>
            <a:endParaRPr lang="en-US" u="sng" dirty="0"/>
          </a:p>
          <a:p>
            <a:pPr lvl="0"/>
            <a:r>
              <a:rPr lang="en-US" dirty="0">
                <a:solidFill>
                  <a:srgbClr val="C00000"/>
                </a:solidFill>
              </a:rPr>
              <a:t>Eggs</a:t>
            </a:r>
            <a:r>
              <a:rPr lang="en-US" dirty="0"/>
              <a:t> passed in the urine of infected person into fresh water bodies hatch into larvae called </a:t>
            </a:r>
            <a:r>
              <a:rPr lang="en-US" dirty="0">
                <a:solidFill>
                  <a:srgbClr val="C00000"/>
                </a:solidFill>
              </a:rPr>
              <a:t>miracidia</a:t>
            </a:r>
            <a:r>
              <a:rPr lang="en-US" dirty="0"/>
              <a:t>. </a:t>
            </a:r>
            <a:endParaRPr lang="en-US" dirty="0" smtClean="0"/>
          </a:p>
          <a:p>
            <a:pPr lvl="0"/>
            <a:r>
              <a:rPr lang="en-US" dirty="0" smtClean="0"/>
              <a:t>These </a:t>
            </a:r>
            <a:r>
              <a:rPr lang="en-US" dirty="0"/>
              <a:t>seek </a:t>
            </a:r>
            <a:r>
              <a:rPr lang="en-US" dirty="0">
                <a:solidFill>
                  <a:srgbClr val="00B0F0"/>
                </a:solidFill>
              </a:rPr>
              <a:t>intermediate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host snails </a:t>
            </a:r>
            <a:r>
              <a:rPr lang="en-US" dirty="0"/>
              <a:t>of appropriate genus (in Africa, </a:t>
            </a:r>
            <a:r>
              <a:rPr lang="en-US" i="1" dirty="0">
                <a:solidFill>
                  <a:srgbClr val="00B050"/>
                </a:solidFill>
              </a:rPr>
              <a:t>Bulinus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sp.) which live among aquatic vegetation in stagnant of slow flowing fresh water. </a:t>
            </a:r>
            <a:endParaRPr lang="en-US" dirty="0" smtClean="0"/>
          </a:p>
          <a:p>
            <a:pPr lvl="0"/>
            <a:r>
              <a:rPr lang="en-US" dirty="0" smtClean="0"/>
              <a:t>Inside </a:t>
            </a:r>
            <a:r>
              <a:rPr lang="en-US" dirty="0"/>
              <a:t>the snails, the </a:t>
            </a:r>
            <a:r>
              <a:rPr lang="en-US" dirty="0">
                <a:solidFill>
                  <a:srgbClr val="C00000"/>
                </a:solidFill>
              </a:rPr>
              <a:t>miracidia</a:t>
            </a:r>
            <a:r>
              <a:rPr lang="en-US" dirty="0"/>
              <a:t> develop or transform into </a:t>
            </a:r>
            <a:r>
              <a:rPr lang="en-US" dirty="0">
                <a:solidFill>
                  <a:srgbClr val="C00000"/>
                </a:solidFill>
              </a:rPr>
              <a:t>sporocysts</a:t>
            </a:r>
            <a:r>
              <a:rPr lang="en-US" dirty="0"/>
              <a:t> (multiplying in the process) which later form the </a:t>
            </a:r>
            <a:r>
              <a:rPr lang="en-US" dirty="0">
                <a:solidFill>
                  <a:srgbClr val="FF0000"/>
                </a:solidFill>
              </a:rPr>
              <a:t>infective larvae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cercariae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48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u="sng" dirty="0"/>
              <a:t>A person becomes infected when in contact with </a:t>
            </a:r>
            <a:r>
              <a:rPr lang="en-US" u="sng" dirty="0">
                <a:solidFill>
                  <a:srgbClr val="C00000"/>
                </a:solidFill>
              </a:rPr>
              <a:t>cercariae</a:t>
            </a:r>
            <a:r>
              <a:rPr lang="en-US" u="sng" dirty="0"/>
              <a:t> </a:t>
            </a:r>
            <a:r>
              <a:rPr lang="en-US" b="1" u="sng" dirty="0"/>
              <a:t>infested water</a:t>
            </a:r>
            <a:r>
              <a:rPr lang="en-US" dirty="0"/>
              <a:t>. </a:t>
            </a:r>
            <a:endParaRPr lang="en-US" dirty="0" smtClean="0"/>
          </a:p>
          <a:p>
            <a:pPr lvl="0"/>
            <a:r>
              <a:rPr lang="en-US" dirty="0" smtClean="0"/>
              <a:t>The </a:t>
            </a:r>
            <a:r>
              <a:rPr lang="en-US" dirty="0">
                <a:solidFill>
                  <a:srgbClr val="C00000"/>
                </a:solidFill>
              </a:rPr>
              <a:t>cercariae</a:t>
            </a:r>
            <a:r>
              <a:rPr lang="en-US" dirty="0"/>
              <a:t> attach to the skin and penetrate during which process the </a:t>
            </a:r>
            <a:r>
              <a:rPr lang="en-US" dirty="0">
                <a:solidFill>
                  <a:srgbClr val="C00000"/>
                </a:solidFill>
              </a:rPr>
              <a:t>cercariae</a:t>
            </a:r>
            <a:r>
              <a:rPr lang="en-US" dirty="0"/>
              <a:t> </a:t>
            </a:r>
            <a:r>
              <a:rPr lang="en-US" u="sng" dirty="0"/>
              <a:t>shed their tails and develop into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schistosomules</a:t>
            </a:r>
            <a:r>
              <a:rPr lang="en-US" dirty="0"/>
              <a:t> </a:t>
            </a:r>
            <a:r>
              <a:rPr lang="en-US" u="sng" dirty="0"/>
              <a:t>which migrate through subcutaneous tissue into blood vessels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42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>
                <a:solidFill>
                  <a:srgbClr val="C00000"/>
                </a:solidFill>
              </a:rPr>
              <a:t>S. haematobium </a:t>
            </a:r>
            <a:r>
              <a:rPr lang="en-US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schistosomules</a:t>
            </a:r>
            <a:r>
              <a:rPr lang="en-US" dirty="0" smtClean="0"/>
              <a:t> </a:t>
            </a:r>
            <a:r>
              <a:rPr lang="en-US" u="sng" dirty="0" smtClean="0"/>
              <a:t>are carried through the right side of the heart to the lungs and from here, most pass through the left side of the heart and enter the abdominal aorta </a:t>
            </a:r>
            <a:r>
              <a:rPr lang="en-US" dirty="0" smtClean="0"/>
              <a:t>and </a:t>
            </a:r>
            <a:r>
              <a:rPr lang="en-US" u="sng" dirty="0" smtClean="0"/>
              <a:t>then the portal (liver) circulation</a:t>
            </a:r>
            <a:r>
              <a:rPr lang="en-US" dirty="0" smtClean="0"/>
              <a:t>.</a:t>
            </a:r>
          </a:p>
          <a:p>
            <a:pPr lvl="0"/>
            <a:r>
              <a:rPr lang="en-US" dirty="0">
                <a:solidFill>
                  <a:srgbClr val="7030A0"/>
                </a:solidFill>
              </a:rPr>
              <a:t>Maturity is reached in the blood vessels of the liver.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Male and female flukes pair up</a:t>
            </a:r>
            <a:r>
              <a:rPr lang="en-US" u="sng" dirty="0"/>
              <a:t>, mate and migrate to the veins surrounding the bladder (Visceral plexus</a:t>
            </a:r>
            <a:r>
              <a:rPr lang="en-US" u="sng" dirty="0" smtClean="0"/>
              <a:t>)</a:t>
            </a:r>
            <a:r>
              <a:rPr lang="en-US" dirty="0" smtClean="0"/>
              <a:t>;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some may, occasionally be found in the veins of the rectum and the portal system.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6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The female lays eggs in the </a:t>
            </a:r>
            <a:r>
              <a:rPr lang="en-US" dirty="0" err="1"/>
              <a:t>venules</a:t>
            </a:r>
            <a:r>
              <a:rPr lang="en-US" dirty="0"/>
              <a:t> (small veins) of the bladder. About 20-200 eggs are estimated to be laid per day.</a:t>
            </a:r>
          </a:p>
          <a:p>
            <a:pPr lvl="0"/>
            <a:r>
              <a:rPr lang="en-US" dirty="0"/>
              <a:t>Many of the eggs penetrate the bladder mucosa into the lumen and are passed in the urine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Eggs can be found in the urine some 6-8 weeks after infection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About 20% of the eggs remain in the bladder wall and are calcified, some may be found in the ureters, rectal mucosa and reproductive organs especially in heavy infections.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23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Miracidia</a:t>
            </a:r>
            <a:r>
              <a:rPr lang="en-US" dirty="0"/>
              <a:t> hatching from the eggs are ciliated and swim in the water in search of the snail intermediate host for penetration else they die after 32 hours.</a:t>
            </a:r>
          </a:p>
          <a:p>
            <a:pPr lvl="0"/>
            <a:r>
              <a:rPr lang="en-US" dirty="0" err="1"/>
              <a:t>Cercariae</a:t>
            </a:r>
            <a:r>
              <a:rPr lang="en-US" dirty="0"/>
              <a:t> that are shed by the snail swim in the water for about 48 hours seeking human host.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54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pPr lvl="0"/>
            <a:r>
              <a:rPr lang="en-US" dirty="0"/>
              <a:t>Within 24 hours of infection, there occurs an intense irritation and skin rash (swimmers itch) at the site of </a:t>
            </a:r>
            <a:r>
              <a:rPr lang="en-US" dirty="0" err="1"/>
              <a:t>cercarial</a:t>
            </a:r>
            <a:r>
              <a:rPr lang="en-US" dirty="0"/>
              <a:t> penetration.</a:t>
            </a:r>
          </a:p>
          <a:p>
            <a:pPr lvl="0"/>
            <a:r>
              <a:rPr lang="en-US" dirty="0"/>
              <a:t>A few days after penetration, the young flukes become coated with host RBC and histocompatibility antigens </a:t>
            </a:r>
            <a:endParaRPr lang="en-US" dirty="0" smtClean="0"/>
          </a:p>
          <a:p>
            <a:pPr lvl="0"/>
            <a:r>
              <a:rPr lang="en-US" dirty="0" smtClean="0"/>
              <a:t>and </a:t>
            </a:r>
            <a:r>
              <a:rPr lang="en-US" dirty="0"/>
              <a:t>in this way escape being recognized as foreign. </a:t>
            </a:r>
          </a:p>
        </p:txBody>
      </p:sp>
    </p:spTree>
    <p:extLst>
      <p:ext uri="{BB962C8B-B14F-4D97-AF65-F5344CB8AC3E}">
        <p14:creationId xmlns:p14="http://schemas.microsoft.com/office/powerpoint/2010/main" val="1803327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Free from attack the </a:t>
            </a:r>
            <a:r>
              <a:rPr lang="en-US" dirty="0" err="1" smtClean="0"/>
              <a:t>schistosomes</a:t>
            </a:r>
            <a:r>
              <a:rPr lang="en-US" dirty="0" smtClean="0"/>
              <a:t> develop and produce eggs.</a:t>
            </a:r>
          </a:p>
          <a:p>
            <a:pPr lvl="0"/>
            <a:r>
              <a:rPr lang="en-US" dirty="0" smtClean="0"/>
              <a:t> It is the eggs and not the adults which are responsible for the clinical signs and damage to the bladder and ureters.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10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Other signs include;</a:t>
            </a:r>
            <a:endParaRPr lang="en-US" dirty="0"/>
          </a:p>
          <a:p>
            <a:pPr lvl="0"/>
            <a:r>
              <a:rPr lang="en-US" dirty="0" err="1"/>
              <a:t>Haematuria</a:t>
            </a:r>
            <a:r>
              <a:rPr lang="en-US" dirty="0"/>
              <a:t> (Blood in urine) caused by eggs penetrating the walls of the bladder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 </a:t>
            </a:r>
            <a:r>
              <a:rPr lang="en-US" dirty="0"/>
              <a:t>In endemic areas, about 80% of children infected have </a:t>
            </a:r>
            <a:r>
              <a:rPr lang="en-US" dirty="0" err="1" smtClean="0"/>
              <a:t>haematuria</a:t>
            </a:r>
            <a:r>
              <a:rPr lang="en-US" dirty="0" smtClean="0"/>
              <a:t> of </a:t>
            </a:r>
            <a:r>
              <a:rPr lang="en-US" dirty="0"/>
              <a:t>those with 50 eggs/10ml of urine, 98-100% have </a:t>
            </a:r>
            <a:r>
              <a:rPr lang="en-US" dirty="0" err="1"/>
              <a:t>haematuria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Proteinurea</a:t>
            </a:r>
            <a:r>
              <a:rPr lang="en-US" dirty="0"/>
              <a:t> (protein in urine) is also seen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962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Eggs trapped in the bladder wall and surrounding tissue cause inflammatory reactions with the formation of granulomata containing eggs, toxic products, epithelial cells, eosinophil and lymphocytes.</a:t>
            </a:r>
          </a:p>
          <a:p>
            <a:pPr lvl="0"/>
            <a:r>
              <a:rPr lang="en-US" dirty="0"/>
              <a:t>In heavy infections, eggs may be carried to other parts of the body, there may be calculi (stones in the bladder and urinary tract) and other serious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2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pPr lvl="0"/>
            <a:r>
              <a:rPr lang="en-US" dirty="0"/>
              <a:t>Avoiding contacts with water known to contain </a:t>
            </a:r>
            <a:r>
              <a:rPr lang="en-US" dirty="0" err="1"/>
              <a:t>cercariae</a:t>
            </a:r>
            <a:endParaRPr lang="en-US" dirty="0"/>
          </a:p>
          <a:p>
            <a:pPr lvl="0"/>
            <a:r>
              <a:rPr lang="en-US" dirty="0"/>
              <a:t>Preventing water to become contaminated with eggs</a:t>
            </a:r>
          </a:p>
          <a:p>
            <a:pPr lvl="0"/>
            <a:r>
              <a:rPr lang="en-US" dirty="0"/>
              <a:t>Treatment of infected persons</a:t>
            </a:r>
          </a:p>
          <a:p>
            <a:pPr lvl="0"/>
            <a:r>
              <a:rPr lang="en-US" dirty="0"/>
              <a:t>Destroying snail intermediate host and application of </a:t>
            </a:r>
            <a:r>
              <a:rPr lang="en-US" dirty="0" err="1"/>
              <a:t>molluscicides</a:t>
            </a:r>
            <a:endParaRPr lang="en-US" dirty="0"/>
          </a:p>
          <a:p>
            <a:pPr lvl="0"/>
            <a:r>
              <a:rPr lang="en-US" dirty="0"/>
              <a:t>Treating water supplies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0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Examination of urine for eggs or occasionally the hatched </a:t>
            </a:r>
            <a:r>
              <a:rPr lang="en-US" dirty="0" err="1"/>
              <a:t>miracadia</a:t>
            </a:r>
            <a:r>
              <a:rPr lang="en-US" dirty="0"/>
              <a:t> in urine; occasionally the eggs can be found in the </a:t>
            </a:r>
            <a:r>
              <a:rPr lang="en-US" dirty="0" err="1"/>
              <a:t>faeces</a:t>
            </a:r>
            <a:r>
              <a:rPr lang="en-US" dirty="0"/>
              <a:t>. (eggs have a terminal spine)</a:t>
            </a:r>
          </a:p>
          <a:p>
            <a:r>
              <a:rPr lang="en-US" dirty="0"/>
              <a:t>Detecting eggs in rectal biopsy or bladder mucosae.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17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mansoni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species causes intestinal schistosomiasis. There are several different strains of this parasite.</a:t>
            </a:r>
          </a:p>
          <a:p>
            <a:pPr marL="0" indent="0" algn="ctr">
              <a:buNone/>
            </a:pPr>
            <a:r>
              <a:rPr lang="en-US" b="1" dirty="0"/>
              <a:t>Distribution </a:t>
            </a:r>
            <a:endParaRPr lang="en-US" dirty="0"/>
          </a:p>
          <a:p>
            <a:r>
              <a:rPr lang="en-US" dirty="0"/>
              <a:t>Present in over 50 countries, but widespread in many African countries including Malagasy Republic, parts of the Middle East, South America (esp. Brazil) and the West Indies.</a:t>
            </a:r>
          </a:p>
          <a:p>
            <a:r>
              <a:rPr lang="en-US" dirty="0"/>
              <a:t>Its distribution in linked to water resource development projects (irrigation, hydroelectricity, etc.)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557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mansoni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r>
              <a:rPr lang="en-US" dirty="0"/>
              <a:t>Infected persons pass </a:t>
            </a:r>
            <a:r>
              <a:rPr lang="en-US" dirty="0" err="1"/>
              <a:t>faeces</a:t>
            </a:r>
            <a:r>
              <a:rPr lang="en-US" dirty="0"/>
              <a:t>, containing the eggs, into fresh water (rivers, streams etc.) used for agricultural, recreational </a:t>
            </a:r>
            <a:r>
              <a:rPr lang="en-US" dirty="0" err="1" smtClean="0"/>
              <a:t>etc</a:t>
            </a:r>
            <a:r>
              <a:rPr lang="en-US" dirty="0" smtClean="0"/>
              <a:t> purposes </a:t>
            </a:r>
            <a:r>
              <a:rPr lang="en-US" dirty="0"/>
              <a:t>and which harbor the snail intermediate host, </a:t>
            </a:r>
            <a:r>
              <a:rPr lang="en-US" i="1" dirty="0" err="1"/>
              <a:t>Biomphalaria</a:t>
            </a:r>
            <a:r>
              <a:rPr lang="en-US" i="1" dirty="0"/>
              <a:t> sp</a:t>
            </a:r>
            <a:r>
              <a:rPr lang="en-US" dirty="0"/>
              <a:t>., which are found among vegetation in lightly shaded, slow-to-moderate-flowing water.</a:t>
            </a:r>
          </a:p>
          <a:p>
            <a:r>
              <a:rPr lang="en-US" dirty="0"/>
              <a:t>Evidence suggests that rodents and possibly baboons may act as reservoir host. Humans are the most important definitive hosts.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7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mansoni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Life Cycle</a:t>
            </a:r>
            <a:endParaRPr lang="en-US" dirty="0"/>
          </a:p>
          <a:p>
            <a:r>
              <a:rPr lang="en-US" dirty="0"/>
              <a:t>Similar to that of </a:t>
            </a:r>
            <a:r>
              <a:rPr lang="en-US" i="1" dirty="0"/>
              <a:t>S. haematobium</a:t>
            </a:r>
            <a:r>
              <a:rPr lang="en-US" dirty="0"/>
              <a:t> (refer to diagram).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adult worms however, migrate to the small tributaries (veins) of the interior mesenteric veins which drains the large intestine.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may also be found in the portal venous system.</a:t>
            </a:r>
          </a:p>
          <a:p>
            <a:r>
              <a:rPr lang="en-US" dirty="0"/>
              <a:t>Eggs are laid in the </a:t>
            </a:r>
            <a:r>
              <a:rPr lang="en-US" dirty="0" err="1"/>
              <a:t>venules</a:t>
            </a:r>
            <a:r>
              <a:rPr lang="en-US" dirty="0"/>
              <a:t> and penetrate through to the lumen of the bowel to be excreted in </a:t>
            </a:r>
            <a:r>
              <a:rPr lang="en-US" dirty="0" err="1"/>
              <a:t>faeces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6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mansoni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r>
              <a:rPr lang="en-US" dirty="0"/>
              <a:t>Similar to those caused by </a:t>
            </a:r>
            <a:r>
              <a:rPr lang="en-US" i="1" dirty="0"/>
              <a:t>S. haematobium</a:t>
            </a:r>
            <a:r>
              <a:rPr lang="en-US" dirty="0"/>
              <a:t>. The spleen may also be enlarged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Death may occur as a result of hematemesis due to rapture of varicose veins in the </a:t>
            </a:r>
            <a:r>
              <a:rPr lang="en-US" dirty="0" err="1"/>
              <a:t>oesophagus</a:t>
            </a:r>
            <a:r>
              <a:rPr lang="en-US" dirty="0"/>
              <a:t> or stomach.</a:t>
            </a:r>
          </a:p>
          <a:p>
            <a:r>
              <a:rPr lang="en-US" dirty="0"/>
              <a:t>Complications may develop when eggs are deposited in the spinal cord, lungs and other organs. </a:t>
            </a:r>
          </a:p>
        </p:txBody>
      </p:sp>
    </p:spTree>
    <p:extLst>
      <p:ext uri="{BB962C8B-B14F-4D97-AF65-F5344CB8AC3E}">
        <p14:creationId xmlns:p14="http://schemas.microsoft.com/office/powerpoint/2010/main" val="1610282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Salmonella infections in patients with </a:t>
            </a:r>
            <a:r>
              <a:rPr lang="en-US" i="1" dirty="0" smtClean="0"/>
              <a:t>S. mansoni</a:t>
            </a:r>
            <a:r>
              <a:rPr lang="en-US" dirty="0" smtClean="0"/>
              <a:t> infection tend to become chronic and prolonged.</a:t>
            </a:r>
          </a:p>
          <a:p>
            <a:r>
              <a:rPr lang="en-US" dirty="0" smtClean="0"/>
              <a:t> It is though that there is an association between Hepatitis B infection and hepatic schistosomiasis.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09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haematobium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r>
              <a:rPr lang="en-US" dirty="0"/>
              <a:t>Same as for urinary schistosomiasis.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as for urinary schistosomiasis but here faecal specimens and rectal biopsy are examined. The eggs have lateral spine.</a:t>
            </a:r>
          </a:p>
          <a:p>
            <a:r>
              <a:rPr lang="en-US" dirty="0"/>
              <a:t>Occasionally the eggs may be found in the urine.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3002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intercalatum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species also causes intestinal schistosomiasis but is less pathogenic than all the species that cause this form of the disease.</a:t>
            </a:r>
          </a:p>
          <a:p>
            <a:pPr marL="0" indent="0" algn="ctr">
              <a:buNone/>
            </a:pPr>
            <a:r>
              <a:rPr lang="en-US" b="1" dirty="0"/>
              <a:t>Distribution</a:t>
            </a:r>
            <a:endParaRPr lang="en-US" dirty="0"/>
          </a:p>
          <a:p>
            <a:r>
              <a:rPr lang="en-US" dirty="0"/>
              <a:t>Limited to west and Central African (Zaire, Chad, Congo, Central Africa republic, Gabon, the Cameroons, Nigeria and Tanzania)</a:t>
            </a:r>
          </a:p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r>
              <a:rPr lang="en-US" dirty="0"/>
              <a:t>Similar to that of </a:t>
            </a:r>
            <a:r>
              <a:rPr lang="en-US" i="1" dirty="0"/>
              <a:t>S. mansoni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698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intercalatum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b="1" dirty="0"/>
              <a:t>Life Cycle</a:t>
            </a:r>
            <a:endParaRPr lang="en-US" dirty="0"/>
          </a:p>
          <a:p>
            <a:r>
              <a:rPr lang="en-US" dirty="0"/>
              <a:t>Similar to that of </a:t>
            </a:r>
            <a:r>
              <a:rPr lang="en-US" i="1" dirty="0"/>
              <a:t>S. mansoni</a:t>
            </a:r>
            <a:r>
              <a:rPr lang="en-US" dirty="0"/>
              <a:t> but for this species, the snail intermediate host belong to the genus Bulinus</a:t>
            </a:r>
          </a:p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r>
              <a:rPr lang="en-US" dirty="0"/>
              <a:t>As for </a:t>
            </a:r>
            <a:r>
              <a:rPr lang="en-US" i="1" dirty="0"/>
              <a:t>S. mansoni</a:t>
            </a:r>
            <a:r>
              <a:rPr lang="en-US" dirty="0"/>
              <a:t> but less pathogenic</a:t>
            </a:r>
          </a:p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r>
              <a:rPr lang="en-US" dirty="0"/>
              <a:t>Same as for the previously mentioned parasites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880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S. intercalatum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Eggs in </a:t>
            </a:r>
            <a:r>
              <a:rPr lang="en-US" dirty="0" err="1"/>
              <a:t>faeces</a:t>
            </a:r>
            <a:r>
              <a:rPr lang="en-US" dirty="0"/>
              <a:t> or rectal biopsies. The eggs have a terminal spine and are more elongated than that of </a:t>
            </a:r>
            <a:r>
              <a:rPr lang="en-US" i="1" dirty="0"/>
              <a:t>S. haematobium</a:t>
            </a:r>
            <a:r>
              <a:rPr lang="en-US" dirty="0"/>
              <a:t> which also has a terminal spine.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799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japonicum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Causes </a:t>
            </a:r>
            <a:r>
              <a:rPr lang="en-US" dirty="0"/>
              <a:t>intestinal schistosomiasis</a:t>
            </a:r>
          </a:p>
          <a:p>
            <a:pPr marL="0" indent="0" algn="ctr">
              <a:buNone/>
            </a:pPr>
            <a:r>
              <a:rPr lang="en-US" b="1" dirty="0"/>
              <a:t>Distribution</a:t>
            </a:r>
            <a:endParaRPr lang="en-US" dirty="0"/>
          </a:p>
          <a:p>
            <a:r>
              <a:rPr lang="en-US" dirty="0"/>
              <a:t>Far east especially china, the Philippines and Western Indonesia</a:t>
            </a:r>
          </a:p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r>
              <a:rPr lang="en-US" dirty="0"/>
              <a:t>When </a:t>
            </a:r>
            <a:r>
              <a:rPr lang="en-US" dirty="0" err="1"/>
              <a:t>faeces</a:t>
            </a:r>
            <a:r>
              <a:rPr lang="en-US" dirty="0"/>
              <a:t> form infected persons containing the eggs are passed into fresh water used for bathing, irrigation and other agricultural purposes and which harbor the snail intermediate host, a species of the amphibian snails of the genus </a:t>
            </a:r>
            <a:r>
              <a:rPr lang="en-US" i="1" dirty="0" err="1" smtClean="0"/>
              <a:t>Oncomelania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035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japonicum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Unlike the other major </a:t>
            </a:r>
            <a:r>
              <a:rPr lang="en-US" dirty="0" err="1" smtClean="0"/>
              <a:t>Schistosomes</a:t>
            </a:r>
            <a:r>
              <a:rPr lang="en-US" dirty="0" smtClean="0"/>
              <a:t> infecting humans, this species has many animal reservoir hosts which include dogs, cats, cattle, pigs, sheep, goats, water-buffaloes, horses and wild rodents.</a:t>
            </a:r>
          </a:p>
          <a:p>
            <a:r>
              <a:rPr lang="en-US" dirty="0" smtClean="0"/>
              <a:t>A person is infected when in contact with water containing </a:t>
            </a:r>
            <a:r>
              <a:rPr lang="en-US" dirty="0" err="1" smtClean="0"/>
              <a:t>cercariae</a:t>
            </a:r>
            <a:r>
              <a:rPr lang="en-US" dirty="0" smtClean="0"/>
              <a:t> or water vegetation to which </a:t>
            </a:r>
            <a:r>
              <a:rPr lang="en-US" dirty="0" err="1" smtClean="0"/>
              <a:t>cercariae</a:t>
            </a:r>
            <a:r>
              <a:rPr lang="en-US" dirty="0" smtClean="0"/>
              <a:t> have become attached.</a:t>
            </a:r>
          </a:p>
          <a:p>
            <a:pPr marL="0" indent="0" algn="ctr">
              <a:buNone/>
            </a:pPr>
            <a:r>
              <a:rPr lang="en-US" b="1" dirty="0" smtClean="0"/>
              <a:t>Life Cycle</a:t>
            </a:r>
            <a:endParaRPr lang="en-US" dirty="0" smtClean="0"/>
          </a:p>
          <a:p>
            <a:r>
              <a:rPr lang="en-US" dirty="0" smtClean="0"/>
              <a:t>Similar to that of </a:t>
            </a:r>
            <a:r>
              <a:rPr lang="en-US" i="1" dirty="0" smtClean="0"/>
              <a:t>S. mansoni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20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japonicum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Similar </a:t>
            </a:r>
            <a:r>
              <a:rPr lang="en-US" dirty="0"/>
              <a:t>to those od </a:t>
            </a:r>
            <a:r>
              <a:rPr lang="en-US" i="1" dirty="0"/>
              <a:t>S. mansoni</a:t>
            </a:r>
            <a:r>
              <a:rPr lang="en-US" dirty="0"/>
              <a:t> but with some variations</a:t>
            </a:r>
          </a:p>
          <a:p>
            <a:r>
              <a:rPr lang="en-US" dirty="0"/>
              <a:t>There is the skin rash and irritation at the site of </a:t>
            </a:r>
            <a:r>
              <a:rPr lang="en-US" dirty="0" err="1"/>
              <a:t>cercarial</a:t>
            </a:r>
            <a:r>
              <a:rPr lang="en-US" dirty="0"/>
              <a:t> penetration (swimmers itch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63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japonicum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Twenty-six days after infection, a severe immune reaction to the product of young flukes and eggs occur;</a:t>
            </a:r>
          </a:p>
          <a:p>
            <a:r>
              <a:rPr lang="en-US" dirty="0" smtClean="0"/>
              <a:t> manifested by an acute illness with fever, muscular and abdominal pain, spleen enlargement, this is known as Katayama reaction, urticarial and eosinophilia.</a:t>
            </a:r>
          </a:p>
          <a:p>
            <a:r>
              <a:rPr lang="en-US" dirty="0" smtClean="0"/>
              <a:t>This reaction can also occur with </a:t>
            </a:r>
            <a:r>
              <a:rPr lang="en-US" i="1" dirty="0" smtClean="0"/>
              <a:t>S. haematobium</a:t>
            </a:r>
            <a:r>
              <a:rPr lang="en-US" dirty="0" smtClean="0"/>
              <a:t> and </a:t>
            </a:r>
            <a:r>
              <a:rPr lang="en-US" i="1" dirty="0" smtClean="0"/>
              <a:t>S. mansoni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92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japonicum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r>
              <a:rPr lang="en-US" dirty="0"/>
              <a:t>A combination of methods used in the case of the other </a:t>
            </a:r>
            <a:r>
              <a:rPr lang="en-US" dirty="0" err="1"/>
              <a:t>Schistosomes</a:t>
            </a:r>
            <a:r>
              <a:rPr lang="en-US" dirty="0"/>
              <a:t> are used.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Examining </a:t>
            </a:r>
            <a:r>
              <a:rPr lang="en-US" dirty="0" err="1"/>
              <a:t>faeces</a:t>
            </a:r>
            <a:r>
              <a:rPr lang="en-US" dirty="0"/>
              <a:t> and rectal biopsies for </a:t>
            </a:r>
            <a:r>
              <a:rPr lang="en-US" i="1" dirty="0"/>
              <a:t>S. japonicum</a:t>
            </a:r>
            <a:r>
              <a:rPr lang="en-US" dirty="0"/>
              <a:t> eggs. The eggs have a short </a:t>
            </a:r>
            <a:r>
              <a:rPr lang="en-US" dirty="0" err="1"/>
              <a:t>hooklike</a:t>
            </a:r>
            <a:r>
              <a:rPr lang="en-US" dirty="0"/>
              <a:t> lateral or rudimentary spine, are large and round to oval in shape.</a:t>
            </a:r>
          </a:p>
        </p:txBody>
      </p:sp>
    </p:spTree>
    <p:extLst>
      <p:ext uri="{BB962C8B-B14F-4D97-AF65-F5344CB8AC3E}">
        <p14:creationId xmlns:p14="http://schemas.microsoft.com/office/powerpoint/2010/main" val="84203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mekongi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recently recognized species closely related to </a:t>
            </a:r>
            <a:r>
              <a:rPr lang="en-US" i="1" dirty="0"/>
              <a:t>S. japonicum</a:t>
            </a:r>
            <a:r>
              <a:rPr lang="en-US" dirty="0"/>
              <a:t> and causes intestinal schistosomiasis</a:t>
            </a:r>
            <a:r>
              <a:rPr lang="en-US" dirty="0" smtClean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Distribution</a:t>
            </a:r>
            <a:endParaRPr lang="en-US" dirty="0"/>
          </a:p>
          <a:p>
            <a:r>
              <a:rPr lang="en-US" dirty="0"/>
              <a:t>Present in Laos, Cambodia, Thailand (Mekong River Basin</a:t>
            </a:r>
            <a:r>
              <a:rPr lang="en-US" dirty="0" smtClean="0"/>
              <a:t>)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r>
              <a:rPr lang="en-US" dirty="0"/>
              <a:t>This occurs mostly in the dry season.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snail intermediate hosts are </a:t>
            </a:r>
            <a:r>
              <a:rPr lang="en-US" i="1" dirty="0" err="1"/>
              <a:t>Tricula</a:t>
            </a:r>
            <a:r>
              <a:rPr lang="en-US" i="1" dirty="0"/>
              <a:t> </a:t>
            </a:r>
            <a:r>
              <a:rPr lang="en-US" i="1" dirty="0" err="1"/>
              <a:t>aperta</a:t>
            </a:r>
            <a:r>
              <a:rPr lang="en-US" dirty="0"/>
              <a:t> which are aquatic.</a:t>
            </a:r>
          </a:p>
          <a:p>
            <a:r>
              <a:rPr lang="en-US" dirty="0"/>
              <a:t>Dogs have been identified as reservoir hosts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983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Schistosoma mekongi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r>
              <a:rPr lang="en-US" dirty="0"/>
              <a:t>Similar to those produced by </a:t>
            </a:r>
            <a:r>
              <a:rPr lang="en-US" i="1" dirty="0"/>
              <a:t>S. japonicum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Prevention and Control</a:t>
            </a:r>
            <a:endParaRPr lang="en-US" dirty="0"/>
          </a:p>
          <a:p>
            <a:r>
              <a:rPr lang="en-US" dirty="0"/>
              <a:t>Measures for </a:t>
            </a:r>
            <a:r>
              <a:rPr lang="en-US" i="1" dirty="0"/>
              <a:t>S. haematobium</a:t>
            </a:r>
            <a:r>
              <a:rPr lang="en-US" dirty="0"/>
              <a:t> and some of those for </a:t>
            </a:r>
            <a:r>
              <a:rPr lang="en-US" i="1" dirty="0"/>
              <a:t>S. japonicum</a:t>
            </a:r>
            <a:r>
              <a:rPr lang="en-US" dirty="0"/>
              <a:t> are applicable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As for </a:t>
            </a:r>
            <a:r>
              <a:rPr lang="en-US" i="1" dirty="0"/>
              <a:t>S. japonicum</a:t>
            </a:r>
            <a:r>
              <a:rPr lang="en-US" dirty="0"/>
              <a:t>. The eggs are similar to but smaller and wider than those of </a:t>
            </a:r>
            <a:r>
              <a:rPr lang="en-US" i="1" dirty="0"/>
              <a:t>S. </a:t>
            </a:r>
            <a:r>
              <a:rPr lang="en-US" i="1" dirty="0" smtClean="0"/>
              <a:t>japonicum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</a:t>
            </a:r>
            <a:r>
              <a:rPr lang="en-US" dirty="0"/>
              <a:t>is a small knob-like spine similar to that of </a:t>
            </a:r>
            <a:r>
              <a:rPr lang="en-US" i="1" dirty="0"/>
              <a:t>S. japonicum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07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Infections Caused by Animal </a:t>
            </a:r>
            <a:r>
              <a:rPr lang="en-US" b="1" dirty="0" err="1" smtClean="0"/>
              <a:t>Schistosomes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Humans </a:t>
            </a:r>
            <a:r>
              <a:rPr lang="en-US" dirty="0"/>
              <a:t>may also be infected by many other </a:t>
            </a:r>
            <a:r>
              <a:rPr lang="en-US" i="1" dirty="0" err="1"/>
              <a:t>Schistosoma</a:t>
            </a:r>
            <a:r>
              <a:rPr lang="en-US" dirty="0"/>
              <a:t> species that are naturally parasitic in animals</a:t>
            </a:r>
            <a:r>
              <a:rPr lang="en-US" dirty="0" smtClean="0"/>
              <a:t>, </a:t>
            </a:r>
            <a:r>
              <a:rPr lang="en-US" dirty="0"/>
              <a:t>however in the human host such parasites cause mild gastrointestinal and other symptoms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One of such is </a:t>
            </a:r>
            <a:r>
              <a:rPr lang="en-US" i="1" dirty="0" err="1"/>
              <a:t>Schistosoma</a:t>
            </a:r>
            <a:r>
              <a:rPr lang="en-US" i="1" dirty="0"/>
              <a:t> </a:t>
            </a:r>
            <a:r>
              <a:rPr lang="en-US" i="1" dirty="0" err="1"/>
              <a:t>matthei</a:t>
            </a:r>
            <a:r>
              <a:rPr lang="en-US" dirty="0"/>
              <a:t>, a natural parasite of sheep, goats, zebras and antelopes.</a:t>
            </a:r>
          </a:p>
          <a:p>
            <a:pPr marL="0" indent="0" algn="ctr">
              <a:buNone/>
            </a:pPr>
            <a:r>
              <a:rPr lang="en-US" b="1" dirty="0"/>
              <a:t>Distribution</a:t>
            </a:r>
            <a:endParaRPr lang="en-US" dirty="0"/>
          </a:p>
          <a:p>
            <a:r>
              <a:rPr lang="en-US" dirty="0"/>
              <a:t>Parts of South Africa, Zaire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15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Infections Caused by Animal </a:t>
            </a:r>
            <a:r>
              <a:rPr lang="en-US" b="1" dirty="0" err="1" smtClean="0"/>
              <a:t>Schistosomes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Transmission</a:t>
            </a:r>
            <a:endParaRPr lang="en-US" dirty="0"/>
          </a:p>
          <a:p>
            <a:r>
              <a:rPr lang="en-US" dirty="0"/>
              <a:t>The eggs are found in persons already infected with </a:t>
            </a:r>
            <a:r>
              <a:rPr lang="en-US" i="1" dirty="0"/>
              <a:t>S. </a:t>
            </a:r>
            <a:r>
              <a:rPr lang="en-US" i="1" dirty="0" err="1"/>
              <a:t>harmatobium</a:t>
            </a:r>
            <a:r>
              <a:rPr lang="en-US" dirty="0"/>
              <a:t> or </a:t>
            </a:r>
            <a:r>
              <a:rPr lang="en-US" i="1" dirty="0"/>
              <a:t>S. </a:t>
            </a:r>
            <a:r>
              <a:rPr lang="en-US" i="1" dirty="0" smtClean="0"/>
              <a:t>mansoni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is thought that hybridization occurs between </a:t>
            </a:r>
            <a:r>
              <a:rPr lang="en-US" i="1" dirty="0"/>
              <a:t>S. </a:t>
            </a:r>
            <a:r>
              <a:rPr lang="en-US" i="1" dirty="0" err="1"/>
              <a:t>matthei</a:t>
            </a:r>
            <a:r>
              <a:rPr lang="en-US" dirty="0"/>
              <a:t> and </a:t>
            </a:r>
            <a:r>
              <a:rPr lang="en-US" i="1" dirty="0"/>
              <a:t>S. haematobium</a:t>
            </a:r>
            <a:endParaRPr lang="en-US" dirty="0"/>
          </a:p>
          <a:p>
            <a:pPr marL="0" indent="0" algn="ctr">
              <a:buNone/>
            </a:pPr>
            <a:r>
              <a:rPr lang="en-US" b="1" dirty="0"/>
              <a:t>Symptoms and pathology</a:t>
            </a:r>
            <a:endParaRPr lang="en-US" dirty="0"/>
          </a:p>
          <a:p>
            <a:r>
              <a:rPr lang="en-US" dirty="0"/>
              <a:t>Probably this species does not cause serious disease</a:t>
            </a:r>
          </a:p>
          <a:p>
            <a:pPr marL="0" indent="0" algn="ctr">
              <a:buNone/>
            </a:pPr>
            <a:r>
              <a:rPr lang="en-US" b="1" dirty="0"/>
              <a:t>Diagnosis</a:t>
            </a:r>
            <a:endParaRPr lang="en-US" dirty="0"/>
          </a:p>
          <a:p>
            <a:r>
              <a:rPr lang="en-US" dirty="0"/>
              <a:t>Eggs are passed in urine or </a:t>
            </a:r>
            <a:r>
              <a:rPr lang="en-US" dirty="0" err="1"/>
              <a:t>faeces</a:t>
            </a:r>
            <a:r>
              <a:rPr lang="en-US" dirty="0"/>
              <a:t> hence these specimens are examined for eggs with a short terminal spine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1873</Words>
  <Application>Microsoft Office PowerPoint</Application>
  <PresentationFormat>On-screen Show (4:3)</PresentationFormat>
  <Paragraphs>172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PARASITOLOGY (BIOL 460)</vt:lpstr>
      <vt:lpstr>PowerPoint Presentation</vt:lpstr>
      <vt:lpstr> FLUKES – THE SCHISTOSOMES </vt:lpstr>
      <vt:lpstr> FLUKES – THE SCHISTOSOMES CONT’D </vt:lpstr>
      <vt:lpstr> Five species infect humans namely: </vt:lpstr>
      <vt:lpstr> Five species infect humans cont’d </vt:lpstr>
      <vt:lpstr> S. haematobium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S. haematobium cont’d </vt:lpstr>
      <vt:lpstr> Schistosoma mansoni </vt:lpstr>
      <vt:lpstr> Schistosoma mansoni </vt:lpstr>
      <vt:lpstr> Schistosoma mansoni </vt:lpstr>
      <vt:lpstr> Schistosoma mansoni </vt:lpstr>
      <vt:lpstr> S. haematobium cont’d </vt:lpstr>
      <vt:lpstr> S. haematobium cont’d </vt:lpstr>
      <vt:lpstr> S. intercalatum </vt:lpstr>
      <vt:lpstr> S. intercalatum cont’d </vt:lpstr>
      <vt:lpstr> S. intercalatum cont’d </vt:lpstr>
      <vt:lpstr> Schistosoma japonicum </vt:lpstr>
      <vt:lpstr> Schistosoma japonicum cont’d </vt:lpstr>
      <vt:lpstr> Schistosoma japonicum cont’d </vt:lpstr>
      <vt:lpstr> Schistosoma japonicum cont’d </vt:lpstr>
      <vt:lpstr> Schistosoma japonicum cont’d </vt:lpstr>
      <vt:lpstr> Schistosoma mekongi </vt:lpstr>
      <vt:lpstr> Schistosoma mekongi cont’d </vt:lpstr>
      <vt:lpstr> Infections Caused by Animal Schistosomes </vt:lpstr>
      <vt:lpstr> Infections Caused by Animal Schistosomes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(BIOL 460)</dc:title>
  <dc:creator>PROFESSOR LAWSON</dc:creator>
  <cp:lastModifiedBy>E6410</cp:lastModifiedBy>
  <cp:revision>8</cp:revision>
  <dcterms:created xsi:type="dcterms:W3CDTF">2018-03-26T12:44:28Z</dcterms:created>
  <dcterms:modified xsi:type="dcterms:W3CDTF">2020-03-01T00:44:04Z</dcterms:modified>
</cp:coreProperties>
</file>