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4" r:id="rId10"/>
    <p:sldId id="264" r:id="rId11"/>
    <p:sldId id="265" r:id="rId12"/>
    <p:sldId id="266" r:id="rId13"/>
    <p:sldId id="267" r:id="rId14"/>
    <p:sldId id="268" r:id="rId15"/>
    <p:sldId id="269" r:id="rId16"/>
    <p:sldId id="313" r:id="rId17"/>
    <p:sldId id="270" r:id="rId18"/>
    <p:sldId id="312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311" r:id="rId28"/>
    <p:sldId id="279" r:id="rId29"/>
    <p:sldId id="315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293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6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7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9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43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9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24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2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5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9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4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6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5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ACA47-5D75-4EF9-81D5-151AECAA0BC3}" type="datetimeFigureOut">
              <a:rPr lang="en-US" smtClean="0"/>
              <a:t>2/27/2020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231A6-5B4F-4806-985E-61940CD8C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7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PARASITOLOGY (BIOL 460)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6 A</a:t>
            </a:r>
          </a:p>
          <a:p>
            <a:r>
              <a:rPr lang="en-GB" b="1" dirty="0">
                <a:solidFill>
                  <a:srgbClr val="FF0000"/>
                </a:solidFill>
              </a:rPr>
              <a:t>TREMATODES (FLUKES)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98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solidFill>
                  <a:srgbClr val="FF0000"/>
                </a:solidFill>
              </a:rPr>
              <a:t>TREMATODES (FLUKES)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/>
              <a:t>As trematode worms the flukes possess features of the </a:t>
            </a:r>
            <a:r>
              <a:rPr lang="en-GB" b="1" dirty="0"/>
              <a:t>Class</a:t>
            </a:r>
            <a:r>
              <a:rPr lang="en-GB" dirty="0"/>
              <a:t> </a:t>
            </a:r>
            <a:r>
              <a:rPr lang="en-GB" dirty="0">
                <a:solidFill>
                  <a:srgbClr val="7030A0"/>
                </a:solidFill>
              </a:rPr>
              <a:t>Trematoda</a:t>
            </a:r>
            <a:r>
              <a:rPr lang="en-GB" dirty="0"/>
              <a:t> of the </a:t>
            </a:r>
            <a:r>
              <a:rPr lang="en-GB" b="1" dirty="0"/>
              <a:t>Phylum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Platyhelminthes</a:t>
            </a:r>
            <a:r>
              <a:rPr lang="en-GB" dirty="0"/>
              <a:t> (the </a:t>
            </a:r>
            <a:r>
              <a:rPr lang="en-GB" dirty="0">
                <a:solidFill>
                  <a:srgbClr val="0070C0"/>
                </a:solidFill>
              </a:rPr>
              <a:t>Flatworms</a:t>
            </a:r>
            <a:r>
              <a:rPr lang="en-GB" dirty="0"/>
              <a:t>).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7030A0"/>
                </a:solidFill>
              </a:rPr>
              <a:t>Members of the class which are of medical importance </a:t>
            </a:r>
            <a:r>
              <a:rPr lang="en-GB" dirty="0"/>
              <a:t>can be placed into </a:t>
            </a:r>
            <a:r>
              <a:rPr lang="en-GB" b="1" dirty="0"/>
              <a:t>two main groups on the basis of </a:t>
            </a:r>
            <a:r>
              <a:rPr lang="en-GB" dirty="0">
                <a:solidFill>
                  <a:srgbClr val="C00000"/>
                </a:solidFill>
              </a:rPr>
              <a:t>hermaphroditism</a:t>
            </a:r>
            <a:endParaRPr lang="en-US" dirty="0">
              <a:solidFill>
                <a:srgbClr val="C0000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/>
              <a:t>On this basis, there are those that are </a:t>
            </a:r>
            <a:r>
              <a:rPr lang="en-GB" dirty="0">
                <a:solidFill>
                  <a:srgbClr val="C00000"/>
                </a:solidFill>
              </a:rPr>
              <a:t>hermaphroditic</a:t>
            </a:r>
            <a:r>
              <a:rPr lang="en-GB" dirty="0"/>
              <a:t> and </a:t>
            </a:r>
            <a:r>
              <a:rPr lang="en-GB" dirty="0">
                <a:solidFill>
                  <a:srgbClr val="C00000"/>
                </a:solidFill>
              </a:rPr>
              <a:t>those that are </a:t>
            </a:r>
            <a:r>
              <a:rPr lang="en-GB" dirty="0" smtClean="0">
                <a:solidFill>
                  <a:srgbClr val="C00000"/>
                </a:solidFill>
              </a:rPr>
              <a:t>not </a:t>
            </a:r>
            <a:r>
              <a:rPr lang="en-GB" dirty="0" smtClean="0"/>
              <a:t>(</a:t>
            </a:r>
            <a:r>
              <a:rPr lang="en-GB" dirty="0" smtClean="0">
                <a:solidFill>
                  <a:srgbClr val="C00000"/>
                </a:solidFill>
              </a:rPr>
              <a:t>non-hermaphroditic</a:t>
            </a:r>
            <a:r>
              <a:rPr lang="en-GB" dirty="0" smtClean="0"/>
              <a:t>).</a:t>
            </a: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0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</a:t>
            </a:r>
            <a:r>
              <a:rPr lang="en-GB" b="1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dirty="0"/>
              <a:t>The </a:t>
            </a:r>
            <a:r>
              <a:rPr lang="en-GB" dirty="0">
                <a:solidFill>
                  <a:srgbClr val="C00000"/>
                </a:solidFill>
              </a:rPr>
              <a:t>hermaphroditic flukes</a:t>
            </a:r>
            <a:r>
              <a:rPr lang="en-GB" dirty="0"/>
              <a:t> are </a:t>
            </a:r>
            <a:r>
              <a:rPr lang="en-GB" u="sng" dirty="0"/>
              <a:t>further categorised on the </a:t>
            </a:r>
            <a:r>
              <a:rPr lang="en-GB" u="sng" dirty="0">
                <a:solidFill>
                  <a:srgbClr val="00B0F0"/>
                </a:solidFill>
              </a:rPr>
              <a:t>basis of adult worm location/residence </a:t>
            </a:r>
            <a:r>
              <a:rPr lang="en-GB" u="sng" dirty="0"/>
              <a:t>in the human or vertebrate host</a:t>
            </a:r>
            <a:r>
              <a:rPr lang="en-GB" dirty="0"/>
              <a:t>. There are </a:t>
            </a:r>
            <a:r>
              <a:rPr lang="en-GB" b="1" dirty="0"/>
              <a:t>three main such groups </a:t>
            </a:r>
            <a:r>
              <a:rPr lang="en-GB" dirty="0"/>
              <a:t>namely;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GB" dirty="0"/>
              <a:t>Those of the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liver</a:t>
            </a:r>
            <a:r>
              <a:rPr lang="en-GB" dirty="0"/>
              <a:t>, the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lungs</a:t>
            </a:r>
            <a:r>
              <a:rPr lang="en-GB" dirty="0"/>
              <a:t> and the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intestines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/>
              <a:t>Being </a:t>
            </a:r>
            <a:r>
              <a:rPr lang="en-GB" dirty="0">
                <a:solidFill>
                  <a:srgbClr val="C00000"/>
                </a:solidFill>
              </a:rPr>
              <a:t>hermaphroditic</a:t>
            </a:r>
            <a:r>
              <a:rPr lang="en-GB" dirty="0"/>
              <a:t>, </a:t>
            </a:r>
            <a:r>
              <a:rPr lang="en-GB" u="sng" dirty="0"/>
              <a:t>they have both male and female reproductive organs</a:t>
            </a:r>
            <a:r>
              <a:rPr lang="en-GB" dirty="0"/>
              <a:t>.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53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410200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/>
              <a:t>General features of </a:t>
            </a:r>
            <a:r>
              <a:rPr lang="en-GB" dirty="0">
                <a:solidFill>
                  <a:srgbClr val="C00000"/>
                </a:solidFill>
              </a:rPr>
              <a:t>hermaphroditic flukes </a:t>
            </a:r>
            <a:r>
              <a:rPr lang="en-GB" dirty="0"/>
              <a:t>that infect humans 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endParaRPr lang="en-GB" dirty="0" smtClean="0"/>
          </a:p>
          <a:p>
            <a:pPr lvl="1">
              <a:buFont typeface="Wingdings" pitchFamily="2" charset="2"/>
              <a:buChar char="Ø"/>
            </a:pPr>
            <a:r>
              <a:rPr lang="en-GB" dirty="0" smtClean="0">
                <a:solidFill>
                  <a:srgbClr val="00B0F0"/>
                </a:solidFill>
              </a:rPr>
              <a:t>Adults </a:t>
            </a:r>
            <a:r>
              <a:rPr lang="en-GB" dirty="0">
                <a:solidFill>
                  <a:srgbClr val="00B0F0"/>
                </a:solidFill>
              </a:rPr>
              <a:t>live according to the species</a:t>
            </a:r>
            <a:r>
              <a:rPr lang="en-GB" dirty="0"/>
              <a:t>, in the </a:t>
            </a:r>
            <a:r>
              <a:rPr lang="en-GB" dirty="0">
                <a:solidFill>
                  <a:srgbClr val="00B0F0"/>
                </a:solidFill>
              </a:rPr>
              <a:t>bile ducts</a:t>
            </a:r>
            <a:r>
              <a:rPr lang="en-GB" dirty="0"/>
              <a:t>, the </a:t>
            </a:r>
            <a:r>
              <a:rPr lang="en-GB" dirty="0">
                <a:solidFill>
                  <a:srgbClr val="00B0F0"/>
                </a:solidFill>
              </a:rPr>
              <a:t>intestinal tract </a:t>
            </a:r>
            <a:r>
              <a:rPr lang="en-GB" dirty="0"/>
              <a:t>or the </a:t>
            </a:r>
            <a:r>
              <a:rPr lang="en-GB" dirty="0">
                <a:solidFill>
                  <a:srgbClr val="00B0F0"/>
                </a:solidFill>
              </a:rPr>
              <a:t>lungs</a:t>
            </a:r>
            <a:endParaRPr lang="en-US" sz="2400" dirty="0">
              <a:solidFill>
                <a:srgbClr val="00B0F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GB" dirty="0">
                <a:solidFill>
                  <a:srgbClr val="00B0F0"/>
                </a:solidFill>
              </a:rPr>
              <a:t>Animal reservoir hosts are involved </a:t>
            </a:r>
            <a:r>
              <a:rPr lang="en-GB" dirty="0"/>
              <a:t>in the transmission of some </a:t>
            </a:r>
            <a:r>
              <a:rPr lang="en-GB" dirty="0" smtClean="0"/>
              <a:t>species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801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itchFamily="2" charset="2"/>
              <a:buChar char="Ø"/>
            </a:pPr>
            <a:r>
              <a:rPr lang="en-GB" dirty="0" smtClean="0">
                <a:solidFill>
                  <a:srgbClr val="00B0F0"/>
                </a:solidFill>
              </a:rPr>
              <a:t>Transmission is by ingesting infective metacercariae </a:t>
            </a:r>
            <a:r>
              <a:rPr lang="en-GB" dirty="0" smtClean="0"/>
              <a:t>which develop into the fluke and produce </a:t>
            </a:r>
            <a:r>
              <a:rPr lang="en-GB" dirty="0" smtClean="0">
                <a:solidFill>
                  <a:srgbClr val="00B0F0"/>
                </a:solidFill>
              </a:rPr>
              <a:t>operculated eggs </a:t>
            </a:r>
          </a:p>
          <a:p>
            <a:pPr lvl="1">
              <a:buFont typeface="Wingdings" pitchFamily="2" charset="2"/>
              <a:buChar char="Ø"/>
            </a:pPr>
            <a:r>
              <a:rPr lang="en-GB" dirty="0" smtClean="0"/>
              <a:t>(i.e. </a:t>
            </a:r>
            <a:r>
              <a:rPr lang="en-GB" dirty="0" smtClean="0">
                <a:solidFill>
                  <a:srgbClr val="00B0F0"/>
                </a:solidFill>
              </a:rPr>
              <a:t>eggs with a lid over a pore at one end</a:t>
            </a:r>
            <a:r>
              <a:rPr lang="en-GB" dirty="0" smtClean="0"/>
              <a:t>); </a:t>
            </a:r>
            <a:r>
              <a:rPr lang="en-GB" u="sng" dirty="0" smtClean="0"/>
              <a:t>the eggs are excreted in the faeces of definitive hosts</a:t>
            </a:r>
          </a:p>
          <a:p>
            <a:pPr lvl="1">
              <a:buFont typeface="Wingdings" pitchFamily="2" charset="2"/>
              <a:buChar char="Ø"/>
            </a:pPr>
            <a:r>
              <a:rPr lang="en-GB" u="sng" dirty="0" smtClean="0"/>
              <a:t>(but those of lung flukes can also be found in the sputum</a:t>
            </a:r>
            <a:r>
              <a:rPr lang="en-GB" dirty="0" smtClean="0"/>
              <a:t>)</a:t>
            </a:r>
            <a:endParaRPr lang="en-US" sz="2400" dirty="0" smtClean="0"/>
          </a:p>
          <a:p>
            <a:pPr lvl="1">
              <a:buFont typeface="Wingdings" pitchFamily="2" charset="2"/>
              <a:buChar char="Ø"/>
            </a:pPr>
            <a:r>
              <a:rPr lang="en-GB" dirty="0" smtClean="0">
                <a:solidFill>
                  <a:srgbClr val="00B0F0"/>
                </a:solidFill>
              </a:rPr>
              <a:t>The eggs hatch into miracidia </a:t>
            </a:r>
            <a:r>
              <a:rPr lang="en-GB" dirty="0" smtClean="0"/>
              <a:t>(</a:t>
            </a:r>
            <a:r>
              <a:rPr lang="en-GB" u="sng" dirty="0" smtClean="0"/>
              <a:t>ciliated and mobile larvae</a:t>
            </a:r>
            <a:r>
              <a:rPr lang="en-GB" dirty="0" smtClean="0"/>
              <a:t>)</a:t>
            </a:r>
            <a:endParaRPr lang="en-US" sz="2400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997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/>
              <a:t>There are generally </a:t>
            </a:r>
            <a:r>
              <a:rPr lang="en-GB" dirty="0">
                <a:solidFill>
                  <a:srgbClr val="00B0F0"/>
                </a:solidFill>
              </a:rPr>
              <a:t>two </a:t>
            </a:r>
            <a:r>
              <a:rPr lang="en-GB" dirty="0" smtClean="0">
                <a:solidFill>
                  <a:srgbClr val="00B0F0"/>
                </a:solidFill>
              </a:rPr>
              <a:t>intermediate </a:t>
            </a:r>
            <a:r>
              <a:rPr lang="en-GB" dirty="0">
                <a:solidFill>
                  <a:srgbClr val="00B0F0"/>
                </a:solidFill>
              </a:rPr>
              <a:t>hosts </a:t>
            </a:r>
            <a:r>
              <a:rPr lang="en-GB" dirty="0"/>
              <a:t>in the life cycle: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GB" dirty="0" smtClean="0"/>
              <a:t>The </a:t>
            </a:r>
            <a:r>
              <a:rPr lang="en-GB" dirty="0" smtClean="0">
                <a:solidFill>
                  <a:srgbClr val="00B0F0"/>
                </a:solidFill>
              </a:rPr>
              <a:t>first</a:t>
            </a:r>
            <a:r>
              <a:rPr lang="en-GB" dirty="0" smtClean="0"/>
              <a:t> is usually a </a:t>
            </a:r>
            <a:r>
              <a:rPr lang="en-GB" dirty="0" smtClean="0">
                <a:solidFill>
                  <a:srgbClr val="00B050"/>
                </a:solidFill>
              </a:rPr>
              <a:t>snail</a:t>
            </a:r>
            <a:r>
              <a:rPr lang="en-GB" dirty="0" smtClean="0"/>
              <a:t> </a:t>
            </a:r>
            <a:r>
              <a:rPr lang="en-GB" u="sng" dirty="0" smtClean="0"/>
              <a:t>in which the </a:t>
            </a:r>
            <a:r>
              <a:rPr lang="en-GB" u="sng" dirty="0" smtClean="0">
                <a:solidFill>
                  <a:schemeClr val="accent6">
                    <a:lumMod val="75000"/>
                  </a:schemeClr>
                </a:solidFill>
              </a:rPr>
              <a:t>miracidium </a:t>
            </a:r>
            <a:r>
              <a:rPr lang="en-GB" u="sng" dirty="0" smtClean="0"/>
              <a:t>develops into </a:t>
            </a:r>
            <a:r>
              <a:rPr lang="en-GB" u="sng" dirty="0" smtClean="0">
                <a:solidFill>
                  <a:schemeClr val="accent6">
                    <a:lumMod val="75000"/>
                  </a:schemeClr>
                </a:solidFill>
              </a:rPr>
              <a:t>sporocyst</a:t>
            </a:r>
            <a:r>
              <a:rPr lang="en-GB" u="sng" dirty="0" smtClean="0"/>
              <a:t> which produces </a:t>
            </a:r>
            <a:r>
              <a:rPr lang="en-GB" u="sng" dirty="0" smtClean="0">
                <a:solidFill>
                  <a:schemeClr val="accent6">
                    <a:lumMod val="75000"/>
                  </a:schemeClr>
                </a:solidFill>
              </a:rPr>
              <a:t>rediae</a:t>
            </a:r>
            <a:r>
              <a:rPr lang="en-GB" u="sng" dirty="0" smtClean="0"/>
              <a:t>. Some species produce more than one generation of rediae.</a:t>
            </a:r>
            <a:endParaRPr lang="en-US" sz="2400" u="sng" dirty="0" smtClean="0"/>
          </a:p>
          <a:p>
            <a:pPr lvl="1">
              <a:buFont typeface="Wingdings" pitchFamily="2" charset="2"/>
              <a:buChar char="Ø"/>
            </a:pPr>
            <a:r>
              <a:rPr lang="en-GB" u="sng" dirty="0" smtClean="0">
                <a:solidFill>
                  <a:schemeClr val="accent6">
                    <a:lumMod val="75000"/>
                  </a:schemeClr>
                </a:solidFill>
              </a:rPr>
              <a:t>Rediae</a:t>
            </a:r>
            <a:r>
              <a:rPr lang="en-GB" u="sng" dirty="0" smtClean="0"/>
              <a:t> </a:t>
            </a:r>
            <a:r>
              <a:rPr lang="en-GB" u="sng" dirty="0"/>
              <a:t>eventually produce </a:t>
            </a:r>
            <a:r>
              <a:rPr lang="en-GB" u="sng" dirty="0">
                <a:solidFill>
                  <a:schemeClr val="accent6">
                    <a:lumMod val="75000"/>
                  </a:schemeClr>
                </a:solidFill>
              </a:rPr>
              <a:t>cercariae</a:t>
            </a:r>
            <a:r>
              <a:rPr lang="en-GB" u="sng" dirty="0"/>
              <a:t> which are shed by the snail</a:t>
            </a:r>
            <a:r>
              <a:rPr lang="en-GB" dirty="0"/>
              <a:t>.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0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TREMATODES (FLUKES)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dirty="0" smtClean="0"/>
              <a:t>The </a:t>
            </a:r>
            <a:r>
              <a:rPr lang="en-GB" dirty="0" smtClean="0">
                <a:solidFill>
                  <a:srgbClr val="00B0F0"/>
                </a:solidFill>
              </a:rPr>
              <a:t>second intermediate host </a:t>
            </a:r>
            <a:r>
              <a:rPr lang="en-GB" dirty="0" smtClean="0"/>
              <a:t>is (according to the species) a </a:t>
            </a:r>
            <a:r>
              <a:rPr lang="en-GB" dirty="0" smtClean="0">
                <a:solidFill>
                  <a:srgbClr val="00B050"/>
                </a:solidFill>
              </a:rPr>
              <a:t>fresh water fish</a:t>
            </a:r>
            <a:r>
              <a:rPr lang="en-GB" dirty="0" smtClean="0"/>
              <a:t>, </a:t>
            </a:r>
            <a:r>
              <a:rPr lang="en-GB" dirty="0" smtClean="0">
                <a:solidFill>
                  <a:srgbClr val="00B050"/>
                </a:solidFill>
              </a:rPr>
              <a:t>crab</a:t>
            </a:r>
            <a:r>
              <a:rPr lang="en-GB" dirty="0" smtClean="0"/>
              <a:t>, </a:t>
            </a:r>
            <a:r>
              <a:rPr lang="en-GB" dirty="0" smtClean="0">
                <a:solidFill>
                  <a:srgbClr val="00B050"/>
                </a:solidFill>
              </a:rPr>
              <a:t>crayfish</a:t>
            </a:r>
            <a:r>
              <a:rPr lang="en-GB" dirty="0" smtClean="0"/>
              <a:t> or </a:t>
            </a:r>
            <a:r>
              <a:rPr lang="en-GB" dirty="0" smtClean="0">
                <a:solidFill>
                  <a:srgbClr val="00B050"/>
                </a:solidFill>
              </a:rPr>
              <a:t>water plant</a:t>
            </a:r>
            <a:endParaRPr lang="en-US" sz="2800" dirty="0" smtClean="0">
              <a:solidFill>
                <a:srgbClr val="00B05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GB" dirty="0" smtClean="0"/>
              <a:t>In or on these hosts, the </a:t>
            </a: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cercariae</a:t>
            </a:r>
            <a:r>
              <a:rPr lang="en-GB" dirty="0" smtClean="0"/>
              <a:t> </a:t>
            </a:r>
            <a:r>
              <a:rPr lang="en-GB" u="sng" dirty="0" smtClean="0"/>
              <a:t>encyst and become</a:t>
            </a:r>
            <a:r>
              <a:rPr lang="en-GB" dirty="0" smtClean="0"/>
              <a:t> </a:t>
            </a: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metacercariae(infective stage)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7030A0"/>
                </a:solidFill>
              </a:rPr>
              <a:t>Laboratory diagnosis is by finding eggs in faeces or in sputum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87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9144000" cy="944562"/>
          </a:xfrm>
        </p:spPr>
        <p:txBody>
          <a:bodyPr>
            <a:noAutofit/>
          </a:bodyPr>
          <a:lstStyle/>
          <a:p>
            <a:r>
              <a:rPr lang="en-GB" sz="3000" b="1" dirty="0"/>
              <a:t>Examples by adult worm site of residence in the definitive host (human) body  </a:t>
            </a:r>
            <a:r>
              <a:rPr lang="en-GB" sz="3000" b="1" dirty="0" smtClean="0"/>
              <a:t>and Transmission Mode</a:t>
            </a:r>
            <a:r>
              <a:rPr lang="en-US" sz="3000" dirty="0"/>
              <a:t/>
            </a:r>
            <a:br>
              <a:rPr lang="en-US" sz="3000" dirty="0"/>
            </a:br>
            <a:endParaRPr lang="en-US" sz="3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802320"/>
              </p:ext>
            </p:extLst>
          </p:nvPr>
        </p:nvGraphicFramePr>
        <p:xfrm>
          <a:off x="533400" y="1219200"/>
          <a:ext cx="8077201" cy="55073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7150"/>
                <a:gridCol w="1920809"/>
                <a:gridCol w="2069621"/>
                <a:gridCol w="2069621"/>
              </a:tblGrid>
              <a:tr h="5883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Species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Location of adult worm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Intermediate host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Mode of transmission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</a:tr>
              <a:tr h="6382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Fasciola hepatica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Bile duct/Biliary tract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Fresh water snail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Eggs passed in faeces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</a:tr>
              <a:tr h="6382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Fasciolopsis buski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Small intestine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Fresh water snail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Eggs passed in faeces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</a:tr>
              <a:tr h="10913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Opisthorchis sinensis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Bile ducts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Fresh water snail</a:t>
                      </a:r>
                      <a:endParaRPr lang="en-US" sz="160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Fresh water fish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Eggs passed in faeces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</a:tr>
              <a:tr h="10913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O. viverrini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Bile ducts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Fresh water snail</a:t>
                      </a:r>
                      <a:endParaRPr lang="en-US" sz="160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Fresh water fish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Eggs passed in faeces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</a:tr>
              <a:tr h="13165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Paragoninus westermani and other Paragoninus species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Lungs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Fresh water snail</a:t>
                      </a:r>
                      <a:endParaRPr lang="en-US" sz="160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Crabs or crayfish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Eggs present in sputum, also passed in faeces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2872" marR="52872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80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"/>
            <a:ext cx="9067800" cy="6477000"/>
          </a:xfrm>
        </p:spPr>
      </p:pic>
    </p:spTree>
    <p:extLst>
      <p:ext uri="{BB962C8B-B14F-4D97-AF65-F5344CB8AC3E}">
        <p14:creationId xmlns:p14="http://schemas.microsoft.com/office/powerpoint/2010/main" val="72548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/>
              <a:t>In all these flukes, the </a:t>
            </a:r>
            <a:r>
              <a:rPr lang="en-GB" dirty="0">
                <a:solidFill>
                  <a:srgbClr val="FF0000"/>
                </a:solidFill>
              </a:rPr>
              <a:t>infective stage for humans </a:t>
            </a:r>
            <a:r>
              <a:rPr lang="en-GB" dirty="0"/>
              <a:t>is the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metacercariae</a:t>
            </a:r>
            <a:r>
              <a:rPr lang="en-GB" dirty="0" smtClean="0"/>
              <a:t>.</a:t>
            </a:r>
            <a:r>
              <a:rPr lang="en-GB" dirty="0"/>
              <a:t> 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GB" i="1" dirty="0"/>
              <a:t>The</a:t>
            </a:r>
            <a:r>
              <a:rPr lang="en-GB" b="1" i="1" dirty="0"/>
              <a:t> </a:t>
            </a:r>
            <a:r>
              <a:rPr lang="en-GB" i="1" dirty="0">
                <a:solidFill>
                  <a:srgbClr val="7030A0"/>
                </a:solidFill>
              </a:rPr>
              <a:t>Flukes of Medical importance </a:t>
            </a:r>
            <a:r>
              <a:rPr lang="en-GB" i="1" dirty="0"/>
              <a:t>belong to the </a:t>
            </a:r>
            <a:r>
              <a:rPr lang="en-GB" b="1" i="1" dirty="0"/>
              <a:t>Subclass </a:t>
            </a:r>
            <a:r>
              <a:rPr lang="en-GB" i="1" dirty="0">
                <a:solidFill>
                  <a:srgbClr val="FF33CC"/>
                </a:solidFill>
              </a:rPr>
              <a:t>Digenea</a:t>
            </a:r>
            <a:r>
              <a:rPr lang="en-GB" i="1" dirty="0"/>
              <a:t> of the </a:t>
            </a:r>
            <a:r>
              <a:rPr lang="en-GB" b="1" i="1" dirty="0"/>
              <a:t>Class </a:t>
            </a:r>
            <a:r>
              <a:rPr lang="en-GB" i="1" dirty="0">
                <a:solidFill>
                  <a:srgbClr val="0070C0"/>
                </a:solidFill>
              </a:rPr>
              <a:t>Trematoda</a:t>
            </a:r>
            <a:r>
              <a:rPr lang="en-GB" b="1" i="1" dirty="0"/>
              <a:t>. </a:t>
            </a:r>
            <a:r>
              <a:rPr lang="en-GB" i="1" dirty="0">
                <a:solidFill>
                  <a:srgbClr val="FF33CC"/>
                </a:solidFill>
              </a:rPr>
              <a:t>Digenetic flukes </a:t>
            </a:r>
            <a:r>
              <a:rPr lang="en-GB" i="1" u="sng" dirty="0"/>
              <a:t>have the following features:</a:t>
            </a:r>
            <a:endParaRPr lang="en-US" i="1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92D050"/>
                </a:solidFill>
              </a:rPr>
              <a:t>Two generations in their life cycle</a:t>
            </a:r>
            <a:r>
              <a:rPr lang="en-GB" dirty="0"/>
              <a:t>, namely:</a:t>
            </a:r>
            <a:endParaRPr lang="en-US" dirty="0"/>
          </a:p>
          <a:p>
            <a:pPr marL="0" lvl="0" indent="0">
              <a:buNone/>
            </a:pPr>
            <a:r>
              <a:rPr lang="en-GB" dirty="0" smtClean="0"/>
              <a:t>1. </a:t>
            </a:r>
            <a:r>
              <a:rPr lang="en-GB" dirty="0" smtClean="0">
                <a:solidFill>
                  <a:schemeClr val="accent6"/>
                </a:solidFill>
              </a:rPr>
              <a:t>An </a:t>
            </a:r>
            <a:r>
              <a:rPr lang="en-GB" dirty="0">
                <a:solidFill>
                  <a:schemeClr val="accent6"/>
                </a:solidFill>
              </a:rPr>
              <a:t>asexual generation </a:t>
            </a:r>
            <a:r>
              <a:rPr lang="en-GB" u="sng" dirty="0"/>
              <a:t>in which multiplication occurs</a:t>
            </a:r>
            <a:r>
              <a:rPr lang="en-GB" dirty="0"/>
              <a:t> (in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sporocysts</a:t>
            </a:r>
            <a:r>
              <a:rPr lang="en-GB" dirty="0"/>
              <a:t> or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redia stage</a:t>
            </a:r>
            <a:r>
              <a:rPr lang="en-GB" dirty="0"/>
              <a:t>, and </a:t>
            </a:r>
            <a:endParaRPr lang="en-US" dirty="0"/>
          </a:p>
          <a:p>
            <a:pPr marL="0" lvl="0" indent="0">
              <a:buNone/>
            </a:pPr>
            <a:r>
              <a:rPr lang="en-GB" dirty="0" smtClean="0"/>
              <a:t>2</a:t>
            </a:r>
            <a:r>
              <a:rPr lang="en-GB" dirty="0" smtClean="0">
                <a:solidFill>
                  <a:schemeClr val="accent6"/>
                </a:solidFill>
              </a:rPr>
              <a:t>. A </a:t>
            </a:r>
            <a:r>
              <a:rPr lang="en-GB" dirty="0">
                <a:solidFill>
                  <a:schemeClr val="accent6"/>
                </a:solidFill>
              </a:rPr>
              <a:t>sexual generation </a:t>
            </a:r>
            <a:r>
              <a:rPr lang="en-GB" u="sng" dirty="0"/>
              <a:t>which produces </a:t>
            </a:r>
            <a:r>
              <a:rPr lang="en-GB" u="sng" dirty="0" smtClean="0"/>
              <a:t>eggs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8387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C00000"/>
                </a:solidFill>
              </a:rPr>
              <a:t>Unsegmented</a:t>
            </a:r>
            <a:r>
              <a:rPr lang="en-GB" dirty="0" smtClean="0"/>
              <a:t>, mostly </a:t>
            </a:r>
            <a:r>
              <a:rPr lang="en-GB" dirty="0" smtClean="0">
                <a:solidFill>
                  <a:srgbClr val="C00000"/>
                </a:solidFill>
              </a:rPr>
              <a:t>flat leaf-like worms </a:t>
            </a:r>
            <a:r>
              <a:rPr lang="en-GB" dirty="0" smtClean="0"/>
              <a:t>(except </a:t>
            </a:r>
            <a:r>
              <a:rPr lang="en-GB" dirty="0" smtClean="0">
                <a:solidFill>
                  <a:srgbClr val="00B0F0"/>
                </a:solidFill>
              </a:rPr>
              <a:t>schistosomes</a:t>
            </a:r>
            <a:r>
              <a:rPr lang="en-GB" dirty="0" smtClean="0"/>
              <a:t>)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r>
              <a:rPr lang="en-GB" u="sng" dirty="0" smtClean="0"/>
              <a:t>Attach to their host by means of </a:t>
            </a:r>
            <a:r>
              <a:rPr lang="en-GB" dirty="0" smtClean="0">
                <a:solidFill>
                  <a:srgbClr val="C00000"/>
                </a:solidFill>
              </a:rPr>
              <a:t>suckers</a:t>
            </a:r>
            <a:r>
              <a:rPr lang="en-GB" dirty="0" smtClean="0"/>
              <a:t> (an </a:t>
            </a:r>
            <a:r>
              <a:rPr lang="en-GB" u="sng" dirty="0" smtClean="0"/>
              <a:t>oral sucker surrounding the mouth</a:t>
            </a:r>
            <a:r>
              <a:rPr lang="en-GB" dirty="0" smtClean="0"/>
              <a:t> and a </a:t>
            </a:r>
            <a:r>
              <a:rPr lang="en-GB" u="sng" dirty="0" smtClean="0"/>
              <a:t>ventral sucker on the ventral surface</a:t>
            </a:r>
            <a:r>
              <a:rPr lang="en-GB" dirty="0" smtClean="0"/>
              <a:t>).</a:t>
            </a: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C00000"/>
                </a:solidFill>
              </a:rPr>
              <a:t>Digestive system </a:t>
            </a:r>
            <a:r>
              <a:rPr lang="en-GB" u="sng" dirty="0"/>
              <a:t>consists of a mouth and an oesophagus which divides to form two intestinal </a:t>
            </a:r>
            <a:r>
              <a:rPr lang="en-GB" u="sng" dirty="0" smtClean="0"/>
              <a:t>caeca</a:t>
            </a:r>
            <a:r>
              <a:rPr lang="en-GB" dirty="0" smtClean="0"/>
              <a:t>. </a:t>
            </a:r>
          </a:p>
          <a:p>
            <a:pPr lvl="0">
              <a:buFont typeface="Wingdings" pitchFamily="2" charset="2"/>
              <a:buChar char="v"/>
            </a:pPr>
            <a:r>
              <a:rPr lang="en-GB" u="sng" dirty="0" smtClean="0"/>
              <a:t>In </a:t>
            </a:r>
            <a:r>
              <a:rPr lang="en-GB" u="sng" dirty="0"/>
              <a:t>some species the </a:t>
            </a:r>
            <a:r>
              <a:rPr lang="en-GB" u="sng" dirty="0" smtClean="0"/>
              <a:t>caeca </a:t>
            </a:r>
            <a:r>
              <a:rPr lang="en-GB" u="sng" dirty="0"/>
              <a:t>are branched</a:t>
            </a:r>
            <a:r>
              <a:rPr lang="en-GB" dirty="0"/>
              <a:t>. </a:t>
            </a:r>
            <a:r>
              <a:rPr lang="en-GB" b="1" dirty="0"/>
              <a:t>There is no anus</a:t>
            </a:r>
            <a:r>
              <a:rPr lang="en-GB" dirty="0"/>
              <a:t>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99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C00000"/>
                </a:solidFill>
              </a:rPr>
              <a:t>Excretory system </a:t>
            </a:r>
            <a:r>
              <a:rPr lang="en-GB" dirty="0" smtClean="0"/>
              <a:t>is composed of </a:t>
            </a:r>
            <a:r>
              <a:rPr lang="en-GB" dirty="0" smtClean="0">
                <a:solidFill>
                  <a:srgbClr val="FF33CC"/>
                </a:solidFill>
              </a:rPr>
              <a:t>excretory cells </a:t>
            </a:r>
            <a:r>
              <a:rPr lang="en-GB" dirty="0" smtClean="0"/>
              <a:t>(called </a:t>
            </a:r>
            <a:r>
              <a:rPr lang="en-GB" dirty="0" smtClean="0">
                <a:solidFill>
                  <a:srgbClr val="FF33CC"/>
                </a:solidFill>
              </a:rPr>
              <a:t>flame cells</a:t>
            </a:r>
            <a:r>
              <a:rPr lang="en-GB" dirty="0" smtClean="0"/>
              <a:t>), </a:t>
            </a:r>
            <a:r>
              <a:rPr lang="en-GB" dirty="0" smtClean="0">
                <a:solidFill>
                  <a:srgbClr val="FF33CC"/>
                </a:solidFill>
              </a:rPr>
              <a:t>collecting tubules </a:t>
            </a:r>
            <a:r>
              <a:rPr lang="en-GB" dirty="0" smtClean="0"/>
              <a:t>and an </a:t>
            </a:r>
            <a:r>
              <a:rPr lang="en-GB" dirty="0" smtClean="0">
                <a:solidFill>
                  <a:srgbClr val="FF33CC"/>
                </a:solidFill>
              </a:rPr>
              <a:t>excretory pore</a:t>
            </a:r>
            <a:r>
              <a:rPr lang="en-GB" dirty="0" smtClean="0"/>
              <a:t>, </a:t>
            </a:r>
            <a:r>
              <a:rPr lang="en-GB" b="1" dirty="0" smtClean="0"/>
              <a:t>this is not the anus</a:t>
            </a:r>
            <a:r>
              <a:rPr lang="en-GB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GB" dirty="0">
                <a:solidFill>
                  <a:srgbClr val="C00000"/>
                </a:solidFill>
              </a:rPr>
              <a:t>Hermaphroditic</a:t>
            </a:r>
            <a:r>
              <a:rPr lang="en-GB" dirty="0"/>
              <a:t> (male and female reproductive organs in the individual) </a:t>
            </a:r>
            <a:r>
              <a:rPr lang="en-GB" u="sng" dirty="0"/>
              <a:t>except </a:t>
            </a:r>
            <a:r>
              <a:rPr lang="en-GB" u="sng" dirty="0">
                <a:solidFill>
                  <a:srgbClr val="00B0F0"/>
                </a:solidFill>
              </a:rPr>
              <a:t>schistosomes</a:t>
            </a:r>
            <a:r>
              <a:rPr lang="en-GB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 </a:t>
            </a:r>
            <a:r>
              <a:rPr lang="en-GB" u="sng" dirty="0"/>
              <a:t>Most trematode eggs are </a:t>
            </a:r>
            <a:r>
              <a:rPr lang="en-GB" dirty="0">
                <a:solidFill>
                  <a:srgbClr val="C00000"/>
                </a:solidFill>
              </a:rPr>
              <a:t>operculated </a:t>
            </a:r>
            <a:r>
              <a:rPr lang="en-GB" dirty="0"/>
              <a:t>(i.e. </a:t>
            </a:r>
            <a:r>
              <a:rPr lang="en-GB" dirty="0">
                <a:solidFill>
                  <a:srgbClr val="C00000"/>
                </a:solidFill>
              </a:rPr>
              <a:t>have lids</a:t>
            </a:r>
            <a:r>
              <a:rPr lang="en-GB" dirty="0"/>
              <a:t>). </a:t>
            </a: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The </a:t>
            </a:r>
            <a:r>
              <a:rPr lang="en-GB" dirty="0">
                <a:solidFill>
                  <a:srgbClr val="C00000"/>
                </a:solidFill>
              </a:rPr>
              <a:t>eggs must reach water in order to develop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22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/>
              <a:t>The </a:t>
            </a:r>
            <a:r>
              <a:rPr lang="en-GB" dirty="0">
                <a:solidFill>
                  <a:srgbClr val="C00000"/>
                </a:solidFill>
              </a:rPr>
              <a:t>hermaphroditic flukes </a:t>
            </a:r>
            <a:r>
              <a:rPr lang="en-GB" dirty="0"/>
              <a:t>live either </a:t>
            </a:r>
            <a:r>
              <a:rPr lang="en-GB" dirty="0" smtClean="0"/>
              <a:t>in </a:t>
            </a:r>
            <a:r>
              <a:rPr lang="en-GB" dirty="0"/>
              <a:t>the </a:t>
            </a:r>
            <a:r>
              <a:rPr lang="en-GB" dirty="0">
                <a:solidFill>
                  <a:srgbClr val="0070C0"/>
                </a:solidFill>
              </a:rPr>
              <a:t>liver or bile ducts</a:t>
            </a:r>
            <a:r>
              <a:rPr lang="en-GB" dirty="0"/>
              <a:t>, </a:t>
            </a:r>
            <a:r>
              <a:rPr lang="en-GB" dirty="0">
                <a:solidFill>
                  <a:srgbClr val="0070C0"/>
                </a:solidFill>
              </a:rPr>
              <a:t>lungs</a:t>
            </a:r>
            <a:r>
              <a:rPr lang="en-GB" dirty="0"/>
              <a:t> or the </a:t>
            </a:r>
            <a:r>
              <a:rPr lang="en-GB" dirty="0">
                <a:solidFill>
                  <a:srgbClr val="0070C0"/>
                </a:solidFill>
              </a:rPr>
              <a:t>intestine</a:t>
            </a:r>
            <a:r>
              <a:rPr lang="en-GB" dirty="0"/>
              <a:t> </a:t>
            </a:r>
            <a:r>
              <a:rPr lang="en-GB" u="sng" dirty="0"/>
              <a:t>by virtue of the organ of adult worm residency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Animal reservoir  hosts </a:t>
            </a:r>
            <a:r>
              <a:rPr lang="en-GB" u="sng" dirty="0"/>
              <a:t>are important in the transmission of some species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u="sng" dirty="0"/>
              <a:t>Transmission is by ingestion of </a:t>
            </a:r>
            <a:r>
              <a:rPr lang="en-GB" u="sng" dirty="0">
                <a:solidFill>
                  <a:srgbClr val="C00000"/>
                </a:solidFill>
              </a:rPr>
              <a:t>infective metacercariae </a:t>
            </a:r>
            <a:r>
              <a:rPr lang="en-GB" dirty="0"/>
              <a:t>which develop into the adult and produce </a:t>
            </a:r>
            <a:r>
              <a:rPr lang="en-GB" dirty="0">
                <a:solidFill>
                  <a:srgbClr val="00B0F0"/>
                </a:solidFill>
              </a:rPr>
              <a:t>operculated eggs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u="sng" dirty="0" smtClean="0"/>
              <a:t>These </a:t>
            </a:r>
            <a:r>
              <a:rPr lang="en-GB" u="sng" dirty="0"/>
              <a:t>are passed out in the faeces of definitive hosts</a:t>
            </a:r>
            <a:r>
              <a:rPr lang="en-GB" dirty="0"/>
              <a:t>. Each egg hatches a </a:t>
            </a:r>
            <a:r>
              <a:rPr lang="en-GB" dirty="0">
                <a:solidFill>
                  <a:srgbClr val="C00000"/>
                </a:solidFill>
              </a:rPr>
              <a:t>miracidium 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015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/>
              <a:t>The </a:t>
            </a:r>
            <a:r>
              <a:rPr lang="en-GB" dirty="0">
                <a:solidFill>
                  <a:srgbClr val="00B0F0"/>
                </a:solidFill>
              </a:rPr>
              <a:t>first intermediate host </a:t>
            </a:r>
            <a:r>
              <a:rPr lang="en-GB" dirty="0"/>
              <a:t>is a </a:t>
            </a:r>
            <a:r>
              <a:rPr lang="en-GB" dirty="0">
                <a:solidFill>
                  <a:srgbClr val="00B050"/>
                </a:solidFill>
              </a:rPr>
              <a:t>snail</a:t>
            </a:r>
            <a:r>
              <a:rPr lang="en-GB" dirty="0"/>
              <a:t> in which the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miracidium</a:t>
            </a:r>
            <a:r>
              <a:rPr lang="en-GB" dirty="0"/>
              <a:t> develops into a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sporocyst</a:t>
            </a:r>
            <a:r>
              <a:rPr lang="en-GB" dirty="0"/>
              <a:t> which produces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rediae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u="sng" dirty="0" smtClean="0"/>
              <a:t>Some </a:t>
            </a:r>
            <a:r>
              <a:rPr lang="en-GB" u="sng" dirty="0"/>
              <a:t>species produces more than one generation of </a:t>
            </a:r>
            <a:r>
              <a:rPr lang="en-GB" u="sng" dirty="0" smtClean="0"/>
              <a:t>rediae</a:t>
            </a:r>
            <a:r>
              <a:rPr lang="en-GB" dirty="0" smtClean="0"/>
              <a:t>. </a:t>
            </a:r>
            <a:r>
              <a:rPr lang="en-GB" dirty="0" smtClean="0">
                <a:solidFill>
                  <a:schemeClr val="accent6">
                    <a:lumMod val="75000"/>
                  </a:schemeClr>
                </a:solidFill>
              </a:rPr>
              <a:t>Rediae</a:t>
            </a:r>
            <a:r>
              <a:rPr lang="en-GB" dirty="0" smtClean="0"/>
              <a:t> </a:t>
            </a:r>
            <a:r>
              <a:rPr lang="en-GB" dirty="0"/>
              <a:t>produce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cercariae</a:t>
            </a:r>
            <a:r>
              <a:rPr lang="en-GB" dirty="0"/>
              <a:t> </a:t>
            </a:r>
            <a:r>
              <a:rPr lang="en-GB" u="sng" dirty="0"/>
              <a:t>which are shed from the snail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A </a:t>
            </a:r>
            <a:r>
              <a:rPr lang="en-GB" dirty="0">
                <a:solidFill>
                  <a:srgbClr val="00B0F0"/>
                </a:solidFill>
              </a:rPr>
              <a:t>second intermediate host </a:t>
            </a:r>
            <a:r>
              <a:rPr lang="en-GB" dirty="0"/>
              <a:t>is used in case of some species and this can be a </a:t>
            </a:r>
            <a:r>
              <a:rPr lang="en-GB" dirty="0">
                <a:solidFill>
                  <a:srgbClr val="00B050"/>
                </a:solidFill>
              </a:rPr>
              <a:t>fresh water fish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crab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cray fish </a:t>
            </a:r>
            <a:r>
              <a:rPr lang="en-GB" dirty="0"/>
              <a:t>or </a:t>
            </a:r>
            <a:r>
              <a:rPr lang="en-GB" dirty="0">
                <a:solidFill>
                  <a:srgbClr val="00B050"/>
                </a:solidFill>
              </a:rPr>
              <a:t>water plant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In </a:t>
            </a:r>
            <a:r>
              <a:rPr lang="en-GB" dirty="0"/>
              <a:t>or on these hosts,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cercariae</a:t>
            </a:r>
            <a:r>
              <a:rPr lang="en-GB" dirty="0"/>
              <a:t> encyst and become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metacercariae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857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1.Opisthorchis sinensis</a:t>
            </a:r>
            <a:r>
              <a:rPr lang="en-GB" dirty="0" smtClean="0">
                <a:solidFill>
                  <a:srgbClr val="00B050"/>
                </a:solidFill>
              </a:rPr>
              <a:t> </a:t>
            </a:r>
            <a:r>
              <a:rPr lang="en-GB" dirty="0" smtClean="0"/>
              <a:t>(or </a:t>
            </a:r>
            <a:r>
              <a:rPr lang="en-GB" i="1" dirty="0" smtClean="0">
                <a:solidFill>
                  <a:srgbClr val="00B050"/>
                </a:solidFill>
              </a:rPr>
              <a:t>Chlornorchis sinensis</a:t>
            </a:r>
            <a:r>
              <a:rPr lang="en-GB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This</a:t>
            </a:r>
            <a:r>
              <a:rPr lang="en-GB" b="1" i="1" dirty="0" smtClean="0"/>
              <a:t> </a:t>
            </a:r>
            <a:r>
              <a:rPr lang="en-GB" dirty="0"/>
              <a:t>is commonly known as the </a:t>
            </a:r>
            <a:r>
              <a:rPr lang="en-GB" dirty="0">
                <a:solidFill>
                  <a:srgbClr val="00B050"/>
                </a:solidFill>
              </a:rPr>
              <a:t>Chinese</a:t>
            </a:r>
            <a:r>
              <a:rPr lang="en-GB" dirty="0"/>
              <a:t> or </a:t>
            </a:r>
            <a:r>
              <a:rPr lang="en-GB" dirty="0">
                <a:solidFill>
                  <a:srgbClr val="00B050"/>
                </a:solidFill>
              </a:rPr>
              <a:t>Oriental liver fluke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r>
              <a:rPr lang="en-GB" b="1" u="sng" dirty="0"/>
              <a:t>Distribution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Endemic in most of </a:t>
            </a:r>
            <a:r>
              <a:rPr lang="en-GB" u="sng" dirty="0"/>
              <a:t>China</a:t>
            </a:r>
            <a:r>
              <a:rPr lang="en-GB" dirty="0"/>
              <a:t>, also in </a:t>
            </a:r>
            <a:r>
              <a:rPr lang="en-GB" u="sng" dirty="0"/>
              <a:t>Japan</a:t>
            </a:r>
            <a:r>
              <a:rPr lang="en-GB" dirty="0"/>
              <a:t>, </a:t>
            </a:r>
            <a:r>
              <a:rPr lang="en-GB" u="sng" dirty="0"/>
              <a:t>North Vietnam</a:t>
            </a:r>
            <a:r>
              <a:rPr lang="en-GB" dirty="0"/>
              <a:t>, </a:t>
            </a:r>
            <a:r>
              <a:rPr lang="en-GB" u="sng" dirty="0"/>
              <a:t>Taiwan</a:t>
            </a:r>
            <a:r>
              <a:rPr lang="en-GB" dirty="0"/>
              <a:t> and </a:t>
            </a:r>
            <a:r>
              <a:rPr lang="en-GB" u="sng" dirty="0"/>
              <a:t>Korea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Particularly found where fish are cultured in ponds fertilized with human or animal faeces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r>
              <a:rPr lang="en-GB" b="1" u="sng" dirty="0"/>
              <a:t>Transmission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C00000"/>
                </a:solidFill>
              </a:rPr>
              <a:t>By eating raw insufficiently-cooked, smoked or pickled fish containing the metacercariae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11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600"/>
            <a:ext cx="7010400" cy="6096000"/>
          </a:xfrm>
        </p:spPr>
      </p:pic>
    </p:spTree>
    <p:extLst>
      <p:ext uri="{BB962C8B-B14F-4D97-AF65-F5344CB8AC3E}">
        <p14:creationId xmlns:p14="http://schemas.microsoft.com/office/powerpoint/2010/main" val="1161630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>1.</a:t>
            </a:r>
            <a:r>
              <a:rPr lang="en-GB" b="1" i="1" dirty="0" smtClean="0">
                <a:solidFill>
                  <a:srgbClr val="00B050"/>
                </a:solidFill>
              </a:rPr>
              <a:t>Opisthorchis sinensis</a:t>
            </a:r>
            <a:r>
              <a:rPr lang="en-GB" dirty="0" smtClean="0">
                <a:solidFill>
                  <a:srgbClr val="00B050"/>
                </a:solidFill>
              </a:rPr>
              <a:t> </a:t>
            </a:r>
            <a:r>
              <a:rPr lang="en-GB" dirty="0" smtClean="0"/>
              <a:t>(or </a:t>
            </a:r>
            <a:r>
              <a:rPr lang="en-GB" i="1" dirty="0" smtClean="0">
                <a:solidFill>
                  <a:srgbClr val="00B050"/>
                </a:solidFill>
              </a:rPr>
              <a:t>Chlornorchis sinensis</a:t>
            </a:r>
            <a:r>
              <a:rPr lang="en-GB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u="sng" dirty="0"/>
              <a:t>Life cycle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Following ingestion, </a:t>
            </a:r>
            <a:r>
              <a:rPr lang="en-GB" u="sng" dirty="0">
                <a:solidFill>
                  <a:srgbClr val="C00000"/>
                </a:solidFill>
              </a:rPr>
              <a:t>metacercariae</a:t>
            </a:r>
            <a:r>
              <a:rPr lang="en-GB" u="sng" dirty="0"/>
              <a:t> excyst in the duodenum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u="sng" dirty="0" smtClean="0"/>
              <a:t>Young </a:t>
            </a:r>
            <a:r>
              <a:rPr lang="en-GB" u="sng" dirty="0"/>
              <a:t>flukes that survive digestion migrate to the </a:t>
            </a:r>
            <a:r>
              <a:rPr lang="en-GB" u="sng" dirty="0">
                <a:solidFill>
                  <a:srgbClr val="0070C0"/>
                </a:solidFill>
              </a:rPr>
              <a:t>bile duct </a:t>
            </a:r>
            <a:r>
              <a:rPr lang="en-GB" u="sng" dirty="0"/>
              <a:t>and occasionally the </a:t>
            </a:r>
            <a:r>
              <a:rPr lang="en-GB" u="sng" dirty="0">
                <a:solidFill>
                  <a:srgbClr val="0070C0"/>
                </a:solidFill>
              </a:rPr>
              <a:t>pancreatic gut</a:t>
            </a:r>
            <a:r>
              <a:rPr lang="en-GB" u="sng" dirty="0"/>
              <a:t> where in approximately four weeks they develop into mature egg producing flukes</a:t>
            </a:r>
            <a:endParaRPr lang="en-US" u="sn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42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04800"/>
            <a:ext cx="8305800" cy="6096000"/>
          </a:xfrm>
        </p:spPr>
      </p:pic>
    </p:spTree>
    <p:extLst>
      <p:ext uri="{BB962C8B-B14F-4D97-AF65-F5344CB8AC3E}">
        <p14:creationId xmlns:p14="http://schemas.microsoft.com/office/powerpoint/2010/main" val="4223553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Life cycle of </a:t>
            </a:r>
            <a:r>
              <a:rPr lang="en-GB" b="1" i="1" u="sng" dirty="0" smtClean="0">
                <a:solidFill>
                  <a:srgbClr val="00B050"/>
                </a:solidFill>
              </a:rPr>
              <a:t>Opisthorchis sinensis</a:t>
            </a:r>
            <a:r>
              <a:rPr lang="en-GB" u="sng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u="sng" dirty="0" smtClean="0"/>
              <a:t>Eggs enter the small intestine in the bile and are excreted in the faeces</a:t>
            </a:r>
            <a:r>
              <a:rPr lang="en-GB" dirty="0" smtClean="0"/>
              <a:t>. </a:t>
            </a:r>
          </a:p>
          <a:p>
            <a:pPr lvl="0">
              <a:buFont typeface="Wingdings" pitchFamily="2" charset="2"/>
              <a:buChar char="v"/>
            </a:pPr>
            <a:r>
              <a:rPr lang="en-GB" u="sng" dirty="0" smtClean="0"/>
              <a:t>Each egg contains a fully developed </a:t>
            </a:r>
            <a:r>
              <a:rPr lang="en-GB" u="sng" dirty="0" smtClean="0">
                <a:solidFill>
                  <a:srgbClr val="C00000"/>
                </a:solidFill>
              </a:rPr>
              <a:t>miracidium </a:t>
            </a:r>
            <a:endParaRPr lang="en-US" u="sng" dirty="0" smtClean="0">
              <a:solidFill>
                <a:srgbClr val="C0000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Eggs must reach fresh water to continue the life cycle</a:t>
            </a:r>
            <a:r>
              <a:rPr lang="en-GB" dirty="0"/>
              <a:t>. </a:t>
            </a:r>
            <a:r>
              <a:rPr lang="en-GB" u="sng" dirty="0"/>
              <a:t>A suitable  </a:t>
            </a:r>
            <a:r>
              <a:rPr lang="en-GB" u="sng" dirty="0">
                <a:solidFill>
                  <a:srgbClr val="00B050"/>
                </a:solidFill>
              </a:rPr>
              <a:t>snail host </a:t>
            </a:r>
            <a:r>
              <a:rPr lang="en-GB" u="sng" dirty="0"/>
              <a:t>e.g.  </a:t>
            </a:r>
            <a:r>
              <a:rPr lang="en-GB" i="1" u="sng" dirty="0"/>
              <a:t>Bulinus</a:t>
            </a:r>
            <a:r>
              <a:rPr lang="en-GB" u="sng" dirty="0"/>
              <a:t> or </a:t>
            </a:r>
            <a:r>
              <a:rPr lang="en-GB" i="1" u="sng" dirty="0">
                <a:solidFill>
                  <a:srgbClr val="00B050"/>
                </a:solidFill>
              </a:rPr>
              <a:t>Melanoides</a:t>
            </a:r>
            <a:r>
              <a:rPr lang="en-GB" u="sng" dirty="0">
                <a:solidFill>
                  <a:srgbClr val="00B050"/>
                </a:solidFill>
              </a:rPr>
              <a:t> </a:t>
            </a:r>
            <a:r>
              <a:rPr lang="en-GB" u="sng" dirty="0"/>
              <a:t>or </a:t>
            </a:r>
            <a:r>
              <a:rPr lang="en-GB" i="1" u="sng" dirty="0">
                <a:solidFill>
                  <a:srgbClr val="00B050"/>
                </a:solidFill>
              </a:rPr>
              <a:t>Parafossaiulus</a:t>
            </a:r>
            <a:r>
              <a:rPr lang="en-GB" i="1" u="sng" dirty="0"/>
              <a:t> </a:t>
            </a:r>
            <a:r>
              <a:rPr lang="en-GB" u="sng" dirty="0"/>
              <a:t>ingests the eggs</a:t>
            </a:r>
            <a:endParaRPr lang="en-US" u="sn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94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Life cycle of </a:t>
            </a:r>
            <a:r>
              <a:rPr lang="en-GB" b="1" i="1" u="sng" dirty="0" smtClean="0">
                <a:solidFill>
                  <a:srgbClr val="00B050"/>
                </a:solidFill>
              </a:rPr>
              <a:t>Opisthorchis sinensis</a:t>
            </a:r>
            <a:r>
              <a:rPr lang="en-GB" u="sng" dirty="0" smtClean="0">
                <a:solidFill>
                  <a:srgbClr val="00B050"/>
                </a:solidFill>
              </a:rPr>
              <a:t>  </a:t>
            </a:r>
            <a:r>
              <a:rPr lang="en-GB" u="sng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/>
          </a:bodyPr>
          <a:lstStyle/>
          <a:p>
            <a:pPr lvl="0">
              <a:buFont typeface="Wingdings" pitchFamily="2" charset="2"/>
              <a:buChar char="v"/>
            </a:pPr>
            <a:r>
              <a:rPr lang="en-GB" u="sng" dirty="0"/>
              <a:t>The eggs hatch in the snail into </a:t>
            </a:r>
            <a:r>
              <a:rPr lang="en-GB" u="sng" dirty="0">
                <a:solidFill>
                  <a:srgbClr val="C00000"/>
                </a:solidFill>
              </a:rPr>
              <a:t>miracidia</a:t>
            </a:r>
            <a:r>
              <a:rPr lang="en-GB" u="sng" dirty="0"/>
              <a:t> which develop into </a:t>
            </a:r>
            <a:r>
              <a:rPr lang="en-GB" u="sng" dirty="0">
                <a:solidFill>
                  <a:srgbClr val="C00000"/>
                </a:solidFill>
              </a:rPr>
              <a:t>sporocyts </a:t>
            </a:r>
            <a:r>
              <a:rPr lang="en-GB" u="sng" dirty="0"/>
              <a:t>and in turn producing </a:t>
            </a:r>
            <a:r>
              <a:rPr lang="en-GB" u="sng" dirty="0">
                <a:solidFill>
                  <a:srgbClr val="C00000"/>
                </a:solidFill>
              </a:rPr>
              <a:t>rediae</a:t>
            </a:r>
            <a:r>
              <a:rPr lang="en-GB" u="sng" dirty="0"/>
              <a:t> and </a:t>
            </a:r>
            <a:r>
              <a:rPr lang="en-GB" b="1" u="sng" dirty="0"/>
              <a:t>finally</a:t>
            </a:r>
            <a:r>
              <a:rPr lang="en-GB" u="sng" dirty="0"/>
              <a:t> </a:t>
            </a:r>
            <a:r>
              <a:rPr lang="en-GB" u="sng" dirty="0">
                <a:solidFill>
                  <a:srgbClr val="C00000"/>
                </a:solidFill>
              </a:rPr>
              <a:t>cercariae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C00000"/>
                </a:solidFill>
              </a:rPr>
              <a:t>Cercariae</a:t>
            </a:r>
            <a:r>
              <a:rPr lang="en-GB" dirty="0" smtClean="0"/>
              <a:t> </a:t>
            </a:r>
            <a:r>
              <a:rPr lang="en-GB" u="sng" dirty="0"/>
              <a:t>leave the snail and swim in the water for a few hours and then </a:t>
            </a:r>
            <a:r>
              <a:rPr lang="en-GB" b="1" u="sng" dirty="0"/>
              <a:t>encyst</a:t>
            </a:r>
            <a:r>
              <a:rPr lang="en-GB" u="sng" dirty="0"/>
              <a:t> to become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</a:t>
            </a:r>
            <a:r>
              <a:rPr lang="en-GB" u="sng" dirty="0"/>
              <a:t>under the scales and in the subcutaneous tissue of a suitable </a:t>
            </a:r>
            <a:r>
              <a:rPr lang="en-GB" u="sng" dirty="0">
                <a:solidFill>
                  <a:srgbClr val="00B050"/>
                </a:solidFill>
              </a:rPr>
              <a:t>fish host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00B050"/>
                </a:solidFill>
              </a:rPr>
              <a:t>Many </a:t>
            </a:r>
            <a:r>
              <a:rPr lang="en-GB" dirty="0">
                <a:solidFill>
                  <a:srgbClr val="00B050"/>
                </a:solidFill>
              </a:rPr>
              <a:t>species of fish </a:t>
            </a:r>
            <a:r>
              <a:rPr lang="en-GB" dirty="0"/>
              <a:t>can serve as </a:t>
            </a:r>
            <a:r>
              <a:rPr lang="en-GB" dirty="0">
                <a:solidFill>
                  <a:srgbClr val="00B0F0"/>
                </a:solidFill>
              </a:rPr>
              <a:t>intermediate hosts</a:t>
            </a:r>
            <a:r>
              <a:rPr lang="en-GB" dirty="0"/>
              <a:t>, especially those of the </a:t>
            </a:r>
            <a:r>
              <a:rPr lang="en-GB" dirty="0">
                <a:solidFill>
                  <a:srgbClr val="7030A0"/>
                </a:solidFill>
              </a:rPr>
              <a:t>family Cyprinidae</a:t>
            </a:r>
            <a:r>
              <a:rPr lang="en-GB" dirty="0"/>
              <a:t> and </a:t>
            </a:r>
            <a:r>
              <a:rPr lang="en-GB" dirty="0">
                <a:solidFill>
                  <a:srgbClr val="7030A0"/>
                </a:solidFill>
              </a:rPr>
              <a:t>Anabatidae</a:t>
            </a: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87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Life cycle of </a:t>
            </a:r>
            <a:r>
              <a:rPr lang="en-GB" b="1" i="1" dirty="0" err="1" smtClean="0"/>
              <a:t>Opisthorchis</a:t>
            </a:r>
            <a:r>
              <a:rPr lang="en-GB" b="1" i="1" dirty="0" smtClean="0"/>
              <a:t> </a:t>
            </a:r>
            <a:r>
              <a:rPr lang="en-GB" b="1" i="1" dirty="0" err="1" smtClean="0"/>
              <a:t>sinensis</a:t>
            </a:r>
            <a:r>
              <a:rPr lang="en-GB" dirty="0" smtClean="0"/>
              <a:t> 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</a:t>
            </a:r>
            <a:r>
              <a:rPr lang="en-GB" u="sng" dirty="0"/>
              <a:t>are </a:t>
            </a:r>
            <a:r>
              <a:rPr lang="en-GB" u="sng" dirty="0">
                <a:solidFill>
                  <a:srgbClr val="FF0000"/>
                </a:solidFill>
              </a:rPr>
              <a:t>infective</a:t>
            </a:r>
            <a:r>
              <a:rPr lang="en-GB" u="sng" dirty="0"/>
              <a:t> to </a:t>
            </a:r>
            <a:r>
              <a:rPr lang="en-GB" u="sng" dirty="0">
                <a:solidFill>
                  <a:srgbClr val="00B050"/>
                </a:solidFill>
              </a:rPr>
              <a:t>humans</a:t>
            </a:r>
            <a:r>
              <a:rPr lang="en-GB" u="sng" dirty="0"/>
              <a:t> and other </a:t>
            </a:r>
            <a:r>
              <a:rPr lang="en-GB" dirty="0"/>
              <a:t>fish </a:t>
            </a:r>
            <a:r>
              <a:rPr lang="en-GB" u="sng" dirty="0"/>
              <a:t>eating animals </a:t>
            </a:r>
            <a:endParaRPr lang="en-GB" u="sng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e.g</a:t>
            </a:r>
            <a:r>
              <a:rPr lang="en-GB" dirty="0"/>
              <a:t>. </a:t>
            </a:r>
            <a:r>
              <a:rPr lang="en-GB" dirty="0">
                <a:solidFill>
                  <a:srgbClr val="00B050"/>
                </a:solidFill>
              </a:rPr>
              <a:t>dogs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cats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pigs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rodents</a:t>
            </a:r>
            <a:r>
              <a:rPr lang="en-GB" dirty="0"/>
              <a:t>.</a:t>
            </a: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716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Symptoms and Pathology of </a:t>
            </a:r>
            <a:r>
              <a:rPr lang="en-GB" b="1" i="1" u="sng" dirty="0" smtClean="0">
                <a:solidFill>
                  <a:srgbClr val="00B050"/>
                </a:solidFill>
              </a:rPr>
              <a:t>Opisthorchis sinensis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GB" b="1" dirty="0" smtClean="0"/>
              <a:t>Generally</a:t>
            </a:r>
            <a:r>
              <a:rPr lang="en-GB" dirty="0" smtClean="0"/>
              <a:t> </a:t>
            </a:r>
            <a:r>
              <a:rPr lang="en-GB" dirty="0"/>
              <a:t>the </a:t>
            </a:r>
            <a:r>
              <a:rPr lang="en-GB" dirty="0">
                <a:solidFill>
                  <a:srgbClr val="00B0F0"/>
                </a:solidFill>
              </a:rPr>
              <a:t>symptoms are rarely serious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b="1" dirty="0"/>
              <a:t>Heavy infections </a:t>
            </a:r>
            <a:r>
              <a:rPr lang="en-GB" dirty="0"/>
              <a:t>can result in </a:t>
            </a:r>
            <a:r>
              <a:rPr lang="en-GB" dirty="0">
                <a:solidFill>
                  <a:srgbClr val="FF0000"/>
                </a:solidFill>
              </a:rPr>
              <a:t>damage to liver cells and bile ducts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jaundice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hepatitis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cirrhosis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biliary obstruction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The </a:t>
            </a:r>
            <a:r>
              <a:rPr lang="en-GB" dirty="0"/>
              <a:t>liver frequently enlarged and in some cases </a:t>
            </a:r>
            <a:r>
              <a:rPr lang="en-GB" dirty="0">
                <a:solidFill>
                  <a:srgbClr val="FF0000"/>
                </a:solidFill>
              </a:rPr>
              <a:t>cancer</a:t>
            </a:r>
            <a:r>
              <a:rPr lang="en-GB" dirty="0"/>
              <a:t> (</a:t>
            </a:r>
            <a:r>
              <a:rPr lang="en-GB" dirty="0">
                <a:solidFill>
                  <a:srgbClr val="FF0000"/>
                </a:solidFill>
              </a:rPr>
              <a:t>adenocarcinoma</a:t>
            </a:r>
            <a:r>
              <a:rPr lang="en-GB" dirty="0"/>
              <a:t>) </a:t>
            </a:r>
            <a:r>
              <a:rPr lang="en-GB" dirty="0">
                <a:solidFill>
                  <a:srgbClr val="FF0000"/>
                </a:solidFill>
              </a:rPr>
              <a:t>of the bile duct may develop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033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Symptoms and Pathology of </a:t>
            </a:r>
            <a:r>
              <a:rPr lang="en-GB" b="1" i="1" u="sng" dirty="0" smtClean="0">
                <a:solidFill>
                  <a:srgbClr val="00B050"/>
                </a:solidFill>
              </a:rPr>
              <a:t>Opisthorchis sinensis </a:t>
            </a:r>
            <a:r>
              <a:rPr lang="en-GB" b="1" i="1" u="sng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b="1" dirty="0" smtClean="0"/>
              <a:t>Other symptoms </a:t>
            </a:r>
            <a:r>
              <a:rPr lang="en-GB" dirty="0" smtClean="0"/>
              <a:t>include </a:t>
            </a:r>
            <a:r>
              <a:rPr lang="en-GB" dirty="0" smtClean="0">
                <a:solidFill>
                  <a:srgbClr val="00B0F0"/>
                </a:solidFill>
              </a:rPr>
              <a:t>epigastric pain </a:t>
            </a:r>
            <a:r>
              <a:rPr lang="en-GB" dirty="0" smtClean="0"/>
              <a:t>and </a:t>
            </a:r>
            <a:r>
              <a:rPr lang="en-GB" dirty="0" smtClean="0">
                <a:solidFill>
                  <a:srgbClr val="00B0F0"/>
                </a:solidFill>
              </a:rPr>
              <a:t>diarrhoea</a:t>
            </a:r>
            <a:r>
              <a:rPr lang="en-GB" dirty="0" smtClean="0"/>
              <a:t>. </a:t>
            </a:r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Chronic infections is associated with </a:t>
            </a:r>
            <a:r>
              <a:rPr lang="en-GB" dirty="0" smtClean="0">
                <a:solidFill>
                  <a:srgbClr val="00B0F0"/>
                </a:solidFill>
              </a:rPr>
              <a:t>gall stones</a:t>
            </a:r>
            <a:r>
              <a:rPr lang="en-GB" dirty="0" smtClean="0"/>
              <a:t>, </a:t>
            </a:r>
            <a:r>
              <a:rPr lang="en-GB" dirty="0" smtClean="0">
                <a:solidFill>
                  <a:srgbClr val="00B0F0"/>
                </a:solidFill>
              </a:rPr>
              <a:t>recurrent attack of cholangitis </a:t>
            </a:r>
            <a:r>
              <a:rPr lang="en-GB" dirty="0" smtClean="0"/>
              <a:t>and </a:t>
            </a:r>
            <a:r>
              <a:rPr lang="en-GB" dirty="0" smtClean="0">
                <a:solidFill>
                  <a:srgbClr val="00B0F0"/>
                </a:solidFill>
              </a:rPr>
              <a:t>pancreatitis</a:t>
            </a:r>
            <a:endParaRPr lang="en-US" dirty="0" smtClean="0">
              <a:solidFill>
                <a:srgbClr val="00B0F0"/>
              </a:solidFill>
            </a:endParaRP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857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solidFill>
                  <a:srgbClr val="00B050"/>
                </a:solidFill>
              </a:rPr>
              <a:t>Prevention and control of </a:t>
            </a:r>
            <a:r>
              <a:rPr lang="en-GB" b="1" i="1" dirty="0" smtClean="0">
                <a:solidFill>
                  <a:srgbClr val="00B050"/>
                </a:solidFill>
              </a:rPr>
              <a:t>Opisthorchis sinensis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00B050"/>
                </a:solidFill>
              </a:rPr>
              <a:t>Avoiding </a:t>
            </a:r>
            <a:r>
              <a:rPr lang="en-GB" dirty="0">
                <a:solidFill>
                  <a:srgbClr val="00B050"/>
                </a:solidFill>
              </a:rPr>
              <a:t>eating </a:t>
            </a:r>
            <a:r>
              <a:rPr lang="en-GB" dirty="0" smtClean="0">
                <a:solidFill>
                  <a:srgbClr val="00B050"/>
                </a:solidFill>
              </a:rPr>
              <a:t>raw, pickled, </a:t>
            </a:r>
            <a:r>
              <a:rPr lang="en-GB" dirty="0">
                <a:solidFill>
                  <a:srgbClr val="00B050"/>
                </a:solidFill>
              </a:rPr>
              <a:t>smoked </a:t>
            </a:r>
            <a:r>
              <a:rPr lang="en-GB" dirty="0"/>
              <a:t>or insufficiently cooked fish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Provision of adequate latrines and health education </a:t>
            </a:r>
            <a:r>
              <a:rPr lang="en-GB" dirty="0"/>
              <a:t>to prevent contamination of fish ponds and water bodies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Non-use of untreated faeces as fertilizer </a:t>
            </a:r>
            <a:r>
              <a:rPr lang="en-GB" dirty="0"/>
              <a:t>in fish ponds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Application of molluscicides </a:t>
            </a:r>
            <a:r>
              <a:rPr lang="en-GB" dirty="0"/>
              <a:t>to kill snail hosts in infested water bodies.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89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i="1" dirty="0" smtClean="0"/>
              <a:t>1.</a:t>
            </a:r>
            <a:r>
              <a:rPr lang="en-GB" b="1" i="1" dirty="0" smtClean="0">
                <a:solidFill>
                  <a:srgbClr val="00B050"/>
                </a:solidFill>
              </a:rPr>
              <a:t>Opisthorchis sinensis</a:t>
            </a:r>
            <a:r>
              <a:rPr lang="en-GB" dirty="0" smtClean="0">
                <a:solidFill>
                  <a:srgbClr val="00B050"/>
                </a:solidFill>
              </a:rPr>
              <a:t> </a:t>
            </a:r>
            <a:r>
              <a:rPr lang="en-GB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u="sng" dirty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Examination of faeces for eggs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Examination of aspirates of duodenal fluid for eggs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509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algn="ctr">
              <a:buNone/>
            </a:pPr>
            <a:r>
              <a:rPr lang="en-GB" b="1" i="1" dirty="0" smtClean="0">
                <a:solidFill>
                  <a:srgbClr val="00B050"/>
                </a:solidFill>
              </a:rPr>
              <a:t>Opisthorchis viverrini</a:t>
            </a:r>
            <a:endParaRPr lang="en-US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This </a:t>
            </a:r>
            <a:r>
              <a:rPr lang="en-GB" dirty="0"/>
              <a:t>is a species </a:t>
            </a:r>
            <a:r>
              <a:rPr lang="en-GB" b="1" dirty="0"/>
              <a:t>similar to </a:t>
            </a:r>
            <a:r>
              <a:rPr lang="en-GB" b="1" i="1" dirty="0">
                <a:solidFill>
                  <a:srgbClr val="FF33CC"/>
                </a:solidFill>
              </a:rPr>
              <a:t>O. sinensis</a:t>
            </a:r>
            <a:r>
              <a:rPr lang="en-GB" dirty="0"/>
              <a:t>. It is found in the </a:t>
            </a:r>
            <a:r>
              <a:rPr lang="en-GB" u="sng" dirty="0"/>
              <a:t>Mekong River valley in Laos </a:t>
            </a:r>
            <a:r>
              <a:rPr lang="en-GB" dirty="0"/>
              <a:t>and in </a:t>
            </a:r>
            <a:r>
              <a:rPr lang="en-GB" u="sng" dirty="0"/>
              <a:t>Thailand</a:t>
            </a:r>
            <a:r>
              <a:rPr lang="en-GB" dirty="0"/>
              <a:t> where it is the commonest trematode infection.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GB" b="1" i="1" dirty="0">
                <a:solidFill>
                  <a:schemeClr val="accent6">
                    <a:lumMod val="75000"/>
                  </a:schemeClr>
                </a:solidFill>
              </a:rPr>
              <a:t>Opisthorchis felineus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GB" dirty="0"/>
              <a:t>is normally parasitic in </a:t>
            </a:r>
            <a:r>
              <a:rPr lang="en-GB" dirty="0">
                <a:solidFill>
                  <a:srgbClr val="00B050"/>
                </a:solidFill>
              </a:rPr>
              <a:t>dogs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cats </a:t>
            </a:r>
            <a:r>
              <a:rPr lang="en-GB" dirty="0"/>
              <a:t>but can also infect </a:t>
            </a:r>
            <a:r>
              <a:rPr lang="en-GB" dirty="0">
                <a:solidFill>
                  <a:srgbClr val="00B050"/>
                </a:solidFill>
              </a:rPr>
              <a:t>humans</a:t>
            </a:r>
            <a:r>
              <a:rPr lang="en-GB" dirty="0"/>
              <a:t>. It occurs in </a:t>
            </a:r>
            <a:r>
              <a:rPr lang="en-GB" u="sng" dirty="0"/>
              <a:t>Europe</a:t>
            </a:r>
            <a:r>
              <a:rPr lang="en-GB" dirty="0"/>
              <a:t>, </a:t>
            </a:r>
            <a:r>
              <a:rPr lang="en-GB" u="sng" dirty="0"/>
              <a:t>Japan</a:t>
            </a:r>
            <a:r>
              <a:rPr lang="en-GB" dirty="0"/>
              <a:t> and </a:t>
            </a:r>
            <a:r>
              <a:rPr lang="en-GB" u="sng" dirty="0"/>
              <a:t>Siberia</a:t>
            </a:r>
            <a:r>
              <a:rPr lang="en-GB" dirty="0"/>
              <a:t>. It is similar to </a:t>
            </a:r>
            <a:r>
              <a:rPr lang="en-GB" b="1" i="1" dirty="0">
                <a:solidFill>
                  <a:srgbClr val="FF33CC"/>
                </a:solidFill>
              </a:rPr>
              <a:t>O. sinensis</a:t>
            </a:r>
            <a:r>
              <a:rPr lang="en-GB" b="1" dirty="0">
                <a:solidFill>
                  <a:srgbClr val="FF33CC"/>
                </a:solidFill>
              </a:rPr>
              <a:t> </a:t>
            </a:r>
            <a:r>
              <a:rPr lang="en-GB" b="1" dirty="0"/>
              <a:t>in all aspects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263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TREMATODES (FLUKES) </a:t>
            </a:r>
            <a:r>
              <a:rPr lang="en-GB" b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00B0F0"/>
                </a:solidFill>
              </a:rPr>
              <a:t>Excretory system </a:t>
            </a:r>
            <a:r>
              <a:rPr lang="en-GB" dirty="0" smtClean="0"/>
              <a:t>is composed of </a:t>
            </a:r>
            <a:r>
              <a:rPr lang="en-GB" dirty="0" smtClean="0">
                <a:solidFill>
                  <a:srgbClr val="00B0F0"/>
                </a:solidFill>
              </a:rPr>
              <a:t>excretory cells</a:t>
            </a:r>
            <a:r>
              <a:rPr lang="en-GB" dirty="0" smtClean="0"/>
              <a:t> (called </a:t>
            </a:r>
            <a:r>
              <a:rPr lang="en-GB" dirty="0" smtClean="0">
                <a:solidFill>
                  <a:srgbClr val="00B0F0"/>
                </a:solidFill>
              </a:rPr>
              <a:t>flame cells</a:t>
            </a:r>
            <a:r>
              <a:rPr lang="en-GB" dirty="0" smtClean="0"/>
              <a:t>), </a:t>
            </a:r>
            <a:r>
              <a:rPr lang="en-GB" dirty="0" smtClean="0">
                <a:solidFill>
                  <a:srgbClr val="00B0F0"/>
                </a:solidFill>
              </a:rPr>
              <a:t>collecting tubules </a:t>
            </a:r>
            <a:r>
              <a:rPr lang="en-GB" dirty="0" smtClean="0"/>
              <a:t>and an </a:t>
            </a:r>
            <a:r>
              <a:rPr lang="en-GB" dirty="0" smtClean="0">
                <a:solidFill>
                  <a:srgbClr val="00B0F0"/>
                </a:solidFill>
              </a:rPr>
              <a:t>excretory pore</a:t>
            </a:r>
            <a:r>
              <a:rPr lang="en-GB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Hermaphroditic</a:t>
            </a:r>
            <a:r>
              <a:rPr lang="en-GB" dirty="0"/>
              <a:t> (male and female reproductive organs in the individual) </a:t>
            </a:r>
            <a:r>
              <a:rPr lang="en-GB" u="sng" dirty="0"/>
              <a:t>except </a:t>
            </a:r>
            <a:r>
              <a:rPr lang="en-GB" dirty="0">
                <a:solidFill>
                  <a:srgbClr val="0070C0"/>
                </a:solidFill>
              </a:rPr>
              <a:t>schistosomes</a:t>
            </a:r>
            <a:r>
              <a:rPr lang="en-GB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 </a:t>
            </a:r>
            <a:r>
              <a:rPr lang="en-GB" dirty="0"/>
              <a:t>Most trematode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eggs are operculated </a:t>
            </a:r>
            <a:r>
              <a:rPr lang="en-GB" dirty="0"/>
              <a:t>(i.e. have lids). </a:t>
            </a: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>
                <a:solidFill>
                  <a:srgbClr val="C00000"/>
                </a:solidFill>
              </a:rPr>
              <a:t>The </a:t>
            </a:r>
            <a:r>
              <a:rPr lang="en-GB" dirty="0">
                <a:solidFill>
                  <a:srgbClr val="C00000"/>
                </a:solidFill>
              </a:rPr>
              <a:t>eggs must reach water in order to develop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63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Fasciolopsis buski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It </a:t>
            </a:r>
            <a:r>
              <a:rPr lang="en-GB" dirty="0"/>
              <a:t>is the </a:t>
            </a:r>
            <a:r>
              <a:rPr lang="en-GB" b="1" dirty="0">
                <a:solidFill>
                  <a:srgbClr val="FF33CC"/>
                </a:solidFill>
              </a:rPr>
              <a:t>largest fluke </a:t>
            </a:r>
            <a:r>
              <a:rPr lang="en-GB" u="sng" dirty="0"/>
              <a:t>that infects humans</a:t>
            </a:r>
            <a:r>
              <a:rPr lang="en-GB" dirty="0"/>
              <a:t>. It is the </a:t>
            </a:r>
            <a:r>
              <a:rPr lang="en-GB" b="1" dirty="0"/>
              <a:t>giant </a:t>
            </a:r>
            <a:r>
              <a:rPr lang="en-GB" b="1" dirty="0">
                <a:solidFill>
                  <a:srgbClr val="00B0F0"/>
                </a:solidFill>
              </a:rPr>
              <a:t>intestinal fluke</a:t>
            </a:r>
            <a:r>
              <a:rPr lang="en-GB" dirty="0"/>
              <a:t>.</a:t>
            </a:r>
            <a:endParaRPr lang="en-US" dirty="0"/>
          </a:p>
          <a:p>
            <a:pPr>
              <a:buFont typeface="Wingdings" pitchFamily="2" charset="2"/>
              <a:buChar char="v"/>
            </a:pPr>
            <a:r>
              <a:rPr lang="en-GB" dirty="0"/>
              <a:t>The normal definitive hosts are the </a:t>
            </a:r>
            <a:r>
              <a:rPr lang="en-GB" dirty="0">
                <a:solidFill>
                  <a:srgbClr val="00B050"/>
                </a:solidFill>
              </a:rPr>
              <a:t>pig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buffalo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r>
              <a:rPr lang="en-GB" b="1" u="sng" dirty="0"/>
              <a:t>Distribution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u="sng" dirty="0"/>
              <a:t>The disease, </a:t>
            </a:r>
            <a:r>
              <a:rPr lang="en-GB" u="sng" dirty="0">
                <a:solidFill>
                  <a:srgbClr val="FF0000"/>
                </a:solidFill>
              </a:rPr>
              <a:t>Fasciolopsis</a:t>
            </a:r>
            <a:r>
              <a:rPr lang="en-GB" u="sng" dirty="0"/>
              <a:t> is widespread in the Far East and occurs also in Indonesia </a:t>
            </a:r>
            <a:r>
              <a:rPr lang="en-GB" dirty="0"/>
              <a:t>and </a:t>
            </a:r>
            <a:r>
              <a:rPr lang="en-GB" dirty="0">
                <a:solidFill>
                  <a:srgbClr val="00B0F0"/>
                </a:solidFill>
              </a:rPr>
              <a:t>where water plants are cultivated in ponds fertilized by pig or human faeces</a:t>
            </a:r>
            <a:r>
              <a:rPr lang="en-GB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102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152400"/>
            <a:ext cx="8458201" cy="6324600"/>
          </a:xfrm>
        </p:spPr>
      </p:pic>
    </p:spTree>
    <p:extLst>
      <p:ext uri="{BB962C8B-B14F-4D97-AF65-F5344CB8AC3E}">
        <p14:creationId xmlns:p14="http://schemas.microsoft.com/office/powerpoint/2010/main" val="600969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 smtClean="0">
                <a:solidFill>
                  <a:srgbClr val="00B050"/>
                </a:solidFill>
              </a:rPr>
              <a:t>Fasciolopsis buski </a:t>
            </a:r>
            <a:r>
              <a:rPr lang="en-GB" b="1" i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FF0000"/>
                </a:solidFill>
              </a:rPr>
              <a:t>Infection rates </a:t>
            </a:r>
            <a:r>
              <a:rPr lang="en-GB" dirty="0" smtClean="0"/>
              <a:t>are particularly </a:t>
            </a:r>
            <a:r>
              <a:rPr lang="en-GB" b="1" dirty="0" smtClean="0"/>
              <a:t>high</a:t>
            </a:r>
            <a:r>
              <a:rPr lang="en-GB" dirty="0" smtClean="0"/>
              <a:t> in </a:t>
            </a:r>
            <a:r>
              <a:rPr lang="en-GB" dirty="0" smtClean="0">
                <a:solidFill>
                  <a:srgbClr val="00B050"/>
                </a:solidFill>
              </a:rPr>
              <a:t>school children</a:t>
            </a:r>
            <a:r>
              <a:rPr lang="en-GB" dirty="0" smtClean="0"/>
              <a:t>.</a:t>
            </a:r>
            <a:endParaRPr lang="en-US" dirty="0"/>
          </a:p>
          <a:p>
            <a:pPr lvl="0" algn="ctr">
              <a:buFont typeface="Wingdings" pitchFamily="2" charset="2"/>
              <a:buChar char="v"/>
            </a:pPr>
            <a:endParaRPr lang="en-GB" b="1" dirty="0" smtClean="0"/>
          </a:p>
          <a:p>
            <a:pPr marL="0" lvl="0" indent="0" algn="ctr">
              <a:buNone/>
            </a:pPr>
            <a:r>
              <a:rPr lang="en-GB" b="1" u="sng" dirty="0" smtClean="0"/>
              <a:t>Transmission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The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</a:t>
            </a:r>
            <a:r>
              <a:rPr lang="en-GB" u="sng" dirty="0"/>
              <a:t>excyst in </a:t>
            </a:r>
            <a:r>
              <a:rPr lang="en-GB" u="sng" dirty="0">
                <a:solidFill>
                  <a:srgbClr val="00B050"/>
                </a:solidFill>
              </a:rPr>
              <a:t>water plants</a:t>
            </a:r>
            <a:r>
              <a:rPr lang="en-GB" u="sng" dirty="0"/>
              <a:t>, </a:t>
            </a:r>
            <a:r>
              <a:rPr lang="en-GB" u="sng" dirty="0">
                <a:solidFill>
                  <a:srgbClr val="00B050"/>
                </a:solidFill>
              </a:rPr>
              <a:t>water chestnut </a:t>
            </a:r>
            <a:r>
              <a:rPr lang="en-GB" u="sng" dirty="0"/>
              <a:t>or the </a:t>
            </a:r>
            <a:r>
              <a:rPr lang="en-GB" u="sng" dirty="0">
                <a:solidFill>
                  <a:srgbClr val="00B050"/>
                </a:solidFill>
              </a:rPr>
              <a:t>fruits of water plants </a:t>
            </a:r>
            <a:r>
              <a:rPr lang="en-GB" u="sng" dirty="0"/>
              <a:t>or vegetation</a:t>
            </a:r>
            <a:r>
              <a:rPr lang="en-GB" dirty="0" smtClean="0"/>
              <a:t>.</a:t>
            </a:r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 </a:t>
            </a:r>
            <a:r>
              <a:rPr lang="en-GB" dirty="0">
                <a:solidFill>
                  <a:srgbClr val="00B0F0"/>
                </a:solidFill>
              </a:rPr>
              <a:t>Infection occurs when these are eaten</a:t>
            </a:r>
            <a:r>
              <a:rPr lang="en-GB" dirty="0"/>
              <a:t>.</a:t>
            </a: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4249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Life cycle of </a:t>
            </a:r>
            <a:r>
              <a:rPr lang="en-GB" b="1" i="1" u="sng" dirty="0" smtClean="0">
                <a:solidFill>
                  <a:srgbClr val="00B050"/>
                </a:solidFill>
              </a:rPr>
              <a:t>Fasciolopsis buski</a:t>
            </a:r>
            <a:r>
              <a:rPr lang="en-US" u="sng" dirty="0" smtClean="0"/>
              <a:t/>
            </a:r>
            <a:br>
              <a:rPr lang="en-US" u="sng" dirty="0" smtClean="0"/>
            </a:b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u="sng" dirty="0"/>
              <a:t>Life cycle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u="sng" dirty="0"/>
              <a:t>After intake</a:t>
            </a:r>
            <a:r>
              <a:rPr lang="en-GB" dirty="0"/>
              <a:t>,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</a:t>
            </a:r>
            <a:r>
              <a:rPr lang="en-GB" u="sng" dirty="0"/>
              <a:t>excyst in the </a:t>
            </a:r>
            <a:r>
              <a:rPr lang="en-GB" u="sng" dirty="0">
                <a:solidFill>
                  <a:srgbClr val="00B0F0"/>
                </a:solidFill>
              </a:rPr>
              <a:t>duodenum</a:t>
            </a:r>
            <a:r>
              <a:rPr lang="en-GB" dirty="0"/>
              <a:t>, </a:t>
            </a:r>
            <a:r>
              <a:rPr lang="en-GB" u="sng" dirty="0"/>
              <a:t>attach themselves to the wall of the </a:t>
            </a:r>
            <a:r>
              <a:rPr lang="en-GB" u="sng" dirty="0">
                <a:solidFill>
                  <a:srgbClr val="00B0F0"/>
                </a:solidFill>
              </a:rPr>
              <a:t>small intestine </a:t>
            </a:r>
            <a:r>
              <a:rPr lang="en-GB" dirty="0"/>
              <a:t>and in </a:t>
            </a:r>
            <a:r>
              <a:rPr lang="en-GB" u="sng" dirty="0"/>
              <a:t>three months </a:t>
            </a:r>
            <a:r>
              <a:rPr lang="en-GB" dirty="0"/>
              <a:t>develop into </a:t>
            </a:r>
            <a:r>
              <a:rPr lang="en-GB" dirty="0">
                <a:solidFill>
                  <a:srgbClr val="C00000"/>
                </a:solidFill>
              </a:rPr>
              <a:t>mature egg </a:t>
            </a:r>
            <a:r>
              <a:rPr lang="en-GB" u="sng" dirty="0"/>
              <a:t>producing adults, producing many eggs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C00000"/>
                </a:solidFill>
              </a:rPr>
              <a:t>Immature eggs </a:t>
            </a:r>
            <a:r>
              <a:rPr lang="en-GB" dirty="0"/>
              <a:t>are passed out in the faeces, each of which contains an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unsegmented ovum surrounded by many yolk cells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344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Life cycle of </a:t>
            </a:r>
            <a:r>
              <a:rPr lang="en-GB" b="1" i="1" u="sng" dirty="0" smtClean="0">
                <a:solidFill>
                  <a:srgbClr val="00B050"/>
                </a:solidFill>
              </a:rPr>
              <a:t>Fasciolopsis buski </a:t>
            </a:r>
            <a:r>
              <a:rPr lang="en-GB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Eggs must reach fresh water </a:t>
            </a:r>
            <a:r>
              <a:rPr lang="en-GB" dirty="0"/>
              <a:t>and after a few weeks hatch </a:t>
            </a:r>
            <a:r>
              <a:rPr lang="en-GB" dirty="0">
                <a:solidFill>
                  <a:srgbClr val="C00000"/>
                </a:solidFill>
              </a:rPr>
              <a:t>miracidia</a:t>
            </a:r>
            <a:r>
              <a:rPr lang="en-GB" dirty="0"/>
              <a:t> which swims in search of </a:t>
            </a:r>
            <a:r>
              <a:rPr lang="en-GB" dirty="0">
                <a:solidFill>
                  <a:srgbClr val="00B050"/>
                </a:solidFill>
              </a:rPr>
              <a:t>snails </a:t>
            </a:r>
            <a:r>
              <a:rPr lang="en-GB" dirty="0"/>
              <a:t>of the </a:t>
            </a:r>
            <a:r>
              <a:rPr lang="en-GB" b="1" dirty="0"/>
              <a:t>genus</a:t>
            </a:r>
            <a:r>
              <a:rPr lang="en-GB" dirty="0"/>
              <a:t> </a:t>
            </a:r>
            <a:r>
              <a:rPr lang="en-GB" i="1" dirty="0">
                <a:solidFill>
                  <a:schemeClr val="accent6">
                    <a:lumMod val="75000"/>
                  </a:schemeClr>
                </a:solidFill>
              </a:rPr>
              <a:t>Segmentina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GB" dirty="0"/>
              <a:t>or </a:t>
            </a:r>
            <a:r>
              <a:rPr lang="en-GB" i="1" dirty="0">
                <a:solidFill>
                  <a:schemeClr val="accent6">
                    <a:lumMod val="75000"/>
                  </a:schemeClr>
                </a:solidFill>
              </a:rPr>
              <a:t>Hippeutis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lvl="0">
              <a:buFont typeface="Wingdings" pitchFamily="2" charset="2"/>
              <a:buChar char="v"/>
            </a:pP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C00000"/>
                </a:solidFill>
              </a:rPr>
              <a:t>Miracidia</a:t>
            </a:r>
            <a:r>
              <a:rPr lang="en-GB" dirty="0" smtClean="0"/>
              <a:t> </a:t>
            </a:r>
            <a:r>
              <a:rPr lang="en-GB" dirty="0"/>
              <a:t>develop in the </a:t>
            </a:r>
            <a:r>
              <a:rPr lang="en-GB" dirty="0">
                <a:solidFill>
                  <a:srgbClr val="00B050"/>
                </a:solidFill>
              </a:rPr>
              <a:t>snail host</a:t>
            </a:r>
            <a:r>
              <a:rPr lang="en-GB" dirty="0"/>
              <a:t>, into </a:t>
            </a:r>
            <a:r>
              <a:rPr lang="en-GB" dirty="0">
                <a:solidFill>
                  <a:srgbClr val="C00000"/>
                </a:solidFill>
              </a:rPr>
              <a:t>sporocysts</a:t>
            </a:r>
            <a:r>
              <a:rPr lang="en-GB" dirty="0"/>
              <a:t> which in turn, produce two or more generations of </a:t>
            </a:r>
            <a:r>
              <a:rPr lang="en-GB" dirty="0">
                <a:solidFill>
                  <a:srgbClr val="C00000"/>
                </a:solidFill>
              </a:rPr>
              <a:t>rediae</a:t>
            </a:r>
            <a:r>
              <a:rPr lang="en-GB" dirty="0"/>
              <a:t> and finally </a:t>
            </a:r>
            <a:r>
              <a:rPr lang="en-GB" dirty="0">
                <a:solidFill>
                  <a:srgbClr val="C00000"/>
                </a:solidFill>
              </a:rPr>
              <a:t>cercariae</a:t>
            </a:r>
            <a:r>
              <a:rPr lang="en-GB" dirty="0"/>
              <a:t> </a:t>
            </a:r>
            <a:r>
              <a:rPr lang="en-GB" u="sng" dirty="0"/>
              <a:t>all in about 2 months</a:t>
            </a:r>
            <a:r>
              <a:rPr lang="en-GB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03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Life cycle of </a:t>
            </a:r>
            <a:r>
              <a:rPr lang="en-GB" b="1" i="1" u="sng" dirty="0" smtClean="0">
                <a:solidFill>
                  <a:srgbClr val="00B050"/>
                </a:solidFill>
              </a:rPr>
              <a:t>Fasciolopsis buski</a:t>
            </a:r>
            <a:r>
              <a:rPr lang="en-GB" b="1" i="1" u="sng" dirty="0" smtClean="0"/>
              <a:t> </a:t>
            </a:r>
            <a:r>
              <a:rPr lang="en-GB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C00000"/>
                </a:solidFill>
              </a:rPr>
              <a:t>Cercariae</a:t>
            </a:r>
            <a:r>
              <a:rPr lang="en-GB" dirty="0"/>
              <a:t> are shed from the </a:t>
            </a:r>
            <a:r>
              <a:rPr lang="en-GB" dirty="0">
                <a:solidFill>
                  <a:srgbClr val="00B050"/>
                </a:solidFill>
              </a:rPr>
              <a:t>snail</a:t>
            </a:r>
            <a:r>
              <a:rPr lang="en-GB" dirty="0"/>
              <a:t> and swim till they reach suitable </a:t>
            </a:r>
            <a:r>
              <a:rPr lang="en-GB" dirty="0">
                <a:solidFill>
                  <a:srgbClr val="00B050"/>
                </a:solidFill>
              </a:rPr>
              <a:t>water plants </a:t>
            </a:r>
            <a:r>
              <a:rPr lang="en-GB" dirty="0"/>
              <a:t>and </a:t>
            </a:r>
            <a:r>
              <a:rPr lang="en-GB" b="1" dirty="0"/>
              <a:t>excyst</a:t>
            </a:r>
            <a:r>
              <a:rPr lang="en-GB" dirty="0"/>
              <a:t> as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which are </a:t>
            </a:r>
            <a:r>
              <a:rPr lang="en-GB" dirty="0">
                <a:solidFill>
                  <a:srgbClr val="FF0000"/>
                </a:solidFill>
              </a:rPr>
              <a:t>infective</a:t>
            </a:r>
            <a:r>
              <a:rPr lang="en-GB" dirty="0"/>
              <a:t> to </a:t>
            </a:r>
            <a:r>
              <a:rPr lang="en-GB" dirty="0">
                <a:solidFill>
                  <a:srgbClr val="00B050"/>
                </a:solidFill>
              </a:rPr>
              <a:t>humans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pigs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buffalo</a:t>
            </a:r>
            <a:endParaRPr lang="en-US" dirty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v"/>
            </a:pP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u="sng" dirty="0" smtClean="0"/>
              <a:t>Adults </a:t>
            </a:r>
            <a:r>
              <a:rPr lang="en-GB" u="sng" dirty="0"/>
              <a:t>live only a few months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8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Symptoms and Pathology of </a:t>
            </a:r>
            <a:r>
              <a:rPr lang="en-GB" b="1" i="1" u="sng" dirty="0" smtClean="0">
                <a:solidFill>
                  <a:srgbClr val="00B050"/>
                </a:solidFill>
              </a:rPr>
              <a:t>Fasciolopsis buski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00B0F0"/>
                </a:solidFill>
              </a:rPr>
              <a:t>Often </a:t>
            </a:r>
            <a:r>
              <a:rPr lang="en-GB" dirty="0">
                <a:solidFill>
                  <a:srgbClr val="00B0F0"/>
                </a:solidFill>
              </a:rPr>
              <a:t>infection is symptomless</a:t>
            </a:r>
            <a:r>
              <a:rPr lang="en-GB" dirty="0"/>
              <a:t>, however, </a:t>
            </a:r>
            <a:r>
              <a:rPr lang="en-GB" dirty="0">
                <a:solidFill>
                  <a:srgbClr val="7030A0"/>
                </a:solidFill>
              </a:rPr>
              <a:t>inflammation</a:t>
            </a:r>
            <a:r>
              <a:rPr lang="en-GB" dirty="0"/>
              <a:t>, </a:t>
            </a:r>
            <a:r>
              <a:rPr lang="en-GB" dirty="0">
                <a:solidFill>
                  <a:srgbClr val="7030A0"/>
                </a:solidFill>
              </a:rPr>
              <a:t>ulceration of the intestinal wall</a:t>
            </a:r>
            <a:r>
              <a:rPr lang="en-GB" dirty="0"/>
              <a:t>, with </a:t>
            </a:r>
            <a:r>
              <a:rPr lang="en-GB" dirty="0">
                <a:solidFill>
                  <a:srgbClr val="7030A0"/>
                </a:solidFill>
              </a:rPr>
              <a:t>abdominal pain </a:t>
            </a:r>
            <a:r>
              <a:rPr lang="en-GB" dirty="0"/>
              <a:t>and </a:t>
            </a:r>
            <a:r>
              <a:rPr lang="en-GB" dirty="0">
                <a:solidFill>
                  <a:srgbClr val="7030A0"/>
                </a:solidFill>
              </a:rPr>
              <a:t>diarrhoea</a:t>
            </a:r>
            <a:r>
              <a:rPr lang="en-GB" dirty="0"/>
              <a:t> may occur.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b="1" dirty="0"/>
              <a:t>Large numbers </a:t>
            </a:r>
            <a:r>
              <a:rPr lang="en-GB" dirty="0"/>
              <a:t>may cause </a:t>
            </a:r>
            <a:r>
              <a:rPr lang="en-GB" dirty="0">
                <a:solidFill>
                  <a:srgbClr val="FF0000"/>
                </a:solidFill>
              </a:rPr>
              <a:t>haemorrhage</a:t>
            </a:r>
            <a:endParaRPr lang="en-US" dirty="0">
              <a:solidFill>
                <a:srgbClr val="FF000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u="sng" dirty="0"/>
              <a:t>Symptoms of malabsorption may develop with</a:t>
            </a:r>
            <a:r>
              <a:rPr lang="en-GB" dirty="0"/>
              <a:t> </a:t>
            </a:r>
            <a:r>
              <a:rPr lang="en-GB" dirty="0">
                <a:solidFill>
                  <a:srgbClr val="7030A0"/>
                </a:solidFill>
              </a:rPr>
              <a:t>pale coloured and offensive faeces</a:t>
            </a:r>
            <a:r>
              <a:rPr lang="en-GB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GB" b="1" dirty="0"/>
              <a:t>Heavy infections </a:t>
            </a:r>
            <a:r>
              <a:rPr lang="en-GB" dirty="0"/>
              <a:t>in </a:t>
            </a:r>
            <a:r>
              <a:rPr lang="en-GB" dirty="0">
                <a:solidFill>
                  <a:srgbClr val="00B050"/>
                </a:solidFill>
              </a:rPr>
              <a:t>children</a:t>
            </a:r>
            <a:r>
              <a:rPr lang="en-GB" dirty="0"/>
              <a:t> </a:t>
            </a:r>
            <a:r>
              <a:rPr lang="en-GB" dirty="0">
                <a:solidFill>
                  <a:srgbClr val="00B0F0"/>
                </a:solidFill>
              </a:rPr>
              <a:t>may cause symptoms resembling protein caloric malnutrition with wasting</a:t>
            </a:r>
            <a:endParaRPr lang="en-US" dirty="0">
              <a:solidFill>
                <a:srgbClr val="00B0F0"/>
              </a:solidFill>
            </a:endParaRP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4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Symptoms and Pathology of </a:t>
            </a:r>
            <a:r>
              <a:rPr lang="en-GB" b="1" i="1" u="sng" dirty="0" smtClean="0">
                <a:solidFill>
                  <a:srgbClr val="00B050"/>
                </a:solidFill>
              </a:rPr>
              <a:t>Fasciolopsis buski </a:t>
            </a:r>
            <a:r>
              <a:rPr lang="en-GB" b="1" i="1" dirty="0" smtClean="0">
                <a:solidFill>
                  <a:srgbClr val="00B050"/>
                </a:solidFill>
              </a:rPr>
              <a:t> </a:t>
            </a:r>
            <a:r>
              <a:rPr lang="en-GB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FF0000"/>
                </a:solidFill>
              </a:rPr>
              <a:t>Toxins </a:t>
            </a:r>
            <a:r>
              <a:rPr lang="en-GB" dirty="0">
                <a:solidFill>
                  <a:srgbClr val="FF0000"/>
                </a:solidFill>
              </a:rPr>
              <a:t>produced by the worms </a:t>
            </a:r>
            <a:r>
              <a:rPr lang="en-GB" dirty="0"/>
              <a:t>may cause </a:t>
            </a:r>
            <a:r>
              <a:rPr lang="en-GB" dirty="0">
                <a:solidFill>
                  <a:srgbClr val="00B0F0"/>
                </a:solidFill>
              </a:rPr>
              <a:t>oedema of the face and limbs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ascites</a:t>
            </a:r>
            <a:r>
              <a:rPr lang="en-GB" dirty="0"/>
              <a:t> </a:t>
            </a:r>
            <a:r>
              <a:rPr lang="en-GB" dirty="0" smtClean="0"/>
              <a:t>(</a:t>
            </a:r>
            <a:r>
              <a:rPr lang="en-GB" u="sng" dirty="0" smtClean="0"/>
              <a:t>accumulating of fluid in the peritoneal cavity</a:t>
            </a:r>
            <a:r>
              <a:rPr lang="en-GB" dirty="0" smtClean="0"/>
              <a:t>) and </a:t>
            </a:r>
            <a:r>
              <a:rPr lang="en-GB" dirty="0">
                <a:solidFill>
                  <a:srgbClr val="00B0F0"/>
                </a:solidFill>
              </a:rPr>
              <a:t>allergic reactions 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Plasma albumin levels may fall </a:t>
            </a:r>
            <a:r>
              <a:rPr lang="en-GB" u="sng" dirty="0"/>
              <a:t>due to protein loss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Usually, </a:t>
            </a:r>
            <a:r>
              <a:rPr lang="en-GB" dirty="0">
                <a:solidFill>
                  <a:srgbClr val="00B0F0"/>
                </a:solidFill>
              </a:rPr>
              <a:t>blood eosinophilia occurs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459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solidFill>
                  <a:srgbClr val="00B050"/>
                </a:solidFill>
              </a:rPr>
              <a:t>Prevention and Control of </a:t>
            </a:r>
            <a:r>
              <a:rPr lang="en-GB" b="1" i="1" dirty="0" smtClean="0">
                <a:solidFill>
                  <a:srgbClr val="00B050"/>
                </a:solidFill>
              </a:rPr>
              <a:t>Fasciolopsis buski 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00B050"/>
                </a:solidFill>
              </a:rPr>
              <a:t>Cooking </a:t>
            </a:r>
            <a:r>
              <a:rPr lang="en-GB" dirty="0">
                <a:solidFill>
                  <a:srgbClr val="00B050"/>
                </a:solidFill>
              </a:rPr>
              <a:t>or treating water plants </a:t>
            </a:r>
            <a:r>
              <a:rPr lang="en-GB" dirty="0"/>
              <a:t>well before eating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Identifying faeces contaminated pond or water bodies </a:t>
            </a:r>
            <a:r>
              <a:rPr lang="en-GB" dirty="0"/>
              <a:t>containing edible water plants. Including </a:t>
            </a:r>
            <a:r>
              <a:rPr lang="en-GB" dirty="0">
                <a:solidFill>
                  <a:srgbClr val="00B050"/>
                </a:solidFill>
              </a:rPr>
              <a:t>not irrigating vegetables with such contaminated water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Provision of toilet facilities and health education </a:t>
            </a:r>
            <a:r>
              <a:rPr lang="en-GB" u="sng" dirty="0"/>
              <a:t>to prevent eggs from reaching water bodies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693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solidFill>
                  <a:srgbClr val="00B050"/>
                </a:solidFill>
              </a:rPr>
              <a:t>Prevention and Control of </a:t>
            </a:r>
            <a:r>
              <a:rPr lang="en-GB" b="1" i="1" dirty="0" smtClean="0">
                <a:solidFill>
                  <a:srgbClr val="00B050"/>
                </a:solidFill>
              </a:rPr>
              <a:t>Fasciolopsis buski  </a:t>
            </a:r>
            <a:r>
              <a:rPr lang="en-GB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00B050"/>
                </a:solidFill>
              </a:rPr>
              <a:t>Avoiding </a:t>
            </a:r>
            <a:r>
              <a:rPr lang="en-GB" dirty="0">
                <a:solidFill>
                  <a:srgbClr val="00B050"/>
                </a:solidFill>
              </a:rPr>
              <a:t>use of human/pig faeces as fertilizer</a:t>
            </a:r>
            <a:endParaRPr lang="en-US" dirty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Identifying and destroying snail</a:t>
            </a:r>
            <a:r>
              <a:rPr lang="en-GB" dirty="0"/>
              <a:t> intermediate host habitats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Where possible, </a:t>
            </a:r>
            <a:r>
              <a:rPr lang="en-GB" dirty="0">
                <a:solidFill>
                  <a:srgbClr val="00B050"/>
                </a:solidFill>
              </a:rPr>
              <a:t>clearing water vegetation on which cercariae excyst</a:t>
            </a:r>
            <a:endParaRPr lang="en-US" dirty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319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 </a:t>
            </a:r>
            <a:r>
              <a:rPr lang="en-GB" b="1" i="1" dirty="0" smtClean="0">
                <a:solidFill>
                  <a:srgbClr val="00B050"/>
                </a:solidFill>
              </a:rPr>
              <a:t>Fasciolopsis buski  </a:t>
            </a:r>
            <a:r>
              <a:rPr lang="en-GB" b="1" i="1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u="sng" dirty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Examination of faeces for eggs and sometimes also the flukes (adults)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999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Fasciola hepatica</a:t>
            </a:r>
            <a:r>
              <a:rPr lang="en-GB" b="1" dirty="0" smtClean="0">
                <a:solidFill>
                  <a:srgbClr val="00B050"/>
                </a:solidFill>
              </a:rPr>
              <a:t> </a:t>
            </a:r>
            <a:r>
              <a:rPr lang="en-GB" dirty="0" smtClean="0"/>
              <a:t>and </a:t>
            </a:r>
            <a:r>
              <a:rPr lang="en-GB" b="1" i="1" dirty="0" smtClean="0">
                <a:solidFill>
                  <a:srgbClr val="00B050"/>
                </a:solidFill>
              </a:rPr>
              <a:t>F. gigantica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These </a:t>
            </a:r>
            <a:r>
              <a:rPr lang="en-GB" dirty="0"/>
              <a:t>are important pathogens of </a:t>
            </a:r>
            <a:r>
              <a:rPr lang="en-GB" dirty="0">
                <a:solidFill>
                  <a:srgbClr val="00B050"/>
                </a:solidFill>
              </a:rPr>
              <a:t>humans</a:t>
            </a:r>
            <a:r>
              <a:rPr lang="en-GB" dirty="0"/>
              <a:t> and other </a:t>
            </a:r>
            <a:r>
              <a:rPr lang="en-GB" dirty="0">
                <a:solidFill>
                  <a:srgbClr val="00B050"/>
                </a:solidFill>
              </a:rPr>
              <a:t>animals</a:t>
            </a:r>
            <a:r>
              <a:rPr lang="en-GB" dirty="0"/>
              <a:t>. </a:t>
            </a:r>
            <a:endParaRPr lang="en-GB" dirty="0" smtClean="0"/>
          </a:p>
          <a:p>
            <a:pPr>
              <a:buFont typeface="Wingdings" pitchFamily="2" charset="2"/>
              <a:buChar char="v"/>
            </a:pPr>
            <a:r>
              <a:rPr lang="en-GB" dirty="0" smtClean="0"/>
              <a:t>They </a:t>
            </a:r>
            <a:r>
              <a:rPr lang="en-GB" dirty="0"/>
              <a:t>live in the </a:t>
            </a:r>
            <a:r>
              <a:rPr lang="en-GB" dirty="0">
                <a:solidFill>
                  <a:srgbClr val="00B0F0"/>
                </a:solidFill>
              </a:rPr>
              <a:t>liver</a:t>
            </a:r>
            <a:r>
              <a:rPr lang="en-GB" dirty="0"/>
              <a:t> and </a:t>
            </a:r>
            <a:r>
              <a:rPr lang="en-GB" dirty="0">
                <a:solidFill>
                  <a:srgbClr val="00B0F0"/>
                </a:solidFill>
              </a:rPr>
              <a:t>bile ducts </a:t>
            </a:r>
            <a:r>
              <a:rPr lang="en-GB" dirty="0"/>
              <a:t>of </a:t>
            </a:r>
            <a:r>
              <a:rPr lang="en-GB" dirty="0">
                <a:solidFill>
                  <a:srgbClr val="00B050"/>
                </a:solidFill>
              </a:rPr>
              <a:t>sheep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cattle</a:t>
            </a:r>
            <a:r>
              <a:rPr lang="en-GB" dirty="0"/>
              <a:t> and other animals, and cause </a:t>
            </a:r>
            <a:r>
              <a:rPr lang="en-GB" dirty="0">
                <a:solidFill>
                  <a:srgbClr val="FF0000"/>
                </a:solidFill>
              </a:rPr>
              <a:t>liver rot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i="1" dirty="0">
                <a:solidFill>
                  <a:srgbClr val="00B050"/>
                </a:solidFill>
              </a:rPr>
              <a:t>F. gigantica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infections in </a:t>
            </a:r>
            <a:r>
              <a:rPr lang="en-GB" dirty="0">
                <a:solidFill>
                  <a:srgbClr val="00B050"/>
                </a:solidFill>
              </a:rPr>
              <a:t>cattle</a:t>
            </a:r>
            <a:r>
              <a:rPr lang="en-GB" dirty="0"/>
              <a:t> </a:t>
            </a:r>
            <a:r>
              <a:rPr lang="en-GB" u="sng" dirty="0"/>
              <a:t>cause gigantic economic loss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Human </a:t>
            </a:r>
            <a:r>
              <a:rPr lang="en-GB" dirty="0"/>
              <a:t>infections are occasional, leading to the disease </a:t>
            </a:r>
            <a:r>
              <a:rPr lang="en-GB" dirty="0">
                <a:solidFill>
                  <a:srgbClr val="FF0000"/>
                </a:solidFill>
              </a:rPr>
              <a:t>Fascioliasis</a:t>
            </a:r>
            <a:r>
              <a:rPr lang="en-GB" dirty="0"/>
              <a:t>.</a:t>
            </a:r>
            <a:r>
              <a:rPr lang="en-GB" i="1" dirty="0"/>
              <a:t> </a:t>
            </a:r>
            <a:r>
              <a:rPr lang="en-GB" i="1" dirty="0">
                <a:solidFill>
                  <a:srgbClr val="00B050"/>
                </a:solidFill>
              </a:rPr>
              <a:t>F. hepatica</a:t>
            </a:r>
            <a:r>
              <a:rPr lang="en-GB" dirty="0"/>
              <a:t> </a:t>
            </a:r>
            <a:r>
              <a:rPr lang="en-GB" u="sng" dirty="0"/>
              <a:t>infection is </a:t>
            </a:r>
            <a:r>
              <a:rPr lang="en-GB" b="1" u="sng" dirty="0"/>
              <a:t>more common </a:t>
            </a:r>
            <a:r>
              <a:rPr lang="en-GB" u="sng" dirty="0"/>
              <a:t>than that of</a:t>
            </a:r>
            <a:r>
              <a:rPr lang="en-GB" dirty="0"/>
              <a:t> </a:t>
            </a:r>
            <a:r>
              <a:rPr lang="en-GB" i="1" dirty="0">
                <a:solidFill>
                  <a:srgbClr val="00B050"/>
                </a:solidFill>
              </a:rPr>
              <a:t>F. gigantica</a:t>
            </a:r>
            <a:endParaRPr lang="en-US" dirty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472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Fasciola hepatica</a:t>
            </a:r>
            <a:r>
              <a:rPr lang="en-GB" b="1" dirty="0" smtClean="0">
                <a:solidFill>
                  <a:srgbClr val="00B050"/>
                </a:solidFill>
              </a:rPr>
              <a:t> </a:t>
            </a:r>
            <a:r>
              <a:rPr lang="en-GB" dirty="0" smtClean="0"/>
              <a:t>and </a:t>
            </a:r>
            <a:r>
              <a:rPr lang="en-GB" b="1" i="1" dirty="0" smtClean="0">
                <a:solidFill>
                  <a:srgbClr val="00B050"/>
                </a:solidFill>
              </a:rPr>
              <a:t>F. gigantica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u="sng" dirty="0"/>
              <a:t>Distribution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b="1" i="1" dirty="0">
                <a:solidFill>
                  <a:srgbClr val="00B050"/>
                </a:solidFill>
              </a:rPr>
              <a:t>F. gigantica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dirty="0"/>
              <a:t>is found mainly in </a:t>
            </a:r>
            <a:r>
              <a:rPr lang="en-GB" dirty="0">
                <a:solidFill>
                  <a:srgbClr val="00B0F0"/>
                </a:solidFill>
              </a:rPr>
              <a:t>Africa </a:t>
            </a:r>
            <a:r>
              <a:rPr lang="en-GB" dirty="0"/>
              <a:t>and the </a:t>
            </a:r>
            <a:r>
              <a:rPr lang="en-GB" dirty="0">
                <a:solidFill>
                  <a:srgbClr val="00B0F0"/>
                </a:solidFill>
              </a:rPr>
              <a:t>Far East </a:t>
            </a:r>
            <a:r>
              <a:rPr lang="en-GB" dirty="0"/>
              <a:t>with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cattle</a:t>
            </a:r>
            <a:r>
              <a:rPr lang="en-GB" dirty="0"/>
              <a:t>,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camels</a:t>
            </a:r>
            <a:r>
              <a:rPr lang="en-GB" dirty="0"/>
              <a:t> and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water buffaloes</a:t>
            </a:r>
            <a:r>
              <a:rPr lang="en-GB" dirty="0"/>
              <a:t> being more infected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b="1" i="1" dirty="0">
                <a:solidFill>
                  <a:srgbClr val="00B050"/>
                </a:solidFill>
              </a:rPr>
              <a:t>F. hepatica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dirty="0"/>
              <a:t>is worldwide but especially found in </a:t>
            </a:r>
            <a:r>
              <a:rPr lang="en-GB" dirty="0">
                <a:solidFill>
                  <a:srgbClr val="00B0F0"/>
                </a:solidFill>
              </a:rPr>
              <a:t>temperate countries</a:t>
            </a:r>
            <a:r>
              <a:rPr lang="en-GB" dirty="0"/>
              <a:t>. 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It </a:t>
            </a:r>
            <a:r>
              <a:rPr lang="en-GB" dirty="0"/>
              <a:t>is also found in </a:t>
            </a:r>
            <a:r>
              <a:rPr lang="en-GB" dirty="0">
                <a:solidFill>
                  <a:srgbClr val="00B0F0"/>
                </a:solidFill>
              </a:rPr>
              <a:t>S. America</a:t>
            </a:r>
            <a:r>
              <a:rPr lang="en-GB" dirty="0"/>
              <a:t>, </a:t>
            </a:r>
            <a:r>
              <a:rPr lang="en-GB" dirty="0">
                <a:solidFill>
                  <a:srgbClr val="00B0F0"/>
                </a:solidFill>
              </a:rPr>
              <a:t>Cuba</a:t>
            </a:r>
            <a:r>
              <a:rPr lang="en-GB" dirty="0"/>
              <a:t> and </a:t>
            </a:r>
            <a:r>
              <a:rPr lang="en-GB" dirty="0">
                <a:solidFill>
                  <a:srgbClr val="00B0F0"/>
                </a:solidFill>
              </a:rPr>
              <a:t>Africa</a:t>
            </a:r>
            <a:r>
              <a:rPr lang="en-GB" dirty="0"/>
              <a:t> with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sheep</a:t>
            </a:r>
            <a:r>
              <a:rPr lang="en-GB" dirty="0"/>
              <a:t>,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cattle</a:t>
            </a:r>
            <a:r>
              <a:rPr lang="en-GB" dirty="0"/>
              <a:t> and other herbivores being commonly infected.</a:t>
            </a:r>
            <a:endParaRPr lang="en-US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974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Fasciola hepatica</a:t>
            </a:r>
            <a:r>
              <a:rPr lang="en-GB" b="1" dirty="0" smtClean="0">
                <a:solidFill>
                  <a:srgbClr val="00B050"/>
                </a:solidFill>
              </a:rPr>
              <a:t> </a:t>
            </a:r>
            <a:r>
              <a:rPr lang="en-GB" dirty="0" smtClean="0"/>
              <a:t>and </a:t>
            </a:r>
            <a:r>
              <a:rPr lang="en-GB" b="1" i="1" dirty="0" smtClean="0">
                <a:solidFill>
                  <a:srgbClr val="00B050"/>
                </a:solidFill>
              </a:rPr>
              <a:t>F. gigantica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b="1" u="sng" dirty="0" smtClean="0"/>
              <a:t>Transmission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Caused by </a:t>
            </a:r>
            <a:r>
              <a:rPr lang="en-GB" dirty="0">
                <a:solidFill>
                  <a:srgbClr val="00B0F0"/>
                </a:solidFill>
              </a:rPr>
              <a:t>eating wild watercress or edible aquatic vegetation </a:t>
            </a:r>
            <a:r>
              <a:rPr lang="en-GB" dirty="0"/>
              <a:t>on which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</a:t>
            </a:r>
            <a:r>
              <a:rPr lang="en-GB" u="sng" dirty="0"/>
              <a:t>encyst.</a:t>
            </a:r>
            <a:endParaRPr lang="en-US" u="sng" dirty="0"/>
          </a:p>
          <a:p>
            <a:pPr marL="0" indent="0" algn="ctr">
              <a:buNone/>
            </a:pPr>
            <a:r>
              <a:rPr lang="en-GB" b="1" u="sng" dirty="0"/>
              <a:t>Life cycle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After intake,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</a:t>
            </a:r>
            <a:r>
              <a:rPr lang="en-GB" u="sng" dirty="0"/>
              <a:t>excyst in the </a:t>
            </a:r>
            <a:r>
              <a:rPr lang="en-GB" u="sng" dirty="0">
                <a:solidFill>
                  <a:srgbClr val="0070C0"/>
                </a:solidFill>
              </a:rPr>
              <a:t>duodenum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/>
              <a:t>and </a:t>
            </a:r>
            <a:r>
              <a:rPr lang="en-GB" u="sng" dirty="0"/>
              <a:t>the young flukes migrate through the </a:t>
            </a:r>
            <a:r>
              <a:rPr lang="en-GB" u="sng" dirty="0">
                <a:solidFill>
                  <a:srgbClr val="0070C0"/>
                </a:solidFill>
              </a:rPr>
              <a:t>intestinal wall </a:t>
            </a:r>
            <a:r>
              <a:rPr lang="en-GB" u="sng" dirty="0"/>
              <a:t>into the </a:t>
            </a:r>
            <a:r>
              <a:rPr lang="en-GB" u="sng" dirty="0">
                <a:solidFill>
                  <a:srgbClr val="0070C0"/>
                </a:solidFill>
              </a:rPr>
              <a:t>peritoneal cavity </a:t>
            </a:r>
            <a:r>
              <a:rPr lang="en-GB" u="sng" dirty="0"/>
              <a:t>and reach the </a:t>
            </a:r>
            <a:r>
              <a:rPr lang="en-GB" u="sng" dirty="0">
                <a:solidFill>
                  <a:srgbClr val="0070C0"/>
                </a:solidFill>
              </a:rPr>
              <a:t>bile ducts of the liver </a:t>
            </a:r>
            <a:r>
              <a:rPr lang="en-GB" u="sng" dirty="0"/>
              <a:t>by penetrating through the </a:t>
            </a:r>
            <a:r>
              <a:rPr lang="en-GB" u="sng" dirty="0">
                <a:solidFill>
                  <a:srgbClr val="0070C0"/>
                </a:solidFill>
              </a:rPr>
              <a:t>liver capsule</a:t>
            </a:r>
            <a:endParaRPr lang="en-US" u="sng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8051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 </a:t>
            </a:r>
            <a:br>
              <a:rPr lang="en-GB" b="1" dirty="0" smtClean="0"/>
            </a:br>
            <a:r>
              <a:rPr lang="en-GB" b="1" u="sng" dirty="0" smtClean="0"/>
              <a:t>Life cycle </a:t>
            </a:r>
            <a:r>
              <a:rPr lang="en-GB" b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/>
              <a:t>3-4 months after the infection, </a:t>
            </a:r>
            <a:r>
              <a:rPr lang="en-GB" u="sng" dirty="0">
                <a:solidFill>
                  <a:srgbClr val="C00000"/>
                </a:solidFill>
              </a:rPr>
              <a:t>eggs</a:t>
            </a:r>
            <a:r>
              <a:rPr lang="en-GB" u="sng" dirty="0"/>
              <a:t> are </a:t>
            </a:r>
            <a:r>
              <a:rPr lang="en-GB" u="sng" dirty="0">
                <a:solidFill>
                  <a:srgbClr val="00B0F0"/>
                </a:solidFill>
              </a:rPr>
              <a:t>passed in the faeces</a:t>
            </a:r>
            <a:r>
              <a:rPr lang="en-GB" u="sng" dirty="0"/>
              <a:t>, these hatch in 1-2 weeks </a:t>
            </a:r>
            <a:r>
              <a:rPr lang="en-GB" u="sng" dirty="0">
                <a:solidFill>
                  <a:srgbClr val="00B0F0"/>
                </a:solidFill>
              </a:rPr>
              <a:t>in water </a:t>
            </a:r>
            <a:r>
              <a:rPr lang="en-GB" u="sng" dirty="0"/>
              <a:t>into </a:t>
            </a:r>
            <a:r>
              <a:rPr lang="en-GB" u="sng" dirty="0">
                <a:solidFill>
                  <a:srgbClr val="C00000"/>
                </a:solidFill>
              </a:rPr>
              <a:t>miracidia</a:t>
            </a:r>
            <a:r>
              <a:rPr lang="en-GB" u="sng" dirty="0"/>
              <a:t> which enter the appropriate </a:t>
            </a:r>
            <a:r>
              <a:rPr lang="en-GB" u="sng" dirty="0">
                <a:solidFill>
                  <a:srgbClr val="00B050"/>
                </a:solidFill>
              </a:rPr>
              <a:t>snail host</a:t>
            </a:r>
            <a:r>
              <a:rPr lang="en-GB" dirty="0"/>
              <a:t>, </a:t>
            </a:r>
            <a:r>
              <a:rPr lang="en-GB" dirty="0">
                <a:solidFill>
                  <a:srgbClr val="7030A0"/>
                </a:solidFill>
              </a:rPr>
              <a:t>genus </a:t>
            </a:r>
            <a:r>
              <a:rPr lang="en-GB" i="1" dirty="0">
                <a:solidFill>
                  <a:srgbClr val="7030A0"/>
                </a:solidFill>
              </a:rPr>
              <a:t>Lymnaea</a:t>
            </a:r>
            <a:endParaRPr lang="en-US" dirty="0">
              <a:solidFill>
                <a:srgbClr val="7030A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b="1" i="1" dirty="0"/>
              <a:t>The </a:t>
            </a:r>
            <a:r>
              <a:rPr lang="en-GB" dirty="0">
                <a:solidFill>
                  <a:srgbClr val="00B050"/>
                </a:solidFill>
              </a:rPr>
              <a:t>species of snails </a:t>
            </a:r>
            <a:r>
              <a:rPr lang="en-GB" b="1" dirty="0"/>
              <a:t>which are the </a:t>
            </a:r>
            <a:r>
              <a:rPr lang="en-GB" b="1" dirty="0">
                <a:solidFill>
                  <a:srgbClr val="00B0F0"/>
                </a:solidFill>
              </a:rPr>
              <a:t>intermediate hosts </a:t>
            </a:r>
            <a:r>
              <a:rPr lang="en-GB" b="1" dirty="0"/>
              <a:t>of </a:t>
            </a:r>
            <a:r>
              <a:rPr lang="en-GB" b="1" i="1" dirty="0">
                <a:solidFill>
                  <a:srgbClr val="00B050"/>
                </a:solidFill>
              </a:rPr>
              <a:t>F. gigantica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b="1" dirty="0"/>
              <a:t>are 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aquatic</a:t>
            </a:r>
            <a:r>
              <a:rPr lang="en-GB" b="1" dirty="0"/>
              <a:t> whereas those of </a:t>
            </a:r>
            <a:r>
              <a:rPr lang="en-GB" b="1" i="1" dirty="0">
                <a:solidFill>
                  <a:srgbClr val="00B050"/>
                </a:solidFill>
              </a:rPr>
              <a:t>F. hepatica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b="1" dirty="0"/>
              <a:t>are </a:t>
            </a:r>
            <a:r>
              <a:rPr lang="en-GB" b="1" dirty="0" smtClean="0">
                <a:solidFill>
                  <a:schemeClr val="accent6">
                    <a:lumMod val="75000"/>
                  </a:schemeClr>
                </a:solidFill>
              </a:rPr>
              <a:t>amphibious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9580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 </a:t>
            </a:r>
            <a:br>
              <a:rPr lang="en-GB" b="1" dirty="0" smtClean="0"/>
            </a:br>
            <a:r>
              <a:rPr lang="en-GB" b="1" u="sng" dirty="0" smtClean="0"/>
              <a:t>Life cycle </a:t>
            </a:r>
            <a:r>
              <a:rPr lang="en-GB" b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C00000"/>
                </a:solidFill>
              </a:rPr>
              <a:t>Miracidia</a:t>
            </a:r>
            <a:r>
              <a:rPr lang="en-GB" dirty="0" smtClean="0"/>
              <a:t> develop into </a:t>
            </a:r>
            <a:r>
              <a:rPr lang="en-GB" dirty="0" smtClean="0">
                <a:solidFill>
                  <a:srgbClr val="C00000"/>
                </a:solidFill>
              </a:rPr>
              <a:t>sporocysts</a:t>
            </a:r>
            <a:r>
              <a:rPr lang="en-GB" dirty="0" smtClean="0"/>
              <a:t> </a:t>
            </a:r>
            <a:r>
              <a:rPr lang="en-GB" u="sng" dirty="0" smtClean="0"/>
              <a:t>within the </a:t>
            </a:r>
            <a:r>
              <a:rPr lang="en-GB" u="sng" dirty="0" smtClean="0">
                <a:solidFill>
                  <a:srgbClr val="00B050"/>
                </a:solidFill>
              </a:rPr>
              <a:t>snail</a:t>
            </a:r>
            <a:r>
              <a:rPr lang="en-GB" dirty="0" smtClean="0">
                <a:solidFill>
                  <a:srgbClr val="00B050"/>
                </a:solidFill>
              </a:rPr>
              <a:t> </a:t>
            </a:r>
            <a:r>
              <a:rPr lang="en-GB" dirty="0" smtClean="0"/>
              <a:t>and </a:t>
            </a:r>
            <a:r>
              <a:rPr lang="en-GB" dirty="0" smtClean="0">
                <a:solidFill>
                  <a:srgbClr val="C00000"/>
                </a:solidFill>
              </a:rPr>
              <a:t>sporocysts </a:t>
            </a:r>
            <a:r>
              <a:rPr lang="en-GB" u="sng" dirty="0" smtClean="0"/>
              <a:t>produce generations of </a:t>
            </a:r>
            <a:r>
              <a:rPr lang="en-GB" u="sng" dirty="0" smtClean="0">
                <a:solidFill>
                  <a:srgbClr val="C00000"/>
                </a:solidFill>
              </a:rPr>
              <a:t>rediae</a:t>
            </a:r>
            <a:r>
              <a:rPr lang="en-GB" dirty="0" smtClean="0"/>
              <a:t> and finally </a:t>
            </a:r>
            <a:r>
              <a:rPr lang="en-GB" dirty="0" smtClean="0">
                <a:solidFill>
                  <a:srgbClr val="C00000"/>
                </a:solidFill>
              </a:rPr>
              <a:t>cercariae</a:t>
            </a:r>
            <a:r>
              <a:rPr lang="en-GB" dirty="0" smtClean="0"/>
              <a:t>, </a:t>
            </a:r>
            <a:r>
              <a:rPr lang="en-GB" u="sng" dirty="0" smtClean="0"/>
              <a:t>which are shed by the</a:t>
            </a:r>
            <a:r>
              <a:rPr lang="en-GB" dirty="0" smtClean="0"/>
              <a:t> </a:t>
            </a:r>
            <a:r>
              <a:rPr lang="en-GB" dirty="0" smtClean="0">
                <a:solidFill>
                  <a:srgbClr val="00B050"/>
                </a:solidFill>
              </a:rPr>
              <a:t>snail</a:t>
            </a:r>
            <a:r>
              <a:rPr lang="en-GB" dirty="0" smtClean="0"/>
              <a:t> and </a:t>
            </a:r>
            <a:r>
              <a:rPr lang="en-GB" u="sng" dirty="0" smtClean="0"/>
              <a:t>encyst on </a:t>
            </a:r>
            <a:r>
              <a:rPr lang="en-GB" dirty="0" smtClean="0">
                <a:solidFill>
                  <a:srgbClr val="00B050"/>
                </a:solidFill>
              </a:rPr>
              <a:t>water vegetation </a:t>
            </a:r>
            <a:r>
              <a:rPr lang="en-GB" dirty="0" smtClean="0"/>
              <a:t>or </a:t>
            </a:r>
            <a:r>
              <a:rPr lang="en-GB" dirty="0" smtClean="0">
                <a:solidFill>
                  <a:srgbClr val="00B050"/>
                </a:solidFill>
              </a:rPr>
              <a:t>grass</a:t>
            </a:r>
            <a:r>
              <a:rPr lang="en-GB" dirty="0" smtClean="0"/>
              <a:t>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8172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u="sng" dirty="0" smtClean="0"/>
              <a:t/>
            </a:r>
            <a:br>
              <a:rPr lang="en-GB" b="1" u="sng" dirty="0" smtClean="0"/>
            </a:br>
            <a:r>
              <a:rPr lang="en-GB" b="1" u="sng" dirty="0" smtClean="0"/>
              <a:t>Symptoms and Pathology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b="1" dirty="0" smtClean="0"/>
              <a:t>Light </a:t>
            </a:r>
            <a:r>
              <a:rPr lang="en-GB" b="1" dirty="0"/>
              <a:t>infections </a:t>
            </a:r>
            <a:r>
              <a:rPr lang="en-GB" dirty="0"/>
              <a:t>are usually </a:t>
            </a:r>
            <a:r>
              <a:rPr lang="en-GB" dirty="0">
                <a:solidFill>
                  <a:srgbClr val="00B0F0"/>
                </a:solidFill>
              </a:rPr>
              <a:t>without symptoms</a:t>
            </a:r>
            <a:r>
              <a:rPr lang="en-GB" dirty="0"/>
              <a:t>; </a:t>
            </a:r>
            <a:r>
              <a:rPr lang="en-GB" b="1" dirty="0"/>
              <a:t>heavy infections </a:t>
            </a:r>
            <a:r>
              <a:rPr lang="en-GB" dirty="0"/>
              <a:t>cause </a:t>
            </a:r>
            <a:r>
              <a:rPr lang="en-GB" dirty="0">
                <a:solidFill>
                  <a:srgbClr val="FF0000"/>
                </a:solidFill>
              </a:rPr>
              <a:t>liver damage</a:t>
            </a:r>
            <a:r>
              <a:rPr lang="en-GB" dirty="0"/>
              <a:t>,</a:t>
            </a:r>
            <a:r>
              <a:rPr lang="en-GB" u="sng" dirty="0"/>
              <a:t> especially during the migratory phase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b="1" dirty="0"/>
              <a:t>Chronic infections </a:t>
            </a:r>
            <a:r>
              <a:rPr lang="en-GB" dirty="0"/>
              <a:t>lead to </a:t>
            </a:r>
            <a:r>
              <a:rPr lang="en-GB" dirty="0">
                <a:solidFill>
                  <a:srgbClr val="FF0000"/>
                </a:solidFill>
              </a:rPr>
              <a:t>thickening of the bile ducts</a:t>
            </a:r>
            <a:r>
              <a:rPr lang="en-GB" dirty="0"/>
              <a:t> </a:t>
            </a:r>
            <a:r>
              <a:rPr lang="en-GB" u="sng" dirty="0"/>
              <a:t>due to a cellular response by the host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7030A0"/>
                </a:solidFill>
              </a:rPr>
              <a:t>The worms may develop in other parts of the </a:t>
            </a:r>
            <a:r>
              <a:rPr lang="en-GB" dirty="0" smtClean="0">
                <a:solidFill>
                  <a:srgbClr val="7030A0"/>
                </a:solidFill>
              </a:rPr>
              <a:t>body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076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u="sng" dirty="0" smtClean="0"/>
              <a:t>Symptoms and Pathology</a:t>
            </a:r>
            <a:r>
              <a:rPr lang="en-US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Usually there is </a:t>
            </a:r>
            <a:r>
              <a:rPr lang="en-GB" dirty="0" smtClean="0">
                <a:solidFill>
                  <a:srgbClr val="00B0F0"/>
                </a:solidFill>
              </a:rPr>
              <a:t>fever</a:t>
            </a:r>
            <a:r>
              <a:rPr lang="en-GB" dirty="0" smtClean="0"/>
              <a:t>, </a:t>
            </a:r>
            <a:r>
              <a:rPr lang="en-GB" dirty="0" smtClean="0">
                <a:solidFill>
                  <a:srgbClr val="00B0F0"/>
                </a:solidFill>
              </a:rPr>
              <a:t>pain</a:t>
            </a:r>
            <a:r>
              <a:rPr lang="en-GB" dirty="0" smtClean="0"/>
              <a:t>, a </a:t>
            </a:r>
            <a:r>
              <a:rPr lang="en-GB" dirty="0" smtClean="0">
                <a:solidFill>
                  <a:srgbClr val="00B0F0"/>
                </a:solidFill>
              </a:rPr>
              <a:t>marked blood eosinophilia</a:t>
            </a:r>
            <a:r>
              <a:rPr lang="en-GB" dirty="0" smtClean="0"/>
              <a:t> and </a:t>
            </a:r>
            <a:r>
              <a:rPr lang="en-GB" dirty="0" smtClean="0">
                <a:solidFill>
                  <a:srgbClr val="00B0F0"/>
                </a:solidFill>
              </a:rPr>
              <a:t>urticaria</a:t>
            </a:r>
            <a:r>
              <a:rPr lang="en-US" dirty="0"/>
              <a:t>.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/>
              <a:t>The </a:t>
            </a:r>
            <a:r>
              <a:rPr lang="en-GB" dirty="0">
                <a:solidFill>
                  <a:srgbClr val="FF0000"/>
                </a:solidFill>
              </a:rPr>
              <a:t>liver may enlarge </a:t>
            </a:r>
            <a:r>
              <a:rPr lang="en-GB" dirty="0"/>
              <a:t>and </a:t>
            </a:r>
            <a:r>
              <a:rPr lang="en-GB" dirty="0">
                <a:solidFill>
                  <a:srgbClr val="FF0000"/>
                </a:solidFill>
              </a:rPr>
              <a:t>bile ducts blocked </a:t>
            </a:r>
            <a:r>
              <a:rPr lang="en-GB" dirty="0"/>
              <a:t>leading to </a:t>
            </a:r>
            <a:r>
              <a:rPr lang="en-GB" dirty="0">
                <a:solidFill>
                  <a:srgbClr val="FF0000"/>
                </a:solidFill>
              </a:rPr>
              <a:t>obstructive jaundice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36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Prevention and Control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00B050"/>
                </a:solidFill>
              </a:rPr>
              <a:t>Avoiding </a:t>
            </a:r>
            <a:r>
              <a:rPr lang="en-GB" dirty="0">
                <a:solidFill>
                  <a:srgbClr val="00B050"/>
                </a:solidFill>
              </a:rPr>
              <a:t>edible aquatic vegetables (watercress) </a:t>
            </a:r>
            <a:r>
              <a:rPr lang="en-GB" u="sng" dirty="0"/>
              <a:t>not sufficiently cooked as they may contain </a:t>
            </a:r>
            <a:r>
              <a:rPr lang="en-GB" u="sng" dirty="0">
                <a:solidFill>
                  <a:srgbClr val="C00000"/>
                </a:solidFill>
              </a:rPr>
              <a:t>metacercariae</a:t>
            </a:r>
            <a:endParaRPr lang="en-US" u="sng" dirty="0">
              <a:solidFill>
                <a:srgbClr val="C0000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u="sng" dirty="0"/>
              <a:t>Reducing infection by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fencing off grazing land known to be infested with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endParaRPr lang="en-US" dirty="0">
              <a:solidFill>
                <a:srgbClr val="C0000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Treating infected animals </a:t>
            </a:r>
            <a:r>
              <a:rPr lang="en-GB" u="sng" dirty="0"/>
              <a:t>to reduce egg output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Identifying and destroying snail habitats </a:t>
            </a:r>
            <a:r>
              <a:rPr lang="en-GB" u="sng" dirty="0"/>
              <a:t>where this is possible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153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>
                <a:solidFill>
                  <a:srgbClr val="00B050"/>
                </a:solidFill>
              </a:rPr>
              <a:t>Fasciola hepatica</a:t>
            </a:r>
            <a:r>
              <a:rPr lang="en-GB" b="1" dirty="0" smtClean="0">
                <a:solidFill>
                  <a:srgbClr val="00B050"/>
                </a:solidFill>
              </a:rPr>
              <a:t> </a:t>
            </a:r>
            <a:r>
              <a:rPr lang="en-GB" dirty="0" smtClean="0"/>
              <a:t>and </a:t>
            </a:r>
            <a:r>
              <a:rPr lang="en-GB" b="1" i="1" dirty="0" smtClean="0">
                <a:solidFill>
                  <a:srgbClr val="00B050"/>
                </a:solidFill>
              </a:rPr>
              <a:t>F. gigantica </a:t>
            </a:r>
            <a:r>
              <a:rPr lang="en-GB" i="1" dirty="0" err="1" smtClean="0"/>
              <a:t>cont’t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u="sng" dirty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Examination of faeces and duodenal fluid aspirates for eggs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Testing serum for antibodies </a:t>
            </a:r>
            <a:r>
              <a:rPr lang="en-GB" u="sng" dirty="0"/>
              <a:t>in response to the worm’s antigens</a:t>
            </a:r>
            <a:endParaRPr lang="en-US" u="sng" dirty="0"/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7868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Heterophyes heterophyes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GB" dirty="0" smtClean="0"/>
              <a:t>A </a:t>
            </a:r>
            <a:r>
              <a:rPr lang="en-GB" b="1" dirty="0"/>
              <a:t>small fluke </a:t>
            </a:r>
            <a:r>
              <a:rPr lang="en-GB" dirty="0"/>
              <a:t>normally </a:t>
            </a:r>
            <a:r>
              <a:rPr lang="en-GB" dirty="0">
                <a:solidFill>
                  <a:srgbClr val="00B0F0"/>
                </a:solidFill>
              </a:rPr>
              <a:t>parasitic in the intestine </a:t>
            </a:r>
            <a:r>
              <a:rPr lang="en-GB" dirty="0"/>
              <a:t>of </a:t>
            </a:r>
            <a:r>
              <a:rPr lang="en-GB" dirty="0">
                <a:solidFill>
                  <a:srgbClr val="00B050"/>
                </a:solidFill>
              </a:rPr>
              <a:t>cats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dogs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foxes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wolves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jackals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r>
              <a:rPr lang="en-GB" b="1" u="sng" dirty="0"/>
              <a:t>Distribution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Human infection mainly occurs in the </a:t>
            </a:r>
            <a:r>
              <a:rPr lang="en-GB" u="sng" dirty="0"/>
              <a:t>Far East </a:t>
            </a:r>
            <a:r>
              <a:rPr lang="en-GB" dirty="0"/>
              <a:t>and the </a:t>
            </a:r>
            <a:r>
              <a:rPr lang="en-GB" u="sng" dirty="0"/>
              <a:t>Nile Delta in Egypt</a:t>
            </a:r>
            <a:endParaRPr lang="en-US" u="sng" dirty="0"/>
          </a:p>
          <a:p>
            <a:pPr marL="0" indent="0" algn="ctr">
              <a:buNone/>
            </a:pPr>
            <a:r>
              <a:rPr lang="en-GB" b="1" u="sng" dirty="0"/>
              <a:t>Transmission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Eating raw or insufficiently cooked </a:t>
            </a:r>
            <a:r>
              <a:rPr lang="en-GB" dirty="0">
                <a:solidFill>
                  <a:srgbClr val="00B050"/>
                </a:solidFill>
              </a:rPr>
              <a:t>fish</a:t>
            </a:r>
            <a:r>
              <a:rPr lang="en-GB" dirty="0">
                <a:solidFill>
                  <a:srgbClr val="00B0F0"/>
                </a:solidFill>
              </a:rPr>
              <a:t> containing the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>
                <a:solidFill>
                  <a:srgbClr val="00B0F0"/>
                </a:solidFill>
              </a:rPr>
              <a:t>.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766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Life Cycle of </a:t>
            </a:r>
            <a:r>
              <a:rPr lang="en-GB" b="1" i="1" dirty="0" smtClean="0">
                <a:solidFill>
                  <a:srgbClr val="00B050"/>
                </a:solidFill>
              </a:rPr>
              <a:t>Heterophyes heterophyes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/>
              <a:t>After </a:t>
            </a:r>
            <a:r>
              <a:rPr lang="en-GB" dirty="0"/>
              <a:t>intake,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excyst and develop into </a:t>
            </a:r>
            <a:r>
              <a:rPr lang="en-GB" dirty="0">
                <a:solidFill>
                  <a:srgbClr val="C00000"/>
                </a:solidFill>
              </a:rPr>
              <a:t>mature egg- </a:t>
            </a:r>
            <a:r>
              <a:rPr lang="en-GB" dirty="0"/>
              <a:t>producing adults in the </a:t>
            </a:r>
            <a:r>
              <a:rPr lang="en-GB" dirty="0">
                <a:solidFill>
                  <a:srgbClr val="00B0F0"/>
                </a:solidFill>
              </a:rPr>
              <a:t>small intestine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The eggs contain a fully developed </a:t>
            </a:r>
            <a:r>
              <a:rPr lang="en-GB" dirty="0">
                <a:solidFill>
                  <a:srgbClr val="C00000"/>
                </a:solidFill>
              </a:rPr>
              <a:t>miracidium</a:t>
            </a:r>
            <a:r>
              <a:rPr lang="en-GB" dirty="0"/>
              <a:t> </a:t>
            </a:r>
            <a:r>
              <a:rPr lang="en-GB" u="sng" dirty="0"/>
              <a:t>when passed in </a:t>
            </a:r>
            <a:r>
              <a:rPr lang="en-GB" u="sng" dirty="0">
                <a:solidFill>
                  <a:srgbClr val="00B0F0"/>
                </a:solidFill>
              </a:rPr>
              <a:t>faeces</a:t>
            </a:r>
            <a:r>
              <a:rPr lang="en-GB" dirty="0">
                <a:solidFill>
                  <a:srgbClr val="00B0F0"/>
                </a:solidFill>
              </a:rPr>
              <a:t>.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In water</a:t>
            </a:r>
            <a:r>
              <a:rPr lang="en-GB" dirty="0"/>
              <a:t>, </a:t>
            </a:r>
            <a:r>
              <a:rPr lang="en-GB" u="sng" dirty="0"/>
              <a:t>the eggs are ingested by </a:t>
            </a:r>
            <a:r>
              <a:rPr lang="en-GB" b="1" dirty="0">
                <a:solidFill>
                  <a:srgbClr val="00B050"/>
                </a:solidFill>
              </a:rPr>
              <a:t>snails</a:t>
            </a:r>
            <a:r>
              <a:rPr lang="en-GB" dirty="0"/>
              <a:t> of the genera </a:t>
            </a:r>
            <a:r>
              <a:rPr lang="en-GB" i="1" dirty="0">
                <a:solidFill>
                  <a:srgbClr val="7030A0"/>
                </a:solidFill>
              </a:rPr>
              <a:t>Pirenella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or </a:t>
            </a:r>
            <a:r>
              <a:rPr lang="en-GB" i="1" dirty="0" smtClean="0">
                <a:solidFill>
                  <a:srgbClr val="7030A0"/>
                </a:solidFill>
              </a:rPr>
              <a:t>Cerithidia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625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u="sng" dirty="0" smtClean="0"/>
              <a:t>Life Cycle of </a:t>
            </a:r>
            <a:r>
              <a:rPr lang="en-GB" b="1" i="1" dirty="0" smtClean="0">
                <a:solidFill>
                  <a:srgbClr val="00B050"/>
                </a:solidFill>
              </a:rPr>
              <a:t>Heterophyes </a:t>
            </a:r>
            <a:r>
              <a:rPr lang="en-GB" b="1" i="1" dirty="0" err="1" smtClean="0">
                <a:solidFill>
                  <a:srgbClr val="00B050"/>
                </a:solidFill>
              </a:rPr>
              <a:t>heterophyes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C00000"/>
                </a:solidFill>
              </a:rPr>
              <a:t>Miracidia </a:t>
            </a:r>
            <a:r>
              <a:rPr lang="en-GB" u="sng" dirty="0" smtClean="0"/>
              <a:t>hatch in the </a:t>
            </a:r>
            <a:r>
              <a:rPr lang="en-GB" u="sng" dirty="0" smtClean="0">
                <a:solidFill>
                  <a:srgbClr val="00B050"/>
                </a:solidFill>
              </a:rPr>
              <a:t>snail</a:t>
            </a:r>
            <a:r>
              <a:rPr lang="en-GB" u="sng" dirty="0" smtClean="0"/>
              <a:t> from the egg and develop into </a:t>
            </a:r>
            <a:r>
              <a:rPr lang="en-GB" dirty="0" smtClean="0">
                <a:solidFill>
                  <a:srgbClr val="C00000"/>
                </a:solidFill>
              </a:rPr>
              <a:t>sporocysts</a:t>
            </a:r>
            <a:r>
              <a:rPr lang="en-GB" dirty="0" smtClean="0"/>
              <a:t>  </a:t>
            </a:r>
            <a:r>
              <a:rPr lang="en-GB" u="sng" dirty="0" smtClean="0"/>
              <a:t>which produce </a:t>
            </a:r>
            <a:r>
              <a:rPr lang="en-GB" u="sng" dirty="0" smtClean="0">
                <a:solidFill>
                  <a:srgbClr val="C00000"/>
                </a:solidFill>
              </a:rPr>
              <a:t>rediae</a:t>
            </a:r>
            <a:r>
              <a:rPr lang="en-GB" u="sng" dirty="0" smtClean="0"/>
              <a:t> and finally</a:t>
            </a:r>
            <a:r>
              <a:rPr lang="en-GB" dirty="0" smtClean="0"/>
              <a:t> </a:t>
            </a:r>
            <a:r>
              <a:rPr lang="en-GB" dirty="0" smtClean="0">
                <a:solidFill>
                  <a:srgbClr val="C00000"/>
                </a:solidFill>
              </a:rPr>
              <a:t>cercariae</a:t>
            </a:r>
            <a:r>
              <a:rPr lang="en-US" dirty="0"/>
              <a:t>.</a:t>
            </a:r>
            <a:endParaRPr lang="en-GB" dirty="0" smtClean="0"/>
          </a:p>
          <a:p>
            <a:pPr lvl="0">
              <a:buFont typeface="Wingdings" pitchFamily="2" charset="2"/>
              <a:buChar char="v"/>
            </a:pPr>
            <a:r>
              <a:rPr lang="en-GB" dirty="0" smtClean="0">
                <a:solidFill>
                  <a:srgbClr val="C00000"/>
                </a:solidFill>
              </a:rPr>
              <a:t>Cercariae</a:t>
            </a:r>
            <a:r>
              <a:rPr lang="en-GB" dirty="0" smtClean="0"/>
              <a:t> </a:t>
            </a:r>
            <a:r>
              <a:rPr lang="en-GB" u="sng" dirty="0"/>
              <a:t>leave the </a:t>
            </a:r>
            <a:r>
              <a:rPr lang="en-GB" u="sng" dirty="0">
                <a:solidFill>
                  <a:srgbClr val="00B050"/>
                </a:solidFill>
              </a:rPr>
              <a:t>snail</a:t>
            </a:r>
            <a:r>
              <a:rPr lang="en-GB" u="sng" dirty="0"/>
              <a:t> and </a:t>
            </a:r>
            <a:r>
              <a:rPr lang="en-GB" b="1" u="sng" dirty="0"/>
              <a:t>encyst</a:t>
            </a:r>
            <a:r>
              <a:rPr lang="en-GB" u="sng" dirty="0"/>
              <a:t> on </a:t>
            </a:r>
            <a:r>
              <a:rPr lang="en-GB" u="sng" dirty="0">
                <a:solidFill>
                  <a:srgbClr val="00B050"/>
                </a:solidFill>
              </a:rPr>
              <a:t>fish</a:t>
            </a:r>
            <a:r>
              <a:rPr lang="en-GB" u="sng" dirty="0"/>
              <a:t> such as mullet or minnow, as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endParaRPr lang="en-US" dirty="0">
              <a:solidFill>
                <a:srgbClr val="C0000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/>
              <a:t>The </a:t>
            </a:r>
            <a:r>
              <a:rPr lang="en-GB" b="1" dirty="0"/>
              <a:t>encysted</a:t>
            </a: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are </a:t>
            </a:r>
            <a:r>
              <a:rPr lang="en-GB" dirty="0">
                <a:solidFill>
                  <a:srgbClr val="FF0000"/>
                </a:solidFill>
              </a:rPr>
              <a:t>infective</a:t>
            </a:r>
            <a:r>
              <a:rPr lang="en-GB" dirty="0"/>
              <a:t> to </a:t>
            </a:r>
            <a:r>
              <a:rPr lang="en-GB" dirty="0">
                <a:solidFill>
                  <a:srgbClr val="00B050"/>
                </a:solidFill>
              </a:rPr>
              <a:t>fish eating animals </a:t>
            </a:r>
            <a:r>
              <a:rPr lang="en-GB" dirty="0"/>
              <a:t>and to </a:t>
            </a:r>
            <a:r>
              <a:rPr lang="en-GB" dirty="0">
                <a:solidFill>
                  <a:srgbClr val="00B050"/>
                </a:solidFill>
              </a:rPr>
              <a:t>humans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637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Heterophyes </a:t>
            </a:r>
            <a:r>
              <a:rPr lang="en-GB" b="1" i="1" dirty="0" err="1" smtClean="0">
                <a:solidFill>
                  <a:srgbClr val="00B050"/>
                </a:solidFill>
              </a:rPr>
              <a:t>heterophyes</a:t>
            </a:r>
            <a:r>
              <a:rPr lang="en-GB" b="1" i="1" dirty="0" smtClean="0">
                <a:solidFill>
                  <a:srgbClr val="00B050"/>
                </a:solidFill>
              </a:rPr>
              <a:t> </a:t>
            </a:r>
            <a:r>
              <a:rPr lang="en-GB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u="sng" dirty="0"/>
              <a:t>Symptoms and Pathology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There are </a:t>
            </a:r>
            <a:r>
              <a:rPr lang="en-GB" dirty="0">
                <a:solidFill>
                  <a:srgbClr val="FF0000"/>
                </a:solidFill>
              </a:rPr>
              <a:t>few serious symptoms </a:t>
            </a:r>
            <a:r>
              <a:rPr lang="en-GB" dirty="0"/>
              <a:t>apart from </a:t>
            </a:r>
            <a:r>
              <a:rPr lang="en-GB" dirty="0">
                <a:solidFill>
                  <a:srgbClr val="00B0F0"/>
                </a:solidFill>
              </a:rPr>
              <a:t>intestinal inflammation </a:t>
            </a:r>
            <a:r>
              <a:rPr lang="en-GB" dirty="0"/>
              <a:t>and </a:t>
            </a:r>
            <a:r>
              <a:rPr lang="en-GB" dirty="0">
                <a:solidFill>
                  <a:srgbClr val="00B0F0"/>
                </a:solidFill>
              </a:rPr>
              <a:t>necrosis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b="1" dirty="0"/>
              <a:t>Rarely, </a:t>
            </a:r>
            <a:r>
              <a:rPr lang="en-GB" dirty="0">
                <a:solidFill>
                  <a:srgbClr val="FF0000"/>
                </a:solidFill>
              </a:rPr>
              <a:t>eggs may reach the heart and CNS to produce serious symptoms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087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Heterophyes </a:t>
            </a:r>
            <a:r>
              <a:rPr lang="en-GB" b="1" i="1" dirty="0" err="1" smtClean="0">
                <a:solidFill>
                  <a:srgbClr val="00B050"/>
                </a:solidFill>
              </a:rPr>
              <a:t>heterophyes</a:t>
            </a:r>
            <a:r>
              <a:rPr lang="en-GB" b="1" i="1" dirty="0" smtClean="0"/>
              <a:t> 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u="sng" dirty="0"/>
              <a:t>Prevention and Control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By not eating insufficiently cooked or pickled fish </a:t>
            </a:r>
            <a:r>
              <a:rPr lang="en-GB" u="sng" dirty="0"/>
              <a:t>which may contain the </a:t>
            </a:r>
            <a:r>
              <a:rPr lang="en-GB" u="sng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r>
              <a:rPr lang="en-GB" b="1" u="sng" dirty="0" smtClean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Examination of the faeces for small eggs of the parasite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dirty="0"/>
              <a:t>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6819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Metagonimus yokogawai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v"/>
            </a:pPr>
            <a:r>
              <a:rPr lang="en-GB" dirty="0" smtClean="0"/>
              <a:t>The </a:t>
            </a:r>
            <a:r>
              <a:rPr lang="en-GB" b="1" dirty="0">
                <a:solidFill>
                  <a:srgbClr val="FF33CC"/>
                </a:solidFill>
              </a:rPr>
              <a:t>smallest fluke </a:t>
            </a:r>
            <a:r>
              <a:rPr lang="en-GB" dirty="0"/>
              <a:t>infecting </a:t>
            </a:r>
            <a:r>
              <a:rPr lang="en-GB" dirty="0">
                <a:solidFill>
                  <a:srgbClr val="00B050"/>
                </a:solidFill>
              </a:rPr>
              <a:t>humans</a:t>
            </a:r>
            <a:endParaRPr lang="en-US" dirty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/>
              <a:t>It lives in the </a:t>
            </a:r>
            <a:r>
              <a:rPr lang="en-GB" dirty="0">
                <a:solidFill>
                  <a:srgbClr val="00B0F0"/>
                </a:solidFill>
              </a:rPr>
              <a:t>small intestine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dirty="0"/>
              <a:t>Has </a:t>
            </a:r>
            <a:r>
              <a:rPr lang="en-GB" dirty="0">
                <a:solidFill>
                  <a:srgbClr val="00B0F0"/>
                </a:solidFill>
              </a:rPr>
              <a:t>reservoir hosts</a:t>
            </a:r>
            <a:r>
              <a:rPr lang="en-GB" dirty="0"/>
              <a:t>: </a:t>
            </a:r>
            <a:r>
              <a:rPr lang="en-GB" dirty="0">
                <a:solidFill>
                  <a:srgbClr val="00B050"/>
                </a:solidFill>
              </a:rPr>
              <a:t>dogs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cats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pigs</a:t>
            </a:r>
            <a:r>
              <a:rPr lang="en-GB" dirty="0"/>
              <a:t> and </a:t>
            </a:r>
            <a:r>
              <a:rPr lang="en-GB" dirty="0" smtClean="0">
                <a:solidFill>
                  <a:srgbClr val="00B050"/>
                </a:solidFill>
              </a:rPr>
              <a:t>pelicans</a:t>
            </a:r>
            <a:r>
              <a:rPr lang="en-GB" dirty="0" smtClean="0"/>
              <a:t>.</a:t>
            </a:r>
            <a:endParaRPr lang="en-US" dirty="0" smtClean="0"/>
          </a:p>
          <a:p>
            <a:pPr lvl="0">
              <a:buFont typeface="Wingdings" pitchFamily="2" charset="2"/>
              <a:buChar char="v"/>
            </a:pPr>
            <a:endParaRPr lang="en-US" b="1" dirty="0"/>
          </a:p>
          <a:p>
            <a:pPr marL="0" lvl="0" indent="0" algn="ctr">
              <a:buNone/>
            </a:pPr>
            <a:r>
              <a:rPr lang="en-GB" b="1" u="sng" dirty="0" smtClean="0"/>
              <a:t>Distribution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u="sng" dirty="0"/>
              <a:t>Far East </a:t>
            </a:r>
            <a:r>
              <a:rPr lang="en-GB" dirty="0"/>
              <a:t>and the </a:t>
            </a:r>
            <a:r>
              <a:rPr lang="en-GB" u="sng" dirty="0"/>
              <a:t>Mediterranean  region</a:t>
            </a:r>
            <a:endParaRPr lang="en-US" u="sng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9344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Metagonimus yokogawai </a:t>
            </a:r>
            <a:r>
              <a:rPr lang="en-GB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u="sng" dirty="0"/>
              <a:t>Transmission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Similar to that of </a:t>
            </a:r>
            <a:r>
              <a:rPr lang="en-GB" i="1" dirty="0">
                <a:solidFill>
                  <a:srgbClr val="00B050"/>
                </a:solidFill>
              </a:rPr>
              <a:t>H. heterophyes</a:t>
            </a:r>
            <a:r>
              <a:rPr lang="en-GB" dirty="0"/>
              <a:t>. </a:t>
            </a:r>
            <a:r>
              <a:rPr lang="en-GB" dirty="0">
                <a:solidFill>
                  <a:srgbClr val="00B050"/>
                </a:solidFill>
              </a:rPr>
              <a:t>Snail hosts </a:t>
            </a:r>
            <a:r>
              <a:rPr lang="en-GB" dirty="0"/>
              <a:t>belong to the genera </a:t>
            </a:r>
            <a:r>
              <a:rPr lang="en-GB" i="1" dirty="0">
                <a:solidFill>
                  <a:srgbClr val="7030A0"/>
                </a:solidFill>
              </a:rPr>
              <a:t>Seniisulcospira</a:t>
            </a:r>
            <a:r>
              <a:rPr lang="en-GB" dirty="0">
                <a:solidFill>
                  <a:srgbClr val="7030A0"/>
                </a:solidFill>
              </a:rPr>
              <a:t> </a:t>
            </a:r>
            <a:r>
              <a:rPr lang="en-GB" dirty="0"/>
              <a:t>and </a:t>
            </a:r>
            <a:r>
              <a:rPr lang="en-GB" i="1" dirty="0">
                <a:solidFill>
                  <a:srgbClr val="7030A0"/>
                </a:solidFill>
              </a:rPr>
              <a:t>Thiara</a:t>
            </a:r>
            <a:r>
              <a:rPr lang="en-GB" dirty="0"/>
              <a:t>. The </a:t>
            </a:r>
            <a:r>
              <a:rPr lang="en-GB" dirty="0">
                <a:solidFill>
                  <a:srgbClr val="00B0F0"/>
                </a:solidFill>
              </a:rPr>
              <a:t>second intermediate hosts </a:t>
            </a:r>
            <a:r>
              <a:rPr lang="en-GB" dirty="0"/>
              <a:t>are </a:t>
            </a:r>
            <a:r>
              <a:rPr lang="en-GB" dirty="0">
                <a:solidFill>
                  <a:srgbClr val="00B050"/>
                </a:solidFill>
              </a:rPr>
              <a:t>Cyprinid fish </a:t>
            </a:r>
            <a:r>
              <a:rPr lang="en-GB" dirty="0"/>
              <a:t>and </a:t>
            </a:r>
            <a:r>
              <a:rPr lang="en-GB" dirty="0">
                <a:solidFill>
                  <a:srgbClr val="00B050"/>
                </a:solidFill>
              </a:rPr>
              <a:t>Sweetfish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r>
              <a:rPr lang="en-GB" b="1" u="sng" dirty="0"/>
              <a:t>Symptoms and Pathology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Most infections are </a:t>
            </a:r>
            <a:r>
              <a:rPr lang="en-GB" dirty="0">
                <a:solidFill>
                  <a:srgbClr val="00B0F0"/>
                </a:solidFill>
              </a:rPr>
              <a:t>asymptomatic </a:t>
            </a:r>
            <a:endParaRPr lang="en-US" dirty="0">
              <a:solidFill>
                <a:srgbClr val="00B0F0"/>
              </a:solidFill>
            </a:endParaRPr>
          </a:p>
          <a:p>
            <a:pPr lvl="0">
              <a:buFont typeface="Wingdings" pitchFamily="2" charset="2"/>
              <a:buChar char="v"/>
            </a:pPr>
            <a:r>
              <a:rPr lang="en-GB" b="1" dirty="0"/>
              <a:t>Heavy infections </a:t>
            </a:r>
            <a:r>
              <a:rPr lang="en-GB" dirty="0"/>
              <a:t>may cause </a:t>
            </a:r>
            <a:r>
              <a:rPr lang="en-GB" dirty="0">
                <a:solidFill>
                  <a:srgbClr val="00B0F0"/>
                </a:solidFill>
              </a:rPr>
              <a:t>inflammation of the intestinal wall </a:t>
            </a:r>
            <a:r>
              <a:rPr lang="en-GB" dirty="0"/>
              <a:t>with </a:t>
            </a:r>
            <a:r>
              <a:rPr lang="en-GB" dirty="0">
                <a:solidFill>
                  <a:srgbClr val="00B0F0"/>
                </a:solidFill>
              </a:rPr>
              <a:t>abdominal pain </a:t>
            </a:r>
            <a:r>
              <a:rPr lang="en-GB" dirty="0"/>
              <a:t>and </a:t>
            </a:r>
            <a:r>
              <a:rPr lang="en-GB" dirty="0">
                <a:solidFill>
                  <a:srgbClr val="00B0F0"/>
                </a:solidFill>
              </a:rPr>
              <a:t>watery diarrhoea</a:t>
            </a:r>
            <a:endParaRPr lang="en-US" dirty="0">
              <a:solidFill>
                <a:srgbClr val="00B0F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8732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Metagonimus yokogawai </a:t>
            </a:r>
            <a:r>
              <a:rPr lang="en-GB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u="sng" dirty="0"/>
              <a:t>Prevention and Control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50"/>
                </a:solidFill>
              </a:rPr>
              <a:t>Not eating insufficiently cooked or pickled fish </a:t>
            </a:r>
            <a:r>
              <a:rPr lang="en-GB" u="sng" dirty="0"/>
              <a:t>which may contain the </a:t>
            </a:r>
            <a:r>
              <a:rPr lang="en-GB" u="sng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r>
              <a:rPr lang="en-GB" b="1" u="sng" dirty="0" smtClean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Examination of the faeces for small eggs of the parasite.</a:t>
            </a:r>
            <a:r>
              <a:rPr lang="en-GB" dirty="0"/>
              <a:t/>
            </a:r>
            <a:br>
              <a:rPr lang="en-GB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1709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Dicroceoelium dendriticum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lvl="0">
              <a:buFont typeface="Wingdings" pitchFamily="2" charset="2"/>
              <a:buChar char="v"/>
            </a:pPr>
            <a:r>
              <a:rPr lang="en-GB" dirty="0" smtClean="0"/>
              <a:t>A </a:t>
            </a:r>
            <a:r>
              <a:rPr lang="en-GB" dirty="0"/>
              <a:t>small fluke usually parasitic in the </a:t>
            </a:r>
            <a:r>
              <a:rPr lang="en-GB" dirty="0">
                <a:solidFill>
                  <a:srgbClr val="00B0F0"/>
                </a:solidFill>
              </a:rPr>
              <a:t>biliary tract </a:t>
            </a:r>
            <a:r>
              <a:rPr lang="en-GB" dirty="0"/>
              <a:t>of </a:t>
            </a:r>
            <a:r>
              <a:rPr lang="en-GB" dirty="0">
                <a:solidFill>
                  <a:srgbClr val="00B050"/>
                </a:solidFill>
              </a:rPr>
              <a:t>sheep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cattle</a:t>
            </a:r>
            <a:r>
              <a:rPr lang="en-GB" dirty="0"/>
              <a:t>. </a:t>
            </a:r>
            <a:r>
              <a:rPr lang="en-GB" b="1" dirty="0">
                <a:solidFill>
                  <a:srgbClr val="00B050"/>
                </a:solidFill>
              </a:rPr>
              <a:t>Human</a:t>
            </a:r>
            <a:r>
              <a:rPr lang="en-GB" dirty="0"/>
              <a:t> </a:t>
            </a:r>
            <a:r>
              <a:rPr lang="en-GB" b="1" dirty="0"/>
              <a:t>infection is rare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r>
              <a:rPr lang="en-GB" b="1" u="sng" dirty="0"/>
              <a:t>Distribution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u="sng" dirty="0"/>
              <a:t>China</a:t>
            </a:r>
            <a:r>
              <a:rPr lang="en-GB" dirty="0"/>
              <a:t>, </a:t>
            </a:r>
            <a:r>
              <a:rPr lang="en-GB" u="sng" dirty="0"/>
              <a:t>Africa</a:t>
            </a:r>
            <a:r>
              <a:rPr lang="en-GB" dirty="0"/>
              <a:t>, </a:t>
            </a:r>
            <a:r>
              <a:rPr lang="en-GB" u="sng" dirty="0"/>
              <a:t>S. America </a:t>
            </a:r>
            <a:r>
              <a:rPr lang="en-GB" dirty="0"/>
              <a:t>and </a:t>
            </a:r>
            <a:r>
              <a:rPr lang="en-GB" u="sng" dirty="0"/>
              <a:t>Europe</a:t>
            </a:r>
            <a:r>
              <a:rPr lang="en-GB" dirty="0"/>
              <a:t>.</a:t>
            </a:r>
            <a:endParaRPr lang="en-US" dirty="0"/>
          </a:p>
          <a:p>
            <a:pPr marL="0" indent="0" algn="ctr">
              <a:buNone/>
            </a:pPr>
            <a:r>
              <a:rPr lang="en-GB" b="1" u="sng" dirty="0"/>
              <a:t>Transmission and Life Cycle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Spurious infection (</a:t>
            </a:r>
            <a:r>
              <a:rPr lang="en-GB" dirty="0">
                <a:solidFill>
                  <a:srgbClr val="00B0F0"/>
                </a:solidFill>
              </a:rPr>
              <a:t>resulting from ingestion of infected beef or sheep (</a:t>
            </a:r>
            <a:r>
              <a:rPr lang="en-GB" dirty="0" smtClean="0">
                <a:solidFill>
                  <a:srgbClr val="00B0F0"/>
                </a:solidFill>
              </a:rPr>
              <a:t>liver</a:t>
            </a:r>
            <a:r>
              <a:rPr lang="en-GB" dirty="0" smtClean="0"/>
              <a:t>)), </a:t>
            </a:r>
            <a:r>
              <a:rPr lang="en-GB" dirty="0"/>
              <a:t>occasionally.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/>
              <a:t>Human infection is by accidentally </a:t>
            </a:r>
            <a:r>
              <a:rPr lang="en-GB" dirty="0">
                <a:solidFill>
                  <a:srgbClr val="00B0F0"/>
                </a:solidFill>
              </a:rPr>
              <a:t>swallowing ants which may contain </a:t>
            </a: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.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C00000"/>
                </a:solidFill>
              </a:rPr>
              <a:t>Metacercariae</a:t>
            </a:r>
            <a:r>
              <a:rPr lang="en-GB" dirty="0"/>
              <a:t> </a:t>
            </a:r>
            <a:r>
              <a:rPr lang="en-GB" u="sng" dirty="0"/>
              <a:t>develop into mature egg-producing flukes in the </a:t>
            </a:r>
            <a:r>
              <a:rPr lang="en-GB" dirty="0">
                <a:solidFill>
                  <a:srgbClr val="00B0F0"/>
                </a:solidFill>
              </a:rPr>
              <a:t>bile ducts </a:t>
            </a:r>
            <a:r>
              <a:rPr lang="en-GB" dirty="0"/>
              <a:t>and </a:t>
            </a:r>
            <a:r>
              <a:rPr lang="en-GB" dirty="0">
                <a:solidFill>
                  <a:srgbClr val="00B0F0"/>
                </a:solidFill>
              </a:rPr>
              <a:t>liver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6426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i="1" dirty="0" smtClean="0"/>
              <a:t/>
            </a:r>
            <a:br>
              <a:rPr lang="en-GB" b="1" i="1" dirty="0" smtClean="0"/>
            </a:br>
            <a:r>
              <a:rPr lang="en-GB" b="1" i="1" dirty="0" smtClean="0">
                <a:solidFill>
                  <a:srgbClr val="00B050"/>
                </a:solidFill>
              </a:rPr>
              <a:t>Dicroceoelium dendriticum </a:t>
            </a:r>
            <a:r>
              <a:rPr lang="en-GB" b="1" i="1" dirty="0" smtClean="0"/>
              <a:t>cont’d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u="sng" dirty="0"/>
              <a:t>Symptoms and Pathology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Symptoms are rarely serious</a:t>
            </a:r>
            <a:endParaRPr lang="en-US" dirty="0">
              <a:solidFill>
                <a:srgbClr val="00B0F0"/>
              </a:solidFill>
            </a:endParaRPr>
          </a:p>
          <a:p>
            <a:pPr marL="0" indent="0" algn="ctr">
              <a:buNone/>
            </a:pPr>
            <a:endParaRPr lang="en-GB" b="1" dirty="0" smtClean="0"/>
          </a:p>
          <a:p>
            <a:pPr marL="0" indent="0" algn="ctr">
              <a:buNone/>
            </a:pPr>
            <a:r>
              <a:rPr lang="en-GB" b="1" u="sng" dirty="0" smtClean="0"/>
              <a:t>Diagnosis</a:t>
            </a:r>
            <a:endParaRPr lang="en-US" u="sng" dirty="0"/>
          </a:p>
          <a:p>
            <a:pPr lvl="0">
              <a:buFont typeface="Wingdings" pitchFamily="2" charset="2"/>
              <a:buChar char="v"/>
            </a:pPr>
            <a:r>
              <a:rPr lang="en-GB" dirty="0">
                <a:solidFill>
                  <a:srgbClr val="00B0F0"/>
                </a:solidFill>
              </a:rPr>
              <a:t>Examination of the faeces for eggs </a:t>
            </a:r>
            <a:r>
              <a:rPr lang="en-GB" dirty="0"/>
              <a:t>and of </a:t>
            </a:r>
            <a:r>
              <a:rPr lang="en-GB" dirty="0">
                <a:solidFill>
                  <a:srgbClr val="00B0F0"/>
                </a:solidFill>
              </a:rPr>
              <a:t>aspirates of duodenal fluid for the eggs</a:t>
            </a:r>
            <a:r>
              <a:rPr lang="en-GB" dirty="0"/>
              <a:t>.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113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2493</Words>
  <Application>Microsoft Office PowerPoint</Application>
  <PresentationFormat>On-screen Show (4:3)</PresentationFormat>
  <Paragraphs>274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Times New Roman</vt:lpstr>
      <vt:lpstr>Wingdings</vt:lpstr>
      <vt:lpstr>Office Theme</vt:lpstr>
      <vt:lpstr>PARASITOLOGY (BIOL 460)</vt:lpstr>
      <vt:lpstr> TREMATODES (FLUKES) </vt:lpstr>
      <vt:lpstr>TREMATODES (FLUKES) CONT’D</vt:lpstr>
      <vt:lpstr>TREMATODES (FLUKES) CONT’D</vt:lpstr>
      <vt:lpstr>TREMATODES (FLUKES) CONT’D</vt:lpstr>
      <vt:lpstr>TREMATODES (FLUKES) CONT’D</vt:lpstr>
      <vt:lpstr>TREMATODES (FLUKES) CONT’D</vt:lpstr>
      <vt:lpstr>Examples by adult worm site of residence in the definitive host (human) body  and Transmission Mode </vt:lpstr>
      <vt:lpstr>PowerPoint Presentation</vt:lpstr>
      <vt:lpstr>TREMATODES (FLUKES) CONT’D</vt:lpstr>
      <vt:lpstr>TREMATODES (FLUKES) CONT’D</vt:lpstr>
      <vt:lpstr>TREMATODES (FLUKES) CONT’D</vt:lpstr>
      <vt:lpstr>TREMATODES (FLUKES) CONT’D</vt:lpstr>
      <vt:lpstr>TREMATODES (FLUKES) CONT’D</vt:lpstr>
      <vt:lpstr> 1.Opisthorchis sinensis (or Chlornorchis sinensis) </vt:lpstr>
      <vt:lpstr>PowerPoint Presentation</vt:lpstr>
      <vt:lpstr>1.Opisthorchis sinensis (or Chlornorchis sinensis)</vt:lpstr>
      <vt:lpstr>PowerPoint Presentation</vt:lpstr>
      <vt:lpstr> Life cycle of Opisthorchis sinensis  </vt:lpstr>
      <vt:lpstr> Life cycle of Opisthorchis sinensis  cont’d </vt:lpstr>
      <vt:lpstr> Life cycle of Opisthorchis sinensis  cont’d </vt:lpstr>
      <vt:lpstr> Symptoms and Pathology of Opisthorchis sinensis </vt:lpstr>
      <vt:lpstr> Symptoms and Pathology of Opisthorchis sinensis cont’d </vt:lpstr>
      <vt:lpstr> Prevention and control of Opisthorchis sinensis  </vt:lpstr>
      <vt:lpstr>1.Opisthorchis sinensis cont’d</vt:lpstr>
      <vt:lpstr>TREMATODES (FLUKES) CONT’D</vt:lpstr>
      <vt:lpstr>TREMATODES (FLUKES) CONT’D</vt:lpstr>
      <vt:lpstr> Fasciolopsis buski </vt:lpstr>
      <vt:lpstr>PowerPoint Presentation</vt:lpstr>
      <vt:lpstr>Fasciolopsis buski cont’d</vt:lpstr>
      <vt:lpstr> Life cycle of Fasciolopsis buski </vt:lpstr>
      <vt:lpstr> Life cycle of Fasciolopsis buski cont’d </vt:lpstr>
      <vt:lpstr> Life cycle of Fasciolopsis buski cont’d </vt:lpstr>
      <vt:lpstr> Symptoms and Pathology of Fasciolopsis buski  </vt:lpstr>
      <vt:lpstr> Symptoms and Pathology of Fasciolopsis buski  cont’d </vt:lpstr>
      <vt:lpstr> Prevention and Control of Fasciolopsis buski   </vt:lpstr>
      <vt:lpstr> Prevention and Control of Fasciolopsis buski  cont’d </vt:lpstr>
      <vt:lpstr> Fasciolopsis buski  cont’d</vt:lpstr>
      <vt:lpstr> Fasciola hepatica and F. gigantica </vt:lpstr>
      <vt:lpstr> Fasciola hepatica and F. gigantica </vt:lpstr>
      <vt:lpstr> Fasciola hepatica and F. gigantica </vt:lpstr>
      <vt:lpstr>  Life cycle cont’d </vt:lpstr>
      <vt:lpstr>  Life cycle cont’d </vt:lpstr>
      <vt:lpstr> Symptoms and Pathology </vt:lpstr>
      <vt:lpstr>Symptoms and Pathology cont’d</vt:lpstr>
      <vt:lpstr> Prevention and Control </vt:lpstr>
      <vt:lpstr>Fasciola hepatica and F. gigantica cont’t</vt:lpstr>
      <vt:lpstr> Heterophyes heterophyes </vt:lpstr>
      <vt:lpstr> Life Cycle of Heterophyes heterophyes </vt:lpstr>
      <vt:lpstr> Life Cycle of Heterophyes heterophyes </vt:lpstr>
      <vt:lpstr> Heterophyes heterophyes cont’d </vt:lpstr>
      <vt:lpstr> Heterophyes heterophyes cont’d </vt:lpstr>
      <vt:lpstr> Metagonimus yokogawai </vt:lpstr>
      <vt:lpstr> Metagonimus yokogawai cont’d </vt:lpstr>
      <vt:lpstr> Metagonimus yokogawai cont’d </vt:lpstr>
      <vt:lpstr> Dicroceoelium dendriticum </vt:lpstr>
      <vt:lpstr> Dicroceoelium dendriticum cont’d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PARASITOLOGY (BIOL 460)</dc:title>
  <dc:creator>PROFESSOR LAWSON</dc:creator>
  <cp:lastModifiedBy>E6410</cp:lastModifiedBy>
  <cp:revision>31</cp:revision>
  <dcterms:created xsi:type="dcterms:W3CDTF">2018-02-22T10:27:01Z</dcterms:created>
  <dcterms:modified xsi:type="dcterms:W3CDTF">2020-02-27T16:47:11Z</dcterms:modified>
</cp:coreProperties>
</file>