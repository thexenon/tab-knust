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1" r:id="rId22"/>
    <p:sldId id="276" r:id="rId23"/>
    <p:sldId id="277" r:id="rId24"/>
    <p:sldId id="278" r:id="rId25"/>
    <p:sldId id="280" r:id="rId26"/>
    <p:sldId id="281" r:id="rId27"/>
    <p:sldId id="282" r:id="rId28"/>
    <p:sldId id="279" r:id="rId29"/>
    <p:sldId id="283" r:id="rId30"/>
    <p:sldId id="284" r:id="rId31"/>
    <p:sldId id="285" r:id="rId32"/>
    <p:sldId id="286" r:id="rId33"/>
    <p:sldId id="288" r:id="rId34"/>
    <p:sldId id="289" r:id="rId35"/>
    <p:sldId id="287" r:id="rId36"/>
    <p:sldId id="290" r:id="rId37"/>
    <p:sldId id="291" r:id="rId38"/>
    <p:sldId id="292" r:id="rId39"/>
    <p:sldId id="294" r:id="rId40"/>
    <p:sldId id="295" r:id="rId41"/>
    <p:sldId id="296" r:id="rId42"/>
    <p:sldId id="297" r:id="rId43"/>
    <p:sldId id="298" r:id="rId44"/>
    <p:sldId id="299" r:id="rId45"/>
    <p:sldId id="293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8" r:id="rId54"/>
    <p:sldId id="309" r:id="rId55"/>
    <p:sldId id="310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4" autoAdjust="0"/>
    <p:restoredTop sz="94660"/>
  </p:normalViewPr>
  <p:slideViewPr>
    <p:cSldViewPr>
      <p:cViewPr varScale="1">
        <p:scale>
          <a:sx n="88" d="100"/>
          <a:sy n="88" d="100"/>
        </p:scale>
        <p:origin x="106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9D18-B99C-4B45-8588-F5E2B855988F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30E5-7CAD-4F15-9CAA-ED13900BB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9D18-B99C-4B45-8588-F5E2B855988F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30E5-7CAD-4F15-9CAA-ED13900BB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2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9D18-B99C-4B45-8588-F5E2B855988F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30E5-7CAD-4F15-9CAA-ED13900BB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95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9D18-B99C-4B45-8588-F5E2B855988F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30E5-7CAD-4F15-9CAA-ED13900BB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32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9D18-B99C-4B45-8588-F5E2B855988F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30E5-7CAD-4F15-9CAA-ED13900BB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13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9D18-B99C-4B45-8588-F5E2B855988F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30E5-7CAD-4F15-9CAA-ED13900BB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2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9D18-B99C-4B45-8588-F5E2B855988F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30E5-7CAD-4F15-9CAA-ED13900BB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2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9D18-B99C-4B45-8588-F5E2B855988F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30E5-7CAD-4F15-9CAA-ED13900BB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18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9D18-B99C-4B45-8588-F5E2B855988F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30E5-7CAD-4F15-9CAA-ED13900BB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04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9D18-B99C-4B45-8588-F5E2B855988F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30E5-7CAD-4F15-9CAA-ED13900BB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86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9D18-B99C-4B45-8588-F5E2B855988F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30E5-7CAD-4F15-9CAA-ED13900BB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1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E9D18-B99C-4B45-8588-F5E2B855988F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330E5-7CAD-4F15-9CAA-ED13900BB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02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PARASITOLOGY (BIOL 460)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 7 A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INTESTINAL NEMATODES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32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8229600" cy="6019800"/>
          </a:xfrm>
        </p:spPr>
      </p:pic>
    </p:spTree>
    <p:extLst>
      <p:ext uri="{BB962C8B-B14F-4D97-AF65-F5344CB8AC3E}">
        <p14:creationId xmlns:p14="http://schemas.microsoft.com/office/powerpoint/2010/main" val="15597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INTESTINAL NEMATODES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>
                <a:solidFill>
                  <a:srgbClr val="0070C0"/>
                </a:solidFill>
              </a:rPr>
              <a:t>Ascaridoid </a:t>
            </a:r>
            <a:r>
              <a:rPr lang="en-US" dirty="0">
                <a:solidFill>
                  <a:srgbClr val="0070C0"/>
                </a:solidFill>
              </a:rPr>
              <a:t>nematodes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The </a:t>
            </a:r>
            <a:r>
              <a:rPr lang="en-US" b="1" dirty="0"/>
              <a:t>Order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Ascaridida</a:t>
            </a:r>
            <a:r>
              <a:rPr lang="en-US" dirty="0"/>
              <a:t> (</a:t>
            </a:r>
            <a:r>
              <a:rPr lang="en-US" b="1" dirty="0"/>
              <a:t>Subfamily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Ascaridoidea</a:t>
            </a:r>
            <a:r>
              <a:rPr lang="en-US" dirty="0"/>
              <a:t>) consist of </a:t>
            </a:r>
            <a:r>
              <a:rPr lang="en-US" u="sng" dirty="0"/>
              <a:t>relatively large nematodes</a:t>
            </a:r>
            <a:r>
              <a:rPr lang="en-US" dirty="0"/>
              <a:t> which are </a:t>
            </a:r>
            <a:r>
              <a:rPr lang="en-US" dirty="0">
                <a:solidFill>
                  <a:srgbClr val="C00000"/>
                </a:solidFill>
              </a:rPr>
              <a:t>obligatory intestinal parasites</a:t>
            </a:r>
            <a:r>
              <a:rPr lang="en-US" dirty="0"/>
              <a:t> of vertebrates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/>
              <a:t>Their eggs differ from those of the other nematodes in being </a:t>
            </a:r>
            <a:r>
              <a:rPr lang="en-US" dirty="0">
                <a:solidFill>
                  <a:srgbClr val="C00000"/>
                </a:solidFill>
              </a:rPr>
              <a:t>thick-shelled with an uneven surface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60517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INTESTINAL NEMATODES </a:t>
            </a:r>
            <a:r>
              <a:rPr lang="en-US" b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u="sng" dirty="0" smtClean="0"/>
              <a:t>The eggs rarely hatch externally</a:t>
            </a:r>
            <a:r>
              <a:rPr lang="en-US" dirty="0" smtClean="0"/>
              <a:t> </a:t>
            </a:r>
            <a:r>
              <a:rPr lang="en-US" b="1" dirty="0" smtClean="0"/>
              <a:t>but</a:t>
            </a:r>
            <a:r>
              <a:rPr lang="en-US" dirty="0" smtClean="0"/>
              <a:t> </a:t>
            </a:r>
            <a:r>
              <a:rPr lang="en-US" u="sng" dirty="0" smtClean="0"/>
              <a:t>require to </a:t>
            </a:r>
            <a:r>
              <a:rPr lang="en-US" u="sng" dirty="0" smtClean="0"/>
              <a:t>embryonate </a:t>
            </a:r>
            <a:r>
              <a:rPr lang="en-US" u="sng" dirty="0" smtClean="0"/>
              <a:t>in an aerobic environment before development to an infective stage can occur</a:t>
            </a:r>
            <a:r>
              <a:rPr lang="en-US" dirty="0" smtClean="0"/>
              <a:t>.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Hatching takes place on ingestion by another animal</a:t>
            </a:r>
            <a:r>
              <a:rPr lang="en-US" dirty="0" smtClean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Several species use intermediate hosts </a:t>
            </a:r>
            <a:r>
              <a:rPr lang="en-US" u="sng" dirty="0"/>
              <a:t>in which larvae become encysted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90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INTESTINAL NEMATODES </a:t>
            </a:r>
            <a:r>
              <a:rPr lang="en-US" b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Larvae of several ascarisoid spp. can survive in abnormal hosts, </a:t>
            </a: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e.g</a:t>
            </a:r>
            <a:r>
              <a:rPr lang="en-US" dirty="0"/>
              <a:t>. </a:t>
            </a:r>
            <a:r>
              <a:rPr lang="en-US" i="1" dirty="0">
                <a:solidFill>
                  <a:srgbClr val="7030A0"/>
                </a:solidFill>
              </a:rPr>
              <a:t>Toxocara catis </a:t>
            </a:r>
            <a:r>
              <a:rPr lang="en-US" dirty="0"/>
              <a:t>of </a:t>
            </a:r>
            <a:r>
              <a:rPr lang="en-US" dirty="0">
                <a:solidFill>
                  <a:srgbClr val="7030A0"/>
                </a:solidFill>
              </a:rPr>
              <a:t>cats</a:t>
            </a:r>
            <a:r>
              <a:rPr lang="en-US" dirty="0"/>
              <a:t> or </a:t>
            </a:r>
            <a:r>
              <a:rPr lang="en-US" i="1" dirty="0">
                <a:solidFill>
                  <a:srgbClr val="00B0F0"/>
                </a:solidFill>
              </a:rPr>
              <a:t>T. canis </a:t>
            </a:r>
            <a:r>
              <a:rPr lang="en-US" dirty="0"/>
              <a:t>of </a:t>
            </a:r>
            <a:r>
              <a:rPr lang="en-US" dirty="0">
                <a:solidFill>
                  <a:srgbClr val="00B0F0"/>
                </a:solidFill>
              </a:rPr>
              <a:t>dogs</a:t>
            </a:r>
            <a:r>
              <a:rPr lang="en-US" dirty="0"/>
              <a:t>, in humans wander through tissues as </a:t>
            </a:r>
            <a:r>
              <a:rPr lang="en-US" dirty="0">
                <a:solidFill>
                  <a:srgbClr val="C00000"/>
                </a:solidFill>
              </a:rPr>
              <a:t>larva migrans</a:t>
            </a:r>
            <a:r>
              <a:rPr lang="en-US" dirty="0"/>
              <a:t> which often cause serious pathology.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88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>
                <a:solidFill>
                  <a:srgbClr val="FFC000"/>
                </a:solidFill>
              </a:rPr>
              <a:t/>
            </a:r>
            <a:br>
              <a:rPr lang="en-US" b="1" i="1" dirty="0" smtClean="0">
                <a:solidFill>
                  <a:srgbClr val="FFC000"/>
                </a:solidFill>
              </a:rPr>
            </a:br>
            <a:r>
              <a:rPr lang="en-US" b="1" i="1" dirty="0" smtClean="0">
                <a:solidFill>
                  <a:srgbClr val="00B0F0"/>
                </a:solidFill>
              </a:rPr>
              <a:t>Ascaris lumbricoides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This </a:t>
            </a:r>
            <a:r>
              <a:rPr lang="en-US" dirty="0"/>
              <a:t>is known as the </a:t>
            </a:r>
            <a:r>
              <a:rPr lang="en-US" dirty="0">
                <a:solidFill>
                  <a:srgbClr val="00B0F0"/>
                </a:solidFill>
              </a:rPr>
              <a:t>large intestinal roundworm of humans</a:t>
            </a:r>
            <a:r>
              <a:rPr lang="en-US" dirty="0"/>
              <a:t>, and infects some </a:t>
            </a:r>
            <a:r>
              <a:rPr lang="en-US" dirty="0">
                <a:solidFill>
                  <a:srgbClr val="00B050"/>
                </a:solidFill>
              </a:rPr>
              <a:t>apes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pigs</a:t>
            </a:r>
            <a:r>
              <a:rPr lang="en-US" dirty="0"/>
              <a:t> throughout the world.</a:t>
            </a:r>
          </a:p>
          <a:p>
            <a:pPr marL="0" indent="0" algn="ctr">
              <a:buNone/>
            </a:pPr>
            <a:r>
              <a:rPr lang="en-US" b="1" u="sng" dirty="0"/>
              <a:t>Distribution</a:t>
            </a:r>
            <a:endParaRPr lang="en-US" u="sng" dirty="0"/>
          </a:p>
          <a:p>
            <a:pPr>
              <a:buFont typeface="Wingdings" pitchFamily="2" charset="2"/>
              <a:buChar char="v"/>
            </a:pPr>
            <a:r>
              <a:rPr lang="en-US" dirty="0"/>
              <a:t>Worldwide, the </a:t>
            </a:r>
            <a:r>
              <a:rPr lang="en-US" dirty="0">
                <a:solidFill>
                  <a:srgbClr val="7030A0"/>
                </a:solidFill>
              </a:rPr>
              <a:t>commonest and most widespread of all human parasites</a:t>
            </a:r>
            <a:r>
              <a:rPr lang="en-US" dirty="0"/>
              <a:t>, particularly found in areas of poor sanitation and where </a:t>
            </a:r>
            <a:r>
              <a:rPr lang="en-US" dirty="0">
                <a:solidFill>
                  <a:srgbClr val="7030A0"/>
                </a:solidFill>
              </a:rPr>
              <a:t>untreated human faeces are used as fertilizer (night soil).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11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F0"/>
                </a:solidFill>
              </a:rPr>
              <a:t>Ascaris lumbricoides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u="sng" dirty="0"/>
              <a:t>Transmission</a:t>
            </a:r>
            <a:endParaRPr lang="en-US" u="sng" dirty="0"/>
          </a:p>
          <a:p>
            <a:pPr lvl="0"/>
            <a:r>
              <a:rPr lang="en-US" dirty="0"/>
              <a:t>It is </a:t>
            </a:r>
            <a:r>
              <a:rPr lang="en-US" dirty="0">
                <a:solidFill>
                  <a:srgbClr val="00B0F0"/>
                </a:solidFill>
              </a:rPr>
              <a:t>spread by faecal pollution of the soil </a:t>
            </a:r>
            <a:r>
              <a:rPr lang="en-US" dirty="0"/>
              <a:t>and a person is infected by </a:t>
            </a:r>
            <a:r>
              <a:rPr lang="en-US" dirty="0">
                <a:solidFill>
                  <a:srgbClr val="00B0F0"/>
                </a:solidFill>
              </a:rPr>
              <a:t>ingesting infective eggs in contaminated food</a:t>
            </a:r>
            <a:r>
              <a:rPr lang="en-US" dirty="0"/>
              <a:t> or from </a:t>
            </a:r>
            <a:r>
              <a:rPr lang="en-US" dirty="0">
                <a:solidFill>
                  <a:srgbClr val="00B0F0"/>
                </a:solidFill>
              </a:rPr>
              <a:t>hands that are </a:t>
            </a:r>
            <a:r>
              <a:rPr lang="en-US" dirty="0" err="1">
                <a:solidFill>
                  <a:srgbClr val="00B0F0"/>
                </a:solidFill>
              </a:rPr>
              <a:t>faecally</a:t>
            </a:r>
            <a:r>
              <a:rPr lang="en-US" dirty="0">
                <a:solidFill>
                  <a:srgbClr val="00B0F0"/>
                </a:solidFill>
              </a:rPr>
              <a:t> contaminated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The worms produce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many eggs </a:t>
            </a:r>
            <a:r>
              <a:rPr lang="en-US" dirty="0"/>
              <a:t>with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strong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protective coat </a:t>
            </a:r>
            <a:r>
              <a:rPr lang="en-US" dirty="0"/>
              <a:t>which enables them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remain viable in soil and dust for several years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206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F0"/>
                </a:solidFill>
              </a:rPr>
              <a:t>Ascaris lumbricoides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The infections occur, in most rural areas, </a:t>
            </a:r>
            <a:r>
              <a:rPr lang="en-US" dirty="0">
                <a:solidFill>
                  <a:srgbClr val="00B0F0"/>
                </a:solidFill>
              </a:rPr>
              <a:t>in children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3-10 years old </a:t>
            </a:r>
            <a:r>
              <a:rPr lang="en-US" u="sng" dirty="0"/>
              <a:t>because of their habitat of playing an open ground</a:t>
            </a:r>
            <a:r>
              <a:rPr lang="en-US" dirty="0"/>
              <a:t>.</a:t>
            </a:r>
          </a:p>
          <a:p>
            <a:pPr algn="ctr">
              <a:buFont typeface="Wingdings" pitchFamily="2" charset="2"/>
              <a:buChar char="v"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u="sng" dirty="0" smtClean="0"/>
              <a:t>Life </a:t>
            </a:r>
            <a:r>
              <a:rPr lang="en-US" b="1" u="sng" dirty="0"/>
              <a:t>Cycle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After ingestion, the eggs hatch in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small intestine</a:t>
            </a:r>
            <a:r>
              <a:rPr lang="en-US" dirty="0"/>
              <a:t>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penetrate blood vessels in the intestinal wall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171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F0"/>
                </a:solidFill>
              </a:rPr>
              <a:t>Ascaris lumbricoides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Carried in the blood,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larvae follow a heart-lung route</a:t>
            </a:r>
            <a:r>
              <a:rPr lang="en-US" dirty="0"/>
              <a:t>, developing in the process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/>
              <a:t>The larvae then move up the trachea</a:t>
            </a:r>
            <a:r>
              <a:rPr lang="en-US" dirty="0"/>
              <a:t>, and </a:t>
            </a:r>
            <a:r>
              <a:rPr lang="en-US" u="sng" dirty="0"/>
              <a:t>are swallowed, reaching the small-intestines </a:t>
            </a:r>
            <a:r>
              <a:rPr lang="en-US" dirty="0"/>
              <a:t>where they grow into mature worms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/>
              <a:t>Mating occurs and the female lays large numbers of eggs which are passed out in the faeces</a:t>
            </a:r>
            <a:r>
              <a:rPr lang="en-US" u="sng" dirty="0" smtClean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Egg production occurs about two (2) months after infection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637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F0"/>
                </a:solidFill>
              </a:rPr>
              <a:t>Ascaris lumbricoides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In </a:t>
            </a:r>
            <a:r>
              <a:rPr lang="en-US" dirty="0">
                <a:solidFill>
                  <a:srgbClr val="00B0F0"/>
                </a:solidFill>
              </a:rPr>
              <a:t>shaded soil </a:t>
            </a:r>
            <a:r>
              <a:rPr lang="en-US" dirty="0"/>
              <a:t>and at a </a:t>
            </a:r>
            <a:r>
              <a:rPr lang="en-US" dirty="0">
                <a:solidFill>
                  <a:srgbClr val="00B0F0"/>
                </a:solidFill>
              </a:rPr>
              <a:t>temperature of 20-40°C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</a:rPr>
              <a:t>RH of over 40%, </a:t>
            </a:r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eggs develop and within 30-40 days </a:t>
            </a:r>
            <a:r>
              <a:rPr lang="en-US" dirty="0"/>
              <a:t>of being passed, each egg contains an infective larva which does not hatch until the eggs is swallowed.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7030A0"/>
                </a:solidFill>
              </a:rPr>
              <a:t>The eggs are resistant to drying out </a:t>
            </a:r>
            <a:r>
              <a:rPr lang="en-US" b="1" dirty="0"/>
              <a:t>but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are killed  by direct </a:t>
            </a:r>
            <a:r>
              <a:rPr lang="en-US" dirty="0" smtClean="0">
                <a:solidFill>
                  <a:srgbClr val="FF0000"/>
                </a:solidFill>
              </a:rPr>
              <a:t>sunlight</a:t>
            </a:r>
          </a:p>
          <a:p>
            <a:pPr lvl="0">
              <a:buFont typeface="Wingdings" pitchFamily="2" charset="2"/>
              <a:buChar char="v"/>
            </a:pPr>
            <a:r>
              <a:rPr lang="en-US" i="1" dirty="0" smtClean="0">
                <a:solidFill>
                  <a:srgbClr val="00B0F0"/>
                </a:solidFill>
              </a:rPr>
              <a:t>Ascaris </a:t>
            </a:r>
            <a:r>
              <a:rPr lang="en-US" i="1" dirty="0">
                <a:solidFill>
                  <a:srgbClr val="00B0F0"/>
                </a:solidFill>
              </a:rPr>
              <a:t>lumbricoides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u="sng" dirty="0"/>
              <a:t>is often found associated with</a:t>
            </a:r>
            <a:r>
              <a:rPr lang="en-US" dirty="0"/>
              <a:t> </a:t>
            </a:r>
            <a:r>
              <a:rPr lang="en-US" i="1" dirty="0">
                <a:solidFill>
                  <a:srgbClr val="00B050"/>
                </a:solidFill>
              </a:rPr>
              <a:t>Trichuris trichiura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737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F0"/>
                </a:solidFill>
              </a:rPr>
              <a:t>Ascaris lumbricoides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u="sng" dirty="0"/>
              <a:t>Symptoms and Pathology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The larvae may cause </a:t>
            </a:r>
            <a:r>
              <a:rPr lang="en-US" dirty="0">
                <a:solidFill>
                  <a:srgbClr val="00B0F0"/>
                </a:solidFill>
              </a:rPr>
              <a:t>inflammatory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</a:rPr>
              <a:t>hypersensitive reactions </a:t>
            </a:r>
            <a:r>
              <a:rPr lang="en-US" dirty="0"/>
              <a:t>including </a:t>
            </a:r>
            <a:r>
              <a:rPr lang="en-US" dirty="0">
                <a:solidFill>
                  <a:srgbClr val="FF0000"/>
                </a:solidFill>
              </a:rPr>
              <a:t>pneumonia-like symptoms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attacks of coughing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bronchial asthma </a:t>
            </a:r>
            <a:r>
              <a:rPr lang="en-US" dirty="0"/>
              <a:t>during their heart-lung migration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Eosinophilia</a:t>
            </a:r>
            <a:r>
              <a:rPr lang="en-US" dirty="0"/>
              <a:t> is common and </a:t>
            </a:r>
            <a:r>
              <a:rPr lang="en-US" dirty="0">
                <a:solidFill>
                  <a:srgbClr val="00B0F0"/>
                </a:solidFill>
              </a:rPr>
              <a:t>urticaria</a:t>
            </a:r>
            <a:r>
              <a:rPr lang="en-US" dirty="0"/>
              <a:t>; </a:t>
            </a:r>
            <a:r>
              <a:rPr lang="en-US" u="sng" dirty="0"/>
              <a:t>these may subside after larvae are back in the intestine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1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F0"/>
                </a:solidFill>
              </a:rPr>
              <a:t>Ascaris lumbricoides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Toxaemia</a:t>
            </a:r>
            <a:r>
              <a:rPr lang="en-US" dirty="0"/>
              <a:t> may develop and sometimes </a:t>
            </a:r>
            <a:r>
              <a:rPr lang="en-US" dirty="0">
                <a:solidFill>
                  <a:srgbClr val="00B0F0"/>
                </a:solidFill>
              </a:rPr>
              <a:t>neurological disorders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Abdominal pain </a:t>
            </a:r>
            <a:r>
              <a:rPr lang="en-US" dirty="0"/>
              <a:t>may be felt </a:t>
            </a:r>
            <a:r>
              <a:rPr lang="en-US" u="sng" dirty="0"/>
              <a:t>due to developing and mature worms in the intestine</a:t>
            </a:r>
            <a:r>
              <a:rPr lang="en-US" dirty="0"/>
              <a:t>, and may be accompanied by </a:t>
            </a:r>
            <a:r>
              <a:rPr lang="en-US" dirty="0">
                <a:solidFill>
                  <a:srgbClr val="00B0F0"/>
                </a:solidFill>
              </a:rPr>
              <a:t>nausea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diarrhea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</a:rPr>
              <a:t>vomiting</a:t>
            </a: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b="1" dirty="0" smtClean="0"/>
              <a:t>In </a:t>
            </a:r>
            <a:r>
              <a:rPr lang="en-US" b="1" dirty="0"/>
              <a:t>heavy infections</a:t>
            </a:r>
            <a:r>
              <a:rPr lang="en-US" dirty="0"/>
              <a:t>, </a:t>
            </a:r>
            <a:r>
              <a:rPr lang="en-US" u="sng" dirty="0"/>
              <a:t>esp. in children</a:t>
            </a:r>
            <a:r>
              <a:rPr lang="en-US" dirty="0"/>
              <a:t>, worm masses may cause </a:t>
            </a:r>
            <a:r>
              <a:rPr lang="en-US" dirty="0">
                <a:solidFill>
                  <a:srgbClr val="FF0000"/>
                </a:solidFill>
              </a:rPr>
              <a:t>intestinal obstruction of the bile and pancreatic ducts</a:t>
            </a:r>
            <a:r>
              <a:rPr lang="en-US" dirty="0"/>
              <a:t>, leading to fatality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624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F0"/>
                </a:solidFill>
              </a:rPr>
              <a:t>Ascaris lumbricoides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Liver abscesses </a:t>
            </a:r>
            <a:r>
              <a:rPr lang="en-US" dirty="0"/>
              <a:t>and </a:t>
            </a:r>
            <a:r>
              <a:rPr lang="en-US" dirty="0">
                <a:solidFill>
                  <a:srgbClr val="00B0F0"/>
                </a:solidFill>
              </a:rPr>
              <a:t>appendicitis</a:t>
            </a:r>
            <a:r>
              <a:rPr lang="en-US" dirty="0"/>
              <a:t> </a:t>
            </a:r>
            <a:r>
              <a:rPr lang="en-US" u="sng" dirty="0"/>
              <a:t>caused by migrating worms may develop as complications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Worms may be vomited</a:t>
            </a:r>
            <a:r>
              <a:rPr lang="en-US" dirty="0"/>
              <a:t>, in cases, 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pass out of the anus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r>
              <a:rPr lang="en-US" b="1" u="sng" dirty="0"/>
              <a:t>Prevention and Control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50"/>
                </a:solidFill>
              </a:rPr>
              <a:t>Preventing soil pollution </a:t>
            </a:r>
            <a:r>
              <a:rPr lang="en-US" u="sng" dirty="0"/>
              <a:t>by avoiding use of untreated human faeces as fertilizer</a:t>
            </a:r>
            <a:r>
              <a:rPr lang="en-US" dirty="0"/>
              <a:t>, and </a:t>
            </a:r>
            <a:r>
              <a:rPr lang="en-US" dirty="0">
                <a:solidFill>
                  <a:srgbClr val="00B050"/>
                </a:solidFill>
              </a:rPr>
              <a:t>use of </a:t>
            </a:r>
            <a:r>
              <a:rPr lang="en-US" dirty="0" smtClean="0">
                <a:solidFill>
                  <a:srgbClr val="00B050"/>
                </a:solidFill>
              </a:rPr>
              <a:t>latrines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919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F0"/>
                </a:solidFill>
              </a:rPr>
              <a:t>Ascaris lumbricoides</a:t>
            </a:r>
            <a:r>
              <a:rPr lang="en-US" b="1" i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50"/>
                </a:solidFill>
              </a:rPr>
              <a:t>Treatment of infected individuals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Preventing eggs being ingested by </a:t>
            </a:r>
            <a:r>
              <a:rPr lang="en-US" dirty="0">
                <a:solidFill>
                  <a:srgbClr val="00B050"/>
                </a:solidFill>
              </a:rPr>
              <a:t>washing hands before eating</a:t>
            </a:r>
            <a:r>
              <a:rPr lang="en-US" dirty="0"/>
              <a:t>; </a:t>
            </a:r>
            <a:r>
              <a:rPr lang="en-US" dirty="0">
                <a:solidFill>
                  <a:srgbClr val="00B050"/>
                </a:solidFill>
              </a:rPr>
              <a:t>after </a:t>
            </a:r>
            <a:r>
              <a:rPr lang="en-US" dirty="0" smtClean="0">
                <a:solidFill>
                  <a:srgbClr val="00B050"/>
                </a:solidFill>
              </a:rPr>
              <a:t>defecating</a:t>
            </a:r>
            <a:r>
              <a:rPr lang="en-US" dirty="0" smtClean="0"/>
              <a:t>, </a:t>
            </a:r>
            <a:r>
              <a:rPr lang="en-US" u="sng" dirty="0"/>
              <a:t>using soap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50"/>
                </a:solidFill>
              </a:rPr>
              <a:t>Avoiding eating uncooked vegetables, fruits, </a:t>
            </a:r>
            <a:r>
              <a:rPr lang="en-US" dirty="0" smtClean="0">
                <a:solidFill>
                  <a:srgbClr val="00B050"/>
                </a:solidFill>
              </a:rPr>
              <a:t>etc. </a:t>
            </a:r>
            <a:r>
              <a:rPr lang="en-US" dirty="0">
                <a:solidFill>
                  <a:srgbClr val="00B050"/>
                </a:solidFill>
              </a:rPr>
              <a:t>unless they have been washed thoroughly with soap and water </a:t>
            </a:r>
            <a:r>
              <a:rPr lang="en-US" dirty="0"/>
              <a:t>or </a:t>
            </a:r>
            <a:r>
              <a:rPr lang="en-US" dirty="0">
                <a:solidFill>
                  <a:srgbClr val="00B050"/>
                </a:solidFill>
              </a:rPr>
              <a:t>vinegar</a:t>
            </a:r>
            <a:r>
              <a:rPr lang="en-US" dirty="0"/>
              <a:t> as the case might be.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956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F0"/>
                </a:solidFill>
              </a:rPr>
              <a:t>Ascaris lumbricoides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u="sng" dirty="0"/>
              <a:t>Diagnosis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Examination of faeces for the eggs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Identification of the worms expelled through the anus or mouth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691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C00000"/>
                </a:solidFill>
              </a:rPr>
              <a:t>Enterobius vermicularis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This </a:t>
            </a:r>
            <a:r>
              <a:rPr lang="en-US" dirty="0"/>
              <a:t>belongs to the Order </a:t>
            </a:r>
            <a:r>
              <a:rPr lang="en-US" dirty="0">
                <a:solidFill>
                  <a:srgbClr val="00B0F0"/>
                </a:solidFill>
              </a:rPr>
              <a:t>Oxyurida</a:t>
            </a:r>
            <a:r>
              <a:rPr lang="en-US" dirty="0"/>
              <a:t> and it is known as the </a:t>
            </a:r>
            <a:r>
              <a:rPr lang="en-US" dirty="0">
                <a:solidFill>
                  <a:srgbClr val="C00000"/>
                </a:solidFill>
              </a:rPr>
              <a:t>pinworm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Seatworm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threadworm</a:t>
            </a:r>
            <a:r>
              <a:rPr lang="en-US" dirty="0"/>
              <a:t>.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It </a:t>
            </a:r>
            <a:r>
              <a:rPr lang="en-US" dirty="0"/>
              <a:t>causes the disease </a:t>
            </a:r>
            <a:r>
              <a:rPr lang="en-US" dirty="0">
                <a:solidFill>
                  <a:srgbClr val="FF0000"/>
                </a:solidFill>
              </a:rPr>
              <a:t>enterobiasis</a:t>
            </a:r>
            <a:r>
              <a:rPr lang="en-US" dirty="0"/>
              <a:t>.</a:t>
            </a:r>
          </a:p>
          <a:p>
            <a:pPr algn="ctr">
              <a:buFont typeface="Wingdings" pitchFamily="2" charset="2"/>
              <a:buChar char="v"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u="sng" dirty="0" smtClean="0"/>
              <a:t>Distribution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Widespread in </a:t>
            </a:r>
            <a:r>
              <a:rPr lang="en-US" u="sng" dirty="0"/>
              <a:t>temperate climates</a:t>
            </a:r>
            <a:r>
              <a:rPr lang="en-US" dirty="0"/>
              <a:t>; unlike most helminthes, </a:t>
            </a:r>
            <a:r>
              <a:rPr lang="en-US" u="sng" dirty="0"/>
              <a:t>it is rare in the tropics</a:t>
            </a:r>
            <a:r>
              <a:rPr lang="en-US" dirty="0"/>
              <a:t>. </a:t>
            </a:r>
            <a:r>
              <a:rPr lang="en-US" dirty="0">
                <a:solidFill>
                  <a:srgbClr val="00B050"/>
                </a:solidFill>
              </a:rPr>
              <a:t>Children</a:t>
            </a:r>
            <a:r>
              <a:rPr lang="en-US" dirty="0"/>
              <a:t> </a:t>
            </a:r>
            <a:r>
              <a:rPr lang="en-US" u="sng" dirty="0"/>
              <a:t>more commonly infected</a:t>
            </a:r>
            <a:r>
              <a:rPr lang="en-US" dirty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Usually, </a:t>
            </a:r>
            <a:r>
              <a:rPr lang="en-US" u="sng" dirty="0"/>
              <a:t>every member of a family is infected once it reaches a </a:t>
            </a:r>
            <a:r>
              <a:rPr lang="en-US" u="sng" dirty="0" smtClean="0"/>
              <a:t>household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389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C00000"/>
                </a:solidFill>
              </a:rPr>
              <a:t>Enterobius vermicularis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u="sng" dirty="0" smtClean="0"/>
              <a:t>Transmission</a:t>
            </a:r>
            <a:r>
              <a:rPr lang="en-US" dirty="0" smtClean="0"/>
              <a:t> 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By </a:t>
            </a:r>
            <a:r>
              <a:rPr lang="en-US" dirty="0">
                <a:solidFill>
                  <a:srgbClr val="00B0F0"/>
                </a:solidFill>
              </a:rPr>
              <a:t>ingestion of infective eggs</a:t>
            </a:r>
            <a:r>
              <a:rPr lang="en-US" dirty="0"/>
              <a:t>; eggs are deposited on the anal skin usually at night and within a few hours of being laid, may contain infective larva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/>
              <a:t>Infection is easily spread by way of clothing or bedding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Autoinfection is common in children </a:t>
            </a:r>
            <a:r>
              <a:rPr lang="en-US" u="sng" dirty="0"/>
              <a:t>because the eggs cause intense irritation and scratching of the infected area leads to contamination of the fingers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Airborne transmission </a:t>
            </a:r>
            <a:r>
              <a:rPr lang="en-US" dirty="0"/>
              <a:t>may also occur.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701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C00000"/>
                </a:solidFill>
              </a:rPr>
              <a:t>Enterobius vermicularis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u="sng" dirty="0"/>
              <a:t>Life Cycle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Ingested eggs hatch in the intestine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/>
              <a:t>Larvae develop into fully mature worms in the 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large intestine </a:t>
            </a:r>
            <a:r>
              <a:rPr lang="en-US" dirty="0"/>
              <a:t>but mostly inhabit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caecum</a:t>
            </a:r>
            <a:r>
              <a:rPr lang="en-US" dirty="0"/>
              <a:t>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appendix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/>
              <a:t>After mating, female worms migrate to the 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rectum</a:t>
            </a:r>
            <a:r>
              <a:rPr lang="en-US" u="sng" dirty="0"/>
              <a:t>, pass pot of the anus and lay their eggs on the 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perianal skin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Eggs develop infective larvae in about 6 weeks, the eggs themselves, being produced about 6 weeks after infection.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20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C00000"/>
                </a:solidFill>
              </a:rPr>
              <a:t>Enterobius vermicularis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US" u="sng" dirty="0"/>
              <a:t>Infective eggs may remain viable on clothing</a:t>
            </a:r>
            <a:r>
              <a:rPr lang="en-US" dirty="0"/>
              <a:t>, </a:t>
            </a:r>
            <a:r>
              <a:rPr lang="en-US" u="sng" dirty="0"/>
              <a:t>household objects </a:t>
            </a:r>
            <a:r>
              <a:rPr lang="en-US" dirty="0"/>
              <a:t>or </a:t>
            </a:r>
            <a:r>
              <a:rPr lang="en-US" u="sng" dirty="0"/>
              <a:t>in dust for several weeks</a:t>
            </a:r>
            <a:r>
              <a:rPr lang="en-US" dirty="0"/>
              <a:t>, depending on climatic conditions; </a:t>
            </a: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warm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temperatures </a:t>
            </a:r>
            <a:r>
              <a:rPr lang="en-US" dirty="0"/>
              <a:t>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high humidity </a:t>
            </a:r>
            <a:r>
              <a:rPr lang="en-US" u="sng" dirty="0"/>
              <a:t>favour survival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/>
              <a:t>Larvae hatching on the perianal skin may migrate back into the intestine where they may grow into mature worms, </a:t>
            </a:r>
            <a:r>
              <a:rPr lang="en-US" u="sng" dirty="0">
                <a:solidFill>
                  <a:srgbClr val="00B0F0"/>
                </a:solidFill>
              </a:rPr>
              <a:t>an autoinfection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820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C00000"/>
                </a:solidFill>
              </a:rPr>
              <a:t>Enterobius vermicularis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u="sng" dirty="0" smtClean="0"/>
              <a:t>Symptoms and Pathology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/>
              <a:t>Infection rarely causes serious symptoms</a:t>
            </a:r>
            <a:r>
              <a:rPr lang="en-US" dirty="0"/>
              <a:t>, </a:t>
            </a:r>
            <a:r>
              <a:rPr lang="en-US" b="1" dirty="0"/>
              <a:t>but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there may be intense irritation around the anus </a:t>
            </a:r>
            <a:r>
              <a:rPr lang="en-US" dirty="0"/>
              <a:t>and </a:t>
            </a:r>
            <a:r>
              <a:rPr lang="en-US" u="sng" dirty="0"/>
              <a:t>in females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infection of the urinary and genital tract may occur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Worms may enter the appendix and cause </a:t>
            </a:r>
            <a:r>
              <a:rPr lang="en-US" dirty="0" smtClean="0">
                <a:solidFill>
                  <a:srgbClr val="00B0F0"/>
                </a:solidFill>
              </a:rPr>
              <a:t>appendicitis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099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C00000"/>
                </a:solidFill>
              </a:rPr>
              <a:t>Enterobius vermicularis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b="1" u="sng" dirty="0" smtClean="0"/>
              <a:t>Prevention and Control</a:t>
            </a:r>
            <a:endParaRPr lang="en-US" u="sng" dirty="0" smtClean="0"/>
          </a:p>
          <a:p>
            <a:pPr lvl="0">
              <a:buFont typeface="Wingdings" pitchFamily="2" charset="2"/>
              <a:buChar char="v"/>
            </a:pPr>
            <a:r>
              <a:rPr lang="en-US" u="sng" dirty="0" smtClean="0"/>
              <a:t>Eggs are infective soon on laying hence entire family or community may be infected </a:t>
            </a:r>
            <a:r>
              <a:rPr lang="en-US" dirty="0" smtClean="0">
                <a:solidFill>
                  <a:srgbClr val="C00000"/>
                </a:solidFill>
              </a:rPr>
              <a:t>through improper handling of bedding and other articles that have become contaminated.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Control and Preventive measures include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50"/>
                </a:solidFill>
              </a:rPr>
              <a:t>Treatment of all members of a family in which infection has occurred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50"/>
                </a:solidFill>
              </a:rPr>
              <a:t>Washing of the anal skin each morning</a:t>
            </a:r>
            <a:r>
              <a:rPr lang="en-US" dirty="0"/>
              <a:t>, </a:t>
            </a:r>
            <a:r>
              <a:rPr lang="en-US" u="sng" dirty="0"/>
              <a:t>soon after waking, using soap, and of clothes worn at night</a:t>
            </a:r>
          </a:p>
          <a:p>
            <a:pPr lvl="0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494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C00000"/>
                </a:solidFill>
              </a:rPr>
              <a:t>Enterobius vermicularis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u="sng" dirty="0"/>
              <a:t>Diagnosis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Examination of faeces and of perianal skin for eggs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Finding the worms in faeces </a:t>
            </a:r>
            <a:r>
              <a:rPr lang="en-US" dirty="0"/>
              <a:t>and </a:t>
            </a:r>
            <a:r>
              <a:rPr lang="en-US" u="sng" dirty="0"/>
              <a:t>in the case of females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in urine specimens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098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</a:t>
            </a:r>
            <a:r>
              <a:rPr lang="en-US" dirty="0" smtClean="0">
                <a:solidFill>
                  <a:srgbClr val="00B050"/>
                </a:solidFill>
              </a:rPr>
              <a:t/>
            </a:r>
            <a:br>
              <a:rPr lang="en-US" dirty="0" smtClean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This </a:t>
            </a:r>
            <a:r>
              <a:rPr lang="en-US" dirty="0"/>
              <a:t>parasite is also known as the </a:t>
            </a:r>
            <a:r>
              <a:rPr lang="en-US" dirty="0">
                <a:solidFill>
                  <a:srgbClr val="00B050"/>
                </a:solidFill>
              </a:rPr>
              <a:t>Dwarf threadworm</a:t>
            </a:r>
            <a:r>
              <a:rPr lang="en-US" dirty="0"/>
              <a:t>;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it </a:t>
            </a:r>
            <a:r>
              <a:rPr lang="en-US" dirty="0"/>
              <a:t>causes the disease </a:t>
            </a:r>
            <a:r>
              <a:rPr lang="en-US" dirty="0" smtClean="0">
                <a:solidFill>
                  <a:srgbClr val="FF0000"/>
                </a:solidFill>
              </a:rPr>
              <a:t>Strongyloidiasis</a:t>
            </a:r>
            <a:endParaRPr lang="en-US" dirty="0">
              <a:solidFill>
                <a:srgbClr val="FF0000"/>
              </a:solidFill>
            </a:endParaRPr>
          </a:p>
          <a:p>
            <a:pPr algn="ctr">
              <a:buFont typeface="Wingdings" pitchFamily="2" charset="2"/>
              <a:buChar char="v"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u="sng" dirty="0" smtClean="0"/>
              <a:t>Distribution</a:t>
            </a:r>
            <a:endParaRPr lang="en-US" u="sng" dirty="0"/>
          </a:p>
          <a:p>
            <a:pPr>
              <a:buFont typeface="Wingdings" pitchFamily="2" charset="2"/>
              <a:buChar char="v"/>
            </a:pPr>
            <a:r>
              <a:rPr lang="en-US" dirty="0"/>
              <a:t>Worldwide, particularly </a:t>
            </a:r>
            <a:r>
              <a:rPr lang="en-US" u="sng" dirty="0"/>
              <a:t>endemic in tropical and subtropical countries</a:t>
            </a:r>
            <a:r>
              <a:rPr lang="en-US" dirty="0"/>
              <a:t>, including those of </a:t>
            </a:r>
            <a:r>
              <a:rPr lang="en-US" u="sng" dirty="0"/>
              <a:t>Africa</a:t>
            </a:r>
            <a:r>
              <a:rPr lang="en-US" dirty="0"/>
              <a:t>, </a:t>
            </a:r>
            <a:r>
              <a:rPr lang="en-US" u="sng" dirty="0"/>
              <a:t>Asia</a:t>
            </a:r>
            <a:r>
              <a:rPr lang="en-US" dirty="0"/>
              <a:t> and </a:t>
            </a:r>
            <a:r>
              <a:rPr lang="en-US" u="sng" dirty="0"/>
              <a:t>South America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443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b="1" u="sng" dirty="0"/>
              <a:t>Transmission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By penetration of the skin (feet) by </a:t>
            </a:r>
            <a:r>
              <a:rPr lang="en-US" dirty="0">
                <a:solidFill>
                  <a:srgbClr val="C00000"/>
                </a:solidFill>
              </a:rPr>
              <a:t>filariform (infective) larvae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Self-infection</a:t>
            </a:r>
            <a:r>
              <a:rPr lang="en-US" dirty="0"/>
              <a:t> (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autoinfection</a:t>
            </a:r>
            <a:r>
              <a:rPr lang="en-US" dirty="0"/>
              <a:t>) with </a:t>
            </a:r>
            <a:r>
              <a:rPr lang="en-US" dirty="0">
                <a:solidFill>
                  <a:srgbClr val="C00000"/>
                </a:solidFill>
              </a:rPr>
              <a:t>rhabditiform larvae </a:t>
            </a:r>
            <a:r>
              <a:rPr lang="en-US" dirty="0"/>
              <a:t>(</a:t>
            </a:r>
            <a:r>
              <a:rPr lang="en-US" dirty="0">
                <a:solidFill>
                  <a:srgbClr val="C00000"/>
                </a:solidFill>
              </a:rPr>
              <a:t>first stage larvae</a:t>
            </a:r>
            <a:r>
              <a:rPr lang="en-US" dirty="0"/>
              <a:t>) developing into </a:t>
            </a:r>
            <a:r>
              <a:rPr lang="en-US" dirty="0">
                <a:solidFill>
                  <a:srgbClr val="C00000"/>
                </a:solidFill>
              </a:rPr>
              <a:t>infective (filariform) larvae</a:t>
            </a:r>
            <a:r>
              <a:rPr lang="en-US" dirty="0"/>
              <a:t> </a:t>
            </a:r>
            <a:r>
              <a:rPr lang="en-US" u="sng" dirty="0"/>
              <a:t>in faecal matter on perianal skin and penetrating the skin </a:t>
            </a:r>
            <a:r>
              <a:rPr lang="en-US" b="1" dirty="0"/>
              <a:t>or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rhabditiform larvae</a:t>
            </a:r>
            <a:r>
              <a:rPr lang="en-US" dirty="0"/>
              <a:t> de</a:t>
            </a:r>
            <a:r>
              <a:rPr lang="en-US" u="sng" dirty="0"/>
              <a:t>veloping into </a:t>
            </a:r>
            <a:r>
              <a:rPr lang="en-US" dirty="0">
                <a:solidFill>
                  <a:srgbClr val="C00000"/>
                </a:solidFill>
              </a:rPr>
              <a:t>filariform larvae </a:t>
            </a:r>
            <a:r>
              <a:rPr lang="en-US" u="sng" dirty="0"/>
              <a:t>in the intestine and penetrating the gut wall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545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u="sng" dirty="0"/>
              <a:t>Transmission of </a:t>
            </a:r>
            <a:r>
              <a:rPr lang="en-US" dirty="0">
                <a:solidFill>
                  <a:srgbClr val="C00000"/>
                </a:solidFill>
              </a:rPr>
              <a:t>infective larvae </a:t>
            </a:r>
            <a:r>
              <a:rPr lang="en-US" u="sng" dirty="0"/>
              <a:t>from an infected mother to her infant in breast milk may also occur </a:t>
            </a:r>
            <a:r>
              <a:rPr lang="en-US" dirty="0"/>
              <a:t>(</a:t>
            </a:r>
            <a:r>
              <a:rPr lang="en-US" dirty="0" err="1">
                <a:solidFill>
                  <a:srgbClr val="0070C0"/>
                </a:solidFill>
              </a:rPr>
              <a:t>transmammary</a:t>
            </a:r>
            <a:r>
              <a:rPr lang="en-US" dirty="0">
                <a:solidFill>
                  <a:srgbClr val="0070C0"/>
                </a:solidFill>
              </a:rPr>
              <a:t> transmission</a:t>
            </a:r>
            <a:r>
              <a:rPr lang="en-US" dirty="0"/>
              <a:t>).</a:t>
            </a: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u="sng" dirty="0" smtClean="0"/>
              <a:t>Human </a:t>
            </a:r>
            <a:r>
              <a:rPr lang="en-US" u="sng" dirty="0"/>
              <a:t>transmission is usually from person to person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998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u="sng" dirty="0"/>
              <a:t>Life Cycle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US" u="sng" dirty="0"/>
              <a:t>After penetration larvae enter small blood vessels and follow a </a:t>
            </a:r>
            <a:r>
              <a:rPr lang="en-US" dirty="0">
                <a:solidFill>
                  <a:srgbClr val="00B0F0"/>
                </a:solidFill>
              </a:rPr>
              <a:t>heart-lung migration</a:t>
            </a:r>
            <a:r>
              <a:rPr lang="en-US" dirty="0"/>
              <a:t>, developing in the process,</a:t>
            </a:r>
            <a:r>
              <a:rPr lang="en-US" u="sng" dirty="0"/>
              <a:t> move up the trachea and are swallowed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The worms mature in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intestinal tract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>
                <a:solidFill>
                  <a:srgbClr val="00B0F0"/>
                </a:solidFill>
              </a:rPr>
              <a:t>Male worms </a:t>
            </a:r>
            <a:r>
              <a:rPr lang="en-US" u="sng" dirty="0"/>
              <a:t>are apparently unable to penetrate the mucosa as they have rarely been found in humans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801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>
              <a:buFont typeface="Wingdings" pitchFamily="2" charset="2"/>
              <a:buChar char="v"/>
            </a:pPr>
            <a:r>
              <a:rPr lang="en-US" u="sng" dirty="0" smtClean="0"/>
              <a:t>Thus, copulation, if it occurs at all, must/ probably occur in the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lumen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>
                <a:solidFill>
                  <a:srgbClr val="00B0F0"/>
                </a:solidFill>
              </a:rPr>
              <a:t>Female worms </a:t>
            </a:r>
            <a:r>
              <a:rPr lang="en-US" u="sng" dirty="0"/>
              <a:t>become embedded in the wall of the small intestine and lay eggs </a:t>
            </a:r>
            <a:r>
              <a:rPr lang="en-US" b="1" dirty="0"/>
              <a:t>whilst</a:t>
            </a:r>
            <a:r>
              <a:rPr lang="en-US" dirty="0"/>
              <a:t> </a:t>
            </a:r>
            <a:r>
              <a:rPr lang="en-US" u="sng" dirty="0"/>
              <a:t>the </a:t>
            </a:r>
            <a:r>
              <a:rPr lang="en-US" u="sng" dirty="0">
                <a:solidFill>
                  <a:srgbClr val="00B0F0"/>
                </a:solidFill>
              </a:rPr>
              <a:t>male worms</a:t>
            </a:r>
            <a:r>
              <a:rPr lang="en-US" u="sng" dirty="0"/>
              <a:t> are expelled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Soon after eggs are laid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rhabditiform larvae </a:t>
            </a:r>
            <a:r>
              <a:rPr lang="en-US" u="sng" dirty="0"/>
              <a:t>hatch out in the intestine and either develop there into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infective larvae </a:t>
            </a:r>
            <a:r>
              <a:rPr lang="en-US" u="sng" dirty="0"/>
              <a:t>and penetrate the intestinal wall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autoinfection</a:t>
            </a:r>
            <a:r>
              <a:rPr lang="en-US" dirty="0"/>
              <a:t>) </a:t>
            </a:r>
            <a:r>
              <a:rPr lang="en-US" b="1" dirty="0"/>
              <a:t>or</a:t>
            </a:r>
            <a:r>
              <a:rPr lang="en-US" dirty="0"/>
              <a:t> </a:t>
            </a:r>
            <a:r>
              <a:rPr lang="en-US" u="sng" dirty="0"/>
              <a:t>are passed out in the faeces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136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Rhabditiform larvae </a:t>
            </a:r>
            <a:r>
              <a:rPr lang="en-US" u="sng" dirty="0"/>
              <a:t>expelled in faeces are able, under suitable conditions, to develop into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infective larvae </a:t>
            </a:r>
            <a:r>
              <a:rPr lang="en-US" u="sng" dirty="0"/>
              <a:t>in the soil in 3-4 days</a:t>
            </a: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Larvae </a:t>
            </a:r>
            <a:r>
              <a:rPr lang="en-US" dirty="0"/>
              <a:t>can remain infective in the soil for several months.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485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/>
          </a:bodyPr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Under favourable climatic conditions </a:t>
            </a:r>
            <a:r>
              <a:rPr lang="en-US" i="1" dirty="0">
                <a:solidFill>
                  <a:srgbClr val="00B050"/>
                </a:solidFill>
              </a:rPr>
              <a:t>S. stercoralis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u="sng" dirty="0"/>
              <a:t>may follow a free living existence for several generations </a:t>
            </a:r>
            <a:r>
              <a:rPr lang="en-US" dirty="0"/>
              <a:t>(i.e. </a:t>
            </a:r>
            <a:r>
              <a:rPr lang="en-US" dirty="0">
                <a:solidFill>
                  <a:srgbClr val="7030A0"/>
                </a:solidFill>
              </a:rPr>
              <a:t>without a parasitic mode of life</a:t>
            </a:r>
            <a:r>
              <a:rPr lang="en-US" dirty="0" smtClean="0"/>
              <a:t>);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dirty="0">
                <a:solidFill>
                  <a:srgbClr val="7030A0"/>
                </a:solidFill>
              </a:rPr>
              <a:t>instead of the rhabditiform larvae in the soil developing into filariform larvae</a:t>
            </a:r>
            <a:r>
              <a:rPr lang="en-US" dirty="0" smtClean="0">
                <a:solidFill>
                  <a:srgbClr val="7030A0"/>
                </a:solidFill>
              </a:rPr>
              <a:t>,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7030A0"/>
                </a:solidFill>
              </a:rPr>
              <a:t> </a:t>
            </a:r>
            <a:r>
              <a:rPr lang="en-US" dirty="0">
                <a:solidFill>
                  <a:srgbClr val="7030A0"/>
                </a:solidFill>
              </a:rPr>
              <a:t>they are able to develop directly into mature egg-producing worms in the soil and rhabditiform larvae that hatch from eggs laid in the soil may grow into infective filariform larvae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686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u="sng" dirty="0"/>
              <a:t>Symptoms and Pathology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US" u="sng" dirty="0"/>
              <a:t>Larvae penetrating the skin may cause an </a:t>
            </a:r>
            <a:r>
              <a:rPr lang="en-US" dirty="0">
                <a:solidFill>
                  <a:srgbClr val="00B0F0"/>
                </a:solidFill>
              </a:rPr>
              <a:t>itchy dermatitis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</a:rPr>
              <a:t>rash</a:t>
            </a:r>
            <a:r>
              <a:rPr lang="en-US" dirty="0"/>
              <a:t> 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During the heart-lung migration </a:t>
            </a:r>
            <a:r>
              <a:rPr lang="en-US" dirty="0">
                <a:solidFill>
                  <a:srgbClr val="00B0F0"/>
                </a:solidFill>
              </a:rPr>
              <a:t>larvae may cause allergic and respiratory symptoms </a:t>
            </a:r>
            <a:r>
              <a:rPr lang="en-US" dirty="0"/>
              <a:t>and </a:t>
            </a:r>
            <a:r>
              <a:rPr lang="en-US" dirty="0">
                <a:solidFill>
                  <a:srgbClr val="00B0F0"/>
                </a:solidFill>
              </a:rPr>
              <a:t>haemorrhages in lung alveoli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58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Acute attacks of </a:t>
            </a:r>
            <a:r>
              <a:rPr lang="en-US" dirty="0">
                <a:solidFill>
                  <a:srgbClr val="00B0F0"/>
                </a:solidFill>
              </a:rPr>
              <a:t>diarrhea often with blood and mucus</a:t>
            </a:r>
            <a:r>
              <a:rPr lang="en-US" dirty="0"/>
              <a:t> may be caused by mature worms, </a:t>
            </a: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and </a:t>
            </a:r>
            <a:r>
              <a:rPr lang="en-US" u="sng" dirty="0"/>
              <a:t>damage to the intestinal mucosa </a:t>
            </a:r>
            <a:r>
              <a:rPr lang="en-US" dirty="0"/>
              <a:t>may develop into </a:t>
            </a:r>
            <a:r>
              <a:rPr lang="en-US" dirty="0">
                <a:solidFill>
                  <a:srgbClr val="00B0F0"/>
                </a:solidFill>
              </a:rPr>
              <a:t>ulcerative enteritis</a:t>
            </a:r>
            <a:r>
              <a:rPr lang="en-US" dirty="0"/>
              <a:t>, leading to </a:t>
            </a:r>
            <a:r>
              <a:rPr lang="en-US" dirty="0">
                <a:solidFill>
                  <a:srgbClr val="00B0F0"/>
                </a:solidFill>
              </a:rPr>
              <a:t>anaemia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</a:rPr>
              <a:t>low plasma protein levels 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Abdominal pain </a:t>
            </a:r>
            <a:r>
              <a:rPr lang="en-US" u="sng" dirty="0"/>
              <a:t>with symptoms resembling those of duodenal ulcer is common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469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</a:t>
            </a:r>
            <a:r>
              <a:rPr lang="en-US" b="1" i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US" b="1" dirty="0"/>
              <a:t>Heavy infections </a:t>
            </a:r>
            <a:r>
              <a:rPr lang="en-US" dirty="0"/>
              <a:t>(</a:t>
            </a:r>
            <a:r>
              <a:rPr lang="en-US" b="1" dirty="0"/>
              <a:t>esp. in children</a:t>
            </a:r>
            <a:r>
              <a:rPr lang="en-US" dirty="0"/>
              <a:t>) may result in </a:t>
            </a:r>
            <a:r>
              <a:rPr lang="en-US" dirty="0">
                <a:solidFill>
                  <a:srgbClr val="00B0F0"/>
                </a:solidFill>
              </a:rPr>
              <a:t>malabsorption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steatorrhoea</a:t>
            </a:r>
            <a:r>
              <a:rPr lang="en-US" dirty="0"/>
              <a:t>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excessive amount of fats in the faeces as in malabsorption syndrome</a:t>
            </a:r>
            <a:r>
              <a:rPr lang="en-US" dirty="0"/>
              <a:t>) and </a:t>
            </a:r>
            <a:r>
              <a:rPr lang="en-US" dirty="0">
                <a:solidFill>
                  <a:srgbClr val="00B0F0"/>
                </a:solidFill>
              </a:rPr>
              <a:t>dehydration with electrolyte disturbance</a:t>
            </a:r>
            <a:r>
              <a:rPr lang="en-US" dirty="0" smtClean="0"/>
              <a:t>;</a:t>
            </a:r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dirty="0">
                <a:solidFill>
                  <a:srgbClr val="00B0F0"/>
                </a:solidFill>
              </a:rPr>
              <a:t>eosinophilia</a:t>
            </a:r>
            <a:r>
              <a:rPr lang="en-US" dirty="0"/>
              <a:t> is usually evident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4080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dirty="0" smtClean="0">
                <a:solidFill>
                  <a:srgbClr val="C00000"/>
                </a:solidFill>
              </a:rPr>
              <a:t>Autoinfection</a:t>
            </a:r>
            <a:r>
              <a:rPr lang="en-US" dirty="0" smtClean="0"/>
              <a:t> </a:t>
            </a:r>
            <a:r>
              <a:rPr lang="en-US" u="sng" dirty="0" smtClean="0"/>
              <a:t>may be overwhelming and fatal when immune responses are reduced as in immune deficiency or depression, by drugs, malnutrition, pregnancy or puerperium (child birth); 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 smtClean="0"/>
              <a:t>in such situation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F0"/>
                </a:solidFill>
              </a:rPr>
              <a:t>larvae may be found in most tissues and serous cavities of the body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054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Hyperinfection</a:t>
            </a:r>
            <a:r>
              <a:rPr lang="en-US" dirty="0"/>
              <a:t> </a:t>
            </a:r>
            <a:r>
              <a:rPr lang="en-US" u="sng" dirty="0"/>
              <a:t>may occur when 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rhabditiform larvae</a:t>
            </a:r>
            <a:r>
              <a:rPr lang="en-US" u="sng" dirty="0"/>
              <a:t> penetrate the intestinal mucosa in people with diminished immune responsiveness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189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u="sng" dirty="0"/>
              <a:t>Prevention and Control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50"/>
                </a:solidFill>
              </a:rPr>
              <a:t>Avoiding faecal pollution of the soil</a:t>
            </a:r>
          </a:p>
          <a:p>
            <a:pPr lvl="0">
              <a:buFont typeface="Wingdings" pitchFamily="2" charset="2"/>
              <a:buChar char="v"/>
            </a:pPr>
            <a:r>
              <a:rPr lang="en-US" u="sng" dirty="0"/>
              <a:t>Preventing larval penetration of the skin </a:t>
            </a:r>
            <a:r>
              <a:rPr lang="en-US" dirty="0"/>
              <a:t>by </a:t>
            </a:r>
            <a:r>
              <a:rPr lang="en-US" dirty="0">
                <a:solidFill>
                  <a:srgbClr val="00B050"/>
                </a:solidFill>
              </a:rPr>
              <a:t>wearing protective footwear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50"/>
                </a:solidFill>
              </a:rPr>
              <a:t>Treatment of the </a:t>
            </a:r>
            <a:r>
              <a:rPr lang="en-US" dirty="0" smtClean="0">
                <a:solidFill>
                  <a:srgbClr val="00B050"/>
                </a:solidFill>
              </a:rPr>
              <a:t>infected person</a:t>
            </a:r>
            <a:endParaRPr lang="en-US" dirty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3306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00B050"/>
                </a:solidFill>
              </a:rPr>
              <a:t>Strongyloides stercoralis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 algn="ctr">
              <a:buNone/>
            </a:pPr>
            <a:r>
              <a:rPr lang="en-US" b="1" u="sng" dirty="0"/>
              <a:t>Diagnosis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Examination of faeces for the larvae</a:t>
            </a:r>
          </a:p>
          <a:p>
            <a:pPr lvl="0">
              <a:buFont typeface="Wingdings" pitchFamily="2" charset="2"/>
              <a:buChar char="v"/>
            </a:pPr>
            <a:r>
              <a:rPr lang="en-US" dirty="0">
                <a:solidFill>
                  <a:srgbClr val="00B0F0"/>
                </a:solidFill>
              </a:rPr>
              <a:t>Examination of duodenal  aspirates for the larvae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In widespread infections, </a:t>
            </a:r>
            <a:r>
              <a:rPr lang="en-US" dirty="0">
                <a:solidFill>
                  <a:srgbClr val="00B0F0"/>
                </a:solidFill>
              </a:rPr>
              <a:t>larvae may be found in most body fluids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5941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Strongyloides </a:t>
            </a:r>
            <a:r>
              <a:rPr lang="en-US" b="1" i="1" dirty="0" err="1" smtClean="0"/>
              <a:t>fuelleborni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This </a:t>
            </a:r>
            <a:r>
              <a:rPr lang="en-US" dirty="0"/>
              <a:t>species is a natural parasite of monkeys and dogs but may also infect </a:t>
            </a:r>
            <a:r>
              <a:rPr lang="en-US" dirty="0" smtClean="0"/>
              <a:t>humans</a:t>
            </a:r>
            <a:r>
              <a:rPr lang="en-US" dirty="0"/>
              <a:t> </a:t>
            </a:r>
          </a:p>
          <a:p>
            <a:pPr algn="ctr">
              <a:buFont typeface="Wingdings" pitchFamily="2" charset="2"/>
              <a:buChar char="v"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Distribution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/>
              <a:t>Human infection with this and related species occur in tropical Africa and Papua New, especially in young children and infants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851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Strongyloides </a:t>
            </a:r>
            <a:r>
              <a:rPr lang="en-US" b="1" i="1" dirty="0" err="1" smtClean="0"/>
              <a:t>fuelleborni</a:t>
            </a:r>
            <a:r>
              <a:rPr lang="en-US" b="1" i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In Papua New Guinea, the infections are associated with an acute infantile disease known as “Swollen Belly Syndrome’’/ Sickness” (Monkeys are reportedly absent in P. New Guinea)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The disease is </a:t>
            </a:r>
            <a:r>
              <a:rPr lang="en-US" dirty="0" err="1" smtClean="0"/>
              <a:t>charaterised</a:t>
            </a:r>
            <a:r>
              <a:rPr lang="en-US" dirty="0" smtClean="0"/>
              <a:t> by respiratory distress, abdominal distension and generalized </a:t>
            </a:r>
            <a:r>
              <a:rPr lang="en-US" dirty="0" err="1" smtClean="0"/>
              <a:t>oedema</a:t>
            </a:r>
            <a:r>
              <a:rPr lang="en-US" dirty="0" smtClean="0"/>
              <a:t>, with very heavy egg loads.</a:t>
            </a:r>
          </a:p>
          <a:p>
            <a:pPr marL="0" indent="0">
              <a:buNone/>
            </a:pPr>
            <a:r>
              <a:rPr lang="en-US" dirty="0" smtClean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0359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Strongyloides </a:t>
            </a:r>
            <a:r>
              <a:rPr lang="en-US" b="1" i="1" dirty="0" err="1" smtClean="0"/>
              <a:t>fuelleborni</a:t>
            </a:r>
            <a:r>
              <a:rPr lang="en-US" b="1" i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Diagnosis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/>
              <a:t>Examination of fresh </a:t>
            </a:r>
            <a:r>
              <a:rPr lang="en-US" dirty="0" err="1"/>
              <a:t>faeces</a:t>
            </a:r>
            <a:r>
              <a:rPr lang="en-US" dirty="0"/>
              <a:t> for the eggs of the parasite.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8836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Trichuris trichiura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This </a:t>
            </a:r>
            <a:r>
              <a:rPr lang="en-US" dirty="0"/>
              <a:t>nematode is also known as the Whipworm and causes the infection known as </a:t>
            </a:r>
            <a:r>
              <a:rPr lang="en-US" dirty="0" err="1"/>
              <a:t>trichuriasis</a:t>
            </a:r>
            <a:endParaRPr lang="en-US" dirty="0"/>
          </a:p>
          <a:p>
            <a:pPr marL="0" indent="0" algn="ctr">
              <a:buNone/>
            </a:pPr>
            <a:r>
              <a:rPr lang="en-US" b="1" dirty="0"/>
              <a:t>Distribution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Worldwide but especially found in worm moist climates, and most prevalent in the Caribbean, South east Asia and Africa; rare in arid regions and at high altitudes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6620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Trichuris trichiura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Transmission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/>
              <a:t>By faecal pollution of the soil; human ingests infective eggs in contaminated food or hands; children most </a:t>
            </a:r>
            <a:r>
              <a:rPr lang="en-US" dirty="0" smtClean="0"/>
              <a:t>infected</a:t>
            </a:r>
            <a:r>
              <a:rPr lang="en-US" dirty="0"/>
              <a:t> </a:t>
            </a:r>
          </a:p>
          <a:p>
            <a:pPr marL="0" indent="0" algn="ctr">
              <a:buNone/>
            </a:pPr>
            <a:r>
              <a:rPr lang="en-US" b="1" dirty="0"/>
              <a:t>Life Cycle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On ingestion of eggs, larvae hatch in the small intestine and penetrate the villi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6635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Trichuris trichiura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US" dirty="0" smtClean="0"/>
              <a:t>After about a week of development the larvae migrate to large intestine  (caecum) and at times the colon and rectum where they are attached by their thin anterior end to the mucosa; and mature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After mating, the females lay eggs which are passed out in the </a:t>
            </a:r>
            <a:r>
              <a:rPr lang="en-US" dirty="0" err="1"/>
              <a:t>faeces</a:t>
            </a:r>
            <a:r>
              <a:rPr lang="en-US" dirty="0"/>
              <a:t> of the host, and mature in the soil, developing the larvae (and becoming infective) in 2-3 weeks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6602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Trichuris trichiura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Eggs readily contaminate vegetables when night soil is used to fertilize land or where sanitary conditions are poor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Eggs can remain infective for several months in moist warm soil; </a:t>
            </a: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they </a:t>
            </a:r>
            <a:r>
              <a:rPr lang="en-US" dirty="0"/>
              <a:t>are unable to withstand </a:t>
            </a:r>
            <a:r>
              <a:rPr lang="en-US" dirty="0" err="1"/>
              <a:t>dessication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6259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Trichuris trichiura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Symptoms and Pathology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Light infections produce few symptoms;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Heavy infections cause abdominal pain and </a:t>
            </a:r>
            <a:r>
              <a:rPr lang="en-US" dirty="0" err="1"/>
              <a:t>diarrhoea</a:t>
            </a:r>
            <a:r>
              <a:rPr lang="en-US" dirty="0"/>
              <a:t> often with blood and in young children there may be rectal prolapse following chronic bloody diarrhea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There may be intestinal ulceration, anaemia, stunted growth and weight loss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3397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Trichuris trichiura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Fatality </a:t>
            </a:r>
            <a:r>
              <a:rPr lang="en-US" dirty="0"/>
              <a:t>may result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Severe infection may predispose to E. </a:t>
            </a:r>
            <a:r>
              <a:rPr lang="en-US" dirty="0" err="1"/>
              <a:t>histolytica</a:t>
            </a:r>
            <a:r>
              <a:rPr lang="en-US" dirty="0"/>
              <a:t> infection and with pathogenic </a:t>
            </a:r>
            <a:r>
              <a:rPr lang="en-US" dirty="0" err="1"/>
              <a:t>enterobacteria</a:t>
            </a:r>
            <a:r>
              <a:rPr lang="en-US" dirty="0"/>
              <a:t> (e.g. </a:t>
            </a:r>
            <a:r>
              <a:rPr lang="en-US" i="1" dirty="0" err="1"/>
              <a:t>Shigella</a:t>
            </a:r>
            <a:r>
              <a:rPr lang="en-US" dirty="0"/>
              <a:t> sp.)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Migrating worms may cause appendicitis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15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Trichuris trichiura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Prevention and Control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Preventing faecal pollution of soil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Treatment of infected </a:t>
            </a:r>
            <a:r>
              <a:rPr lang="en-US" dirty="0" smtClean="0"/>
              <a:t>individuals</a:t>
            </a:r>
            <a:r>
              <a:rPr lang="en-US" dirty="0"/>
              <a:t> </a:t>
            </a:r>
          </a:p>
          <a:p>
            <a:pPr marL="0" indent="0" algn="ctr">
              <a:buNone/>
            </a:pPr>
            <a:r>
              <a:rPr lang="en-US" b="1" dirty="0"/>
              <a:t>Diagnosis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Examination of </a:t>
            </a:r>
            <a:r>
              <a:rPr lang="en-US" dirty="0" err="1"/>
              <a:t>faeces</a:t>
            </a:r>
            <a:r>
              <a:rPr lang="en-US" dirty="0"/>
              <a:t> for the eggs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Examination of the rectum for worms, using a </a:t>
            </a:r>
            <a:r>
              <a:rPr lang="en-US" dirty="0" err="1"/>
              <a:t>proctoscope</a:t>
            </a:r>
            <a:r>
              <a:rPr lang="en-US" dirty="0"/>
              <a:t>, in heavy infections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1469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err="1" smtClean="0"/>
              <a:t>Trichostrongylus</a:t>
            </a:r>
            <a:r>
              <a:rPr lang="en-US" b="1" i="1" dirty="0" smtClean="0"/>
              <a:t> </a:t>
            </a:r>
            <a:r>
              <a:rPr lang="en-US" b="1" i="1" dirty="0" err="1" smtClean="0"/>
              <a:t>sp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These </a:t>
            </a:r>
            <a:r>
              <a:rPr lang="en-US" dirty="0"/>
              <a:t>nematodes, also referred to as pseudo-hookworms, are mainly parasites in the digestive tract of ruminants, rodents, and equines. Several species can infect humans.</a:t>
            </a:r>
          </a:p>
          <a:p>
            <a:pPr marL="0" indent="0" algn="ctr">
              <a:buNone/>
            </a:pPr>
            <a:r>
              <a:rPr lang="en-US" b="1" dirty="0"/>
              <a:t>Distribution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/>
              <a:t>They are reported from parts of Africa (e.g. Egypt), Iran, Iraq, Indonesia, South-east Asia, India, Japan and Chile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647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err="1" smtClean="0"/>
              <a:t>Trichostrongylus</a:t>
            </a:r>
            <a:r>
              <a:rPr lang="en-US" b="1" i="1" dirty="0" smtClean="0"/>
              <a:t> </a:t>
            </a:r>
            <a:r>
              <a:rPr lang="en-US" b="1" i="1" dirty="0" err="1" smtClean="0"/>
              <a:t>sp</a:t>
            </a:r>
            <a:r>
              <a:rPr lang="en-US" b="1" i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Transmission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/>
              <a:t>Ingestion of L</a:t>
            </a:r>
            <a:r>
              <a:rPr lang="en-US" baseline="-25000" dirty="0"/>
              <a:t>3 </a:t>
            </a:r>
            <a:r>
              <a:rPr lang="en-US" dirty="0"/>
              <a:t>(infective) larvae in contaminated food or drink</a:t>
            </a:r>
          </a:p>
          <a:p>
            <a:pPr marL="0" indent="0" algn="ctr">
              <a:buNone/>
            </a:pPr>
            <a:r>
              <a:rPr lang="en-US" b="1" dirty="0"/>
              <a:t>Life Cycle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Larvae develop in the intestine into the adult worm which burrows into the mucosa to derive nutrients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Eggs produced are passed out in the </a:t>
            </a:r>
            <a:r>
              <a:rPr lang="en-US" dirty="0" err="1"/>
              <a:t>faeces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943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err="1" smtClean="0"/>
              <a:t>Trichostrongylus</a:t>
            </a:r>
            <a:r>
              <a:rPr lang="en-US" b="1" i="1" dirty="0" smtClean="0"/>
              <a:t> </a:t>
            </a:r>
            <a:r>
              <a:rPr lang="en-US" b="1" i="1" dirty="0" err="1" smtClean="0"/>
              <a:t>sp</a:t>
            </a:r>
            <a:r>
              <a:rPr lang="en-US" b="1" i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Symptoms and Pathology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The worms suck blood from the host and may, thus, contribute to anaemia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Clinical features are, however, less severe than those of hookworm</a:t>
            </a:r>
          </a:p>
          <a:p>
            <a:pPr marL="0" indent="0" algn="ctr">
              <a:buNone/>
            </a:pPr>
            <a:r>
              <a:rPr lang="en-US" b="1" dirty="0"/>
              <a:t>Prevention and Control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Personal and environmental sanitation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Thorough cooking of meats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7648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err="1" smtClean="0"/>
              <a:t>Trichostrongylus</a:t>
            </a:r>
            <a:r>
              <a:rPr lang="en-US" b="1" i="1" dirty="0" smtClean="0"/>
              <a:t> </a:t>
            </a:r>
            <a:r>
              <a:rPr lang="en-US" b="1" i="1" dirty="0" err="1" smtClean="0"/>
              <a:t>sp</a:t>
            </a:r>
            <a:r>
              <a:rPr lang="en-US" b="1" i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b="1" dirty="0"/>
              <a:t>Diagnosis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Examination of </a:t>
            </a:r>
            <a:r>
              <a:rPr lang="en-US" dirty="0" err="1"/>
              <a:t>faeces</a:t>
            </a:r>
            <a:r>
              <a:rPr lang="en-US" dirty="0"/>
              <a:t> for the eggs, which hookworm-like are much larger than those of </a:t>
            </a:r>
            <a:r>
              <a:rPr lang="en-US" i="1" dirty="0"/>
              <a:t>S. stercoralis</a:t>
            </a:r>
            <a:r>
              <a:rPr lang="en-US" dirty="0"/>
              <a:t> which contains an embryonic larva ready to hatch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The eggs are longer and thinner than those of hookworm and more pointed at one or both ends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The adult female, however, lacks the distinct </a:t>
            </a:r>
            <a:r>
              <a:rPr lang="en-US" dirty="0" err="1"/>
              <a:t>buccal</a:t>
            </a:r>
            <a:r>
              <a:rPr lang="en-US" dirty="0"/>
              <a:t> cavity of the human hookworms.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4118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err="1" smtClean="0"/>
              <a:t>Capillaria</a:t>
            </a:r>
            <a:r>
              <a:rPr lang="en-US" b="1" i="1" dirty="0" smtClean="0"/>
              <a:t> </a:t>
            </a:r>
            <a:r>
              <a:rPr lang="en-US" b="1" i="1" dirty="0" err="1" smtClean="0"/>
              <a:t>philippinensis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This </a:t>
            </a:r>
            <a:r>
              <a:rPr lang="en-US" dirty="0"/>
              <a:t>is a relatively small whipworm which is parasitic in fish-eating birds but which can infect humans, causing the </a:t>
            </a:r>
            <a:r>
              <a:rPr lang="en-US" dirty="0" smtClean="0"/>
              <a:t>disease, </a:t>
            </a:r>
            <a:r>
              <a:rPr lang="en-US" dirty="0" err="1" smtClean="0"/>
              <a:t>Capillariasis</a:t>
            </a:r>
            <a:endParaRPr lang="en-US" dirty="0"/>
          </a:p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Distribution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/>
              <a:t>It is found in the Philippine islands, especially in the northern Luzon, and in Thailand and, in recent times, in Japan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7101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err="1" smtClean="0"/>
              <a:t>Capillaria</a:t>
            </a:r>
            <a:r>
              <a:rPr lang="en-US" b="1" i="1" dirty="0" smtClean="0"/>
              <a:t> </a:t>
            </a:r>
            <a:r>
              <a:rPr lang="en-US" b="1" i="1" dirty="0" err="1" smtClean="0"/>
              <a:t>philippinensis</a:t>
            </a:r>
            <a:r>
              <a:rPr lang="en-US" b="1" i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Transmission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/>
              <a:t>By ingestion of infective eggs in raw, undercooked, or pickled fish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Occasionally, infective larvae develop in the intestine and cause autoinfection</a:t>
            </a:r>
          </a:p>
          <a:p>
            <a:pPr marL="0" indent="0" algn="ctr">
              <a:buNone/>
            </a:pPr>
            <a:r>
              <a:rPr lang="en-US" b="1" dirty="0"/>
              <a:t>Life Cycle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Ingested eggs hatch and develop into mature worms in the small intestine where they become embedded in the mucosa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5843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err="1" smtClean="0"/>
              <a:t>Capillaria</a:t>
            </a:r>
            <a:r>
              <a:rPr lang="en-US" b="1" i="1" dirty="0" smtClean="0"/>
              <a:t> </a:t>
            </a:r>
            <a:r>
              <a:rPr lang="en-US" b="1" i="1" dirty="0" err="1" smtClean="0"/>
              <a:t>philippinensis</a:t>
            </a:r>
            <a:r>
              <a:rPr lang="en-US" b="1" i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US" dirty="0"/>
              <a:t>Eggs produced by the female are passed out in </a:t>
            </a:r>
            <a:r>
              <a:rPr lang="en-US" dirty="0" err="1"/>
              <a:t>faeces</a:t>
            </a:r>
            <a:r>
              <a:rPr lang="en-US" dirty="0"/>
              <a:t> and require a period of development in the environment before becoming infective</a:t>
            </a:r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US" dirty="0" smtClean="0"/>
              <a:t>Larval </a:t>
            </a:r>
            <a:r>
              <a:rPr lang="en-US" dirty="0"/>
              <a:t>stages have been found in several species of fresh and salt water fish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Fish eating birds are considered as natural definitive hosts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6372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err="1" smtClean="0"/>
              <a:t>Capillaria</a:t>
            </a:r>
            <a:r>
              <a:rPr lang="en-US" b="1" i="1" dirty="0" smtClean="0"/>
              <a:t> </a:t>
            </a:r>
            <a:r>
              <a:rPr lang="en-US" b="1" i="1" dirty="0" err="1" smtClean="0"/>
              <a:t>philippinensis</a:t>
            </a:r>
            <a:r>
              <a:rPr lang="en-US" b="1" i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Symptoms and Pathology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Early and mild infections cause abdominal pain, intestinal ‘gurgling’ and chronic watery diarrhea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Heavy infections may lead to muscle wasting and </a:t>
            </a:r>
            <a:r>
              <a:rPr lang="en-US" dirty="0" err="1"/>
              <a:t>oedema</a:t>
            </a:r>
            <a:r>
              <a:rPr lang="en-US" dirty="0"/>
              <a:t> as a result of protein loss and severe </a:t>
            </a:r>
            <a:r>
              <a:rPr lang="en-US" dirty="0" err="1"/>
              <a:t>malabsorption</a:t>
            </a:r>
            <a:r>
              <a:rPr lang="en-US" dirty="0"/>
              <a:t> of fats and sugars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Plasma levels of potassium, sodium and calcium are reduced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0593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err="1" smtClean="0"/>
              <a:t>Capillaria</a:t>
            </a:r>
            <a:r>
              <a:rPr lang="en-US" b="1" i="1" dirty="0" smtClean="0"/>
              <a:t> </a:t>
            </a:r>
            <a:r>
              <a:rPr lang="en-US" b="1" i="1" dirty="0" err="1" smtClean="0"/>
              <a:t>philippinensis</a:t>
            </a:r>
            <a:r>
              <a:rPr lang="en-US" b="1" i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Prevention and Control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Thorough cooking of fish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Crustaceans may act as carrier hosts and should be well cooked before eating</a:t>
            </a:r>
          </a:p>
          <a:p>
            <a:pPr marL="0" indent="0" algn="ctr">
              <a:buNone/>
            </a:pPr>
            <a:r>
              <a:rPr lang="en-US" b="1" dirty="0"/>
              <a:t>Diagnosis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Examination of </a:t>
            </a:r>
            <a:r>
              <a:rPr lang="en-US" dirty="0" err="1"/>
              <a:t>faeces</a:t>
            </a:r>
            <a:r>
              <a:rPr lang="en-US" dirty="0"/>
              <a:t> for the eggs, using the faecal concentration technique, if possible.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43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2355</Words>
  <Application>Microsoft Office PowerPoint</Application>
  <PresentationFormat>On-screen Show (4:3)</PresentationFormat>
  <Paragraphs>248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Arial</vt:lpstr>
      <vt:lpstr>Calibri</vt:lpstr>
      <vt:lpstr>Wingdings</vt:lpstr>
      <vt:lpstr>Office Theme</vt:lpstr>
      <vt:lpstr>PARASITOLOGY (BIOL 460)</vt:lpstr>
      <vt:lpstr>PowerPoint Presentation</vt:lpstr>
      <vt:lpstr> INTESTINAL NEMATODES </vt:lpstr>
      <vt:lpstr> INTESTINAL NEMATODES CONT’D </vt:lpstr>
      <vt:lpstr> INTESTINAL NEMATODES CONT’D </vt:lpstr>
      <vt:lpstr> Ascaris lumbricoides </vt:lpstr>
      <vt:lpstr> Ascaris lumbricoides cont’d </vt:lpstr>
      <vt:lpstr> Ascaris lumbricoides cont’d </vt:lpstr>
      <vt:lpstr> Ascaris lumbricoides cont’d </vt:lpstr>
      <vt:lpstr> Ascaris lumbricoides cont’d </vt:lpstr>
      <vt:lpstr> Ascaris lumbricoides cont’d </vt:lpstr>
      <vt:lpstr> Ascaris lumbricoides cont’d </vt:lpstr>
      <vt:lpstr> Ascaris lumbricoides cont’d </vt:lpstr>
      <vt:lpstr> Ascaris lumbricoides cont’d </vt:lpstr>
      <vt:lpstr> Ascaris lumbricoides cont’d </vt:lpstr>
      <vt:lpstr> Enterobius vermicularis </vt:lpstr>
      <vt:lpstr> Enterobius vermicularis cont’d </vt:lpstr>
      <vt:lpstr> Enterobius vermicularis cont’d </vt:lpstr>
      <vt:lpstr> Enterobius vermicularis cont’d </vt:lpstr>
      <vt:lpstr> Enterobius vermicularis cont’d </vt:lpstr>
      <vt:lpstr> Enterobius vermicularis cont’d </vt:lpstr>
      <vt:lpstr> Enterobius vermicularis cont’d </vt:lpstr>
      <vt:lpstr> Strongyloides stercoralis </vt:lpstr>
      <vt:lpstr> Strongyloides stercoralis cont’d </vt:lpstr>
      <vt:lpstr> Strongyloides stercoralis cont’d </vt:lpstr>
      <vt:lpstr> Strongyloides stercoralis cont’d </vt:lpstr>
      <vt:lpstr> Strongyloides stercoralis cont’d </vt:lpstr>
      <vt:lpstr> Strongyloides stercoralis cont’d </vt:lpstr>
      <vt:lpstr> Strongyloides stercoralis cont’d </vt:lpstr>
      <vt:lpstr> Strongyloides stercoralis cont’d </vt:lpstr>
      <vt:lpstr> Strongyloides stercoralis cont’d </vt:lpstr>
      <vt:lpstr> Strongyloides stercoralis cont’d </vt:lpstr>
      <vt:lpstr> Strongyloides stercoralis cont’d </vt:lpstr>
      <vt:lpstr> Strongyloides stercoralis cont’d </vt:lpstr>
      <vt:lpstr> Strongyloides stercoralis cont’d </vt:lpstr>
      <vt:lpstr> Strongyloides stercoralis cont’d </vt:lpstr>
      <vt:lpstr> Strongyloides fuelleborni </vt:lpstr>
      <vt:lpstr> Strongyloides fuelleborni Cont’d </vt:lpstr>
      <vt:lpstr> Strongyloides fuelleborni Cont’d </vt:lpstr>
      <vt:lpstr> Trichuris trichiura </vt:lpstr>
      <vt:lpstr> Trichuris trichiura cont’d </vt:lpstr>
      <vt:lpstr> Trichuris trichiura cont’d </vt:lpstr>
      <vt:lpstr> Trichuris trichiura cont’d </vt:lpstr>
      <vt:lpstr> Trichuris trichiura cont’d </vt:lpstr>
      <vt:lpstr> Trichuris trichiura cont’d </vt:lpstr>
      <vt:lpstr> Trichuris trichiura cont’d </vt:lpstr>
      <vt:lpstr> Trichostrongylus sp </vt:lpstr>
      <vt:lpstr> Trichostrongylus sp cont’d </vt:lpstr>
      <vt:lpstr> Trichostrongylus sp cont’d </vt:lpstr>
      <vt:lpstr> Trichostrongylus sp cont’d </vt:lpstr>
      <vt:lpstr> Capillaria philippinensis </vt:lpstr>
      <vt:lpstr> Capillaria philippinensis cont’d </vt:lpstr>
      <vt:lpstr> Capillaria philippinensis cont’d </vt:lpstr>
      <vt:lpstr> Capillaria philippinensis cont’d </vt:lpstr>
      <vt:lpstr> Capillaria philippinensis cont’d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PARASITOLOGY (BIOL 460)</dc:title>
  <dc:creator>PROFESSOR LAWSON</dc:creator>
  <cp:lastModifiedBy>E6410</cp:lastModifiedBy>
  <cp:revision>19</cp:revision>
  <dcterms:created xsi:type="dcterms:W3CDTF">2018-03-13T11:47:55Z</dcterms:created>
  <dcterms:modified xsi:type="dcterms:W3CDTF">2020-03-01T22:57:09Z</dcterms:modified>
</cp:coreProperties>
</file>