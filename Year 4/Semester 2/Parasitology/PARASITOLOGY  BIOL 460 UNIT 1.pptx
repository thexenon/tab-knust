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8" r:id="rId43"/>
    <p:sldId id="299" r:id="rId44"/>
    <p:sldId id="300" r:id="rId45"/>
    <p:sldId id="301" r:id="rId46"/>
    <p:sldId id="302" r:id="rId47"/>
    <p:sldId id="303" r:id="rId48"/>
    <p:sldId id="304" r:id="rId49"/>
    <p:sldId id="305" r:id="rId50"/>
    <p:sldId id="306" r:id="rId51"/>
    <p:sldId id="307" r:id="rId52"/>
    <p:sldId id="308" r:id="rId53"/>
    <p:sldId id="309" r:id="rId54"/>
    <p:sldId id="310" r:id="rId55"/>
    <p:sldId id="311" r:id="rId56"/>
    <p:sldId id="312" r:id="rId57"/>
    <p:sldId id="313" r:id="rId58"/>
    <p:sldId id="314" r:id="rId59"/>
    <p:sldId id="315" r:id="rId60"/>
    <p:sldId id="316" r:id="rId61"/>
    <p:sldId id="317" r:id="rId62"/>
    <p:sldId id="318" r:id="rId63"/>
    <p:sldId id="319" r:id="rId64"/>
    <p:sldId id="320" r:id="rId65"/>
    <p:sldId id="321" r:id="rId66"/>
    <p:sldId id="322" r:id="rId67"/>
    <p:sldId id="323" r:id="rId6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p:restoredLeft sz="8881" autoAdjust="0"/>
    <p:restoredTop sz="94660"/>
  </p:normalViewPr>
  <p:slideViewPr>
    <p:cSldViewPr>
      <p:cViewPr varScale="1">
        <p:scale>
          <a:sx n="88" d="100"/>
          <a:sy n="88" d="100"/>
        </p:scale>
        <p:origin x="1500" y="96"/>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 Type="http://schemas.openxmlformats.org/officeDocument/2006/relationships/slide" Target="slides/slide6.xml"/><Relationship Id="rId71"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2BECF6-A62D-4032-8BE1-25966D98925B}" type="datetimeFigureOut">
              <a:rPr lang="en-US" smtClean="0"/>
              <a:t>4/17/2020</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96C6B96-4643-449B-AFC2-899123E408F7}" type="slidenum">
              <a:rPr lang="en-US" smtClean="0"/>
              <a:t>‹#›</a:t>
            </a:fld>
            <a:endParaRPr lang="en-US"/>
          </a:p>
        </p:txBody>
      </p:sp>
    </p:spTree>
    <p:extLst>
      <p:ext uri="{BB962C8B-B14F-4D97-AF65-F5344CB8AC3E}">
        <p14:creationId xmlns:p14="http://schemas.microsoft.com/office/powerpoint/2010/main" val="35028723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96C6B96-4643-449B-AFC2-899123E408F7}" type="slidenum">
              <a:rPr lang="en-US" smtClean="0"/>
              <a:t>40</a:t>
            </a:fld>
            <a:endParaRPr lang="en-US"/>
          </a:p>
        </p:txBody>
      </p:sp>
    </p:spTree>
    <p:extLst>
      <p:ext uri="{BB962C8B-B14F-4D97-AF65-F5344CB8AC3E}">
        <p14:creationId xmlns:p14="http://schemas.microsoft.com/office/powerpoint/2010/main" val="243486772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7B3B95B0-BC85-4B58-B100-9DF2C4DFFF04}" type="datetimeFigureOut">
              <a:rPr lang="en-US" smtClean="0"/>
              <a:t>4/17/2020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C6040F4-B282-4ADC-A81C-61263EC0118E}" type="slidenum">
              <a:rPr lang="en-US" smtClean="0"/>
              <a:t>‹#›</a:t>
            </a:fld>
            <a:endParaRPr lang="en-US"/>
          </a:p>
        </p:txBody>
      </p:sp>
    </p:spTree>
    <p:extLst>
      <p:ext uri="{BB962C8B-B14F-4D97-AF65-F5344CB8AC3E}">
        <p14:creationId xmlns:p14="http://schemas.microsoft.com/office/powerpoint/2010/main" val="29836099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B3B95B0-BC85-4B58-B100-9DF2C4DFFF04}" type="datetimeFigureOut">
              <a:rPr lang="en-US" smtClean="0"/>
              <a:t>4/17/2020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C6040F4-B282-4ADC-A81C-61263EC0118E}" type="slidenum">
              <a:rPr lang="en-US" smtClean="0"/>
              <a:t>‹#›</a:t>
            </a:fld>
            <a:endParaRPr lang="en-US"/>
          </a:p>
        </p:txBody>
      </p:sp>
    </p:spTree>
    <p:extLst>
      <p:ext uri="{BB962C8B-B14F-4D97-AF65-F5344CB8AC3E}">
        <p14:creationId xmlns:p14="http://schemas.microsoft.com/office/powerpoint/2010/main" val="24817672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7B3B95B0-BC85-4B58-B100-9DF2C4DFFF04}" type="datetimeFigureOut">
              <a:rPr lang="en-US" smtClean="0"/>
              <a:t>4/17/2020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C6040F4-B282-4ADC-A81C-61263EC0118E}" type="slidenum">
              <a:rPr lang="en-US" smtClean="0"/>
              <a:t>‹#›</a:t>
            </a:fld>
            <a:endParaRPr lang="en-US"/>
          </a:p>
        </p:txBody>
      </p:sp>
    </p:spTree>
    <p:extLst>
      <p:ext uri="{BB962C8B-B14F-4D97-AF65-F5344CB8AC3E}">
        <p14:creationId xmlns:p14="http://schemas.microsoft.com/office/powerpoint/2010/main" val="24735065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7B3B95B0-BC85-4B58-B100-9DF2C4DFFF04}" type="datetimeFigureOut">
              <a:rPr lang="en-US" smtClean="0"/>
              <a:t>4/17/2020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C6040F4-B282-4ADC-A81C-61263EC0118E}" type="slidenum">
              <a:rPr lang="en-US" smtClean="0"/>
              <a:t>‹#›</a:t>
            </a:fld>
            <a:endParaRPr lang="en-US"/>
          </a:p>
        </p:txBody>
      </p:sp>
    </p:spTree>
    <p:extLst>
      <p:ext uri="{BB962C8B-B14F-4D97-AF65-F5344CB8AC3E}">
        <p14:creationId xmlns:p14="http://schemas.microsoft.com/office/powerpoint/2010/main" val="24689400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7B3B95B0-BC85-4B58-B100-9DF2C4DFFF04}" type="datetimeFigureOut">
              <a:rPr lang="en-US" smtClean="0"/>
              <a:t>4/17/2020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C6040F4-B282-4ADC-A81C-61263EC0118E}" type="slidenum">
              <a:rPr lang="en-US" smtClean="0"/>
              <a:t>‹#›</a:t>
            </a:fld>
            <a:endParaRPr lang="en-US"/>
          </a:p>
        </p:txBody>
      </p:sp>
    </p:spTree>
    <p:extLst>
      <p:ext uri="{BB962C8B-B14F-4D97-AF65-F5344CB8AC3E}">
        <p14:creationId xmlns:p14="http://schemas.microsoft.com/office/powerpoint/2010/main" val="35095661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7B3B95B0-BC85-4B58-B100-9DF2C4DFFF04}" type="datetimeFigureOut">
              <a:rPr lang="en-US" smtClean="0"/>
              <a:t>4/17/2020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C6040F4-B282-4ADC-A81C-61263EC0118E}" type="slidenum">
              <a:rPr lang="en-US" smtClean="0"/>
              <a:t>‹#›</a:t>
            </a:fld>
            <a:endParaRPr lang="en-US"/>
          </a:p>
        </p:txBody>
      </p:sp>
    </p:spTree>
    <p:extLst>
      <p:ext uri="{BB962C8B-B14F-4D97-AF65-F5344CB8AC3E}">
        <p14:creationId xmlns:p14="http://schemas.microsoft.com/office/powerpoint/2010/main" val="29648817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B3B95B0-BC85-4B58-B100-9DF2C4DFFF04}" type="datetimeFigureOut">
              <a:rPr lang="en-US" smtClean="0"/>
              <a:t>4/17/2020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C6040F4-B282-4ADC-A81C-61263EC0118E}" type="slidenum">
              <a:rPr lang="en-US" smtClean="0"/>
              <a:t>‹#›</a:t>
            </a:fld>
            <a:endParaRPr lang="en-US"/>
          </a:p>
        </p:txBody>
      </p:sp>
    </p:spTree>
    <p:extLst>
      <p:ext uri="{BB962C8B-B14F-4D97-AF65-F5344CB8AC3E}">
        <p14:creationId xmlns:p14="http://schemas.microsoft.com/office/powerpoint/2010/main" val="33529117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B3B95B0-BC85-4B58-B100-9DF2C4DFFF04}" type="datetimeFigureOut">
              <a:rPr lang="en-US" smtClean="0"/>
              <a:t>4/17/2020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C6040F4-B282-4ADC-A81C-61263EC0118E}" type="slidenum">
              <a:rPr lang="en-US" smtClean="0"/>
              <a:t>‹#›</a:t>
            </a:fld>
            <a:endParaRPr lang="en-US"/>
          </a:p>
        </p:txBody>
      </p:sp>
    </p:spTree>
    <p:extLst>
      <p:ext uri="{BB962C8B-B14F-4D97-AF65-F5344CB8AC3E}">
        <p14:creationId xmlns:p14="http://schemas.microsoft.com/office/powerpoint/2010/main" val="35434049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B3B95B0-BC85-4B58-B100-9DF2C4DFFF04}" type="datetimeFigureOut">
              <a:rPr lang="en-US" smtClean="0"/>
              <a:t>4/17/2020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C6040F4-B282-4ADC-A81C-61263EC0118E}" type="slidenum">
              <a:rPr lang="en-US" smtClean="0"/>
              <a:t>‹#›</a:t>
            </a:fld>
            <a:endParaRPr lang="en-US"/>
          </a:p>
        </p:txBody>
      </p:sp>
    </p:spTree>
    <p:extLst>
      <p:ext uri="{BB962C8B-B14F-4D97-AF65-F5344CB8AC3E}">
        <p14:creationId xmlns:p14="http://schemas.microsoft.com/office/powerpoint/2010/main" val="19126958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B3B95B0-BC85-4B58-B100-9DF2C4DFFF04}" type="datetimeFigureOut">
              <a:rPr lang="en-US" smtClean="0"/>
              <a:t>4/17/2020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C6040F4-B282-4ADC-A81C-61263EC0118E}" type="slidenum">
              <a:rPr lang="en-US" smtClean="0"/>
              <a:t>‹#›</a:t>
            </a:fld>
            <a:endParaRPr lang="en-US"/>
          </a:p>
        </p:txBody>
      </p:sp>
    </p:spTree>
    <p:extLst>
      <p:ext uri="{BB962C8B-B14F-4D97-AF65-F5344CB8AC3E}">
        <p14:creationId xmlns:p14="http://schemas.microsoft.com/office/powerpoint/2010/main" val="38274483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B3B95B0-BC85-4B58-B100-9DF2C4DFFF04}" type="datetimeFigureOut">
              <a:rPr lang="en-US" smtClean="0"/>
              <a:t>4/17/2020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C6040F4-B282-4ADC-A81C-61263EC0118E}" type="slidenum">
              <a:rPr lang="en-US" smtClean="0"/>
              <a:t>‹#›</a:t>
            </a:fld>
            <a:endParaRPr lang="en-US"/>
          </a:p>
        </p:txBody>
      </p:sp>
    </p:spTree>
    <p:extLst>
      <p:ext uri="{BB962C8B-B14F-4D97-AF65-F5344CB8AC3E}">
        <p14:creationId xmlns:p14="http://schemas.microsoft.com/office/powerpoint/2010/main" val="36772161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B3B95B0-BC85-4B58-B100-9DF2C4DFFF04}" type="datetimeFigureOut">
              <a:rPr lang="en-US" smtClean="0"/>
              <a:t>4/17/2020</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C6040F4-B282-4ADC-A81C-61263EC0118E}" type="slidenum">
              <a:rPr lang="en-US" smtClean="0"/>
              <a:t>‹#›</a:t>
            </a:fld>
            <a:endParaRPr lang="en-US"/>
          </a:p>
        </p:txBody>
      </p:sp>
    </p:spTree>
    <p:extLst>
      <p:ext uri="{BB962C8B-B14F-4D97-AF65-F5344CB8AC3E}">
        <p14:creationId xmlns:p14="http://schemas.microsoft.com/office/powerpoint/2010/main" val="304325371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685801"/>
            <a:ext cx="7772400" cy="2914650"/>
          </a:xfrm>
        </p:spPr>
        <p:txBody>
          <a:bodyPr>
            <a:normAutofit/>
          </a:bodyPr>
          <a:lstStyle/>
          <a:p>
            <a:r>
              <a:rPr lang="en-US" sz="6000" dirty="0" smtClean="0"/>
              <a:t>PARASITOLOGY</a:t>
            </a:r>
            <a:r>
              <a:rPr lang="en-US" sz="6000" dirty="0"/>
              <a:t/>
            </a:r>
            <a:br>
              <a:rPr lang="en-US" sz="6000" dirty="0"/>
            </a:br>
            <a:r>
              <a:rPr lang="en-US" sz="6000" dirty="0" smtClean="0"/>
              <a:t/>
            </a:r>
            <a:br>
              <a:rPr lang="en-US" sz="6000" dirty="0" smtClean="0"/>
            </a:br>
            <a:r>
              <a:rPr lang="en-US" sz="6000" dirty="0" smtClean="0"/>
              <a:t>BIOL 460</a:t>
            </a:r>
            <a:endParaRPr lang="en-US" sz="6000" dirty="0"/>
          </a:p>
        </p:txBody>
      </p:sp>
    </p:spTree>
    <p:extLst>
      <p:ext uri="{BB962C8B-B14F-4D97-AF65-F5344CB8AC3E}">
        <p14:creationId xmlns:p14="http://schemas.microsoft.com/office/powerpoint/2010/main" val="6911970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GENERAL LECTURE TOPICS</a:t>
            </a:r>
            <a:br>
              <a:rPr lang="en-US" dirty="0" smtClean="0"/>
            </a:br>
            <a:r>
              <a:rPr lang="en-US" dirty="0" smtClean="0"/>
              <a:t> (General Overview)</a:t>
            </a:r>
            <a:endParaRPr lang="en-US" dirty="0"/>
          </a:p>
        </p:txBody>
      </p:sp>
      <p:sp>
        <p:nvSpPr>
          <p:cNvPr id="3" name="Content Placeholder 2"/>
          <p:cNvSpPr>
            <a:spLocks noGrp="1"/>
          </p:cNvSpPr>
          <p:nvPr>
            <p:ph idx="1"/>
          </p:nvPr>
        </p:nvSpPr>
        <p:spPr/>
        <p:txBody>
          <a:bodyPr>
            <a:normAutofit lnSpcReduction="10000"/>
          </a:bodyPr>
          <a:lstStyle/>
          <a:p>
            <a:pPr marL="0" indent="0" algn="ctr">
              <a:buNone/>
            </a:pPr>
            <a:r>
              <a:rPr lang="en-US" b="1" dirty="0" smtClean="0"/>
              <a:t>UNIT I</a:t>
            </a:r>
          </a:p>
          <a:p>
            <a:pPr marL="0" lvl="0" indent="0">
              <a:buNone/>
            </a:pPr>
            <a:r>
              <a:rPr lang="en-US" dirty="0" smtClean="0"/>
              <a:t>1. Introduction </a:t>
            </a:r>
            <a:r>
              <a:rPr lang="en-US" dirty="0"/>
              <a:t>to Animal Parasitology </a:t>
            </a:r>
          </a:p>
          <a:p>
            <a:pPr marL="0" lvl="0" indent="0">
              <a:buNone/>
            </a:pPr>
            <a:r>
              <a:rPr lang="en-US" dirty="0" smtClean="0"/>
              <a:t>2. Definition </a:t>
            </a:r>
            <a:r>
              <a:rPr lang="en-US" dirty="0"/>
              <a:t>of </a:t>
            </a:r>
            <a:r>
              <a:rPr lang="en-US" dirty="0" smtClean="0"/>
              <a:t>Terms</a:t>
            </a:r>
          </a:p>
          <a:p>
            <a:pPr marL="0" indent="0">
              <a:buNone/>
            </a:pPr>
            <a:r>
              <a:rPr lang="en-US" dirty="0" smtClean="0"/>
              <a:t>3. </a:t>
            </a:r>
            <a:r>
              <a:rPr lang="en-US" dirty="0"/>
              <a:t>Parasitism as a mode of </a:t>
            </a:r>
            <a:r>
              <a:rPr lang="en-US" dirty="0" smtClean="0"/>
              <a:t>Life</a:t>
            </a:r>
          </a:p>
          <a:p>
            <a:pPr lvl="0">
              <a:buFont typeface="Wingdings" pitchFamily="2" charset="2"/>
              <a:buChar char="v"/>
            </a:pPr>
            <a:r>
              <a:rPr lang="en-US" dirty="0"/>
              <a:t>Niches, habitats and environments of </a:t>
            </a:r>
            <a:r>
              <a:rPr lang="en-US" dirty="0" smtClean="0"/>
              <a:t>parasites</a:t>
            </a:r>
          </a:p>
          <a:p>
            <a:pPr lvl="0">
              <a:buFont typeface="Wingdings" pitchFamily="2" charset="2"/>
              <a:buChar char="v"/>
            </a:pPr>
            <a:r>
              <a:rPr lang="en-US" dirty="0" smtClean="0"/>
              <a:t>Reproductive potential of parasites</a:t>
            </a:r>
            <a:endParaRPr lang="en-US" dirty="0"/>
          </a:p>
          <a:p>
            <a:pPr>
              <a:buFont typeface="Wingdings" pitchFamily="2" charset="2"/>
              <a:buChar char="v"/>
            </a:pPr>
            <a:r>
              <a:rPr lang="en-US" dirty="0" smtClean="0"/>
              <a:t>Modes of transmission of parasites</a:t>
            </a:r>
          </a:p>
          <a:p>
            <a:pPr marL="0" indent="0">
              <a:buNone/>
            </a:pPr>
            <a:endParaRPr lang="en-US" dirty="0"/>
          </a:p>
          <a:p>
            <a:pPr marL="0" lvl="0" indent="0">
              <a:buNone/>
            </a:pPr>
            <a:endParaRPr lang="en-US" dirty="0"/>
          </a:p>
          <a:p>
            <a:pPr marL="0" indent="0">
              <a:buNone/>
            </a:pPr>
            <a:endParaRPr lang="en-US" dirty="0" smtClean="0"/>
          </a:p>
          <a:p>
            <a:pPr>
              <a:buFont typeface="Wingdings" pitchFamily="2" charset="2"/>
              <a:buChar char="v"/>
            </a:pPr>
            <a:endParaRPr lang="en-US" dirty="0" smtClean="0"/>
          </a:p>
          <a:p>
            <a:endParaRPr lang="en-US" dirty="0"/>
          </a:p>
        </p:txBody>
      </p:sp>
    </p:spTree>
    <p:extLst>
      <p:ext uri="{BB962C8B-B14F-4D97-AF65-F5344CB8AC3E}">
        <p14:creationId xmlns:p14="http://schemas.microsoft.com/office/powerpoint/2010/main" val="5093192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(General Overview)</a:t>
            </a:r>
            <a:endParaRPr lang="en-US" dirty="0"/>
          </a:p>
        </p:txBody>
      </p:sp>
      <p:sp>
        <p:nvSpPr>
          <p:cNvPr id="3" name="Content Placeholder 2"/>
          <p:cNvSpPr>
            <a:spLocks noGrp="1"/>
          </p:cNvSpPr>
          <p:nvPr>
            <p:ph idx="1"/>
          </p:nvPr>
        </p:nvSpPr>
        <p:spPr/>
        <p:txBody>
          <a:bodyPr/>
          <a:lstStyle/>
          <a:p>
            <a:pPr marL="0" indent="0" algn="ctr">
              <a:buNone/>
            </a:pPr>
            <a:r>
              <a:rPr lang="en-US" dirty="0" smtClean="0"/>
              <a:t>UNIT. II</a:t>
            </a:r>
          </a:p>
          <a:p>
            <a:pPr marL="0" lvl="0" indent="0" algn="ctr">
              <a:buNone/>
            </a:pPr>
            <a:r>
              <a:rPr lang="en-US" b="1" dirty="0"/>
              <a:t>Classes/Groupings of Parasitic animals</a:t>
            </a:r>
            <a:endParaRPr lang="en-US" dirty="0"/>
          </a:p>
          <a:p>
            <a:pPr marL="514350" lvl="0" indent="-514350">
              <a:buFont typeface="+mj-lt"/>
              <a:buAutoNum type="alphaLcParenR"/>
            </a:pPr>
            <a:r>
              <a:rPr lang="en-US" dirty="0"/>
              <a:t>Protozoa</a:t>
            </a:r>
          </a:p>
          <a:p>
            <a:pPr marL="514350" lvl="0" indent="-514350">
              <a:buFont typeface="+mj-lt"/>
              <a:buAutoNum type="alphaLcParenR"/>
            </a:pPr>
            <a:r>
              <a:rPr lang="en-US" dirty="0"/>
              <a:t>Helminthes</a:t>
            </a:r>
          </a:p>
          <a:p>
            <a:pPr marL="514350" indent="-514350">
              <a:buFont typeface="+mj-lt"/>
              <a:buAutoNum type="alphaLcParenR"/>
            </a:pPr>
            <a:r>
              <a:rPr lang="en-US" dirty="0"/>
              <a:t>Arthropods</a:t>
            </a:r>
            <a:endParaRPr lang="en-US" dirty="0" smtClean="0"/>
          </a:p>
          <a:p>
            <a:pPr marL="0" indent="0">
              <a:buNone/>
            </a:pPr>
            <a:endParaRPr lang="en-US" dirty="0"/>
          </a:p>
        </p:txBody>
      </p:sp>
    </p:spTree>
    <p:extLst>
      <p:ext uri="{BB962C8B-B14F-4D97-AF65-F5344CB8AC3E}">
        <p14:creationId xmlns:p14="http://schemas.microsoft.com/office/powerpoint/2010/main" val="12875077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(General Overview)</a:t>
            </a:r>
            <a:endParaRPr lang="en-US" dirty="0"/>
          </a:p>
        </p:txBody>
      </p:sp>
      <p:sp>
        <p:nvSpPr>
          <p:cNvPr id="3" name="Content Placeholder 2"/>
          <p:cNvSpPr>
            <a:spLocks noGrp="1"/>
          </p:cNvSpPr>
          <p:nvPr>
            <p:ph idx="1"/>
          </p:nvPr>
        </p:nvSpPr>
        <p:spPr/>
        <p:txBody>
          <a:bodyPr>
            <a:normAutofit fontScale="92500" lnSpcReduction="20000"/>
          </a:bodyPr>
          <a:lstStyle/>
          <a:p>
            <a:pPr marL="0" indent="0" algn="ctr">
              <a:buNone/>
            </a:pPr>
            <a:r>
              <a:rPr lang="en-US" b="1" dirty="0" smtClean="0"/>
              <a:t>UNIT. III</a:t>
            </a:r>
          </a:p>
          <a:p>
            <a:pPr marL="0" lvl="0" indent="0">
              <a:buNone/>
            </a:pPr>
            <a:r>
              <a:rPr lang="en-US" b="1" dirty="0" smtClean="0"/>
              <a:t>Diagnosis of Parasitic Protozoan infections</a:t>
            </a:r>
            <a:endParaRPr lang="en-US" b="1" dirty="0"/>
          </a:p>
          <a:p>
            <a:pPr marL="0" indent="0" algn="ctr">
              <a:buNone/>
            </a:pPr>
            <a:r>
              <a:rPr lang="en-US" b="1" dirty="0" smtClean="0"/>
              <a:t>UNIT IV A</a:t>
            </a:r>
          </a:p>
          <a:p>
            <a:pPr marL="0" indent="0">
              <a:buNone/>
            </a:pPr>
            <a:r>
              <a:rPr lang="en-US" b="1" dirty="0" smtClean="0"/>
              <a:t>Parasitic Protozoa</a:t>
            </a:r>
          </a:p>
          <a:p>
            <a:pPr marL="514350" indent="-514350">
              <a:buAutoNum type="alphaLcParenR"/>
            </a:pPr>
            <a:r>
              <a:rPr lang="en-US" b="1" dirty="0" smtClean="0"/>
              <a:t>Intestinal and Reproductive tract parasites</a:t>
            </a:r>
          </a:p>
          <a:p>
            <a:pPr>
              <a:buFont typeface="Wingdings" pitchFamily="2" charset="2"/>
              <a:buChar char="v"/>
            </a:pPr>
            <a:r>
              <a:rPr lang="en-US" b="1" dirty="0" smtClean="0"/>
              <a:t>Amoebae</a:t>
            </a:r>
          </a:p>
          <a:p>
            <a:pPr>
              <a:buFont typeface="Wingdings" pitchFamily="2" charset="2"/>
              <a:buChar char="v"/>
            </a:pPr>
            <a:r>
              <a:rPr lang="en-US" b="1" dirty="0" smtClean="0"/>
              <a:t>Flagellates</a:t>
            </a:r>
          </a:p>
          <a:p>
            <a:pPr>
              <a:buFont typeface="Wingdings" pitchFamily="2" charset="2"/>
              <a:buChar char="v"/>
            </a:pPr>
            <a:r>
              <a:rPr lang="en-US" b="1" dirty="0" smtClean="0"/>
              <a:t>Ciliates </a:t>
            </a:r>
          </a:p>
          <a:p>
            <a:pPr>
              <a:buFont typeface="Wingdings" pitchFamily="2" charset="2"/>
              <a:buChar char="v"/>
            </a:pPr>
            <a:r>
              <a:rPr lang="en-US" b="1" dirty="0" smtClean="0"/>
              <a:t>Coccidia</a:t>
            </a:r>
          </a:p>
          <a:p>
            <a:pPr marL="0" indent="0">
              <a:buNone/>
            </a:pPr>
            <a:endParaRPr lang="en-US" b="1" dirty="0"/>
          </a:p>
        </p:txBody>
      </p:sp>
    </p:spTree>
    <p:extLst>
      <p:ext uri="{BB962C8B-B14F-4D97-AF65-F5344CB8AC3E}">
        <p14:creationId xmlns:p14="http://schemas.microsoft.com/office/powerpoint/2010/main" val="33308256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a:r>
              <a:rPr lang="en-US" dirty="0" smtClean="0"/>
              <a:t>(General Overview)</a:t>
            </a:r>
            <a:endParaRPr lang="en-US" dirty="0"/>
          </a:p>
        </p:txBody>
      </p:sp>
      <p:sp>
        <p:nvSpPr>
          <p:cNvPr id="3" name="Content Placeholder 2"/>
          <p:cNvSpPr>
            <a:spLocks noGrp="1"/>
          </p:cNvSpPr>
          <p:nvPr>
            <p:ph idx="1"/>
          </p:nvPr>
        </p:nvSpPr>
        <p:spPr/>
        <p:txBody>
          <a:bodyPr/>
          <a:lstStyle/>
          <a:p>
            <a:pPr marL="0" indent="0" algn="ctr">
              <a:buNone/>
            </a:pPr>
            <a:r>
              <a:rPr lang="en-US" dirty="0" smtClean="0"/>
              <a:t>UNIT IV B</a:t>
            </a:r>
          </a:p>
          <a:p>
            <a:pPr marL="0" indent="0">
              <a:buNone/>
            </a:pPr>
            <a:r>
              <a:rPr lang="en-US" dirty="0" smtClean="0"/>
              <a:t>Tissue (including Blood)Protozoan Parasites</a:t>
            </a:r>
          </a:p>
          <a:p>
            <a:pPr>
              <a:buFont typeface="Wingdings" pitchFamily="2" charset="2"/>
              <a:buChar char="v"/>
            </a:pPr>
            <a:r>
              <a:rPr lang="en-US" dirty="0" smtClean="0"/>
              <a:t>Trypanosomes</a:t>
            </a:r>
          </a:p>
          <a:p>
            <a:pPr>
              <a:buFont typeface="Wingdings" pitchFamily="2" charset="2"/>
              <a:buChar char="v"/>
            </a:pPr>
            <a:r>
              <a:rPr lang="en-US" dirty="0" err="1" smtClean="0"/>
              <a:t>Leishmanias</a:t>
            </a:r>
            <a:endParaRPr lang="en-US" dirty="0"/>
          </a:p>
        </p:txBody>
      </p:sp>
    </p:spTree>
    <p:extLst>
      <p:ext uri="{BB962C8B-B14F-4D97-AF65-F5344CB8AC3E}">
        <p14:creationId xmlns:p14="http://schemas.microsoft.com/office/powerpoint/2010/main" val="37679075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(General Overview)</a:t>
            </a:r>
            <a:endParaRPr lang="en-US" dirty="0"/>
          </a:p>
        </p:txBody>
      </p:sp>
      <p:sp>
        <p:nvSpPr>
          <p:cNvPr id="3" name="Content Placeholder 2"/>
          <p:cNvSpPr>
            <a:spLocks noGrp="1"/>
          </p:cNvSpPr>
          <p:nvPr>
            <p:ph idx="1"/>
          </p:nvPr>
        </p:nvSpPr>
        <p:spPr/>
        <p:txBody>
          <a:bodyPr>
            <a:normAutofit lnSpcReduction="10000"/>
          </a:bodyPr>
          <a:lstStyle/>
          <a:p>
            <a:pPr marL="0" lvl="0" indent="0" algn="ctr">
              <a:buNone/>
            </a:pPr>
            <a:r>
              <a:rPr lang="en-US" b="1" dirty="0" smtClean="0"/>
              <a:t>UNIT V</a:t>
            </a:r>
          </a:p>
          <a:p>
            <a:pPr marL="0" lvl="0" indent="0">
              <a:buNone/>
            </a:pPr>
            <a:r>
              <a:rPr lang="en-US" b="1" dirty="0" smtClean="0"/>
              <a:t>Parasitic </a:t>
            </a:r>
            <a:r>
              <a:rPr lang="en-US" b="1" dirty="0"/>
              <a:t>Helminthes</a:t>
            </a:r>
            <a:endParaRPr lang="en-US" dirty="0"/>
          </a:p>
          <a:p>
            <a:pPr marL="0" lvl="0" indent="0">
              <a:buNone/>
            </a:pPr>
            <a:r>
              <a:rPr lang="en-US" dirty="0" smtClean="0"/>
              <a:t>a) Tapeworms </a:t>
            </a:r>
            <a:r>
              <a:rPr lang="en-US" dirty="0"/>
              <a:t>(Cestodes)</a:t>
            </a:r>
          </a:p>
          <a:p>
            <a:pPr marL="0" lvl="0" indent="0">
              <a:buNone/>
            </a:pPr>
            <a:r>
              <a:rPr lang="en-US" dirty="0" smtClean="0"/>
              <a:t>b) Flukes </a:t>
            </a:r>
            <a:r>
              <a:rPr lang="en-US" dirty="0"/>
              <a:t>(Trematodes)</a:t>
            </a:r>
          </a:p>
          <a:p>
            <a:pPr lvl="0">
              <a:buFont typeface="Wingdings" pitchFamily="2" charset="2"/>
              <a:buChar char="v"/>
            </a:pPr>
            <a:r>
              <a:rPr lang="en-US" dirty="0"/>
              <a:t>Liver</a:t>
            </a:r>
          </a:p>
          <a:p>
            <a:pPr lvl="0">
              <a:buFont typeface="Wingdings" pitchFamily="2" charset="2"/>
              <a:buChar char="v"/>
            </a:pPr>
            <a:r>
              <a:rPr lang="en-US" dirty="0" smtClean="0"/>
              <a:t>Intestinal</a:t>
            </a:r>
            <a:endParaRPr lang="en-US" dirty="0"/>
          </a:p>
          <a:p>
            <a:pPr lvl="0">
              <a:buFont typeface="Wingdings" pitchFamily="2" charset="2"/>
              <a:buChar char="v"/>
            </a:pPr>
            <a:r>
              <a:rPr lang="en-US" dirty="0"/>
              <a:t>Lung</a:t>
            </a:r>
          </a:p>
          <a:p>
            <a:pPr lvl="0">
              <a:buFont typeface="Wingdings" pitchFamily="2" charset="2"/>
              <a:buChar char="v"/>
            </a:pPr>
            <a:r>
              <a:rPr lang="en-US" dirty="0"/>
              <a:t>Blood</a:t>
            </a:r>
          </a:p>
          <a:p>
            <a:pPr lvl="0"/>
            <a:endParaRPr lang="en-US" dirty="0"/>
          </a:p>
        </p:txBody>
      </p:sp>
    </p:spTree>
    <p:extLst>
      <p:ext uri="{BB962C8B-B14F-4D97-AF65-F5344CB8AC3E}">
        <p14:creationId xmlns:p14="http://schemas.microsoft.com/office/powerpoint/2010/main" val="35347583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General Overview</a:t>
            </a:r>
            <a:endParaRPr lang="en-US" dirty="0"/>
          </a:p>
        </p:txBody>
      </p:sp>
      <p:sp>
        <p:nvSpPr>
          <p:cNvPr id="3" name="Content Placeholder 2"/>
          <p:cNvSpPr>
            <a:spLocks noGrp="1"/>
          </p:cNvSpPr>
          <p:nvPr>
            <p:ph idx="1"/>
          </p:nvPr>
        </p:nvSpPr>
        <p:spPr/>
        <p:txBody>
          <a:bodyPr>
            <a:normAutofit/>
          </a:bodyPr>
          <a:lstStyle/>
          <a:p>
            <a:pPr marL="0" lvl="0" indent="0" algn="ctr">
              <a:buNone/>
            </a:pPr>
            <a:r>
              <a:rPr lang="en-US" dirty="0" smtClean="0"/>
              <a:t>UNIT V (c)</a:t>
            </a:r>
          </a:p>
          <a:p>
            <a:pPr marL="0" lvl="0" indent="0">
              <a:buNone/>
            </a:pPr>
            <a:r>
              <a:rPr lang="en-US" dirty="0" smtClean="0"/>
              <a:t>c)</a:t>
            </a:r>
            <a:r>
              <a:rPr lang="en-US" b="1" dirty="0"/>
              <a:t> </a:t>
            </a:r>
            <a:r>
              <a:rPr lang="en-US" dirty="0" smtClean="0"/>
              <a:t>Nematodes </a:t>
            </a:r>
            <a:endParaRPr lang="en-US" dirty="0"/>
          </a:p>
          <a:p>
            <a:pPr lvl="0">
              <a:buFont typeface="Wingdings" pitchFamily="2" charset="2"/>
              <a:buChar char="v"/>
            </a:pPr>
            <a:r>
              <a:rPr lang="en-US" dirty="0"/>
              <a:t>Intestinal</a:t>
            </a:r>
          </a:p>
          <a:p>
            <a:pPr lvl="0">
              <a:buFont typeface="Wingdings" pitchFamily="2" charset="2"/>
              <a:buChar char="v"/>
            </a:pPr>
            <a:r>
              <a:rPr lang="en-US" dirty="0"/>
              <a:t>Blood/Tissue</a:t>
            </a:r>
          </a:p>
          <a:p>
            <a:pPr marL="0" indent="0">
              <a:buNone/>
            </a:pPr>
            <a:endParaRPr lang="en-US" dirty="0"/>
          </a:p>
        </p:txBody>
      </p:sp>
    </p:spTree>
    <p:extLst>
      <p:ext uri="{BB962C8B-B14F-4D97-AF65-F5344CB8AC3E}">
        <p14:creationId xmlns:p14="http://schemas.microsoft.com/office/powerpoint/2010/main" val="34992406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General Overview</a:t>
            </a:r>
            <a:endParaRPr lang="en-US" dirty="0"/>
          </a:p>
        </p:txBody>
      </p:sp>
      <p:sp>
        <p:nvSpPr>
          <p:cNvPr id="3" name="Content Placeholder 2"/>
          <p:cNvSpPr>
            <a:spLocks noGrp="1"/>
          </p:cNvSpPr>
          <p:nvPr>
            <p:ph idx="1"/>
          </p:nvPr>
        </p:nvSpPr>
        <p:spPr/>
        <p:txBody>
          <a:bodyPr/>
          <a:lstStyle/>
          <a:p>
            <a:pPr marL="0" indent="0" algn="ctr">
              <a:buNone/>
            </a:pPr>
            <a:r>
              <a:rPr lang="en-US" dirty="0" smtClean="0"/>
              <a:t>UNIT VI</a:t>
            </a:r>
          </a:p>
          <a:p>
            <a:pPr marL="0" indent="0">
              <a:buNone/>
            </a:pPr>
            <a:r>
              <a:rPr lang="en-US" dirty="0" smtClean="0"/>
              <a:t>Parasitic Arthropods</a:t>
            </a:r>
          </a:p>
          <a:p>
            <a:pPr lvl="0">
              <a:buFont typeface="Wingdings" pitchFamily="2" charset="2"/>
              <a:buChar char="v"/>
            </a:pPr>
            <a:r>
              <a:rPr lang="en-US" dirty="0"/>
              <a:t>Insects</a:t>
            </a:r>
          </a:p>
          <a:p>
            <a:pPr lvl="0">
              <a:buFont typeface="Wingdings" pitchFamily="2" charset="2"/>
              <a:buChar char="v"/>
            </a:pPr>
            <a:r>
              <a:rPr lang="en-US" dirty="0"/>
              <a:t>Arachnids</a:t>
            </a:r>
          </a:p>
          <a:p>
            <a:pPr lvl="0">
              <a:buFont typeface="Wingdings" pitchFamily="2" charset="2"/>
              <a:buChar char="v"/>
            </a:pPr>
            <a:r>
              <a:rPr lang="en-US" dirty="0"/>
              <a:t>Crustacea</a:t>
            </a:r>
          </a:p>
          <a:p>
            <a:pPr>
              <a:buFont typeface="Wingdings" pitchFamily="2" charset="2"/>
              <a:buChar char="v"/>
            </a:pPr>
            <a:endParaRPr lang="en-US" dirty="0"/>
          </a:p>
        </p:txBody>
      </p:sp>
    </p:spTree>
    <p:extLst>
      <p:ext uri="{BB962C8B-B14F-4D97-AF65-F5344CB8AC3E}">
        <p14:creationId xmlns:p14="http://schemas.microsoft.com/office/powerpoint/2010/main" val="14324850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249362"/>
          </a:xfrm>
        </p:spPr>
        <p:txBody>
          <a:bodyPr>
            <a:normAutofit fontScale="90000"/>
          </a:bodyPr>
          <a:lstStyle/>
          <a:p>
            <a:r>
              <a:rPr lang="en-US" dirty="0" smtClean="0"/>
              <a:t/>
            </a:r>
            <a:br>
              <a:rPr lang="en-US" dirty="0" smtClean="0"/>
            </a:br>
            <a:r>
              <a:rPr lang="en-US" sz="4000" b="1" dirty="0">
                <a:solidFill>
                  <a:srgbClr val="00B0F0"/>
                </a:solidFill>
              </a:rPr>
              <a:t>TERMINOLOGY IN </a:t>
            </a:r>
            <a:r>
              <a:rPr lang="en-US" sz="4000" b="1" dirty="0">
                <a:solidFill>
                  <a:srgbClr val="FF0000"/>
                </a:solidFill>
              </a:rPr>
              <a:t>PARASITOLOGY</a:t>
            </a:r>
            <a:r>
              <a:rPr lang="en-US" sz="4000" b="1" dirty="0"/>
              <a:t> (DEFINITION OF TERMS)</a:t>
            </a:r>
            <a:r>
              <a:rPr lang="en-US" sz="4000" dirty="0"/>
              <a:t/>
            </a:r>
            <a:br>
              <a:rPr lang="en-US" sz="4000" dirty="0"/>
            </a:br>
            <a:endParaRPr lang="en-US" sz="4000" dirty="0"/>
          </a:p>
        </p:txBody>
      </p:sp>
      <p:sp>
        <p:nvSpPr>
          <p:cNvPr id="3" name="Content Placeholder 2"/>
          <p:cNvSpPr>
            <a:spLocks noGrp="1"/>
          </p:cNvSpPr>
          <p:nvPr>
            <p:ph idx="1"/>
          </p:nvPr>
        </p:nvSpPr>
        <p:spPr>
          <a:xfrm>
            <a:off x="457200" y="1828800"/>
            <a:ext cx="8229600" cy="4297363"/>
          </a:xfrm>
        </p:spPr>
        <p:txBody>
          <a:bodyPr>
            <a:normAutofit lnSpcReduction="10000"/>
          </a:bodyPr>
          <a:lstStyle/>
          <a:p>
            <a:r>
              <a:rPr lang="en-US" b="1" dirty="0">
                <a:solidFill>
                  <a:srgbClr val="FF0000"/>
                </a:solidFill>
              </a:rPr>
              <a:t>Parasitology</a:t>
            </a:r>
            <a:r>
              <a:rPr lang="en-US" b="1" dirty="0"/>
              <a:t> </a:t>
            </a:r>
            <a:r>
              <a:rPr lang="en-US" dirty="0"/>
              <a:t>is the </a:t>
            </a:r>
            <a:r>
              <a:rPr lang="en-US" u="sng" dirty="0"/>
              <a:t>science or study of parasites</a:t>
            </a:r>
            <a:r>
              <a:rPr lang="en-US" dirty="0"/>
              <a:t> and the </a:t>
            </a:r>
            <a:r>
              <a:rPr lang="en-US" u="sng" dirty="0"/>
              <a:t>phenomenon of parasitism</a:t>
            </a:r>
            <a:r>
              <a:rPr lang="en-US" dirty="0"/>
              <a:t>.</a:t>
            </a:r>
          </a:p>
          <a:p>
            <a:r>
              <a:rPr lang="en-US" b="1" dirty="0">
                <a:solidFill>
                  <a:srgbClr val="FF0000"/>
                </a:solidFill>
              </a:rPr>
              <a:t>Parasitism</a:t>
            </a:r>
            <a:r>
              <a:rPr lang="en-US" dirty="0"/>
              <a:t> is a </a:t>
            </a:r>
            <a:r>
              <a:rPr lang="en-US" dirty="0">
                <a:solidFill>
                  <a:srgbClr val="00B0F0"/>
                </a:solidFill>
              </a:rPr>
              <a:t>symbiotic relationship </a:t>
            </a:r>
            <a:r>
              <a:rPr lang="en-US" dirty="0"/>
              <a:t>in which </a:t>
            </a:r>
            <a:r>
              <a:rPr lang="en-US" dirty="0">
                <a:solidFill>
                  <a:srgbClr val="00B0F0"/>
                </a:solidFill>
              </a:rPr>
              <a:t>an organism </a:t>
            </a:r>
            <a:r>
              <a:rPr lang="en-US" dirty="0"/>
              <a:t>(termed the </a:t>
            </a:r>
            <a:r>
              <a:rPr lang="en-US" b="1" dirty="0">
                <a:solidFill>
                  <a:srgbClr val="FF0000"/>
                </a:solidFill>
              </a:rPr>
              <a:t>PARASITE</a:t>
            </a:r>
            <a:r>
              <a:rPr lang="en-US" dirty="0"/>
              <a:t>) </a:t>
            </a:r>
            <a:r>
              <a:rPr lang="en-US" u="sng" dirty="0"/>
              <a:t>or a population of the organism</a:t>
            </a:r>
            <a:r>
              <a:rPr lang="en-US" dirty="0"/>
              <a:t> depends on </a:t>
            </a:r>
            <a:r>
              <a:rPr lang="en-US" dirty="0">
                <a:solidFill>
                  <a:srgbClr val="00B0F0"/>
                </a:solidFill>
              </a:rPr>
              <a:t>another organism </a:t>
            </a:r>
            <a:r>
              <a:rPr lang="en-US" dirty="0"/>
              <a:t>(termed the </a:t>
            </a:r>
            <a:r>
              <a:rPr lang="en-US" b="1" dirty="0">
                <a:solidFill>
                  <a:srgbClr val="7030A0"/>
                </a:solidFill>
              </a:rPr>
              <a:t>HOST</a:t>
            </a:r>
            <a:r>
              <a:rPr lang="en-US" dirty="0"/>
              <a:t>, and which is </a:t>
            </a:r>
            <a:r>
              <a:rPr lang="en-US" u="sng" dirty="0"/>
              <a:t>usually of a different species</a:t>
            </a:r>
            <a:r>
              <a:rPr lang="en-US" dirty="0"/>
              <a:t>) and </a:t>
            </a:r>
            <a:r>
              <a:rPr lang="en-US" u="sng" dirty="0"/>
              <a:t>adversely affects that on which it depends</a:t>
            </a:r>
            <a:r>
              <a:rPr lang="en-US" dirty="0"/>
              <a:t>; </a:t>
            </a:r>
            <a:r>
              <a:rPr lang="en-US" dirty="0">
                <a:solidFill>
                  <a:srgbClr val="00B0F0"/>
                </a:solidFill>
              </a:rPr>
              <a:t>the parasite cannot live without the host.</a:t>
            </a:r>
          </a:p>
          <a:p>
            <a:pPr marL="0" indent="0">
              <a:buNone/>
            </a:pPr>
            <a:endParaRPr lang="en-US" dirty="0"/>
          </a:p>
        </p:txBody>
      </p:sp>
    </p:spTree>
    <p:extLst>
      <p:ext uri="{BB962C8B-B14F-4D97-AF65-F5344CB8AC3E}">
        <p14:creationId xmlns:p14="http://schemas.microsoft.com/office/powerpoint/2010/main" val="12573919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DEFINITION OF TERMS CONT’D</a:t>
            </a:r>
            <a:endParaRPr lang="en-US" dirty="0"/>
          </a:p>
        </p:txBody>
      </p:sp>
      <p:sp>
        <p:nvSpPr>
          <p:cNvPr id="3" name="Content Placeholder 2"/>
          <p:cNvSpPr>
            <a:spLocks noGrp="1"/>
          </p:cNvSpPr>
          <p:nvPr>
            <p:ph idx="1"/>
          </p:nvPr>
        </p:nvSpPr>
        <p:spPr/>
        <p:txBody>
          <a:bodyPr>
            <a:normAutofit fontScale="92500" lnSpcReduction="10000"/>
          </a:bodyPr>
          <a:lstStyle/>
          <a:p>
            <a:r>
              <a:rPr lang="en-US" b="1" dirty="0">
                <a:solidFill>
                  <a:srgbClr val="00B0F0"/>
                </a:solidFill>
              </a:rPr>
              <a:t>Symbiosis</a:t>
            </a:r>
            <a:r>
              <a:rPr lang="en-US" dirty="0"/>
              <a:t> is a term that describes the </a:t>
            </a:r>
            <a:r>
              <a:rPr lang="en-US" dirty="0">
                <a:solidFill>
                  <a:srgbClr val="00B0F0"/>
                </a:solidFill>
              </a:rPr>
              <a:t>close association of two dissimilar organisms </a:t>
            </a:r>
            <a:r>
              <a:rPr lang="en-US" dirty="0"/>
              <a:t>(each of which is called a </a:t>
            </a:r>
            <a:r>
              <a:rPr lang="en-US" dirty="0">
                <a:solidFill>
                  <a:srgbClr val="00B0F0"/>
                </a:solidFill>
              </a:rPr>
              <a:t>symbiont</a:t>
            </a:r>
            <a:r>
              <a:rPr lang="en-US" dirty="0"/>
              <a:t>) </a:t>
            </a:r>
            <a:r>
              <a:rPr lang="en-US" u="sng" dirty="0"/>
              <a:t>with various outcomes</a:t>
            </a:r>
            <a:r>
              <a:rPr lang="en-US" dirty="0"/>
              <a:t>, depending on which there are the following types:</a:t>
            </a:r>
          </a:p>
          <a:p>
            <a:pPr marL="514350" lvl="0" indent="-514350">
              <a:buFont typeface="+mj-lt"/>
              <a:buAutoNum type="alphaLcParenR"/>
            </a:pPr>
            <a:r>
              <a:rPr lang="en-US" b="1" dirty="0">
                <a:solidFill>
                  <a:schemeClr val="accent6">
                    <a:lumMod val="75000"/>
                  </a:schemeClr>
                </a:solidFill>
              </a:rPr>
              <a:t>Mutualism</a:t>
            </a:r>
            <a:r>
              <a:rPr lang="en-US" dirty="0"/>
              <a:t> – the association is </a:t>
            </a:r>
            <a:r>
              <a:rPr lang="en-US" dirty="0">
                <a:solidFill>
                  <a:schemeClr val="accent6">
                    <a:lumMod val="75000"/>
                  </a:schemeClr>
                </a:solidFill>
              </a:rPr>
              <a:t>beneficial to both </a:t>
            </a:r>
            <a:r>
              <a:rPr lang="en-US" dirty="0" smtClean="0">
                <a:solidFill>
                  <a:schemeClr val="accent6">
                    <a:lumMod val="75000"/>
                  </a:schemeClr>
                </a:solidFill>
              </a:rPr>
              <a:t>symbionts </a:t>
            </a:r>
            <a:r>
              <a:rPr lang="en-US" dirty="0" smtClean="0">
                <a:solidFill>
                  <a:srgbClr val="C00000"/>
                </a:solidFill>
              </a:rPr>
              <a:t>(as opposed to </a:t>
            </a:r>
            <a:r>
              <a:rPr lang="en-US" b="1" dirty="0" smtClean="0">
                <a:solidFill>
                  <a:srgbClr val="C00000"/>
                </a:solidFill>
              </a:rPr>
              <a:t>synnecrosis</a:t>
            </a:r>
            <a:r>
              <a:rPr lang="en-US" dirty="0" smtClean="0">
                <a:solidFill>
                  <a:srgbClr val="C00000"/>
                </a:solidFill>
              </a:rPr>
              <a:t>)</a:t>
            </a:r>
            <a:endParaRPr lang="en-US" dirty="0">
              <a:solidFill>
                <a:srgbClr val="C00000"/>
              </a:solidFill>
            </a:endParaRPr>
          </a:p>
          <a:p>
            <a:pPr marL="514350" lvl="0" indent="-514350">
              <a:buFont typeface="+mj-lt"/>
              <a:buAutoNum type="alphaLcParenR"/>
            </a:pPr>
            <a:r>
              <a:rPr lang="en-US" b="1" dirty="0">
                <a:solidFill>
                  <a:srgbClr val="7030A0"/>
                </a:solidFill>
              </a:rPr>
              <a:t>Commensalism</a:t>
            </a:r>
            <a:r>
              <a:rPr lang="en-US" dirty="0"/>
              <a:t> – the association is </a:t>
            </a:r>
            <a:r>
              <a:rPr lang="en-US" dirty="0">
                <a:solidFill>
                  <a:srgbClr val="7030A0"/>
                </a:solidFill>
              </a:rPr>
              <a:t>beneficial to one and without effect on the </a:t>
            </a:r>
            <a:r>
              <a:rPr lang="en-US" dirty="0" smtClean="0">
                <a:solidFill>
                  <a:srgbClr val="7030A0"/>
                </a:solidFill>
              </a:rPr>
              <a:t>other </a:t>
            </a:r>
            <a:r>
              <a:rPr lang="en-US" dirty="0" smtClean="0">
                <a:solidFill>
                  <a:srgbClr val="0070C0"/>
                </a:solidFill>
              </a:rPr>
              <a:t>(as opposed to </a:t>
            </a:r>
            <a:r>
              <a:rPr lang="en-US" b="1" dirty="0" err="1" smtClean="0">
                <a:solidFill>
                  <a:srgbClr val="0070C0"/>
                </a:solidFill>
              </a:rPr>
              <a:t>amensalism</a:t>
            </a:r>
            <a:r>
              <a:rPr lang="en-US" dirty="0" smtClean="0">
                <a:solidFill>
                  <a:srgbClr val="0070C0"/>
                </a:solidFill>
              </a:rPr>
              <a:t>)</a:t>
            </a:r>
            <a:endParaRPr lang="en-US" dirty="0">
              <a:solidFill>
                <a:srgbClr val="0070C0"/>
              </a:solidFill>
            </a:endParaRPr>
          </a:p>
          <a:p>
            <a:pPr marL="0" indent="0">
              <a:buNone/>
            </a:pPr>
            <a:endParaRPr lang="en-US" dirty="0"/>
          </a:p>
        </p:txBody>
      </p:sp>
    </p:spTree>
    <p:extLst>
      <p:ext uri="{BB962C8B-B14F-4D97-AF65-F5344CB8AC3E}">
        <p14:creationId xmlns:p14="http://schemas.microsoft.com/office/powerpoint/2010/main" val="39628184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INTRO CONT’D</a:t>
            </a:r>
            <a:endParaRPr lang="en-US" dirty="0"/>
          </a:p>
        </p:txBody>
      </p:sp>
      <p:sp>
        <p:nvSpPr>
          <p:cNvPr id="3" name="Content Placeholder 2"/>
          <p:cNvSpPr>
            <a:spLocks noGrp="1"/>
          </p:cNvSpPr>
          <p:nvPr>
            <p:ph idx="1"/>
          </p:nvPr>
        </p:nvSpPr>
        <p:spPr/>
        <p:txBody>
          <a:bodyPr/>
          <a:lstStyle/>
          <a:p>
            <a:pPr marL="0" lvl="0" indent="0">
              <a:buNone/>
            </a:pPr>
            <a:r>
              <a:rPr lang="en-US" b="1" dirty="0"/>
              <a:t>c</a:t>
            </a:r>
            <a:r>
              <a:rPr lang="en-US" b="1" dirty="0" smtClean="0"/>
              <a:t>) </a:t>
            </a:r>
            <a:r>
              <a:rPr lang="en-US" b="1" dirty="0" smtClean="0">
                <a:solidFill>
                  <a:srgbClr val="FF0000"/>
                </a:solidFill>
              </a:rPr>
              <a:t>Parasitism</a:t>
            </a:r>
            <a:r>
              <a:rPr lang="en-US" dirty="0" smtClean="0"/>
              <a:t> </a:t>
            </a:r>
            <a:r>
              <a:rPr lang="en-US" dirty="0"/>
              <a:t>– the association is </a:t>
            </a:r>
            <a:r>
              <a:rPr lang="en-US" dirty="0">
                <a:solidFill>
                  <a:srgbClr val="FF0000"/>
                </a:solidFill>
              </a:rPr>
              <a:t>beneficial to 	</a:t>
            </a:r>
            <a:r>
              <a:rPr lang="en-US" dirty="0" smtClean="0">
                <a:solidFill>
                  <a:srgbClr val="FF0000"/>
                </a:solidFill>
              </a:rPr>
              <a:t>one </a:t>
            </a:r>
            <a:r>
              <a:rPr lang="en-US" dirty="0">
                <a:solidFill>
                  <a:srgbClr val="FF0000"/>
                </a:solidFill>
              </a:rPr>
              <a:t>but detrimental to the other</a:t>
            </a:r>
          </a:p>
          <a:p>
            <a:pPr marL="0" lvl="0" indent="0">
              <a:buNone/>
            </a:pPr>
            <a:r>
              <a:rPr lang="en-US" b="1" dirty="0"/>
              <a:t>d</a:t>
            </a:r>
            <a:r>
              <a:rPr lang="en-US" b="1" dirty="0" smtClean="0"/>
              <a:t>) </a:t>
            </a:r>
            <a:r>
              <a:rPr lang="en-US" b="1" dirty="0" smtClean="0">
                <a:solidFill>
                  <a:srgbClr val="0070C0"/>
                </a:solidFill>
              </a:rPr>
              <a:t>Amensalism</a:t>
            </a:r>
            <a:r>
              <a:rPr lang="en-US" b="1" dirty="0" smtClean="0"/>
              <a:t> </a:t>
            </a:r>
            <a:r>
              <a:rPr lang="en-US" b="1" dirty="0"/>
              <a:t>–</a:t>
            </a:r>
            <a:r>
              <a:rPr lang="en-US" dirty="0"/>
              <a:t> the association is </a:t>
            </a:r>
            <a:r>
              <a:rPr lang="en-US" dirty="0">
                <a:solidFill>
                  <a:srgbClr val="0070C0"/>
                </a:solidFill>
              </a:rPr>
              <a:t>detrimental </a:t>
            </a:r>
            <a:r>
              <a:rPr lang="en-US" dirty="0" smtClean="0">
                <a:solidFill>
                  <a:srgbClr val="0070C0"/>
                </a:solidFill>
              </a:rPr>
              <a:t>	to </a:t>
            </a:r>
            <a:r>
              <a:rPr lang="en-US" dirty="0">
                <a:solidFill>
                  <a:srgbClr val="0070C0"/>
                </a:solidFill>
              </a:rPr>
              <a:t>one but without effect on the </a:t>
            </a:r>
            <a:r>
              <a:rPr lang="en-US" dirty="0" smtClean="0">
                <a:solidFill>
                  <a:srgbClr val="0070C0"/>
                </a:solidFill>
              </a:rPr>
              <a:t>other </a:t>
            </a:r>
            <a:r>
              <a:rPr lang="en-US" dirty="0" smtClean="0">
                <a:solidFill>
                  <a:srgbClr val="7030A0"/>
                </a:solidFill>
              </a:rPr>
              <a:t>(as opposed to </a:t>
            </a:r>
            <a:r>
              <a:rPr lang="en-US" b="1" dirty="0" smtClean="0">
                <a:solidFill>
                  <a:srgbClr val="7030A0"/>
                </a:solidFill>
              </a:rPr>
              <a:t>commensalism</a:t>
            </a:r>
            <a:r>
              <a:rPr lang="en-US" dirty="0" smtClean="0">
                <a:solidFill>
                  <a:srgbClr val="7030A0"/>
                </a:solidFill>
              </a:rPr>
              <a:t>)</a:t>
            </a:r>
            <a:endParaRPr lang="en-US" dirty="0">
              <a:solidFill>
                <a:srgbClr val="7030A0"/>
              </a:solidFill>
            </a:endParaRPr>
          </a:p>
          <a:p>
            <a:pPr marL="0" lvl="0" indent="0">
              <a:buNone/>
            </a:pPr>
            <a:r>
              <a:rPr lang="en-US" b="1" dirty="0">
                <a:solidFill>
                  <a:srgbClr val="C00000"/>
                </a:solidFill>
              </a:rPr>
              <a:t>e</a:t>
            </a:r>
            <a:r>
              <a:rPr lang="en-US" b="1" dirty="0" smtClean="0">
                <a:solidFill>
                  <a:srgbClr val="C00000"/>
                </a:solidFill>
              </a:rPr>
              <a:t>)Synnecrosis</a:t>
            </a:r>
            <a:r>
              <a:rPr lang="en-US" b="1" dirty="0" smtClean="0"/>
              <a:t> </a:t>
            </a:r>
            <a:r>
              <a:rPr lang="en-US" dirty="0"/>
              <a:t>– the association is </a:t>
            </a:r>
            <a:r>
              <a:rPr lang="en-US" dirty="0">
                <a:solidFill>
                  <a:srgbClr val="C00000"/>
                </a:solidFill>
              </a:rPr>
              <a:t>detrimental to </a:t>
            </a:r>
            <a:r>
              <a:rPr lang="en-US" dirty="0" smtClean="0">
                <a:solidFill>
                  <a:srgbClr val="C00000"/>
                </a:solidFill>
              </a:rPr>
              <a:t>	both </a:t>
            </a:r>
            <a:r>
              <a:rPr lang="en-US" dirty="0" smtClean="0">
                <a:solidFill>
                  <a:srgbClr val="C00000"/>
                </a:solidFill>
              </a:rPr>
              <a:t>organisms </a:t>
            </a:r>
            <a:r>
              <a:rPr lang="en-US" dirty="0" smtClean="0">
                <a:solidFill>
                  <a:schemeClr val="accent6">
                    <a:lumMod val="75000"/>
                  </a:schemeClr>
                </a:solidFill>
              </a:rPr>
              <a:t>(as opposed to </a:t>
            </a:r>
            <a:r>
              <a:rPr lang="en-US" b="1" dirty="0" smtClean="0">
                <a:solidFill>
                  <a:schemeClr val="accent6">
                    <a:lumMod val="75000"/>
                  </a:schemeClr>
                </a:solidFill>
              </a:rPr>
              <a:t>mutualism</a:t>
            </a:r>
            <a:r>
              <a:rPr lang="en-US" dirty="0" smtClean="0">
                <a:solidFill>
                  <a:schemeClr val="accent6">
                    <a:lumMod val="75000"/>
                  </a:schemeClr>
                </a:solidFill>
              </a:rPr>
              <a:t>)</a:t>
            </a:r>
            <a:endParaRPr lang="en-US" dirty="0">
              <a:solidFill>
                <a:schemeClr val="accent6">
                  <a:lumMod val="75000"/>
                </a:schemeClr>
              </a:solidFill>
            </a:endParaRPr>
          </a:p>
          <a:p>
            <a:endParaRPr lang="en-US" dirty="0"/>
          </a:p>
        </p:txBody>
      </p:sp>
    </p:spTree>
    <p:extLst>
      <p:ext uri="{BB962C8B-B14F-4D97-AF65-F5344CB8AC3E}">
        <p14:creationId xmlns:p14="http://schemas.microsoft.com/office/powerpoint/2010/main" val="29799880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INTRO CONT’D</a:t>
            </a:r>
            <a:endParaRPr lang="en-US" dirty="0"/>
          </a:p>
        </p:txBody>
      </p:sp>
      <p:sp>
        <p:nvSpPr>
          <p:cNvPr id="3" name="Content Placeholder 2"/>
          <p:cNvSpPr>
            <a:spLocks noGrp="1"/>
          </p:cNvSpPr>
          <p:nvPr>
            <p:ph idx="1"/>
          </p:nvPr>
        </p:nvSpPr>
        <p:spPr/>
        <p:txBody>
          <a:bodyPr/>
          <a:lstStyle/>
          <a:p>
            <a:pPr marL="0" lvl="0" indent="0">
              <a:buNone/>
            </a:pPr>
            <a:r>
              <a:rPr lang="en-US" b="1" dirty="0" smtClean="0"/>
              <a:t>f) </a:t>
            </a:r>
            <a:r>
              <a:rPr lang="en-US" b="1" dirty="0" smtClean="0">
                <a:solidFill>
                  <a:schemeClr val="accent2">
                    <a:lumMod val="75000"/>
                  </a:schemeClr>
                </a:solidFill>
              </a:rPr>
              <a:t>Phoresis</a:t>
            </a:r>
            <a:r>
              <a:rPr lang="en-US" dirty="0" smtClean="0"/>
              <a:t> </a:t>
            </a:r>
            <a:r>
              <a:rPr lang="en-US" dirty="0"/>
              <a:t>(or </a:t>
            </a:r>
            <a:r>
              <a:rPr lang="en-US" b="1" dirty="0">
                <a:solidFill>
                  <a:schemeClr val="accent2">
                    <a:lumMod val="75000"/>
                  </a:schemeClr>
                </a:solidFill>
              </a:rPr>
              <a:t>Transport Commensalism</a:t>
            </a:r>
            <a:r>
              <a:rPr lang="en-US" dirty="0"/>
              <a:t>) – </a:t>
            </a:r>
            <a:r>
              <a:rPr lang="en-US" u="sng" dirty="0"/>
              <a:t>the association is based on transportation only, </a:t>
            </a:r>
            <a:r>
              <a:rPr lang="en-US" dirty="0"/>
              <a:t>i.e. </a:t>
            </a:r>
            <a:r>
              <a:rPr lang="en-US" dirty="0">
                <a:solidFill>
                  <a:schemeClr val="accent2">
                    <a:lumMod val="75000"/>
                  </a:schemeClr>
                </a:solidFill>
              </a:rPr>
              <a:t>one of the symbionts is dependent on the other to be transported from place to place</a:t>
            </a:r>
            <a:r>
              <a:rPr lang="en-US" dirty="0"/>
              <a:t>; </a:t>
            </a:r>
            <a:r>
              <a:rPr lang="en-US" u="sng" dirty="0"/>
              <a:t>neither symbiont is physiologically dependent on the other; usually one partner (the one carried is smaller than the other (the carrier which is larger)</a:t>
            </a:r>
            <a:r>
              <a:rPr lang="en-US" dirty="0"/>
              <a:t>.</a:t>
            </a:r>
          </a:p>
          <a:p>
            <a:endParaRPr lang="en-US" dirty="0"/>
          </a:p>
        </p:txBody>
      </p:sp>
    </p:spTree>
    <p:extLst>
      <p:ext uri="{BB962C8B-B14F-4D97-AF65-F5344CB8AC3E}">
        <p14:creationId xmlns:p14="http://schemas.microsoft.com/office/powerpoint/2010/main" val="21530553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INTRO CONT’D</a:t>
            </a:r>
            <a:endParaRPr lang="en-US" dirty="0"/>
          </a:p>
        </p:txBody>
      </p:sp>
      <p:sp>
        <p:nvSpPr>
          <p:cNvPr id="3" name="Content Placeholder 2"/>
          <p:cNvSpPr>
            <a:spLocks noGrp="1"/>
          </p:cNvSpPr>
          <p:nvPr>
            <p:ph idx="1"/>
          </p:nvPr>
        </p:nvSpPr>
        <p:spPr/>
        <p:txBody>
          <a:bodyPr>
            <a:normAutofit fontScale="92500" lnSpcReduction="10000"/>
          </a:bodyPr>
          <a:lstStyle/>
          <a:p>
            <a:pPr>
              <a:buFont typeface="Wingdings" pitchFamily="2" charset="2"/>
              <a:buChar char="v"/>
            </a:pPr>
            <a:r>
              <a:rPr lang="en-US" dirty="0"/>
              <a:t>A </a:t>
            </a:r>
            <a:r>
              <a:rPr lang="en-US" b="1" dirty="0">
                <a:solidFill>
                  <a:srgbClr val="FF0000"/>
                </a:solidFill>
              </a:rPr>
              <a:t>parasite</a:t>
            </a:r>
            <a:r>
              <a:rPr lang="en-US" dirty="0"/>
              <a:t> is, thus, </a:t>
            </a:r>
            <a:r>
              <a:rPr lang="en-US" dirty="0">
                <a:solidFill>
                  <a:srgbClr val="00B0F0"/>
                </a:solidFill>
              </a:rPr>
              <a:t>an organism living </a:t>
            </a:r>
            <a:r>
              <a:rPr lang="en-US" b="1" dirty="0">
                <a:solidFill>
                  <a:srgbClr val="00B0F0"/>
                </a:solidFill>
              </a:rPr>
              <a:t>in</a:t>
            </a:r>
            <a:r>
              <a:rPr lang="en-US" dirty="0">
                <a:solidFill>
                  <a:srgbClr val="00B0F0"/>
                </a:solidFill>
              </a:rPr>
              <a:t> or </a:t>
            </a:r>
            <a:r>
              <a:rPr lang="en-US" b="1" dirty="0">
                <a:solidFill>
                  <a:srgbClr val="00B0F0"/>
                </a:solidFill>
              </a:rPr>
              <a:t>on</a:t>
            </a:r>
            <a:r>
              <a:rPr lang="en-US" dirty="0">
                <a:solidFill>
                  <a:srgbClr val="00B0F0"/>
                </a:solidFill>
              </a:rPr>
              <a:t> another organism (host) of a different species from which it obtains food and protection</a:t>
            </a:r>
            <a:r>
              <a:rPr lang="en-US" dirty="0"/>
              <a:t>; </a:t>
            </a:r>
            <a:r>
              <a:rPr lang="en-US" u="sng" dirty="0"/>
              <a:t>the relationship/dependence may or may not be harmful to the host</a:t>
            </a:r>
            <a:r>
              <a:rPr lang="en-US" dirty="0"/>
              <a:t>. </a:t>
            </a:r>
            <a:endParaRPr lang="en-US" dirty="0" smtClean="0"/>
          </a:p>
          <a:p>
            <a:pPr>
              <a:buFont typeface="Wingdings" pitchFamily="2" charset="2"/>
              <a:buChar char="v"/>
            </a:pPr>
            <a:r>
              <a:rPr lang="en-US" u="sng" dirty="0" smtClean="0"/>
              <a:t>An </a:t>
            </a:r>
            <a:r>
              <a:rPr lang="en-US" u="sng" dirty="0"/>
              <a:t>organism may become parasitic only under certain conditions</a:t>
            </a:r>
            <a:r>
              <a:rPr lang="en-US" dirty="0"/>
              <a:t>, in which case it is described as a </a:t>
            </a:r>
            <a:r>
              <a:rPr lang="en-US" b="1" dirty="0">
                <a:solidFill>
                  <a:srgbClr val="C00000"/>
                </a:solidFill>
              </a:rPr>
              <a:t>Facultative parasite</a:t>
            </a:r>
            <a:r>
              <a:rPr lang="en-US" dirty="0">
                <a:solidFill>
                  <a:srgbClr val="C00000"/>
                </a:solidFill>
              </a:rPr>
              <a:t> </a:t>
            </a:r>
            <a:r>
              <a:rPr lang="en-US" dirty="0"/>
              <a:t>or </a:t>
            </a:r>
            <a:r>
              <a:rPr lang="en-US" u="sng" dirty="0"/>
              <a:t>it always lives a parasitic mode of life</a:t>
            </a:r>
            <a:r>
              <a:rPr lang="en-US" dirty="0"/>
              <a:t>, in which case it described as an </a:t>
            </a:r>
            <a:r>
              <a:rPr lang="en-US" b="1" dirty="0">
                <a:solidFill>
                  <a:srgbClr val="C00000"/>
                </a:solidFill>
              </a:rPr>
              <a:t>Obligate parasite.</a:t>
            </a:r>
            <a:r>
              <a:rPr lang="en-US" dirty="0">
                <a:solidFill>
                  <a:srgbClr val="C00000"/>
                </a:solidFill>
              </a:rPr>
              <a:t>  </a:t>
            </a:r>
          </a:p>
        </p:txBody>
      </p:sp>
    </p:spTree>
    <p:extLst>
      <p:ext uri="{BB962C8B-B14F-4D97-AF65-F5344CB8AC3E}">
        <p14:creationId xmlns:p14="http://schemas.microsoft.com/office/powerpoint/2010/main" val="11473622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INTRO CONT’D</a:t>
            </a:r>
            <a:endParaRPr lang="en-US" dirty="0"/>
          </a:p>
        </p:txBody>
      </p:sp>
      <p:sp>
        <p:nvSpPr>
          <p:cNvPr id="3" name="Content Placeholder 2"/>
          <p:cNvSpPr>
            <a:spLocks noGrp="1"/>
          </p:cNvSpPr>
          <p:nvPr>
            <p:ph idx="1"/>
          </p:nvPr>
        </p:nvSpPr>
        <p:spPr/>
        <p:txBody>
          <a:bodyPr/>
          <a:lstStyle/>
          <a:p>
            <a:pPr>
              <a:buFont typeface="Wingdings" pitchFamily="2" charset="2"/>
              <a:buChar char="v"/>
            </a:pPr>
            <a:r>
              <a:rPr lang="en-US" u="sng" dirty="0"/>
              <a:t>A parasite that lives on the surface or body of its host </a:t>
            </a:r>
            <a:r>
              <a:rPr lang="en-US" dirty="0"/>
              <a:t>is called an </a:t>
            </a:r>
            <a:r>
              <a:rPr lang="en-US" b="1" dirty="0" smtClean="0">
                <a:solidFill>
                  <a:srgbClr val="C00000"/>
                </a:solidFill>
              </a:rPr>
              <a:t>Ectoparasite</a:t>
            </a:r>
            <a:r>
              <a:rPr lang="en-US" b="1" dirty="0" smtClean="0"/>
              <a:t>;</a:t>
            </a:r>
            <a:r>
              <a:rPr lang="en-US" dirty="0" smtClean="0"/>
              <a:t> </a:t>
            </a:r>
            <a:r>
              <a:rPr lang="en-US" u="sng" dirty="0"/>
              <a:t>one that lives in/within the body or organs of its host</a:t>
            </a:r>
            <a:r>
              <a:rPr lang="en-US" dirty="0"/>
              <a:t> is called an </a:t>
            </a:r>
            <a:r>
              <a:rPr lang="en-US" b="1" dirty="0">
                <a:solidFill>
                  <a:srgbClr val="C00000"/>
                </a:solidFill>
              </a:rPr>
              <a:t>Endoparasite</a:t>
            </a:r>
            <a:r>
              <a:rPr lang="en-US" b="1" dirty="0"/>
              <a:t>.</a:t>
            </a:r>
            <a:endParaRPr lang="en-US" dirty="0"/>
          </a:p>
          <a:p>
            <a:pPr marL="0" indent="0">
              <a:buNone/>
            </a:pPr>
            <a:endParaRPr lang="en-US" dirty="0"/>
          </a:p>
        </p:txBody>
      </p:sp>
    </p:spTree>
    <p:extLst>
      <p:ext uri="{BB962C8B-B14F-4D97-AF65-F5344CB8AC3E}">
        <p14:creationId xmlns:p14="http://schemas.microsoft.com/office/powerpoint/2010/main" val="67389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INTRO CONT’D</a:t>
            </a:r>
          </a:p>
        </p:txBody>
      </p:sp>
      <p:sp>
        <p:nvSpPr>
          <p:cNvPr id="3" name="Content Placeholder 2"/>
          <p:cNvSpPr>
            <a:spLocks noGrp="1"/>
          </p:cNvSpPr>
          <p:nvPr>
            <p:ph idx="1"/>
          </p:nvPr>
        </p:nvSpPr>
        <p:spPr/>
        <p:txBody>
          <a:bodyPr/>
          <a:lstStyle/>
          <a:p>
            <a:pPr>
              <a:buFont typeface="Wingdings" pitchFamily="2" charset="2"/>
              <a:buChar char="v"/>
            </a:pPr>
            <a:r>
              <a:rPr lang="en-US" u="sng" dirty="0"/>
              <a:t>A parasite that lives in or attaches itself to the body of a </a:t>
            </a:r>
            <a:r>
              <a:rPr lang="en-US" b="1" u="sng" dirty="0"/>
              <a:t>species of host different from its normal one</a:t>
            </a:r>
            <a:r>
              <a:rPr lang="en-US" b="1" dirty="0"/>
              <a:t> </a:t>
            </a:r>
            <a:r>
              <a:rPr lang="en-US" dirty="0"/>
              <a:t>is referred to as an </a:t>
            </a:r>
            <a:r>
              <a:rPr lang="en-US" b="1" dirty="0">
                <a:solidFill>
                  <a:srgbClr val="C00000"/>
                </a:solidFill>
              </a:rPr>
              <a:t>Accidental</a:t>
            </a:r>
            <a:r>
              <a:rPr lang="en-US" b="1" dirty="0"/>
              <a:t> </a:t>
            </a:r>
            <a:r>
              <a:rPr lang="en-US" dirty="0"/>
              <a:t>or </a:t>
            </a:r>
            <a:r>
              <a:rPr lang="en-US" b="1" dirty="0">
                <a:solidFill>
                  <a:srgbClr val="C00000"/>
                </a:solidFill>
              </a:rPr>
              <a:t>Incidental </a:t>
            </a:r>
            <a:r>
              <a:rPr lang="en-US" b="1" dirty="0" smtClean="0">
                <a:solidFill>
                  <a:srgbClr val="C00000"/>
                </a:solidFill>
              </a:rPr>
              <a:t>parasite</a:t>
            </a:r>
            <a:r>
              <a:rPr lang="en-US" dirty="0" smtClean="0"/>
              <a:t>. </a:t>
            </a:r>
          </a:p>
          <a:p>
            <a:pPr>
              <a:buFont typeface="Wingdings" pitchFamily="2" charset="2"/>
              <a:buChar char="v"/>
            </a:pPr>
            <a:r>
              <a:rPr lang="en-US" dirty="0" smtClean="0"/>
              <a:t>e.g</a:t>
            </a:r>
            <a:r>
              <a:rPr lang="en-US" dirty="0"/>
              <a:t>. </a:t>
            </a:r>
            <a:r>
              <a:rPr lang="en-US" u="sng" dirty="0">
                <a:solidFill>
                  <a:srgbClr val="00B0F0"/>
                </a:solidFill>
              </a:rPr>
              <a:t>nematodes</a:t>
            </a:r>
            <a:r>
              <a:rPr lang="en-US" u="sng" dirty="0"/>
              <a:t> that are normally parasitic in insects may live for a short time in the intestines of birds</a:t>
            </a:r>
            <a:r>
              <a:rPr lang="en-US" dirty="0"/>
              <a:t>, or a </a:t>
            </a:r>
            <a:r>
              <a:rPr lang="en-US" u="sng" dirty="0">
                <a:solidFill>
                  <a:srgbClr val="00B0F0"/>
                </a:solidFill>
              </a:rPr>
              <a:t>rodent flea </a:t>
            </a:r>
            <a:r>
              <a:rPr lang="en-US" u="sng" dirty="0"/>
              <a:t>may bite a dog or human</a:t>
            </a:r>
            <a:r>
              <a:rPr lang="en-US" dirty="0"/>
              <a:t>.</a:t>
            </a:r>
          </a:p>
        </p:txBody>
      </p:sp>
    </p:spTree>
    <p:extLst>
      <p:ext uri="{BB962C8B-B14F-4D97-AF65-F5344CB8AC3E}">
        <p14:creationId xmlns:p14="http://schemas.microsoft.com/office/powerpoint/2010/main" val="3841419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INTRO CONT’D</a:t>
            </a:r>
            <a:endParaRPr lang="en-US" dirty="0"/>
          </a:p>
        </p:txBody>
      </p:sp>
      <p:sp>
        <p:nvSpPr>
          <p:cNvPr id="3" name="Content Placeholder 2"/>
          <p:cNvSpPr>
            <a:spLocks noGrp="1"/>
          </p:cNvSpPr>
          <p:nvPr>
            <p:ph idx="1"/>
          </p:nvPr>
        </p:nvSpPr>
        <p:spPr/>
        <p:txBody>
          <a:bodyPr/>
          <a:lstStyle/>
          <a:p>
            <a:pPr>
              <a:buFont typeface="Wingdings" pitchFamily="2" charset="2"/>
              <a:buChar char="v"/>
            </a:pPr>
            <a:r>
              <a:rPr lang="en-US" dirty="0">
                <a:solidFill>
                  <a:srgbClr val="C00000"/>
                </a:solidFill>
              </a:rPr>
              <a:t>Accidental parasites </a:t>
            </a:r>
            <a:r>
              <a:rPr lang="en-US" u="sng" dirty="0"/>
              <a:t>usually are unable to stay long on, or live long in the wrong host</a:t>
            </a:r>
            <a:r>
              <a:rPr lang="en-US" dirty="0"/>
              <a:t>. </a:t>
            </a:r>
            <a:endParaRPr lang="en-US" dirty="0" smtClean="0"/>
          </a:p>
          <a:p>
            <a:pPr>
              <a:buFont typeface="Wingdings" pitchFamily="2" charset="2"/>
              <a:buChar char="v"/>
            </a:pPr>
            <a:endParaRPr lang="en-US" dirty="0"/>
          </a:p>
          <a:p>
            <a:pPr>
              <a:buFont typeface="Wingdings" pitchFamily="2" charset="2"/>
              <a:buChar char="v"/>
            </a:pPr>
            <a:r>
              <a:rPr lang="en-US" dirty="0" smtClean="0"/>
              <a:t>However</a:t>
            </a:r>
            <a:r>
              <a:rPr lang="en-US" dirty="0"/>
              <a:t>, some </a:t>
            </a:r>
            <a:r>
              <a:rPr lang="en-US" dirty="0">
                <a:solidFill>
                  <a:srgbClr val="C00000"/>
                </a:solidFill>
              </a:rPr>
              <a:t>accidental parasites </a:t>
            </a:r>
            <a:r>
              <a:rPr lang="en-US" u="sng" dirty="0"/>
              <a:t>may be extremely pathogenic to their unfamiliar hosts</a:t>
            </a:r>
            <a:r>
              <a:rPr lang="en-US" dirty="0"/>
              <a:t>.</a:t>
            </a:r>
          </a:p>
        </p:txBody>
      </p:sp>
    </p:spTree>
    <p:extLst>
      <p:ext uri="{BB962C8B-B14F-4D97-AF65-F5344CB8AC3E}">
        <p14:creationId xmlns:p14="http://schemas.microsoft.com/office/powerpoint/2010/main" val="32452714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INTRO CONT’D</a:t>
            </a:r>
            <a:endParaRPr lang="en-US" dirty="0"/>
          </a:p>
        </p:txBody>
      </p:sp>
      <p:sp>
        <p:nvSpPr>
          <p:cNvPr id="3" name="Content Placeholder 2"/>
          <p:cNvSpPr>
            <a:spLocks noGrp="1"/>
          </p:cNvSpPr>
          <p:nvPr>
            <p:ph idx="1"/>
          </p:nvPr>
        </p:nvSpPr>
        <p:spPr/>
        <p:txBody>
          <a:bodyPr>
            <a:normAutofit lnSpcReduction="10000"/>
          </a:bodyPr>
          <a:lstStyle/>
          <a:p>
            <a:pPr>
              <a:buFont typeface="Wingdings" pitchFamily="2" charset="2"/>
              <a:buChar char="v"/>
            </a:pPr>
            <a:r>
              <a:rPr lang="en-US" u="sng" dirty="0"/>
              <a:t>Some parasites live their entire adult lives within or on their hosts</a:t>
            </a:r>
            <a:r>
              <a:rPr lang="en-US" dirty="0"/>
              <a:t>; such may be called </a:t>
            </a:r>
            <a:r>
              <a:rPr lang="en-US" b="1" dirty="0">
                <a:solidFill>
                  <a:srgbClr val="C00000"/>
                </a:solidFill>
              </a:rPr>
              <a:t>Permanent parasites</a:t>
            </a:r>
            <a:r>
              <a:rPr lang="en-US" b="1" dirty="0"/>
              <a:t>,</a:t>
            </a:r>
            <a:r>
              <a:rPr lang="en-US" dirty="0"/>
              <a:t> whereas a </a:t>
            </a:r>
            <a:r>
              <a:rPr lang="en-US" b="1" dirty="0">
                <a:solidFill>
                  <a:srgbClr val="C00000"/>
                </a:solidFill>
              </a:rPr>
              <a:t>Temporary</a:t>
            </a:r>
            <a:r>
              <a:rPr lang="en-US" dirty="0"/>
              <a:t> or </a:t>
            </a:r>
            <a:r>
              <a:rPr lang="en-US" b="1" dirty="0">
                <a:solidFill>
                  <a:srgbClr val="C00000"/>
                </a:solidFill>
              </a:rPr>
              <a:t>Intermittent parasite </a:t>
            </a:r>
            <a:r>
              <a:rPr lang="en-US" dirty="0">
                <a:solidFill>
                  <a:srgbClr val="C00000"/>
                </a:solidFill>
              </a:rPr>
              <a:t> </a:t>
            </a:r>
            <a:r>
              <a:rPr lang="en-US" u="sng" dirty="0" smtClean="0"/>
              <a:t>only  feeds </a:t>
            </a:r>
            <a:r>
              <a:rPr lang="en-US" u="sng" dirty="0"/>
              <a:t>on the host and then leaves</a:t>
            </a:r>
            <a:r>
              <a:rPr lang="en-US" dirty="0"/>
              <a:t>. </a:t>
            </a:r>
            <a:endParaRPr lang="en-US" dirty="0" smtClean="0"/>
          </a:p>
          <a:p>
            <a:pPr>
              <a:buFont typeface="Wingdings" pitchFamily="2" charset="2"/>
              <a:buChar char="v"/>
            </a:pPr>
            <a:r>
              <a:rPr lang="en-US" dirty="0" smtClean="0"/>
              <a:t>A </a:t>
            </a:r>
            <a:r>
              <a:rPr lang="en-US" dirty="0">
                <a:solidFill>
                  <a:srgbClr val="C00000"/>
                </a:solidFill>
              </a:rPr>
              <a:t>Temporary parasite </a:t>
            </a:r>
            <a:r>
              <a:rPr lang="en-US" dirty="0"/>
              <a:t>may also be referred to as a </a:t>
            </a:r>
            <a:r>
              <a:rPr lang="en-US" b="1" dirty="0">
                <a:solidFill>
                  <a:srgbClr val="C00000"/>
                </a:solidFill>
              </a:rPr>
              <a:t>Micropredator</a:t>
            </a:r>
            <a:r>
              <a:rPr lang="en-US" b="1" dirty="0"/>
              <a:t> </a:t>
            </a:r>
            <a:r>
              <a:rPr lang="en-US" u="sng" dirty="0"/>
              <a:t>in that it may prey on several different hosts (or the same host at several discrete times).</a:t>
            </a:r>
          </a:p>
          <a:p>
            <a:pPr>
              <a:buFont typeface="Wingdings" pitchFamily="2" charset="2"/>
              <a:buChar char="v"/>
            </a:pPr>
            <a:endParaRPr lang="en-US" dirty="0"/>
          </a:p>
        </p:txBody>
      </p:sp>
    </p:spTree>
    <p:extLst>
      <p:ext uri="{BB962C8B-B14F-4D97-AF65-F5344CB8AC3E}">
        <p14:creationId xmlns:p14="http://schemas.microsoft.com/office/powerpoint/2010/main" val="330940743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solidFill>
                  <a:srgbClr val="FF0000"/>
                </a:solidFill>
              </a:rPr>
              <a:t>Parasitism</a:t>
            </a:r>
            <a:r>
              <a:rPr lang="en-US" b="1" dirty="0" smtClean="0"/>
              <a:t> and </a:t>
            </a:r>
            <a:r>
              <a:rPr lang="en-US" b="1" dirty="0" smtClean="0">
                <a:solidFill>
                  <a:srgbClr val="C00000"/>
                </a:solidFill>
              </a:rPr>
              <a:t>Predation</a:t>
            </a:r>
            <a:r>
              <a:rPr lang="en-US" dirty="0" smtClean="0"/>
              <a:t/>
            </a:r>
            <a:br>
              <a:rPr lang="en-US" dirty="0" smtClean="0"/>
            </a:br>
            <a:endParaRPr lang="en-US" dirty="0"/>
          </a:p>
        </p:txBody>
      </p:sp>
      <p:sp>
        <p:nvSpPr>
          <p:cNvPr id="3" name="Content Placeholder 2"/>
          <p:cNvSpPr>
            <a:spLocks noGrp="1"/>
          </p:cNvSpPr>
          <p:nvPr>
            <p:ph idx="1"/>
          </p:nvPr>
        </p:nvSpPr>
        <p:spPr/>
        <p:txBody>
          <a:bodyPr>
            <a:normAutofit/>
          </a:bodyPr>
          <a:lstStyle/>
          <a:p>
            <a:pPr>
              <a:buFont typeface="Wingdings" pitchFamily="2" charset="2"/>
              <a:buChar char="v"/>
            </a:pPr>
            <a:r>
              <a:rPr lang="en-US" dirty="0" smtClean="0">
                <a:solidFill>
                  <a:srgbClr val="FF0000"/>
                </a:solidFill>
              </a:rPr>
              <a:t>Parasitism</a:t>
            </a:r>
            <a:r>
              <a:rPr lang="en-US" dirty="0" smtClean="0"/>
              <a:t> </a:t>
            </a:r>
            <a:r>
              <a:rPr lang="en-US" dirty="0"/>
              <a:t>and </a:t>
            </a:r>
            <a:r>
              <a:rPr lang="en-US" dirty="0">
                <a:solidFill>
                  <a:srgbClr val="C00000"/>
                </a:solidFill>
              </a:rPr>
              <a:t>Predation</a:t>
            </a:r>
            <a:r>
              <a:rPr lang="en-US" dirty="0"/>
              <a:t> are </a:t>
            </a:r>
            <a:r>
              <a:rPr lang="en-US" dirty="0">
                <a:solidFill>
                  <a:srgbClr val="0070C0"/>
                </a:solidFill>
              </a:rPr>
              <a:t>conceptually similar</a:t>
            </a:r>
            <a:r>
              <a:rPr lang="en-US" dirty="0"/>
              <a:t> </a:t>
            </a:r>
            <a:r>
              <a:rPr lang="en-US" u="sng" dirty="0"/>
              <a:t>in that both the parasite and the predator live at the expense of the host or prey. </a:t>
            </a:r>
            <a:endParaRPr lang="en-US" u="sng" dirty="0" smtClean="0"/>
          </a:p>
          <a:p>
            <a:pPr>
              <a:buFont typeface="Wingdings" pitchFamily="2" charset="2"/>
              <a:buChar char="v"/>
            </a:pPr>
            <a:r>
              <a:rPr lang="en-US" dirty="0" smtClean="0"/>
              <a:t>The </a:t>
            </a:r>
            <a:r>
              <a:rPr lang="en-US" dirty="0">
                <a:solidFill>
                  <a:srgbClr val="FF0000"/>
                </a:solidFill>
              </a:rPr>
              <a:t>parasite</a:t>
            </a:r>
            <a:r>
              <a:rPr lang="en-US" dirty="0"/>
              <a:t>, however, </a:t>
            </a:r>
            <a:r>
              <a:rPr lang="en-US" dirty="0">
                <a:solidFill>
                  <a:srgbClr val="00B0F0"/>
                </a:solidFill>
              </a:rPr>
              <a:t>normally does not kill its host</a:t>
            </a:r>
            <a:r>
              <a:rPr lang="en-US" dirty="0"/>
              <a:t>, it is, </a:t>
            </a:r>
            <a:r>
              <a:rPr lang="en-US" dirty="0">
                <a:solidFill>
                  <a:srgbClr val="00B0F0"/>
                </a:solidFill>
              </a:rPr>
              <a:t>in size</a:t>
            </a:r>
            <a:r>
              <a:rPr lang="en-US" dirty="0"/>
              <a:t>, </a:t>
            </a:r>
            <a:r>
              <a:rPr lang="en-US" dirty="0">
                <a:solidFill>
                  <a:srgbClr val="00B0F0"/>
                </a:solidFill>
              </a:rPr>
              <a:t>relatively smaller than its host</a:t>
            </a:r>
            <a:r>
              <a:rPr lang="en-US" dirty="0"/>
              <a:t>, </a:t>
            </a:r>
            <a:r>
              <a:rPr lang="en-US" u="sng" dirty="0"/>
              <a:t>has only one host </a:t>
            </a:r>
            <a:r>
              <a:rPr lang="en-US" dirty="0"/>
              <a:t>(or </a:t>
            </a:r>
            <a:r>
              <a:rPr lang="en-US" dirty="0">
                <a:solidFill>
                  <a:srgbClr val="00B0F0"/>
                </a:solidFill>
              </a:rPr>
              <a:t>one host at each stage in its life cycle</a:t>
            </a:r>
            <a:r>
              <a:rPr lang="en-US" dirty="0"/>
              <a:t>) and is </a:t>
            </a:r>
            <a:r>
              <a:rPr lang="en-US" dirty="0">
                <a:solidFill>
                  <a:srgbClr val="00B0F0"/>
                </a:solidFill>
              </a:rPr>
              <a:t>symbiotic</a:t>
            </a:r>
            <a:r>
              <a:rPr lang="en-US" dirty="0"/>
              <a:t>. </a:t>
            </a:r>
          </a:p>
        </p:txBody>
      </p:sp>
    </p:spTree>
    <p:extLst>
      <p:ext uri="{BB962C8B-B14F-4D97-AF65-F5344CB8AC3E}">
        <p14:creationId xmlns:p14="http://schemas.microsoft.com/office/powerpoint/2010/main" val="15159076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FF0000"/>
                </a:solidFill>
              </a:rPr>
              <a:t>Parasitism</a:t>
            </a:r>
            <a:r>
              <a:rPr lang="en-US" b="1" dirty="0" smtClean="0"/>
              <a:t> and </a:t>
            </a:r>
            <a:r>
              <a:rPr lang="en-US" b="1" dirty="0" smtClean="0">
                <a:solidFill>
                  <a:srgbClr val="C00000"/>
                </a:solidFill>
              </a:rPr>
              <a:t>Predation</a:t>
            </a:r>
            <a:r>
              <a:rPr lang="en-US" b="1" dirty="0" smtClean="0"/>
              <a:t> Cont’d</a:t>
            </a:r>
            <a:endParaRPr lang="en-US" dirty="0"/>
          </a:p>
        </p:txBody>
      </p:sp>
      <p:sp>
        <p:nvSpPr>
          <p:cNvPr id="3" name="Content Placeholder 2"/>
          <p:cNvSpPr>
            <a:spLocks noGrp="1"/>
          </p:cNvSpPr>
          <p:nvPr>
            <p:ph idx="1"/>
          </p:nvPr>
        </p:nvSpPr>
        <p:spPr/>
        <p:txBody>
          <a:bodyPr/>
          <a:lstStyle/>
          <a:p>
            <a:pPr>
              <a:buFont typeface="Wingdings" pitchFamily="2" charset="2"/>
              <a:buChar char="v"/>
            </a:pPr>
            <a:r>
              <a:rPr lang="en-US" dirty="0" smtClean="0"/>
              <a:t>On the other hand, the </a:t>
            </a:r>
            <a:r>
              <a:rPr lang="en-US" dirty="0" smtClean="0">
                <a:solidFill>
                  <a:srgbClr val="C00000"/>
                </a:solidFill>
              </a:rPr>
              <a:t>predator</a:t>
            </a:r>
            <a:r>
              <a:rPr lang="en-US" dirty="0" smtClean="0"/>
              <a:t> </a:t>
            </a:r>
            <a:r>
              <a:rPr lang="en-US" dirty="0" smtClean="0">
                <a:solidFill>
                  <a:schemeClr val="accent6">
                    <a:lumMod val="75000"/>
                  </a:schemeClr>
                </a:solidFill>
              </a:rPr>
              <a:t>kills its prey</a:t>
            </a:r>
            <a:r>
              <a:rPr lang="en-US" dirty="0" smtClean="0"/>
              <a:t>, is </a:t>
            </a:r>
            <a:r>
              <a:rPr lang="en-US" dirty="0" smtClean="0">
                <a:solidFill>
                  <a:schemeClr val="accent6">
                    <a:lumMod val="75000"/>
                  </a:schemeClr>
                </a:solidFill>
              </a:rPr>
              <a:t>larger in size relative to its prey</a:t>
            </a:r>
            <a:r>
              <a:rPr lang="en-US" dirty="0" smtClean="0"/>
              <a:t>, has </a:t>
            </a:r>
            <a:r>
              <a:rPr lang="en-US" dirty="0" smtClean="0">
                <a:solidFill>
                  <a:schemeClr val="accent6">
                    <a:lumMod val="75000"/>
                  </a:schemeClr>
                </a:solidFill>
              </a:rPr>
              <a:t>numerous prey</a:t>
            </a:r>
            <a:r>
              <a:rPr lang="en-US" dirty="0" smtClean="0"/>
              <a:t>, and is </a:t>
            </a:r>
            <a:r>
              <a:rPr lang="en-US" dirty="0" smtClean="0">
                <a:solidFill>
                  <a:schemeClr val="accent6">
                    <a:lumMod val="75000"/>
                  </a:schemeClr>
                </a:solidFill>
              </a:rPr>
              <a:t>not symbiotic</a:t>
            </a:r>
            <a:r>
              <a:rPr lang="en-US" dirty="0" smtClean="0"/>
              <a:t>.</a:t>
            </a:r>
          </a:p>
          <a:p>
            <a:pPr>
              <a:buFont typeface="Wingdings" pitchFamily="2" charset="2"/>
              <a:buChar char="v"/>
            </a:pPr>
            <a:endParaRPr lang="en-US" dirty="0" smtClean="0"/>
          </a:p>
          <a:p>
            <a:pPr>
              <a:buFont typeface="Wingdings" pitchFamily="2" charset="2"/>
              <a:buChar char="v"/>
            </a:pPr>
            <a:r>
              <a:rPr lang="en-US" dirty="0" smtClean="0"/>
              <a:t>A </a:t>
            </a:r>
            <a:r>
              <a:rPr lang="en-US" dirty="0">
                <a:solidFill>
                  <a:srgbClr val="FF0000"/>
                </a:solidFill>
              </a:rPr>
              <a:t>parasite</a:t>
            </a:r>
            <a:r>
              <a:rPr lang="en-US" dirty="0"/>
              <a:t> </a:t>
            </a:r>
            <a:r>
              <a:rPr lang="en-US" u="sng" dirty="0"/>
              <a:t>may sometimes, kill its host but this is not selectively advantageous since the life of the parasite is also, thereby, terminated</a:t>
            </a:r>
            <a:endParaRPr lang="en-US" u="sng" dirty="0" smtClean="0"/>
          </a:p>
          <a:p>
            <a:endParaRPr lang="en-US" dirty="0"/>
          </a:p>
        </p:txBody>
      </p:sp>
    </p:spTree>
    <p:extLst>
      <p:ext uri="{BB962C8B-B14F-4D97-AF65-F5344CB8AC3E}">
        <p14:creationId xmlns:p14="http://schemas.microsoft.com/office/powerpoint/2010/main" val="136828478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FF0000"/>
                </a:solidFill>
              </a:rPr>
              <a:t>Parasitism</a:t>
            </a:r>
            <a:r>
              <a:rPr lang="en-US" b="1" dirty="0" smtClean="0"/>
              <a:t> and </a:t>
            </a:r>
            <a:r>
              <a:rPr lang="en-US" b="1" dirty="0" smtClean="0">
                <a:solidFill>
                  <a:srgbClr val="C00000"/>
                </a:solidFill>
              </a:rPr>
              <a:t>Predation</a:t>
            </a:r>
            <a:r>
              <a:rPr lang="en-US" b="1" dirty="0" smtClean="0"/>
              <a:t> Cont’d</a:t>
            </a:r>
            <a:endParaRPr lang="en-US" dirty="0"/>
          </a:p>
        </p:txBody>
      </p:sp>
      <p:sp>
        <p:nvSpPr>
          <p:cNvPr id="3" name="Content Placeholder 2"/>
          <p:cNvSpPr>
            <a:spLocks noGrp="1"/>
          </p:cNvSpPr>
          <p:nvPr>
            <p:ph idx="1"/>
          </p:nvPr>
        </p:nvSpPr>
        <p:spPr/>
        <p:txBody>
          <a:bodyPr>
            <a:normAutofit lnSpcReduction="10000"/>
          </a:bodyPr>
          <a:lstStyle/>
          <a:p>
            <a:pPr>
              <a:buFont typeface="Wingdings" pitchFamily="2" charset="2"/>
              <a:buChar char="v"/>
            </a:pPr>
            <a:r>
              <a:rPr lang="en-US" dirty="0"/>
              <a:t>Thus, </a:t>
            </a:r>
            <a:r>
              <a:rPr lang="en-US" dirty="0">
                <a:solidFill>
                  <a:srgbClr val="FF0000"/>
                </a:solidFill>
              </a:rPr>
              <a:t>parasites</a:t>
            </a:r>
            <a:r>
              <a:rPr lang="en-US" dirty="0"/>
              <a:t> </a:t>
            </a:r>
            <a:r>
              <a:rPr lang="en-US" u="sng" dirty="0"/>
              <a:t>have evolved adaptive mechanisms that enable them to get what they need from the host without killing it</a:t>
            </a:r>
            <a:r>
              <a:rPr lang="en-US" dirty="0"/>
              <a:t>; indeed </a:t>
            </a:r>
            <a:r>
              <a:rPr lang="en-US" u="sng" dirty="0">
                <a:solidFill>
                  <a:srgbClr val="0070C0"/>
                </a:solidFill>
              </a:rPr>
              <a:t>to produce few pathological conditions in the host is often a mark of a well-adapted parasite</a:t>
            </a:r>
            <a:r>
              <a:rPr lang="en-US" u="sng" dirty="0"/>
              <a:t>. </a:t>
            </a:r>
            <a:endParaRPr lang="en-US" u="sng" dirty="0" smtClean="0"/>
          </a:p>
          <a:p>
            <a:pPr>
              <a:buFont typeface="Wingdings" pitchFamily="2" charset="2"/>
              <a:buChar char="v"/>
            </a:pPr>
            <a:r>
              <a:rPr lang="en-US" dirty="0" smtClean="0"/>
              <a:t>Nevertheless</a:t>
            </a:r>
            <a:r>
              <a:rPr lang="en-US" dirty="0"/>
              <a:t>, </a:t>
            </a:r>
            <a:r>
              <a:rPr lang="en-US" u="sng" dirty="0">
                <a:solidFill>
                  <a:srgbClr val="FF0000"/>
                </a:solidFill>
              </a:rPr>
              <a:t>some parasites require pathological changes in host tissue in order to complete their life cycles</a:t>
            </a:r>
            <a:r>
              <a:rPr lang="en-US" dirty="0"/>
              <a:t>.</a:t>
            </a:r>
          </a:p>
        </p:txBody>
      </p:sp>
    </p:spTree>
    <p:extLst>
      <p:ext uri="{BB962C8B-B14F-4D97-AF65-F5344CB8AC3E}">
        <p14:creationId xmlns:p14="http://schemas.microsoft.com/office/powerpoint/2010/main" val="240274033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FF0000"/>
                </a:solidFill>
              </a:rPr>
              <a:t>Parasitism</a:t>
            </a:r>
            <a:r>
              <a:rPr lang="en-US" b="1" dirty="0" smtClean="0"/>
              <a:t> and </a:t>
            </a:r>
            <a:r>
              <a:rPr lang="en-US" b="1" dirty="0" smtClean="0">
                <a:solidFill>
                  <a:srgbClr val="C00000"/>
                </a:solidFill>
              </a:rPr>
              <a:t>Predation</a:t>
            </a:r>
            <a:r>
              <a:rPr lang="en-US" b="1" dirty="0" smtClean="0"/>
              <a:t> Cont’d</a:t>
            </a:r>
            <a:endParaRPr lang="en-US" dirty="0"/>
          </a:p>
        </p:txBody>
      </p:sp>
      <p:sp>
        <p:nvSpPr>
          <p:cNvPr id="3" name="Content Placeholder 2"/>
          <p:cNvSpPr>
            <a:spLocks noGrp="1"/>
          </p:cNvSpPr>
          <p:nvPr>
            <p:ph idx="1"/>
          </p:nvPr>
        </p:nvSpPr>
        <p:spPr/>
        <p:txBody>
          <a:bodyPr>
            <a:normAutofit lnSpcReduction="10000"/>
          </a:bodyPr>
          <a:lstStyle/>
          <a:p>
            <a:pPr>
              <a:buFont typeface="Wingdings" pitchFamily="2" charset="2"/>
              <a:buChar char="v"/>
            </a:pPr>
            <a:r>
              <a:rPr lang="en-US" dirty="0"/>
              <a:t>The term </a:t>
            </a:r>
            <a:r>
              <a:rPr lang="en-US" b="1" u="sng" dirty="0">
                <a:solidFill>
                  <a:schemeClr val="accent6">
                    <a:lumMod val="75000"/>
                  </a:schemeClr>
                </a:solidFill>
              </a:rPr>
              <a:t>Parasitoid</a:t>
            </a:r>
            <a:r>
              <a:rPr lang="en-US" b="1" dirty="0"/>
              <a:t> </a:t>
            </a:r>
            <a:r>
              <a:rPr lang="en-US" dirty="0"/>
              <a:t>is given to a </a:t>
            </a:r>
            <a:r>
              <a:rPr lang="en-US" u="sng" dirty="0">
                <a:solidFill>
                  <a:schemeClr val="accent6">
                    <a:lumMod val="75000"/>
                  </a:schemeClr>
                </a:solidFill>
              </a:rPr>
              <a:t>large number of insects </a:t>
            </a:r>
            <a:r>
              <a:rPr lang="en-US" u="sng" dirty="0"/>
              <a:t>whose immature stages feed on their host’s body</a:t>
            </a:r>
            <a:r>
              <a:rPr lang="en-US" dirty="0"/>
              <a:t>, </a:t>
            </a:r>
            <a:r>
              <a:rPr lang="en-US" dirty="0">
                <a:solidFill>
                  <a:schemeClr val="accent6">
                    <a:lumMod val="75000"/>
                  </a:schemeClr>
                </a:solidFill>
              </a:rPr>
              <a:t>usually another arthropod</a:t>
            </a:r>
            <a:r>
              <a:rPr lang="en-US" dirty="0"/>
              <a:t>, but finally </a:t>
            </a:r>
            <a:r>
              <a:rPr lang="en-US" dirty="0">
                <a:solidFill>
                  <a:schemeClr val="accent6">
                    <a:lumMod val="75000"/>
                  </a:schemeClr>
                </a:solidFill>
              </a:rPr>
              <a:t>kill the host during or after completion of the development of the parasitoid</a:t>
            </a:r>
            <a:r>
              <a:rPr lang="en-US" dirty="0"/>
              <a:t>. </a:t>
            </a:r>
            <a:endParaRPr lang="en-US" dirty="0" smtClean="0"/>
          </a:p>
          <a:p>
            <a:pPr>
              <a:buFont typeface="Wingdings" pitchFamily="2" charset="2"/>
              <a:buChar char="v"/>
            </a:pPr>
            <a:r>
              <a:rPr lang="en-US" dirty="0" smtClean="0"/>
              <a:t>They </a:t>
            </a:r>
            <a:r>
              <a:rPr lang="en-US" dirty="0"/>
              <a:t>resemble </a:t>
            </a:r>
            <a:r>
              <a:rPr lang="en-US" dirty="0">
                <a:solidFill>
                  <a:srgbClr val="C00000"/>
                </a:solidFill>
              </a:rPr>
              <a:t>predators</a:t>
            </a:r>
            <a:r>
              <a:rPr lang="en-US" dirty="0"/>
              <a:t> </a:t>
            </a:r>
            <a:r>
              <a:rPr lang="en-US" u="sng" dirty="0"/>
              <a:t>in that they kill their hosts (prey)</a:t>
            </a:r>
            <a:r>
              <a:rPr lang="en-US" dirty="0"/>
              <a:t> and </a:t>
            </a:r>
            <a:r>
              <a:rPr lang="en-US" dirty="0">
                <a:solidFill>
                  <a:srgbClr val="FF0000"/>
                </a:solidFill>
              </a:rPr>
              <a:t>parasites</a:t>
            </a:r>
            <a:r>
              <a:rPr lang="en-US" dirty="0"/>
              <a:t> </a:t>
            </a:r>
            <a:r>
              <a:rPr lang="en-US" u="sng" dirty="0"/>
              <a:t>in that they require only one host</a:t>
            </a:r>
            <a:r>
              <a:rPr lang="en-US" dirty="0"/>
              <a:t>.</a:t>
            </a:r>
          </a:p>
          <a:p>
            <a:endParaRPr lang="en-US" dirty="0"/>
          </a:p>
        </p:txBody>
      </p:sp>
    </p:spTree>
    <p:extLst>
      <p:ext uri="{BB962C8B-B14F-4D97-AF65-F5344CB8AC3E}">
        <p14:creationId xmlns:p14="http://schemas.microsoft.com/office/powerpoint/2010/main" val="223877526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FF0000"/>
                </a:solidFill>
              </a:rPr>
              <a:t>Parasitism</a:t>
            </a:r>
            <a:r>
              <a:rPr lang="en-US" b="1" dirty="0" smtClean="0"/>
              <a:t> and </a:t>
            </a:r>
            <a:r>
              <a:rPr lang="en-US" b="1" dirty="0" smtClean="0">
                <a:solidFill>
                  <a:srgbClr val="C00000"/>
                </a:solidFill>
              </a:rPr>
              <a:t>Predation</a:t>
            </a:r>
            <a:r>
              <a:rPr lang="en-US" b="1" dirty="0" smtClean="0"/>
              <a:t> Cont’d</a:t>
            </a:r>
            <a:endParaRPr lang="en-US" dirty="0"/>
          </a:p>
        </p:txBody>
      </p:sp>
      <p:sp>
        <p:nvSpPr>
          <p:cNvPr id="3" name="Content Placeholder 2"/>
          <p:cNvSpPr>
            <a:spLocks noGrp="1"/>
          </p:cNvSpPr>
          <p:nvPr>
            <p:ph idx="1"/>
          </p:nvPr>
        </p:nvSpPr>
        <p:spPr/>
        <p:txBody>
          <a:bodyPr/>
          <a:lstStyle/>
          <a:p>
            <a:pPr>
              <a:buFont typeface="Wingdings" pitchFamily="2" charset="2"/>
              <a:buChar char="v"/>
            </a:pPr>
            <a:r>
              <a:rPr lang="en-US" dirty="0"/>
              <a:t>A </a:t>
            </a:r>
            <a:r>
              <a:rPr lang="en-US" b="1" dirty="0">
                <a:solidFill>
                  <a:schemeClr val="tx2">
                    <a:lumMod val="60000"/>
                    <a:lumOff val="40000"/>
                  </a:schemeClr>
                </a:solidFill>
              </a:rPr>
              <a:t>Host</a:t>
            </a:r>
            <a:r>
              <a:rPr lang="en-US" b="1" dirty="0"/>
              <a:t> </a:t>
            </a:r>
            <a:r>
              <a:rPr lang="en-US" dirty="0"/>
              <a:t>is </a:t>
            </a:r>
            <a:r>
              <a:rPr lang="en-US" u="sng" dirty="0"/>
              <a:t>an </a:t>
            </a:r>
            <a:r>
              <a:rPr lang="en-US" u="sng" dirty="0">
                <a:solidFill>
                  <a:schemeClr val="tx2">
                    <a:lumMod val="60000"/>
                    <a:lumOff val="40000"/>
                  </a:schemeClr>
                </a:solidFill>
              </a:rPr>
              <a:t>organism</a:t>
            </a:r>
            <a:r>
              <a:rPr lang="en-US" u="sng" dirty="0"/>
              <a:t> usually of a </a:t>
            </a:r>
            <a:r>
              <a:rPr lang="en-US" u="sng" dirty="0">
                <a:solidFill>
                  <a:schemeClr val="tx2">
                    <a:lumMod val="60000"/>
                    <a:lumOff val="40000"/>
                  </a:schemeClr>
                </a:solidFill>
              </a:rPr>
              <a:t>different species from that of the parasite</a:t>
            </a:r>
            <a:r>
              <a:rPr lang="en-US" u="sng" dirty="0"/>
              <a:t> in or on which the </a:t>
            </a:r>
            <a:r>
              <a:rPr lang="en-US" u="sng" dirty="0">
                <a:solidFill>
                  <a:srgbClr val="FF0000"/>
                </a:solidFill>
              </a:rPr>
              <a:t>parasite</a:t>
            </a:r>
            <a:r>
              <a:rPr lang="en-US" u="sng" dirty="0"/>
              <a:t> depends for its survival or completion of its life cycle, or undergoes part of its developmental cycle</a:t>
            </a:r>
            <a:r>
              <a:rPr lang="en-US" dirty="0"/>
              <a:t>. </a:t>
            </a:r>
            <a:endParaRPr lang="en-US" dirty="0" smtClean="0"/>
          </a:p>
          <a:p>
            <a:pPr>
              <a:buFont typeface="Wingdings" pitchFamily="2" charset="2"/>
              <a:buChar char="v"/>
            </a:pPr>
            <a:r>
              <a:rPr lang="en-US" dirty="0" smtClean="0"/>
              <a:t>There </a:t>
            </a:r>
            <a:r>
              <a:rPr lang="en-US" dirty="0"/>
              <a:t>are </a:t>
            </a:r>
            <a:r>
              <a:rPr lang="en-US" dirty="0">
                <a:solidFill>
                  <a:schemeClr val="tx2">
                    <a:lumMod val="60000"/>
                    <a:lumOff val="40000"/>
                  </a:schemeClr>
                </a:solidFill>
              </a:rPr>
              <a:t>different categories of hosts</a:t>
            </a:r>
            <a:r>
              <a:rPr lang="en-US" dirty="0"/>
              <a:t>, as follows:</a:t>
            </a:r>
          </a:p>
          <a:p>
            <a:endParaRPr lang="en-US" dirty="0"/>
          </a:p>
        </p:txBody>
      </p:sp>
    </p:spTree>
    <p:extLst>
      <p:ext uri="{BB962C8B-B14F-4D97-AF65-F5344CB8AC3E}">
        <p14:creationId xmlns:p14="http://schemas.microsoft.com/office/powerpoint/2010/main" val="90324428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FF0000"/>
                </a:solidFill>
              </a:rPr>
              <a:t>Parasitism</a:t>
            </a:r>
            <a:r>
              <a:rPr lang="en-US" b="1" dirty="0" smtClean="0"/>
              <a:t> and </a:t>
            </a:r>
            <a:r>
              <a:rPr lang="en-US" b="1" dirty="0" smtClean="0">
                <a:solidFill>
                  <a:srgbClr val="C00000"/>
                </a:solidFill>
              </a:rPr>
              <a:t>Predation</a:t>
            </a:r>
            <a:r>
              <a:rPr lang="en-US" b="1" dirty="0" smtClean="0"/>
              <a:t> Cont’d</a:t>
            </a:r>
            <a:endParaRPr lang="en-US" dirty="0"/>
          </a:p>
        </p:txBody>
      </p:sp>
      <p:sp>
        <p:nvSpPr>
          <p:cNvPr id="3" name="Content Placeholder 2"/>
          <p:cNvSpPr>
            <a:spLocks noGrp="1"/>
          </p:cNvSpPr>
          <p:nvPr>
            <p:ph idx="1"/>
          </p:nvPr>
        </p:nvSpPr>
        <p:spPr/>
        <p:txBody>
          <a:bodyPr>
            <a:normAutofit/>
          </a:bodyPr>
          <a:lstStyle/>
          <a:p>
            <a:pPr marL="0" lvl="0" indent="0">
              <a:buNone/>
            </a:pPr>
            <a:r>
              <a:rPr lang="en-US" b="1" i="1" dirty="0" smtClean="0"/>
              <a:t>a) </a:t>
            </a:r>
            <a:r>
              <a:rPr lang="en-US" b="1" i="1" dirty="0" smtClean="0">
                <a:solidFill>
                  <a:srgbClr val="00B0F0"/>
                </a:solidFill>
              </a:rPr>
              <a:t>Definitive </a:t>
            </a:r>
            <a:r>
              <a:rPr lang="en-US" b="1" i="1" dirty="0">
                <a:solidFill>
                  <a:srgbClr val="00B0F0"/>
                </a:solidFill>
              </a:rPr>
              <a:t>Host</a:t>
            </a:r>
            <a:r>
              <a:rPr lang="en-US" dirty="0">
                <a:solidFill>
                  <a:srgbClr val="00B0F0"/>
                </a:solidFill>
              </a:rPr>
              <a:t> </a:t>
            </a:r>
            <a:r>
              <a:rPr lang="en-US" dirty="0"/>
              <a:t>– </a:t>
            </a:r>
            <a:r>
              <a:rPr lang="en-US" u="sng" dirty="0"/>
              <a:t>the host in which a </a:t>
            </a:r>
            <a:r>
              <a:rPr lang="en-US" u="sng" dirty="0">
                <a:solidFill>
                  <a:schemeClr val="accent6">
                    <a:lumMod val="75000"/>
                  </a:schemeClr>
                </a:solidFill>
              </a:rPr>
              <a:t>parasite reaches sexual maturity and reproduction</a:t>
            </a:r>
            <a:r>
              <a:rPr lang="en-US" dirty="0"/>
              <a:t>. If no sexual reproduction occurs in the life of the parasite, e.g. a parasitic amoeba or a </a:t>
            </a:r>
            <a:r>
              <a:rPr lang="en-US" i="1" dirty="0"/>
              <a:t>Trypanosome,</a:t>
            </a:r>
            <a:r>
              <a:rPr lang="en-US" dirty="0"/>
              <a:t> the host believed to be most important is arbitrarily referred to as the </a:t>
            </a:r>
            <a:r>
              <a:rPr lang="en-US" dirty="0">
                <a:solidFill>
                  <a:srgbClr val="00B0F0"/>
                </a:solidFill>
              </a:rPr>
              <a:t>Definitive host</a:t>
            </a:r>
            <a:r>
              <a:rPr lang="en-US" dirty="0" smtClean="0"/>
              <a:t>.</a:t>
            </a:r>
            <a:endParaRPr lang="en-US" dirty="0"/>
          </a:p>
        </p:txBody>
      </p:sp>
    </p:spTree>
    <p:extLst>
      <p:ext uri="{BB962C8B-B14F-4D97-AF65-F5344CB8AC3E}">
        <p14:creationId xmlns:p14="http://schemas.microsoft.com/office/powerpoint/2010/main" val="422791865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FF0000"/>
                </a:solidFill>
              </a:rPr>
              <a:t>Parasitism</a:t>
            </a:r>
            <a:r>
              <a:rPr lang="en-US" b="1" dirty="0" smtClean="0"/>
              <a:t> and </a:t>
            </a:r>
            <a:r>
              <a:rPr lang="en-US" b="1" dirty="0" smtClean="0">
                <a:solidFill>
                  <a:srgbClr val="C00000"/>
                </a:solidFill>
              </a:rPr>
              <a:t>Predation</a:t>
            </a:r>
            <a:r>
              <a:rPr lang="en-US" b="1" dirty="0" smtClean="0"/>
              <a:t> Cont’d</a:t>
            </a:r>
            <a:endParaRPr lang="en-US" dirty="0"/>
          </a:p>
        </p:txBody>
      </p:sp>
      <p:sp>
        <p:nvSpPr>
          <p:cNvPr id="3" name="Content Placeholder 2"/>
          <p:cNvSpPr>
            <a:spLocks noGrp="1"/>
          </p:cNvSpPr>
          <p:nvPr>
            <p:ph idx="1"/>
          </p:nvPr>
        </p:nvSpPr>
        <p:spPr/>
        <p:txBody>
          <a:bodyPr/>
          <a:lstStyle/>
          <a:p>
            <a:pPr marL="0" lvl="0" indent="0">
              <a:buNone/>
            </a:pPr>
            <a:r>
              <a:rPr lang="en-US" b="1" dirty="0" smtClean="0"/>
              <a:t>b) </a:t>
            </a:r>
            <a:r>
              <a:rPr lang="en-US" b="1" dirty="0" smtClean="0">
                <a:solidFill>
                  <a:srgbClr val="00B0F0"/>
                </a:solidFill>
              </a:rPr>
              <a:t>An Intermediate Host </a:t>
            </a:r>
            <a:r>
              <a:rPr lang="en-US" b="1" dirty="0" smtClean="0"/>
              <a:t>–</a:t>
            </a:r>
            <a:r>
              <a:rPr lang="en-US" dirty="0" smtClean="0"/>
              <a:t> </a:t>
            </a:r>
            <a:r>
              <a:rPr lang="en-US" u="sng" dirty="0" smtClean="0"/>
              <a:t>is one in which some development of the parasite occurs but in which the </a:t>
            </a:r>
            <a:r>
              <a:rPr lang="en-US" u="sng" dirty="0" smtClean="0">
                <a:solidFill>
                  <a:schemeClr val="accent6">
                    <a:lumMod val="75000"/>
                  </a:schemeClr>
                </a:solidFill>
              </a:rPr>
              <a:t>parasite does not reach maturity</a:t>
            </a:r>
            <a:r>
              <a:rPr lang="en-US" dirty="0" smtClean="0">
                <a:solidFill>
                  <a:schemeClr val="accent6">
                    <a:lumMod val="75000"/>
                  </a:schemeClr>
                </a:solidFill>
              </a:rPr>
              <a:t>.</a:t>
            </a:r>
          </a:p>
          <a:p>
            <a:endParaRPr lang="en-US" dirty="0" smtClean="0"/>
          </a:p>
          <a:p>
            <a:pPr>
              <a:buFont typeface="Wingdings" pitchFamily="2" charset="2"/>
              <a:buChar char="v"/>
            </a:pPr>
            <a:r>
              <a:rPr lang="en-US" dirty="0" smtClean="0"/>
              <a:t> In the case of the malaria parasite, </a:t>
            </a:r>
            <a:r>
              <a:rPr lang="en-US" i="1" dirty="0" smtClean="0">
                <a:solidFill>
                  <a:srgbClr val="7030A0"/>
                </a:solidFill>
              </a:rPr>
              <a:t>Plasmodium spp</a:t>
            </a:r>
            <a:r>
              <a:rPr lang="en-US" dirty="0" smtClean="0"/>
              <a:t>. the </a:t>
            </a:r>
            <a:r>
              <a:rPr lang="en-US" b="1" dirty="0" smtClean="0"/>
              <a:t>mosquito</a:t>
            </a:r>
            <a:r>
              <a:rPr lang="en-US" dirty="0" smtClean="0"/>
              <a:t> is the </a:t>
            </a:r>
            <a:r>
              <a:rPr lang="en-US" dirty="0" smtClean="0">
                <a:solidFill>
                  <a:srgbClr val="00B0F0"/>
                </a:solidFill>
              </a:rPr>
              <a:t>Definitive host </a:t>
            </a:r>
            <a:r>
              <a:rPr lang="en-US" dirty="0" smtClean="0"/>
              <a:t>and </a:t>
            </a:r>
            <a:r>
              <a:rPr lang="en-US" b="1" dirty="0" smtClean="0"/>
              <a:t>humans</a:t>
            </a:r>
            <a:r>
              <a:rPr lang="en-US" dirty="0" smtClean="0"/>
              <a:t> or other </a:t>
            </a:r>
            <a:r>
              <a:rPr lang="en-US" b="1" dirty="0" smtClean="0"/>
              <a:t>vertebrates</a:t>
            </a:r>
            <a:r>
              <a:rPr lang="en-US" dirty="0" smtClean="0"/>
              <a:t> are the </a:t>
            </a:r>
            <a:r>
              <a:rPr lang="en-US" dirty="0" smtClean="0">
                <a:solidFill>
                  <a:srgbClr val="00B0F0"/>
                </a:solidFill>
              </a:rPr>
              <a:t>Intermediate hosts</a:t>
            </a:r>
            <a:r>
              <a:rPr lang="en-US" dirty="0" smtClean="0"/>
              <a:t>.</a:t>
            </a:r>
          </a:p>
          <a:p>
            <a:endParaRPr lang="en-US" dirty="0" smtClean="0"/>
          </a:p>
          <a:p>
            <a:endParaRPr lang="en-US" dirty="0"/>
          </a:p>
        </p:txBody>
      </p:sp>
    </p:spTree>
    <p:extLst>
      <p:ext uri="{BB962C8B-B14F-4D97-AF65-F5344CB8AC3E}">
        <p14:creationId xmlns:p14="http://schemas.microsoft.com/office/powerpoint/2010/main" val="235185966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FF0000"/>
                </a:solidFill>
              </a:rPr>
              <a:t>Parasitism</a:t>
            </a:r>
            <a:r>
              <a:rPr lang="en-US" b="1" dirty="0" smtClean="0"/>
              <a:t> and </a:t>
            </a:r>
            <a:r>
              <a:rPr lang="en-US" b="1" dirty="0" smtClean="0">
                <a:solidFill>
                  <a:srgbClr val="C00000"/>
                </a:solidFill>
              </a:rPr>
              <a:t>Predation</a:t>
            </a:r>
            <a:r>
              <a:rPr lang="en-US" b="1" dirty="0" smtClean="0"/>
              <a:t> Cont’d</a:t>
            </a:r>
            <a:endParaRPr lang="en-US" dirty="0"/>
          </a:p>
        </p:txBody>
      </p:sp>
      <p:sp>
        <p:nvSpPr>
          <p:cNvPr id="3" name="Content Placeholder 2"/>
          <p:cNvSpPr>
            <a:spLocks noGrp="1"/>
          </p:cNvSpPr>
          <p:nvPr>
            <p:ph idx="1"/>
          </p:nvPr>
        </p:nvSpPr>
        <p:spPr>
          <a:xfrm>
            <a:off x="533400" y="1600200"/>
            <a:ext cx="8229600" cy="4830763"/>
          </a:xfrm>
        </p:spPr>
        <p:txBody>
          <a:bodyPr>
            <a:normAutofit fontScale="92500"/>
          </a:bodyPr>
          <a:lstStyle/>
          <a:p>
            <a:pPr marL="0" lvl="0" indent="0">
              <a:buNone/>
            </a:pPr>
            <a:r>
              <a:rPr lang="en-US" b="1" dirty="0" smtClean="0">
                <a:solidFill>
                  <a:srgbClr val="00B0F0"/>
                </a:solidFill>
              </a:rPr>
              <a:t>c)A </a:t>
            </a:r>
            <a:r>
              <a:rPr lang="en-US" b="1" dirty="0">
                <a:solidFill>
                  <a:srgbClr val="00B0F0"/>
                </a:solidFill>
              </a:rPr>
              <a:t>Paratenic Host</a:t>
            </a:r>
            <a:r>
              <a:rPr lang="en-US" dirty="0">
                <a:solidFill>
                  <a:srgbClr val="00B0F0"/>
                </a:solidFill>
              </a:rPr>
              <a:t>  </a:t>
            </a:r>
            <a:r>
              <a:rPr lang="en-US" dirty="0"/>
              <a:t>(also referred to as a </a:t>
            </a:r>
            <a:r>
              <a:rPr lang="en-US" b="1" dirty="0">
                <a:solidFill>
                  <a:srgbClr val="00B0F0"/>
                </a:solidFill>
              </a:rPr>
              <a:t>Transport Host) </a:t>
            </a:r>
            <a:r>
              <a:rPr lang="en-US" dirty="0"/>
              <a:t>– when a </a:t>
            </a:r>
            <a:r>
              <a:rPr lang="en-US" dirty="0">
                <a:solidFill>
                  <a:schemeClr val="accent6">
                    <a:lumMod val="75000"/>
                  </a:schemeClr>
                </a:solidFill>
              </a:rPr>
              <a:t>parasite in the body of a host does not undergo any development</a:t>
            </a:r>
            <a:r>
              <a:rPr lang="en-US" dirty="0"/>
              <a:t>, </a:t>
            </a:r>
            <a:r>
              <a:rPr lang="en-US" u="sng" dirty="0"/>
              <a:t>but only continues to stay alive and remains infective to a definitive host, that host (not the definitive host) is referred to as a </a:t>
            </a:r>
            <a:r>
              <a:rPr lang="en-US" u="sng" dirty="0">
                <a:solidFill>
                  <a:srgbClr val="00B0F0"/>
                </a:solidFill>
              </a:rPr>
              <a:t>paratenic or transport host</a:t>
            </a:r>
            <a:r>
              <a:rPr lang="en-US" dirty="0"/>
              <a:t>. Such hosts are often useful/necessary for the completion of the life-cycle of the parasite</a:t>
            </a:r>
            <a:r>
              <a:rPr lang="en-US" dirty="0" smtClean="0"/>
              <a:t>,</a:t>
            </a:r>
          </a:p>
          <a:p>
            <a:pPr lvl="0">
              <a:buFont typeface="Wingdings" pitchFamily="2" charset="2"/>
              <a:buChar char="v"/>
            </a:pPr>
            <a:r>
              <a:rPr lang="en-US" dirty="0" smtClean="0"/>
              <a:t> </a:t>
            </a:r>
            <a:r>
              <a:rPr lang="en-US" dirty="0"/>
              <a:t>since </a:t>
            </a:r>
            <a:r>
              <a:rPr lang="en-US" dirty="0">
                <a:solidFill>
                  <a:srgbClr val="7030A0"/>
                </a:solidFill>
              </a:rPr>
              <a:t>they may bridge an ecological gap between the intermediate and the definitive hosts</a:t>
            </a:r>
            <a:r>
              <a:rPr lang="en-US" dirty="0"/>
              <a:t>.</a:t>
            </a:r>
          </a:p>
        </p:txBody>
      </p:sp>
    </p:spTree>
    <p:extLst>
      <p:ext uri="{BB962C8B-B14F-4D97-AF65-F5344CB8AC3E}">
        <p14:creationId xmlns:p14="http://schemas.microsoft.com/office/powerpoint/2010/main" val="123973354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FF0000"/>
                </a:solidFill>
              </a:rPr>
              <a:t>Parasitism</a:t>
            </a:r>
            <a:r>
              <a:rPr lang="en-US" b="1" dirty="0" smtClean="0"/>
              <a:t> and </a:t>
            </a:r>
            <a:r>
              <a:rPr lang="en-US" b="1" dirty="0" smtClean="0">
                <a:solidFill>
                  <a:srgbClr val="C00000"/>
                </a:solidFill>
              </a:rPr>
              <a:t>Predation</a:t>
            </a:r>
            <a:r>
              <a:rPr lang="en-US" b="1" dirty="0" smtClean="0"/>
              <a:t> Cont’d</a:t>
            </a:r>
            <a:endParaRPr lang="en-US" dirty="0"/>
          </a:p>
        </p:txBody>
      </p:sp>
      <p:sp>
        <p:nvSpPr>
          <p:cNvPr id="3" name="Content Placeholder 2"/>
          <p:cNvSpPr>
            <a:spLocks noGrp="1"/>
          </p:cNvSpPr>
          <p:nvPr>
            <p:ph idx="1"/>
          </p:nvPr>
        </p:nvSpPr>
        <p:spPr>
          <a:xfrm>
            <a:off x="457200" y="1600200"/>
            <a:ext cx="8229600" cy="4876800"/>
          </a:xfrm>
        </p:spPr>
        <p:txBody>
          <a:bodyPr>
            <a:normAutofit fontScale="92500"/>
          </a:bodyPr>
          <a:lstStyle/>
          <a:p>
            <a:pPr marL="0" lvl="0" indent="0">
              <a:buNone/>
            </a:pPr>
            <a:r>
              <a:rPr lang="en-US" b="1" dirty="0" smtClean="0"/>
              <a:t>d) </a:t>
            </a:r>
            <a:r>
              <a:rPr lang="en-US" b="1" dirty="0" smtClean="0">
                <a:solidFill>
                  <a:srgbClr val="00B0F0"/>
                </a:solidFill>
              </a:rPr>
              <a:t>Reservoir </a:t>
            </a:r>
            <a:r>
              <a:rPr lang="en-US" b="1" dirty="0">
                <a:solidFill>
                  <a:srgbClr val="00B0F0"/>
                </a:solidFill>
              </a:rPr>
              <a:t>Host </a:t>
            </a:r>
            <a:r>
              <a:rPr lang="en-US" b="1" dirty="0"/>
              <a:t>– </a:t>
            </a:r>
            <a:r>
              <a:rPr lang="en-US" u="sng" dirty="0"/>
              <a:t>an animal,</a:t>
            </a:r>
            <a:r>
              <a:rPr lang="en-US" b="1" u="sng" dirty="0"/>
              <a:t> </a:t>
            </a:r>
            <a:r>
              <a:rPr lang="en-US" u="sng" dirty="0"/>
              <a:t>including humans, that harbours an infection or a pathogen that can be transmitted to people is a </a:t>
            </a:r>
            <a:r>
              <a:rPr lang="en-US" u="sng" dirty="0">
                <a:solidFill>
                  <a:srgbClr val="00B0F0"/>
                </a:solidFill>
              </a:rPr>
              <a:t>reservoir host</a:t>
            </a:r>
            <a:r>
              <a:rPr lang="en-US" dirty="0"/>
              <a:t>; the animal may even be a normal host of the parasite, it is a reservoir for a zoonotic infection of people</a:t>
            </a:r>
            <a:r>
              <a:rPr lang="en-US" dirty="0" smtClean="0"/>
              <a:t>.</a:t>
            </a:r>
          </a:p>
          <a:p>
            <a:pPr lvl="0">
              <a:buFont typeface="Wingdings" pitchFamily="2" charset="2"/>
              <a:buChar char="v"/>
            </a:pPr>
            <a:r>
              <a:rPr lang="en-US" dirty="0" smtClean="0"/>
              <a:t> </a:t>
            </a:r>
            <a:r>
              <a:rPr lang="en-US" dirty="0"/>
              <a:t>For example: the </a:t>
            </a:r>
            <a:r>
              <a:rPr lang="en-US" dirty="0">
                <a:solidFill>
                  <a:srgbClr val="00B050"/>
                </a:solidFill>
              </a:rPr>
              <a:t>dog</a:t>
            </a:r>
            <a:r>
              <a:rPr lang="en-US" dirty="0"/>
              <a:t>, </a:t>
            </a:r>
            <a:r>
              <a:rPr lang="en-US" dirty="0">
                <a:solidFill>
                  <a:srgbClr val="00B050"/>
                </a:solidFill>
              </a:rPr>
              <a:t>cat</a:t>
            </a:r>
            <a:r>
              <a:rPr lang="en-US" dirty="0"/>
              <a:t>, </a:t>
            </a:r>
            <a:r>
              <a:rPr lang="en-US" dirty="0">
                <a:solidFill>
                  <a:srgbClr val="00B050"/>
                </a:solidFill>
              </a:rPr>
              <a:t>armadillo</a:t>
            </a:r>
            <a:r>
              <a:rPr lang="en-US" dirty="0"/>
              <a:t> and </a:t>
            </a:r>
            <a:r>
              <a:rPr lang="en-US" dirty="0">
                <a:solidFill>
                  <a:srgbClr val="00B050"/>
                </a:solidFill>
              </a:rPr>
              <a:t>opossum</a:t>
            </a:r>
            <a:r>
              <a:rPr lang="en-US" dirty="0"/>
              <a:t> </a:t>
            </a:r>
            <a:r>
              <a:rPr lang="en-US" u="sng" dirty="0"/>
              <a:t>that harbours the trypanosome parasite (</a:t>
            </a:r>
            <a:r>
              <a:rPr lang="en-US" i="1" u="sng" dirty="0"/>
              <a:t>Trypanosoma </a:t>
            </a:r>
            <a:r>
              <a:rPr lang="en-US" i="1" u="sng" dirty="0" err="1"/>
              <a:t>cruzi</a:t>
            </a:r>
            <a:r>
              <a:rPr lang="en-US" u="sng" dirty="0"/>
              <a:t>) that causes Chagas’ disease (American trypanosomiasis) in humans </a:t>
            </a:r>
            <a:r>
              <a:rPr lang="en-US" dirty="0"/>
              <a:t>is a </a:t>
            </a:r>
            <a:r>
              <a:rPr lang="en-US" dirty="0">
                <a:solidFill>
                  <a:srgbClr val="00B0F0"/>
                </a:solidFill>
              </a:rPr>
              <a:t>reservoir host of the parasite</a:t>
            </a:r>
            <a:r>
              <a:rPr lang="en-US" dirty="0"/>
              <a:t>.</a:t>
            </a:r>
          </a:p>
        </p:txBody>
      </p:sp>
    </p:spTree>
    <p:extLst>
      <p:ext uri="{BB962C8B-B14F-4D97-AF65-F5344CB8AC3E}">
        <p14:creationId xmlns:p14="http://schemas.microsoft.com/office/powerpoint/2010/main" val="50342069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FF0000"/>
                </a:solidFill>
              </a:rPr>
              <a:t>Parasitism</a:t>
            </a:r>
            <a:r>
              <a:rPr lang="en-US" b="1" dirty="0" smtClean="0"/>
              <a:t> and </a:t>
            </a:r>
            <a:r>
              <a:rPr lang="en-US" b="1" dirty="0" smtClean="0">
                <a:solidFill>
                  <a:srgbClr val="C00000"/>
                </a:solidFill>
              </a:rPr>
              <a:t>Predation</a:t>
            </a:r>
            <a:r>
              <a:rPr lang="en-US" b="1" dirty="0" smtClean="0"/>
              <a:t> Cont’d</a:t>
            </a:r>
            <a:endParaRPr lang="en-US" dirty="0"/>
          </a:p>
        </p:txBody>
      </p:sp>
      <p:sp>
        <p:nvSpPr>
          <p:cNvPr id="3" name="Content Placeholder 2"/>
          <p:cNvSpPr>
            <a:spLocks noGrp="1"/>
          </p:cNvSpPr>
          <p:nvPr>
            <p:ph idx="1"/>
          </p:nvPr>
        </p:nvSpPr>
        <p:spPr/>
        <p:txBody>
          <a:bodyPr>
            <a:normAutofit lnSpcReduction="10000"/>
          </a:bodyPr>
          <a:lstStyle/>
          <a:p>
            <a:pPr marL="0" indent="0">
              <a:buNone/>
            </a:pPr>
            <a:r>
              <a:rPr lang="en-US" b="1" dirty="0" smtClean="0"/>
              <a:t>e) </a:t>
            </a:r>
            <a:r>
              <a:rPr lang="en-US" b="1" dirty="0" smtClean="0">
                <a:solidFill>
                  <a:srgbClr val="00B0F0"/>
                </a:solidFill>
              </a:rPr>
              <a:t>Host </a:t>
            </a:r>
            <a:r>
              <a:rPr lang="en-US" b="1" dirty="0">
                <a:solidFill>
                  <a:srgbClr val="00B0F0"/>
                </a:solidFill>
              </a:rPr>
              <a:t>Specificity </a:t>
            </a:r>
            <a:r>
              <a:rPr lang="en-US" b="1" dirty="0"/>
              <a:t>–</a:t>
            </a:r>
            <a:r>
              <a:rPr lang="en-US" b="1" u="sng" dirty="0"/>
              <a:t> </a:t>
            </a:r>
            <a:r>
              <a:rPr lang="en-US" u="sng" dirty="0"/>
              <a:t>the </a:t>
            </a:r>
            <a:r>
              <a:rPr lang="en-US" u="sng" dirty="0">
                <a:solidFill>
                  <a:srgbClr val="00B0F0"/>
                </a:solidFill>
              </a:rPr>
              <a:t>condition</a:t>
            </a:r>
            <a:r>
              <a:rPr lang="en-US" u="sng" dirty="0"/>
              <a:t> where a </a:t>
            </a:r>
            <a:r>
              <a:rPr lang="en-US" u="sng" dirty="0">
                <a:solidFill>
                  <a:schemeClr val="accent6">
                    <a:lumMod val="75000"/>
                  </a:schemeClr>
                </a:solidFill>
              </a:rPr>
              <a:t>parasite</a:t>
            </a:r>
            <a:r>
              <a:rPr lang="en-US" u="sng" dirty="0"/>
              <a:t> </a:t>
            </a:r>
            <a:r>
              <a:rPr lang="en-US" u="sng" dirty="0">
                <a:solidFill>
                  <a:schemeClr val="accent6">
                    <a:lumMod val="75000"/>
                  </a:schemeClr>
                </a:solidFill>
              </a:rPr>
              <a:t>lives (or has adapted to live) in only one or two species of host and not in any other species</a:t>
            </a:r>
            <a:r>
              <a:rPr lang="en-US" u="sng" dirty="0"/>
              <a:t>. </a:t>
            </a:r>
            <a:endParaRPr lang="en-US" u="sng" dirty="0" smtClean="0"/>
          </a:p>
          <a:p>
            <a:pPr>
              <a:buFont typeface="Wingdings" pitchFamily="2" charset="2"/>
              <a:buChar char="v"/>
            </a:pPr>
            <a:r>
              <a:rPr lang="en-US" dirty="0" smtClean="0"/>
              <a:t>Host </a:t>
            </a:r>
            <a:r>
              <a:rPr lang="en-US" dirty="0"/>
              <a:t>specificity may be </a:t>
            </a:r>
            <a:r>
              <a:rPr lang="en-US" dirty="0">
                <a:solidFill>
                  <a:srgbClr val="FF33CC"/>
                </a:solidFill>
              </a:rPr>
              <a:t>absolute</a:t>
            </a:r>
            <a:r>
              <a:rPr lang="en-US" dirty="0"/>
              <a:t>  (e.g</a:t>
            </a:r>
            <a:r>
              <a:rPr lang="en-US" u="sng" dirty="0"/>
              <a:t>. the pork tapeworm, </a:t>
            </a:r>
            <a:r>
              <a:rPr lang="en-US" i="1" u="sng" dirty="0">
                <a:solidFill>
                  <a:srgbClr val="7030A0"/>
                </a:solidFill>
              </a:rPr>
              <a:t>Taenia solium</a:t>
            </a:r>
            <a:r>
              <a:rPr lang="en-US" u="sng" dirty="0">
                <a:solidFill>
                  <a:srgbClr val="7030A0"/>
                </a:solidFill>
              </a:rPr>
              <a:t> </a:t>
            </a:r>
            <a:r>
              <a:rPr lang="en-US" u="sng" dirty="0"/>
              <a:t>matures only in humans</a:t>
            </a:r>
            <a:r>
              <a:rPr lang="en-US" dirty="0"/>
              <a:t>) or </a:t>
            </a:r>
            <a:r>
              <a:rPr lang="en-US" dirty="0">
                <a:solidFill>
                  <a:srgbClr val="FF33CC"/>
                </a:solidFill>
              </a:rPr>
              <a:t>low</a:t>
            </a:r>
            <a:r>
              <a:rPr lang="en-US" dirty="0"/>
              <a:t>, e.g. the trichina worm, </a:t>
            </a:r>
            <a:r>
              <a:rPr lang="en-US" i="1" dirty="0">
                <a:solidFill>
                  <a:srgbClr val="7030A0"/>
                </a:solidFill>
              </a:rPr>
              <a:t>Trichinella spiralis</a:t>
            </a:r>
            <a:r>
              <a:rPr lang="en-US" dirty="0">
                <a:solidFill>
                  <a:srgbClr val="7030A0"/>
                </a:solidFill>
              </a:rPr>
              <a:t> </a:t>
            </a:r>
            <a:r>
              <a:rPr lang="en-US" u="sng" dirty="0"/>
              <a:t>is able to mature in almost any warm-blooded vertebrate</a:t>
            </a:r>
          </a:p>
        </p:txBody>
      </p:sp>
    </p:spTree>
    <p:extLst>
      <p:ext uri="{BB962C8B-B14F-4D97-AF65-F5344CB8AC3E}">
        <p14:creationId xmlns:p14="http://schemas.microsoft.com/office/powerpoint/2010/main" val="100280550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FF0000"/>
                </a:solidFill>
              </a:rPr>
              <a:t>Parasitism</a:t>
            </a:r>
            <a:r>
              <a:rPr lang="en-US" b="1" dirty="0" smtClean="0"/>
              <a:t> and </a:t>
            </a:r>
            <a:r>
              <a:rPr lang="en-US" b="1" dirty="0" smtClean="0">
                <a:solidFill>
                  <a:srgbClr val="C00000"/>
                </a:solidFill>
              </a:rPr>
              <a:t>Predation</a:t>
            </a:r>
            <a:r>
              <a:rPr lang="en-US" b="1" dirty="0" smtClean="0"/>
              <a:t> Cont’d</a:t>
            </a:r>
            <a:endParaRPr lang="en-US" dirty="0"/>
          </a:p>
        </p:txBody>
      </p:sp>
      <p:sp>
        <p:nvSpPr>
          <p:cNvPr id="3" name="Content Placeholder 2"/>
          <p:cNvSpPr>
            <a:spLocks noGrp="1"/>
          </p:cNvSpPr>
          <p:nvPr>
            <p:ph idx="1"/>
          </p:nvPr>
        </p:nvSpPr>
        <p:spPr>
          <a:xfrm>
            <a:off x="457200" y="1600200"/>
            <a:ext cx="8229600" cy="4572000"/>
          </a:xfrm>
        </p:spPr>
        <p:txBody>
          <a:bodyPr>
            <a:normAutofit fontScale="92500" lnSpcReduction="10000"/>
          </a:bodyPr>
          <a:lstStyle/>
          <a:p>
            <a:pPr marL="0" lvl="0" indent="0">
              <a:buNone/>
            </a:pPr>
            <a:r>
              <a:rPr lang="en-US" b="1" dirty="0" smtClean="0"/>
              <a:t>f) </a:t>
            </a:r>
            <a:r>
              <a:rPr lang="en-US" b="1" dirty="0" smtClean="0">
                <a:solidFill>
                  <a:srgbClr val="00B0F0"/>
                </a:solidFill>
              </a:rPr>
              <a:t>Hyperparasitism</a:t>
            </a:r>
            <a:r>
              <a:rPr lang="en-US" b="1" dirty="0" smtClean="0"/>
              <a:t> </a:t>
            </a:r>
            <a:r>
              <a:rPr lang="en-US" b="1" dirty="0"/>
              <a:t>–</a:t>
            </a:r>
            <a:r>
              <a:rPr lang="en-US" dirty="0"/>
              <a:t> </a:t>
            </a:r>
            <a:r>
              <a:rPr lang="en-US" u="sng" dirty="0"/>
              <a:t>the </a:t>
            </a:r>
            <a:r>
              <a:rPr lang="en-US" u="sng" dirty="0">
                <a:solidFill>
                  <a:srgbClr val="00B0F0"/>
                </a:solidFill>
              </a:rPr>
              <a:t>situation</a:t>
            </a:r>
            <a:r>
              <a:rPr lang="en-US" u="sng" dirty="0"/>
              <a:t> where a </a:t>
            </a:r>
            <a:r>
              <a:rPr lang="en-US" u="sng" dirty="0">
                <a:solidFill>
                  <a:schemeClr val="accent6">
                    <a:lumMod val="75000"/>
                  </a:schemeClr>
                </a:solidFill>
              </a:rPr>
              <a:t>parasite serves as host to another parasite</a:t>
            </a:r>
            <a:r>
              <a:rPr lang="en-US" u="sng" dirty="0"/>
              <a:t>, i.e. </a:t>
            </a:r>
            <a:r>
              <a:rPr lang="en-US" u="sng" dirty="0">
                <a:solidFill>
                  <a:srgbClr val="00B0F0"/>
                </a:solidFill>
              </a:rPr>
              <a:t>a parasite parasitizes another parasite</a:t>
            </a:r>
            <a:r>
              <a:rPr lang="en-US" dirty="0"/>
              <a:t>, </a:t>
            </a:r>
            <a:endParaRPr lang="en-US" dirty="0" smtClean="0"/>
          </a:p>
          <a:p>
            <a:pPr lvl="0">
              <a:buFont typeface="Wingdings" pitchFamily="2" charset="2"/>
              <a:buChar char="v"/>
            </a:pPr>
            <a:r>
              <a:rPr lang="en-US" dirty="0" smtClean="0"/>
              <a:t>e.g</a:t>
            </a:r>
            <a:r>
              <a:rPr lang="en-US" dirty="0"/>
              <a:t>. </a:t>
            </a:r>
            <a:r>
              <a:rPr lang="en-US" u="sng" dirty="0"/>
              <a:t>the malaria parasite in the mosquito (the female mosquito is parasitic on humans or other vertebrates in that it feeds on their blood to develop its eggs whilst the malaria parasite requires the mosquito for its sexual development stage of its life cycle and for its transmission to humans</a:t>
            </a:r>
            <a:r>
              <a:rPr lang="en-US" dirty="0"/>
              <a:t>.</a:t>
            </a:r>
          </a:p>
          <a:p>
            <a:endParaRPr lang="en-US" dirty="0"/>
          </a:p>
        </p:txBody>
      </p:sp>
    </p:spTree>
    <p:extLst>
      <p:ext uri="{BB962C8B-B14F-4D97-AF65-F5344CB8AC3E}">
        <p14:creationId xmlns:p14="http://schemas.microsoft.com/office/powerpoint/2010/main" val="410835842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FF0000"/>
                </a:solidFill>
              </a:rPr>
              <a:t>Parasitism</a:t>
            </a:r>
            <a:r>
              <a:rPr lang="en-US" b="1" dirty="0" smtClean="0"/>
              <a:t> and </a:t>
            </a:r>
            <a:r>
              <a:rPr lang="en-US" b="1" dirty="0" smtClean="0">
                <a:solidFill>
                  <a:srgbClr val="C00000"/>
                </a:solidFill>
              </a:rPr>
              <a:t>Predation</a:t>
            </a:r>
            <a:r>
              <a:rPr lang="en-US" b="1" dirty="0" smtClean="0"/>
              <a:t> Cont’d</a:t>
            </a:r>
            <a:endParaRPr lang="en-US" dirty="0"/>
          </a:p>
        </p:txBody>
      </p:sp>
      <p:sp>
        <p:nvSpPr>
          <p:cNvPr id="3" name="Content Placeholder 2"/>
          <p:cNvSpPr>
            <a:spLocks noGrp="1"/>
          </p:cNvSpPr>
          <p:nvPr>
            <p:ph idx="1"/>
          </p:nvPr>
        </p:nvSpPr>
        <p:spPr/>
        <p:txBody>
          <a:bodyPr/>
          <a:lstStyle/>
          <a:p>
            <a:pPr marL="0" lvl="0" indent="0">
              <a:buNone/>
            </a:pPr>
            <a:r>
              <a:rPr lang="en-US" b="1" dirty="0"/>
              <a:t>g</a:t>
            </a:r>
            <a:r>
              <a:rPr lang="en-US" b="1" dirty="0" smtClean="0"/>
              <a:t>) </a:t>
            </a:r>
            <a:r>
              <a:rPr lang="en-US" b="1" dirty="0" smtClean="0">
                <a:solidFill>
                  <a:srgbClr val="00B0F0"/>
                </a:solidFill>
              </a:rPr>
              <a:t>Multiparasitism</a:t>
            </a:r>
            <a:r>
              <a:rPr lang="en-US" b="1" dirty="0" smtClean="0"/>
              <a:t> </a:t>
            </a:r>
            <a:r>
              <a:rPr lang="en-US" b="1" dirty="0"/>
              <a:t>–</a:t>
            </a:r>
            <a:r>
              <a:rPr lang="en-US" dirty="0"/>
              <a:t> </a:t>
            </a:r>
            <a:r>
              <a:rPr lang="en-US" u="sng" dirty="0"/>
              <a:t>a </a:t>
            </a:r>
            <a:r>
              <a:rPr lang="en-US" u="sng" dirty="0">
                <a:solidFill>
                  <a:srgbClr val="00B0F0"/>
                </a:solidFill>
              </a:rPr>
              <a:t>condition</a:t>
            </a:r>
            <a:r>
              <a:rPr lang="en-US" u="sng" dirty="0"/>
              <a:t> where an </a:t>
            </a:r>
            <a:r>
              <a:rPr lang="en-US" u="sng" dirty="0">
                <a:solidFill>
                  <a:schemeClr val="accent6">
                    <a:lumMod val="75000"/>
                  </a:schemeClr>
                </a:solidFill>
              </a:rPr>
              <a:t>animal or organism is host to more than one species of parasites at the same time</a:t>
            </a:r>
            <a:r>
              <a:rPr lang="en-US" dirty="0"/>
              <a:t>; </a:t>
            </a:r>
            <a:endParaRPr lang="en-US" dirty="0" smtClean="0"/>
          </a:p>
          <a:p>
            <a:pPr lvl="0">
              <a:buFont typeface="Wingdings" pitchFamily="2" charset="2"/>
              <a:buChar char="v"/>
            </a:pPr>
            <a:r>
              <a:rPr lang="en-US" dirty="0" smtClean="0"/>
              <a:t>e.g</a:t>
            </a:r>
            <a:r>
              <a:rPr lang="en-US" dirty="0"/>
              <a:t>. </a:t>
            </a:r>
            <a:r>
              <a:rPr lang="en-US" u="sng" dirty="0"/>
              <a:t>a human child who has infection with Ascaris and also malaria parasites or infection with worms (different species or single), malaria and trypanosomiasis</a:t>
            </a:r>
            <a:r>
              <a:rPr lang="en-US" dirty="0"/>
              <a:t>.</a:t>
            </a:r>
          </a:p>
          <a:p>
            <a:pPr>
              <a:buFont typeface="Wingdings" pitchFamily="2" charset="2"/>
              <a:buChar char="v"/>
            </a:pPr>
            <a:endParaRPr lang="en-US" dirty="0"/>
          </a:p>
        </p:txBody>
      </p:sp>
    </p:spTree>
    <p:extLst>
      <p:ext uri="{BB962C8B-B14F-4D97-AF65-F5344CB8AC3E}">
        <p14:creationId xmlns:p14="http://schemas.microsoft.com/office/powerpoint/2010/main" val="216308207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FF0000"/>
                </a:solidFill>
              </a:rPr>
              <a:t>Parasitism</a:t>
            </a:r>
            <a:r>
              <a:rPr lang="en-US" b="1" dirty="0" smtClean="0"/>
              <a:t> and </a:t>
            </a:r>
            <a:r>
              <a:rPr lang="en-US" b="1" dirty="0" smtClean="0">
                <a:solidFill>
                  <a:srgbClr val="C00000"/>
                </a:solidFill>
              </a:rPr>
              <a:t>Predation</a:t>
            </a:r>
            <a:r>
              <a:rPr lang="en-US" b="1" dirty="0" smtClean="0"/>
              <a:t> Cont’d</a:t>
            </a:r>
            <a:endParaRPr lang="en-US" dirty="0"/>
          </a:p>
        </p:txBody>
      </p:sp>
      <p:sp>
        <p:nvSpPr>
          <p:cNvPr id="3" name="Content Placeholder 2"/>
          <p:cNvSpPr>
            <a:spLocks noGrp="1"/>
          </p:cNvSpPr>
          <p:nvPr>
            <p:ph idx="1"/>
          </p:nvPr>
        </p:nvSpPr>
        <p:spPr/>
        <p:txBody>
          <a:bodyPr/>
          <a:lstStyle/>
          <a:p>
            <a:pPr lvl="0">
              <a:buFont typeface="Wingdings" pitchFamily="2" charset="2"/>
              <a:buChar char="v"/>
            </a:pPr>
            <a:r>
              <a:rPr lang="en-US" b="1" dirty="0">
                <a:solidFill>
                  <a:srgbClr val="7030A0"/>
                </a:solidFill>
              </a:rPr>
              <a:t>Susceptibility</a:t>
            </a:r>
            <a:r>
              <a:rPr lang="en-US" b="1" dirty="0"/>
              <a:t> and </a:t>
            </a:r>
            <a:r>
              <a:rPr lang="en-US" b="1" dirty="0">
                <a:solidFill>
                  <a:srgbClr val="00B050"/>
                </a:solidFill>
              </a:rPr>
              <a:t>Resistance</a:t>
            </a:r>
            <a:r>
              <a:rPr lang="en-US" b="1" dirty="0"/>
              <a:t> </a:t>
            </a:r>
            <a:endParaRPr lang="en-US" dirty="0"/>
          </a:p>
          <a:p>
            <a:pPr>
              <a:buFont typeface="Wingdings" pitchFamily="2" charset="2"/>
              <a:buChar char="v"/>
            </a:pPr>
            <a:endParaRPr lang="en-US" b="1" i="1" dirty="0" smtClean="0"/>
          </a:p>
          <a:p>
            <a:pPr>
              <a:buFont typeface="Wingdings" pitchFamily="2" charset="2"/>
              <a:buChar char="v"/>
            </a:pPr>
            <a:r>
              <a:rPr lang="en-US" b="1" i="1" dirty="0" smtClean="0">
                <a:solidFill>
                  <a:srgbClr val="7030A0"/>
                </a:solidFill>
              </a:rPr>
              <a:t>A </a:t>
            </a:r>
            <a:r>
              <a:rPr lang="en-US" b="1" i="1" dirty="0">
                <a:solidFill>
                  <a:srgbClr val="7030A0"/>
                </a:solidFill>
              </a:rPr>
              <a:t>host is susceptible</a:t>
            </a:r>
            <a:r>
              <a:rPr lang="en-US" dirty="0">
                <a:solidFill>
                  <a:srgbClr val="7030A0"/>
                </a:solidFill>
              </a:rPr>
              <a:t> </a:t>
            </a:r>
            <a:r>
              <a:rPr lang="en-US" u="sng" dirty="0"/>
              <a:t>to a parasitic infection if it (the host) is in a physiological state such that it will not eliminate the parasite before the parasite has become established in it (the host)</a:t>
            </a:r>
            <a:r>
              <a:rPr lang="en-US" dirty="0"/>
              <a:t>.</a:t>
            </a:r>
          </a:p>
          <a:p>
            <a:pPr marL="0" indent="0">
              <a:buNone/>
            </a:pPr>
            <a:endParaRPr lang="en-US" dirty="0"/>
          </a:p>
        </p:txBody>
      </p:sp>
    </p:spTree>
    <p:extLst>
      <p:ext uri="{BB962C8B-B14F-4D97-AF65-F5344CB8AC3E}">
        <p14:creationId xmlns:p14="http://schemas.microsoft.com/office/powerpoint/2010/main" val="404946601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FF0000"/>
                </a:solidFill>
              </a:rPr>
              <a:t>Parasitism</a:t>
            </a:r>
            <a:r>
              <a:rPr lang="en-US" b="1" dirty="0" smtClean="0"/>
              <a:t> and </a:t>
            </a:r>
            <a:r>
              <a:rPr lang="en-US" b="1" dirty="0" smtClean="0">
                <a:solidFill>
                  <a:srgbClr val="C00000"/>
                </a:solidFill>
              </a:rPr>
              <a:t>Predation</a:t>
            </a:r>
            <a:r>
              <a:rPr lang="en-US" b="1" dirty="0" smtClean="0"/>
              <a:t> Cont’d</a:t>
            </a:r>
            <a:endParaRPr lang="en-US" dirty="0"/>
          </a:p>
        </p:txBody>
      </p:sp>
      <p:sp>
        <p:nvSpPr>
          <p:cNvPr id="3" name="Content Placeholder 2"/>
          <p:cNvSpPr>
            <a:spLocks noGrp="1"/>
          </p:cNvSpPr>
          <p:nvPr>
            <p:ph idx="1"/>
          </p:nvPr>
        </p:nvSpPr>
        <p:spPr/>
        <p:txBody>
          <a:bodyPr/>
          <a:lstStyle/>
          <a:p>
            <a:pPr>
              <a:buFont typeface="Wingdings" pitchFamily="2" charset="2"/>
              <a:buChar char="v"/>
            </a:pPr>
            <a:r>
              <a:rPr lang="en-US" b="1" i="1" dirty="0">
                <a:solidFill>
                  <a:srgbClr val="00B050"/>
                </a:solidFill>
              </a:rPr>
              <a:t>A host is resistant</a:t>
            </a:r>
            <a:r>
              <a:rPr lang="en-US" dirty="0">
                <a:solidFill>
                  <a:srgbClr val="00B050"/>
                </a:solidFill>
              </a:rPr>
              <a:t> </a:t>
            </a:r>
            <a:r>
              <a:rPr lang="en-US" u="sng" dirty="0"/>
              <a:t>if its physiological status prevents the establishment and survival of the parasite in it</a:t>
            </a:r>
            <a:r>
              <a:rPr lang="en-US" dirty="0"/>
              <a:t>.</a:t>
            </a:r>
          </a:p>
          <a:p>
            <a:pPr>
              <a:buFont typeface="Wingdings" pitchFamily="2" charset="2"/>
              <a:buChar char="v"/>
            </a:pPr>
            <a:r>
              <a:rPr lang="en-US" dirty="0"/>
              <a:t>Correspondingly, </a:t>
            </a:r>
            <a:r>
              <a:rPr lang="en-US" b="1" dirty="0"/>
              <a:t>the ability of a parasite to infect a host</a:t>
            </a:r>
            <a:r>
              <a:rPr lang="en-US" dirty="0"/>
              <a:t> is termed its </a:t>
            </a:r>
            <a:r>
              <a:rPr lang="en-US" b="1" dirty="0">
                <a:solidFill>
                  <a:srgbClr val="FF33CC"/>
                </a:solidFill>
              </a:rPr>
              <a:t>Infectivity</a:t>
            </a:r>
            <a:r>
              <a:rPr lang="en-US" b="1" dirty="0"/>
              <a:t> </a:t>
            </a:r>
            <a:r>
              <a:rPr lang="en-US" u="sng" dirty="0"/>
              <a:t>(i.e. the ease or difficulty of a host becoming infected with a particular parasite or with which a parasite is able to infect a host)</a:t>
            </a:r>
            <a:r>
              <a:rPr lang="en-US" dirty="0"/>
              <a:t>.</a:t>
            </a:r>
          </a:p>
          <a:p>
            <a:pPr>
              <a:buFont typeface="Wingdings" pitchFamily="2" charset="2"/>
              <a:buChar char="v"/>
            </a:pPr>
            <a:endParaRPr lang="en-US" dirty="0"/>
          </a:p>
        </p:txBody>
      </p:sp>
    </p:spTree>
    <p:extLst>
      <p:ext uri="{BB962C8B-B14F-4D97-AF65-F5344CB8AC3E}">
        <p14:creationId xmlns:p14="http://schemas.microsoft.com/office/powerpoint/2010/main" val="291668034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782762"/>
          </a:xfrm>
        </p:spPr>
        <p:txBody>
          <a:bodyPr>
            <a:normAutofit fontScale="90000"/>
          </a:bodyPr>
          <a:lstStyle/>
          <a:p>
            <a:r>
              <a:rPr lang="en-US" b="1" dirty="0">
                <a:solidFill>
                  <a:srgbClr val="0070C0"/>
                </a:solidFill>
              </a:rPr>
              <a:t>SOME ECOLOGICAL AND EPIDEMIOLOGICAL TERMINOLOGY IN PARASITOLOGY</a:t>
            </a:r>
            <a:endParaRPr lang="en-US" dirty="0">
              <a:solidFill>
                <a:srgbClr val="0070C0"/>
              </a:solidFill>
            </a:endParaRPr>
          </a:p>
        </p:txBody>
      </p:sp>
      <p:sp>
        <p:nvSpPr>
          <p:cNvPr id="3" name="Content Placeholder 2"/>
          <p:cNvSpPr>
            <a:spLocks noGrp="1"/>
          </p:cNvSpPr>
          <p:nvPr>
            <p:ph idx="1"/>
          </p:nvPr>
        </p:nvSpPr>
        <p:spPr>
          <a:xfrm>
            <a:off x="457200" y="2057400"/>
            <a:ext cx="8229600" cy="4068763"/>
          </a:xfrm>
        </p:spPr>
        <p:txBody>
          <a:bodyPr/>
          <a:lstStyle/>
          <a:p>
            <a:r>
              <a:rPr lang="en-US" b="1" dirty="0">
                <a:solidFill>
                  <a:srgbClr val="0070C0"/>
                </a:solidFill>
              </a:rPr>
              <a:t>Prevalence</a:t>
            </a:r>
            <a:r>
              <a:rPr lang="en-US" b="1" dirty="0"/>
              <a:t> </a:t>
            </a:r>
            <a:r>
              <a:rPr lang="en-US" u="sng" dirty="0"/>
              <a:t>is </a:t>
            </a:r>
            <a:r>
              <a:rPr lang="en-US" i="1" u="sng" dirty="0"/>
              <a:t>the ratio</a:t>
            </a:r>
            <a:r>
              <a:rPr lang="en-US" u="sng" dirty="0"/>
              <a:t> of</a:t>
            </a:r>
            <a:r>
              <a:rPr lang="en-US" b="1" u="sng" dirty="0"/>
              <a:t> </a:t>
            </a:r>
            <a:r>
              <a:rPr lang="en-US" u="sng" dirty="0"/>
              <a:t>the # of individuals of a host species infected by a parasite</a:t>
            </a:r>
            <a:r>
              <a:rPr lang="en-US" dirty="0"/>
              <a:t> </a:t>
            </a:r>
            <a:r>
              <a:rPr lang="en-US" b="1" dirty="0"/>
              <a:t>to</a:t>
            </a:r>
            <a:r>
              <a:rPr lang="en-US" dirty="0"/>
              <a:t> </a:t>
            </a:r>
            <a:r>
              <a:rPr lang="en-US" u="sng" dirty="0"/>
              <a:t>the </a:t>
            </a:r>
          </a:p>
          <a:p>
            <a:pPr marL="0" indent="0">
              <a:buNone/>
            </a:pPr>
            <a:r>
              <a:rPr lang="en-US" b="1" u="sng" dirty="0"/>
              <a:t>     </a:t>
            </a:r>
            <a:r>
              <a:rPr lang="en-US" u="sng" dirty="0" smtClean="0"/>
              <a:t>number </a:t>
            </a:r>
            <a:r>
              <a:rPr lang="en-US" u="sng" dirty="0"/>
              <a:t>of the host species examined</a:t>
            </a:r>
            <a:r>
              <a:rPr lang="en-US" dirty="0"/>
              <a:t>. </a:t>
            </a:r>
          </a:p>
          <a:p>
            <a:pPr lvl="0"/>
            <a:endParaRPr lang="en-US" b="1" dirty="0" smtClean="0"/>
          </a:p>
          <a:p>
            <a:pPr lvl="0"/>
            <a:r>
              <a:rPr lang="en-US" b="1" dirty="0" smtClean="0">
                <a:solidFill>
                  <a:srgbClr val="FF33CC"/>
                </a:solidFill>
              </a:rPr>
              <a:t>Usually </a:t>
            </a:r>
            <a:r>
              <a:rPr lang="en-US" b="1" dirty="0">
                <a:solidFill>
                  <a:srgbClr val="FF33CC"/>
                </a:solidFill>
              </a:rPr>
              <a:t>expressed as a </a:t>
            </a:r>
            <a:r>
              <a:rPr lang="en-US" b="1" u="sng" dirty="0">
                <a:solidFill>
                  <a:srgbClr val="FF33CC"/>
                </a:solidFill>
              </a:rPr>
              <a:t>percentage</a:t>
            </a:r>
            <a:endParaRPr lang="en-US" u="sng" dirty="0">
              <a:solidFill>
                <a:srgbClr val="FF33CC"/>
              </a:solidFill>
            </a:endParaRPr>
          </a:p>
          <a:p>
            <a:endParaRPr lang="en-US" dirty="0"/>
          </a:p>
        </p:txBody>
      </p:sp>
    </p:spTree>
    <p:extLst>
      <p:ext uri="{BB962C8B-B14F-4D97-AF65-F5344CB8AC3E}">
        <p14:creationId xmlns:p14="http://schemas.microsoft.com/office/powerpoint/2010/main" val="331643466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solidFill>
                  <a:srgbClr val="0070C0"/>
                </a:solidFill>
              </a:rPr>
              <a:t>Some Ecological and Epidemiological Terms in Parasitology </a:t>
            </a:r>
            <a:r>
              <a:rPr lang="en-US" b="1" dirty="0" smtClean="0"/>
              <a:t>Cont’d</a:t>
            </a:r>
            <a:endParaRPr lang="en-US" b="1" dirty="0"/>
          </a:p>
        </p:txBody>
      </p:sp>
      <p:sp>
        <p:nvSpPr>
          <p:cNvPr id="3" name="Content Placeholder 2"/>
          <p:cNvSpPr>
            <a:spLocks noGrp="1"/>
          </p:cNvSpPr>
          <p:nvPr>
            <p:ph idx="1"/>
          </p:nvPr>
        </p:nvSpPr>
        <p:spPr/>
        <p:txBody>
          <a:bodyPr/>
          <a:lstStyle/>
          <a:p>
            <a:pPr>
              <a:buFont typeface="Wingdings" pitchFamily="2" charset="2"/>
              <a:buChar char="v"/>
            </a:pPr>
            <a:r>
              <a:rPr lang="en-US" b="1" dirty="0"/>
              <a:t> </a:t>
            </a:r>
            <a:r>
              <a:rPr lang="en-US" b="1" dirty="0">
                <a:solidFill>
                  <a:srgbClr val="0070C0"/>
                </a:solidFill>
              </a:rPr>
              <a:t>Incidence</a:t>
            </a:r>
            <a:r>
              <a:rPr lang="en-US" b="1" dirty="0"/>
              <a:t> </a:t>
            </a:r>
            <a:r>
              <a:rPr lang="en-US" u="sng" dirty="0"/>
              <a:t>is the </a:t>
            </a:r>
            <a:r>
              <a:rPr lang="en-US" u="sng" dirty="0" smtClean="0"/>
              <a:t>ratio of the # </a:t>
            </a:r>
            <a:r>
              <a:rPr lang="en-US" u="sng" dirty="0"/>
              <a:t>of </a:t>
            </a:r>
            <a:r>
              <a:rPr lang="en-US" b="1" i="1" u="sng" dirty="0">
                <a:solidFill>
                  <a:srgbClr val="FF0000"/>
                </a:solidFill>
              </a:rPr>
              <a:t>new</a:t>
            </a:r>
            <a:r>
              <a:rPr lang="en-US" i="1" u="sng" dirty="0"/>
              <a:t> cases of a disease or an infection</a:t>
            </a:r>
            <a:r>
              <a:rPr lang="en-US" u="sng" dirty="0"/>
              <a:t> occurring in </a:t>
            </a:r>
            <a:r>
              <a:rPr lang="en-US" u="sng" dirty="0" smtClean="0"/>
              <a:t>a population </a:t>
            </a:r>
            <a:r>
              <a:rPr lang="en-US" u="sng" dirty="0"/>
              <a:t>within a </a:t>
            </a:r>
            <a:r>
              <a:rPr lang="en-US" u="sng" dirty="0" smtClean="0"/>
              <a:t>given </a:t>
            </a:r>
            <a:r>
              <a:rPr lang="en-US" u="sng" dirty="0"/>
              <a:t>period</a:t>
            </a:r>
            <a:r>
              <a:rPr lang="en-US" dirty="0"/>
              <a:t> </a:t>
            </a:r>
            <a:r>
              <a:rPr lang="en-US" b="1" dirty="0"/>
              <a:t>to</a:t>
            </a:r>
            <a:r>
              <a:rPr lang="en-US" dirty="0"/>
              <a:t> </a:t>
            </a:r>
            <a:r>
              <a:rPr lang="en-US" u="sng" dirty="0"/>
              <a:t>the # of </a:t>
            </a:r>
            <a:r>
              <a:rPr lang="en-US" i="1" u="sng" dirty="0"/>
              <a:t>uninfected individuals</a:t>
            </a:r>
            <a:r>
              <a:rPr lang="en-US" u="sng" dirty="0"/>
              <a:t> </a:t>
            </a:r>
            <a:r>
              <a:rPr lang="en-US" u="sng" dirty="0" smtClean="0"/>
              <a:t>in </a:t>
            </a:r>
            <a:r>
              <a:rPr lang="en-US" u="sng" dirty="0"/>
              <a:t>the population at the beginning </a:t>
            </a:r>
            <a:r>
              <a:rPr lang="en-US" u="sng" dirty="0" smtClean="0"/>
              <a:t>of the time period</a:t>
            </a:r>
            <a:r>
              <a:rPr lang="en-US" dirty="0" smtClean="0"/>
              <a:t>.</a:t>
            </a:r>
          </a:p>
          <a:p>
            <a:pPr>
              <a:buFont typeface="Wingdings" pitchFamily="2" charset="2"/>
              <a:buChar char="v"/>
            </a:pPr>
            <a:r>
              <a:rPr lang="en-US" dirty="0" smtClean="0"/>
              <a:t> </a:t>
            </a:r>
            <a:r>
              <a:rPr lang="en-US" b="1" dirty="0" smtClean="0">
                <a:solidFill>
                  <a:srgbClr val="FF33CC"/>
                </a:solidFill>
              </a:rPr>
              <a:t>Usually expressed as a </a:t>
            </a:r>
            <a:r>
              <a:rPr lang="en-US" b="1" u="sng" dirty="0" smtClean="0">
                <a:solidFill>
                  <a:srgbClr val="FF33CC"/>
                </a:solidFill>
              </a:rPr>
              <a:t>percentage</a:t>
            </a:r>
            <a:endParaRPr lang="en-US" u="sng" dirty="0">
              <a:solidFill>
                <a:srgbClr val="FF33CC"/>
              </a:solidFill>
            </a:endParaRPr>
          </a:p>
        </p:txBody>
      </p:sp>
    </p:spTree>
    <p:extLst>
      <p:ext uri="{BB962C8B-B14F-4D97-AF65-F5344CB8AC3E}">
        <p14:creationId xmlns:p14="http://schemas.microsoft.com/office/powerpoint/2010/main" val="325074507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solidFill>
                  <a:srgbClr val="0070C0"/>
                </a:solidFill>
              </a:rPr>
              <a:t>Some Ecological and Epidemiological Terms in Parasitology </a:t>
            </a:r>
            <a:r>
              <a:rPr lang="en-US" b="1" dirty="0" smtClean="0"/>
              <a:t>Cont’d</a:t>
            </a:r>
            <a:endParaRPr lang="en-US" dirty="0"/>
          </a:p>
        </p:txBody>
      </p:sp>
      <p:sp>
        <p:nvSpPr>
          <p:cNvPr id="3" name="Content Placeholder 2"/>
          <p:cNvSpPr>
            <a:spLocks noGrp="1"/>
          </p:cNvSpPr>
          <p:nvPr>
            <p:ph idx="1"/>
          </p:nvPr>
        </p:nvSpPr>
        <p:spPr/>
        <p:txBody>
          <a:bodyPr/>
          <a:lstStyle/>
          <a:p>
            <a:pPr>
              <a:buFont typeface="Wingdings" pitchFamily="2" charset="2"/>
              <a:buChar char="v"/>
            </a:pPr>
            <a:r>
              <a:rPr lang="en-US" b="1" dirty="0">
                <a:solidFill>
                  <a:srgbClr val="0070C0"/>
                </a:solidFill>
              </a:rPr>
              <a:t>Intensity</a:t>
            </a:r>
            <a:r>
              <a:rPr lang="en-US" b="1" dirty="0"/>
              <a:t> </a:t>
            </a:r>
            <a:r>
              <a:rPr lang="en-US" u="sng" dirty="0"/>
              <a:t>is the # of individuals (determined directly or indirectly) of a parasite species in an </a:t>
            </a:r>
            <a:r>
              <a:rPr lang="en-US" u="sng" dirty="0" smtClean="0"/>
              <a:t>Infected </a:t>
            </a:r>
            <a:r>
              <a:rPr lang="en-US" u="sng" dirty="0"/>
              <a:t>host in a sample</a:t>
            </a:r>
            <a:r>
              <a:rPr lang="en-US" dirty="0"/>
              <a:t>.</a:t>
            </a:r>
          </a:p>
          <a:p>
            <a:pPr lvl="0">
              <a:buFont typeface="Wingdings" pitchFamily="2" charset="2"/>
              <a:buChar char="v"/>
            </a:pPr>
            <a:endParaRPr lang="en-US" b="1" dirty="0" smtClean="0"/>
          </a:p>
          <a:p>
            <a:pPr lvl="0">
              <a:buFont typeface="Wingdings" pitchFamily="2" charset="2"/>
              <a:buChar char="v"/>
            </a:pPr>
            <a:r>
              <a:rPr lang="en-US" b="1" dirty="0" smtClean="0">
                <a:solidFill>
                  <a:srgbClr val="FF33CC"/>
                </a:solidFill>
              </a:rPr>
              <a:t>Usually </a:t>
            </a:r>
            <a:r>
              <a:rPr lang="en-US" b="1" dirty="0">
                <a:solidFill>
                  <a:srgbClr val="FF33CC"/>
                </a:solidFill>
              </a:rPr>
              <a:t>expressed as a </a:t>
            </a:r>
            <a:r>
              <a:rPr lang="en-US" b="1" u="sng" dirty="0">
                <a:solidFill>
                  <a:srgbClr val="FF33CC"/>
                </a:solidFill>
              </a:rPr>
              <a:t>numerical range</a:t>
            </a:r>
            <a:endParaRPr lang="en-US" u="sng" dirty="0">
              <a:solidFill>
                <a:srgbClr val="FF33CC"/>
              </a:solidFill>
            </a:endParaRPr>
          </a:p>
          <a:p>
            <a:pPr>
              <a:buFont typeface="Wingdings" pitchFamily="2" charset="2"/>
              <a:buChar char="v"/>
            </a:pPr>
            <a:endParaRPr lang="en-US" dirty="0"/>
          </a:p>
        </p:txBody>
      </p:sp>
    </p:spTree>
    <p:extLst>
      <p:ext uri="{BB962C8B-B14F-4D97-AF65-F5344CB8AC3E}">
        <p14:creationId xmlns:p14="http://schemas.microsoft.com/office/powerpoint/2010/main" val="52257411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solidFill>
                  <a:srgbClr val="0070C0"/>
                </a:solidFill>
              </a:rPr>
              <a:t>Some Ecological and Epidemiological Terms in Parasitology </a:t>
            </a:r>
            <a:r>
              <a:rPr lang="en-US" b="1" dirty="0" smtClean="0"/>
              <a:t>Cont’d</a:t>
            </a:r>
            <a:endParaRPr lang="en-US" dirty="0"/>
          </a:p>
        </p:txBody>
      </p:sp>
      <p:sp>
        <p:nvSpPr>
          <p:cNvPr id="3" name="Content Placeholder 2"/>
          <p:cNvSpPr>
            <a:spLocks noGrp="1"/>
          </p:cNvSpPr>
          <p:nvPr>
            <p:ph idx="1"/>
          </p:nvPr>
        </p:nvSpPr>
        <p:spPr/>
        <p:txBody>
          <a:bodyPr>
            <a:normAutofit/>
          </a:bodyPr>
          <a:lstStyle/>
          <a:p>
            <a:pPr>
              <a:buFont typeface="Wingdings" pitchFamily="2" charset="2"/>
              <a:buChar char="v"/>
            </a:pPr>
            <a:r>
              <a:rPr lang="en-US" b="1" dirty="0">
                <a:solidFill>
                  <a:srgbClr val="0070C0"/>
                </a:solidFill>
              </a:rPr>
              <a:t> Mean Intensity </a:t>
            </a:r>
            <a:r>
              <a:rPr lang="en-US" dirty="0"/>
              <a:t>is </a:t>
            </a:r>
            <a:r>
              <a:rPr lang="en-US" i="1" u="sng" dirty="0"/>
              <a:t>the</a:t>
            </a:r>
            <a:r>
              <a:rPr lang="en-US" b="1" i="1" u="sng" dirty="0"/>
              <a:t> </a:t>
            </a:r>
            <a:r>
              <a:rPr lang="en-US" i="1" u="sng" dirty="0"/>
              <a:t>ratio</a:t>
            </a:r>
            <a:r>
              <a:rPr lang="en-US" u="sng" dirty="0"/>
              <a:t> </a:t>
            </a:r>
            <a:r>
              <a:rPr lang="en-US" u="sng" dirty="0" smtClean="0"/>
              <a:t>of the </a:t>
            </a:r>
            <a:r>
              <a:rPr lang="en-US" u="sng" dirty="0"/>
              <a:t>Total # of individuals of a particular parasite species in a </a:t>
            </a:r>
            <a:r>
              <a:rPr lang="en-US" u="sng" dirty="0" smtClean="0"/>
              <a:t>sample </a:t>
            </a:r>
            <a:r>
              <a:rPr lang="en-US" u="sng" dirty="0"/>
              <a:t>of a host species</a:t>
            </a:r>
            <a:r>
              <a:rPr lang="en-US" dirty="0"/>
              <a:t> </a:t>
            </a:r>
            <a:r>
              <a:rPr lang="en-US" b="1" dirty="0"/>
              <a:t>to</a:t>
            </a:r>
            <a:r>
              <a:rPr lang="en-US" dirty="0"/>
              <a:t> </a:t>
            </a:r>
            <a:r>
              <a:rPr lang="en-US" u="sng" dirty="0"/>
              <a:t>the # of infected individuals of the host species in the sample</a:t>
            </a:r>
            <a:r>
              <a:rPr lang="en-US" dirty="0"/>
              <a:t>. </a:t>
            </a:r>
          </a:p>
          <a:p>
            <a:pPr marL="0" indent="0">
              <a:buNone/>
            </a:pPr>
            <a:r>
              <a:rPr lang="en-US" b="1" dirty="0" smtClean="0"/>
              <a:t>                              </a:t>
            </a:r>
            <a:r>
              <a:rPr lang="en-US" b="1" dirty="0"/>
              <a:t>OR</a:t>
            </a:r>
            <a:endParaRPr lang="en-US" dirty="0"/>
          </a:p>
          <a:p>
            <a:pPr>
              <a:buFont typeface="Wingdings" pitchFamily="2" charset="2"/>
              <a:buChar char="v"/>
            </a:pPr>
            <a:r>
              <a:rPr lang="en-US" u="sng" dirty="0" smtClean="0">
                <a:solidFill>
                  <a:srgbClr val="FF0000"/>
                </a:solidFill>
              </a:rPr>
              <a:t>The </a:t>
            </a:r>
            <a:r>
              <a:rPr lang="en-US" u="sng" dirty="0">
                <a:solidFill>
                  <a:srgbClr val="FF0000"/>
                </a:solidFill>
              </a:rPr>
              <a:t>Mean # of individuals of a particular parasite species per infected host in a sample</a:t>
            </a:r>
            <a:r>
              <a:rPr lang="en-US" u="sng" dirty="0"/>
              <a:t>.</a:t>
            </a:r>
          </a:p>
        </p:txBody>
      </p:sp>
    </p:spTree>
    <p:extLst>
      <p:ext uri="{BB962C8B-B14F-4D97-AF65-F5344CB8AC3E}">
        <p14:creationId xmlns:p14="http://schemas.microsoft.com/office/powerpoint/2010/main" val="272052561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solidFill>
                  <a:srgbClr val="0070C0"/>
                </a:solidFill>
              </a:rPr>
              <a:t>Some Ecological and Epidemiological Terms in Parasitology Cont’d</a:t>
            </a:r>
            <a:endParaRPr lang="en-US" dirty="0">
              <a:solidFill>
                <a:srgbClr val="0070C0"/>
              </a:solidFill>
            </a:endParaRPr>
          </a:p>
        </p:txBody>
      </p:sp>
      <p:sp>
        <p:nvSpPr>
          <p:cNvPr id="3" name="Content Placeholder 2"/>
          <p:cNvSpPr>
            <a:spLocks noGrp="1"/>
          </p:cNvSpPr>
          <p:nvPr>
            <p:ph idx="1"/>
          </p:nvPr>
        </p:nvSpPr>
        <p:spPr/>
        <p:txBody>
          <a:bodyPr/>
          <a:lstStyle/>
          <a:p>
            <a:pPr>
              <a:buFont typeface="Wingdings" pitchFamily="2" charset="2"/>
              <a:buChar char="v"/>
            </a:pPr>
            <a:r>
              <a:rPr lang="en-US" b="1" dirty="0"/>
              <a:t> </a:t>
            </a:r>
            <a:r>
              <a:rPr lang="en-US" b="1" dirty="0">
                <a:solidFill>
                  <a:srgbClr val="0070C0"/>
                </a:solidFill>
              </a:rPr>
              <a:t>Density</a:t>
            </a:r>
            <a:r>
              <a:rPr lang="en-US" dirty="0"/>
              <a:t> is </a:t>
            </a:r>
            <a:r>
              <a:rPr lang="en-US" u="sng" dirty="0"/>
              <a:t>the # of individuals of a particular parasite species per unit </a:t>
            </a:r>
            <a:r>
              <a:rPr lang="en-US" u="sng" dirty="0" smtClean="0"/>
              <a:t>area, volume </a:t>
            </a:r>
            <a:r>
              <a:rPr lang="en-US" u="sng" dirty="0"/>
              <a:t>or weight of </a:t>
            </a:r>
            <a:r>
              <a:rPr lang="en-US" u="sng" dirty="0" smtClean="0"/>
              <a:t>infected </a:t>
            </a:r>
            <a:r>
              <a:rPr lang="en-US" u="sng" dirty="0"/>
              <a:t>host tissue or organ</a:t>
            </a:r>
            <a:r>
              <a:rPr lang="en-US" dirty="0"/>
              <a:t>.</a:t>
            </a:r>
          </a:p>
          <a:p>
            <a:pPr lvl="0">
              <a:buFont typeface="Wingdings" pitchFamily="2" charset="2"/>
              <a:buChar char="v"/>
            </a:pPr>
            <a:endParaRPr lang="en-US" b="1" dirty="0" smtClean="0"/>
          </a:p>
          <a:p>
            <a:pPr lvl="0">
              <a:buFont typeface="Wingdings" pitchFamily="2" charset="2"/>
              <a:buChar char="v"/>
            </a:pPr>
            <a:r>
              <a:rPr lang="en-US" b="1" dirty="0" smtClean="0"/>
              <a:t>The </a:t>
            </a:r>
            <a:r>
              <a:rPr lang="en-US" b="1" dirty="0"/>
              <a:t>units should always be clearly specified (e.g. 10mps/</a:t>
            </a:r>
            <a:r>
              <a:rPr lang="en-US" b="1" dirty="0" err="1"/>
              <a:t>ul</a:t>
            </a:r>
            <a:r>
              <a:rPr lang="en-US" b="1" dirty="0"/>
              <a:t> of blood; 12mf/</a:t>
            </a:r>
            <a:r>
              <a:rPr lang="en-US" b="1" dirty="0" err="1"/>
              <a:t>gm</a:t>
            </a:r>
            <a:r>
              <a:rPr lang="en-US" b="1" dirty="0"/>
              <a:t> of tissue).</a:t>
            </a:r>
            <a:endParaRPr lang="en-US" dirty="0"/>
          </a:p>
        </p:txBody>
      </p:sp>
    </p:spTree>
    <p:extLst>
      <p:ext uri="{BB962C8B-B14F-4D97-AF65-F5344CB8AC3E}">
        <p14:creationId xmlns:p14="http://schemas.microsoft.com/office/powerpoint/2010/main" val="54630467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solidFill>
                  <a:srgbClr val="0070C0"/>
                </a:solidFill>
              </a:rPr>
              <a:t>Some Ecological and Epidemiological Terms in Parasitology Cont’d</a:t>
            </a:r>
            <a:endParaRPr lang="en-US" dirty="0">
              <a:solidFill>
                <a:srgbClr val="0070C0"/>
              </a:solidFill>
            </a:endParaRPr>
          </a:p>
        </p:txBody>
      </p:sp>
      <p:sp>
        <p:nvSpPr>
          <p:cNvPr id="3" name="Content Placeholder 2"/>
          <p:cNvSpPr>
            <a:spLocks noGrp="1"/>
          </p:cNvSpPr>
          <p:nvPr>
            <p:ph idx="1"/>
          </p:nvPr>
        </p:nvSpPr>
        <p:spPr/>
        <p:txBody>
          <a:bodyPr>
            <a:normAutofit fontScale="92500"/>
          </a:bodyPr>
          <a:lstStyle/>
          <a:p>
            <a:pPr>
              <a:buFont typeface="Wingdings" pitchFamily="2" charset="2"/>
              <a:buChar char="v"/>
            </a:pPr>
            <a:r>
              <a:rPr lang="en-US" b="1" dirty="0"/>
              <a:t> </a:t>
            </a:r>
            <a:r>
              <a:rPr lang="en-US" b="1" dirty="0">
                <a:solidFill>
                  <a:srgbClr val="0070C0"/>
                </a:solidFill>
              </a:rPr>
              <a:t>Density</a:t>
            </a:r>
            <a:r>
              <a:rPr lang="en-US" dirty="0"/>
              <a:t> is </a:t>
            </a:r>
            <a:r>
              <a:rPr lang="en-US" u="sng" dirty="0"/>
              <a:t>the # of individuals of a particular parasite species per unit area, volume or weight of </a:t>
            </a:r>
            <a:r>
              <a:rPr lang="en-US" u="sng" dirty="0" smtClean="0"/>
              <a:t>infected </a:t>
            </a:r>
            <a:r>
              <a:rPr lang="en-US" u="sng" dirty="0"/>
              <a:t>host tissue or organ</a:t>
            </a:r>
            <a:r>
              <a:rPr lang="en-US" dirty="0"/>
              <a:t>.</a:t>
            </a:r>
          </a:p>
          <a:p>
            <a:pPr>
              <a:buFont typeface="Wingdings" pitchFamily="2" charset="2"/>
              <a:buChar char="v"/>
            </a:pPr>
            <a:r>
              <a:rPr lang="en-US" b="1" dirty="0"/>
              <a:t>The units should always be clearly specified (e.g. 10mps/</a:t>
            </a:r>
            <a:r>
              <a:rPr lang="en-US" b="1" dirty="0" err="1"/>
              <a:t>ul</a:t>
            </a:r>
            <a:r>
              <a:rPr lang="en-US" b="1" dirty="0"/>
              <a:t> of blood; 12mf/</a:t>
            </a:r>
            <a:r>
              <a:rPr lang="en-US" b="1" dirty="0" err="1"/>
              <a:t>gm</a:t>
            </a:r>
            <a:r>
              <a:rPr lang="en-US" b="1" dirty="0"/>
              <a:t> of tissue</a:t>
            </a:r>
            <a:r>
              <a:rPr lang="en-US" b="1" dirty="0" smtClean="0"/>
              <a:t>).</a:t>
            </a:r>
            <a:r>
              <a:rPr lang="en-US" b="1" dirty="0"/>
              <a:t> </a:t>
            </a:r>
            <a:r>
              <a:rPr lang="en-US" b="1" dirty="0" smtClean="0"/>
              <a:t> OR</a:t>
            </a:r>
            <a:endParaRPr lang="en-US" dirty="0"/>
          </a:p>
          <a:p>
            <a:pPr>
              <a:buFont typeface="Wingdings" pitchFamily="2" charset="2"/>
              <a:buChar char="v"/>
            </a:pPr>
            <a:r>
              <a:rPr lang="en-US" dirty="0" smtClean="0"/>
              <a:t> </a:t>
            </a:r>
            <a:r>
              <a:rPr lang="en-US" b="1" i="1" dirty="0"/>
              <a:t>The Mean # of individuals of a particular parasite species per host examined</a:t>
            </a:r>
            <a:r>
              <a:rPr lang="en-US" b="1" i="1" dirty="0" smtClean="0"/>
              <a:t>.   </a:t>
            </a:r>
            <a:r>
              <a:rPr lang="en-US" b="1" i="1" dirty="0"/>
              <a:t>OR</a:t>
            </a:r>
          </a:p>
          <a:p>
            <a:pPr>
              <a:buFont typeface="Wingdings" pitchFamily="2" charset="2"/>
              <a:buChar char="v"/>
            </a:pPr>
            <a:r>
              <a:rPr lang="en-US" b="1" i="1" dirty="0" smtClean="0"/>
              <a:t> </a:t>
            </a:r>
            <a:r>
              <a:rPr lang="en-US" b="1" i="1" dirty="0"/>
              <a:t>The </a:t>
            </a:r>
            <a:r>
              <a:rPr lang="en-US" b="1" i="1" dirty="0">
                <a:solidFill>
                  <a:srgbClr val="0070C0"/>
                </a:solidFill>
              </a:rPr>
              <a:t>Mean intensity </a:t>
            </a:r>
            <a:r>
              <a:rPr lang="en-US" b="1" i="1" dirty="0"/>
              <a:t>(Definition # 4) </a:t>
            </a:r>
            <a:r>
              <a:rPr lang="en-US" b="1" i="1" dirty="0">
                <a:solidFill>
                  <a:srgbClr val="0070C0"/>
                </a:solidFill>
              </a:rPr>
              <a:t>X Prevalence </a:t>
            </a:r>
            <a:r>
              <a:rPr lang="en-US" b="1" i="1" dirty="0"/>
              <a:t>(Definition # 1)</a:t>
            </a:r>
            <a:endParaRPr lang="en-US" b="1" i="1" dirty="0" smtClean="0"/>
          </a:p>
          <a:p>
            <a:pPr lvl="0">
              <a:buFont typeface="Wingdings" pitchFamily="2" charset="2"/>
              <a:buChar char="v"/>
            </a:pPr>
            <a:endParaRPr lang="en-US" b="1" i="1" dirty="0"/>
          </a:p>
        </p:txBody>
      </p:sp>
    </p:spTree>
    <p:extLst>
      <p:ext uri="{BB962C8B-B14F-4D97-AF65-F5344CB8AC3E}">
        <p14:creationId xmlns:p14="http://schemas.microsoft.com/office/powerpoint/2010/main" val="262959715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solidFill>
                  <a:srgbClr val="0070C0"/>
                </a:solidFill>
              </a:rPr>
              <a:t>Some Ecological and Epidemiological Terms in Parasitology </a:t>
            </a:r>
            <a:r>
              <a:rPr lang="en-US" b="1" dirty="0" smtClean="0"/>
              <a:t>Cont’d</a:t>
            </a:r>
            <a:endParaRPr lang="en-US" dirty="0"/>
          </a:p>
        </p:txBody>
      </p:sp>
      <p:sp>
        <p:nvSpPr>
          <p:cNvPr id="3" name="Content Placeholder 2"/>
          <p:cNvSpPr>
            <a:spLocks noGrp="1"/>
          </p:cNvSpPr>
          <p:nvPr>
            <p:ph idx="1"/>
          </p:nvPr>
        </p:nvSpPr>
        <p:spPr/>
        <p:txBody>
          <a:bodyPr>
            <a:normAutofit lnSpcReduction="10000"/>
          </a:bodyPr>
          <a:lstStyle/>
          <a:p>
            <a:pPr>
              <a:buFont typeface="Wingdings" pitchFamily="2" charset="2"/>
              <a:buChar char="v"/>
            </a:pPr>
            <a:r>
              <a:rPr lang="en-US" b="1" dirty="0"/>
              <a:t> </a:t>
            </a:r>
            <a:r>
              <a:rPr lang="en-US" b="1" dirty="0">
                <a:solidFill>
                  <a:srgbClr val="0070C0"/>
                </a:solidFill>
              </a:rPr>
              <a:t>Density - Dependent </a:t>
            </a:r>
            <a:endParaRPr lang="en-US" dirty="0">
              <a:solidFill>
                <a:srgbClr val="0070C0"/>
              </a:solidFill>
            </a:endParaRPr>
          </a:p>
          <a:p>
            <a:pPr lvl="0">
              <a:buFont typeface="Wingdings" pitchFamily="2" charset="2"/>
              <a:buChar char="v"/>
            </a:pPr>
            <a:r>
              <a:rPr lang="en-US" dirty="0">
                <a:solidFill>
                  <a:schemeClr val="accent6">
                    <a:lumMod val="75000"/>
                  </a:schemeClr>
                </a:solidFill>
              </a:rPr>
              <a:t>In general </a:t>
            </a:r>
            <a:r>
              <a:rPr lang="en-US" b="1" i="1" dirty="0">
                <a:solidFill>
                  <a:schemeClr val="accent6">
                    <a:lumMod val="75000"/>
                  </a:schemeClr>
                </a:solidFill>
              </a:rPr>
              <a:t>Ecology</a:t>
            </a:r>
            <a:r>
              <a:rPr lang="en-US" b="1" i="1" dirty="0"/>
              <a:t>,</a:t>
            </a:r>
            <a:r>
              <a:rPr lang="en-US" dirty="0"/>
              <a:t> </a:t>
            </a:r>
            <a:r>
              <a:rPr lang="en-US" dirty="0">
                <a:solidFill>
                  <a:srgbClr val="0070C0"/>
                </a:solidFill>
              </a:rPr>
              <a:t>this term </a:t>
            </a:r>
            <a:r>
              <a:rPr lang="en-US" dirty="0"/>
              <a:t>is used to describe </a:t>
            </a:r>
            <a:r>
              <a:rPr lang="en-US" u="sng" dirty="0"/>
              <a:t>factors or mechanisms whose effects on, or regulation of, populations are a </a:t>
            </a:r>
            <a:r>
              <a:rPr lang="en-US" u="sng" dirty="0" smtClean="0"/>
              <a:t>function of the density of the population</a:t>
            </a:r>
            <a:r>
              <a:rPr lang="en-US" dirty="0" smtClean="0"/>
              <a:t>.</a:t>
            </a:r>
          </a:p>
          <a:p>
            <a:pPr lvl="0">
              <a:buFont typeface="Wingdings" pitchFamily="2" charset="2"/>
              <a:buChar char="v"/>
            </a:pPr>
            <a:r>
              <a:rPr lang="en-US" dirty="0">
                <a:solidFill>
                  <a:schemeClr val="accent6">
                    <a:lumMod val="75000"/>
                  </a:schemeClr>
                </a:solidFill>
              </a:rPr>
              <a:t>In </a:t>
            </a:r>
            <a:r>
              <a:rPr lang="en-US" b="1" i="1" dirty="0">
                <a:solidFill>
                  <a:schemeClr val="accent6">
                    <a:lumMod val="75000"/>
                  </a:schemeClr>
                </a:solidFill>
              </a:rPr>
              <a:t>Parasitology</a:t>
            </a:r>
            <a:r>
              <a:rPr lang="en-US" b="1" i="1" dirty="0"/>
              <a:t>,</a:t>
            </a:r>
            <a:r>
              <a:rPr lang="en-US" dirty="0"/>
              <a:t> </a:t>
            </a:r>
            <a:r>
              <a:rPr lang="en-US" dirty="0">
                <a:solidFill>
                  <a:srgbClr val="0070C0"/>
                </a:solidFill>
              </a:rPr>
              <a:t>this term </a:t>
            </a:r>
            <a:r>
              <a:rPr lang="en-US" dirty="0"/>
              <a:t>has been used with reference to </a:t>
            </a:r>
            <a:r>
              <a:rPr lang="en-US" u="sng" dirty="0"/>
              <a:t>factors affecting all individuals of a species of parasite occurring in an individual host</a:t>
            </a:r>
            <a:r>
              <a:rPr lang="en-US" dirty="0"/>
              <a:t>.</a:t>
            </a:r>
          </a:p>
          <a:p>
            <a:pPr marL="0" indent="0">
              <a:buNone/>
            </a:pPr>
            <a:endParaRPr lang="en-US" dirty="0"/>
          </a:p>
          <a:p>
            <a:pPr lvl="0">
              <a:buFont typeface="Wingdings" pitchFamily="2" charset="2"/>
              <a:buChar char="v"/>
            </a:pPr>
            <a:endParaRPr lang="en-US" dirty="0"/>
          </a:p>
        </p:txBody>
      </p:sp>
    </p:spTree>
    <p:extLst>
      <p:ext uri="{BB962C8B-B14F-4D97-AF65-F5344CB8AC3E}">
        <p14:creationId xmlns:p14="http://schemas.microsoft.com/office/powerpoint/2010/main" val="125663342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solidFill>
                  <a:srgbClr val="0070C0"/>
                </a:solidFill>
              </a:rPr>
              <a:t>Some Ecological and Epidemiological Terms in Parasitology </a:t>
            </a:r>
            <a:r>
              <a:rPr lang="en-US" b="1" dirty="0" smtClean="0"/>
              <a:t>Cont’d</a:t>
            </a:r>
            <a:endParaRPr lang="en-US" dirty="0"/>
          </a:p>
        </p:txBody>
      </p:sp>
      <p:sp>
        <p:nvSpPr>
          <p:cNvPr id="3" name="Content Placeholder 2"/>
          <p:cNvSpPr>
            <a:spLocks noGrp="1"/>
          </p:cNvSpPr>
          <p:nvPr>
            <p:ph idx="1"/>
          </p:nvPr>
        </p:nvSpPr>
        <p:spPr/>
        <p:txBody>
          <a:bodyPr/>
          <a:lstStyle/>
          <a:p>
            <a:pPr>
              <a:buFont typeface="Wingdings" pitchFamily="2" charset="2"/>
              <a:buChar char="v"/>
            </a:pPr>
            <a:r>
              <a:rPr lang="en-US" b="1" dirty="0">
                <a:solidFill>
                  <a:srgbClr val="0070C0"/>
                </a:solidFill>
              </a:rPr>
              <a:t>Epidemiology</a:t>
            </a:r>
            <a:r>
              <a:rPr lang="en-US" dirty="0"/>
              <a:t> – </a:t>
            </a:r>
            <a:r>
              <a:rPr lang="en-US" u="sng" dirty="0"/>
              <a:t>the science concerned with disease propagation </a:t>
            </a:r>
            <a:r>
              <a:rPr lang="en-US" dirty="0" smtClean="0"/>
              <a:t>(incidence and spread</a:t>
            </a:r>
            <a:r>
              <a:rPr lang="en-US" dirty="0" smtClean="0"/>
              <a:t> or</a:t>
            </a:r>
            <a:r>
              <a:rPr lang="en-US" dirty="0" smtClean="0"/>
              <a:t> </a:t>
            </a:r>
            <a:r>
              <a:rPr lang="en-US" dirty="0"/>
              <a:t>distribution); </a:t>
            </a:r>
            <a:r>
              <a:rPr lang="en-US" dirty="0">
                <a:solidFill>
                  <a:srgbClr val="FF33CC"/>
                </a:solidFill>
              </a:rPr>
              <a:t>it </a:t>
            </a:r>
            <a:r>
              <a:rPr lang="en-US" dirty="0" smtClean="0">
                <a:solidFill>
                  <a:srgbClr val="FF33CC"/>
                </a:solidFill>
              </a:rPr>
              <a:t>deals </a:t>
            </a:r>
            <a:r>
              <a:rPr lang="en-US" dirty="0">
                <a:solidFill>
                  <a:srgbClr val="FF33CC"/>
                </a:solidFill>
              </a:rPr>
              <a:t>with the natural history of the disease </a:t>
            </a:r>
            <a:endParaRPr lang="en-US" dirty="0" smtClean="0">
              <a:solidFill>
                <a:srgbClr val="FF33CC"/>
              </a:solidFill>
            </a:endParaRPr>
          </a:p>
          <a:p>
            <a:pPr>
              <a:buFont typeface="Wingdings" pitchFamily="2" charset="2"/>
              <a:buChar char="v"/>
            </a:pPr>
            <a:r>
              <a:rPr lang="en-US" dirty="0" smtClean="0"/>
              <a:t>(</a:t>
            </a:r>
            <a:r>
              <a:rPr lang="en-US" dirty="0">
                <a:solidFill>
                  <a:srgbClr val="FF33CC"/>
                </a:solidFill>
              </a:rPr>
              <a:t>its infection in humans and other animals and </a:t>
            </a:r>
          </a:p>
          <a:p>
            <a:pPr>
              <a:buFont typeface="Wingdings" pitchFamily="2" charset="2"/>
              <a:buChar char="v"/>
            </a:pPr>
            <a:r>
              <a:rPr lang="en-US" dirty="0">
                <a:solidFill>
                  <a:srgbClr val="FF33CC"/>
                </a:solidFill>
              </a:rPr>
              <a:t>    </a:t>
            </a:r>
            <a:r>
              <a:rPr lang="en-US" dirty="0" smtClean="0">
                <a:solidFill>
                  <a:srgbClr val="FF33CC"/>
                </a:solidFill>
              </a:rPr>
              <a:t>the </a:t>
            </a:r>
            <a:r>
              <a:rPr lang="en-US" dirty="0">
                <a:solidFill>
                  <a:srgbClr val="FF33CC"/>
                </a:solidFill>
              </a:rPr>
              <a:t>agents which serve as reservoirs </a:t>
            </a:r>
            <a:r>
              <a:rPr lang="en-US" dirty="0" smtClean="0">
                <a:solidFill>
                  <a:srgbClr val="FF33CC"/>
                </a:solidFill>
              </a:rPr>
              <a:t>and 	vectors</a:t>
            </a:r>
            <a:r>
              <a:rPr lang="en-US" dirty="0"/>
              <a:t>).</a:t>
            </a:r>
          </a:p>
          <a:p>
            <a:pPr>
              <a:buFont typeface="Wingdings" pitchFamily="2" charset="2"/>
              <a:buChar char="v"/>
            </a:pPr>
            <a:endParaRPr lang="en-US" dirty="0"/>
          </a:p>
        </p:txBody>
      </p:sp>
    </p:spTree>
    <p:extLst>
      <p:ext uri="{BB962C8B-B14F-4D97-AF65-F5344CB8AC3E}">
        <p14:creationId xmlns:p14="http://schemas.microsoft.com/office/powerpoint/2010/main" val="45005587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solidFill>
                  <a:srgbClr val="0070C0"/>
                </a:solidFill>
              </a:rPr>
              <a:t>Some Ecological and Epidemiological Terms in Parasitology </a:t>
            </a:r>
            <a:r>
              <a:rPr lang="en-US" b="1" dirty="0" smtClean="0"/>
              <a:t>Cont’d</a:t>
            </a:r>
            <a:endParaRPr lang="en-US" dirty="0"/>
          </a:p>
        </p:txBody>
      </p:sp>
      <p:sp>
        <p:nvSpPr>
          <p:cNvPr id="3" name="Content Placeholder 2"/>
          <p:cNvSpPr>
            <a:spLocks noGrp="1"/>
          </p:cNvSpPr>
          <p:nvPr>
            <p:ph idx="1"/>
          </p:nvPr>
        </p:nvSpPr>
        <p:spPr/>
        <p:txBody>
          <a:bodyPr>
            <a:normAutofit lnSpcReduction="10000"/>
          </a:bodyPr>
          <a:lstStyle/>
          <a:p>
            <a:pPr>
              <a:buFont typeface="Wingdings" pitchFamily="2" charset="2"/>
              <a:buChar char="v"/>
            </a:pPr>
            <a:r>
              <a:rPr lang="en-US" b="1" dirty="0">
                <a:solidFill>
                  <a:srgbClr val="0070C0"/>
                </a:solidFill>
              </a:rPr>
              <a:t>Endemicity</a:t>
            </a:r>
            <a:r>
              <a:rPr lang="en-US" dirty="0"/>
              <a:t> – </a:t>
            </a:r>
            <a:r>
              <a:rPr lang="en-US" u="sng" dirty="0"/>
              <a:t>describes </a:t>
            </a:r>
            <a:r>
              <a:rPr lang="en-US" u="sng" dirty="0">
                <a:solidFill>
                  <a:srgbClr val="0070C0"/>
                </a:solidFill>
              </a:rPr>
              <a:t>the extent </a:t>
            </a:r>
            <a:r>
              <a:rPr lang="en-US" u="sng" dirty="0"/>
              <a:t>to which a disease is present in a community, area or region</a:t>
            </a:r>
            <a:r>
              <a:rPr lang="en-US" dirty="0" smtClean="0"/>
              <a:t>.</a:t>
            </a:r>
            <a:r>
              <a:rPr lang="en-US" dirty="0"/>
              <a:t> </a:t>
            </a:r>
          </a:p>
          <a:p>
            <a:pPr lvl="0">
              <a:buFont typeface="Wingdings" pitchFamily="2" charset="2"/>
              <a:buChar char="v"/>
            </a:pPr>
            <a:r>
              <a:rPr lang="en-US" dirty="0"/>
              <a:t>If a </a:t>
            </a:r>
            <a:r>
              <a:rPr lang="en-US" dirty="0">
                <a:solidFill>
                  <a:srgbClr val="FF33CC"/>
                </a:solidFill>
              </a:rPr>
              <a:t>disease </a:t>
            </a:r>
            <a:r>
              <a:rPr lang="en-US" u="sng" dirty="0">
                <a:solidFill>
                  <a:srgbClr val="FF33CC"/>
                </a:solidFill>
              </a:rPr>
              <a:t>maintains</a:t>
            </a:r>
            <a:r>
              <a:rPr lang="en-US" dirty="0">
                <a:solidFill>
                  <a:srgbClr val="FF33CC"/>
                </a:solidFill>
              </a:rPr>
              <a:t> itself in a human community</a:t>
            </a:r>
            <a:r>
              <a:rPr lang="en-US" dirty="0"/>
              <a:t>, it is said to be </a:t>
            </a:r>
            <a:r>
              <a:rPr lang="en-US" b="1" dirty="0" smtClean="0">
                <a:solidFill>
                  <a:srgbClr val="0070C0"/>
                </a:solidFill>
              </a:rPr>
              <a:t>ENDEMIC</a:t>
            </a:r>
            <a:r>
              <a:rPr lang="en-US" b="1" dirty="0"/>
              <a:t> </a:t>
            </a:r>
            <a:endParaRPr lang="en-US" dirty="0"/>
          </a:p>
          <a:p>
            <a:pPr lvl="0">
              <a:buFont typeface="Wingdings" pitchFamily="2" charset="2"/>
              <a:buChar char="v"/>
            </a:pPr>
            <a:r>
              <a:rPr lang="en-US" dirty="0"/>
              <a:t>If there is </a:t>
            </a:r>
            <a:r>
              <a:rPr lang="en-US" dirty="0">
                <a:solidFill>
                  <a:srgbClr val="FF33CC"/>
                </a:solidFill>
              </a:rPr>
              <a:t>high prevalence</a:t>
            </a:r>
            <a:r>
              <a:rPr lang="en-US" dirty="0"/>
              <a:t>, it is said to be </a:t>
            </a:r>
            <a:r>
              <a:rPr lang="en-US" b="1" dirty="0" smtClean="0">
                <a:solidFill>
                  <a:srgbClr val="0070C0"/>
                </a:solidFill>
              </a:rPr>
              <a:t>HYPERENDEMIC</a:t>
            </a:r>
            <a:r>
              <a:rPr lang="en-US" b="1" dirty="0"/>
              <a:t> </a:t>
            </a:r>
            <a:endParaRPr lang="en-US" dirty="0"/>
          </a:p>
          <a:p>
            <a:pPr lvl="0">
              <a:buFont typeface="Wingdings" pitchFamily="2" charset="2"/>
              <a:buChar char="v"/>
            </a:pPr>
            <a:r>
              <a:rPr lang="en-US" dirty="0"/>
              <a:t>If it is </a:t>
            </a:r>
            <a:r>
              <a:rPr lang="en-US" dirty="0">
                <a:solidFill>
                  <a:srgbClr val="FF33CC"/>
                </a:solidFill>
              </a:rPr>
              <a:t>present in unusually high prevalence </a:t>
            </a:r>
            <a:r>
              <a:rPr lang="en-US" dirty="0"/>
              <a:t>it is said to be </a:t>
            </a:r>
            <a:r>
              <a:rPr lang="en-US" b="1" dirty="0">
                <a:solidFill>
                  <a:srgbClr val="0070C0"/>
                </a:solidFill>
              </a:rPr>
              <a:t>HOLOENDEMIC</a:t>
            </a:r>
            <a:endParaRPr lang="en-US" dirty="0">
              <a:solidFill>
                <a:srgbClr val="0070C0"/>
              </a:solidFill>
            </a:endParaRPr>
          </a:p>
          <a:p>
            <a:pPr>
              <a:buFont typeface="Wingdings" pitchFamily="2" charset="2"/>
              <a:buChar char="v"/>
            </a:pPr>
            <a:endParaRPr lang="en-US" dirty="0"/>
          </a:p>
        </p:txBody>
      </p:sp>
    </p:spTree>
    <p:extLst>
      <p:ext uri="{BB962C8B-B14F-4D97-AF65-F5344CB8AC3E}">
        <p14:creationId xmlns:p14="http://schemas.microsoft.com/office/powerpoint/2010/main" val="68215816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solidFill>
                  <a:srgbClr val="0070C0"/>
                </a:solidFill>
              </a:rPr>
              <a:t>Some Ecological and Epidemiological Terms in Parasitology </a:t>
            </a:r>
            <a:r>
              <a:rPr lang="en-US" b="1" dirty="0" smtClean="0"/>
              <a:t>Cont’d</a:t>
            </a:r>
            <a:endParaRPr lang="en-US" dirty="0"/>
          </a:p>
        </p:txBody>
      </p:sp>
      <p:sp>
        <p:nvSpPr>
          <p:cNvPr id="3" name="Content Placeholder 2"/>
          <p:cNvSpPr>
            <a:spLocks noGrp="1"/>
          </p:cNvSpPr>
          <p:nvPr>
            <p:ph idx="1"/>
          </p:nvPr>
        </p:nvSpPr>
        <p:spPr/>
        <p:txBody>
          <a:bodyPr>
            <a:normAutofit lnSpcReduction="10000"/>
          </a:bodyPr>
          <a:lstStyle/>
          <a:p>
            <a:pPr lvl="0">
              <a:buFont typeface="Wingdings" pitchFamily="2" charset="2"/>
              <a:buChar char="v"/>
            </a:pPr>
            <a:r>
              <a:rPr lang="en-US" dirty="0"/>
              <a:t>If the disease appears </a:t>
            </a:r>
            <a:r>
              <a:rPr lang="en-US" dirty="0">
                <a:solidFill>
                  <a:srgbClr val="FF33CC"/>
                </a:solidFill>
              </a:rPr>
              <a:t>only occasionally</a:t>
            </a:r>
            <a:r>
              <a:rPr lang="en-US" dirty="0"/>
              <a:t>, it is said to be </a:t>
            </a:r>
            <a:r>
              <a:rPr lang="en-US" b="1" dirty="0" smtClean="0">
                <a:solidFill>
                  <a:srgbClr val="0070C0"/>
                </a:solidFill>
              </a:rPr>
              <a:t>SPORADIC</a:t>
            </a:r>
            <a:r>
              <a:rPr lang="en-US" dirty="0"/>
              <a:t> </a:t>
            </a:r>
          </a:p>
          <a:p>
            <a:pPr lvl="0">
              <a:buFont typeface="Wingdings" pitchFamily="2" charset="2"/>
              <a:buChar char="v"/>
            </a:pPr>
            <a:r>
              <a:rPr lang="en-US" dirty="0"/>
              <a:t>If the disease develops a </a:t>
            </a:r>
            <a:r>
              <a:rPr lang="en-US" dirty="0">
                <a:solidFill>
                  <a:srgbClr val="FF33CC"/>
                </a:solidFill>
              </a:rPr>
              <a:t>high prevalence through unusually rapid transmission</a:t>
            </a:r>
            <a:r>
              <a:rPr lang="en-US" dirty="0"/>
              <a:t>, it is said to </a:t>
            </a:r>
            <a:r>
              <a:rPr lang="en-US" b="1" dirty="0" smtClean="0">
                <a:solidFill>
                  <a:srgbClr val="0070C0"/>
                </a:solidFill>
              </a:rPr>
              <a:t>EPIDEMIC</a:t>
            </a:r>
            <a:r>
              <a:rPr lang="en-US" b="1" dirty="0"/>
              <a:t> </a:t>
            </a:r>
            <a:endParaRPr lang="en-US" dirty="0"/>
          </a:p>
          <a:p>
            <a:pPr>
              <a:buFont typeface="Wingdings" pitchFamily="2" charset="2"/>
              <a:buChar char="v"/>
            </a:pPr>
            <a:r>
              <a:rPr lang="en-US" b="1" dirty="0" smtClean="0"/>
              <a:t>Corresponding </a:t>
            </a:r>
            <a:r>
              <a:rPr lang="en-US" b="1" dirty="0"/>
              <a:t>terms for diseases in animals are: </a:t>
            </a:r>
            <a:r>
              <a:rPr lang="en-US" b="1" dirty="0">
                <a:solidFill>
                  <a:srgbClr val="0070C0"/>
                </a:solidFill>
              </a:rPr>
              <a:t>ENZOOTIC</a:t>
            </a:r>
            <a:r>
              <a:rPr lang="en-US" b="1" dirty="0"/>
              <a:t>, </a:t>
            </a:r>
            <a:r>
              <a:rPr lang="en-US" b="1" dirty="0">
                <a:solidFill>
                  <a:srgbClr val="0070C0"/>
                </a:solidFill>
              </a:rPr>
              <a:t>HYPERENZOOTIC</a:t>
            </a:r>
            <a:r>
              <a:rPr lang="en-US" b="1" dirty="0"/>
              <a:t>, </a:t>
            </a:r>
            <a:r>
              <a:rPr lang="en-US" b="1" dirty="0">
                <a:solidFill>
                  <a:srgbClr val="0070C0"/>
                </a:solidFill>
              </a:rPr>
              <a:t>HOLOENZOOTIC</a:t>
            </a:r>
            <a:r>
              <a:rPr lang="en-US" b="1" dirty="0"/>
              <a:t>, </a:t>
            </a:r>
            <a:r>
              <a:rPr lang="en-US" b="1" dirty="0" smtClean="0">
                <a:solidFill>
                  <a:srgbClr val="0070C0"/>
                </a:solidFill>
              </a:rPr>
              <a:t>SPORADIC</a:t>
            </a:r>
            <a:r>
              <a:rPr lang="en-US" b="1" dirty="0" smtClean="0"/>
              <a:t> </a:t>
            </a:r>
            <a:r>
              <a:rPr lang="en-US" b="1" dirty="0"/>
              <a:t>and </a:t>
            </a:r>
            <a:r>
              <a:rPr lang="en-US" b="1" dirty="0">
                <a:solidFill>
                  <a:srgbClr val="0070C0"/>
                </a:solidFill>
              </a:rPr>
              <a:t>EPIZOOTIC</a:t>
            </a:r>
            <a:r>
              <a:rPr lang="en-US" b="1" dirty="0"/>
              <a:t>, respectively.</a:t>
            </a:r>
            <a:endParaRPr lang="en-US" dirty="0"/>
          </a:p>
          <a:p>
            <a:endParaRPr lang="en-US" dirty="0"/>
          </a:p>
          <a:p>
            <a:endParaRPr lang="en-US" dirty="0"/>
          </a:p>
        </p:txBody>
      </p:sp>
    </p:spTree>
    <p:extLst>
      <p:ext uri="{BB962C8B-B14F-4D97-AF65-F5344CB8AC3E}">
        <p14:creationId xmlns:p14="http://schemas.microsoft.com/office/powerpoint/2010/main" val="360614839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solidFill>
                  <a:srgbClr val="0070C0"/>
                </a:solidFill>
              </a:rPr>
              <a:t>Some Ecological and Epidemiological Terms in Parasitology </a:t>
            </a:r>
            <a:r>
              <a:rPr lang="en-US" b="1" dirty="0" smtClean="0"/>
              <a:t>Cont’d</a:t>
            </a:r>
            <a:endParaRPr lang="en-US" dirty="0"/>
          </a:p>
        </p:txBody>
      </p:sp>
      <p:sp>
        <p:nvSpPr>
          <p:cNvPr id="3" name="Content Placeholder 2"/>
          <p:cNvSpPr>
            <a:spLocks noGrp="1"/>
          </p:cNvSpPr>
          <p:nvPr>
            <p:ph idx="1"/>
          </p:nvPr>
        </p:nvSpPr>
        <p:spPr/>
        <p:txBody>
          <a:bodyPr>
            <a:normAutofit lnSpcReduction="10000"/>
          </a:bodyPr>
          <a:lstStyle/>
          <a:p>
            <a:pPr>
              <a:buFont typeface="Wingdings" pitchFamily="2" charset="2"/>
              <a:buChar char="v"/>
            </a:pPr>
            <a:r>
              <a:rPr lang="en-US" b="1" dirty="0">
                <a:solidFill>
                  <a:srgbClr val="0070C0"/>
                </a:solidFill>
              </a:rPr>
              <a:t>Outbreak</a:t>
            </a:r>
            <a:r>
              <a:rPr lang="en-US" b="1" dirty="0"/>
              <a:t> - </a:t>
            </a:r>
            <a:r>
              <a:rPr lang="en-US" u="sng" dirty="0"/>
              <a:t>When an unusual number of infections are acquired simultaneously from the same </a:t>
            </a:r>
            <a:r>
              <a:rPr lang="en-US" u="sng" dirty="0" smtClean="0"/>
              <a:t>source </a:t>
            </a:r>
            <a:r>
              <a:rPr lang="en-US" u="sng" dirty="0"/>
              <a:t>and </a:t>
            </a:r>
            <a:r>
              <a:rPr lang="en-US" dirty="0" smtClean="0">
                <a:solidFill>
                  <a:srgbClr val="FF0000"/>
                </a:solidFill>
              </a:rPr>
              <a:t>not </a:t>
            </a:r>
            <a:r>
              <a:rPr lang="en-US" dirty="0">
                <a:solidFill>
                  <a:srgbClr val="FF0000"/>
                </a:solidFill>
              </a:rPr>
              <a:t>transmitted from person to person</a:t>
            </a:r>
            <a:r>
              <a:rPr lang="en-US" dirty="0"/>
              <a:t> </a:t>
            </a:r>
            <a:endParaRPr lang="en-US" dirty="0" smtClean="0"/>
          </a:p>
          <a:p>
            <a:pPr>
              <a:buFont typeface="Wingdings" pitchFamily="2" charset="2"/>
              <a:buChar char="v"/>
            </a:pPr>
            <a:r>
              <a:rPr lang="en-US" dirty="0" smtClean="0"/>
              <a:t>(</a:t>
            </a:r>
            <a:r>
              <a:rPr lang="en-US" dirty="0"/>
              <a:t>e.g. Trichinosis infection from  </a:t>
            </a:r>
            <a:r>
              <a:rPr lang="en-US" dirty="0" smtClean="0"/>
              <a:t>eating </a:t>
            </a:r>
            <a:r>
              <a:rPr lang="en-US" dirty="0"/>
              <a:t>pork sausage, or  cholera from drinking water from a contaminated or </a:t>
            </a:r>
            <a:r>
              <a:rPr lang="en-US" dirty="0" smtClean="0"/>
              <a:t>sewage-polluted </a:t>
            </a:r>
            <a:r>
              <a:rPr lang="en-US" dirty="0"/>
              <a:t>community  water source), there is said to be</a:t>
            </a:r>
            <a:r>
              <a:rPr lang="en-US" b="1" dirty="0"/>
              <a:t> </a:t>
            </a:r>
            <a:r>
              <a:rPr lang="en-US" dirty="0"/>
              <a:t>an </a:t>
            </a:r>
            <a:r>
              <a:rPr lang="en-US" b="1" dirty="0">
                <a:solidFill>
                  <a:srgbClr val="0070C0"/>
                </a:solidFill>
              </a:rPr>
              <a:t>OUTBREAK of the disease</a:t>
            </a:r>
            <a:r>
              <a:rPr lang="en-US" b="1" dirty="0"/>
              <a:t>.</a:t>
            </a:r>
            <a:endParaRPr lang="en-US" dirty="0"/>
          </a:p>
          <a:p>
            <a:pPr>
              <a:buFont typeface="Wingdings" pitchFamily="2" charset="2"/>
              <a:buChar char="v"/>
            </a:pPr>
            <a:endParaRPr lang="en-US" dirty="0"/>
          </a:p>
          <a:p>
            <a:endParaRPr lang="en-US" dirty="0"/>
          </a:p>
        </p:txBody>
      </p:sp>
    </p:spTree>
    <p:extLst>
      <p:ext uri="{BB962C8B-B14F-4D97-AF65-F5344CB8AC3E}">
        <p14:creationId xmlns:p14="http://schemas.microsoft.com/office/powerpoint/2010/main" val="106255797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solidFill>
                  <a:srgbClr val="FFC000"/>
                </a:solidFill>
              </a:rPr>
              <a:t>Means of transmission of Pathogens</a:t>
            </a:r>
            <a:endParaRPr lang="en-US" dirty="0">
              <a:solidFill>
                <a:srgbClr val="FFC000"/>
              </a:solidFill>
            </a:endParaRPr>
          </a:p>
        </p:txBody>
      </p:sp>
      <p:sp>
        <p:nvSpPr>
          <p:cNvPr id="3" name="Content Placeholder 2"/>
          <p:cNvSpPr>
            <a:spLocks noGrp="1"/>
          </p:cNvSpPr>
          <p:nvPr>
            <p:ph idx="1"/>
          </p:nvPr>
        </p:nvSpPr>
        <p:spPr/>
        <p:txBody>
          <a:bodyPr/>
          <a:lstStyle/>
          <a:p>
            <a:pPr>
              <a:buFont typeface="Wingdings" pitchFamily="2" charset="2"/>
              <a:buChar char="v"/>
            </a:pPr>
            <a:r>
              <a:rPr lang="en-US" b="1" dirty="0"/>
              <a:t> </a:t>
            </a:r>
            <a:r>
              <a:rPr lang="en-US" dirty="0"/>
              <a:t>Pathogens ( including parasites) may be transmitted by </a:t>
            </a:r>
            <a:endParaRPr lang="en-US" dirty="0" smtClean="0"/>
          </a:p>
          <a:p>
            <a:pPr>
              <a:buFont typeface="Wingdings" pitchFamily="2" charset="2"/>
              <a:buChar char="v"/>
            </a:pPr>
            <a:endParaRPr lang="en-US" b="1" dirty="0" smtClean="0"/>
          </a:p>
          <a:p>
            <a:pPr>
              <a:buFont typeface="Wingdings" pitchFamily="2" charset="2"/>
              <a:buChar char="v"/>
            </a:pPr>
            <a:r>
              <a:rPr lang="en-US" b="1" dirty="0" smtClean="0">
                <a:solidFill>
                  <a:srgbClr val="7030A0"/>
                </a:solidFill>
              </a:rPr>
              <a:t>Direct contact</a:t>
            </a:r>
          </a:p>
          <a:p>
            <a:pPr marL="0" indent="0">
              <a:buNone/>
            </a:pPr>
            <a:r>
              <a:rPr lang="en-US" b="1" dirty="0" smtClean="0"/>
              <a:t> </a:t>
            </a:r>
            <a:r>
              <a:rPr lang="en-US" b="1" dirty="0"/>
              <a:t>or by </a:t>
            </a:r>
            <a:endParaRPr lang="en-US" b="1" dirty="0" smtClean="0"/>
          </a:p>
          <a:p>
            <a:pPr>
              <a:buFont typeface="Wingdings" pitchFamily="2" charset="2"/>
              <a:buChar char="v"/>
            </a:pPr>
            <a:endParaRPr lang="en-US" b="1" dirty="0" smtClean="0"/>
          </a:p>
          <a:p>
            <a:pPr>
              <a:buFont typeface="Wingdings" pitchFamily="2" charset="2"/>
              <a:buChar char="v"/>
            </a:pPr>
            <a:r>
              <a:rPr lang="en-US" b="1" dirty="0" smtClean="0">
                <a:solidFill>
                  <a:srgbClr val="7030A0"/>
                </a:solidFill>
              </a:rPr>
              <a:t>Indirect</a:t>
            </a:r>
            <a:r>
              <a:rPr lang="en-US" dirty="0" smtClean="0">
                <a:solidFill>
                  <a:srgbClr val="7030A0"/>
                </a:solidFill>
              </a:rPr>
              <a:t> </a:t>
            </a:r>
            <a:r>
              <a:rPr lang="en-US" b="1" dirty="0" smtClean="0">
                <a:solidFill>
                  <a:srgbClr val="7030A0"/>
                </a:solidFill>
              </a:rPr>
              <a:t>Means</a:t>
            </a:r>
            <a:endParaRPr lang="en-US" dirty="0">
              <a:solidFill>
                <a:srgbClr val="7030A0"/>
              </a:solidFill>
            </a:endParaRPr>
          </a:p>
        </p:txBody>
      </p:sp>
    </p:spTree>
    <p:extLst>
      <p:ext uri="{BB962C8B-B14F-4D97-AF65-F5344CB8AC3E}">
        <p14:creationId xmlns:p14="http://schemas.microsoft.com/office/powerpoint/2010/main" val="313728660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solidFill>
                  <a:srgbClr val="FFC000"/>
                </a:solidFill>
              </a:rPr>
              <a:t>Means of transmission of Pathogens </a:t>
            </a:r>
            <a:r>
              <a:rPr lang="en-US" b="1" dirty="0" smtClean="0"/>
              <a:t>Cont’d</a:t>
            </a:r>
            <a:endParaRPr lang="en-US" dirty="0"/>
          </a:p>
        </p:txBody>
      </p:sp>
      <p:sp>
        <p:nvSpPr>
          <p:cNvPr id="3" name="Content Placeholder 2"/>
          <p:cNvSpPr>
            <a:spLocks noGrp="1"/>
          </p:cNvSpPr>
          <p:nvPr>
            <p:ph idx="1"/>
          </p:nvPr>
        </p:nvSpPr>
        <p:spPr/>
        <p:txBody>
          <a:bodyPr>
            <a:normAutofit/>
          </a:bodyPr>
          <a:lstStyle/>
          <a:p>
            <a:pPr lvl="0">
              <a:buFont typeface="Wingdings" pitchFamily="2" charset="2"/>
              <a:buChar char="v"/>
            </a:pPr>
            <a:r>
              <a:rPr lang="en-US" b="1" i="1" dirty="0">
                <a:solidFill>
                  <a:srgbClr val="7030A0"/>
                </a:solidFill>
              </a:rPr>
              <a:t>Direct Transmission.</a:t>
            </a:r>
            <a:r>
              <a:rPr lang="en-US" dirty="0">
                <a:solidFill>
                  <a:srgbClr val="7030A0"/>
                </a:solidFill>
              </a:rPr>
              <a:t> </a:t>
            </a:r>
            <a:r>
              <a:rPr lang="en-US" b="1" dirty="0"/>
              <a:t>Diseases of </a:t>
            </a:r>
            <a:r>
              <a:rPr lang="en-US" b="1" u="sng" dirty="0"/>
              <a:t>humans</a:t>
            </a:r>
            <a:r>
              <a:rPr lang="en-US" u="sng" dirty="0"/>
              <a:t> </a:t>
            </a:r>
            <a:r>
              <a:rPr lang="en-US" dirty="0"/>
              <a:t>transmitted mainly by contact include </a:t>
            </a:r>
            <a:r>
              <a:rPr lang="en-US" dirty="0">
                <a:solidFill>
                  <a:srgbClr val="00B0F0"/>
                </a:solidFill>
              </a:rPr>
              <a:t>Syphilis</a:t>
            </a:r>
            <a:r>
              <a:rPr lang="en-US" dirty="0"/>
              <a:t> and </a:t>
            </a:r>
            <a:r>
              <a:rPr lang="en-US" dirty="0">
                <a:solidFill>
                  <a:srgbClr val="00B0F0"/>
                </a:solidFill>
              </a:rPr>
              <a:t>Gonorrhea</a:t>
            </a:r>
            <a:r>
              <a:rPr lang="en-US" dirty="0"/>
              <a:t>, </a:t>
            </a:r>
            <a:r>
              <a:rPr lang="en-US" dirty="0">
                <a:solidFill>
                  <a:srgbClr val="00B0F0"/>
                </a:solidFill>
              </a:rPr>
              <a:t>diseases of the respiratory tract</a:t>
            </a:r>
            <a:r>
              <a:rPr lang="en-US" dirty="0"/>
              <a:t> and other diseases caused by pathogens which may be present in the upper respiratory tract. </a:t>
            </a:r>
          </a:p>
        </p:txBody>
      </p:sp>
    </p:spTree>
    <p:extLst>
      <p:ext uri="{BB962C8B-B14F-4D97-AF65-F5344CB8AC3E}">
        <p14:creationId xmlns:p14="http://schemas.microsoft.com/office/powerpoint/2010/main" val="61329263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solidFill>
                  <a:srgbClr val="FFC000"/>
                </a:solidFill>
              </a:rPr>
              <a:t>Means of transmission of Pathogens </a:t>
            </a:r>
            <a:r>
              <a:rPr lang="en-US" b="1" dirty="0" smtClean="0"/>
              <a:t>Cont’d</a:t>
            </a:r>
            <a:endParaRPr lang="en-US" dirty="0"/>
          </a:p>
        </p:txBody>
      </p:sp>
      <p:sp>
        <p:nvSpPr>
          <p:cNvPr id="3" name="Content Placeholder 2"/>
          <p:cNvSpPr>
            <a:spLocks noGrp="1"/>
          </p:cNvSpPr>
          <p:nvPr>
            <p:ph idx="1"/>
          </p:nvPr>
        </p:nvSpPr>
        <p:spPr/>
        <p:txBody>
          <a:bodyPr>
            <a:normAutofit fontScale="92500"/>
          </a:bodyPr>
          <a:lstStyle/>
          <a:p>
            <a:pPr lvl="0">
              <a:buFont typeface="Wingdings" pitchFamily="2" charset="2"/>
              <a:buChar char="v"/>
            </a:pPr>
            <a:r>
              <a:rPr lang="en-US" dirty="0" smtClean="0"/>
              <a:t>Examples of </a:t>
            </a:r>
            <a:r>
              <a:rPr lang="en-US" b="1" u="sng" dirty="0" smtClean="0"/>
              <a:t>diseases of animals </a:t>
            </a:r>
            <a:r>
              <a:rPr lang="en-US" dirty="0" smtClean="0"/>
              <a:t>transmitted mainly by direct contact are </a:t>
            </a:r>
            <a:r>
              <a:rPr lang="en-US" dirty="0" smtClean="0">
                <a:solidFill>
                  <a:srgbClr val="00B0F0"/>
                </a:solidFill>
              </a:rPr>
              <a:t>Brucellosis</a:t>
            </a:r>
            <a:r>
              <a:rPr lang="en-US" dirty="0" smtClean="0"/>
              <a:t> and </a:t>
            </a:r>
            <a:r>
              <a:rPr lang="en-US" dirty="0" smtClean="0">
                <a:solidFill>
                  <a:srgbClr val="00B0F0"/>
                </a:solidFill>
              </a:rPr>
              <a:t>Hog cholera</a:t>
            </a:r>
            <a:r>
              <a:rPr lang="en-US" dirty="0" smtClean="0"/>
              <a:t>.</a:t>
            </a:r>
          </a:p>
          <a:p>
            <a:pPr lvl="0">
              <a:buFont typeface="Wingdings" pitchFamily="2" charset="2"/>
              <a:buChar char="v"/>
            </a:pPr>
            <a:r>
              <a:rPr lang="en-US" dirty="0" smtClean="0"/>
              <a:t> </a:t>
            </a:r>
            <a:r>
              <a:rPr lang="en-US" u="sng" dirty="0" smtClean="0"/>
              <a:t>The meat or milk of an infected animal may be used as food by a human being or other animal and thus transmit the pathogens directly</a:t>
            </a:r>
            <a:r>
              <a:rPr lang="en-US" dirty="0" smtClean="0"/>
              <a:t>. </a:t>
            </a:r>
          </a:p>
          <a:p>
            <a:pPr lvl="0">
              <a:buFont typeface="Wingdings" pitchFamily="2" charset="2"/>
              <a:buChar char="v"/>
            </a:pPr>
            <a:r>
              <a:rPr lang="en-US" b="1" dirty="0" smtClean="0"/>
              <a:t>Thus</a:t>
            </a:r>
            <a:r>
              <a:rPr lang="en-US" dirty="0" smtClean="0"/>
              <a:t> </a:t>
            </a:r>
            <a:r>
              <a:rPr lang="en-US" u="sng" dirty="0" smtClean="0"/>
              <a:t>diseases which may be transmitted by direct contact may also be spread by other means</a:t>
            </a:r>
            <a:r>
              <a:rPr lang="en-US" dirty="0" smtClean="0"/>
              <a:t>.</a:t>
            </a:r>
          </a:p>
          <a:p>
            <a:pPr>
              <a:buFont typeface="Wingdings" pitchFamily="2" charset="2"/>
              <a:buChar char="v"/>
            </a:pPr>
            <a:endParaRPr lang="en-US" dirty="0"/>
          </a:p>
        </p:txBody>
      </p:sp>
    </p:spTree>
    <p:extLst>
      <p:ext uri="{BB962C8B-B14F-4D97-AF65-F5344CB8AC3E}">
        <p14:creationId xmlns:p14="http://schemas.microsoft.com/office/powerpoint/2010/main" val="155848438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solidFill>
                  <a:srgbClr val="FFC000"/>
                </a:solidFill>
              </a:rPr>
              <a:t>Means of transmission of Pathogens </a:t>
            </a:r>
            <a:r>
              <a:rPr lang="en-US" b="1" dirty="0" smtClean="0"/>
              <a:t>Cont’d</a:t>
            </a:r>
            <a:endParaRPr lang="en-US" dirty="0"/>
          </a:p>
        </p:txBody>
      </p:sp>
      <p:sp>
        <p:nvSpPr>
          <p:cNvPr id="3" name="Content Placeholder 2"/>
          <p:cNvSpPr>
            <a:spLocks noGrp="1"/>
          </p:cNvSpPr>
          <p:nvPr>
            <p:ph idx="1"/>
          </p:nvPr>
        </p:nvSpPr>
        <p:spPr/>
        <p:txBody>
          <a:bodyPr>
            <a:normAutofit lnSpcReduction="10000"/>
          </a:bodyPr>
          <a:lstStyle/>
          <a:p>
            <a:pPr marL="0" lvl="0" indent="0" algn="ctr">
              <a:buNone/>
            </a:pPr>
            <a:r>
              <a:rPr lang="en-US" b="1" i="1" dirty="0">
                <a:solidFill>
                  <a:srgbClr val="00B0F0"/>
                </a:solidFill>
              </a:rPr>
              <a:t>Indirect Transmission</a:t>
            </a:r>
            <a:r>
              <a:rPr lang="en-US" dirty="0"/>
              <a:t>. </a:t>
            </a:r>
            <a:endParaRPr lang="en-US" dirty="0" smtClean="0"/>
          </a:p>
          <a:p>
            <a:pPr lvl="0">
              <a:buFont typeface="Wingdings" pitchFamily="2" charset="2"/>
              <a:buChar char="v"/>
            </a:pPr>
            <a:r>
              <a:rPr lang="en-US" u="sng" dirty="0" smtClean="0"/>
              <a:t>This </a:t>
            </a:r>
            <a:r>
              <a:rPr lang="en-US" u="sng" dirty="0"/>
              <a:t>requires a </a:t>
            </a:r>
            <a:r>
              <a:rPr lang="en-US" b="1" u="sng" dirty="0">
                <a:solidFill>
                  <a:schemeClr val="accent6">
                    <a:lumMod val="75000"/>
                  </a:schemeClr>
                </a:solidFill>
              </a:rPr>
              <a:t>vehicle or carrier </a:t>
            </a:r>
            <a:r>
              <a:rPr lang="en-US" b="1" u="sng" dirty="0"/>
              <a:t>(</a:t>
            </a:r>
            <a:r>
              <a:rPr lang="en-US" b="1" u="sng" dirty="0">
                <a:solidFill>
                  <a:schemeClr val="accent6">
                    <a:lumMod val="75000"/>
                  </a:schemeClr>
                </a:solidFill>
              </a:rPr>
              <a:t>VECTOR</a:t>
            </a:r>
            <a:r>
              <a:rPr lang="en-US" b="1" u="sng" dirty="0"/>
              <a:t>)</a:t>
            </a:r>
            <a:r>
              <a:rPr lang="en-US" u="sng" dirty="0"/>
              <a:t> for the transmission of the pathogen</a:t>
            </a:r>
            <a:r>
              <a:rPr lang="en-US" dirty="0"/>
              <a:t>. </a:t>
            </a:r>
            <a:endParaRPr lang="en-US" dirty="0" smtClean="0"/>
          </a:p>
          <a:p>
            <a:pPr lvl="0">
              <a:buFont typeface="Wingdings" pitchFamily="2" charset="2"/>
              <a:buChar char="v"/>
            </a:pPr>
            <a:r>
              <a:rPr lang="en-US" dirty="0" smtClean="0"/>
              <a:t>The </a:t>
            </a:r>
            <a:r>
              <a:rPr lang="en-US" dirty="0"/>
              <a:t>vehicle which carries the pathogen may serve only as a mechanical means of transmission or it may play an active part in the process. </a:t>
            </a:r>
            <a:endParaRPr lang="en-US" dirty="0" smtClean="0"/>
          </a:p>
          <a:p>
            <a:pPr lvl="0">
              <a:buFont typeface="Wingdings" pitchFamily="2" charset="2"/>
              <a:buChar char="v"/>
            </a:pPr>
            <a:r>
              <a:rPr lang="en-US" dirty="0" smtClean="0"/>
              <a:t>The </a:t>
            </a:r>
            <a:r>
              <a:rPr lang="en-US" dirty="0">
                <a:solidFill>
                  <a:schemeClr val="accent6">
                    <a:lumMod val="75000"/>
                  </a:schemeClr>
                </a:solidFill>
              </a:rPr>
              <a:t>vehicle</a:t>
            </a:r>
            <a:r>
              <a:rPr lang="en-US" dirty="0"/>
              <a:t> may be an </a:t>
            </a:r>
            <a:r>
              <a:rPr lang="en-US" dirty="0">
                <a:solidFill>
                  <a:srgbClr val="00B050"/>
                </a:solidFill>
              </a:rPr>
              <a:t>inanimate substance, </a:t>
            </a:r>
            <a:r>
              <a:rPr lang="en-US" dirty="0"/>
              <a:t>or it may be a </a:t>
            </a:r>
            <a:r>
              <a:rPr lang="en-US" dirty="0">
                <a:solidFill>
                  <a:srgbClr val="00B050"/>
                </a:solidFill>
              </a:rPr>
              <a:t>living organism. </a:t>
            </a:r>
          </a:p>
        </p:txBody>
      </p:sp>
    </p:spTree>
    <p:extLst>
      <p:ext uri="{BB962C8B-B14F-4D97-AF65-F5344CB8AC3E}">
        <p14:creationId xmlns:p14="http://schemas.microsoft.com/office/powerpoint/2010/main" val="303303735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solidFill>
                  <a:srgbClr val="FFC000"/>
                </a:solidFill>
              </a:rPr>
              <a:t>Means of transmission of Pathogens </a:t>
            </a:r>
            <a:r>
              <a:rPr lang="en-US" b="1" dirty="0" smtClean="0"/>
              <a:t>Cont’d</a:t>
            </a:r>
            <a:endParaRPr lang="en-US" dirty="0"/>
          </a:p>
        </p:txBody>
      </p:sp>
      <p:sp>
        <p:nvSpPr>
          <p:cNvPr id="3" name="Content Placeholder 2"/>
          <p:cNvSpPr>
            <a:spLocks noGrp="1"/>
          </p:cNvSpPr>
          <p:nvPr>
            <p:ph idx="1"/>
          </p:nvPr>
        </p:nvSpPr>
        <p:spPr/>
        <p:txBody>
          <a:bodyPr/>
          <a:lstStyle/>
          <a:p>
            <a:pPr lvl="0">
              <a:buFont typeface="Wingdings" pitchFamily="2" charset="2"/>
              <a:buChar char="v"/>
            </a:pPr>
            <a:r>
              <a:rPr lang="en-US" dirty="0" smtClean="0">
                <a:solidFill>
                  <a:srgbClr val="00B050"/>
                </a:solidFill>
              </a:rPr>
              <a:t>Air</a:t>
            </a:r>
            <a:r>
              <a:rPr lang="en-US" dirty="0" smtClean="0"/>
              <a:t> is an important and temporary carrier of pathogens suspended in moisture droplets. </a:t>
            </a:r>
          </a:p>
          <a:p>
            <a:pPr lvl="0">
              <a:buFont typeface="Wingdings" pitchFamily="2" charset="2"/>
              <a:buChar char="v"/>
            </a:pPr>
            <a:r>
              <a:rPr lang="en-US" dirty="0" smtClean="0"/>
              <a:t>It is also possible for pathogens to be transmitted by </a:t>
            </a:r>
            <a:r>
              <a:rPr lang="en-US" dirty="0" smtClean="0">
                <a:solidFill>
                  <a:srgbClr val="00B050"/>
                </a:solidFill>
              </a:rPr>
              <a:t>FOMITES</a:t>
            </a:r>
            <a:r>
              <a:rPr lang="en-US" dirty="0" smtClean="0"/>
              <a:t> </a:t>
            </a:r>
          </a:p>
          <a:p>
            <a:pPr lvl="0">
              <a:buFont typeface="Wingdings" pitchFamily="2" charset="2"/>
              <a:buChar char="v"/>
            </a:pPr>
            <a:r>
              <a:rPr lang="en-US" dirty="0" smtClean="0"/>
              <a:t>(</a:t>
            </a:r>
            <a:r>
              <a:rPr lang="en-US" u="sng" dirty="0" smtClean="0"/>
              <a:t>inanimate objects such as clothing, bedding, books, money, eating and drinking utensils, feed sacks, hair combs</a:t>
            </a:r>
            <a:r>
              <a:rPr lang="en-US" dirty="0" smtClean="0"/>
              <a:t>, etc.</a:t>
            </a:r>
          </a:p>
          <a:p>
            <a:pPr>
              <a:buFont typeface="Wingdings" pitchFamily="2" charset="2"/>
              <a:buChar char="v"/>
            </a:pPr>
            <a:endParaRPr lang="en-US" dirty="0"/>
          </a:p>
        </p:txBody>
      </p:sp>
    </p:spTree>
    <p:extLst>
      <p:ext uri="{BB962C8B-B14F-4D97-AF65-F5344CB8AC3E}">
        <p14:creationId xmlns:p14="http://schemas.microsoft.com/office/powerpoint/2010/main" val="407238498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solidFill>
                  <a:srgbClr val="FFC000"/>
                </a:solidFill>
              </a:rPr>
              <a:t>Means of transmission of Pathogens </a:t>
            </a:r>
            <a:r>
              <a:rPr lang="en-US" b="1" dirty="0" smtClean="0"/>
              <a:t>Cont’d</a:t>
            </a:r>
            <a:endParaRPr lang="en-US" dirty="0"/>
          </a:p>
        </p:txBody>
      </p:sp>
      <p:sp>
        <p:nvSpPr>
          <p:cNvPr id="3" name="Content Placeholder 2"/>
          <p:cNvSpPr>
            <a:spLocks noGrp="1"/>
          </p:cNvSpPr>
          <p:nvPr>
            <p:ph idx="1"/>
          </p:nvPr>
        </p:nvSpPr>
        <p:spPr/>
        <p:txBody>
          <a:bodyPr/>
          <a:lstStyle/>
          <a:p>
            <a:pPr>
              <a:buFont typeface="Wingdings" pitchFamily="2" charset="2"/>
              <a:buChar char="v"/>
            </a:pPr>
            <a:r>
              <a:rPr lang="en-US" b="1" dirty="0">
                <a:solidFill>
                  <a:srgbClr val="00B050"/>
                </a:solidFill>
              </a:rPr>
              <a:t>Arthropods</a:t>
            </a:r>
            <a:r>
              <a:rPr lang="en-US" b="1" dirty="0"/>
              <a:t> </a:t>
            </a:r>
            <a:r>
              <a:rPr lang="en-US" dirty="0"/>
              <a:t>(such as </a:t>
            </a:r>
            <a:r>
              <a:rPr lang="en-US" u="sng" dirty="0"/>
              <a:t>lice</a:t>
            </a:r>
            <a:r>
              <a:rPr lang="en-US" dirty="0"/>
              <a:t>, </a:t>
            </a:r>
            <a:r>
              <a:rPr lang="en-US" u="sng" dirty="0"/>
              <a:t>ticks</a:t>
            </a:r>
            <a:r>
              <a:rPr lang="en-US" dirty="0"/>
              <a:t>, </a:t>
            </a:r>
            <a:r>
              <a:rPr lang="en-US" u="sng" dirty="0"/>
              <a:t>fleas</a:t>
            </a:r>
            <a:r>
              <a:rPr lang="en-US" dirty="0"/>
              <a:t>, </a:t>
            </a:r>
            <a:r>
              <a:rPr lang="en-US" u="sng" dirty="0"/>
              <a:t>flies</a:t>
            </a:r>
            <a:r>
              <a:rPr lang="en-US" dirty="0"/>
              <a:t>, and </a:t>
            </a:r>
            <a:r>
              <a:rPr lang="en-US" u="sng" dirty="0"/>
              <a:t>mosquitoes</a:t>
            </a:r>
            <a:r>
              <a:rPr lang="en-US" dirty="0"/>
              <a:t>) may serve as </a:t>
            </a:r>
            <a:r>
              <a:rPr lang="en-US" dirty="0">
                <a:solidFill>
                  <a:srgbClr val="00B0F0"/>
                </a:solidFill>
              </a:rPr>
              <a:t>accidental carriers </a:t>
            </a:r>
            <a:r>
              <a:rPr lang="en-US" dirty="0"/>
              <a:t>of pathogens, or in some cases as </a:t>
            </a:r>
            <a:r>
              <a:rPr lang="en-US" dirty="0">
                <a:solidFill>
                  <a:srgbClr val="00B0F0"/>
                </a:solidFill>
              </a:rPr>
              <a:t>active, intermediate hosts</a:t>
            </a:r>
            <a:r>
              <a:rPr lang="en-US" dirty="0"/>
              <a:t> for the organisms. </a:t>
            </a:r>
            <a:endParaRPr lang="en-US" dirty="0" smtClean="0"/>
          </a:p>
          <a:p>
            <a:pPr>
              <a:buFont typeface="Wingdings" pitchFamily="2" charset="2"/>
              <a:buChar char="v"/>
            </a:pPr>
            <a:r>
              <a:rPr lang="en-US" dirty="0" smtClean="0">
                <a:solidFill>
                  <a:srgbClr val="00B050"/>
                </a:solidFill>
              </a:rPr>
              <a:t>Flies</a:t>
            </a:r>
            <a:r>
              <a:rPr lang="en-US" dirty="0"/>
              <a:t>, </a:t>
            </a:r>
            <a:r>
              <a:rPr lang="en-US" u="sng" dirty="0"/>
              <a:t>for example, may carry pathogens on their legs or in their digestive tract, and thus serve as </a:t>
            </a:r>
            <a:r>
              <a:rPr lang="en-US" b="1" u="sng" dirty="0"/>
              <a:t>mechanical vectors </a:t>
            </a:r>
            <a:r>
              <a:rPr lang="en-US" u="sng" dirty="0"/>
              <a:t>without becoming infected. </a:t>
            </a:r>
          </a:p>
        </p:txBody>
      </p:sp>
    </p:spTree>
    <p:extLst>
      <p:ext uri="{BB962C8B-B14F-4D97-AF65-F5344CB8AC3E}">
        <p14:creationId xmlns:p14="http://schemas.microsoft.com/office/powerpoint/2010/main" val="413185662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solidFill>
                  <a:srgbClr val="FFC000"/>
                </a:solidFill>
              </a:rPr>
              <a:t>Means of transmission of Pathogens </a:t>
            </a:r>
            <a:r>
              <a:rPr lang="en-US" b="1" dirty="0" smtClean="0"/>
              <a:t>Cont’d</a:t>
            </a:r>
            <a:endParaRPr lang="en-US" dirty="0"/>
          </a:p>
        </p:txBody>
      </p:sp>
      <p:sp>
        <p:nvSpPr>
          <p:cNvPr id="3" name="Content Placeholder 2"/>
          <p:cNvSpPr>
            <a:spLocks noGrp="1"/>
          </p:cNvSpPr>
          <p:nvPr>
            <p:ph idx="1"/>
          </p:nvPr>
        </p:nvSpPr>
        <p:spPr/>
        <p:txBody>
          <a:bodyPr/>
          <a:lstStyle/>
          <a:p>
            <a:pPr>
              <a:buFont typeface="Wingdings" pitchFamily="2" charset="2"/>
              <a:buChar char="v"/>
            </a:pPr>
            <a:r>
              <a:rPr lang="en-US" dirty="0"/>
              <a:t>The </a:t>
            </a:r>
            <a:r>
              <a:rPr lang="en-US" b="1" i="1" dirty="0">
                <a:solidFill>
                  <a:srgbClr val="00B050"/>
                </a:solidFill>
              </a:rPr>
              <a:t>Aedes</a:t>
            </a:r>
            <a:r>
              <a:rPr lang="en-US" dirty="0">
                <a:solidFill>
                  <a:srgbClr val="00B050"/>
                </a:solidFill>
              </a:rPr>
              <a:t> mosquito </a:t>
            </a:r>
            <a:r>
              <a:rPr lang="en-US" u="sng" dirty="0"/>
              <a:t>may suck blood from an individual infected with the yellow fever virus and transmit the virus to a healthy individual</a:t>
            </a:r>
            <a:r>
              <a:rPr lang="en-US" dirty="0"/>
              <a:t>. </a:t>
            </a:r>
            <a:endParaRPr lang="en-US" dirty="0" smtClean="0"/>
          </a:p>
          <a:p>
            <a:pPr>
              <a:buFont typeface="Wingdings" pitchFamily="2" charset="2"/>
              <a:buChar char="v"/>
            </a:pPr>
            <a:r>
              <a:rPr lang="en-US" dirty="0" smtClean="0"/>
              <a:t>Similarly</a:t>
            </a:r>
            <a:r>
              <a:rPr lang="en-US" dirty="0"/>
              <a:t>, </a:t>
            </a:r>
            <a:r>
              <a:rPr lang="en-US" dirty="0" smtClean="0">
                <a:solidFill>
                  <a:srgbClr val="00B050"/>
                </a:solidFill>
              </a:rPr>
              <a:t>lice</a:t>
            </a:r>
            <a:r>
              <a:rPr lang="en-US" dirty="0" smtClean="0"/>
              <a:t>, </a:t>
            </a:r>
            <a:r>
              <a:rPr lang="en-US" dirty="0">
                <a:solidFill>
                  <a:srgbClr val="00B050"/>
                </a:solidFill>
              </a:rPr>
              <a:t>ticks</a:t>
            </a:r>
            <a:r>
              <a:rPr lang="en-US" dirty="0"/>
              <a:t> and </a:t>
            </a:r>
            <a:r>
              <a:rPr lang="en-US" dirty="0">
                <a:solidFill>
                  <a:srgbClr val="00B050"/>
                </a:solidFill>
              </a:rPr>
              <a:t>fleas</a:t>
            </a:r>
            <a:r>
              <a:rPr lang="en-US" dirty="0"/>
              <a:t> </a:t>
            </a:r>
            <a:r>
              <a:rPr lang="en-US" u="sng" dirty="0"/>
              <a:t>may transmit pathogens from one person to another or from an infected animal to a human being. </a:t>
            </a:r>
          </a:p>
        </p:txBody>
      </p:sp>
    </p:spTree>
    <p:extLst>
      <p:ext uri="{BB962C8B-B14F-4D97-AF65-F5344CB8AC3E}">
        <p14:creationId xmlns:p14="http://schemas.microsoft.com/office/powerpoint/2010/main" val="315947179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solidFill>
                  <a:srgbClr val="FFC000"/>
                </a:solidFill>
              </a:rPr>
              <a:t>Means of transmission of Pathogens </a:t>
            </a:r>
            <a:r>
              <a:rPr lang="en-US" b="1" dirty="0" smtClean="0"/>
              <a:t>Cont’d</a:t>
            </a:r>
            <a:endParaRPr lang="en-US" dirty="0"/>
          </a:p>
        </p:txBody>
      </p:sp>
      <p:sp>
        <p:nvSpPr>
          <p:cNvPr id="3" name="Content Placeholder 2"/>
          <p:cNvSpPr>
            <a:spLocks noGrp="1"/>
          </p:cNvSpPr>
          <p:nvPr>
            <p:ph idx="1"/>
          </p:nvPr>
        </p:nvSpPr>
        <p:spPr/>
        <p:txBody>
          <a:bodyPr/>
          <a:lstStyle/>
          <a:p>
            <a:pPr>
              <a:buFont typeface="Wingdings" pitchFamily="2" charset="2"/>
              <a:buChar char="v"/>
            </a:pPr>
            <a:r>
              <a:rPr lang="en-US" dirty="0"/>
              <a:t>In the case of the malaria parasite, the </a:t>
            </a:r>
            <a:r>
              <a:rPr lang="en-US" b="1" i="1" dirty="0">
                <a:solidFill>
                  <a:srgbClr val="00B050"/>
                </a:solidFill>
              </a:rPr>
              <a:t>Anopheles</a:t>
            </a:r>
            <a:r>
              <a:rPr lang="en-US" b="1" dirty="0"/>
              <a:t> </a:t>
            </a:r>
            <a:r>
              <a:rPr lang="en-US" dirty="0"/>
              <a:t>and certain other mosquitoes serve as the </a:t>
            </a:r>
            <a:r>
              <a:rPr lang="en-US" b="1" dirty="0">
                <a:solidFill>
                  <a:schemeClr val="accent6">
                    <a:lumMod val="75000"/>
                  </a:schemeClr>
                </a:solidFill>
              </a:rPr>
              <a:t>vectors</a:t>
            </a:r>
            <a:r>
              <a:rPr lang="en-US" b="1" dirty="0"/>
              <a:t> </a:t>
            </a:r>
            <a:r>
              <a:rPr lang="en-US" dirty="0"/>
              <a:t>in which the parasite, </a:t>
            </a:r>
            <a:r>
              <a:rPr lang="en-US" b="1" i="1" dirty="0">
                <a:solidFill>
                  <a:srgbClr val="00B0F0"/>
                </a:solidFill>
              </a:rPr>
              <a:t>Plasmodium spp</a:t>
            </a:r>
            <a:r>
              <a:rPr lang="en-US" dirty="0" smtClean="0">
                <a:solidFill>
                  <a:srgbClr val="00B0F0"/>
                </a:solidFill>
              </a:rPr>
              <a:t>.</a:t>
            </a:r>
          </a:p>
          <a:p>
            <a:pPr>
              <a:buFont typeface="Wingdings" pitchFamily="2" charset="2"/>
              <a:buChar char="v"/>
            </a:pPr>
            <a:r>
              <a:rPr lang="en-US" dirty="0" smtClean="0"/>
              <a:t> </a:t>
            </a:r>
            <a:r>
              <a:rPr lang="en-US" dirty="0"/>
              <a:t>undergo part of their life cycle.</a:t>
            </a:r>
          </a:p>
        </p:txBody>
      </p:sp>
    </p:spTree>
    <p:extLst>
      <p:ext uri="{BB962C8B-B14F-4D97-AF65-F5344CB8AC3E}">
        <p14:creationId xmlns:p14="http://schemas.microsoft.com/office/powerpoint/2010/main" val="305003501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solidFill>
                  <a:srgbClr val="FFC000"/>
                </a:solidFill>
              </a:rPr>
              <a:t>Means of transmission of Pathogens </a:t>
            </a:r>
            <a:r>
              <a:rPr lang="en-US" b="1" dirty="0" smtClean="0"/>
              <a:t>Cont’d</a:t>
            </a:r>
            <a:endParaRPr lang="en-US" dirty="0"/>
          </a:p>
        </p:txBody>
      </p:sp>
      <p:sp>
        <p:nvSpPr>
          <p:cNvPr id="3" name="Content Placeholder 2"/>
          <p:cNvSpPr>
            <a:spLocks noGrp="1"/>
          </p:cNvSpPr>
          <p:nvPr>
            <p:ph idx="1"/>
          </p:nvPr>
        </p:nvSpPr>
        <p:spPr/>
        <p:txBody>
          <a:bodyPr/>
          <a:lstStyle/>
          <a:p>
            <a:pPr>
              <a:buFont typeface="Wingdings" pitchFamily="2" charset="2"/>
              <a:buChar char="v"/>
            </a:pPr>
            <a:r>
              <a:rPr lang="en-US" u="sng" dirty="0"/>
              <a:t>The first proof that </a:t>
            </a:r>
            <a:r>
              <a:rPr lang="en-US" u="sng" dirty="0">
                <a:solidFill>
                  <a:srgbClr val="00B050"/>
                </a:solidFill>
              </a:rPr>
              <a:t>arthropods</a:t>
            </a:r>
            <a:r>
              <a:rPr lang="en-US" u="sng" dirty="0"/>
              <a:t>  could serve as vectors of disease was presented by </a:t>
            </a:r>
            <a:endParaRPr lang="en-US" u="sng" dirty="0" smtClean="0"/>
          </a:p>
          <a:p>
            <a:pPr>
              <a:buFont typeface="Wingdings" pitchFamily="2" charset="2"/>
              <a:buChar char="v"/>
            </a:pPr>
            <a:r>
              <a:rPr lang="en-US" b="1" dirty="0" smtClean="0">
                <a:solidFill>
                  <a:srgbClr val="FF0000"/>
                </a:solidFill>
              </a:rPr>
              <a:t>Smith </a:t>
            </a:r>
            <a:r>
              <a:rPr lang="en-US" b="1" dirty="0">
                <a:solidFill>
                  <a:srgbClr val="FF0000"/>
                </a:solidFill>
              </a:rPr>
              <a:t>and Kilborne </a:t>
            </a:r>
            <a:r>
              <a:rPr lang="en-US" dirty="0"/>
              <a:t>in the early </a:t>
            </a:r>
            <a:r>
              <a:rPr lang="en-US" dirty="0">
                <a:solidFill>
                  <a:srgbClr val="00B0F0"/>
                </a:solidFill>
              </a:rPr>
              <a:t>1890s</a:t>
            </a:r>
            <a:r>
              <a:rPr lang="en-US" dirty="0"/>
              <a:t> </a:t>
            </a:r>
            <a:r>
              <a:rPr lang="en-US" u="sng" dirty="0"/>
              <a:t>when they demonstrated that a </a:t>
            </a:r>
            <a:r>
              <a:rPr lang="en-US" u="sng" dirty="0">
                <a:solidFill>
                  <a:srgbClr val="00B050"/>
                </a:solidFill>
              </a:rPr>
              <a:t>tick</a:t>
            </a:r>
            <a:r>
              <a:rPr lang="en-US" u="sng" dirty="0"/>
              <a:t> served as the vector for the spreading of the protozoan parasite which causes </a:t>
            </a:r>
            <a:r>
              <a:rPr lang="en-US" u="sng" dirty="0">
                <a:solidFill>
                  <a:srgbClr val="7030A0"/>
                </a:solidFill>
              </a:rPr>
              <a:t>Texas fever in cattle</a:t>
            </a:r>
            <a:r>
              <a:rPr lang="en-US" u="sng" dirty="0"/>
              <a:t>.</a:t>
            </a:r>
          </a:p>
          <a:p>
            <a:pPr>
              <a:buFont typeface="Wingdings" pitchFamily="2" charset="2"/>
              <a:buChar char="v"/>
            </a:pPr>
            <a:endParaRPr lang="en-US" dirty="0"/>
          </a:p>
        </p:txBody>
      </p:sp>
    </p:spTree>
    <p:extLst>
      <p:ext uri="{BB962C8B-B14F-4D97-AF65-F5344CB8AC3E}">
        <p14:creationId xmlns:p14="http://schemas.microsoft.com/office/powerpoint/2010/main" val="206462982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solidFill>
                  <a:srgbClr val="7030A0"/>
                </a:solidFill>
              </a:rPr>
              <a:t>PARASITISM </a:t>
            </a:r>
            <a:r>
              <a:rPr lang="en-US" b="1" dirty="0">
                <a:solidFill>
                  <a:srgbClr val="7030A0"/>
                </a:solidFill>
              </a:rPr>
              <a:t>AS A MODE OF LIFE BY PARASITES</a:t>
            </a:r>
            <a:r>
              <a:rPr lang="en-US" dirty="0"/>
              <a:t/>
            </a:r>
            <a:br>
              <a:rPr lang="en-US" dirty="0"/>
            </a:br>
            <a:endParaRPr lang="en-US" dirty="0"/>
          </a:p>
        </p:txBody>
      </p:sp>
      <p:sp>
        <p:nvSpPr>
          <p:cNvPr id="3" name="Content Placeholder 2"/>
          <p:cNvSpPr>
            <a:spLocks noGrp="1"/>
          </p:cNvSpPr>
          <p:nvPr>
            <p:ph idx="1"/>
          </p:nvPr>
        </p:nvSpPr>
        <p:spPr/>
        <p:txBody>
          <a:bodyPr/>
          <a:lstStyle/>
          <a:p>
            <a:pPr lvl="0">
              <a:buFont typeface="Wingdings" pitchFamily="2" charset="2"/>
              <a:buChar char="v"/>
            </a:pPr>
            <a:r>
              <a:rPr lang="en-US" dirty="0"/>
              <a:t>Although the term suggests that the parasite is harmful to its host</a:t>
            </a:r>
          </a:p>
          <a:p>
            <a:pPr lvl="0">
              <a:buFont typeface="Wingdings" pitchFamily="2" charset="2"/>
              <a:buChar char="v"/>
            </a:pPr>
            <a:r>
              <a:rPr lang="en-US" u="sng" dirty="0"/>
              <a:t>A parasite seeks a delicate equilibrium with its host so that each tolerates the </a:t>
            </a:r>
            <a:r>
              <a:rPr lang="en-US" u="sng" dirty="0" smtClean="0"/>
              <a:t>other</a:t>
            </a:r>
          </a:p>
          <a:p>
            <a:pPr lvl="0">
              <a:buFont typeface="Wingdings" pitchFamily="2" charset="2"/>
              <a:buChar char="v"/>
            </a:pPr>
            <a:r>
              <a:rPr lang="en-US" dirty="0" smtClean="0"/>
              <a:t> </a:t>
            </a:r>
            <a:r>
              <a:rPr lang="en-US" dirty="0"/>
              <a:t>(</a:t>
            </a:r>
            <a:r>
              <a:rPr lang="en-US" dirty="0">
                <a:solidFill>
                  <a:srgbClr val="FF0000"/>
                </a:solidFill>
              </a:rPr>
              <a:t>the death of the host is detrimental to the parasite</a:t>
            </a:r>
            <a:r>
              <a:rPr lang="en-US" dirty="0"/>
              <a:t>; however, compare with the mode of life of a </a:t>
            </a:r>
            <a:r>
              <a:rPr lang="en-US" dirty="0">
                <a:solidFill>
                  <a:srgbClr val="C00000"/>
                </a:solidFill>
              </a:rPr>
              <a:t>Parasitoid</a:t>
            </a:r>
            <a:r>
              <a:rPr lang="en-US" dirty="0"/>
              <a:t>)</a:t>
            </a:r>
          </a:p>
          <a:p>
            <a:pPr>
              <a:buFont typeface="Wingdings" pitchFamily="2" charset="2"/>
              <a:buChar char="v"/>
            </a:pPr>
            <a:endParaRPr lang="en-US" dirty="0"/>
          </a:p>
        </p:txBody>
      </p:sp>
    </p:spTree>
    <p:extLst>
      <p:ext uri="{BB962C8B-B14F-4D97-AF65-F5344CB8AC3E}">
        <p14:creationId xmlns:p14="http://schemas.microsoft.com/office/powerpoint/2010/main" val="362864236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lvl="0">
              <a:buFont typeface="Wingdings" pitchFamily="2" charset="2"/>
              <a:buChar char="v"/>
            </a:pPr>
            <a:r>
              <a:rPr lang="en-US" u="sng" dirty="0"/>
              <a:t>If the balance is upset the host may spontaneously expel or destroy the parasite, or the host may succumb to the infection</a:t>
            </a:r>
          </a:p>
          <a:p>
            <a:pPr lvl="0">
              <a:buFont typeface="Wingdings" pitchFamily="2" charset="2"/>
              <a:buChar char="v"/>
            </a:pPr>
            <a:endParaRPr lang="en-US" dirty="0" smtClean="0"/>
          </a:p>
          <a:p>
            <a:pPr lvl="0">
              <a:buFont typeface="Wingdings" pitchFamily="2" charset="2"/>
              <a:buChar char="v"/>
            </a:pPr>
            <a:r>
              <a:rPr lang="en-US" dirty="0" smtClean="0"/>
              <a:t>To </a:t>
            </a:r>
            <a:r>
              <a:rPr lang="en-US" dirty="0"/>
              <a:t>achieve its objectives, </a:t>
            </a:r>
            <a:r>
              <a:rPr lang="en-US" u="sng" dirty="0">
                <a:solidFill>
                  <a:srgbClr val="FF0000"/>
                </a:solidFill>
              </a:rPr>
              <a:t>a parasite </a:t>
            </a:r>
            <a:r>
              <a:rPr lang="en-US" u="sng" dirty="0"/>
              <a:t>is adapted to live in/prefer specific niches, habitats or environments, on or within, its host.</a:t>
            </a:r>
          </a:p>
          <a:p>
            <a:pPr>
              <a:buFont typeface="Wingdings" pitchFamily="2" charset="2"/>
              <a:buChar char="v"/>
            </a:pPr>
            <a:endParaRPr lang="en-US" dirty="0"/>
          </a:p>
        </p:txBody>
      </p:sp>
    </p:spTree>
    <p:extLst>
      <p:ext uri="{BB962C8B-B14F-4D97-AF65-F5344CB8AC3E}">
        <p14:creationId xmlns:p14="http://schemas.microsoft.com/office/powerpoint/2010/main" val="10147298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solidFill>
                  <a:srgbClr val="0070C0"/>
                </a:solidFill>
              </a:rPr>
              <a:t>Niches</a:t>
            </a:r>
            <a:r>
              <a:rPr lang="en-US" b="1" dirty="0">
                <a:solidFill>
                  <a:srgbClr val="0070C0"/>
                </a:solidFill>
              </a:rPr>
              <a:t>, Habitats and Environments of Parasites on or within the host</a:t>
            </a:r>
            <a:r>
              <a:rPr lang="en-US" dirty="0"/>
              <a:t>.</a:t>
            </a:r>
            <a:br>
              <a:rPr lang="en-US" dirty="0"/>
            </a:br>
            <a:endParaRPr lang="en-US" dirty="0"/>
          </a:p>
        </p:txBody>
      </p:sp>
      <p:sp>
        <p:nvSpPr>
          <p:cNvPr id="3" name="Content Placeholder 2"/>
          <p:cNvSpPr>
            <a:spLocks noGrp="1"/>
          </p:cNvSpPr>
          <p:nvPr>
            <p:ph idx="1"/>
          </p:nvPr>
        </p:nvSpPr>
        <p:spPr/>
        <p:txBody>
          <a:bodyPr/>
          <a:lstStyle/>
          <a:p>
            <a:pPr lvl="0">
              <a:buFont typeface="Wingdings" pitchFamily="2" charset="2"/>
              <a:buChar char="v"/>
            </a:pPr>
            <a:r>
              <a:rPr lang="en-US" dirty="0">
                <a:solidFill>
                  <a:schemeClr val="accent6">
                    <a:lumMod val="75000"/>
                  </a:schemeClr>
                </a:solidFill>
              </a:rPr>
              <a:t>Parasitology</a:t>
            </a:r>
            <a:r>
              <a:rPr lang="en-US" dirty="0"/>
              <a:t> </a:t>
            </a:r>
            <a:r>
              <a:rPr lang="en-US" u="sng" dirty="0"/>
              <a:t>is essentially a branch of Ecology in which the habitat and environment of an organism (the parasite) is provided by another organism (the host).</a:t>
            </a:r>
          </a:p>
          <a:p>
            <a:pPr>
              <a:buFont typeface="Wingdings" pitchFamily="2" charset="2"/>
              <a:buChar char="v"/>
            </a:pPr>
            <a:endParaRPr lang="en-US" dirty="0"/>
          </a:p>
        </p:txBody>
      </p:sp>
    </p:spTree>
    <p:extLst>
      <p:ext uri="{BB962C8B-B14F-4D97-AF65-F5344CB8AC3E}">
        <p14:creationId xmlns:p14="http://schemas.microsoft.com/office/powerpoint/2010/main" val="291821165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solidFill>
                  <a:srgbClr val="0070C0"/>
                </a:solidFill>
              </a:rPr>
              <a:t>Niches, Habitats and Environments of Parasites on or within the host</a:t>
            </a:r>
            <a:r>
              <a:rPr lang="en-US" b="1" dirty="0">
                <a:solidFill>
                  <a:srgbClr val="0070C0"/>
                </a:solidFill>
              </a:rPr>
              <a:t> </a:t>
            </a:r>
            <a:r>
              <a:rPr lang="en-US" b="1" dirty="0" err="1" smtClean="0"/>
              <a:t>cont’t</a:t>
            </a:r>
            <a:r>
              <a:rPr lang="en-US" b="1" dirty="0" smtClean="0"/>
              <a:t/>
            </a:r>
            <a:br>
              <a:rPr lang="en-US" b="1" dirty="0" smtClean="0"/>
            </a:br>
            <a:endParaRPr lang="en-US" b="1" dirty="0"/>
          </a:p>
        </p:txBody>
      </p:sp>
      <p:sp>
        <p:nvSpPr>
          <p:cNvPr id="3" name="Content Placeholder 2"/>
          <p:cNvSpPr>
            <a:spLocks noGrp="1"/>
          </p:cNvSpPr>
          <p:nvPr>
            <p:ph idx="1"/>
          </p:nvPr>
        </p:nvSpPr>
        <p:spPr/>
        <p:txBody>
          <a:bodyPr/>
          <a:lstStyle/>
          <a:p>
            <a:pPr lvl="0">
              <a:buFont typeface="Wingdings" pitchFamily="2" charset="2"/>
              <a:buChar char="v"/>
            </a:pPr>
            <a:r>
              <a:rPr lang="en-US" dirty="0">
                <a:solidFill>
                  <a:schemeClr val="accent6">
                    <a:lumMod val="75000"/>
                  </a:schemeClr>
                </a:solidFill>
              </a:rPr>
              <a:t>Two different species of parasites </a:t>
            </a:r>
            <a:r>
              <a:rPr lang="en-US" dirty="0">
                <a:solidFill>
                  <a:srgbClr val="00B0F0"/>
                </a:solidFill>
              </a:rPr>
              <a:t>can occupy the same habitat </a:t>
            </a:r>
            <a:endParaRPr lang="en-US" dirty="0" smtClean="0">
              <a:solidFill>
                <a:srgbClr val="00B0F0"/>
              </a:solidFill>
            </a:endParaRPr>
          </a:p>
          <a:p>
            <a:pPr lvl="0">
              <a:buFont typeface="Wingdings" pitchFamily="2" charset="2"/>
              <a:buChar char="v"/>
            </a:pPr>
            <a:r>
              <a:rPr lang="en-US" dirty="0" smtClean="0"/>
              <a:t>(</a:t>
            </a:r>
            <a:r>
              <a:rPr lang="en-US" dirty="0"/>
              <a:t>e.g. the intestines of an animal) </a:t>
            </a:r>
            <a:r>
              <a:rPr lang="en-US" dirty="0">
                <a:solidFill>
                  <a:srgbClr val="FF33CC"/>
                </a:solidFill>
              </a:rPr>
              <a:t>while occupying different niches</a:t>
            </a:r>
            <a:r>
              <a:rPr lang="en-US" dirty="0"/>
              <a:t> </a:t>
            </a:r>
            <a:r>
              <a:rPr lang="en-US" dirty="0">
                <a:solidFill>
                  <a:srgbClr val="92D050"/>
                </a:solidFill>
              </a:rPr>
              <a:t>because one may use glucose for nutrition</a:t>
            </a:r>
            <a:r>
              <a:rPr lang="en-US" dirty="0"/>
              <a:t>, </a:t>
            </a:r>
            <a:r>
              <a:rPr lang="en-US" dirty="0">
                <a:solidFill>
                  <a:srgbClr val="C00000"/>
                </a:solidFill>
              </a:rPr>
              <a:t>whereas the other uses fructose</a:t>
            </a:r>
            <a:r>
              <a:rPr lang="en-US" dirty="0"/>
              <a:t>-</a:t>
            </a:r>
            <a:r>
              <a:rPr lang="en-US" dirty="0">
                <a:solidFill>
                  <a:srgbClr val="FF33CC"/>
                </a:solidFill>
              </a:rPr>
              <a:t>the two organisms thus occupy different nutritional niches</a:t>
            </a:r>
          </a:p>
          <a:p>
            <a:pPr>
              <a:buFont typeface="Wingdings" pitchFamily="2" charset="2"/>
              <a:buChar char="v"/>
            </a:pPr>
            <a:endParaRPr lang="en-US" dirty="0"/>
          </a:p>
        </p:txBody>
      </p:sp>
    </p:spTree>
    <p:extLst>
      <p:ext uri="{BB962C8B-B14F-4D97-AF65-F5344CB8AC3E}">
        <p14:creationId xmlns:p14="http://schemas.microsoft.com/office/powerpoint/2010/main" val="263557792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solidFill>
                  <a:srgbClr val="0070C0"/>
                </a:solidFill>
              </a:rPr>
              <a:t>Niches, Habitats and Environments of Parasites on or within the host </a:t>
            </a:r>
            <a:r>
              <a:rPr lang="en-US" b="1" dirty="0" err="1" smtClean="0"/>
              <a:t>cont’t</a:t>
            </a:r>
            <a:r>
              <a:rPr lang="en-US" b="1" dirty="0" smtClean="0"/>
              <a:t/>
            </a:r>
            <a:br>
              <a:rPr lang="en-US" b="1" dirty="0" smtClean="0"/>
            </a:br>
            <a:endParaRPr lang="en-US" dirty="0"/>
          </a:p>
        </p:txBody>
      </p:sp>
      <p:sp>
        <p:nvSpPr>
          <p:cNvPr id="3" name="Content Placeholder 2"/>
          <p:cNvSpPr>
            <a:spLocks noGrp="1"/>
          </p:cNvSpPr>
          <p:nvPr>
            <p:ph idx="1"/>
          </p:nvPr>
        </p:nvSpPr>
        <p:spPr/>
        <p:txBody>
          <a:bodyPr/>
          <a:lstStyle/>
          <a:p>
            <a:pPr lvl="0">
              <a:buFont typeface="Wingdings" pitchFamily="2" charset="2"/>
              <a:buChar char="v"/>
            </a:pPr>
            <a:r>
              <a:rPr lang="en-US" dirty="0"/>
              <a:t>A vast range of niches/ habitats/ environments are, therefore, available for occupation by parasites</a:t>
            </a:r>
          </a:p>
          <a:p>
            <a:pPr lvl="0">
              <a:buFont typeface="Wingdings" pitchFamily="2" charset="2"/>
              <a:buChar char="v"/>
            </a:pPr>
            <a:endParaRPr lang="en-US" dirty="0" smtClean="0"/>
          </a:p>
          <a:p>
            <a:pPr lvl="0">
              <a:buFont typeface="Wingdings" pitchFamily="2" charset="2"/>
              <a:buChar char="v"/>
            </a:pPr>
            <a:r>
              <a:rPr lang="en-US" dirty="0" smtClean="0">
                <a:solidFill>
                  <a:srgbClr val="00B050"/>
                </a:solidFill>
              </a:rPr>
              <a:t>In </a:t>
            </a:r>
            <a:r>
              <a:rPr lang="en-US" dirty="0">
                <a:solidFill>
                  <a:srgbClr val="00B050"/>
                </a:solidFill>
              </a:rPr>
              <a:t>Invertebrates</a:t>
            </a:r>
            <a:r>
              <a:rPr lang="en-US" dirty="0"/>
              <a:t>, the possible habitats include:</a:t>
            </a:r>
          </a:p>
          <a:p>
            <a:pPr lvl="0">
              <a:buFont typeface="Wingdings" pitchFamily="2" charset="2"/>
              <a:buChar char="ü"/>
            </a:pPr>
            <a:r>
              <a:rPr lang="en-US" dirty="0">
                <a:solidFill>
                  <a:schemeClr val="accent6">
                    <a:lumMod val="75000"/>
                  </a:schemeClr>
                </a:solidFill>
              </a:rPr>
              <a:t>Most tissues</a:t>
            </a:r>
          </a:p>
          <a:p>
            <a:pPr lvl="0">
              <a:buFont typeface="Wingdings" pitchFamily="2" charset="2"/>
              <a:buChar char="ü"/>
            </a:pPr>
            <a:r>
              <a:rPr lang="en-US" dirty="0">
                <a:solidFill>
                  <a:schemeClr val="accent6">
                    <a:lumMod val="75000"/>
                  </a:schemeClr>
                </a:solidFill>
              </a:rPr>
              <a:t>Reproductive system</a:t>
            </a:r>
          </a:p>
          <a:p>
            <a:pPr>
              <a:buFont typeface="Wingdings" pitchFamily="2" charset="2"/>
              <a:buChar char="ü"/>
            </a:pPr>
            <a:endParaRPr lang="en-US" dirty="0"/>
          </a:p>
        </p:txBody>
      </p:sp>
    </p:spTree>
    <p:extLst>
      <p:ext uri="{BB962C8B-B14F-4D97-AF65-F5344CB8AC3E}">
        <p14:creationId xmlns:p14="http://schemas.microsoft.com/office/powerpoint/2010/main" val="8220702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solidFill>
                  <a:srgbClr val="0070C0"/>
                </a:solidFill>
              </a:rPr>
              <a:t>Niches, Habitats and Environments of Parasites on or within the host </a:t>
            </a:r>
            <a:r>
              <a:rPr lang="en-US" b="1" dirty="0" smtClean="0"/>
              <a:t>con'td</a:t>
            </a:r>
            <a:br>
              <a:rPr lang="en-US" b="1" dirty="0" smtClean="0"/>
            </a:br>
            <a:endParaRPr lang="en-US" dirty="0"/>
          </a:p>
        </p:txBody>
      </p:sp>
      <p:sp>
        <p:nvSpPr>
          <p:cNvPr id="3" name="Content Placeholder 2"/>
          <p:cNvSpPr>
            <a:spLocks noGrp="1"/>
          </p:cNvSpPr>
          <p:nvPr>
            <p:ph idx="1"/>
          </p:nvPr>
        </p:nvSpPr>
        <p:spPr/>
        <p:txBody>
          <a:bodyPr/>
          <a:lstStyle/>
          <a:p>
            <a:pPr marL="0" lvl="0" indent="0">
              <a:buNone/>
            </a:pPr>
            <a:r>
              <a:rPr lang="en-US" dirty="0">
                <a:solidFill>
                  <a:srgbClr val="00B050"/>
                </a:solidFill>
              </a:rPr>
              <a:t>In Vertebrates </a:t>
            </a:r>
            <a:r>
              <a:rPr lang="en-US" dirty="0"/>
              <a:t>the habitats include:</a:t>
            </a:r>
          </a:p>
          <a:p>
            <a:pPr lvl="0">
              <a:buFont typeface="Wingdings" pitchFamily="2" charset="2"/>
              <a:buChar char="v"/>
            </a:pPr>
            <a:r>
              <a:rPr lang="en-US" dirty="0">
                <a:solidFill>
                  <a:srgbClr val="FF0000"/>
                </a:solidFill>
              </a:rPr>
              <a:t>Alimentary Canal</a:t>
            </a:r>
          </a:p>
          <a:p>
            <a:pPr lvl="0">
              <a:buFont typeface="Wingdings" pitchFamily="2" charset="2"/>
              <a:buChar char="ü"/>
            </a:pPr>
            <a:r>
              <a:rPr lang="en-US" u="sng" dirty="0"/>
              <a:t>Though most hazardous</a:t>
            </a:r>
          </a:p>
          <a:p>
            <a:pPr lvl="0">
              <a:buFont typeface="Wingdings" pitchFamily="2" charset="2"/>
              <a:buChar char="ü"/>
            </a:pPr>
            <a:r>
              <a:rPr lang="en-US" u="sng" dirty="0"/>
              <a:t>Dark </a:t>
            </a:r>
          </a:p>
          <a:p>
            <a:pPr lvl="0">
              <a:buFont typeface="Wingdings" pitchFamily="2" charset="2"/>
              <a:buChar char="ü"/>
            </a:pPr>
            <a:r>
              <a:rPr lang="en-US" u="sng" dirty="0"/>
              <a:t>Undergoes regular physiological changes relative to the feeding habitats of the host</a:t>
            </a:r>
            <a:r>
              <a:rPr lang="en-US" dirty="0"/>
              <a:t>.</a:t>
            </a:r>
          </a:p>
          <a:p>
            <a:endParaRPr lang="en-US" dirty="0"/>
          </a:p>
        </p:txBody>
      </p:sp>
    </p:spTree>
    <p:extLst>
      <p:ext uri="{BB962C8B-B14F-4D97-AF65-F5344CB8AC3E}">
        <p14:creationId xmlns:p14="http://schemas.microsoft.com/office/powerpoint/2010/main" val="256445233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solidFill>
                  <a:srgbClr val="0070C0"/>
                </a:solidFill>
              </a:rPr>
              <a:t>Niches, Habitats and Environments of Parasites on or within the host </a:t>
            </a:r>
            <a:r>
              <a:rPr lang="en-US" b="1" dirty="0" smtClean="0"/>
              <a:t>con'td</a:t>
            </a:r>
            <a:br>
              <a:rPr lang="en-US" b="1" dirty="0" smtClean="0"/>
            </a:br>
            <a:endParaRPr lang="en-US" dirty="0"/>
          </a:p>
        </p:txBody>
      </p:sp>
      <p:sp>
        <p:nvSpPr>
          <p:cNvPr id="3" name="Content Placeholder 2"/>
          <p:cNvSpPr>
            <a:spLocks noGrp="1"/>
          </p:cNvSpPr>
          <p:nvPr>
            <p:ph idx="1"/>
          </p:nvPr>
        </p:nvSpPr>
        <p:spPr/>
        <p:txBody>
          <a:bodyPr/>
          <a:lstStyle/>
          <a:p>
            <a:pPr lvl="0">
              <a:buFont typeface="Wingdings" pitchFamily="2" charset="2"/>
              <a:buChar char="v"/>
            </a:pPr>
            <a:r>
              <a:rPr lang="en-US" u="sng" dirty="0"/>
              <a:t>Contains a battery of proteins, fats and carbohydrate-splitting enzymes</a:t>
            </a:r>
          </a:p>
          <a:p>
            <a:pPr lvl="0">
              <a:buFont typeface="Wingdings" pitchFamily="2" charset="2"/>
              <a:buChar char="v"/>
            </a:pPr>
            <a:r>
              <a:rPr lang="en-US" u="sng" dirty="0"/>
              <a:t>pH of wide range</a:t>
            </a:r>
          </a:p>
          <a:p>
            <a:pPr lvl="0">
              <a:buFont typeface="Wingdings" pitchFamily="2" charset="2"/>
              <a:buChar char="v"/>
            </a:pPr>
            <a:r>
              <a:rPr lang="en-US" u="sng" dirty="0"/>
              <a:t>almost oxygen-free</a:t>
            </a:r>
          </a:p>
          <a:p>
            <a:pPr lvl="0">
              <a:buFont typeface="Wingdings" pitchFamily="2" charset="2"/>
              <a:buChar char="v"/>
            </a:pPr>
            <a:r>
              <a:rPr lang="en-US" u="sng" dirty="0"/>
              <a:t>may undergo violent </a:t>
            </a:r>
            <a:r>
              <a:rPr lang="en-US" u="sng" dirty="0" smtClean="0"/>
              <a:t>movements</a:t>
            </a:r>
          </a:p>
          <a:p>
            <a:pPr lvl="0">
              <a:buFont typeface="Wingdings" pitchFamily="2" charset="2"/>
              <a:buChar char="v"/>
            </a:pPr>
            <a:r>
              <a:rPr lang="en-US" u="sng" dirty="0" smtClean="0"/>
              <a:t>varied </a:t>
            </a:r>
            <a:r>
              <a:rPr lang="en-US" u="sng" dirty="0"/>
              <a:t>topography </a:t>
            </a:r>
            <a:r>
              <a:rPr lang="en-US" dirty="0"/>
              <a:t>e.g. size of villi, width and depth of crypts</a:t>
            </a:r>
          </a:p>
          <a:p>
            <a:pPr>
              <a:buFont typeface="Wingdings" pitchFamily="2" charset="2"/>
              <a:buChar char="v"/>
            </a:pPr>
            <a:endParaRPr lang="en-US" dirty="0"/>
          </a:p>
        </p:txBody>
      </p:sp>
    </p:spTree>
    <p:extLst>
      <p:ext uri="{BB962C8B-B14F-4D97-AF65-F5344CB8AC3E}">
        <p14:creationId xmlns:p14="http://schemas.microsoft.com/office/powerpoint/2010/main" val="107521927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solidFill>
                  <a:srgbClr val="0070C0"/>
                </a:solidFill>
              </a:rPr>
              <a:t>Niches, Habitats and Environments of Parasites on or within the host </a:t>
            </a:r>
            <a:r>
              <a:rPr lang="en-US" b="1" dirty="0" smtClean="0"/>
              <a:t>con'td</a:t>
            </a:r>
            <a:br>
              <a:rPr lang="en-US" b="1" dirty="0" smtClean="0"/>
            </a:br>
            <a:endParaRPr lang="en-US" dirty="0"/>
          </a:p>
        </p:txBody>
      </p:sp>
      <p:sp>
        <p:nvSpPr>
          <p:cNvPr id="3" name="Content Placeholder 2"/>
          <p:cNvSpPr>
            <a:spLocks noGrp="1"/>
          </p:cNvSpPr>
          <p:nvPr>
            <p:ph idx="1"/>
          </p:nvPr>
        </p:nvSpPr>
        <p:spPr/>
        <p:txBody>
          <a:bodyPr/>
          <a:lstStyle/>
          <a:p>
            <a:pPr lvl="0">
              <a:buFont typeface="Wingdings" pitchFamily="2" charset="2"/>
              <a:buChar char="v"/>
            </a:pPr>
            <a:r>
              <a:rPr lang="en-US" dirty="0"/>
              <a:t>the </a:t>
            </a:r>
            <a:r>
              <a:rPr lang="en-US" b="1" dirty="0"/>
              <a:t>most popular sites </a:t>
            </a:r>
            <a:r>
              <a:rPr lang="en-US" dirty="0"/>
              <a:t>for </a:t>
            </a:r>
            <a:r>
              <a:rPr lang="en-US" dirty="0">
                <a:solidFill>
                  <a:srgbClr val="FF0000"/>
                </a:solidFill>
              </a:rPr>
              <a:t>intestinal parasites </a:t>
            </a:r>
            <a:r>
              <a:rPr lang="en-US" dirty="0"/>
              <a:t>are the:</a:t>
            </a:r>
          </a:p>
          <a:p>
            <a:pPr marL="0" indent="0">
              <a:buNone/>
            </a:pPr>
            <a:r>
              <a:rPr lang="en-US" dirty="0" smtClean="0"/>
              <a:t>    - </a:t>
            </a:r>
            <a:r>
              <a:rPr lang="en-US" dirty="0">
                <a:solidFill>
                  <a:srgbClr val="7030A0"/>
                </a:solidFill>
              </a:rPr>
              <a:t>duodenum</a:t>
            </a:r>
            <a:r>
              <a:rPr lang="en-US" dirty="0"/>
              <a:t>  </a:t>
            </a:r>
          </a:p>
          <a:p>
            <a:pPr marL="0" indent="0">
              <a:buNone/>
            </a:pPr>
            <a:r>
              <a:rPr lang="en-US" dirty="0" smtClean="0"/>
              <a:t> </a:t>
            </a:r>
            <a:r>
              <a:rPr lang="en-US" dirty="0"/>
              <a:t> </a:t>
            </a:r>
            <a:r>
              <a:rPr lang="en-US" dirty="0" smtClean="0"/>
              <a:t> - </a:t>
            </a:r>
            <a:r>
              <a:rPr lang="en-US" dirty="0">
                <a:solidFill>
                  <a:srgbClr val="7030A0"/>
                </a:solidFill>
              </a:rPr>
              <a:t>ileum</a:t>
            </a:r>
            <a:r>
              <a:rPr lang="en-US" dirty="0"/>
              <a:t> </a:t>
            </a:r>
            <a:endParaRPr lang="en-US" dirty="0" smtClean="0"/>
          </a:p>
          <a:p>
            <a:pPr marL="0" indent="0">
              <a:buNone/>
            </a:pPr>
            <a:r>
              <a:rPr lang="en-US" dirty="0" smtClean="0"/>
              <a:t>   - </a:t>
            </a:r>
            <a:r>
              <a:rPr lang="en-US" dirty="0">
                <a:solidFill>
                  <a:srgbClr val="7030A0"/>
                </a:solidFill>
              </a:rPr>
              <a:t>large intestine</a:t>
            </a:r>
          </a:p>
          <a:p>
            <a:endParaRPr lang="en-US" dirty="0"/>
          </a:p>
        </p:txBody>
      </p:sp>
    </p:spTree>
    <p:extLst>
      <p:ext uri="{BB962C8B-B14F-4D97-AF65-F5344CB8AC3E}">
        <p14:creationId xmlns:p14="http://schemas.microsoft.com/office/powerpoint/2010/main" val="399605158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solidFill>
                  <a:srgbClr val="0070C0"/>
                </a:solidFill>
              </a:rPr>
              <a:t>Niches, Habitats and Environments of Parasites on or within the host</a:t>
            </a:r>
            <a:r>
              <a:rPr lang="en-US" b="1" dirty="0" smtClean="0"/>
              <a:t> </a:t>
            </a:r>
            <a:r>
              <a:rPr lang="en-US" b="1" dirty="0" err="1" smtClean="0"/>
              <a:t>cont’t</a:t>
            </a:r>
            <a:r>
              <a:rPr lang="en-US" b="1" dirty="0" smtClean="0"/>
              <a:t/>
            </a:r>
            <a:br>
              <a:rPr lang="en-US" b="1" dirty="0" smtClean="0"/>
            </a:br>
            <a:endParaRPr lang="en-US" dirty="0"/>
          </a:p>
        </p:txBody>
      </p:sp>
      <p:sp>
        <p:nvSpPr>
          <p:cNvPr id="3" name="Content Placeholder 2"/>
          <p:cNvSpPr>
            <a:spLocks noGrp="1"/>
          </p:cNvSpPr>
          <p:nvPr>
            <p:ph idx="1"/>
          </p:nvPr>
        </p:nvSpPr>
        <p:spPr/>
        <p:txBody>
          <a:bodyPr>
            <a:normAutofit lnSpcReduction="10000"/>
          </a:bodyPr>
          <a:lstStyle/>
          <a:p>
            <a:pPr marL="0" lvl="0" indent="0" algn="ctr">
              <a:buNone/>
            </a:pPr>
            <a:r>
              <a:rPr lang="en-US" b="1" dirty="0">
                <a:solidFill>
                  <a:srgbClr val="FF0000"/>
                </a:solidFill>
              </a:rPr>
              <a:t>Blood</a:t>
            </a:r>
          </a:p>
          <a:p>
            <a:pPr lvl="0">
              <a:buFont typeface="Wingdings" pitchFamily="2" charset="2"/>
              <a:buChar char="v"/>
            </a:pPr>
            <a:r>
              <a:rPr lang="en-US" dirty="0"/>
              <a:t>Quantity of soluble food varies with the feeding habitat of the host</a:t>
            </a:r>
          </a:p>
          <a:p>
            <a:pPr lvl="0">
              <a:buFont typeface="Wingdings" pitchFamily="2" charset="2"/>
              <a:buChar char="v"/>
            </a:pPr>
            <a:r>
              <a:rPr lang="en-US" dirty="0">
                <a:solidFill>
                  <a:srgbClr val="FF0000"/>
                </a:solidFill>
              </a:rPr>
              <a:t>Relatively poor medium for Cestodes </a:t>
            </a:r>
            <a:r>
              <a:rPr lang="en-US" dirty="0"/>
              <a:t>in search of </a:t>
            </a:r>
            <a:r>
              <a:rPr lang="en-US" dirty="0" smtClean="0"/>
              <a:t>absorbable </a:t>
            </a:r>
            <a:r>
              <a:rPr lang="en-US" dirty="0"/>
              <a:t>molecules such as amino acids, glucose, etc. </a:t>
            </a:r>
            <a:r>
              <a:rPr lang="en-US" u="sng" dirty="0"/>
              <a:t>compared to the duodenum</a:t>
            </a:r>
          </a:p>
          <a:p>
            <a:pPr lvl="0">
              <a:buFont typeface="Wingdings" pitchFamily="2" charset="2"/>
              <a:buChar char="v"/>
            </a:pPr>
            <a:r>
              <a:rPr lang="en-US" dirty="0">
                <a:solidFill>
                  <a:srgbClr val="92D050"/>
                </a:solidFill>
              </a:rPr>
              <a:t>A trematode, e.g. </a:t>
            </a:r>
            <a:r>
              <a:rPr lang="en-US" i="1" dirty="0">
                <a:solidFill>
                  <a:srgbClr val="92D050"/>
                </a:solidFill>
              </a:rPr>
              <a:t>Schistosoma</a:t>
            </a:r>
            <a:r>
              <a:rPr lang="en-US" dirty="0">
                <a:solidFill>
                  <a:srgbClr val="92D050"/>
                </a:solidFill>
              </a:rPr>
              <a:t> </a:t>
            </a:r>
            <a:r>
              <a:rPr lang="en-US" u="sng" dirty="0"/>
              <a:t>with a gut and well-developed digestive enzymes is able to obtain its nutritional needs in the blood</a:t>
            </a:r>
          </a:p>
          <a:p>
            <a:endParaRPr lang="en-US" dirty="0"/>
          </a:p>
        </p:txBody>
      </p:sp>
    </p:spTree>
    <p:extLst>
      <p:ext uri="{BB962C8B-B14F-4D97-AF65-F5344CB8AC3E}">
        <p14:creationId xmlns:p14="http://schemas.microsoft.com/office/powerpoint/2010/main" val="202326295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solidFill>
                  <a:srgbClr val="0070C0"/>
                </a:solidFill>
              </a:rPr>
              <a:t/>
            </a:r>
            <a:br>
              <a:rPr lang="en-US" b="1" dirty="0" smtClean="0">
                <a:solidFill>
                  <a:srgbClr val="0070C0"/>
                </a:solidFill>
              </a:rPr>
            </a:br>
            <a:r>
              <a:rPr lang="en-US" b="1" dirty="0" smtClean="0">
                <a:solidFill>
                  <a:srgbClr val="0070C0"/>
                </a:solidFill>
              </a:rPr>
              <a:t>Niches, Habitats and Environments of Parasites on or within the host</a:t>
            </a:r>
            <a:r>
              <a:rPr lang="en-US" b="1" dirty="0" smtClean="0"/>
              <a:t> con'td</a:t>
            </a:r>
            <a:br>
              <a:rPr lang="en-US" b="1" dirty="0" smtClean="0"/>
            </a:br>
            <a:endParaRPr lang="en-US" dirty="0"/>
          </a:p>
        </p:txBody>
      </p:sp>
      <p:sp>
        <p:nvSpPr>
          <p:cNvPr id="3" name="Content Placeholder 2"/>
          <p:cNvSpPr>
            <a:spLocks noGrp="1"/>
          </p:cNvSpPr>
          <p:nvPr>
            <p:ph idx="1"/>
          </p:nvPr>
        </p:nvSpPr>
        <p:spPr/>
        <p:txBody>
          <a:bodyPr/>
          <a:lstStyle/>
          <a:p>
            <a:pPr marL="0" lvl="0" indent="0" algn="ctr">
              <a:buNone/>
            </a:pPr>
            <a:r>
              <a:rPr lang="en-US" b="1" dirty="0">
                <a:solidFill>
                  <a:srgbClr val="FF0000"/>
                </a:solidFill>
              </a:rPr>
              <a:t>Skin</a:t>
            </a:r>
            <a:r>
              <a:rPr lang="en-US" b="1" dirty="0"/>
              <a:t> </a:t>
            </a:r>
          </a:p>
          <a:p>
            <a:pPr lvl="0">
              <a:buFont typeface="Wingdings" pitchFamily="2" charset="2"/>
              <a:buChar char="v"/>
            </a:pPr>
            <a:r>
              <a:rPr lang="en-US" u="sng" dirty="0"/>
              <a:t>Habitat for mostly </a:t>
            </a:r>
            <a:r>
              <a:rPr lang="en-US" u="sng" dirty="0">
                <a:solidFill>
                  <a:srgbClr val="00B050"/>
                </a:solidFill>
              </a:rPr>
              <a:t>ectoparasites</a:t>
            </a:r>
            <a:r>
              <a:rPr lang="en-US" u="sng" dirty="0"/>
              <a:t> and some </a:t>
            </a:r>
            <a:r>
              <a:rPr lang="en-US" u="sng" dirty="0">
                <a:solidFill>
                  <a:srgbClr val="00B050"/>
                </a:solidFill>
              </a:rPr>
              <a:t>arthropod parasites</a:t>
            </a:r>
          </a:p>
          <a:p>
            <a:pPr>
              <a:buFont typeface="Wingdings" pitchFamily="2" charset="2"/>
              <a:buChar char="v"/>
            </a:pPr>
            <a:endParaRPr lang="en-US" dirty="0"/>
          </a:p>
        </p:txBody>
      </p:sp>
    </p:spTree>
    <p:extLst>
      <p:ext uri="{BB962C8B-B14F-4D97-AF65-F5344CB8AC3E}">
        <p14:creationId xmlns:p14="http://schemas.microsoft.com/office/powerpoint/2010/main" val="347023529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solidFill>
                  <a:srgbClr val="0070C0"/>
                </a:solidFill>
              </a:rPr>
              <a:t>Niches, Habitats and Environments of Parasites on or within the host </a:t>
            </a:r>
            <a:r>
              <a:rPr lang="en-US" b="1" dirty="0" smtClean="0"/>
              <a:t>con'td</a:t>
            </a:r>
            <a:br>
              <a:rPr lang="en-US" b="1" dirty="0" smtClean="0"/>
            </a:br>
            <a:endParaRPr lang="en-US" dirty="0"/>
          </a:p>
        </p:txBody>
      </p:sp>
      <p:sp>
        <p:nvSpPr>
          <p:cNvPr id="3" name="Content Placeholder 2"/>
          <p:cNvSpPr>
            <a:spLocks noGrp="1"/>
          </p:cNvSpPr>
          <p:nvPr>
            <p:ph idx="1"/>
          </p:nvPr>
        </p:nvSpPr>
        <p:spPr/>
        <p:txBody>
          <a:bodyPr/>
          <a:lstStyle/>
          <a:p>
            <a:pPr marL="0" lvl="0" indent="0" algn="ctr">
              <a:buNone/>
            </a:pPr>
            <a:r>
              <a:rPr lang="en-US" b="1" dirty="0">
                <a:solidFill>
                  <a:srgbClr val="FF0000"/>
                </a:solidFill>
              </a:rPr>
              <a:t>Tissue / Organs</a:t>
            </a:r>
          </a:p>
          <a:p>
            <a:pPr lvl="0">
              <a:buFont typeface="Wingdings" pitchFamily="2" charset="2"/>
              <a:buChar char="v"/>
            </a:pPr>
            <a:r>
              <a:rPr lang="en-US" dirty="0">
                <a:solidFill>
                  <a:srgbClr val="92D050"/>
                </a:solidFill>
              </a:rPr>
              <a:t>Inhabited by some protozoans</a:t>
            </a:r>
            <a:r>
              <a:rPr lang="en-US" dirty="0"/>
              <a:t>, </a:t>
            </a:r>
            <a:r>
              <a:rPr lang="en-US" dirty="0">
                <a:solidFill>
                  <a:srgbClr val="92D050"/>
                </a:solidFill>
              </a:rPr>
              <a:t>helminths</a:t>
            </a:r>
            <a:r>
              <a:rPr lang="en-US" dirty="0"/>
              <a:t> (particularly </a:t>
            </a:r>
            <a:r>
              <a:rPr lang="en-US" dirty="0">
                <a:solidFill>
                  <a:srgbClr val="92D050"/>
                </a:solidFill>
              </a:rPr>
              <a:t>nematodes</a:t>
            </a:r>
            <a:r>
              <a:rPr lang="en-US" dirty="0"/>
              <a:t>)</a:t>
            </a:r>
          </a:p>
          <a:p>
            <a:pPr marL="0" indent="0">
              <a:buNone/>
            </a:pPr>
            <a:endParaRPr lang="en-US" dirty="0"/>
          </a:p>
        </p:txBody>
      </p:sp>
    </p:spTree>
    <p:extLst>
      <p:ext uri="{BB962C8B-B14F-4D97-AF65-F5344CB8AC3E}">
        <p14:creationId xmlns:p14="http://schemas.microsoft.com/office/powerpoint/2010/main" val="23784640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solidFill>
                  <a:schemeClr val="accent6">
                    <a:lumMod val="75000"/>
                  </a:schemeClr>
                </a:solidFill>
              </a:rPr>
              <a:t>Reproductive </a:t>
            </a:r>
            <a:r>
              <a:rPr lang="en-US" b="1" dirty="0">
                <a:solidFill>
                  <a:schemeClr val="accent6">
                    <a:lumMod val="75000"/>
                  </a:schemeClr>
                </a:solidFill>
              </a:rPr>
              <a:t>Potential of Parasites</a:t>
            </a:r>
            <a:r>
              <a:rPr lang="en-US" dirty="0"/>
              <a:t/>
            </a:r>
            <a:br>
              <a:rPr lang="en-US" dirty="0"/>
            </a:br>
            <a:endParaRPr lang="en-US" dirty="0"/>
          </a:p>
        </p:txBody>
      </p:sp>
      <p:sp>
        <p:nvSpPr>
          <p:cNvPr id="3" name="Content Placeholder 2"/>
          <p:cNvSpPr>
            <a:spLocks noGrp="1"/>
          </p:cNvSpPr>
          <p:nvPr>
            <p:ph idx="1"/>
          </p:nvPr>
        </p:nvSpPr>
        <p:spPr/>
        <p:txBody>
          <a:bodyPr/>
          <a:lstStyle/>
          <a:p>
            <a:r>
              <a:rPr lang="en-US" b="1" dirty="0"/>
              <a:t>This is determined by the</a:t>
            </a:r>
            <a:endParaRPr lang="en-US" dirty="0"/>
          </a:p>
          <a:p>
            <a:pPr lvl="0">
              <a:buFont typeface="Wingdings" pitchFamily="2" charset="2"/>
              <a:buChar char="v"/>
            </a:pPr>
            <a:r>
              <a:rPr lang="en-US" dirty="0">
                <a:solidFill>
                  <a:srgbClr val="00B0F0"/>
                </a:solidFill>
              </a:rPr>
              <a:t>Need to produce offspring to infect the next host</a:t>
            </a:r>
          </a:p>
          <a:p>
            <a:pPr lvl="0">
              <a:buFont typeface="Wingdings" pitchFamily="2" charset="2"/>
              <a:buChar char="v"/>
            </a:pPr>
            <a:r>
              <a:rPr lang="en-US" dirty="0"/>
              <a:t>Hence complete life cycles evolved, involving </a:t>
            </a:r>
            <a:r>
              <a:rPr lang="en-US" dirty="0">
                <a:solidFill>
                  <a:srgbClr val="00B0F0"/>
                </a:solidFill>
              </a:rPr>
              <a:t>intermediate hosts </a:t>
            </a:r>
            <a:r>
              <a:rPr lang="en-US" dirty="0"/>
              <a:t>and a </a:t>
            </a:r>
            <a:r>
              <a:rPr lang="en-US" dirty="0">
                <a:solidFill>
                  <a:srgbClr val="00B0F0"/>
                </a:solidFill>
              </a:rPr>
              <a:t>definitive host</a:t>
            </a:r>
          </a:p>
          <a:p>
            <a:pPr>
              <a:buFont typeface="Wingdings" pitchFamily="2" charset="2"/>
              <a:buChar char="v"/>
            </a:pPr>
            <a:endParaRPr lang="en-US" dirty="0"/>
          </a:p>
        </p:txBody>
      </p:sp>
    </p:spTree>
    <p:extLst>
      <p:ext uri="{BB962C8B-B14F-4D97-AF65-F5344CB8AC3E}">
        <p14:creationId xmlns:p14="http://schemas.microsoft.com/office/powerpoint/2010/main" val="377042246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solidFill>
                  <a:schemeClr val="accent6">
                    <a:lumMod val="75000"/>
                  </a:schemeClr>
                </a:solidFill>
              </a:rPr>
              <a:t>Reproductive Potential of Parasites </a:t>
            </a:r>
            <a:r>
              <a:rPr lang="en-US" b="1" dirty="0" smtClean="0"/>
              <a:t>cont’d</a:t>
            </a:r>
            <a:endParaRPr lang="en-US" dirty="0"/>
          </a:p>
        </p:txBody>
      </p:sp>
      <p:sp>
        <p:nvSpPr>
          <p:cNvPr id="3" name="Content Placeholder 2"/>
          <p:cNvSpPr>
            <a:spLocks noGrp="1"/>
          </p:cNvSpPr>
          <p:nvPr>
            <p:ph idx="1"/>
          </p:nvPr>
        </p:nvSpPr>
        <p:spPr/>
        <p:txBody>
          <a:bodyPr/>
          <a:lstStyle/>
          <a:p>
            <a:pPr lvl="0"/>
            <a:r>
              <a:rPr lang="en-US" u="sng" dirty="0"/>
              <a:t>Large numbers of offspring </a:t>
            </a:r>
            <a:r>
              <a:rPr lang="en-US" dirty="0"/>
              <a:t>(</a:t>
            </a:r>
            <a:r>
              <a:rPr lang="en-US" u="sng" dirty="0"/>
              <a:t>to make up for losses in hazardous environment</a:t>
            </a:r>
            <a:r>
              <a:rPr lang="en-US" dirty="0"/>
              <a:t>) </a:t>
            </a:r>
          </a:p>
          <a:p>
            <a:pPr lvl="0"/>
            <a:r>
              <a:rPr lang="en-US" dirty="0"/>
              <a:t>e.g.  reproduction by </a:t>
            </a:r>
            <a:r>
              <a:rPr lang="en-US" dirty="0">
                <a:solidFill>
                  <a:srgbClr val="00B0F0"/>
                </a:solidFill>
              </a:rPr>
              <a:t>multiple fission </a:t>
            </a:r>
            <a:r>
              <a:rPr lang="en-US" dirty="0"/>
              <a:t>or </a:t>
            </a:r>
            <a:r>
              <a:rPr lang="en-US" dirty="0">
                <a:solidFill>
                  <a:srgbClr val="00B0F0"/>
                </a:solidFill>
              </a:rPr>
              <a:t>schizogony</a:t>
            </a:r>
            <a:r>
              <a:rPr lang="en-US" dirty="0"/>
              <a:t> </a:t>
            </a:r>
            <a:r>
              <a:rPr lang="en-US" u="sng" dirty="0"/>
              <a:t>in parasitic protozoa</a:t>
            </a:r>
          </a:p>
          <a:p>
            <a:pPr lvl="0"/>
            <a:r>
              <a:rPr lang="en-US" u="sng" dirty="0"/>
              <a:t>a continuous replication of reproductive organs</a:t>
            </a:r>
            <a:r>
              <a:rPr lang="en-US" dirty="0"/>
              <a:t> (</a:t>
            </a:r>
            <a:r>
              <a:rPr lang="en-US" dirty="0">
                <a:solidFill>
                  <a:srgbClr val="00B0F0"/>
                </a:solidFill>
              </a:rPr>
              <a:t>strobilation</a:t>
            </a:r>
            <a:r>
              <a:rPr lang="en-US" dirty="0"/>
              <a:t>) in tapeworms</a:t>
            </a:r>
          </a:p>
          <a:p>
            <a:endParaRPr lang="en-US" dirty="0"/>
          </a:p>
        </p:txBody>
      </p:sp>
    </p:spTree>
    <p:extLst>
      <p:ext uri="{BB962C8B-B14F-4D97-AF65-F5344CB8AC3E}">
        <p14:creationId xmlns:p14="http://schemas.microsoft.com/office/powerpoint/2010/main" val="197960552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solidFill>
                  <a:schemeClr val="accent6">
                    <a:lumMod val="75000"/>
                  </a:schemeClr>
                </a:solidFill>
              </a:rPr>
              <a:t>Reproductive Potential of Parasites </a:t>
            </a:r>
            <a:r>
              <a:rPr lang="en-US" b="1" dirty="0" smtClean="0"/>
              <a:t>cont’d</a:t>
            </a:r>
            <a:endParaRPr lang="en-US" dirty="0"/>
          </a:p>
        </p:txBody>
      </p:sp>
      <p:sp>
        <p:nvSpPr>
          <p:cNvPr id="3" name="Content Placeholder 2"/>
          <p:cNvSpPr>
            <a:spLocks noGrp="1"/>
          </p:cNvSpPr>
          <p:nvPr>
            <p:ph idx="1"/>
          </p:nvPr>
        </p:nvSpPr>
        <p:spPr/>
        <p:txBody>
          <a:bodyPr/>
          <a:lstStyle/>
          <a:p>
            <a:pPr lvl="0">
              <a:buFont typeface="Wingdings" pitchFamily="2" charset="2"/>
              <a:buChar char="v"/>
            </a:pPr>
            <a:r>
              <a:rPr lang="en-US" u="sng" dirty="0"/>
              <a:t>solving the problem of mate-finding by possession of male and female reproductive systems </a:t>
            </a:r>
            <a:r>
              <a:rPr lang="en-US" dirty="0"/>
              <a:t>(</a:t>
            </a:r>
            <a:r>
              <a:rPr lang="en-US" dirty="0">
                <a:solidFill>
                  <a:srgbClr val="00B0F0"/>
                </a:solidFill>
              </a:rPr>
              <a:t>hermaphroditism</a:t>
            </a:r>
            <a:r>
              <a:rPr lang="en-US" dirty="0"/>
              <a:t>), e.g. in tapeworms</a:t>
            </a:r>
          </a:p>
          <a:p>
            <a:pPr lvl="0">
              <a:buFont typeface="Wingdings" pitchFamily="2" charset="2"/>
              <a:buChar char="v"/>
            </a:pPr>
            <a:r>
              <a:rPr lang="en-US" dirty="0">
                <a:solidFill>
                  <a:srgbClr val="00B0F0"/>
                </a:solidFill>
              </a:rPr>
              <a:t>production of numerous eggs</a:t>
            </a:r>
          </a:p>
          <a:p>
            <a:pPr lvl="0">
              <a:buFont typeface="Wingdings" pitchFamily="2" charset="2"/>
              <a:buChar char="ü"/>
            </a:pPr>
            <a:r>
              <a:rPr lang="en-US" dirty="0"/>
              <a:t>e.g.  the rat tapeworm, </a:t>
            </a:r>
            <a:r>
              <a:rPr lang="en-US" i="1" dirty="0"/>
              <a:t>Hymenolepis diminuta</a:t>
            </a:r>
            <a:endParaRPr lang="en-US" dirty="0"/>
          </a:p>
          <a:p>
            <a:pPr lvl="0">
              <a:buFont typeface="Wingdings" pitchFamily="2" charset="2"/>
              <a:buChar char="ü"/>
            </a:pPr>
            <a:r>
              <a:rPr lang="en-US" dirty="0"/>
              <a:t>the common roundworm,  </a:t>
            </a:r>
            <a:r>
              <a:rPr lang="en-US" i="1" dirty="0"/>
              <a:t>Ascaris</a:t>
            </a:r>
            <a:endParaRPr lang="en-US" dirty="0"/>
          </a:p>
          <a:p>
            <a:endParaRPr lang="en-US" dirty="0"/>
          </a:p>
        </p:txBody>
      </p:sp>
    </p:spTree>
    <p:extLst>
      <p:ext uri="{BB962C8B-B14F-4D97-AF65-F5344CB8AC3E}">
        <p14:creationId xmlns:p14="http://schemas.microsoft.com/office/powerpoint/2010/main" val="388631902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solidFill>
                  <a:schemeClr val="accent6">
                    <a:lumMod val="75000"/>
                  </a:schemeClr>
                </a:solidFill>
              </a:rPr>
              <a:t>Reproductive Potential of Parasites </a:t>
            </a:r>
            <a:r>
              <a:rPr lang="en-US" b="1" dirty="0" smtClean="0"/>
              <a:t>cont’d</a:t>
            </a:r>
            <a:endParaRPr lang="en-US" dirty="0"/>
          </a:p>
        </p:txBody>
      </p:sp>
      <p:sp>
        <p:nvSpPr>
          <p:cNvPr id="3" name="Content Placeholder 2"/>
          <p:cNvSpPr>
            <a:spLocks noGrp="1"/>
          </p:cNvSpPr>
          <p:nvPr>
            <p:ph idx="1"/>
          </p:nvPr>
        </p:nvSpPr>
        <p:spPr/>
        <p:txBody>
          <a:bodyPr/>
          <a:lstStyle/>
          <a:p>
            <a:pPr lvl="0">
              <a:buFont typeface="Wingdings" pitchFamily="2" charset="2"/>
              <a:buChar char="v"/>
            </a:pPr>
            <a:r>
              <a:rPr lang="en-US" dirty="0">
                <a:solidFill>
                  <a:srgbClr val="00B0F0"/>
                </a:solidFill>
              </a:rPr>
              <a:t>Asexual reproduction by simple mitotic fission</a:t>
            </a:r>
            <a:r>
              <a:rPr lang="en-US" dirty="0"/>
              <a:t>, e.g. in many protozoan parasites such as </a:t>
            </a:r>
            <a:r>
              <a:rPr lang="en-US" i="1" dirty="0"/>
              <a:t>Plasmodium sp.</a:t>
            </a:r>
            <a:r>
              <a:rPr lang="en-US" dirty="0"/>
              <a:t> (the cause of malaria).</a:t>
            </a:r>
          </a:p>
          <a:p>
            <a:pPr lvl="0">
              <a:buFont typeface="Wingdings" pitchFamily="2" charset="2"/>
              <a:buChar char="ü"/>
            </a:pPr>
            <a:r>
              <a:rPr lang="en-US" dirty="0"/>
              <a:t>Also, </a:t>
            </a:r>
            <a:r>
              <a:rPr lang="en-US" u="sng" dirty="0"/>
              <a:t>the </a:t>
            </a:r>
            <a:r>
              <a:rPr lang="en-US" u="sng" dirty="0" smtClean="0"/>
              <a:t>digenetic </a:t>
            </a:r>
            <a:r>
              <a:rPr lang="en-US" u="sng" dirty="0"/>
              <a:t>trematodes (e.g. the flukes (</a:t>
            </a:r>
            <a:r>
              <a:rPr lang="en-US" i="1" u="sng" dirty="0"/>
              <a:t>Schistosoma, Fasciola)</a:t>
            </a:r>
            <a:r>
              <a:rPr lang="en-US" u="sng" dirty="0"/>
              <a:t> with a series of reproductive stages, each multiplying the generation</a:t>
            </a:r>
            <a:r>
              <a:rPr lang="en-US" dirty="0"/>
              <a:t>.</a:t>
            </a:r>
          </a:p>
          <a:p>
            <a:pPr marL="0" indent="0">
              <a:buNone/>
            </a:pPr>
            <a:endParaRPr lang="en-US" dirty="0"/>
          </a:p>
        </p:txBody>
      </p:sp>
    </p:spTree>
    <p:extLst>
      <p:ext uri="{BB962C8B-B14F-4D97-AF65-F5344CB8AC3E}">
        <p14:creationId xmlns:p14="http://schemas.microsoft.com/office/powerpoint/2010/main" val="93152307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solidFill>
                  <a:schemeClr val="accent6">
                    <a:lumMod val="75000"/>
                  </a:schemeClr>
                </a:solidFill>
              </a:rPr>
              <a:t>Reproductive Potential of Parasites </a:t>
            </a:r>
            <a:r>
              <a:rPr lang="en-US" b="1" dirty="0" smtClean="0"/>
              <a:t>cont’d</a:t>
            </a:r>
            <a:endParaRPr lang="en-US" dirty="0"/>
          </a:p>
        </p:txBody>
      </p:sp>
      <p:sp>
        <p:nvSpPr>
          <p:cNvPr id="3" name="Content Placeholder 2"/>
          <p:cNvSpPr>
            <a:spLocks noGrp="1"/>
          </p:cNvSpPr>
          <p:nvPr>
            <p:ph idx="1"/>
          </p:nvPr>
        </p:nvSpPr>
        <p:spPr/>
        <p:txBody>
          <a:bodyPr/>
          <a:lstStyle/>
          <a:p>
            <a:pPr lvl="0">
              <a:buFont typeface="Wingdings" pitchFamily="2" charset="2"/>
              <a:buChar char="v"/>
            </a:pPr>
            <a:r>
              <a:rPr lang="en-US" dirty="0">
                <a:solidFill>
                  <a:srgbClr val="00B0F0"/>
                </a:solidFill>
              </a:rPr>
              <a:t>Production of resistant stages </a:t>
            </a:r>
            <a:r>
              <a:rPr lang="en-US" dirty="0"/>
              <a:t>such as:</a:t>
            </a:r>
          </a:p>
          <a:p>
            <a:pPr lvl="0">
              <a:buFont typeface="Wingdings" pitchFamily="2" charset="2"/>
              <a:buChar char="ü"/>
            </a:pPr>
            <a:r>
              <a:rPr lang="en-US" u="sng" dirty="0"/>
              <a:t>Cysts</a:t>
            </a:r>
          </a:p>
          <a:p>
            <a:pPr lvl="0">
              <a:buFont typeface="Wingdings" pitchFamily="2" charset="2"/>
              <a:buChar char="ü"/>
            </a:pPr>
            <a:r>
              <a:rPr lang="en-US" u="sng" dirty="0"/>
              <a:t>Spores</a:t>
            </a:r>
          </a:p>
          <a:p>
            <a:endParaRPr lang="en-US" dirty="0"/>
          </a:p>
        </p:txBody>
      </p:sp>
    </p:spTree>
    <p:extLst>
      <p:ext uri="{BB962C8B-B14F-4D97-AF65-F5344CB8AC3E}">
        <p14:creationId xmlns:p14="http://schemas.microsoft.com/office/powerpoint/2010/main" val="2458828592"/>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5258</TotalTime>
  <Words>3166</Words>
  <Application>Microsoft Office PowerPoint</Application>
  <PresentationFormat>On-screen Show (4:3)</PresentationFormat>
  <Paragraphs>271</Paragraphs>
  <Slides>67</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67</vt:i4>
      </vt:variant>
    </vt:vector>
  </HeadingPairs>
  <TitlesOfParts>
    <vt:vector size="71" baseType="lpstr">
      <vt:lpstr>Arial</vt:lpstr>
      <vt:lpstr>Calibri</vt:lpstr>
      <vt:lpstr>Wingdings</vt:lpstr>
      <vt:lpstr>Office Theme</vt:lpstr>
      <vt:lpstr>PARASITOLOGY  BIOL 460</vt:lpstr>
      <vt:lpstr>GENERAL LECTURE TOPICS  (General Overview)</vt:lpstr>
      <vt:lpstr>(General Overview)</vt:lpstr>
      <vt:lpstr>(General Overview)</vt:lpstr>
      <vt:lpstr>(General Overview)</vt:lpstr>
      <vt:lpstr>(General Overview)</vt:lpstr>
      <vt:lpstr>General Overview</vt:lpstr>
      <vt:lpstr>General Overview</vt:lpstr>
      <vt:lpstr> TERMINOLOGY IN PARASITOLOGY (DEFINITION OF TERMS) </vt:lpstr>
      <vt:lpstr>DEFINITION OF TERMS CONT’D</vt:lpstr>
      <vt:lpstr>INTRO CONT’D</vt:lpstr>
      <vt:lpstr>INTRO CONT’D</vt:lpstr>
      <vt:lpstr>INTRO CONT’D</vt:lpstr>
      <vt:lpstr>INTRO CONT’D</vt:lpstr>
      <vt:lpstr>INTRO CONT’D</vt:lpstr>
      <vt:lpstr>INTRO CONT’D</vt:lpstr>
      <vt:lpstr>INTRO CONT’D</vt:lpstr>
      <vt:lpstr> Parasitism and Predation </vt:lpstr>
      <vt:lpstr>Parasitism and Predation Cont’d</vt:lpstr>
      <vt:lpstr>Parasitism and Predation Cont’d</vt:lpstr>
      <vt:lpstr>Parasitism and Predation Cont’d</vt:lpstr>
      <vt:lpstr>Parasitism and Predation Cont’d</vt:lpstr>
      <vt:lpstr>Parasitism and Predation Cont’d</vt:lpstr>
      <vt:lpstr>Parasitism and Predation Cont’d</vt:lpstr>
      <vt:lpstr>Parasitism and Predation Cont’d</vt:lpstr>
      <vt:lpstr>Parasitism and Predation Cont’d</vt:lpstr>
      <vt:lpstr>Parasitism and Predation Cont’d</vt:lpstr>
      <vt:lpstr>Parasitism and Predation Cont’d</vt:lpstr>
      <vt:lpstr>Parasitism and Predation Cont’d</vt:lpstr>
      <vt:lpstr>Parasitism and Predation Cont’d</vt:lpstr>
      <vt:lpstr>Parasitism and Predation Cont’d</vt:lpstr>
      <vt:lpstr>SOME ECOLOGICAL AND EPIDEMIOLOGICAL TERMINOLOGY IN PARASITOLOGY</vt:lpstr>
      <vt:lpstr>Some Ecological and Epidemiological Terms in Parasitology Cont’d</vt:lpstr>
      <vt:lpstr>Some Ecological and Epidemiological Terms in Parasitology Cont’d</vt:lpstr>
      <vt:lpstr>Some Ecological and Epidemiological Terms in Parasitology Cont’d</vt:lpstr>
      <vt:lpstr>Some Ecological and Epidemiological Terms in Parasitology Cont’d</vt:lpstr>
      <vt:lpstr>Some Ecological and Epidemiological Terms in Parasitology Cont’d</vt:lpstr>
      <vt:lpstr>Some Ecological and Epidemiological Terms in Parasitology Cont’d</vt:lpstr>
      <vt:lpstr>Some Ecological and Epidemiological Terms in Parasitology Cont’d</vt:lpstr>
      <vt:lpstr>Some Ecological and Epidemiological Terms in Parasitology Cont’d</vt:lpstr>
      <vt:lpstr>Some Ecological and Epidemiological Terms in Parasitology Cont’d</vt:lpstr>
      <vt:lpstr>Some Ecological and Epidemiological Terms in Parasitology Cont’d</vt:lpstr>
      <vt:lpstr>Means of transmission of Pathogens</vt:lpstr>
      <vt:lpstr>Means of transmission of Pathogens Cont’d</vt:lpstr>
      <vt:lpstr>Means of transmission of Pathogens Cont’d</vt:lpstr>
      <vt:lpstr>Means of transmission of Pathogens Cont’d</vt:lpstr>
      <vt:lpstr>Means of transmission of Pathogens Cont’d</vt:lpstr>
      <vt:lpstr>Means of transmission of Pathogens Cont’d</vt:lpstr>
      <vt:lpstr>Means of transmission of Pathogens Cont’d</vt:lpstr>
      <vt:lpstr>Means of transmission of Pathogens Cont’d</vt:lpstr>
      <vt:lpstr>Means of transmission of Pathogens Cont’d</vt:lpstr>
      <vt:lpstr> PARASITISM AS A MODE OF LIFE BY PARASITES </vt:lpstr>
      <vt:lpstr>PowerPoint Presentation</vt:lpstr>
      <vt:lpstr> Niches, Habitats and Environments of Parasites on or within the host. </vt:lpstr>
      <vt:lpstr> Niches, Habitats and Environments of Parasites on or within the host cont’t </vt:lpstr>
      <vt:lpstr> Niches, Habitats and Environments of Parasites on or within the host cont’t </vt:lpstr>
      <vt:lpstr> Niches, Habitats and Environments of Parasites on or within the host con'td </vt:lpstr>
      <vt:lpstr> Niches, Habitats and Environments of Parasites on or within the host con'td </vt:lpstr>
      <vt:lpstr> Niches, Habitats and Environments of Parasites on or within the host con'td </vt:lpstr>
      <vt:lpstr> Niches, Habitats and Environments of Parasites on or within the host cont’t </vt:lpstr>
      <vt:lpstr> Niches, Habitats and Environments of Parasites on or within the host con'td </vt:lpstr>
      <vt:lpstr> Niches, Habitats and Environments of Parasites on or within the host con'td </vt:lpstr>
      <vt:lpstr> Reproductive Potential of Parasites </vt:lpstr>
      <vt:lpstr>Reproductive Potential of Parasites cont’d</vt:lpstr>
      <vt:lpstr>Reproductive Potential of Parasites cont’d</vt:lpstr>
      <vt:lpstr>Reproductive Potential of Parasites cont’d</vt:lpstr>
      <vt:lpstr>Reproductive Potential of Parasites cont’d</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PARASITOLOGY BIOL 460</dc:title>
  <dc:creator>PROFESSOR LAWSON</dc:creator>
  <cp:lastModifiedBy>E6410</cp:lastModifiedBy>
  <cp:revision>64</cp:revision>
  <dcterms:created xsi:type="dcterms:W3CDTF">2018-01-16T11:02:08Z</dcterms:created>
  <dcterms:modified xsi:type="dcterms:W3CDTF">2020-04-17T21:55:44Z</dcterms:modified>
</cp:coreProperties>
</file>