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7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5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7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7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0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0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0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4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6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6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3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9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57369-44DE-4360-B8AD-BA461F119912}" type="datetimeFigureOut">
              <a:rPr lang="en-US" smtClean="0"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2C730-FDCE-47E3-BDD8-68FD26B1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7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PARASITOLOGY (BIOL 460)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8 B</a:t>
            </a:r>
          </a:p>
          <a:p>
            <a:r>
              <a:rPr lang="en-US" dirty="0" smtClean="0"/>
              <a:t>PARASITIC INSECTS-FLEAS (Order </a:t>
            </a:r>
            <a:r>
              <a:rPr lang="en-US" dirty="0" err="1" smtClean="0"/>
              <a:t>Siphonaptera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56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Parasitic Insects: Fleas (Order </a:t>
            </a:r>
            <a:r>
              <a:rPr lang="en-US" b="1" dirty="0" err="1" smtClean="0"/>
              <a:t>Siphonaptera</a:t>
            </a:r>
            <a:r>
              <a:rPr lang="en-US" b="1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Of </a:t>
            </a:r>
            <a:r>
              <a:rPr lang="en-US" dirty="0"/>
              <a:t>all of humanity’s major diseases and important insect pests, the combination of flea and plague bacillus has had the greatest impact on human history.</a:t>
            </a:r>
          </a:p>
          <a:p>
            <a:pPr lvl="0"/>
            <a:r>
              <a:rPr lang="en-US" dirty="0"/>
              <a:t>Fleas are small insects in length, from less than a millimeter to a few millimeters.</a:t>
            </a:r>
          </a:p>
          <a:p>
            <a:pPr lvl="0"/>
            <a:r>
              <a:rPr lang="en-US" dirty="0"/>
              <a:t>There are about 2500 species, most of which are parasites of mammals and about 100 species are of birds.</a:t>
            </a:r>
          </a:p>
          <a:p>
            <a:pPr lvl="0"/>
            <a:r>
              <a:rPr lang="en-US" dirty="0"/>
              <a:t>They are heavily sclerotized, bilaterally flattened and secondarily wingless-evolutionary loss of wings is a common feature of parasitic </a:t>
            </a:r>
            <a:r>
              <a:rPr lang="en-US" dirty="0" smtClean="0"/>
              <a:t>insects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54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152400"/>
            <a:ext cx="8610600" cy="7010400"/>
          </a:xfrm>
        </p:spPr>
      </p:pic>
    </p:spTree>
    <p:extLst>
      <p:ext uri="{BB962C8B-B14F-4D97-AF65-F5344CB8AC3E}">
        <p14:creationId xmlns:p14="http://schemas.microsoft.com/office/powerpoint/2010/main" val="237629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Parasitic Insects: Fleas (Order </a:t>
            </a:r>
            <a:r>
              <a:rPr lang="en-US" b="1" dirty="0" err="1" smtClean="0"/>
              <a:t>Siphonaptera</a:t>
            </a:r>
            <a:r>
              <a:rPr lang="en-US" b="1" dirty="0" smtClean="0"/>
              <a:t>)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Fleas are commonly reddish-brown to black but some are tan or yellow</a:t>
            </a:r>
          </a:p>
          <a:p>
            <a:pPr lvl="0"/>
            <a:r>
              <a:rPr lang="en-US" dirty="0"/>
              <a:t>Their mouthparts are of the piercing-sucking type</a:t>
            </a:r>
          </a:p>
          <a:p>
            <a:pPr lvl="0"/>
            <a:r>
              <a:rPr lang="en-US" dirty="0"/>
              <a:t>Adults feed exclusively on blood</a:t>
            </a:r>
          </a:p>
          <a:p>
            <a:pPr lvl="0"/>
            <a:r>
              <a:rPr lang="en-US" dirty="0"/>
              <a:t>Larvae usually are not parasitic but feed on debris and materials associated with the nest or surroundings of the host, especially </a:t>
            </a:r>
            <a:r>
              <a:rPr lang="en-US" dirty="0" err="1"/>
              <a:t>faeces</a:t>
            </a:r>
            <a:r>
              <a:rPr lang="en-US" dirty="0"/>
              <a:t> of adult fleas</a:t>
            </a:r>
          </a:p>
          <a:p>
            <a:pPr lvl="0"/>
            <a:r>
              <a:rPr lang="en-US" dirty="0"/>
              <a:t>Fleas move by a characteristic jumping </a:t>
            </a:r>
            <a:r>
              <a:rPr lang="en-US" dirty="0" smtClean="0"/>
              <a:t>mechanism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2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Parasitic Insects: Fleas (Order </a:t>
            </a:r>
            <a:r>
              <a:rPr lang="en-US" b="1" dirty="0" err="1" smtClean="0"/>
              <a:t>Siphonaptera</a:t>
            </a:r>
            <a:r>
              <a:rPr lang="en-US" b="1" dirty="0" smtClean="0"/>
              <a:t>)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Morphology</a:t>
            </a:r>
            <a:endParaRPr lang="en-US" dirty="0"/>
          </a:p>
          <a:p>
            <a:pPr lvl="0"/>
            <a:r>
              <a:rPr lang="en-US" dirty="0"/>
              <a:t>The head of a flea is broadly joined to its thorax and often bears a general </a:t>
            </a:r>
            <a:r>
              <a:rPr lang="en-US" dirty="0" err="1"/>
              <a:t>ctenidium</a:t>
            </a:r>
            <a:r>
              <a:rPr lang="en-US" dirty="0"/>
              <a:t>. </a:t>
            </a:r>
            <a:endParaRPr lang="en-US" dirty="0" smtClean="0"/>
          </a:p>
          <a:p>
            <a:pPr lvl="0"/>
            <a:r>
              <a:rPr lang="en-US" dirty="0" err="1" smtClean="0"/>
              <a:t>Ctenidia</a:t>
            </a:r>
            <a:r>
              <a:rPr lang="en-US" dirty="0" smtClean="0"/>
              <a:t> </a:t>
            </a:r>
            <a:r>
              <a:rPr lang="en-US" dirty="0"/>
              <a:t>are series of rather stout, </a:t>
            </a:r>
            <a:r>
              <a:rPr lang="en-US" dirty="0" err="1"/>
              <a:t>peglike</a:t>
            </a:r>
            <a:r>
              <a:rPr lang="en-US" dirty="0"/>
              <a:t> spines often found on the posterior margin of the first thoracic </a:t>
            </a:r>
            <a:r>
              <a:rPr lang="en-US" dirty="0" err="1"/>
              <a:t>tergite</a:t>
            </a:r>
            <a:r>
              <a:rPr lang="en-US" dirty="0"/>
              <a:t> (</a:t>
            </a:r>
            <a:r>
              <a:rPr lang="en-US" dirty="0" err="1"/>
              <a:t>pronotal</a:t>
            </a:r>
            <a:r>
              <a:rPr lang="en-US" dirty="0"/>
              <a:t> </a:t>
            </a:r>
            <a:r>
              <a:rPr lang="en-US" dirty="0" err="1"/>
              <a:t>ctenidium</a:t>
            </a:r>
            <a:r>
              <a:rPr lang="en-US" dirty="0"/>
              <a:t>), as well as on the head.</a:t>
            </a:r>
          </a:p>
          <a:p>
            <a:pPr lvl="0"/>
            <a:r>
              <a:rPr lang="en-US" dirty="0" err="1"/>
              <a:t>Ctenidia</a:t>
            </a:r>
            <a:r>
              <a:rPr lang="en-US" dirty="0"/>
              <a:t> and backwardly directed body </a:t>
            </a:r>
            <a:r>
              <a:rPr lang="en-US" dirty="0" err="1"/>
              <a:t>setas</a:t>
            </a:r>
            <a:r>
              <a:rPr lang="en-US" dirty="0"/>
              <a:t> are adaptations that help a flea retain itself among the fur or feathers of its host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05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Parasitic Insects: Fleas (Order </a:t>
            </a:r>
            <a:r>
              <a:rPr lang="en-US" b="1" dirty="0" err="1" smtClean="0"/>
              <a:t>Siphonaptera</a:t>
            </a:r>
            <a:r>
              <a:rPr lang="en-US" b="1" dirty="0" smtClean="0"/>
              <a:t>)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The width of the space between adjacent spine tips in </a:t>
            </a:r>
            <a:r>
              <a:rPr lang="en-US" dirty="0" err="1" smtClean="0"/>
              <a:t>ctenidia</a:t>
            </a:r>
            <a:r>
              <a:rPr lang="en-US" dirty="0" smtClean="0"/>
              <a:t> of a particular species of flea is correlated to the diameter of the hairs of its usual host, being slightly wider than the maximal diameter of its host’s hair.</a:t>
            </a:r>
          </a:p>
          <a:p>
            <a:pPr lvl="0"/>
            <a:r>
              <a:rPr lang="en-US" dirty="0"/>
              <a:t>Thus, in backward movement, hairs tend to catch between </a:t>
            </a:r>
            <a:r>
              <a:rPr lang="en-US" dirty="0" err="1"/>
              <a:t>ctenidial</a:t>
            </a:r>
            <a:r>
              <a:rPr lang="en-US" dirty="0"/>
              <a:t> spines producing some resistance.</a:t>
            </a:r>
          </a:p>
          <a:p>
            <a:pPr lvl="0"/>
            <a:r>
              <a:rPr lang="en-US" dirty="0"/>
              <a:t>Because of this resistance to being dragged backwards, removal of a flea by host grooming or preening is relatively difficult.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9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Parasitic Insects: Fleas (Order </a:t>
            </a:r>
            <a:r>
              <a:rPr lang="en-US" b="1" dirty="0" err="1" smtClean="0"/>
              <a:t>Siphonaptera</a:t>
            </a:r>
            <a:r>
              <a:rPr lang="en-US" b="1" dirty="0" smtClean="0"/>
              <a:t>)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However, these structures do not impede the forward movement of the flea between the hairs of the host.</a:t>
            </a:r>
          </a:p>
          <a:p>
            <a:pPr lvl="0"/>
            <a:r>
              <a:rPr lang="en-US" dirty="0"/>
              <a:t>Eyes, when present, are simple and have a single, small lens, </a:t>
            </a:r>
            <a:r>
              <a:rPr lang="en-US" dirty="0" err="1"/>
              <a:t>ocelli</a:t>
            </a:r>
            <a:r>
              <a:rPr lang="en-US" dirty="0"/>
              <a:t> are absent.</a:t>
            </a:r>
          </a:p>
          <a:p>
            <a:pPr lvl="0"/>
            <a:r>
              <a:rPr lang="en-US" dirty="0"/>
              <a:t>There is a peculiar sensory organ near the posterior end called the PYGIDIUM that apparently functions to detect air currents.</a:t>
            </a:r>
          </a:p>
          <a:p>
            <a:pPr lvl="0"/>
            <a:r>
              <a:rPr lang="en-US" dirty="0"/>
              <a:t>Fleas have strong </a:t>
            </a:r>
            <a:r>
              <a:rPr lang="en-US" dirty="0" err="1"/>
              <a:t>hindlegs</a:t>
            </a:r>
            <a:r>
              <a:rPr lang="en-US" dirty="0"/>
              <a:t>, much larger than the other two pairs and are modified for jumping.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8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Development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Development </a:t>
            </a:r>
            <a:r>
              <a:rPr lang="en-US" dirty="0"/>
              <a:t>of fleas is </a:t>
            </a:r>
            <a:r>
              <a:rPr lang="en-US" dirty="0" err="1"/>
              <a:t>holometabolous</a:t>
            </a:r>
            <a:r>
              <a:rPr lang="en-US" dirty="0"/>
              <a:t> and larvae, thus, are quite different in form and habits from adults.</a:t>
            </a:r>
          </a:p>
          <a:p>
            <a:pPr lvl="0"/>
            <a:r>
              <a:rPr lang="en-US" dirty="0"/>
              <a:t>Females usually oviposit while on a host but the eggs are not sticky and so drop off, typically into the nest or hair, where there is a supply of detritus and flea </a:t>
            </a:r>
            <a:r>
              <a:rPr lang="en-US" dirty="0" err="1"/>
              <a:t>faeces</a:t>
            </a:r>
            <a:r>
              <a:rPr lang="en-US" dirty="0"/>
              <a:t> on which larvae feed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Development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High humidity tends to </a:t>
            </a:r>
            <a:r>
              <a:rPr lang="en-US" dirty="0" err="1" smtClean="0"/>
              <a:t>favour</a:t>
            </a:r>
            <a:r>
              <a:rPr lang="en-US" dirty="0" smtClean="0"/>
              <a:t> egg laying; under </a:t>
            </a:r>
            <a:r>
              <a:rPr lang="en-US" dirty="0" err="1" smtClean="0"/>
              <a:t>favourable</a:t>
            </a:r>
            <a:r>
              <a:rPr lang="en-US" dirty="0" smtClean="0"/>
              <a:t> conditions eggs hatch in 2-21 days;</a:t>
            </a:r>
          </a:p>
          <a:p>
            <a:pPr lvl="0"/>
            <a:r>
              <a:rPr lang="en-US" dirty="0" smtClean="0"/>
              <a:t> there are three (usually) larval instars that take 9-15 days and pupae take a week to complete development.</a:t>
            </a:r>
          </a:p>
          <a:p>
            <a:pPr lvl="0"/>
            <a:r>
              <a:rPr lang="en-US" dirty="0"/>
              <a:t>Low temperature and those as high as a host’s body temperature retard development; low temperature can extend larval period to more than 200 days and </a:t>
            </a:r>
            <a:r>
              <a:rPr lang="en-US" dirty="0" err="1"/>
              <a:t>pupal</a:t>
            </a:r>
            <a:r>
              <a:rPr lang="en-US" dirty="0"/>
              <a:t> stage to nearly a year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Development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Larval cannot close their spiracles, hence, are sensitive to low humidity</a:t>
            </a:r>
            <a:r>
              <a:rPr lang="en-US" dirty="0" smtClean="0"/>
              <a:t>;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they are white, legless, and eyeless, resembling maggots of some </a:t>
            </a:r>
            <a:r>
              <a:rPr lang="en-US" dirty="0" err="1"/>
              <a:t>Diptera</a:t>
            </a:r>
            <a:r>
              <a:rPr lang="en-US" dirty="0"/>
              <a:t>; </a:t>
            </a:r>
            <a:endParaRPr lang="en-US" dirty="0" smtClean="0"/>
          </a:p>
          <a:p>
            <a:pPr lvl="0"/>
            <a:r>
              <a:rPr lang="en-US" dirty="0" smtClean="0"/>
              <a:t>they </a:t>
            </a:r>
            <a:r>
              <a:rPr lang="en-US" dirty="0"/>
              <a:t>have chewing mouthparts and stout body hairs</a:t>
            </a:r>
          </a:p>
          <a:p>
            <a:r>
              <a:rPr lang="en-US" dirty="0"/>
              <a:t>Pupae spin loose silken cocoons from salivary secretions, using debris from their surroundings and incorporating it into the cocoon</a:t>
            </a:r>
          </a:p>
        </p:txBody>
      </p:sp>
    </p:spTree>
    <p:extLst>
      <p:ext uri="{BB962C8B-B14F-4D97-AF65-F5344CB8AC3E}">
        <p14:creationId xmlns:p14="http://schemas.microsoft.com/office/powerpoint/2010/main" val="198386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Development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common with other lain parasites such as bedbugs and in contrast with lice, fleas can survive long periods as adults without food, particularly under conditions of high </a:t>
            </a:r>
            <a:r>
              <a:rPr lang="en-US" dirty="0" smtClean="0"/>
              <a:t>humidity.</a:t>
            </a:r>
          </a:p>
          <a:p>
            <a:pPr lvl="0"/>
            <a:r>
              <a:rPr lang="en-US" dirty="0" smtClean="0"/>
              <a:t>Such </a:t>
            </a:r>
            <a:r>
              <a:rPr lang="en-US" dirty="0"/>
              <a:t>longevity has epidemiological importance because it allows flea-transmitted pathogens to survive long periods when vertebrate hosts are absent.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98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Host Specificity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Although </a:t>
            </a:r>
            <a:r>
              <a:rPr lang="en-US" dirty="0"/>
              <a:t>fleas may have preference for certain hosts, they are not generally host-specific</a:t>
            </a:r>
          </a:p>
          <a:p>
            <a:pPr lvl="0"/>
            <a:r>
              <a:rPr lang="en-US" dirty="0"/>
              <a:t>Most can transfer from a main host to another or to a host of a different species</a:t>
            </a:r>
            <a:r>
              <a:rPr lang="en-US" dirty="0" smtClean="0"/>
              <a:t>;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their common names, such as rat flea, chicken flea, human flea, refer to their preferred host and do not imply they attack/ live on that host exclusively.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Host Specificity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There are over 50 genera of fleas of medical importance globally.</a:t>
            </a:r>
          </a:p>
          <a:p>
            <a:pPr lvl="0"/>
            <a:r>
              <a:rPr lang="en-US" dirty="0"/>
              <a:t>Fleas are grouped into four categories on the basis of the degree of attachment to a host: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US" dirty="0"/>
              <a:t>Those that are seldom on a host but occur abundantly in the nest of the host, e.g. some rat fleas e.g. </a:t>
            </a:r>
            <a:r>
              <a:rPr lang="en-US" b="1" dirty="0" err="1"/>
              <a:t>Conorhinopsylla</a:t>
            </a:r>
            <a:r>
              <a:rPr lang="en-US" dirty="0"/>
              <a:t> and </a:t>
            </a:r>
            <a:r>
              <a:rPr lang="en-US" b="1" dirty="0" err="1"/>
              <a:t>Megarthroglossus</a:t>
            </a:r>
            <a:r>
              <a:rPr lang="en-US" b="1" dirty="0"/>
              <a:t> spp.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4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Host Specificity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smtClean="0"/>
              <a:t>II. Those </a:t>
            </a:r>
            <a:r>
              <a:rPr lang="en-US" dirty="0"/>
              <a:t>which spend most of their time on the host as adults, but can transfer easily from one host to </a:t>
            </a:r>
            <a:r>
              <a:rPr lang="en-US" dirty="0" smtClean="0"/>
              <a:t>another.</a:t>
            </a:r>
          </a:p>
          <a:p>
            <a:pPr marL="0" lvl="0" indent="0">
              <a:buNone/>
            </a:pPr>
            <a:r>
              <a:rPr lang="en-US" dirty="0" smtClean="0"/>
              <a:t>III. Those </a:t>
            </a:r>
            <a:r>
              <a:rPr lang="en-US" dirty="0"/>
              <a:t>which attach permanently to the host skin by their mouthparts, e.g. the female  stick tight fleas, </a:t>
            </a:r>
            <a:r>
              <a:rPr lang="en-US" b="1" i="1" dirty="0" err="1"/>
              <a:t>Echidnophaga</a:t>
            </a:r>
            <a:r>
              <a:rPr lang="en-US" b="1" i="1" dirty="0"/>
              <a:t> </a:t>
            </a:r>
            <a:r>
              <a:rPr lang="en-US" b="1" i="1" dirty="0" err="1" smtClean="0"/>
              <a:t>gallinacea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644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Host Specificity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IV. Those which borrow beneath host skin and become stationary, </a:t>
            </a:r>
            <a:r>
              <a:rPr lang="en-US" dirty="0" err="1" smtClean="0"/>
              <a:t>intracutaneous</a:t>
            </a:r>
            <a:r>
              <a:rPr lang="en-US" dirty="0" smtClean="0"/>
              <a:t>,  and subcutaneous parasites, </a:t>
            </a:r>
          </a:p>
          <a:p>
            <a:r>
              <a:rPr lang="en-US" dirty="0" smtClean="0"/>
              <a:t>e.g. the female </a:t>
            </a:r>
            <a:r>
              <a:rPr lang="en-US" b="1" i="1" dirty="0" smtClean="0"/>
              <a:t>Chigoes</a:t>
            </a:r>
            <a:r>
              <a:rPr lang="en-US" dirty="0" smtClean="0"/>
              <a:t>, or </a:t>
            </a:r>
            <a:r>
              <a:rPr lang="en-US" b="1" i="1" dirty="0" smtClean="0"/>
              <a:t>Jigger</a:t>
            </a:r>
            <a:r>
              <a:rPr lang="en-US" dirty="0" smtClean="0"/>
              <a:t> flea. </a:t>
            </a:r>
          </a:p>
          <a:p>
            <a:r>
              <a:rPr lang="en-US" dirty="0" smtClean="0"/>
              <a:t>Such fleas that become permanently attached play little or no role in disease transmission</a:t>
            </a:r>
          </a:p>
          <a:p>
            <a:pPr lvl="0"/>
            <a:r>
              <a:rPr lang="en-US" dirty="0"/>
              <a:t>There are some variations to these four categories due to the adaptations to their hosts and the environments in which they are found.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8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Families of the Order </a:t>
            </a:r>
            <a:r>
              <a:rPr lang="en-US" b="1" dirty="0" err="1" smtClean="0"/>
              <a:t>Siphonaptera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Of Medical importance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Families </a:t>
            </a:r>
            <a:r>
              <a:rPr lang="en-US" dirty="0"/>
              <a:t>of the order that are of medical importance, include</a:t>
            </a:r>
            <a:r>
              <a:rPr lang="en-US" dirty="0" smtClean="0"/>
              <a:t>:</a:t>
            </a:r>
            <a:r>
              <a:rPr lang="en-US" dirty="0"/>
              <a:t> </a:t>
            </a:r>
          </a:p>
          <a:p>
            <a:pPr marL="0" indent="0" algn="ctr">
              <a:buNone/>
            </a:pPr>
            <a:r>
              <a:rPr lang="en-US" b="1" dirty="0"/>
              <a:t>Families </a:t>
            </a:r>
            <a:r>
              <a:rPr lang="en-US" b="1" dirty="0" err="1"/>
              <a:t>Ceratophyllidae</a:t>
            </a:r>
            <a:r>
              <a:rPr lang="en-US" b="1" dirty="0"/>
              <a:t> and </a:t>
            </a:r>
            <a:r>
              <a:rPr lang="en-US" b="1" dirty="0" err="1"/>
              <a:t>Leptopsyllidae</a:t>
            </a:r>
            <a:endParaRPr lang="en-US" dirty="0"/>
          </a:p>
          <a:p>
            <a:pPr lvl="0"/>
            <a:r>
              <a:rPr lang="en-US" dirty="0"/>
              <a:t>Members of these families are mainly rodent and bud fleas, e.g.</a:t>
            </a:r>
          </a:p>
          <a:p>
            <a:r>
              <a:rPr lang="en-US" i="1" dirty="0" err="1"/>
              <a:t>Nosopsyllus</a:t>
            </a:r>
            <a:r>
              <a:rPr lang="en-US" i="1" dirty="0"/>
              <a:t> </a:t>
            </a:r>
            <a:r>
              <a:rPr lang="en-US" i="1" dirty="0" err="1"/>
              <a:t>fasciatus</a:t>
            </a:r>
            <a:r>
              <a:rPr lang="en-US" dirty="0"/>
              <a:t> is a common parasite of domestic rats and mice (</a:t>
            </a:r>
            <a:r>
              <a:rPr lang="en-US" i="1" dirty="0" err="1"/>
              <a:t>Rattus</a:t>
            </a:r>
            <a:r>
              <a:rPr lang="en-US" dirty="0"/>
              <a:t> and </a:t>
            </a:r>
            <a:r>
              <a:rPr lang="en-US" i="1" dirty="0" err="1"/>
              <a:t>Mus</a:t>
            </a:r>
            <a:r>
              <a:rPr lang="en-US" i="1" dirty="0"/>
              <a:t> </a:t>
            </a:r>
            <a:r>
              <a:rPr lang="en-US" i="1" dirty="0" err="1"/>
              <a:t>s</a:t>
            </a:r>
            <a:r>
              <a:rPr lang="en-US" dirty="0" err="1"/>
              <a:t>pp</a:t>
            </a:r>
            <a:r>
              <a:rPr lang="en-US" dirty="0"/>
              <a:t>) in the northern hemisphere, but also reported on other hosts, including humans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08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Families </a:t>
            </a:r>
            <a:r>
              <a:rPr lang="en-US" b="1" dirty="0" err="1" smtClean="0"/>
              <a:t>Ceratophyllidae</a:t>
            </a:r>
            <a:r>
              <a:rPr lang="en-US" b="1" dirty="0" smtClean="0"/>
              <a:t> and </a:t>
            </a:r>
            <a:r>
              <a:rPr lang="en-US" b="1" dirty="0" err="1" smtClean="0"/>
              <a:t>Leptopsyllidae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It may transmit plague from rat to rat but not important in this regard as far as humans are concerned because it does not bite humans, usually.</a:t>
            </a:r>
          </a:p>
          <a:p>
            <a:pPr lvl="0"/>
            <a:r>
              <a:rPr lang="en-US" i="1" dirty="0" err="1"/>
              <a:t>Ceratophyllus</a:t>
            </a:r>
            <a:r>
              <a:rPr lang="en-US" i="1" dirty="0"/>
              <a:t> </a:t>
            </a:r>
            <a:r>
              <a:rPr lang="en-US" i="1" dirty="0" err="1"/>
              <a:t>niger</a:t>
            </a:r>
            <a:r>
              <a:rPr lang="en-US" dirty="0"/>
              <a:t> and </a:t>
            </a:r>
            <a:r>
              <a:rPr lang="en-US" i="1" dirty="0"/>
              <a:t>C. </a:t>
            </a:r>
            <a:r>
              <a:rPr lang="en-US" i="1" dirty="0" err="1"/>
              <a:t>gallinae</a:t>
            </a:r>
            <a:r>
              <a:rPr lang="en-US" dirty="0"/>
              <a:t> are bird fleas, but can bite humans</a:t>
            </a:r>
          </a:p>
          <a:p>
            <a:pPr lvl="0"/>
            <a:r>
              <a:rPr lang="en-US" i="1" dirty="0" err="1"/>
              <a:t>Leptopsyllus</a:t>
            </a:r>
            <a:r>
              <a:rPr lang="en-US" i="1" dirty="0"/>
              <a:t> </a:t>
            </a:r>
            <a:r>
              <a:rPr lang="en-US" i="1" dirty="0" err="1"/>
              <a:t>segnis</a:t>
            </a:r>
            <a:r>
              <a:rPr lang="en-US" dirty="0"/>
              <a:t> is the European mouse flea but is also common in the US; it is more common on species of </a:t>
            </a:r>
            <a:r>
              <a:rPr lang="en-US" i="1" dirty="0" err="1"/>
              <a:t>Rattus</a:t>
            </a:r>
            <a:r>
              <a:rPr lang="en-US" dirty="0"/>
              <a:t> than on </a:t>
            </a:r>
            <a:r>
              <a:rPr lang="en-US" i="1" dirty="0"/>
              <a:t>Mus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It can be infected with plague but it is not an important vector as it does not readily bite humans.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43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This </a:t>
            </a:r>
            <a:r>
              <a:rPr lang="en-US" dirty="0"/>
              <a:t>family consists of species of medical and veterinary importance</a:t>
            </a:r>
          </a:p>
          <a:p>
            <a:pPr lvl="0"/>
            <a:r>
              <a:rPr lang="en-US" b="1" i="1" dirty="0" err="1"/>
              <a:t>Pulex</a:t>
            </a:r>
            <a:r>
              <a:rPr lang="en-US" b="1" i="1" dirty="0"/>
              <a:t> </a:t>
            </a:r>
            <a:r>
              <a:rPr lang="en-US" b="1" i="1" dirty="0" err="1"/>
              <a:t>irritans</a:t>
            </a:r>
            <a:r>
              <a:rPr lang="en-US" dirty="0"/>
              <a:t>-the human flea, has been reported as infecting pigs, dogs, coyotes, prairie dogs, ground squirrels, and burrowing owls</a:t>
            </a:r>
          </a:p>
          <a:p>
            <a:pPr lvl="0"/>
            <a:r>
              <a:rPr lang="en-US" b="1" i="1" dirty="0"/>
              <a:t>P. </a:t>
            </a:r>
            <a:r>
              <a:rPr lang="en-US" b="1" i="1" dirty="0" err="1"/>
              <a:t>irritans</a:t>
            </a:r>
            <a:r>
              <a:rPr lang="en-US" b="1" dirty="0"/>
              <a:t> </a:t>
            </a:r>
            <a:r>
              <a:rPr lang="en-US" dirty="0"/>
              <a:t>can transmit plagues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4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i="1" dirty="0" err="1"/>
              <a:t>Echidnophaga</a:t>
            </a:r>
            <a:r>
              <a:rPr lang="en-US" i="1" dirty="0"/>
              <a:t> </a:t>
            </a:r>
            <a:r>
              <a:rPr lang="en-US" i="1" dirty="0" err="1"/>
              <a:t>gallinacea</a:t>
            </a:r>
            <a:r>
              <a:rPr lang="en-US" dirty="0"/>
              <a:t> is an important pest of poultry but also attacks cats, dogs, horses, rabbits, humans and other animals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Its name is </a:t>
            </a:r>
            <a:r>
              <a:rPr lang="en-US" dirty="0" err="1"/>
              <a:t>stcktight</a:t>
            </a:r>
            <a:r>
              <a:rPr lang="en-US" dirty="0"/>
              <a:t> flea because it burrows its fascicle in a host’s skin and remains in place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78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prefers to attach in areas with few feathers, such as the comb, wattles, around the eyes and around the anus of its host; </a:t>
            </a:r>
          </a:p>
          <a:p>
            <a:r>
              <a:rPr lang="en-US" dirty="0" smtClean="0"/>
              <a:t>an infestation causes ulcers into females deposit eggs; larvae hatch in the ulcers but then drop to the ground to develop off the host; heavy infestations may kill chickens.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8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i="1" dirty="0" err="1"/>
              <a:t>Ctenocephalides</a:t>
            </a:r>
            <a:r>
              <a:rPr lang="en-US" b="1" i="1" dirty="0"/>
              <a:t> </a:t>
            </a:r>
            <a:r>
              <a:rPr lang="en-US" b="1" i="1" dirty="0" err="1"/>
              <a:t>canis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i="1" dirty="0"/>
              <a:t>C. </a:t>
            </a:r>
            <a:r>
              <a:rPr lang="en-US" b="1" i="1" dirty="0" err="1"/>
              <a:t>felis</a:t>
            </a:r>
            <a:r>
              <a:rPr lang="en-US" b="1" dirty="0"/>
              <a:t> </a:t>
            </a:r>
            <a:r>
              <a:rPr lang="en-US" dirty="0"/>
              <a:t>are dog and cat </a:t>
            </a:r>
            <a:r>
              <a:rPr lang="en-US" dirty="0" smtClean="0"/>
              <a:t>fleas respectively</a:t>
            </a:r>
            <a:r>
              <a:rPr lang="en-US" dirty="0"/>
              <a:t>. </a:t>
            </a:r>
            <a:endParaRPr lang="en-US" dirty="0" smtClean="0"/>
          </a:p>
          <a:p>
            <a:pPr lvl="0"/>
            <a:r>
              <a:rPr lang="en-US" dirty="0" smtClean="0"/>
              <a:t>However</a:t>
            </a:r>
            <a:r>
              <a:rPr lang="en-US" dirty="0"/>
              <a:t>, both species attack cats and dogs as well as human and other mammals</a:t>
            </a:r>
          </a:p>
          <a:p>
            <a:pPr lvl="0"/>
            <a:r>
              <a:rPr lang="en-US" i="1" dirty="0"/>
              <a:t>C. </a:t>
            </a:r>
            <a:r>
              <a:rPr lang="en-US" i="1" dirty="0" err="1"/>
              <a:t>felis</a:t>
            </a:r>
            <a:r>
              <a:rPr lang="en-US" dirty="0"/>
              <a:t> is especially opportunistic as it has been reported to infect horses, foxes, mongooses, koalas, skunks and poultry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It is also more common than </a:t>
            </a:r>
            <a:r>
              <a:rPr lang="en-US" i="1" dirty="0"/>
              <a:t>C. </a:t>
            </a:r>
            <a:r>
              <a:rPr lang="en-US" i="1" dirty="0" err="1"/>
              <a:t>canis</a:t>
            </a:r>
            <a:r>
              <a:rPr lang="en-US" dirty="0"/>
              <a:t> on dogs in North </a:t>
            </a:r>
            <a:r>
              <a:rPr lang="en-US" dirty="0" smtClean="0"/>
              <a:t>America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7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Both species can be very annoying pests of humans, especially when dogs and cats are kept at home as pets</a:t>
            </a:r>
          </a:p>
          <a:p>
            <a:pPr lvl="0"/>
            <a:r>
              <a:rPr lang="en-US" dirty="0"/>
              <a:t>Cats fleas deposit most of their eggs at the time when their hosts are least active (i.e. midnight to very early morning) and most likely to be their resting places.</a:t>
            </a:r>
          </a:p>
          <a:p>
            <a:pPr lvl="0"/>
            <a:r>
              <a:rPr lang="en-US" dirty="0"/>
              <a:t>Flea </a:t>
            </a:r>
            <a:r>
              <a:rPr lang="en-US" dirty="0" err="1"/>
              <a:t>faeces</a:t>
            </a:r>
            <a:r>
              <a:rPr lang="en-US" dirty="0"/>
              <a:t> make up more than 40% of the debris that falls off infested cats and so are also concentrated in these areas (the </a:t>
            </a:r>
            <a:r>
              <a:rPr lang="en-US" dirty="0" err="1"/>
              <a:t>faeces</a:t>
            </a:r>
            <a:r>
              <a:rPr lang="en-US" dirty="0"/>
              <a:t> serve as larval food).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4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Like many insects, cat fleas and their </a:t>
            </a:r>
            <a:r>
              <a:rPr lang="en-US" dirty="0" err="1"/>
              <a:t>faeces</a:t>
            </a:r>
            <a:r>
              <a:rPr lang="en-US" dirty="0"/>
              <a:t> are allergenic and may contribute to the </a:t>
            </a:r>
            <a:r>
              <a:rPr lang="en-US" dirty="0" err="1"/>
              <a:t>allergenicity</a:t>
            </a:r>
            <a:r>
              <a:rPr lang="en-US" dirty="0"/>
              <a:t> of house dust; at least 15 different proteins from </a:t>
            </a:r>
            <a:r>
              <a:rPr lang="en-US" i="1" dirty="0"/>
              <a:t>C. </a:t>
            </a:r>
            <a:r>
              <a:rPr lang="en-US" i="1" dirty="0" err="1"/>
              <a:t>felis</a:t>
            </a:r>
            <a:r>
              <a:rPr lang="en-US" dirty="0"/>
              <a:t> are allergenic.</a:t>
            </a:r>
          </a:p>
          <a:p>
            <a:pPr lvl="0"/>
            <a:r>
              <a:rPr lang="en-US" b="1" i="1" dirty="0" err="1"/>
              <a:t>Xenopsylla</a:t>
            </a:r>
            <a:r>
              <a:rPr lang="en-US" b="1" i="1" dirty="0"/>
              <a:t> </a:t>
            </a:r>
            <a:r>
              <a:rPr lang="en-US" b="1" i="1" dirty="0" err="1"/>
              <a:t>cheopis</a:t>
            </a:r>
            <a:r>
              <a:rPr lang="en-US" b="1" dirty="0"/>
              <a:t> </a:t>
            </a:r>
            <a:r>
              <a:rPr lang="en-US" dirty="0"/>
              <a:t>is the oriental or tropical rat flea; </a:t>
            </a:r>
            <a:endParaRPr lang="en-US" dirty="0" smtClean="0"/>
          </a:p>
          <a:p>
            <a:pPr lvl="0"/>
            <a:r>
              <a:rPr lang="en-US" dirty="0" smtClean="0"/>
              <a:t>it </a:t>
            </a:r>
            <a:r>
              <a:rPr lang="en-US" dirty="0"/>
              <a:t>is almost cosmopolitan on </a:t>
            </a:r>
            <a:r>
              <a:rPr lang="en-US" b="1" i="1" dirty="0" err="1"/>
              <a:t>Rattus</a:t>
            </a:r>
            <a:r>
              <a:rPr lang="en-US" b="1" i="1" dirty="0"/>
              <a:t> </a:t>
            </a:r>
            <a:r>
              <a:rPr lang="en-US" b="1" dirty="0"/>
              <a:t>spp</a:t>
            </a:r>
            <a:r>
              <a:rPr lang="en-US" dirty="0"/>
              <a:t>., except in cold climates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8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Pulicidae</a:t>
            </a:r>
            <a:r>
              <a:rPr lang="en-US" b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i="1" dirty="0"/>
              <a:t>X. </a:t>
            </a:r>
            <a:r>
              <a:rPr lang="en-US" b="1" i="1" dirty="0" err="1"/>
              <a:t>cheopis</a:t>
            </a:r>
            <a:r>
              <a:rPr lang="en-US" b="1" dirty="0"/>
              <a:t> </a:t>
            </a:r>
            <a:r>
              <a:rPr lang="en-US" dirty="0"/>
              <a:t>is of enormous public health significance because it is the most important vector of plague and of murine typhus</a:t>
            </a:r>
            <a:r>
              <a:rPr lang="en-US" dirty="0" smtClean="0"/>
              <a:t>;</a:t>
            </a:r>
          </a:p>
          <a:p>
            <a:pPr lvl="0"/>
            <a:r>
              <a:rPr lang="en-US" dirty="0" smtClean="0"/>
              <a:t> </a:t>
            </a:r>
            <a:r>
              <a:rPr lang="en-US" b="1" i="1" dirty="0"/>
              <a:t>X. </a:t>
            </a:r>
            <a:r>
              <a:rPr lang="en-US" b="1" i="1" dirty="0" err="1"/>
              <a:t>brasiliensis</a:t>
            </a:r>
            <a:r>
              <a:rPr lang="en-US" dirty="0"/>
              <a:t>, an African species that has become established in S. America and India is probably an important vector of plague in Kenya and Uganda.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1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Family </a:t>
            </a:r>
            <a:r>
              <a:rPr lang="en-US" b="1" dirty="0" err="1" smtClean="0"/>
              <a:t>Tungidae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 err="1" smtClean="0"/>
              <a:t>Tunga</a:t>
            </a:r>
            <a:r>
              <a:rPr lang="en-US" b="1" i="1" dirty="0" smtClean="0"/>
              <a:t> </a:t>
            </a:r>
            <a:r>
              <a:rPr lang="en-US" b="1" i="1" dirty="0" err="1" smtClean="0"/>
              <a:t>penetrans</a:t>
            </a:r>
            <a:r>
              <a:rPr lang="en-US" dirty="0" smtClean="0"/>
              <a:t>, commonly known as Chigoe, Jigger, Chigger, </a:t>
            </a:r>
            <a:r>
              <a:rPr lang="en-US" dirty="0" err="1" smtClean="0"/>
              <a:t>Chique</a:t>
            </a:r>
            <a:r>
              <a:rPr lang="en-US" dirty="0" smtClean="0"/>
              <a:t> or the </a:t>
            </a:r>
            <a:r>
              <a:rPr lang="en-US" dirty="0" err="1" smtClean="0"/>
              <a:t>Sandflea</a:t>
            </a:r>
            <a:r>
              <a:rPr lang="en-US" dirty="0" smtClean="0"/>
              <a:t>, is one of 10 species feeding on humans </a:t>
            </a:r>
          </a:p>
          <a:p>
            <a:r>
              <a:rPr lang="en-US" dirty="0" smtClean="0"/>
              <a:t>and many other mammals, especially Swine; other domestic animals, rodents, anteaters and armadillos are also parasitized;</a:t>
            </a:r>
          </a:p>
          <a:p>
            <a:r>
              <a:rPr lang="en-US" dirty="0" smtClean="0"/>
              <a:t> it is the most common of the 10 species known.</a:t>
            </a:r>
          </a:p>
        </p:txBody>
      </p:sp>
    </p:spTree>
    <p:extLst>
      <p:ext uri="{BB962C8B-B14F-4D97-AF65-F5344CB8AC3E}">
        <p14:creationId xmlns:p14="http://schemas.microsoft.com/office/powerpoint/2010/main" val="295544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Family </a:t>
            </a:r>
            <a:r>
              <a:rPr lang="en-US" b="1" dirty="0" err="1" smtClean="0"/>
              <a:t>Tungidae</a:t>
            </a:r>
            <a:r>
              <a:rPr lang="en-US" b="1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i="1" dirty="0" smtClean="0"/>
              <a:t>T. </a:t>
            </a:r>
            <a:r>
              <a:rPr lang="en-US" b="1" i="1" dirty="0" err="1" smtClean="0"/>
              <a:t>penetrans</a:t>
            </a:r>
            <a:r>
              <a:rPr lang="en-US" b="1" dirty="0" smtClean="0"/>
              <a:t> </a:t>
            </a:r>
            <a:r>
              <a:rPr lang="en-US" dirty="0" smtClean="0"/>
              <a:t>is believed to have originated from Central and South America and the West Indies from where it was introduced to Africa in the 17</a:t>
            </a:r>
            <a:r>
              <a:rPr lang="en-US" baseline="30000" dirty="0" smtClean="0"/>
              <a:t>th</a:t>
            </a:r>
            <a:r>
              <a:rPr lang="en-US" dirty="0" smtClean="0"/>
              <a:t> Century </a:t>
            </a:r>
          </a:p>
          <a:p>
            <a:pPr lvl="0"/>
            <a:r>
              <a:rPr lang="en-US" dirty="0" smtClean="0"/>
              <a:t>and again in the 19</a:t>
            </a:r>
            <a:r>
              <a:rPr lang="en-US" baseline="30000" dirty="0" smtClean="0"/>
              <a:t>th</a:t>
            </a:r>
            <a:r>
              <a:rPr lang="en-US" dirty="0" smtClean="0"/>
              <a:t> Century; it spread all over tropical Africa and then to India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4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-152400"/>
            <a:ext cx="6324600" cy="6400800"/>
          </a:xfrm>
        </p:spPr>
      </p:pic>
    </p:spTree>
    <p:extLst>
      <p:ext uri="{BB962C8B-B14F-4D97-AF65-F5344CB8AC3E}">
        <p14:creationId xmlns:p14="http://schemas.microsoft.com/office/powerpoint/2010/main" val="207514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Family </a:t>
            </a:r>
            <a:r>
              <a:rPr lang="en-US" b="1" dirty="0" err="1" smtClean="0"/>
              <a:t>Tungidae</a:t>
            </a:r>
            <a:r>
              <a:rPr lang="en-US" b="1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Female chigoes penetrate the skin most commonly around the base of the nails of the feet and hands or between the toes.</a:t>
            </a:r>
          </a:p>
          <a:p>
            <a:pPr lvl="0"/>
            <a:r>
              <a:rPr lang="en-US" dirty="0"/>
              <a:t>Only a small aperture through the skin is left to communicate with the outside</a:t>
            </a:r>
          </a:p>
          <a:p>
            <a:pPr lvl="0"/>
            <a:r>
              <a:rPr lang="en-US" dirty="0"/>
              <a:t>Males do not penetrate host skin, but copulate with a female outside the body of the host and it is the pregnant female that burrows into the skin of the host.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47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Family </a:t>
            </a:r>
            <a:r>
              <a:rPr lang="en-US" b="1" dirty="0" err="1" smtClean="0"/>
              <a:t>Tungidae</a:t>
            </a:r>
            <a:r>
              <a:rPr lang="en-US" b="1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On entry into the host skin, the barely 1.0 mm long flea gradually expands to about the size of a pea; the body is enclosed in a sinus, into which she lays her eggs </a:t>
            </a:r>
          </a:p>
          <a:p>
            <a:pPr lvl="0"/>
            <a:r>
              <a:rPr lang="en-US" dirty="0"/>
              <a:t>After hatching, larvae exit through the aperture and develop on the ground.</a:t>
            </a:r>
          </a:p>
          <a:p>
            <a:pPr lvl="0"/>
            <a:r>
              <a:rPr lang="en-US" dirty="0"/>
              <a:t>The infection causes extreme irritation, itching, pain, inflammation and tissue damage leading to secondary bacteria infection; tetanus and gangrene may complicate the condition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5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Family </a:t>
            </a:r>
            <a:r>
              <a:rPr lang="en-US" b="1" dirty="0" err="1" smtClean="0"/>
              <a:t>Tungidae</a:t>
            </a:r>
            <a:r>
              <a:rPr lang="en-US" b="1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Treatment involves surgical removal of the fleas and careful sterilization and dressing of the wounds</a:t>
            </a:r>
          </a:p>
          <a:p>
            <a:pPr lvl="0"/>
            <a:r>
              <a:rPr lang="en-US" dirty="0"/>
              <a:t>Human </a:t>
            </a:r>
            <a:r>
              <a:rPr lang="en-US" dirty="0" err="1"/>
              <a:t>tungiasis</a:t>
            </a:r>
            <a:r>
              <a:rPr lang="en-US" dirty="0"/>
              <a:t> is significant health problem in poor communities of warmer climates. </a:t>
            </a:r>
          </a:p>
          <a:p>
            <a:pPr lvl="0"/>
            <a:r>
              <a:rPr lang="en-US" dirty="0"/>
              <a:t>There may be seasonal fluctuations, with peak prevalence of over 50% during the dry season; pets and rats serve as reservoirs in endemic communities.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60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Fleas as Vectors of Plague and Typhus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dirty="0" smtClean="0"/>
              <a:t>Plague</a:t>
            </a:r>
            <a:endParaRPr lang="en-US" dirty="0"/>
          </a:p>
          <a:p>
            <a:pPr lvl="0"/>
            <a:r>
              <a:rPr lang="en-US" dirty="0"/>
              <a:t>Also known as </a:t>
            </a:r>
            <a:r>
              <a:rPr lang="en-US" b="1" dirty="0"/>
              <a:t>pest</a:t>
            </a:r>
            <a:r>
              <a:rPr lang="en-US" dirty="0"/>
              <a:t> and </a:t>
            </a:r>
            <a:r>
              <a:rPr lang="en-US" b="1" dirty="0"/>
              <a:t>black death</a:t>
            </a:r>
            <a:r>
              <a:rPr lang="en-US" dirty="0"/>
              <a:t> is caused by a </a:t>
            </a:r>
            <a:r>
              <a:rPr lang="en-US" dirty="0" err="1"/>
              <a:t>bacterim</a:t>
            </a:r>
            <a:r>
              <a:rPr lang="en-US" i="1" dirty="0"/>
              <a:t>, </a:t>
            </a:r>
            <a:r>
              <a:rPr lang="en-US" b="1" i="1" dirty="0"/>
              <a:t>Yersinia </a:t>
            </a:r>
            <a:r>
              <a:rPr lang="en-US" b="1" i="1" dirty="0" err="1"/>
              <a:t>pestis</a:t>
            </a:r>
            <a:r>
              <a:rPr lang="en-US" dirty="0"/>
              <a:t> (formerly known as </a:t>
            </a:r>
            <a:r>
              <a:rPr lang="en-US" b="1" i="1" dirty="0" err="1"/>
              <a:t>Pasteurella</a:t>
            </a:r>
            <a:r>
              <a:rPr lang="en-US" b="1" i="1" dirty="0"/>
              <a:t> </a:t>
            </a:r>
            <a:r>
              <a:rPr lang="en-US" b="1" i="1" dirty="0" err="1"/>
              <a:t>pestis</a:t>
            </a:r>
            <a:r>
              <a:rPr lang="en-US" dirty="0"/>
              <a:t>, which releases two potent toxins that produce identical serious effects</a:t>
            </a:r>
          </a:p>
          <a:p>
            <a:pPr lvl="0"/>
            <a:r>
              <a:rPr lang="en-US" dirty="0"/>
              <a:t>Some animals, such as rats and mice, are more sensitive to these toxins than other animals such as rabbits, dogs, monkeys and chimpanzees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8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There is evidence that the toxins act on mitochondrial membranes of susceptible animals, inhibiting ion uptake and interfering with normal functioning of the respiratory chain</a:t>
            </a:r>
          </a:p>
          <a:p>
            <a:pPr lvl="0"/>
            <a:r>
              <a:rPr lang="en-US" dirty="0"/>
              <a:t>One toxin is a plasmid-encoded phospholipase that is required by </a:t>
            </a:r>
            <a:r>
              <a:rPr lang="en-US" i="1" dirty="0"/>
              <a:t>Y. </a:t>
            </a:r>
            <a:r>
              <a:rPr lang="en-US" i="1" dirty="0" err="1"/>
              <a:t>pestis</a:t>
            </a:r>
            <a:r>
              <a:rPr lang="en-US" dirty="0"/>
              <a:t> before it can survive in the gut of the flea.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29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The plague pandemic of the 14</a:t>
            </a:r>
            <a:r>
              <a:rPr lang="en-US" baseline="30000" dirty="0"/>
              <a:t>th</a:t>
            </a:r>
            <a:r>
              <a:rPr lang="en-US" dirty="0"/>
              <a:t> Century across Europe, took 25 million lives (¼ of the population at that time).</a:t>
            </a:r>
          </a:p>
          <a:p>
            <a:pPr lvl="0"/>
            <a:r>
              <a:rPr lang="en-US" dirty="0"/>
              <a:t>Plague is essentially, a disease of rodents; humans contract it through flea bites, especially, of </a:t>
            </a:r>
            <a:r>
              <a:rPr lang="en-US" i="1" dirty="0"/>
              <a:t>X. </a:t>
            </a:r>
            <a:r>
              <a:rPr lang="en-US" i="1" dirty="0" err="1"/>
              <a:t>cheopis</a:t>
            </a:r>
            <a:r>
              <a:rPr lang="en-US" i="1" dirty="0"/>
              <a:t>, </a:t>
            </a:r>
            <a:r>
              <a:rPr lang="en-US" dirty="0"/>
              <a:t>as follows: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Bacteria are taken in by a flea along with its blood meal and they multiply in the flea’s gut and block the </a:t>
            </a:r>
            <a:r>
              <a:rPr lang="en-US" dirty="0" err="1"/>
              <a:t>proventricular</a:t>
            </a:r>
            <a:r>
              <a:rPr lang="en-US" dirty="0"/>
              <a:t> teeth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9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dirty="0" smtClean="0"/>
              <a:t>On the next feed, a new blood meal cannot pass this obstruction and becomes contaminated by bacteria and is then regurgitated back into the bite wound.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4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There are three main clinical forms of plague, namely</a:t>
            </a:r>
            <a:r>
              <a:rPr lang="en-US" dirty="0" smtClean="0"/>
              <a:t>:</a:t>
            </a:r>
            <a:r>
              <a:rPr lang="en-US" dirty="0"/>
              <a:t> </a:t>
            </a:r>
          </a:p>
          <a:p>
            <a:pPr marL="0" lvl="0" indent="0" algn="ctr">
              <a:buNone/>
            </a:pPr>
            <a:r>
              <a:rPr lang="en-US" b="1" dirty="0" smtClean="0"/>
              <a:t>1. Bubonic plague</a:t>
            </a:r>
            <a:endParaRPr lang="en-US" dirty="0" smtClean="0"/>
          </a:p>
          <a:p>
            <a:r>
              <a:rPr lang="en-US" dirty="0" smtClean="0"/>
              <a:t>There is formation of definite bubo (swollen lymph nodes in the groins or armpits); they are hard, tender, and filled with bacteria and may rupture to the outside; it is 25-50% fatal, if untreated.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7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US" b="1" dirty="0" smtClean="0"/>
              <a:t>2. Pneumonic </a:t>
            </a:r>
            <a:r>
              <a:rPr lang="en-US" b="1" dirty="0"/>
              <a:t>plague</a:t>
            </a:r>
            <a:endParaRPr lang="en-US" dirty="0"/>
          </a:p>
          <a:p>
            <a:r>
              <a:rPr lang="en-US" dirty="0"/>
              <a:t>This is a condition in which the lungs are most heavily involved, producing a pneumonia-like disease that develops rapidly, and is highly contagious to other people.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8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US" b="1" dirty="0" smtClean="0"/>
              <a:t>3. Primary </a:t>
            </a:r>
            <a:r>
              <a:rPr lang="en-US" b="1" dirty="0" err="1"/>
              <a:t>Septicaemic</a:t>
            </a:r>
            <a:r>
              <a:rPr lang="en-US" dirty="0"/>
              <a:t> </a:t>
            </a:r>
            <a:r>
              <a:rPr lang="en-US" b="1" dirty="0"/>
              <a:t>Plague</a:t>
            </a:r>
            <a:endParaRPr lang="en-US" dirty="0"/>
          </a:p>
          <a:p>
            <a:r>
              <a:rPr lang="en-US" dirty="0"/>
              <a:t>This is a generalized blood infection with little or no lymph node swelling apparently because the blood is invaded too rapidly for typical nodal inflammation to develop.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secondary </a:t>
            </a:r>
            <a:r>
              <a:rPr lang="en-US" dirty="0" err="1"/>
              <a:t>septicaemc</a:t>
            </a:r>
            <a:r>
              <a:rPr lang="en-US" dirty="0"/>
              <a:t> plague occurs when an infection breaks out of lymph nodes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4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i="1" dirty="0"/>
              <a:t>Y. </a:t>
            </a:r>
            <a:r>
              <a:rPr lang="en-US" b="1" i="1" dirty="0" err="1"/>
              <a:t>pestis</a:t>
            </a:r>
            <a:r>
              <a:rPr lang="en-US" dirty="0"/>
              <a:t> can infect most organs, resulting in massive tissue destruction</a:t>
            </a:r>
          </a:p>
          <a:p>
            <a:pPr lvl="0"/>
            <a:r>
              <a:rPr lang="en-US" dirty="0"/>
              <a:t>The incubation period after a flea’s bite is usually 2-6 days, followed by a chill and rapidly rising temperature to 39.5°C and 40°C</a:t>
            </a:r>
          </a:p>
          <a:p>
            <a:pPr lvl="0"/>
            <a:r>
              <a:rPr lang="en-US" dirty="0"/>
              <a:t>Lymph nodes draining an infection site swell, becoming </a:t>
            </a:r>
            <a:r>
              <a:rPr lang="en-US" dirty="0" err="1"/>
              <a:t>haemorrhagic</a:t>
            </a:r>
            <a:r>
              <a:rPr lang="en-US" dirty="0"/>
              <a:t> and often necrotic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8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Plague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Damage to vascular and lymphatic endothelium in many parts of the body leads to petechial and diffuse </a:t>
            </a:r>
            <a:r>
              <a:rPr lang="en-US" dirty="0" err="1"/>
              <a:t>haemorrhages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At first there is mental dullness, followed by anxiety or excitement and then delirium or lethargy and coma.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3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Murine Typhus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Also </a:t>
            </a:r>
            <a:r>
              <a:rPr lang="en-US" dirty="0"/>
              <a:t>called Endemic or flea-borne typhus is caused by </a:t>
            </a:r>
            <a:r>
              <a:rPr lang="en-US" b="1" i="1" dirty="0"/>
              <a:t>Rickettsia </a:t>
            </a:r>
            <a:r>
              <a:rPr lang="en-US" b="1" i="1" dirty="0" err="1"/>
              <a:t>mooseri</a:t>
            </a:r>
            <a:r>
              <a:rPr lang="en-US" dirty="0"/>
              <a:t> </a:t>
            </a:r>
            <a:r>
              <a:rPr lang="en-US" i="1" dirty="0"/>
              <a:t>(R. </a:t>
            </a:r>
            <a:r>
              <a:rPr lang="en-US" b="1" i="1" dirty="0" err="1"/>
              <a:t>typhi</a:t>
            </a:r>
            <a:r>
              <a:rPr lang="en-US" b="1" i="1" dirty="0"/>
              <a:t>)</a:t>
            </a:r>
            <a:r>
              <a:rPr lang="en-US" i="1" dirty="0"/>
              <a:t> </a:t>
            </a:r>
            <a:r>
              <a:rPr lang="en-US" dirty="0"/>
              <a:t>which is morphologically indistinguishable from</a:t>
            </a:r>
            <a:r>
              <a:rPr lang="en-US" i="1" dirty="0"/>
              <a:t> </a:t>
            </a:r>
            <a:r>
              <a:rPr lang="en-US" dirty="0"/>
              <a:t>R. </a:t>
            </a:r>
            <a:r>
              <a:rPr lang="en-US" dirty="0" err="1"/>
              <a:t>prowazekii</a:t>
            </a:r>
            <a:endParaRPr lang="en-US" dirty="0"/>
          </a:p>
          <a:p>
            <a:pPr lvl="0"/>
            <a:r>
              <a:rPr lang="en-US" dirty="0"/>
              <a:t>It occurs in warmer climates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marL="0" indent="0" algn="ctr">
              <a:buNone/>
            </a:pPr>
            <a:r>
              <a:rPr lang="en-US" b="1" dirty="0"/>
              <a:t>Control of Fleas</a:t>
            </a: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Within habitations, one should keep debris that </a:t>
            </a:r>
            <a:r>
              <a:rPr lang="en-US" dirty="0" err="1"/>
              <a:t>harbours</a:t>
            </a:r>
            <a:r>
              <a:rPr lang="en-US" dirty="0"/>
              <a:t> larval fleas to a minimum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6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Murine Typhus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dirty="0" smtClean="0"/>
              <a:t>Some persistent pesticides (e.g. </a:t>
            </a:r>
            <a:r>
              <a:rPr lang="en-US" dirty="0" err="1" smtClean="0"/>
              <a:t>Diflubenzuron</a:t>
            </a:r>
            <a:r>
              <a:rPr lang="en-US" dirty="0" smtClean="0"/>
              <a:t> which inhibits </a:t>
            </a:r>
            <a:r>
              <a:rPr lang="en-US" i="1" dirty="0" smtClean="0"/>
              <a:t>C. </a:t>
            </a:r>
            <a:r>
              <a:rPr lang="en-US" i="1" dirty="0" err="1" smtClean="0"/>
              <a:t>felis</a:t>
            </a:r>
            <a:r>
              <a:rPr lang="en-US" dirty="0" smtClean="0"/>
              <a:t> development) may be applied to places such as under carpets, in floor crevices and in pet bedding.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Pyriproxyfen</a:t>
            </a:r>
            <a:r>
              <a:rPr lang="en-US" dirty="0" smtClean="0"/>
              <a:t> and </a:t>
            </a:r>
            <a:r>
              <a:rPr lang="en-US" dirty="0" err="1" smtClean="0"/>
              <a:t>Methoprene</a:t>
            </a:r>
            <a:r>
              <a:rPr lang="en-US" dirty="0" smtClean="0"/>
              <a:t> make fleas to lay infertile eggs.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Use of light traps with yellow green filters to which fleas respond positively</a:t>
            </a:r>
          </a:p>
          <a:p>
            <a:pPr marL="0" lv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8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Murine Typhus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Keeping areas where livestock are maintained tidy and free from debris, manure and other litter as possible</a:t>
            </a:r>
          </a:p>
          <a:p>
            <a:pPr lvl="0"/>
            <a:r>
              <a:rPr lang="en-US" dirty="0"/>
              <a:t>Use of insecticidal flea powders on dogs and cats, with repeated application when necessary</a:t>
            </a:r>
          </a:p>
          <a:p>
            <a:pPr lvl="0"/>
            <a:r>
              <a:rPr lang="en-US" dirty="0"/>
              <a:t>Personal protection by use of insect repellent creams on the body or application of the repellents to cracks, crevices </a:t>
            </a:r>
            <a:r>
              <a:rPr lang="en-US" dirty="0" err="1"/>
              <a:t>etc</a:t>
            </a:r>
            <a:r>
              <a:rPr lang="en-US" dirty="0"/>
              <a:t> indoors and outside.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2235</Words>
  <Application>Microsoft Office PowerPoint</Application>
  <PresentationFormat>On-screen Show (4:3)</PresentationFormat>
  <Paragraphs>158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Wingdings</vt:lpstr>
      <vt:lpstr>Office Theme</vt:lpstr>
      <vt:lpstr>PARASITOLOGY (BIOL 460)</vt:lpstr>
      <vt:lpstr> Parasitic Insects: Fleas (Order Siphonaptera) </vt:lpstr>
      <vt:lpstr>PowerPoint Presentation</vt:lpstr>
      <vt:lpstr> Parasitic Insects: Fleas (Order Siphonaptera) cont’d </vt:lpstr>
      <vt:lpstr> Parasitic Insects: Fleas (Order Siphonaptera) cont’d </vt:lpstr>
      <vt:lpstr> Parasitic Insects: Fleas (Order Siphonaptera) cont’d </vt:lpstr>
      <vt:lpstr> Parasitic Insects: Fleas (Order Siphonaptera) cont’d </vt:lpstr>
      <vt:lpstr> Development </vt:lpstr>
      <vt:lpstr> Development cont’d </vt:lpstr>
      <vt:lpstr> Development cont’d </vt:lpstr>
      <vt:lpstr> Development cont’d </vt:lpstr>
      <vt:lpstr> Host Specificity </vt:lpstr>
      <vt:lpstr> Host Specificity cont’d </vt:lpstr>
      <vt:lpstr> Host Specificity cont’d </vt:lpstr>
      <vt:lpstr> Host Specificity cont’d </vt:lpstr>
      <vt:lpstr> Families of the Order Siphonaptera Of Medical importance </vt:lpstr>
      <vt:lpstr> Families Ceratophyllidae and Leptopsyllidae cont’d </vt:lpstr>
      <vt:lpstr> Family Pulicidae </vt:lpstr>
      <vt:lpstr> Family Pulicidae cont’d </vt:lpstr>
      <vt:lpstr> Family Pulicidae cont’d </vt:lpstr>
      <vt:lpstr> Family Pulicidae cont’d </vt:lpstr>
      <vt:lpstr> Family Pulicidae cont’d </vt:lpstr>
      <vt:lpstr> Family Pulicidae cont’d </vt:lpstr>
      <vt:lpstr> Family Pulicidae cont’d </vt:lpstr>
      <vt:lpstr> Family Tungidae </vt:lpstr>
      <vt:lpstr>Family Tungidae cont’d</vt:lpstr>
      <vt:lpstr>PowerPoint Presentation</vt:lpstr>
      <vt:lpstr>Family Tungidae cont’d</vt:lpstr>
      <vt:lpstr>Family Tungidae cont’d</vt:lpstr>
      <vt:lpstr>Family Tungidae cont’d</vt:lpstr>
      <vt:lpstr> Fleas as Vectors of Plague and Typhus </vt:lpstr>
      <vt:lpstr> Plague cont’d </vt:lpstr>
      <vt:lpstr> Plague cont’d </vt:lpstr>
      <vt:lpstr> Plague cont’d </vt:lpstr>
      <vt:lpstr> Plague cont’d </vt:lpstr>
      <vt:lpstr> Plague cont’d </vt:lpstr>
      <vt:lpstr> Plague cont’d </vt:lpstr>
      <vt:lpstr> Plague cont’d </vt:lpstr>
      <vt:lpstr> Plague cont’d </vt:lpstr>
      <vt:lpstr> Murine Typhus </vt:lpstr>
      <vt:lpstr> Murine Typhus cont’d </vt:lpstr>
      <vt:lpstr> Murine Typhus cont’d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(BIOL 460)</dc:title>
  <dc:creator>PROFESSOR LAWSON</dc:creator>
  <cp:lastModifiedBy>Ebenezer</cp:lastModifiedBy>
  <cp:revision>6</cp:revision>
  <dcterms:created xsi:type="dcterms:W3CDTF">2008-04-22T01:46:48Z</dcterms:created>
  <dcterms:modified xsi:type="dcterms:W3CDTF">2018-04-24T11:06:59Z</dcterms:modified>
</cp:coreProperties>
</file>