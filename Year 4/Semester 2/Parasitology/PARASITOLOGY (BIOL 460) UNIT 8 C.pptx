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8" r:id="rId5"/>
    <p:sldId id="259" r:id="rId6"/>
    <p:sldId id="260" r:id="rId7"/>
    <p:sldId id="261" r:id="rId8"/>
    <p:sldId id="262" r:id="rId9"/>
    <p:sldId id="263" r:id="rId10"/>
    <p:sldId id="264" r:id="rId11"/>
    <p:sldId id="265" r:id="rId12"/>
    <p:sldId id="266" r:id="rId13"/>
    <p:sldId id="267" r:id="rId14"/>
    <p:sldId id="268" r:id="rId15"/>
    <p:sldId id="299"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39" autoAdjust="0"/>
    <p:restoredTop sz="94660"/>
  </p:normalViewPr>
  <p:slideViewPr>
    <p:cSldViewPr>
      <p:cViewPr varScale="1">
        <p:scale>
          <a:sx n="65" d="100"/>
          <a:sy n="65" d="100"/>
        </p:scale>
        <p:origin x="-200" y="-26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18AC40-77D5-4830-8B1B-C7546F6522A6}"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20889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AC40-77D5-4830-8B1B-C7546F6522A6}"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729479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A18AC40-77D5-4830-8B1B-C7546F6522A6}"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495803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A18AC40-77D5-4830-8B1B-C7546F6522A6}" type="datetimeFigureOut">
              <a:rPr lang="en-US" smtClean="0"/>
              <a:t>4/23/2018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721849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A18AC40-77D5-4830-8B1B-C7546F6522A6}" type="datetimeFigureOut">
              <a:rPr lang="en-US" smtClean="0"/>
              <a:t>4/23/2018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156775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A18AC40-77D5-4830-8B1B-C7546F6522A6}" type="datetimeFigureOut">
              <a:rPr lang="en-US" smtClean="0"/>
              <a:t>4/23/2018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731579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A18AC40-77D5-4830-8B1B-C7546F6522A6}" type="datetimeFigureOut">
              <a:rPr lang="en-US" smtClean="0"/>
              <a:t>4/23/2018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35085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AC40-77D5-4830-8B1B-C7546F6522A6}" type="datetimeFigureOut">
              <a:rPr lang="en-US" smtClean="0"/>
              <a:t>4/23/2018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591895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A18AC40-77D5-4830-8B1B-C7546F6522A6}" type="datetimeFigureOut">
              <a:rPr lang="en-US" smtClean="0"/>
              <a:t>4/23/2018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3307859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AC40-77D5-4830-8B1B-C7546F6522A6}"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219609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A18AC40-77D5-4830-8B1B-C7546F6522A6}" type="datetimeFigureOut">
              <a:rPr lang="en-US" smtClean="0"/>
              <a:t>4/23/2018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E1BEEE-D4A5-4EBB-A703-3A0E464832A6}" type="slidenum">
              <a:rPr lang="en-US" smtClean="0"/>
              <a:t>‹#›</a:t>
            </a:fld>
            <a:endParaRPr lang="en-US"/>
          </a:p>
        </p:txBody>
      </p:sp>
    </p:spTree>
    <p:extLst>
      <p:ext uri="{BB962C8B-B14F-4D97-AF65-F5344CB8AC3E}">
        <p14:creationId xmlns:p14="http://schemas.microsoft.com/office/powerpoint/2010/main" val="27817951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18AC40-77D5-4830-8B1B-C7546F6522A6}" type="datetimeFigureOut">
              <a:rPr lang="en-US" smtClean="0"/>
              <a:t>4/23/2018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E1BEEE-D4A5-4EBB-A703-3A0E464832A6}" type="slidenum">
              <a:rPr lang="en-US" smtClean="0"/>
              <a:t>‹#›</a:t>
            </a:fld>
            <a:endParaRPr lang="en-US"/>
          </a:p>
        </p:txBody>
      </p:sp>
    </p:spTree>
    <p:extLst>
      <p:ext uri="{BB962C8B-B14F-4D97-AF65-F5344CB8AC3E}">
        <p14:creationId xmlns:p14="http://schemas.microsoft.com/office/powerpoint/2010/main" val="12787384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PARASITOLOGY (BIOL 460)</a:t>
            </a:r>
            <a:endParaRPr lang="en-US" dirty="0"/>
          </a:p>
        </p:txBody>
      </p:sp>
      <p:sp>
        <p:nvSpPr>
          <p:cNvPr id="3" name="Subtitle 2"/>
          <p:cNvSpPr>
            <a:spLocks noGrp="1"/>
          </p:cNvSpPr>
          <p:nvPr>
            <p:ph type="subTitle" idx="1"/>
          </p:nvPr>
        </p:nvSpPr>
        <p:spPr/>
        <p:txBody>
          <a:bodyPr/>
          <a:lstStyle/>
          <a:p>
            <a:r>
              <a:rPr lang="en-US" dirty="0" smtClean="0"/>
              <a:t>UNIT 8 C</a:t>
            </a:r>
          </a:p>
          <a:p>
            <a:r>
              <a:rPr lang="en-US" b="1" dirty="0" smtClean="0"/>
              <a:t>PARASITIC ARACHNIDS</a:t>
            </a:r>
            <a:endParaRPr lang="en-US" dirty="0" smtClean="0"/>
          </a:p>
          <a:p>
            <a:endParaRPr lang="en-US" dirty="0"/>
          </a:p>
        </p:txBody>
      </p:sp>
    </p:spTree>
    <p:extLst>
      <p:ext uri="{BB962C8B-B14F-4D97-AF65-F5344CB8AC3E}">
        <p14:creationId xmlns:p14="http://schemas.microsoft.com/office/powerpoint/2010/main" val="1403382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ARACHNIDS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dirty="0" smtClean="0"/>
              <a:t>The </a:t>
            </a:r>
            <a:r>
              <a:rPr lang="en-US" dirty="0"/>
              <a:t>Class </a:t>
            </a:r>
            <a:r>
              <a:rPr lang="en-US" dirty="0" err="1"/>
              <a:t>Arachnida</a:t>
            </a:r>
            <a:r>
              <a:rPr lang="en-US" dirty="0"/>
              <a:t> of the Phylum </a:t>
            </a:r>
            <a:r>
              <a:rPr lang="en-US" dirty="0" err="1"/>
              <a:t>Arthropoda</a:t>
            </a:r>
            <a:r>
              <a:rPr lang="en-US" dirty="0"/>
              <a:t>, contains Spiders, Scorpions, Ticks and </a:t>
            </a:r>
            <a:r>
              <a:rPr lang="en-US" dirty="0" err="1"/>
              <a:t>Mite,s</a:t>
            </a:r>
            <a:r>
              <a:rPr lang="en-US" dirty="0"/>
              <a:t> and King </a:t>
            </a:r>
            <a:r>
              <a:rPr lang="en-US" dirty="0" smtClean="0"/>
              <a:t>Crabs</a:t>
            </a:r>
          </a:p>
          <a:p>
            <a:r>
              <a:rPr lang="en-US" dirty="0" smtClean="0"/>
              <a:t> </a:t>
            </a:r>
            <a:r>
              <a:rPr lang="en-US" dirty="0"/>
              <a:t>(the only aquatic members, and which some authorities separate into a class of its own, </a:t>
            </a:r>
            <a:r>
              <a:rPr lang="en-US" dirty="0" err="1"/>
              <a:t>Merostomata</a:t>
            </a:r>
            <a:r>
              <a:rPr lang="en-US" dirty="0"/>
              <a:t>.</a:t>
            </a:r>
          </a:p>
          <a:p>
            <a:pPr lvl="0"/>
            <a:r>
              <a:rPr lang="en-US" dirty="0"/>
              <a:t> One major characteristic (distinguishing) is the two-part division of the body into a </a:t>
            </a:r>
            <a:r>
              <a:rPr lang="en-US" dirty="0" err="1"/>
              <a:t>prosoma</a:t>
            </a:r>
            <a:r>
              <a:rPr lang="en-US" dirty="0"/>
              <a:t> and </a:t>
            </a:r>
            <a:r>
              <a:rPr lang="en-US" dirty="0" err="1"/>
              <a:t>opisthosoma</a:t>
            </a:r>
            <a:r>
              <a:rPr lang="en-US" dirty="0"/>
              <a:t>, and the absence of antennae.</a:t>
            </a:r>
          </a:p>
          <a:p>
            <a:endParaRPr lang="en-US" dirty="0"/>
          </a:p>
        </p:txBody>
      </p:sp>
    </p:spTree>
    <p:extLst>
      <p:ext uri="{BB962C8B-B14F-4D97-AF65-F5344CB8AC3E}">
        <p14:creationId xmlns:p14="http://schemas.microsoft.com/office/powerpoint/2010/main" val="28740901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ARACHNIDS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Members of the Class that are of immense importance to humans and livestock animals are in the Subclass </a:t>
            </a:r>
            <a:r>
              <a:rPr lang="en-US" dirty="0" err="1"/>
              <a:t>Acari</a:t>
            </a:r>
            <a:r>
              <a:rPr lang="en-US" dirty="0"/>
              <a:t> and Super Order </a:t>
            </a:r>
            <a:r>
              <a:rPr lang="en-US" dirty="0" err="1"/>
              <a:t>Acarina</a:t>
            </a:r>
            <a:r>
              <a:rPr lang="en-US" dirty="0"/>
              <a:t>.</a:t>
            </a:r>
          </a:p>
          <a:p>
            <a:pPr lvl="0"/>
            <a:endParaRPr lang="en-US" dirty="0" smtClean="0"/>
          </a:p>
          <a:p>
            <a:pPr lvl="0"/>
            <a:r>
              <a:rPr lang="en-US" dirty="0" smtClean="0"/>
              <a:t>Ticks </a:t>
            </a:r>
            <a:r>
              <a:rPr lang="en-US" dirty="0"/>
              <a:t>and Mites are basically similar however, they have some distinct differences as follows:</a:t>
            </a:r>
          </a:p>
          <a:p>
            <a:endParaRPr lang="en-US" dirty="0"/>
          </a:p>
        </p:txBody>
      </p:sp>
    </p:spTree>
    <p:extLst>
      <p:ext uri="{BB962C8B-B14F-4D97-AF65-F5344CB8AC3E}">
        <p14:creationId xmlns:p14="http://schemas.microsoft.com/office/powerpoint/2010/main" val="2388913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685800"/>
            <a:ext cx="7924800" cy="7848600"/>
          </a:xfrm>
        </p:spPr>
      </p:pic>
    </p:spTree>
    <p:extLst>
      <p:ext uri="{BB962C8B-B14F-4D97-AF65-F5344CB8AC3E}">
        <p14:creationId xmlns:p14="http://schemas.microsoft.com/office/powerpoint/2010/main" val="2849511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PARASITIC ARACHNIDS CONT’D</a:t>
            </a:r>
            <a:r>
              <a:rPr lang="en-US" dirty="0" smtClean="0"/>
              <a:t/>
            </a:r>
            <a:br>
              <a:rPr lang="en-US" dirty="0" smtClean="0"/>
            </a:br>
            <a:endParaRPr lang="en-US" dirty="0"/>
          </a:p>
        </p:txBody>
      </p:sp>
      <p:sp>
        <p:nvSpPr>
          <p:cNvPr id="3" name="Content Placeholder 2"/>
          <p:cNvSpPr>
            <a:spLocks noGrp="1"/>
          </p:cNvSpPr>
          <p:nvPr>
            <p:ph idx="1"/>
          </p:nvPr>
        </p:nvSpPr>
        <p:spPr>
          <a:xfrm>
            <a:off x="457200" y="1600200"/>
            <a:ext cx="8686800" cy="5181600"/>
          </a:xfrm>
        </p:spPr>
        <p:txBody>
          <a:bodyPr numCol="2">
            <a:normAutofit fontScale="92500" lnSpcReduction="10000"/>
          </a:bodyPr>
          <a:lstStyle/>
          <a:p>
            <a:pPr marL="0" indent="0" algn="ctr">
              <a:buNone/>
            </a:pPr>
            <a:r>
              <a:rPr lang="en-US" dirty="0" smtClean="0"/>
              <a:t>   </a:t>
            </a:r>
            <a:r>
              <a:rPr lang="en-US" b="1" dirty="0"/>
              <a:t>Ticks	</a:t>
            </a:r>
            <a:endParaRPr lang="en-US" dirty="0" smtClean="0"/>
          </a:p>
          <a:p>
            <a:r>
              <a:rPr lang="en-US" dirty="0" err="1" smtClean="0"/>
              <a:t>Hypostome</a:t>
            </a:r>
            <a:r>
              <a:rPr lang="en-US" dirty="0" smtClean="0"/>
              <a:t> is toothed  and exposed	   </a:t>
            </a:r>
          </a:p>
          <a:p>
            <a:r>
              <a:rPr lang="en-US" dirty="0" smtClean="0"/>
              <a:t>Large</a:t>
            </a:r>
            <a:r>
              <a:rPr lang="en-US" dirty="0"/>
              <a:t>, </a:t>
            </a:r>
            <a:r>
              <a:rPr lang="en-US" dirty="0" smtClean="0"/>
              <a:t>macroscopic	</a:t>
            </a:r>
          </a:p>
          <a:p>
            <a:r>
              <a:rPr lang="en-US" dirty="0"/>
              <a:t>Haller’s organ present on first tarsi</a:t>
            </a:r>
            <a:r>
              <a:rPr lang="en-US" dirty="0" smtClean="0"/>
              <a:t>	</a:t>
            </a:r>
          </a:p>
          <a:p>
            <a:r>
              <a:rPr lang="en-US" dirty="0" err="1"/>
              <a:t>Peritreme</a:t>
            </a:r>
            <a:r>
              <a:rPr lang="en-US" dirty="0"/>
              <a:t> </a:t>
            </a:r>
            <a:r>
              <a:rPr lang="en-US" dirty="0" smtClean="0"/>
              <a:t>absent</a:t>
            </a:r>
          </a:p>
          <a:p>
            <a:r>
              <a:rPr lang="en-US" dirty="0"/>
              <a:t>Ticks feed on blood and </a:t>
            </a:r>
            <a:r>
              <a:rPr lang="en-US" dirty="0" smtClean="0"/>
              <a:t>lymph</a:t>
            </a:r>
          </a:p>
          <a:p>
            <a:endParaRPr lang="en-US" dirty="0"/>
          </a:p>
          <a:p>
            <a:pPr marL="0" indent="0" algn="ctr">
              <a:buNone/>
            </a:pPr>
            <a:r>
              <a:rPr lang="en-US" b="1" dirty="0"/>
              <a:t>Mites</a:t>
            </a:r>
            <a:endParaRPr lang="en-US" dirty="0"/>
          </a:p>
          <a:p>
            <a:r>
              <a:rPr lang="en-US" dirty="0" err="1" smtClean="0"/>
              <a:t>Hypostome</a:t>
            </a:r>
            <a:r>
              <a:rPr lang="en-US" dirty="0" smtClean="0"/>
              <a:t> </a:t>
            </a:r>
            <a:r>
              <a:rPr lang="en-US" dirty="0"/>
              <a:t>is unarmed and hidden</a:t>
            </a:r>
          </a:p>
          <a:p>
            <a:r>
              <a:rPr lang="en-US" sz="2800" dirty="0"/>
              <a:t>Small, usually </a:t>
            </a:r>
            <a:r>
              <a:rPr lang="en-US" sz="2800" dirty="0" smtClean="0"/>
              <a:t>microscopic</a:t>
            </a:r>
          </a:p>
          <a:p>
            <a:r>
              <a:rPr lang="en-US" sz="2800" dirty="0"/>
              <a:t>Haller’s organ is </a:t>
            </a:r>
            <a:r>
              <a:rPr lang="en-US" sz="2800" dirty="0" smtClean="0"/>
              <a:t>absent</a:t>
            </a:r>
          </a:p>
          <a:p>
            <a:endParaRPr lang="en-US" sz="2800" dirty="0"/>
          </a:p>
          <a:p>
            <a:r>
              <a:rPr lang="en-US" sz="2800" dirty="0" err="1"/>
              <a:t>Peritreme</a:t>
            </a:r>
            <a:r>
              <a:rPr lang="en-US" sz="2800" dirty="0"/>
              <a:t> present in </a:t>
            </a:r>
            <a:r>
              <a:rPr lang="en-US" sz="2800" dirty="0" err="1" smtClean="0"/>
              <a:t>Mesostigmata</a:t>
            </a:r>
            <a:endParaRPr lang="en-US" sz="2800" dirty="0" smtClean="0"/>
          </a:p>
          <a:p>
            <a:r>
              <a:rPr lang="en-US" sz="2800" dirty="0"/>
              <a:t>Most mites feed on lymph or other secretions </a:t>
            </a:r>
            <a:r>
              <a:rPr lang="en-US" sz="2800" dirty="0" smtClean="0"/>
              <a:t>rather </a:t>
            </a:r>
            <a:r>
              <a:rPr lang="en-US" sz="2800" dirty="0"/>
              <a:t>than on blood</a:t>
            </a:r>
          </a:p>
        </p:txBody>
      </p:sp>
    </p:spTree>
    <p:extLst>
      <p:ext uri="{BB962C8B-B14F-4D97-AF65-F5344CB8AC3E}">
        <p14:creationId xmlns:p14="http://schemas.microsoft.com/office/powerpoint/2010/main" val="3502617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TICKS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Ticks </a:t>
            </a:r>
            <a:r>
              <a:rPr lang="en-US" dirty="0"/>
              <a:t>are important as agents and vectors of disease causing pathogens because of the following pathogenic conditions attributable to them:</a:t>
            </a:r>
          </a:p>
          <a:p>
            <a:pPr marL="0" lvl="0" indent="0">
              <a:buNone/>
            </a:pPr>
            <a:r>
              <a:rPr lang="en-US" b="1" dirty="0" smtClean="0"/>
              <a:t>1. Anemia</a:t>
            </a:r>
            <a:r>
              <a:rPr lang="en-US" dirty="0" smtClean="0"/>
              <a:t>- </a:t>
            </a:r>
            <a:r>
              <a:rPr lang="en-US" dirty="0"/>
              <a:t>blood loss in heavy infections can be considerable</a:t>
            </a:r>
          </a:p>
          <a:p>
            <a:pPr marL="0" lvl="0" indent="0">
              <a:buNone/>
            </a:pPr>
            <a:r>
              <a:rPr lang="en-US" b="1" dirty="0" smtClean="0"/>
              <a:t>2. </a:t>
            </a:r>
            <a:r>
              <a:rPr lang="en-US" b="1" dirty="0" err="1" smtClean="0"/>
              <a:t>Dermatosis</a:t>
            </a:r>
            <a:r>
              <a:rPr lang="en-US" dirty="0" smtClean="0"/>
              <a:t>- </a:t>
            </a:r>
            <a:r>
              <a:rPr lang="en-US" dirty="0"/>
              <a:t>inflammation, swelling, ulcerations and itching can result from a tick bite; </a:t>
            </a:r>
          </a:p>
        </p:txBody>
      </p:sp>
    </p:spTree>
    <p:extLst>
      <p:ext uri="{BB962C8B-B14F-4D97-AF65-F5344CB8AC3E}">
        <p14:creationId xmlns:p14="http://schemas.microsoft.com/office/powerpoint/2010/main" val="2668053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TICKS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Ø"/>
            </a:pPr>
            <a:r>
              <a:rPr lang="en-US" dirty="0" smtClean="0"/>
              <a:t>these reactions are often caused by pieces of mouthparts left in a bite wound (after a tick is forcibly removed), constituents of tick saliva</a:t>
            </a:r>
          </a:p>
          <a:p>
            <a:pPr lvl="0">
              <a:buFont typeface="Wingdings" pitchFamily="2" charset="2"/>
              <a:buChar char="Ø"/>
            </a:pPr>
            <a:r>
              <a:rPr lang="en-US" dirty="0" smtClean="0"/>
              <a:t>and, secondary, bacterial infection  may also be involved.</a:t>
            </a:r>
          </a:p>
          <a:p>
            <a:pPr marL="0" indent="0">
              <a:buNone/>
            </a:pPr>
            <a:r>
              <a:rPr lang="en-US" b="1" dirty="0" smtClean="0"/>
              <a:t>3. Paralysis-</a:t>
            </a:r>
            <a:r>
              <a:rPr lang="en-US" dirty="0" smtClean="0"/>
              <a:t> </a:t>
            </a:r>
            <a:r>
              <a:rPr lang="en-US" dirty="0"/>
              <a:t>a condition known as</a:t>
            </a:r>
            <a:r>
              <a:rPr lang="en-US" b="1" dirty="0"/>
              <a:t> tick paralysis</a:t>
            </a:r>
            <a:r>
              <a:rPr lang="en-US" dirty="0"/>
              <a:t> is common in humans, dogs, cattle, and other mammals when they are bitten near the base of their skull, this condition seems to result from toxic secretions of the tick and is quickly reversed when the tick is removed.</a:t>
            </a:r>
          </a:p>
          <a:p>
            <a:pPr marL="0" lvl="0" indent="0">
              <a:buNone/>
            </a:pPr>
            <a:endParaRPr lang="en-US" dirty="0" smtClean="0"/>
          </a:p>
          <a:p>
            <a:endParaRPr lang="en-US" dirty="0" smtClean="0"/>
          </a:p>
          <a:p>
            <a:endParaRPr lang="en-US" dirty="0"/>
          </a:p>
        </p:txBody>
      </p:sp>
    </p:spTree>
    <p:extLst>
      <p:ext uri="{BB962C8B-B14F-4D97-AF65-F5344CB8AC3E}">
        <p14:creationId xmlns:p14="http://schemas.microsoft.com/office/powerpoint/2010/main" val="1587495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TICKS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marL="0" lvl="0" indent="0">
              <a:buNone/>
            </a:pPr>
            <a:r>
              <a:rPr lang="en-US" b="1" dirty="0" smtClean="0"/>
              <a:t>4. </a:t>
            </a:r>
            <a:r>
              <a:rPr lang="en-US" b="1" dirty="0" err="1" smtClean="0"/>
              <a:t>Otoacariasis</a:t>
            </a:r>
            <a:r>
              <a:rPr lang="en-US" dirty="0" smtClean="0"/>
              <a:t>-an </a:t>
            </a:r>
            <a:r>
              <a:rPr lang="en-US" dirty="0"/>
              <a:t>infestation of the ear canal by ticks causing a serious irritation, sometimes accompanied by severe infection.</a:t>
            </a:r>
          </a:p>
          <a:p>
            <a:pPr marL="0" lvl="0" indent="0">
              <a:buNone/>
            </a:pPr>
            <a:r>
              <a:rPr lang="en-US" b="1" dirty="0" smtClean="0"/>
              <a:t>5. Infections- </a:t>
            </a:r>
            <a:r>
              <a:rPr lang="en-US" dirty="0"/>
              <a:t>besides transmitting common pyogenic (pus-producing ) infections, ticks also transmit viruses, bacteria, </a:t>
            </a:r>
            <a:r>
              <a:rPr lang="en-US" dirty="0" err="1"/>
              <a:t>rickettsias</a:t>
            </a:r>
            <a:r>
              <a:rPr lang="en-US" dirty="0"/>
              <a:t>, spirochetes, protozoa and </a:t>
            </a:r>
            <a:r>
              <a:rPr lang="en-US" dirty="0" err="1"/>
              <a:t>filariae</a:t>
            </a:r>
            <a:r>
              <a:rPr lang="en-US" dirty="0"/>
              <a:t>.</a:t>
            </a:r>
          </a:p>
          <a:p>
            <a:pPr>
              <a:buFont typeface="Wingdings" pitchFamily="2" charset="2"/>
              <a:buChar char="v"/>
            </a:pPr>
            <a:r>
              <a:rPr lang="en-US" dirty="0" smtClean="0"/>
              <a:t>Losses </a:t>
            </a:r>
            <a:r>
              <a:rPr lang="en-US" dirty="0"/>
              <a:t>to the livestock industry in the US and Australia notably due to tick infestations and control efforts run into billions of dollars</a:t>
            </a:r>
          </a:p>
          <a:p>
            <a:pPr marL="0" indent="0">
              <a:buNone/>
            </a:pPr>
            <a:r>
              <a:rPr lang="en-US" dirty="0"/>
              <a:t> </a:t>
            </a:r>
          </a:p>
          <a:p>
            <a:endParaRPr lang="en-US" dirty="0"/>
          </a:p>
        </p:txBody>
      </p:sp>
    </p:spTree>
    <p:extLst>
      <p:ext uri="{BB962C8B-B14F-4D97-AF65-F5344CB8AC3E}">
        <p14:creationId xmlns:p14="http://schemas.microsoft.com/office/powerpoint/2010/main" val="2430200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Biology of Ticks (Some Highlights only)</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r>
              <a:rPr lang="en-US" b="1" dirty="0"/>
              <a:t> </a:t>
            </a:r>
            <a:r>
              <a:rPr lang="en-US" dirty="0" smtClean="0"/>
              <a:t>All </a:t>
            </a:r>
            <a:r>
              <a:rPr lang="en-US" dirty="0"/>
              <a:t>ticks undergo four basic stages in their life cycles, namely, egg - larva – nymph – adult, all of which might take 6 weeks to 3 years to complete depending on certain factors</a:t>
            </a:r>
            <a:r>
              <a:rPr lang="en-US" dirty="0" smtClean="0"/>
              <a:t>..</a:t>
            </a:r>
            <a:endParaRPr lang="en-US" dirty="0"/>
          </a:p>
          <a:p>
            <a:pPr lvl="0"/>
            <a:r>
              <a:rPr lang="en-US" dirty="0"/>
              <a:t> </a:t>
            </a:r>
            <a:r>
              <a:rPr lang="en-US" dirty="0" err="1"/>
              <a:t>Ixodids</a:t>
            </a:r>
            <a:r>
              <a:rPr lang="en-US" dirty="0"/>
              <a:t> have only one </a:t>
            </a:r>
            <a:r>
              <a:rPr lang="en-US" dirty="0" err="1"/>
              <a:t>nymphal</a:t>
            </a:r>
            <a:r>
              <a:rPr lang="en-US" dirty="0"/>
              <a:t> instar but </a:t>
            </a:r>
            <a:r>
              <a:rPr lang="en-US" dirty="0" err="1"/>
              <a:t>argasids</a:t>
            </a:r>
            <a:r>
              <a:rPr lang="en-US" dirty="0"/>
              <a:t> have five; </a:t>
            </a:r>
            <a:endParaRPr lang="en-US" dirty="0" smtClean="0"/>
          </a:p>
          <a:p>
            <a:pPr lvl="0"/>
            <a:r>
              <a:rPr lang="en-US" dirty="0" smtClean="0"/>
              <a:t>copulation </a:t>
            </a:r>
            <a:r>
              <a:rPr lang="en-US" dirty="0"/>
              <a:t>occurs on the host; a blood meal is usually required for egg production, but with some exceptions, and some are </a:t>
            </a:r>
            <a:r>
              <a:rPr lang="en-US" dirty="0" err="1"/>
              <a:t>parthenogenetic</a:t>
            </a:r>
            <a:endParaRPr lang="en-US" dirty="0"/>
          </a:p>
          <a:p>
            <a:endParaRPr lang="en-US" dirty="0"/>
          </a:p>
        </p:txBody>
      </p:sp>
    </p:spTree>
    <p:extLst>
      <p:ext uri="{BB962C8B-B14F-4D97-AF65-F5344CB8AC3E}">
        <p14:creationId xmlns:p14="http://schemas.microsoft.com/office/powerpoint/2010/main" val="1554108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Biology of Ticks (Some Highlights only)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An engorged female drops to the ground from the host, and deposits eggs in the soil or humus.</a:t>
            </a:r>
          </a:p>
          <a:p>
            <a:pPr lvl="0"/>
            <a:r>
              <a:rPr lang="en-US" dirty="0" smtClean="0"/>
              <a:t>A six-legged larva hatches from each of the 100 to 18,000 eggs and climbs onto a low vegetation to await a host, on which it feeds and </a:t>
            </a:r>
            <a:r>
              <a:rPr lang="en-US" dirty="0" err="1" smtClean="0"/>
              <a:t>moults</a:t>
            </a:r>
            <a:r>
              <a:rPr lang="en-US" dirty="0" smtClean="0"/>
              <a:t> to an eight-legged nymph</a:t>
            </a:r>
          </a:p>
          <a:p>
            <a:endParaRPr lang="en-US" dirty="0"/>
          </a:p>
        </p:txBody>
      </p:sp>
    </p:spTree>
    <p:extLst>
      <p:ext uri="{BB962C8B-B14F-4D97-AF65-F5344CB8AC3E}">
        <p14:creationId xmlns:p14="http://schemas.microsoft.com/office/powerpoint/2010/main" val="35351159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Biology of Ticks (Some Highlights only)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err="1"/>
              <a:t>Moulting</a:t>
            </a:r>
            <a:r>
              <a:rPr lang="en-US" dirty="0"/>
              <a:t> through all instars may occur on one, two, three or many hosts giving rise to one-host, two-host, three-host ticks, etc</a:t>
            </a:r>
            <a:r>
              <a:rPr lang="en-US" dirty="0" smtClean="0"/>
              <a:t>.</a:t>
            </a:r>
          </a:p>
          <a:p>
            <a:pPr lvl="0"/>
            <a:r>
              <a:rPr lang="en-US" dirty="0" smtClean="0"/>
              <a:t> </a:t>
            </a:r>
            <a:r>
              <a:rPr lang="en-US" dirty="0"/>
              <a:t>Most </a:t>
            </a:r>
            <a:r>
              <a:rPr lang="en-US" dirty="0" err="1"/>
              <a:t>Ixodids</a:t>
            </a:r>
            <a:r>
              <a:rPr lang="en-US" dirty="0"/>
              <a:t> are three-host ticks whereas </a:t>
            </a:r>
            <a:r>
              <a:rPr lang="en-US" dirty="0" err="1"/>
              <a:t>argasids</a:t>
            </a:r>
            <a:r>
              <a:rPr lang="en-US" dirty="0"/>
              <a:t>, with their multiple </a:t>
            </a:r>
            <a:r>
              <a:rPr lang="en-US" dirty="0" err="1"/>
              <a:t>nymphal</a:t>
            </a:r>
            <a:r>
              <a:rPr lang="en-US" dirty="0"/>
              <a:t> stages are many-host ticks; some ticks </a:t>
            </a:r>
            <a:r>
              <a:rPr lang="en-US" dirty="0" smtClean="0"/>
              <a:t>are </a:t>
            </a:r>
            <a:r>
              <a:rPr lang="en-US" dirty="0"/>
              <a:t>however, host-specific whilst most are opportunists that will feed on a variety of hosts</a:t>
            </a:r>
            <a:r>
              <a:rPr lang="en-US" dirty="0" smtClean="0"/>
              <a:t>.</a:t>
            </a:r>
            <a:endParaRPr lang="en-US" dirty="0"/>
          </a:p>
        </p:txBody>
      </p:sp>
    </p:spTree>
    <p:extLst>
      <p:ext uri="{BB962C8B-B14F-4D97-AF65-F5344CB8AC3E}">
        <p14:creationId xmlns:p14="http://schemas.microsoft.com/office/powerpoint/2010/main" val="2616896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Biology of Ticks (Some Highlights only)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Ticks are hardy and can withstand periods of starvation as long as 16 years; some have a life-span of up to 21 years.</a:t>
            </a:r>
          </a:p>
          <a:p>
            <a:pPr lvl="0"/>
            <a:r>
              <a:rPr lang="en-US" dirty="0"/>
              <a:t>Two families of ticks are of medical importance, </a:t>
            </a:r>
            <a:r>
              <a:rPr lang="en-US" dirty="0" err="1"/>
              <a:t>viz</a:t>
            </a:r>
            <a:endParaRPr lang="en-US" dirty="0"/>
          </a:p>
          <a:p>
            <a:pPr marL="514350" lvl="0" indent="-514350">
              <a:buFont typeface="+mj-lt"/>
              <a:buAutoNum type="arabicPeriod"/>
            </a:pPr>
            <a:r>
              <a:rPr lang="en-US" dirty="0" err="1"/>
              <a:t>Argasidae</a:t>
            </a:r>
            <a:r>
              <a:rPr lang="en-US" dirty="0"/>
              <a:t> –soft ticks and </a:t>
            </a:r>
          </a:p>
          <a:p>
            <a:pPr marL="514350" lvl="0" indent="-514350">
              <a:buFont typeface="+mj-lt"/>
              <a:buAutoNum type="arabicPeriod"/>
            </a:pPr>
            <a:r>
              <a:rPr lang="en-US" dirty="0" err="1"/>
              <a:t>Ixodidae</a:t>
            </a:r>
            <a:r>
              <a:rPr lang="en-US" dirty="0"/>
              <a:t> – hard ticks</a:t>
            </a:r>
          </a:p>
          <a:p>
            <a:endParaRPr lang="en-US" dirty="0" smtClean="0"/>
          </a:p>
          <a:p>
            <a:endParaRPr lang="en-US" dirty="0"/>
          </a:p>
        </p:txBody>
      </p:sp>
    </p:spTree>
    <p:extLst>
      <p:ext uri="{BB962C8B-B14F-4D97-AF65-F5344CB8AC3E}">
        <p14:creationId xmlns:p14="http://schemas.microsoft.com/office/powerpoint/2010/main" val="5151255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a:t/>
            </a:r>
            <a:br>
              <a:rPr lang="en-US" b="1" dirty="0"/>
            </a:br>
            <a:r>
              <a:rPr lang="en-US" b="1" dirty="0" smtClean="0"/>
              <a:t>Family </a:t>
            </a:r>
            <a:r>
              <a:rPr lang="en-US" b="1" dirty="0" err="1" smtClean="0"/>
              <a:t>Argasidae</a:t>
            </a:r>
            <a:r>
              <a:rPr lang="en-US" b="1" dirty="0" smtClean="0"/>
              <a:t> (Soft Ticks)</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This </a:t>
            </a:r>
            <a:r>
              <a:rPr lang="en-US" dirty="0"/>
              <a:t>contains five genera of  which the genus, </a:t>
            </a:r>
            <a:r>
              <a:rPr lang="en-US" b="1" i="1" dirty="0" err="1"/>
              <a:t>Ornithodoras</a:t>
            </a:r>
            <a:r>
              <a:rPr lang="en-US" dirty="0"/>
              <a:t> is  of great importance because the species </a:t>
            </a:r>
            <a:r>
              <a:rPr lang="en-US" b="1" i="1" dirty="0"/>
              <a:t>O. </a:t>
            </a:r>
            <a:r>
              <a:rPr lang="en-US" b="1" i="1" dirty="0" err="1"/>
              <a:t>moubata</a:t>
            </a:r>
            <a:r>
              <a:rPr lang="en-US" b="1" i="1" dirty="0"/>
              <a:t>  </a:t>
            </a:r>
            <a:r>
              <a:rPr lang="en-US" dirty="0"/>
              <a:t>sucks the blood of humans </a:t>
            </a:r>
            <a:r>
              <a:rPr lang="en-US" dirty="0" smtClean="0"/>
              <a:t> </a:t>
            </a:r>
          </a:p>
          <a:p>
            <a:pPr lvl="0"/>
            <a:r>
              <a:rPr lang="en-US" dirty="0" smtClean="0"/>
              <a:t>and </a:t>
            </a:r>
            <a:r>
              <a:rPr lang="en-US" dirty="0"/>
              <a:t>can transmit the </a:t>
            </a:r>
            <a:r>
              <a:rPr lang="en-US" dirty="0" err="1"/>
              <a:t>borrreline</a:t>
            </a:r>
            <a:r>
              <a:rPr lang="en-US" dirty="0"/>
              <a:t> of Relapsing fever.</a:t>
            </a:r>
          </a:p>
          <a:p>
            <a:pPr lvl="0"/>
            <a:r>
              <a:rPr lang="en-US" dirty="0"/>
              <a:t>Once infected with </a:t>
            </a:r>
            <a:r>
              <a:rPr lang="en-US" b="1" i="1" dirty="0" err="1"/>
              <a:t>Borrelia</a:t>
            </a:r>
            <a:r>
              <a:rPr lang="en-US" b="1" i="1" dirty="0"/>
              <a:t> </a:t>
            </a:r>
            <a:r>
              <a:rPr lang="en-US" b="1" i="1" dirty="0" err="1"/>
              <a:t>duttoni</a:t>
            </a:r>
            <a:r>
              <a:rPr lang="en-US" dirty="0"/>
              <a:t>, a tick remains infected for life, and would transmit the </a:t>
            </a:r>
            <a:r>
              <a:rPr lang="en-US" dirty="0" err="1"/>
              <a:t>borreline</a:t>
            </a:r>
            <a:r>
              <a:rPr lang="en-US" dirty="0"/>
              <a:t> to new generations of ticks</a:t>
            </a:r>
          </a:p>
          <a:p>
            <a:endParaRPr lang="en-US" dirty="0"/>
          </a:p>
        </p:txBody>
      </p:sp>
    </p:spTree>
    <p:extLst>
      <p:ext uri="{BB962C8B-B14F-4D97-AF65-F5344CB8AC3E}">
        <p14:creationId xmlns:p14="http://schemas.microsoft.com/office/powerpoint/2010/main" val="874427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Family </a:t>
            </a:r>
            <a:r>
              <a:rPr lang="en-US" b="1" dirty="0" err="1" smtClean="0"/>
              <a:t>Argasidae</a:t>
            </a:r>
            <a:r>
              <a:rPr lang="en-US" b="1" dirty="0" smtClean="0"/>
              <a:t> (Soft Ticks) cont’d</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smtClean="0"/>
              <a:t>Human infection occurs when the </a:t>
            </a:r>
            <a:r>
              <a:rPr lang="en-US" dirty="0" err="1" smtClean="0"/>
              <a:t>borreline</a:t>
            </a:r>
            <a:r>
              <a:rPr lang="en-US" dirty="0" smtClean="0"/>
              <a:t> are deposited on the skin in fluid from the </a:t>
            </a:r>
            <a:r>
              <a:rPr lang="en-US" dirty="0" err="1" smtClean="0"/>
              <a:t>coxal</a:t>
            </a:r>
            <a:r>
              <a:rPr lang="en-US" dirty="0" smtClean="0"/>
              <a:t> gland when the tick bites or, when the tick is crushed on the skin</a:t>
            </a:r>
          </a:p>
          <a:p>
            <a:pPr lvl="0"/>
            <a:r>
              <a:rPr lang="en-US" dirty="0"/>
              <a:t>They are </a:t>
            </a:r>
            <a:r>
              <a:rPr lang="en-US" dirty="0" err="1"/>
              <a:t>ectoparasitic</a:t>
            </a:r>
            <a:r>
              <a:rPr lang="en-US" dirty="0"/>
              <a:t> and can survive for long periods without a host; they survive best in dry climates</a:t>
            </a:r>
          </a:p>
          <a:p>
            <a:pPr lvl="0"/>
            <a:r>
              <a:rPr lang="en-US" dirty="0"/>
              <a:t>Life cycle takes 6-12 months and there are up to eight </a:t>
            </a:r>
            <a:r>
              <a:rPr lang="en-US" dirty="0" err="1"/>
              <a:t>nymphal</a:t>
            </a:r>
            <a:r>
              <a:rPr lang="en-US" dirty="0"/>
              <a:t> stages, all spent on one host; both sexes feed on blood</a:t>
            </a:r>
          </a:p>
          <a:p>
            <a:endParaRPr lang="en-US" dirty="0"/>
          </a:p>
        </p:txBody>
      </p:sp>
    </p:spTree>
    <p:extLst>
      <p:ext uri="{BB962C8B-B14F-4D97-AF65-F5344CB8AC3E}">
        <p14:creationId xmlns:p14="http://schemas.microsoft.com/office/powerpoint/2010/main" val="559034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14400" y="152400"/>
            <a:ext cx="6629400" cy="6096000"/>
          </a:xfrm>
        </p:spPr>
      </p:pic>
    </p:spTree>
    <p:extLst>
      <p:ext uri="{BB962C8B-B14F-4D97-AF65-F5344CB8AC3E}">
        <p14:creationId xmlns:p14="http://schemas.microsoft.com/office/powerpoint/2010/main" val="39085130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Family </a:t>
            </a:r>
            <a:r>
              <a:rPr lang="en-US" b="1" dirty="0" err="1" smtClean="0"/>
              <a:t>Argasidae</a:t>
            </a:r>
            <a:r>
              <a:rPr lang="en-US" b="1" dirty="0" smtClean="0"/>
              <a:t> (Soft Ticks) cont’d</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Generally, </a:t>
            </a:r>
            <a:r>
              <a:rPr lang="en-US" dirty="0" err="1"/>
              <a:t>argasid</a:t>
            </a:r>
            <a:r>
              <a:rPr lang="en-US" dirty="0"/>
              <a:t> ticks inhabit localities of extremely low relative humidity; those that occur in wet climate seek dry microhabitats in which to live.</a:t>
            </a:r>
          </a:p>
          <a:p>
            <a:pPr lvl="0"/>
            <a:r>
              <a:rPr lang="en-US" dirty="0"/>
              <a:t>Unlike </a:t>
            </a:r>
            <a:r>
              <a:rPr lang="en-US" dirty="0" err="1"/>
              <a:t>ixodid</a:t>
            </a:r>
            <a:r>
              <a:rPr lang="en-US" dirty="0"/>
              <a:t> ticks, </a:t>
            </a:r>
            <a:r>
              <a:rPr lang="en-US" dirty="0" err="1"/>
              <a:t>argasid</a:t>
            </a:r>
            <a:r>
              <a:rPr lang="en-US" dirty="0"/>
              <a:t> ticks feed repeatedly, resting away from a host between meals, </a:t>
            </a:r>
            <a:endParaRPr lang="en-US" dirty="0" smtClean="0"/>
          </a:p>
          <a:p>
            <a:pPr lvl="0"/>
            <a:r>
              <a:rPr lang="en-US" dirty="0" smtClean="0"/>
              <a:t>and </a:t>
            </a:r>
            <a:r>
              <a:rPr lang="en-US" dirty="0"/>
              <a:t>hiding in loose soil, crevices, bird’s nests, etc.</a:t>
            </a:r>
          </a:p>
          <a:p>
            <a:endParaRPr lang="en-US" dirty="0"/>
          </a:p>
        </p:txBody>
      </p:sp>
    </p:spTree>
    <p:extLst>
      <p:ext uri="{BB962C8B-B14F-4D97-AF65-F5344CB8AC3E}">
        <p14:creationId xmlns:p14="http://schemas.microsoft.com/office/powerpoint/2010/main" val="13253232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Family </a:t>
            </a:r>
            <a:r>
              <a:rPr lang="en-US" b="1" dirty="0" err="1" smtClean="0"/>
              <a:t>Argasidae</a:t>
            </a:r>
            <a:r>
              <a:rPr lang="en-US" b="1" dirty="0" smtClean="0"/>
              <a:t> (Soft Ticks) cont’d</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Adult females lay eggs in their hiding places several times between feedings; the total number of eggs laid is low, usually less than 500.</a:t>
            </a:r>
          </a:p>
          <a:p>
            <a:pPr lvl="0"/>
            <a:r>
              <a:rPr lang="en-US" dirty="0"/>
              <a:t>The species in the genus </a:t>
            </a:r>
            <a:r>
              <a:rPr lang="en-US" i="1" dirty="0" err="1"/>
              <a:t>Ornithodoros</a:t>
            </a:r>
            <a:r>
              <a:rPr lang="en-US" dirty="0"/>
              <a:t> are closely related and form a complex and all of them are important vectors of relapsing fever</a:t>
            </a:r>
          </a:p>
          <a:p>
            <a:endParaRPr lang="en-US" dirty="0"/>
          </a:p>
        </p:txBody>
      </p:sp>
    </p:spTree>
    <p:extLst>
      <p:ext uri="{BB962C8B-B14F-4D97-AF65-F5344CB8AC3E}">
        <p14:creationId xmlns:p14="http://schemas.microsoft.com/office/powerpoint/2010/main" val="35617753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Family </a:t>
            </a:r>
            <a:r>
              <a:rPr lang="en-US" b="1" dirty="0" err="1" smtClean="0"/>
              <a:t>Argasidae</a:t>
            </a:r>
            <a:r>
              <a:rPr lang="en-US" b="1" dirty="0" smtClean="0"/>
              <a:t> (Soft Ticks) cont’d</a:t>
            </a:r>
            <a:r>
              <a:rPr lang="en-US" dirty="0" smtClean="0"/>
              <a:t/>
            </a:r>
            <a:br>
              <a:rPr lang="en-US" dirty="0" smtClean="0"/>
            </a:br>
            <a:r>
              <a:rPr lang="en-US" b="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b="1" i="1" dirty="0" err="1"/>
              <a:t>Ornithodoros</a:t>
            </a:r>
            <a:r>
              <a:rPr lang="en-US" i="1" dirty="0"/>
              <a:t> </a:t>
            </a:r>
            <a:r>
              <a:rPr lang="en-US" dirty="0"/>
              <a:t>ticks are thick, leathery and rounded, are over 100 species; </a:t>
            </a:r>
            <a:endParaRPr lang="en-US" dirty="0" smtClean="0"/>
          </a:p>
          <a:p>
            <a:pPr lvl="0"/>
            <a:r>
              <a:rPr lang="en-US" dirty="0" smtClean="0"/>
              <a:t>all </a:t>
            </a:r>
            <a:r>
              <a:rPr lang="en-US" dirty="0"/>
              <a:t>parasitize mammals including bats but usually not birds or reptiles, although one species is reportedly been found on marine birds in N. America.</a:t>
            </a:r>
          </a:p>
          <a:p>
            <a:endParaRPr lang="en-US" dirty="0"/>
          </a:p>
        </p:txBody>
      </p:sp>
    </p:spTree>
    <p:extLst>
      <p:ext uri="{BB962C8B-B14F-4D97-AF65-F5344CB8AC3E}">
        <p14:creationId xmlns:p14="http://schemas.microsoft.com/office/powerpoint/2010/main" val="632512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Ixodidae</a:t>
            </a:r>
            <a:r>
              <a:rPr lang="en-US" b="1" dirty="0" smtClean="0"/>
              <a:t> (Hard Ticks)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 </a:t>
            </a:r>
            <a:r>
              <a:rPr lang="en-US" dirty="0" smtClean="0"/>
              <a:t>These </a:t>
            </a:r>
            <a:r>
              <a:rPr lang="en-US" dirty="0"/>
              <a:t>are easily recognized by the terminal position of their </a:t>
            </a:r>
            <a:r>
              <a:rPr lang="en-US" dirty="0" err="1"/>
              <a:t>capitulum</a:t>
            </a:r>
            <a:r>
              <a:rPr lang="en-US" dirty="0"/>
              <a:t> (</a:t>
            </a:r>
            <a:r>
              <a:rPr lang="en-US" dirty="0" err="1"/>
              <a:t>gnathosoma</a:t>
            </a:r>
            <a:r>
              <a:rPr lang="en-US" dirty="0"/>
              <a:t> or the anterior region of the body which bears the mouthparts) which can be seen in dorsal view</a:t>
            </a:r>
            <a:r>
              <a:rPr lang="en-US" dirty="0" smtClean="0"/>
              <a:t>,</a:t>
            </a:r>
          </a:p>
          <a:p>
            <a:r>
              <a:rPr lang="en-US" dirty="0" smtClean="0"/>
              <a:t> In </a:t>
            </a:r>
            <a:r>
              <a:rPr lang="en-US" dirty="0"/>
              <a:t>contrast to that of soft ticks (</a:t>
            </a:r>
            <a:r>
              <a:rPr lang="en-US" dirty="0" err="1"/>
              <a:t>Argasidae</a:t>
            </a:r>
            <a:r>
              <a:rPr lang="en-US" dirty="0"/>
              <a:t>) which is </a:t>
            </a:r>
            <a:r>
              <a:rPr lang="en-US" dirty="0" err="1"/>
              <a:t>subterminal</a:t>
            </a:r>
            <a:r>
              <a:rPr lang="en-US" dirty="0"/>
              <a:t> and cannot be seen in dorsal view.</a:t>
            </a:r>
          </a:p>
          <a:p>
            <a:pPr lvl="0"/>
            <a:r>
              <a:rPr lang="en-US" dirty="0"/>
              <a:t>They have a hard dorsal covering and mouthparts which can be seen from above.</a:t>
            </a:r>
          </a:p>
          <a:p>
            <a:pPr lvl="0"/>
            <a:r>
              <a:rPr lang="en-US" dirty="0"/>
              <a:t>They may be dark or brightly </a:t>
            </a:r>
            <a:r>
              <a:rPr lang="en-US" dirty="0" err="1"/>
              <a:t>coloured</a:t>
            </a:r>
            <a:r>
              <a:rPr lang="en-US" dirty="0"/>
              <a:t> with metallic </a:t>
            </a:r>
            <a:r>
              <a:rPr lang="en-US" dirty="0" smtClean="0"/>
              <a:t>markings.</a:t>
            </a:r>
            <a:endParaRPr lang="en-US" dirty="0"/>
          </a:p>
        </p:txBody>
      </p:sp>
    </p:spTree>
    <p:extLst>
      <p:ext uri="{BB962C8B-B14F-4D97-AF65-F5344CB8AC3E}">
        <p14:creationId xmlns:p14="http://schemas.microsoft.com/office/powerpoint/2010/main" val="2457364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Ixodidae</a:t>
            </a:r>
            <a:r>
              <a:rPr lang="en-US" b="1" dirty="0" smtClean="0"/>
              <a:t> (Hard Ticks)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a:t>There are three subfamilies: </a:t>
            </a:r>
            <a:r>
              <a:rPr lang="en-US" dirty="0" err="1"/>
              <a:t>Ixodinae</a:t>
            </a:r>
            <a:r>
              <a:rPr lang="en-US" dirty="0"/>
              <a:t> with a single genus</a:t>
            </a:r>
            <a:r>
              <a:rPr lang="en-US" i="1" dirty="0"/>
              <a:t>, </a:t>
            </a:r>
            <a:r>
              <a:rPr lang="en-US" i="1" dirty="0" err="1"/>
              <a:t>Ixodes</a:t>
            </a:r>
            <a:r>
              <a:rPr lang="en-US" dirty="0"/>
              <a:t>; </a:t>
            </a:r>
            <a:r>
              <a:rPr lang="en-US" dirty="0" err="1"/>
              <a:t>Amblyominae</a:t>
            </a:r>
            <a:r>
              <a:rPr lang="en-US" dirty="0"/>
              <a:t>, containing the genus </a:t>
            </a:r>
            <a:r>
              <a:rPr lang="en-US" b="1" i="1" dirty="0" err="1"/>
              <a:t>Amblyomma</a:t>
            </a:r>
            <a:r>
              <a:rPr lang="en-US" b="1" i="1" dirty="0"/>
              <a:t>, </a:t>
            </a:r>
            <a:r>
              <a:rPr lang="en-US" b="1" i="1" dirty="0" err="1"/>
              <a:t>Dermacentor</a:t>
            </a:r>
            <a:r>
              <a:rPr lang="en-US" b="1" dirty="0"/>
              <a:t> </a:t>
            </a:r>
            <a:endParaRPr lang="en-US" b="1" dirty="0" smtClean="0"/>
          </a:p>
          <a:p>
            <a:pPr lvl="0"/>
            <a:r>
              <a:rPr lang="en-US" dirty="0" smtClean="0"/>
              <a:t>and </a:t>
            </a:r>
            <a:r>
              <a:rPr lang="en-US" dirty="0"/>
              <a:t>two others; and </a:t>
            </a:r>
            <a:r>
              <a:rPr lang="en-US" dirty="0" err="1"/>
              <a:t>Rhipicephalinae</a:t>
            </a:r>
            <a:r>
              <a:rPr lang="en-US" dirty="0"/>
              <a:t> containing five genera.</a:t>
            </a:r>
          </a:p>
          <a:p>
            <a:pPr lvl="0"/>
            <a:r>
              <a:rPr lang="en-US" dirty="0"/>
              <a:t>Among the hard ticks, the genera </a:t>
            </a:r>
            <a:r>
              <a:rPr lang="en-US" b="1" i="1" dirty="0" err="1"/>
              <a:t>Ixodes</a:t>
            </a:r>
            <a:r>
              <a:rPr lang="en-US" b="1" i="1" dirty="0"/>
              <a:t>, </a:t>
            </a:r>
            <a:r>
              <a:rPr lang="en-US" b="1" i="1" dirty="0" err="1"/>
              <a:t>Dermacentor</a:t>
            </a:r>
            <a:r>
              <a:rPr lang="en-US" b="1" dirty="0"/>
              <a:t> and </a:t>
            </a:r>
            <a:r>
              <a:rPr lang="en-US" b="1" i="1" dirty="0" err="1"/>
              <a:t>Amblyomma</a:t>
            </a:r>
            <a:r>
              <a:rPr lang="en-US" b="1" dirty="0"/>
              <a:t> </a:t>
            </a:r>
            <a:r>
              <a:rPr lang="en-US" dirty="0"/>
              <a:t>are medically important</a:t>
            </a:r>
            <a:r>
              <a:rPr lang="en-US" dirty="0" smtClean="0"/>
              <a:t>:</a:t>
            </a:r>
            <a:endParaRPr lang="en-US" dirty="0"/>
          </a:p>
        </p:txBody>
      </p:sp>
    </p:spTree>
    <p:extLst>
      <p:ext uri="{BB962C8B-B14F-4D97-AF65-F5344CB8AC3E}">
        <p14:creationId xmlns:p14="http://schemas.microsoft.com/office/powerpoint/2010/main" val="9471167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Ixodidae</a:t>
            </a:r>
            <a:r>
              <a:rPr lang="en-US" b="1" dirty="0" smtClean="0"/>
              <a:t> (Hard Ticks)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smtClean="0"/>
              <a:t>Both </a:t>
            </a:r>
            <a:r>
              <a:rPr lang="en-US" b="1" i="1" dirty="0" err="1" smtClean="0"/>
              <a:t>Amblyomma</a:t>
            </a:r>
            <a:r>
              <a:rPr lang="en-US" b="1" dirty="0" smtClean="0"/>
              <a:t> </a:t>
            </a:r>
            <a:r>
              <a:rPr lang="en-US" dirty="0" smtClean="0"/>
              <a:t>and </a:t>
            </a:r>
            <a:r>
              <a:rPr lang="en-US" b="1" i="1" dirty="0" err="1" smtClean="0"/>
              <a:t>Dermacentor</a:t>
            </a:r>
            <a:r>
              <a:rPr lang="en-US" dirty="0" smtClean="0"/>
              <a:t> transmit tick-borne typhus</a:t>
            </a:r>
          </a:p>
          <a:p>
            <a:pPr lvl="0">
              <a:buFont typeface="Wingdings" pitchFamily="2" charset="2"/>
              <a:buChar char="Ø"/>
            </a:pPr>
            <a:r>
              <a:rPr lang="en-US" b="1" i="1" dirty="0" err="1" smtClean="0"/>
              <a:t>Dermacentor</a:t>
            </a:r>
            <a:r>
              <a:rPr lang="en-US" dirty="0" smtClean="0"/>
              <a:t> ticks transmit tick-borne encephalitis.</a:t>
            </a:r>
          </a:p>
          <a:p>
            <a:pPr>
              <a:buFont typeface="Wingdings" pitchFamily="2" charset="2"/>
              <a:buChar char="Ø"/>
            </a:pPr>
            <a:r>
              <a:rPr lang="en-US" i="1" dirty="0" err="1" smtClean="0"/>
              <a:t>Ixodes</a:t>
            </a:r>
            <a:r>
              <a:rPr lang="en-US" dirty="0" smtClean="0"/>
              <a:t> ticks are vectors of Lyme disease caused by the </a:t>
            </a:r>
            <a:r>
              <a:rPr lang="en-US" dirty="0" err="1" smtClean="0"/>
              <a:t>spirochaete</a:t>
            </a:r>
            <a:r>
              <a:rPr lang="en-US" dirty="0" smtClean="0"/>
              <a:t> </a:t>
            </a:r>
            <a:r>
              <a:rPr lang="en-US" b="1" i="1" dirty="0" err="1" smtClean="0"/>
              <a:t>Borrelia</a:t>
            </a:r>
            <a:r>
              <a:rPr lang="en-US" b="1" i="1" dirty="0" smtClean="0"/>
              <a:t> </a:t>
            </a:r>
            <a:r>
              <a:rPr lang="en-US" b="1" i="1" dirty="0" err="1" smtClean="0"/>
              <a:t>burgdorteri</a:t>
            </a:r>
            <a:endParaRPr lang="en-US" b="1" dirty="0" smtClean="0"/>
          </a:p>
          <a:p>
            <a:endParaRPr lang="en-US" dirty="0"/>
          </a:p>
        </p:txBody>
      </p:sp>
    </p:spTree>
    <p:extLst>
      <p:ext uri="{BB962C8B-B14F-4D97-AF65-F5344CB8AC3E}">
        <p14:creationId xmlns:p14="http://schemas.microsoft.com/office/powerpoint/2010/main" val="1583792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Ixodidae</a:t>
            </a:r>
            <a:r>
              <a:rPr lang="en-US" b="1" dirty="0" smtClean="0"/>
              <a:t> (Hard Ticks)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Hard ticks parasitize humans and animals, with both sexes feeding on blood</a:t>
            </a:r>
          </a:p>
          <a:p>
            <a:pPr lvl="0"/>
            <a:r>
              <a:rPr lang="en-US" dirty="0"/>
              <a:t>Eggs are laid in a single batch after which the female dies</a:t>
            </a:r>
          </a:p>
          <a:p>
            <a:pPr lvl="0"/>
            <a:r>
              <a:rPr lang="en-US" dirty="0"/>
              <a:t>There is only one larval and one </a:t>
            </a:r>
            <a:r>
              <a:rPr lang="en-US" dirty="0" err="1"/>
              <a:t>nymphal</a:t>
            </a:r>
            <a:r>
              <a:rPr lang="en-US" dirty="0"/>
              <a:t> stage from which the adult emerges; </a:t>
            </a:r>
            <a:endParaRPr lang="en-US" dirty="0" smtClean="0"/>
          </a:p>
          <a:p>
            <a:pPr lvl="0"/>
            <a:r>
              <a:rPr lang="en-US" dirty="0" smtClean="0"/>
              <a:t>each </a:t>
            </a:r>
            <a:r>
              <a:rPr lang="en-US" dirty="0"/>
              <a:t>stage of development may be spent on a different host; a blood meal is required for each stage.</a:t>
            </a:r>
          </a:p>
          <a:p>
            <a:endParaRPr lang="en-US" dirty="0"/>
          </a:p>
        </p:txBody>
      </p:sp>
    </p:spTree>
    <p:extLst>
      <p:ext uri="{BB962C8B-B14F-4D97-AF65-F5344CB8AC3E}">
        <p14:creationId xmlns:p14="http://schemas.microsoft.com/office/powerpoint/2010/main" val="1319984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Ixodes</a:t>
            </a:r>
            <a:r>
              <a:rPr lang="en-US" b="1" i="1" dirty="0" smtClean="0"/>
              <a:t> sp.</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The </a:t>
            </a:r>
            <a:r>
              <a:rPr lang="en-US" dirty="0"/>
              <a:t>largest genus of hard ticks, with over200 species, most of which </a:t>
            </a:r>
            <a:r>
              <a:rPr lang="en-US" dirty="0" err="1"/>
              <a:t>parsitize</a:t>
            </a:r>
            <a:r>
              <a:rPr lang="en-US" dirty="0"/>
              <a:t> small mammals, they being small themselves</a:t>
            </a:r>
          </a:p>
          <a:p>
            <a:pPr lvl="0"/>
            <a:r>
              <a:rPr lang="en-US" dirty="0"/>
              <a:t>Lyme disease which </a:t>
            </a:r>
            <a:r>
              <a:rPr lang="en-US" dirty="0" err="1"/>
              <a:t>Ixodes</a:t>
            </a:r>
            <a:r>
              <a:rPr lang="en-US" dirty="0"/>
              <a:t> transmit is named after the town, old Lyme in Connecticut, USA, where an epidemic of arthritis occurred in the mid-1970s:</a:t>
            </a:r>
          </a:p>
          <a:p>
            <a:endParaRPr lang="en-US" dirty="0"/>
          </a:p>
        </p:txBody>
      </p:sp>
    </p:spTree>
    <p:extLst>
      <p:ext uri="{BB962C8B-B14F-4D97-AF65-F5344CB8AC3E}">
        <p14:creationId xmlns:p14="http://schemas.microsoft.com/office/powerpoint/2010/main" val="14229072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Ixodes</a:t>
            </a:r>
            <a:r>
              <a:rPr lang="en-US" b="1" i="1" dirty="0" smtClean="0"/>
              <a:t> sp.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Many of those afflicted noticed a skin erythema (red swelling and rash) at the site of a tick bite prior to the onset of joint pains</a:t>
            </a:r>
          </a:p>
          <a:p>
            <a:pPr lvl="0">
              <a:buFont typeface="Wingdings" pitchFamily="2" charset="2"/>
              <a:buChar char="Ø"/>
            </a:pPr>
            <a:r>
              <a:rPr lang="en-US" dirty="0"/>
              <a:t>The rash sometimes </a:t>
            </a:r>
            <a:r>
              <a:rPr lang="en-US" dirty="0" err="1"/>
              <a:t>spread,and</a:t>
            </a:r>
            <a:r>
              <a:rPr lang="en-US" dirty="0"/>
              <a:t> was often accompanied by fever and headaches</a:t>
            </a:r>
          </a:p>
          <a:p>
            <a:pPr lvl="0">
              <a:buFont typeface="Wingdings" pitchFamily="2" charset="2"/>
              <a:buChar char="Ø"/>
            </a:pPr>
            <a:r>
              <a:rPr lang="en-US" dirty="0"/>
              <a:t>It is now known that neurological symptoms, facial, paralysis, meningitis, and occasionally cardiac disease occur in some cases.</a:t>
            </a:r>
          </a:p>
          <a:p>
            <a:endParaRPr lang="en-US" dirty="0"/>
          </a:p>
        </p:txBody>
      </p:sp>
    </p:spTree>
    <p:extLst>
      <p:ext uri="{BB962C8B-B14F-4D97-AF65-F5344CB8AC3E}">
        <p14:creationId xmlns:p14="http://schemas.microsoft.com/office/powerpoint/2010/main" val="5957719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Ixodes</a:t>
            </a:r>
            <a:r>
              <a:rPr lang="en-US" b="1" i="1" dirty="0" smtClean="0"/>
              <a:t> sp.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a:t>Half of all arthropod-transmitted infections in the US are with </a:t>
            </a:r>
            <a:r>
              <a:rPr lang="en-US" i="1" dirty="0" err="1"/>
              <a:t>Borrelia</a:t>
            </a:r>
            <a:r>
              <a:rPr lang="en-US" i="1" dirty="0"/>
              <a:t> </a:t>
            </a:r>
            <a:r>
              <a:rPr lang="en-US" i="1" dirty="0" err="1"/>
              <a:t>burgdorferi</a:t>
            </a:r>
            <a:r>
              <a:rPr lang="en-US" dirty="0"/>
              <a:t>, making it the country’s leading arthropod-borne disease.</a:t>
            </a:r>
          </a:p>
          <a:p>
            <a:pPr lvl="0"/>
            <a:r>
              <a:rPr lang="en-US" dirty="0"/>
              <a:t>Lyme disease is a classic zoonosis (because of unselective feeding habits of the tick, especially </a:t>
            </a:r>
            <a:r>
              <a:rPr lang="en-US" dirty="0" err="1" smtClean="0"/>
              <a:t>nymphal</a:t>
            </a:r>
            <a:r>
              <a:rPr lang="en-US" dirty="0" smtClean="0"/>
              <a:t> stages.</a:t>
            </a:r>
            <a:endParaRPr lang="en-US" dirty="0"/>
          </a:p>
        </p:txBody>
      </p:sp>
    </p:spTree>
    <p:extLst>
      <p:ext uri="{BB962C8B-B14F-4D97-AF65-F5344CB8AC3E}">
        <p14:creationId xmlns:p14="http://schemas.microsoft.com/office/powerpoint/2010/main" val="2400398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Ixodes</a:t>
            </a:r>
            <a:r>
              <a:rPr lang="en-US" b="1" i="1" dirty="0" smtClean="0"/>
              <a:t> sp.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smtClean="0"/>
              <a:t>and participation of rodent and deer reservoirs, as well as cats, raccoons, opossums, chickens, lizards, all serving as hosts) in which landscape characteristics and human activities all play major roles in transmission.</a:t>
            </a:r>
          </a:p>
          <a:p>
            <a:endParaRPr lang="en-US" dirty="0"/>
          </a:p>
        </p:txBody>
      </p:sp>
    </p:spTree>
    <p:extLst>
      <p:ext uri="{BB962C8B-B14F-4D97-AF65-F5344CB8AC3E}">
        <p14:creationId xmlns:p14="http://schemas.microsoft.com/office/powerpoint/2010/main" val="2601333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Amblyomma</a:t>
            </a:r>
            <a:r>
              <a:rPr lang="en-US" b="1" i="1" dirty="0" smtClean="0"/>
              <a:t> sp.</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lvl="0"/>
            <a:r>
              <a:rPr lang="en-US" dirty="0" smtClean="0"/>
              <a:t>The </a:t>
            </a:r>
            <a:r>
              <a:rPr lang="en-US" dirty="0"/>
              <a:t>about 100 species in this genus are restricted to the tropics though </a:t>
            </a:r>
            <a:r>
              <a:rPr lang="en-US" i="1" dirty="0"/>
              <a:t>A. </a:t>
            </a:r>
            <a:r>
              <a:rPr lang="en-US" i="1" dirty="0" err="1"/>
              <a:t>americanum</a:t>
            </a:r>
            <a:r>
              <a:rPr lang="en-US" dirty="0"/>
              <a:t> occurs in temperate N. America and Canada</a:t>
            </a:r>
          </a:p>
          <a:p>
            <a:pPr lvl="0"/>
            <a:r>
              <a:rPr lang="en-US" dirty="0"/>
              <a:t>Larvae and  nymphs are common in birds although adults usually feed only on large animals; all three stages, however, readily bite humans which is unusual among hard ticks.</a:t>
            </a:r>
          </a:p>
          <a:p>
            <a:endParaRPr lang="en-US" dirty="0"/>
          </a:p>
        </p:txBody>
      </p:sp>
    </p:spTree>
    <p:extLst>
      <p:ext uri="{BB962C8B-B14F-4D97-AF65-F5344CB8AC3E}">
        <p14:creationId xmlns:p14="http://schemas.microsoft.com/office/powerpoint/2010/main" val="28913328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Dermacentor</a:t>
            </a:r>
            <a:r>
              <a:rPr lang="en-US" b="1" i="1" dirty="0" smtClean="0"/>
              <a:t> sp.</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smtClean="0"/>
              <a:t>The </a:t>
            </a:r>
            <a:r>
              <a:rPr lang="en-US" dirty="0"/>
              <a:t>genus contains about 30 species which are among the most medically important of all ticks.</a:t>
            </a:r>
          </a:p>
          <a:p>
            <a:pPr lvl="0"/>
            <a:r>
              <a:rPr lang="en-US" dirty="0"/>
              <a:t>Larvae feed on small mammals whilst the adults feed on small mammals but prefer larger </a:t>
            </a:r>
            <a:r>
              <a:rPr lang="en-US" dirty="0" err="1"/>
              <a:t>gosts</a:t>
            </a:r>
            <a:r>
              <a:rPr lang="en-US" dirty="0"/>
              <a:t> such as </a:t>
            </a:r>
            <a:r>
              <a:rPr lang="en-US" dirty="0" err="1"/>
              <a:t>deer,sheep</a:t>
            </a:r>
            <a:r>
              <a:rPr lang="en-US" dirty="0"/>
              <a:t>, cattle, coyotes and humans</a:t>
            </a:r>
          </a:p>
          <a:p>
            <a:pPr lvl="0"/>
            <a:r>
              <a:rPr lang="en-US" dirty="0"/>
              <a:t>Life cycles range up to a year when hosts are available, or up to three years when hosts are plentiful; all stages can survive about a year without </a:t>
            </a:r>
            <a:r>
              <a:rPr lang="en-US" dirty="0" smtClean="0"/>
              <a:t>feeding</a:t>
            </a:r>
            <a:endParaRPr lang="en-US" dirty="0"/>
          </a:p>
        </p:txBody>
      </p:sp>
    </p:spTree>
    <p:extLst>
      <p:ext uri="{BB962C8B-B14F-4D97-AF65-F5344CB8AC3E}">
        <p14:creationId xmlns:p14="http://schemas.microsoft.com/office/powerpoint/2010/main" val="19492272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err="1" smtClean="0"/>
              <a:t>Dermacentor</a:t>
            </a:r>
            <a:r>
              <a:rPr lang="en-US" b="1" i="1" dirty="0" smtClean="0"/>
              <a:t> sp.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i="1" dirty="0" smtClean="0"/>
              <a:t>D. </a:t>
            </a:r>
            <a:r>
              <a:rPr lang="en-US" i="1" dirty="0" err="1" smtClean="0"/>
              <a:t>andersoni</a:t>
            </a:r>
            <a:r>
              <a:rPr lang="en-US" i="1" dirty="0" smtClean="0"/>
              <a:t> </a:t>
            </a:r>
            <a:r>
              <a:rPr lang="en-US" dirty="0" smtClean="0"/>
              <a:t> is a vector for several diseases of humans, including tick paralysis, </a:t>
            </a:r>
            <a:r>
              <a:rPr lang="en-US" dirty="0" err="1" smtClean="0"/>
              <a:t>powassan</a:t>
            </a:r>
            <a:r>
              <a:rPr lang="en-US" dirty="0" smtClean="0"/>
              <a:t> encephalitis virus, </a:t>
            </a:r>
            <a:r>
              <a:rPr lang="en-US" dirty="0" err="1" smtClean="0"/>
              <a:t>tularaemia</a:t>
            </a:r>
            <a:r>
              <a:rPr lang="en-US" dirty="0" smtClean="0"/>
              <a:t>, etc. etc.</a:t>
            </a:r>
          </a:p>
          <a:p>
            <a:pPr lvl="0"/>
            <a:r>
              <a:rPr lang="en-US" dirty="0" smtClean="0"/>
              <a:t>Other species of </a:t>
            </a:r>
            <a:r>
              <a:rPr lang="en-US" i="1" dirty="0" err="1" smtClean="0"/>
              <a:t>Dermacentor</a:t>
            </a:r>
            <a:r>
              <a:rPr lang="en-US" dirty="0" smtClean="0"/>
              <a:t> are vectors  </a:t>
            </a:r>
            <a:r>
              <a:rPr lang="en-US" dirty="0" err="1" smtClean="0"/>
              <a:t>ofseveral</a:t>
            </a:r>
            <a:r>
              <a:rPr lang="en-US" dirty="0" smtClean="0"/>
              <a:t> diseases caused by viruses and </a:t>
            </a:r>
            <a:r>
              <a:rPr lang="en-US" dirty="0" err="1" smtClean="0"/>
              <a:t>rickettsias</a:t>
            </a:r>
            <a:r>
              <a:rPr lang="en-US" dirty="0" smtClean="0"/>
              <a:t>.</a:t>
            </a:r>
          </a:p>
          <a:p>
            <a:endParaRPr lang="en-US" dirty="0" smtClean="0"/>
          </a:p>
          <a:p>
            <a:pPr marL="0" indent="0">
              <a:buNone/>
            </a:pPr>
            <a:endParaRPr lang="en-US" dirty="0"/>
          </a:p>
        </p:txBody>
      </p:sp>
    </p:spTree>
    <p:extLst>
      <p:ext uri="{BB962C8B-B14F-4D97-AF65-F5344CB8AC3E}">
        <p14:creationId xmlns:p14="http://schemas.microsoft.com/office/powerpoint/2010/main" val="41214856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Immunity to Ticks</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smtClean="0"/>
              <a:t>Mammals </a:t>
            </a:r>
            <a:r>
              <a:rPr lang="en-US" dirty="0"/>
              <a:t>can develop resistance to hard ticks; some strains of host species are naturally more resistant than others.</a:t>
            </a:r>
          </a:p>
          <a:p>
            <a:pPr lvl="0"/>
            <a:r>
              <a:rPr lang="en-US" dirty="0"/>
              <a:t>Acquired resistance, often, is manifested as failure of the parasite, especially, larvae and nymphs to engorge fully.</a:t>
            </a:r>
          </a:p>
          <a:p>
            <a:pPr lvl="0"/>
            <a:r>
              <a:rPr lang="en-US" dirty="0"/>
              <a:t>Antigens responsible for these immune reactions are of </a:t>
            </a:r>
            <a:r>
              <a:rPr lang="en-US" dirty="0" err="1"/>
              <a:t>bothsalivarygland</a:t>
            </a:r>
            <a:r>
              <a:rPr lang="en-US" dirty="0"/>
              <a:t> and gut origin.</a:t>
            </a:r>
          </a:p>
          <a:p>
            <a:endParaRPr lang="en-US" dirty="0"/>
          </a:p>
        </p:txBody>
      </p:sp>
    </p:spTree>
    <p:extLst>
      <p:ext uri="{BB962C8B-B14F-4D97-AF65-F5344CB8AC3E}">
        <p14:creationId xmlns:p14="http://schemas.microsoft.com/office/powerpoint/2010/main" val="30590886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MITES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a:bodyPr>
          <a:lstStyle/>
          <a:p>
            <a:pPr lvl="0"/>
            <a:r>
              <a:rPr lang="en-US" dirty="0" smtClean="0"/>
              <a:t>Mites </a:t>
            </a:r>
            <a:r>
              <a:rPr lang="en-US" dirty="0"/>
              <a:t>also belong to the suborder </a:t>
            </a:r>
            <a:r>
              <a:rPr lang="en-US" dirty="0" err="1"/>
              <a:t>Acarina</a:t>
            </a:r>
            <a:r>
              <a:rPr lang="en-US" dirty="0"/>
              <a:t> of the class </a:t>
            </a:r>
            <a:r>
              <a:rPr lang="en-US" dirty="0" err="1"/>
              <a:t>Arachnida</a:t>
            </a:r>
            <a:r>
              <a:rPr lang="en-US" dirty="0"/>
              <a:t>, and Order </a:t>
            </a:r>
            <a:r>
              <a:rPr lang="en-US" dirty="0" err="1"/>
              <a:t>Prostigmata</a:t>
            </a:r>
            <a:r>
              <a:rPr lang="en-US" dirty="0"/>
              <a:t>.</a:t>
            </a:r>
          </a:p>
          <a:p>
            <a:pPr lvl="0"/>
            <a:r>
              <a:rPr lang="en-US" dirty="0"/>
              <a:t>The genus </a:t>
            </a:r>
            <a:r>
              <a:rPr lang="en-US" dirty="0" err="1"/>
              <a:t>Trombicula</a:t>
            </a:r>
            <a:r>
              <a:rPr lang="en-US" dirty="0"/>
              <a:t> of the Family </a:t>
            </a:r>
            <a:r>
              <a:rPr lang="en-US" dirty="0" err="1"/>
              <a:t>Trombiculidae</a:t>
            </a:r>
            <a:r>
              <a:rPr lang="en-US" dirty="0"/>
              <a:t> is of medical importance; the Family contains </a:t>
            </a:r>
            <a:r>
              <a:rPr lang="en-US" dirty="0" err="1"/>
              <a:t>Chjigger</a:t>
            </a:r>
            <a:r>
              <a:rPr lang="en-US" dirty="0"/>
              <a:t> mites which are common in tropical and temperate countries.</a:t>
            </a:r>
          </a:p>
          <a:p>
            <a:pPr lvl="0"/>
            <a:r>
              <a:rPr lang="en-US" dirty="0"/>
              <a:t>Members of the Family  are unique among mites that attack humans in that only the larval stage is parasitic; nymphs and adults are predators.</a:t>
            </a:r>
          </a:p>
          <a:p>
            <a:endParaRPr lang="en-US" dirty="0"/>
          </a:p>
        </p:txBody>
      </p:sp>
    </p:spTree>
    <p:extLst>
      <p:ext uri="{BB962C8B-B14F-4D97-AF65-F5344CB8AC3E}">
        <p14:creationId xmlns:p14="http://schemas.microsoft.com/office/powerpoint/2010/main" val="3790792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MITES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r>
              <a:rPr lang="en-US" dirty="0"/>
              <a:t>Over 1200 species have </a:t>
            </a:r>
            <a:r>
              <a:rPr lang="en-US" dirty="0" err="1"/>
              <a:t>beendescribed</a:t>
            </a:r>
            <a:r>
              <a:rPr lang="en-US" dirty="0"/>
              <a:t> from larvae only.</a:t>
            </a:r>
          </a:p>
          <a:p>
            <a:pPr lvl="0"/>
            <a:r>
              <a:rPr lang="en-US" dirty="0"/>
              <a:t>Adult chiggers are among the largest of mites, about 1.0mm or more in length.</a:t>
            </a:r>
          </a:p>
          <a:p>
            <a:pPr lvl="0"/>
            <a:r>
              <a:rPr lang="en-US" dirty="0"/>
              <a:t>There are two medical aspects of chigger bite: chigger dermatitis and transmission of pathogens</a:t>
            </a:r>
          </a:p>
          <a:p>
            <a:pPr marL="0" indent="0">
              <a:buNone/>
            </a:pPr>
            <a:endParaRPr lang="en-US" dirty="0"/>
          </a:p>
        </p:txBody>
      </p:sp>
    </p:spTree>
    <p:extLst>
      <p:ext uri="{BB962C8B-B14F-4D97-AF65-F5344CB8AC3E}">
        <p14:creationId xmlns:p14="http://schemas.microsoft.com/office/powerpoint/2010/main" val="3377290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MITES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Larval chiggers do not burrow into skin as is commonly thought:</a:t>
            </a:r>
          </a:p>
          <a:p>
            <a:pPr lvl="0">
              <a:buFont typeface="Wingdings" pitchFamily="2" charset="2"/>
              <a:buChar char="Ø"/>
            </a:pPr>
            <a:r>
              <a:rPr lang="en-US" dirty="0"/>
              <a:t>As their mouthparts penetrate the epidermis, the mites inject salivary secretions that are </a:t>
            </a:r>
            <a:r>
              <a:rPr lang="en-US" dirty="0" err="1"/>
              <a:t>proteolytic</a:t>
            </a:r>
            <a:r>
              <a:rPr lang="en-US" dirty="0"/>
              <a:t>, killing </a:t>
            </a:r>
            <a:endParaRPr lang="en-US" dirty="0" smtClean="0"/>
          </a:p>
          <a:p>
            <a:pPr lvl="0">
              <a:buFont typeface="Wingdings" pitchFamily="2" charset="2"/>
              <a:buChar char="Ø"/>
            </a:pPr>
            <a:r>
              <a:rPr lang="en-US" dirty="0" smtClean="0"/>
              <a:t>and </a:t>
            </a:r>
            <a:r>
              <a:rPr lang="en-US" dirty="0"/>
              <a:t>digesting host cells, which the parasite then sucks up along with interstitial fluids</a:t>
            </a:r>
          </a:p>
          <a:p>
            <a:pPr lvl="0">
              <a:buFont typeface="Wingdings" pitchFamily="2" charset="2"/>
              <a:buChar char="Ø"/>
            </a:pPr>
            <a:r>
              <a:rPr lang="en-US" dirty="0"/>
              <a:t>Simultaneously, host cells harden under the influence of other salivary secretions to forma tube, the </a:t>
            </a:r>
            <a:r>
              <a:rPr lang="en-US" b="1" dirty="0" err="1"/>
              <a:t>stylostome</a:t>
            </a:r>
            <a:endParaRPr lang="en-US" dirty="0"/>
          </a:p>
          <a:p>
            <a:endParaRPr lang="en-US" dirty="0"/>
          </a:p>
        </p:txBody>
      </p:sp>
    </p:spTree>
    <p:extLst>
      <p:ext uri="{BB962C8B-B14F-4D97-AF65-F5344CB8AC3E}">
        <p14:creationId xmlns:p14="http://schemas.microsoft.com/office/powerpoint/2010/main" val="37641261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MITES CONT’D</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The mite retains its mouthparts in the </a:t>
            </a:r>
            <a:r>
              <a:rPr lang="en-US" dirty="0" err="1"/>
              <a:t>stylostome</a:t>
            </a:r>
            <a:r>
              <a:rPr lang="en-US" dirty="0"/>
              <a:t> , using it like a drinking straw, until engorged and then drops off.</a:t>
            </a:r>
          </a:p>
          <a:p>
            <a:pPr lvl="0">
              <a:buFont typeface="Wingdings" pitchFamily="2" charset="2"/>
              <a:buChar char="Ø"/>
            </a:pPr>
            <a:r>
              <a:rPr lang="en-US" dirty="0"/>
              <a:t>Not all chiggers cause itching reaction: those that do usually have detached before a host reaction begins</a:t>
            </a:r>
            <a:r>
              <a:rPr lang="en-US" dirty="0" smtClean="0"/>
              <a:t>;</a:t>
            </a:r>
          </a:p>
          <a:p>
            <a:pPr lvl="0">
              <a:buFont typeface="Wingdings" pitchFamily="2" charset="2"/>
              <a:buChar char="Ø"/>
            </a:pPr>
            <a:r>
              <a:rPr lang="en-US" dirty="0" smtClean="0"/>
              <a:t> </a:t>
            </a:r>
            <a:r>
              <a:rPr lang="en-US" dirty="0"/>
              <a:t>some people are immune to their bites  whereas others may incur a violent reaction.</a:t>
            </a:r>
          </a:p>
          <a:p>
            <a:endParaRPr lang="en-US" dirty="0"/>
          </a:p>
        </p:txBody>
      </p:sp>
    </p:spTree>
    <p:extLst>
      <p:ext uri="{BB962C8B-B14F-4D97-AF65-F5344CB8AC3E}">
        <p14:creationId xmlns:p14="http://schemas.microsoft.com/office/powerpoint/2010/main" val="18502795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MITES CONT’D</a:t>
            </a:r>
            <a:r>
              <a:rPr lang="en-US" dirty="0" smtClean="0"/>
              <a:t/>
            </a:r>
            <a:br>
              <a:rPr lang="en-US" dirty="0" smtClean="0"/>
            </a:br>
            <a:endParaRPr lang="en-US" dirty="0"/>
          </a:p>
        </p:txBody>
      </p:sp>
      <p:sp>
        <p:nvSpPr>
          <p:cNvPr id="3" name="Content Placeholder 2"/>
          <p:cNvSpPr>
            <a:spLocks noGrp="1"/>
          </p:cNvSpPr>
          <p:nvPr>
            <p:ph idx="1"/>
          </p:nvPr>
        </p:nvSpPr>
        <p:spPr/>
        <p:txBody>
          <a:bodyPr>
            <a:normAutofit lnSpcReduction="10000"/>
          </a:bodyPr>
          <a:lstStyle/>
          <a:p>
            <a:pPr lvl="0"/>
            <a:r>
              <a:rPr lang="en-US" dirty="0"/>
              <a:t>Other </a:t>
            </a:r>
            <a:r>
              <a:rPr lang="en-US" dirty="0" err="1"/>
              <a:t>trombiculid</a:t>
            </a:r>
            <a:r>
              <a:rPr lang="en-US" dirty="0"/>
              <a:t>  species, some representing other genera, bite humans or are vectors of a </a:t>
            </a:r>
            <a:r>
              <a:rPr lang="en-US" dirty="0" err="1"/>
              <a:t>rickettsial</a:t>
            </a:r>
            <a:r>
              <a:rPr lang="en-US" dirty="0"/>
              <a:t> disease in humans, called SCRUB TYPHUS (</a:t>
            </a:r>
            <a:r>
              <a:rPr lang="en-US" dirty="0" err="1"/>
              <a:t>Tsutsugamushi</a:t>
            </a:r>
            <a:r>
              <a:rPr lang="en-US" dirty="0"/>
              <a:t> disease</a:t>
            </a:r>
            <a:r>
              <a:rPr lang="en-US" dirty="0" smtClean="0"/>
              <a:t>).</a:t>
            </a:r>
            <a:endParaRPr lang="en-US" b="1" dirty="0" smtClean="0"/>
          </a:p>
          <a:p>
            <a:pPr lvl="0"/>
            <a:r>
              <a:rPr lang="en-US" b="1" dirty="0" smtClean="0"/>
              <a:t> </a:t>
            </a:r>
            <a:r>
              <a:rPr lang="en-US" dirty="0"/>
              <a:t>The microorganism</a:t>
            </a:r>
            <a:r>
              <a:rPr lang="en-US" b="1" dirty="0"/>
              <a:t>, </a:t>
            </a:r>
            <a:r>
              <a:rPr lang="en-US" b="1" i="1" dirty="0"/>
              <a:t>Rickettsia </a:t>
            </a:r>
            <a:r>
              <a:rPr lang="en-US" b="1" i="1" dirty="0" err="1"/>
              <a:t>tsutsugamushi</a:t>
            </a:r>
            <a:r>
              <a:rPr lang="en-US" dirty="0"/>
              <a:t>, is </a:t>
            </a:r>
            <a:r>
              <a:rPr lang="en-US" dirty="0" err="1"/>
              <a:t>transovarially</a:t>
            </a:r>
            <a:r>
              <a:rPr lang="en-US" dirty="0"/>
              <a:t> transmitted among </a:t>
            </a:r>
            <a:r>
              <a:rPr lang="en-US" dirty="0" smtClean="0"/>
              <a:t>mites;</a:t>
            </a:r>
          </a:p>
          <a:p>
            <a:pPr lvl="0"/>
            <a:r>
              <a:rPr lang="en-US" dirty="0" smtClean="0"/>
              <a:t>wild </a:t>
            </a:r>
            <a:r>
              <a:rPr lang="en-US" dirty="0"/>
              <a:t>rodents, particularly species of </a:t>
            </a:r>
            <a:r>
              <a:rPr lang="en-US" b="1" i="1" dirty="0" err="1"/>
              <a:t>Rattus</a:t>
            </a:r>
            <a:r>
              <a:rPr lang="en-US" dirty="0"/>
              <a:t> are reservoirs.</a:t>
            </a:r>
          </a:p>
          <a:p>
            <a:endParaRPr lang="en-US" dirty="0"/>
          </a:p>
        </p:txBody>
      </p:sp>
    </p:spTree>
    <p:extLst>
      <p:ext uri="{BB962C8B-B14F-4D97-AF65-F5344CB8AC3E}">
        <p14:creationId xmlns:p14="http://schemas.microsoft.com/office/powerpoint/2010/main" val="32665074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a:t/>
            </a:r>
            <a:br>
              <a:rPr lang="en-US" b="1" i="1" dirty="0"/>
            </a:br>
            <a:r>
              <a:rPr lang="en-US" b="1" i="1" dirty="0" err="1" smtClean="0"/>
              <a:t>Trombicula</a:t>
            </a:r>
            <a:r>
              <a:rPr lang="en-US" b="1" i="1" dirty="0" smtClean="0"/>
              <a:t> sp.  </a:t>
            </a:r>
            <a:r>
              <a:rPr lang="en-US" b="1" dirty="0" smtClean="0"/>
              <a:t>(Order </a:t>
            </a:r>
            <a:r>
              <a:rPr lang="en-US" b="1" dirty="0" err="1" smtClean="0"/>
              <a:t>Prostigmata</a:t>
            </a:r>
            <a:r>
              <a:rPr lang="en-US" b="1" dirty="0" smtClean="0"/>
              <a:t>; Family </a:t>
            </a:r>
            <a:r>
              <a:rPr lang="en-US" b="1" dirty="0" err="1" smtClean="0"/>
              <a:t>Trombiculidae</a:t>
            </a:r>
            <a:r>
              <a:rPr lang="en-US" b="1" dirty="0" smtClean="0"/>
              <a:t>)</a:t>
            </a:r>
            <a:r>
              <a:rPr lang="en-US" dirty="0" smtClean="0"/>
              <a:t/>
            </a:r>
            <a:br>
              <a:rPr lang="en-US" dirty="0" smtClean="0"/>
            </a:br>
            <a:r>
              <a:rPr lang="en-US" b="1" i="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err="1" smtClean="0"/>
              <a:t>Trombiculid</a:t>
            </a:r>
            <a:r>
              <a:rPr lang="en-US" dirty="0" smtClean="0"/>
              <a:t> </a:t>
            </a:r>
            <a:r>
              <a:rPr lang="en-US" dirty="0"/>
              <a:t>mites transmit scrub typhus, especially in S. East Asia. </a:t>
            </a:r>
            <a:endParaRPr lang="en-US" dirty="0" smtClean="0"/>
          </a:p>
          <a:p>
            <a:r>
              <a:rPr lang="en-US" dirty="0" smtClean="0"/>
              <a:t>The </a:t>
            </a:r>
            <a:r>
              <a:rPr lang="en-US" dirty="0" err="1"/>
              <a:t>rickettsial</a:t>
            </a:r>
            <a:r>
              <a:rPr lang="en-US" dirty="0"/>
              <a:t> organism which cause  the disease can be passed through several generations of mites . </a:t>
            </a:r>
            <a:endParaRPr lang="en-US" dirty="0" smtClean="0"/>
          </a:p>
          <a:p>
            <a:r>
              <a:rPr lang="en-US" dirty="0" smtClean="0"/>
              <a:t>The </a:t>
            </a:r>
            <a:r>
              <a:rPr lang="en-US" dirty="0"/>
              <a:t>bite of an infected  mite larva can also cause severe allergic dermatitis known as scrub itch.   </a:t>
            </a:r>
          </a:p>
          <a:p>
            <a:endParaRPr lang="en-US" dirty="0"/>
          </a:p>
        </p:txBody>
      </p:sp>
    </p:spTree>
    <p:extLst>
      <p:ext uri="{BB962C8B-B14F-4D97-AF65-F5344CB8AC3E}">
        <p14:creationId xmlns:p14="http://schemas.microsoft.com/office/powerpoint/2010/main" val="670581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
            </a:r>
            <a:br>
              <a:rPr lang="en-US" b="1" i="1" dirty="0" smtClean="0"/>
            </a:br>
            <a:r>
              <a:rPr lang="en-US" b="1" i="1" dirty="0" err="1" smtClean="0"/>
              <a:t>Trombicula</a:t>
            </a:r>
            <a:r>
              <a:rPr lang="en-US" b="1" i="1" dirty="0" smtClean="0"/>
              <a:t> sp.  </a:t>
            </a:r>
            <a:r>
              <a:rPr lang="en-US" b="1" dirty="0" smtClean="0"/>
              <a:t>(Order </a:t>
            </a:r>
            <a:r>
              <a:rPr lang="en-US" b="1" dirty="0" err="1" smtClean="0"/>
              <a:t>Prostigmata</a:t>
            </a:r>
            <a:r>
              <a:rPr lang="en-US" b="1" dirty="0" smtClean="0"/>
              <a:t>; Family </a:t>
            </a:r>
            <a:r>
              <a:rPr lang="en-US" b="1" dirty="0" err="1" smtClean="0"/>
              <a:t>Trombiculidae</a:t>
            </a:r>
            <a:r>
              <a:rPr lang="en-US" b="1" dirty="0" smtClean="0"/>
              <a:t>) cont’d</a:t>
            </a:r>
            <a:r>
              <a:rPr lang="en-US" dirty="0" smtClean="0"/>
              <a:t/>
            </a:r>
            <a:br>
              <a:rPr lang="en-US" dirty="0" smtClean="0"/>
            </a:br>
            <a:r>
              <a:rPr lang="en-US" b="1" i="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Nymph and adult mites are not parasitic; they live in the soil in areas of selected scrub vegetation; </a:t>
            </a:r>
          </a:p>
          <a:p>
            <a:r>
              <a:rPr lang="en-US" dirty="0" smtClean="0"/>
              <a:t>the larvae are </a:t>
            </a:r>
            <a:r>
              <a:rPr lang="en-US" dirty="0" err="1" smtClean="0"/>
              <a:t>ectoparasitic</a:t>
            </a:r>
            <a:r>
              <a:rPr lang="en-US" dirty="0" smtClean="0"/>
              <a:t> on humans and warm-blooded  animals, sucking lymph and tissue fluids from their hosts.</a:t>
            </a:r>
          </a:p>
          <a:p>
            <a:endParaRPr lang="en-US" dirty="0"/>
          </a:p>
        </p:txBody>
      </p:sp>
    </p:spTree>
    <p:extLst>
      <p:ext uri="{BB962C8B-B14F-4D97-AF65-F5344CB8AC3E}">
        <p14:creationId xmlns:p14="http://schemas.microsoft.com/office/powerpoint/2010/main" val="25574446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smtClean="0"/>
              <a:t/>
            </a:r>
            <a:br>
              <a:rPr lang="en-US" b="1" i="1" dirty="0" smtClean="0"/>
            </a:br>
            <a:r>
              <a:rPr lang="en-US" b="1" i="1" dirty="0" smtClean="0"/>
              <a:t/>
            </a:r>
            <a:br>
              <a:rPr lang="en-US" b="1" i="1" dirty="0" smtClean="0"/>
            </a:br>
            <a:r>
              <a:rPr lang="en-US" b="1" i="1" dirty="0" err="1" smtClean="0"/>
              <a:t>Trombicula</a:t>
            </a:r>
            <a:r>
              <a:rPr lang="en-US" b="1" i="1" dirty="0" smtClean="0"/>
              <a:t> sp.  </a:t>
            </a:r>
            <a:r>
              <a:rPr lang="en-US" b="1" dirty="0" smtClean="0"/>
              <a:t>(Order </a:t>
            </a:r>
            <a:r>
              <a:rPr lang="en-US" b="1" dirty="0" err="1" smtClean="0"/>
              <a:t>Prostigmata</a:t>
            </a:r>
            <a:r>
              <a:rPr lang="en-US" b="1" dirty="0" smtClean="0"/>
              <a:t>; Family </a:t>
            </a:r>
            <a:r>
              <a:rPr lang="en-US" b="1" dirty="0" err="1" smtClean="0"/>
              <a:t>Trombiculidae</a:t>
            </a:r>
            <a:r>
              <a:rPr lang="en-US" b="1" dirty="0" smtClean="0"/>
              <a:t>) cont’d</a:t>
            </a:r>
            <a:r>
              <a:rPr lang="en-US" dirty="0" smtClean="0"/>
              <a:t/>
            </a:r>
            <a:br>
              <a:rPr lang="en-US" dirty="0" smtClean="0"/>
            </a:br>
            <a:r>
              <a:rPr lang="en-US" b="1" i="1" dirty="0" smtClean="0"/>
              <a:t> </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a:t>The larvae can often be found around the waist under a belt on the abdomen, or under a wrist or shoe strap. </a:t>
            </a:r>
            <a:endParaRPr lang="en-US" dirty="0" smtClean="0"/>
          </a:p>
          <a:p>
            <a:r>
              <a:rPr lang="en-US" dirty="0" smtClean="0"/>
              <a:t>The </a:t>
            </a:r>
            <a:r>
              <a:rPr lang="en-US" dirty="0"/>
              <a:t>larvae drop off after several weeks and continue their development in the soil.</a:t>
            </a:r>
          </a:p>
          <a:p>
            <a:endParaRPr lang="en-US" dirty="0"/>
          </a:p>
        </p:txBody>
      </p:sp>
    </p:spTree>
    <p:extLst>
      <p:ext uri="{BB962C8B-B14F-4D97-AF65-F5344CB8AC3E}">
        <p14:creationId xmlns:p14="http://schemas.microsoft.com/office/powerpoint/2010/main" val="3248933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a:t>
            </a:r>
            <a:br>
              <a:rPr lang="en-US" dirty="0" smtClean="0"/>
            </a:br>
            <a:endParaRPr lang="en-US" dirty="0"/>
          </a:p>
        </p:txBody>
      </p:sp>
      <p:sp>
        <p:nvSpPr>
          <p:cNvPr id="3" name="Content Placeholder 2"/>
          <p:cNvSpPr>
            <a:spLocks noGrp="1"/>
          </p:cNvSpPr>
          <p:nvPr>
            <p:ph idx="1"/>
          </p:nvPr>
        </p:nvSpPr>
        <p:spPr/>
        <p:txBody>
          <a:bodyPr/>
          <a:lstStyle/>
          <a:p>
            <a:r>
              <a:rPr lang="en-US" dirty="0" err="1" smtClean="0"/>
              <a:t>Sarcoptid</a:t>
            </a:r>
            <a:r>
              <a:rPr lang="en-US" dirty="0" smtClean="0"/>
              <a:t> </a:t>
            </a:r>
            <a:r>
              <a:rPr lang="en-US" dirty="0"/>
              <a:t>mites  are skin parasites  of mammals: they cause SCABIES or SARCOPTIC MANGE. </a:t>
            </a:r>
            <a:endParaRPr lang="en-US" dirty="0" smtClean="0"/>
          </a:p>
          <a:p>
            <a:r>
              <a:rPr lang="en-US" dirty="0" smtClean="0"/>
              <a:t>The </a:t>
            </a:r>
            <a:r>
              <a:rPr lang="en-US" dirty="0"/>
              <a:t>mites mate on the skin of their host, males inseminating immature females; </a:t>
            </a:r>
            <a:endParaRPr lang="en-US" dirty="0" smtClean="0"/>
          </a:p>
          <a:p>
            <a:r>
              <a:rPr lang="en-US" dirty="0" smtClean="0"/>
              <a:t>eggs </a:t>
            </a:r>
            <a:r>
              <a:rPr lang="en-US" dirty="0"/>
              <a:t>hatch in 3-8 days and larvae and nymphs emerge and wander on the skin surface A species is </a:t>
            </a:r>
            <a:r>
              <a:rPr lang="en-US" i="1" dirty="0" err="1"/>
              <a:t>Sarcoptes</a:t>
            </a:r>
            <a:r>
              <a:rPr lang="en-US" i="1" dirty="0"/>
              <a:t> </a:t>
            </a:r>
            <a:r>
              <a:rPr lang="en-US" i="1" dirty="0" err="1"/>
              <a:t>scabie</a:t>
            </a:r>
            <a:r>
              <a:rPr lang="en-US" dirty="0" err="1"/>
              <a:t>i</a:t>
            </a:r>
            <a:r>
              <a:rPr lang="en-US" dirty="0"/>
              <a:t> (the itch mite)</a:t>
            </a:r>
          </a:p>
          <a:p>
            <a:endParaRPr lang="en-US" dirty="0"/>
          </a:p>
        </p:txBody>
      </p:sp>
    </p:spTree>
    <p:extLst>
      <p:ext uri="{BB962C8B-B14F-4D97-AF65-F5344CB8AC3E}">
        <p14:creationId xmlns:p14="http://schemas.microsoft.com/office/powerpoint/2010/main" val="2922466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 cont’d</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a:t>The female cuts the horny layer of the skin, and forms tortuous tunnels</a:t>
            </a:r>
            <a:r>
              <a:rPr lang="en-US" dirty="0" smtClean="0"/>
              <a:t>;</a:t>
            </a:r>
          </a:p>
          <a:p>
            <a:r>
              <a:rPr lang="en-US" dirty="0" smtClean="0"/>
              <a:t> </a:t>
            </a:r>
            <a:r>
              <a:rPr lang="en-US" dirty="0"/>
              <a:t>the </a:t>
            </a:r>
            <a:r>
              <a:rPr lang="en-US" dirty="0" err="1"/>
              <a:t>tunnelling</a:t>
            </a:r>
            <a:r>
              <a:rPr lang="en-US" dirty="0"/>
              <a:t> and the secretory and excretory products produce intense itching sensation in most infected persons</a:t>
            </a:r>
          </a:p>
          <a:p>
            <a:r>
              <a:rPr lang="en-US" dirty="0"/>
              <a:t> </a:t>
            </a:r>
            <a:r>
              <a:rPr lang="en-US" dirty="0" smtClean="0"/>
              <a:t>The </a:t>
            </a:r>
            <a:r>
              <a:rPr lang="en-US" dirty="0"/>
              <a:t>skin between the fingers , breasts and shoulder blades and around the penis and in creases of the knees and elbows is most often infected. </a:t>
            </a:r>
          </a:p>
        </p:txBody>
      </p:sp>
    </p:spTree>
    <p:extLst>
      <p:ext uri="{BB962C8B-B14F-4D97-AF65-F5344CB8AC3E}">
        <p14:creationId xmlns:p14="http://schemas.microsoft.com/office/powerpoint/2010/main" val="2475373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 cont’d</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smtClean="0"/>
              <a:t>Scratching may cause bleeding and secondary infection. </a:t>
            </a:r>
          </a:p>
          <a:p>
            <a:r>
              <a:rPr lang="en-US" dirty="0" smtClean="0"/>
              <a:t>The entire life cycle is, thus, completed under the skin.</a:t>
            </a:r>
          </a:p>
          <a:p>
            <a:r>
              <a:rPr lang="en-US" dirty="0" err="1"/>
              <a:t>Sracoptid</a:t>
            </a:r>
            <a:r>
              <a:rPr lang="en-US" dirty="0"/>
              <a:t> mange in domestic and wild mammals is essentially the same as in humans</a:t>
            </a:r>
            <a:r>
              <a:rPr lang="en-US" dirty="0" smtClean="0"/>
              <a:t>.</a:t>
            </a:r>
          </a:p>
          <a:p>
            <a:r>
              <a:rPr lang="en-US" dirty="0" smtClean="0"/>
              <a:t> </a:t>
            </a:r>
            <a:r>
              <a:rPr lang="en-US" dirty="0"/>
              <a:t>Hairless or short-haired regions of the body are most affected. </a:t>
            </a:r>
          </a:p>
          <a:p>
            <a:endParaRPr lang="en-US" dirty="0" smtClean="0"/>
          </a:p>
          <a:p>
            <a:endParaRPr lang="en-US" dirty="0"/>
          </a:p>
        </p:txBody>
      </p:sp>
    </p:spTree>
    <p:extLst>
      <p:ext uri="{BB962C8B-B14F-4D97-AF65-F5344CB8AC3E}">
        <p14:creationId xmlns:p14="http://schemas.microsoft.com/office/powerpoint/2010/main" val="3288490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 cont’d</a:t>
            </a:r>
            <a:br>
              <a:rPr lang="en-US" dirty="0" smtClean="0"/>
            </a:br>
            <a:endParaRPr lang="en-US" dirty="0"/>
          </a:p>
        </p:txBody>
      </p:sp>
      <p:sp>
        <p:nvSpPr>
          <p:cNvPr id="3" name="Content Placeholder 2"/>
          <p:cNvSpPr>
            <a:spLocks noGrp="1"/>
          </p:cNvSpPr>
          <p:nvPr>
            <p:ph idx="1"/>
          </p:nvPr>
        </p:nvSpPr>
        <p:spPr/>
        <p:txBody>
          <a:bodyPr/>
          <a:lstStyle/>
          <a:p>
            <a:r>
              <a:rPr lang="en-US" dirty="0" smtClean="0"/>
              <a:t>A cycle of resurgence of scabies  infection occurs  in the world every 17- 20 years for reasons not clear but presumably due to  changing immunity in the human population.</a:t>
            </a:r>
          </a:p>
          <a:p>
            <a:r>
              <a:rPr lang="en-US" dirty="0" smtClean="0"/>
              <a:t>Infection is readily passed on to humans who are in contact with mangy animals.</a:t>
            </a:r>
            <a:endParaRPr lang="en-US" dirty="0"/>
          </a:p>
        </p:txBody>
      </p:sp>
    </p:spTree>
    <p:extLst>
      <p:ext uri="{BB962C8B-B14F-4D97-AF65-F5344CB8AC3E}">
        <p14:creationId xmlns:p14="http://schemas.microsoft.com/office/powerpoint/2010/main" val="24654338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 cont’d</a:t>
            </a:r>
            <a:br>
              <a:rPr lang="en-US" dirty="0" smtClean="0"/>
            </a:br>
            <a:endParaRPr lang="en-US" dirty="0"/>
          </a:p>
        </p:txBody>
      </p:sp>
      <p:sp>
        <p:nvSpPr>
          <p:cNvPr id="3" name="Content Placeholder 2"/>
          <p:cNvSpPr>
            <a:spLocks noGrp="1"/>
          </p:cNvSpPr>
          <p:nvPr>
            <p:ph idx="1"/>
          </p:nvPr>
        </p:nvSpPr>
        <p:spPr/>
        <p:txBody>
          <a:bodyPr>
            <a:normAutofit lnSpcReduction="10000"/>
          </a:bodyPr>
          <a:lstStyle/>
          <a:p>
            <a:r>
              <a:rPr lang="en-US" dirty="0"/>
              <a:t>Ticks and mites are of immense medical and veterinary importance in that many cause diseases themselves  and many are vectors of serious pathogens. </a:t>
            </a:r>
            <a:endParaRPr lang="en-US" dirty="0" smtClean="0"/>
          </a:p>
          <a:p>
            <a:r>
              <a:rPr lang="en-US" dirty="0" smtClean="0"/>
              <a:t>All </a:t>
            </a:r>
            <a:r>
              <a:rPr lang="en-US" dirty="0"/>
              <a:t>ticks are epidermal parasites  during their larval, </a:t>
            </a:r>
            <a:r>
              <a:rPr lang="en-US" dirty="0" err="1"/>
              <a:t>nymphal</a:t>
            </a:r>
            <a:r>
              <a:rPr lang="en-US" dirty="0"/>
              <a:t> and adult instars whereas many mites are </a:t>
            </a:r>
            <a:r>
              <a:rPr lang="en-US" dirty="0" err="1"/>
              <a:t>parsites</a:t>
            </a:r>
            <a:r>
              <a:rPr lang="en-US" dirty="0"/>
              <a:t> on or in the skin, respiratory system  or other organs of their hosts. </a:t>
            </a:r>
          </a:p>
        </p:txBody>
      </p:sp>
    </p:spTree>
    <p:extLst>
      <p:ext uri="{BB962C8B-B14F-4D97-AF65-F5344CB8AC3E}">
        <p14:creationId xmlns:p14="http://schemas.microsoft.com/office/powerpoint/2010/main" val="25436236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Family </a:t>
            </a:r>
            <a:r>
              <a:rPr lang="en-US" b="1" dirty="0" err="1" smtClean="0"/>
              <a:t>Sarcoptidae</a:t>
            </a:r>
            <a:r>
              <a:rPr lang="en-US" b="1" dirty="0" smtClean="0"/>
              <a:t> (Order </a:t>
            </a:r>
            <a:r>
              <a:rPr lang="en-US" b="1" dirty="0" err="1" smtClean="0"/>
              <a:t>Oribatida</a:t>
            </a:r>
            <a:r>
              <a:rPr lang="en-US" dirty="0" smtClean="0"/>
              <a:t>) cont’d</a:t>
            </a:r>
            <a:br>
              <a:rPr lang="en-US" dirty="0" smtClean="0"/>
            </a:br>
            <a:endParaRPr lang="en-US" dirty="0"/>
          </a:p>
        </p:txBody>
      </p:sp>
      <p:sp>
        <p:nvSpPr>
          <p:cNvPr id="3" name="Content Placeholder 2"/>
          <p:cNvSpPr>
            <a:spLocks noGrp="1"/>
          </p:cNvSpPr>
          <p:nvPr>
            <p:ph idx="1"/>
          </p:nvPr>
        </p:nvSpPr>
        <p:spPr/>
        <p:txBody>
          <a:bodyPr/>
          <a:lstStyle/>
          <a:p>
            <a:r>
              <a:rPr lang="en-US" dirty="0" smtClean="0"/>
              <a:t>Some mites though not parasites of vertebrates, stimulate allergic reactions when they or their remains come into contact with a susceptible individual.</a:t>
            </a:r>
          </a:p>
          <a:p>
            <a:r>
              <a:rPr lang="en-US" dirty="0"/>
              <a:t>Ticks are present in every country of the world, but mites are even more ubiquitous as they thrive on land, in freshwater and in the oceans.</a:t>
            </a:r>
          </a:p>
          <a:p>
            <a:pPr marL="0" indent="0">
              <a:buNone/>
            </a:pPr>
            <a:endParaRPr lang="en-US" dirty="0" smtClean="0"/>
          </a:p>
          <a:p>
            <a:endParaRPr lang="en-US" dirty="0"/>
          </a:p>
        </p:txBody>
      </p:sp>
    </p:spTree>
    <p:extLst>
      <p:ext uri="{BB962C8B-B14F-4D97-AF65-F5344CB8AC3E}">
        <p14:creationId xmlns:p14="http://schemas.microsoft.com/office/powerpoint/2010/main" val="9917740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5235073</TotalTime>
  <Words>2014</Words>
  <Application>Microsoft Office PowerPoint</Application>
  <PresentationFormat>On-screen Show (4:3)</PresentationFormat>
  <Paragraphs>170</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PARASITOLOGY (BIOL 460)</vt:lpstr>
      <vt:lpstr> PARASITIC ARACHNIDS </vt:lpstr>
      <vt:lpstr> PARASITIC ARACHNIDS CONT’D </vt:lpstr>
      <vt:lpstr>PowerPoint Presentation</vt:lpstr>
      <vt:lpstr> PARASITIC ARACHNIDS CONT’D </vt:lpstr>
      <vt:lpstr> TICKS </vt:lpstr>
      <vt:lpstr> TICKS CONT’D </vt:lpstr>
      <vt:lpstr> TICKS CONT’D </vt:lpstr>
      <vt:lpstr> Biology of Ticks (Some Highlights only) </vt:lpstr>
      <vt:lpstr> Biology of Ticks (Some Highlights only) cont’d </vt:lpstr>
      <vt:lpstr> Biology of Ticks (Some Highlights only) cont’d </vt:lpstr>
      <vt:lpstr> Biology of Ticks (Some Highlights only) cont’d </vt:lpstr>
      <vt:lpstr>  Family Argasidae (Soft Ticks)   </vt:lpstr>
      <vt:lpstr>  Family Argasidae (Soft Ticks) cont’d   </vt:lpstr>
      <vt:lpstr>PowerPoint Presentation</vt:lpstr>
      <vt:lpstr>  Family Argasidae (Soft Ticks) cont’d   </vt:lpstr>
      <vt:lpstr>  Family Argasidae (Soft Ticks) cont’d   </vt:lpstr>
      <vt:lpstr>  Family Argasidae (Soft Ticks) cont’d   </vt:lpstr>
      <vt:lpstr> Family Ixodidae (Hard Ticks) </vt:lpstr>
      <vt:lpstr> Family Ixodidae (Hard Ticks) cont’d </vt:lpstr>
      <vt:lpstr> Family Ixodidae (Hard Ticks) cont’d </vt:lpstr>
      <vt:lpstr> Family Ixodidae (Hard Ticks) cont’d </vt:lpstr>
      <vt:lpstr> Ixodes sp. </vt:lpstr>
      <vt:lpstr> Ixodes sp. cont’d </vt:lpstr>
      <vt:lpstr> Ixodes sp. cont’d </vt:lpstr>
      <vt:lpstr> Ixodes sp. cont’d </vt:lpstr>
      <vt:lpstr> Amblyomma sp. </vt:lpstr>
      <vt:lpstr> Dermacentor sp. </vt:lpstr>
      <vt:lpstr> Dermacentor sp. cont’d </vt:lpstr>
      <vt:lpstr> Immunity to Ticks </vt:lpstr>
      <vt:lpstr> MITES </vt:lpstr>
      <vt:lpstr> MITES CONT’D </vt:lpstr>
      <vt:lpstr> MITES CONT’D </vt:lpstr>
      <vt:lpstr> MITES CONT’D </vt:lpstr>
      <vt:lpstr> MITES CONT’D </vt:lpstr>
      <vt:lpstr>  Trombicula sp.  (Order Prostigmata; Family Trombiculidae)   </vt:lpstr>
      <vt:lpstr>  Trombicula sp.  (Order Prostigmata; Family Trombiculidae) cont’d   </vt:lpstr>
      <vt:lpstr>  Trombicula sp.  (Order Prostigmata; Family Trombiculidae) cont’d   </vt:lpstr>
      <vt:lpstr> Family Sarcoptidae (Order Oribatida) </vt:lpstr>
      <vt:lpstr> Family Sarcoptidae (Order Oribatida) cont’d </vt:lpstr>
      <vt:lpstr> Family Sarcoptidae (Order Oribatida) cont’d </vt:lpstr>
      <vt:lpstr> Family Sarcoptidae (Order Oribatida) cont’d </vt:lpstr>
      <vt:lpstr> Family Sarcoptidae (Order Oribatida) cont’d </vt:lpstr>
      <vt:lpstr> Family Sarcoptidae (Order Oribatida) cont’d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PARASITOLOGY (BIOL 460)</dc:title>
  <dc:creator>PROFESSOR LAWSON</dc:creator>
  <cp:lastModifiedBy>PROFESSOR LAWSON</cp:lastModifiedBy>
  <cp:revision>6</cp:revision>
  <dcterms:created xsi:type="dcterms:W3CDTF">2008-04-22T02:20:36Z</dcterms:created>
  <dcterms:modified xsi:type="dcterms:W3CDTF">2018-04-23T13:12:39Z</dcterms:modified>
</cp:coreProperties>
</file>